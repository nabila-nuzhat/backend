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Liter" charset="-122" pitchFamily="34"/>
      <p:regular r:id="rId26"/>
    </p:embeddedFont>
    <p:embeddedFont>
      <p:font typeface="Quattrocento Sans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m26tdp357svy/mnt/agents/output/networking-for-developers/images/5_Dark_Fiber_in_Europe_and_its_Leading.png"/>
          <p:cNvPicPr>
            <a:picLocks noChangeAspect="1"/>
          </p:cNvPicPr>
          <p:nvPr/>
        </p:nvPicPr>
        <p:blipFill>
          <a:blip r:embed="rId1"/>
          <a:srcRect l="2296" r="2296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F5EFE4">
                  <a:alpha val="92000"/>
                </a:srgbClr>
              </a:gs>
              <a:gs pos="50000">
                <a:srgbClr val="F5EFE4">
                  <a:alpha val="85000"/>
                </a:srgbClr>
              </a:gs>
              <a:gs pos="100000">
                <a:srgbClr val="F5EFE4">
                  <a:alpha val="92000"/>
                </a:srgbClr>
              </a:gs>
            </a:gsLst>
            <a:lin ang="5400000" scaled="1"/>
          </a:gradFill>
          <a:ln w="12700">
            <a:solidFill>
              <a:srgbClr val="D9CFC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430000" y="635000"/>
            <a:ext cx="3556000" cy="3556000"/>
          </a:xfrm>
          <a:prstGeom prst="ellipse">
            <a:avLst/>
          </a:prstGeom>
          <a:solidFill>
            <a:srgbClr val="BD6B4F">
              <a:alpha val="6275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016000" y="5334000"/>
            <a:ext cx="2286000" cy="2286000"/>
          </a:xfrm>
          <a:prstGeom prst="ellipse">
            <a:avLst/>
          </a:prstGeom>
          <a:solidFill>
            <a:srgbClr val="9C8C7A">
              <a:alpha val="6275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223000" y="292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400" kern="0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DEVELOPER ESSENTIALS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78000" y="3492500"/>
            <a:ext cx="1270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Networking for Web Developers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7493000" y="5207000"/>
            <a:ext cx="1270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9" name="Text 6"/>
          <p:cNvSpPr/>
          <p:nvPr/>
        </p:nvSpPr>
        <p:spPr>
          <a:xfrm>
            <a:off x="3048000" y="5524500"/>
            <a:ext cx="1016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dirty="0">
                <a:solidFill>
                  <a:srgbClr val="7A6F60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Essential Networking Concepts Every Developer Should Know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5588000" y="6350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 → Server → Database → Response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3429000" cy="6731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79500" y="3048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Fundamentals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79500" y="3619500"/>
            <a:ext cx="508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 Network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Types of Networks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 Devices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Router vs Switch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08500" y="1651000"/>
            <a:ext cx="3429000" cy="6731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0" name="Text 8"/>
          <p:cNvSpPr/>
          <p:nvPr/>
        </p:nvSpPr>
        <p:spPr>
          <a:xfrm>
            <a:off x="4826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260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26000" y="3619500"/>
            <a:ext cx="508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48260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&amp; MAC Addresses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Gateway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&amp; ARP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55000" y="1651000"/>
            <a:ext cx="3429000" cy="6731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5" name="Text 13"/>
          <p:cNvSpPr/>
          <p:nvPr/>
        </p:nvSpPr>
        <p:spPr>
          <a:xfrm>
            <a:off x="85725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725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572500" y="3619500"/>
            <a:ext cx="508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LAN Communication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a Website Loads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01500" y="1651000"/>
            <a:ext cx="3429000" cy="6731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20" name="Text 18"/>
          <p:cNvSpPr/>
          <p:nvPr/>
        </p:nvSpPr>
        <p:spPr>
          <a:xfrm>
            <a:off x="12319000" y="2032000"/>
            <a:ext cx="127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19000" y="3048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Web Protocols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319000" y="3619500"/>
            <a:ext cx="508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23" name="Text 21"/>
          <p:cNvSpPr/>
          <p:nvPr/>
        </p:nvSpPr>
        <p:spPr>
          <a:xfrm>
            <a:off x="12319000" y="3873500"/>
            <a:ext cx="279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 vs HTTPS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Client-Server Architecture</a:t>
            </a:r>
            <a:endParaRPr lang="en-US" sz="18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Network?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0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A </a:t>
            </a:r>
            <a:pPr>
              <a:lnSpc>
                <a:spcPct val="160000"/>
              </a:lnSpc>
            </a:pPr>
            <a:r>
              <a:rPr lang="en-US" sz="20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network</a:t>
            </a:r>
            <a:pPr>
              <a:lnSpc>
                <a:spcPct val="160000"/>
              </a:lnSpc>
            </a:pPr>
            <a:r>
              <a:rPr lang="en-US" sz="20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is a collection of interconnected devices that can communicate and share resources with each other. Networks range from two devices to billions.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Real-Life Examples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65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85750" y="95250"/>
                </a:moveTo>
                <a:cubicBezTo>
                  <a:pt x="195560" y="95250"/>
                  <a:pt x="113903" y="130969"/>
                  <a:pt x="53876" y="189111"/>
                </a:cubicBezTo>
                <a:cubicBezTo>
                  <a:pt x="41275" y="201315"/>
                  <a:pt x="21134" y="201017"/>
                  <a:pt x="9029" y="188416"/>
                </a:cubicBezTo>
                <a:cubicBezTo>
                  <a:pt x="-3076" y="175816"/>
                  <a:pt x="-2877" y="155674"/>
                  <a:pt x="9723" y="143570"/>
                </a:cubicBezTo>
                <a:cubicBezTo>
                  <a:pt x="81062" y="74315"/>
                  <a:pt x="178495" y="31750"/>
                  <a:pt x="285750" y="31750"/>
                </a:cubicBezTo>
                <a:cubicBezTo>
                  <a:pt x="393005" y="31750"/>
                  <a:pt x="490438" y="74315"/>
                  <a:pt x="561876" y="143570"/>
                </a:cubicBezTo>
                <a:cubicBezTo>
                  <a:pt x="574477" y="155773"/>
                  <a:pt x="574774" y="175915"/>
                  <a:pt x="562570" y="188416"/>
                </a:cubicBezTo>
                <a:cubicBezTo>
                  <a:pt x="550366" y="200918"/>
                  <a:pt x="530225" y="201315"/>
                  <a:pt x="517723" y="189111"/>
                </a:cubicBezTo>
                <a:cubicBezTo>
                  <a:pt x="457597" y="130969"/>
                  <a:pt x="375940" y="95250"/>
                  <a:pt x="285750" y="95250"/>
                </a:cubicBezTo>
                <a:close/>
                <a:moveTo>
                  <a:pt x="238125" y="428625"/>
                </a:moveTo>
                <a:cubicBezTo>
                  <a:pt x="238125" y="402340"/>
                  <a:pt x="259465" y="381000"/>
                  <a:pt x="285750" y="381000"/>
                </a:cubicBezTo>
                <a:cubicBezTo>
                  <a:pt x="312035" y="381000"/>
                  <a:pt x="333375" y="402340"/>
                  <a:pt x="333375" y="428625"/>
                </a:cubicBezTo>
                <a:cubicBezTo>
                  <a:pt x="333375" y="454910"/>
                  <a:pt x="312035" y="476250"/>
                  <a:pt x="285750" y="476250"/>
                </a:cubicBezTo>
                <a:cubicBezTo>
                  <a:pt x="259465" y="476250"/>
                  <a:pt x="238125" y="454910"/>
                  <a:pt x="238125" y="428625"/>
                </a:cubicBezTo>
                <a:close/>
                <a:moveTo>
                  <a:pt x="166688" y="323652"/>
                </a:moveTo>
                <a:cubicBezTo>
                  <a:pt x="155079" y="336848"/>
                  <a:pt x="135037" y="338038"/>
                  <a:pt x="121841" y="326430"/>
                </a:cubicBezTo>
                <a:cubicBezTo>
                  <a:pt x="108645" y="314821"/>
                  <a:pt x="107454" y="294779"/>
                  <a:pt x="119063" y="281583"/>
                </a:cubicBezTo>
                <a:cubicBezTo>
                  <a:pt x="159742" y="235545"/>
                  <a:pt x="219373" y="206375"/>
                  <a:pt x="285750" y="206375"/>
                </a:cubicBezTo>
                <a:cubicBezTo>
                  <a:pt x="352127" y="206375"/>
                  <a:pt x="411758" y="235545"/>
                  <a:pt x="452437" y="281583"/>
                </a:cubicBezTo>
                <a:cubicBezTo>
                  <a:pt x="464046" y="294779"/>
                  <a:pt x="462756" y="314821"/>
                  <a:pt x="449659" y="326430"/>
                </a:cubicBezTo>
                <a:cubicBezTo>
                  <a:pt x="436563" y="338038"/>
                  <a:pt x="416421" y="336748"/>
                  <a:pt x="404813" y="323652"/>
                </a:cubicBezTo>
                <a:cubicBezTo>
                  <a:pt x="375642" y="290612"/>
                  <a:pt x="333177" y="269875"/>
                  <a:pt x="285750" y="269875"/>
                </a:cubicBezTo>
                <a:cubicBezTo>
                  <a:pt x="238323" y="269875"/>
                  <a:pt x="195858" y="290612"/>
                  <a:pt x="166688" y="323652"/>
                </a:cubicBezTo>
                <a:close/>
              </a:path>
            </a:pathLst>
          </a:custGeom>
          <a:solidFill>
            <a:srgbClr val="4A3F35"/>
          </a:solidFill>
          <a:ln/>
        </p:spPr>
      </p:sp>
      <p:sp>
        <p:nvSpPr>
          <p:cNvPr id="8" name="Text 6"/>
          <p:cNvSpPr/>
          <p:nvPr/>
        </p:nvSpPr>
        <p:spPr>
          <a:xfrm>
            <a:off x="889000" y="457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WiFi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953000"/>
            <a:ext cx="177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Wireless home and office networks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667250" y="3937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246063" y="87313"/>
                </a:moveTo>
                <a:lnTo>
                  <a:pt x="325438" y="87313"/>
                </a:lnTo>
                <a:lnTo>
                  <a:pt x="325438" y="134938"/>
                </a:lnTo>
                <a:lnTo>
                  <a:pt x="246063" y="134938"/>
                </a:lnTo>
                <a:lnTo>
                  <a:pt x="246063" y="87313"/>
                </a:lnTo>
                <a:close/>
                <a:moveTo>
                  <a:pt x="238125" y="31750"/>
                </a:moveTo>
                <a:cubicBezTo>
                  <a:pt x="211832" y="31750"/>
                  <a:pt x="190500" y="53082"/>
                  <a:pt x="190500" y="79375"/>
                </a:cubicBezTo>
                <a:lnTo>
                  <a:pt x="190500" y="142875"/>
                </a:lnTo>
                <a:cubicBezTo>
                  <a:pt x="190500" y="169168"/>
                  <a:pt x="211832" y="190500"/>
                  <a:pt x="238125" y="190500"/>
                </a:cubicBezTo>
                <a:lnTo>
                  <a:pt x="254000" y="190500"/>
                </a:lnTo>
                <a:lnTo>
                  <a:pt x="254000" y="222250"/>
                </a:lnTo>
                <a:lnTo>
                  <a:pt x="31750" y="222250"/>
                </a:lnTo>
                <a:cubicBezTo>
                  <a:pt x="14188" y="222250"/>
                  <a:pt x="0" y="236438"/>
                  <a:pt x="0" y="254000"/>
                </a:cubicBezTo>
                <a:cubicBezTo>
                  <a:pt x="0" y="271562"/>
                  <a:pt x="14188" y="285750"/>
                  <a:pt x="31750" y="285750"/>
                </a:cubicBezTo>
                <a:lnTo>
                  <a:pt x="127000" y="285750"/>
                </a:lnTo>
                <a:lnTo>
                  <a:pt x="127000" y="317500"/>
                </a:lnTo>
                <a:lnTo>
                  <a:pt x="111125" y="317500"/>
                </a:lnTo>
                <a:cubicBezTo>
                  <a:pt x="84832" y="317500"/>
                  <a:pt x="63500" y="338832"/>
                  <a:pt x="63500" y="365125"/>
                </a:cubicBezTo>
                <a:lnTo>
                  <a:pt x="63500" y="428625"/>
                </a:lnTo>
                <a:cubicBezTo>
                  <a:pt x="63500" y="454918"/>
                  <a:pt x="84832" y="476250"/>
                  <a:pt x="111125" y="476250"/>
                </a:cubicBezTo>
                <a:lnTo>
                  <a:pt x="206375" y="476250"/>
                </a:lnTo>
                <a:cubicBezTo>
                  <a:pt x="232668" y="476250"/>
                  <a:pt x="254000" y="454918"/>
                  <a:pt x="254000" y="428625"/>
                </a:cubicBezTo>
                <a:lnTo>
                  <a:pt x="254000" y="365125"/>
                </a:lnTo>
                <a:cubicBezTo>
                  <a:pt x="254000" y="338832"/>
                  <a:pt x="232668" y="317500"/>
                  <a:pt x="206375" y="317500"/>
                </a:cubicBezTo>
                <a:lnTo>
                  <a:pt x="190500" y="317500"/>
                </a:lnTo>
                <a:lnTo>
                  <a:pt x="190500" y="285750"/>
                </a:lnTo>
                <a:lnTo>
                  <a:pt x="381000" y="285750"/>
                </a:lnTo>
                <a:lnTo>
                  <a:pt x="381000" y="317500"/>
                </a:lnTo>
                <a:lnTo>
                  <a:pt x="365125" y="317500"/>
                </a:lnTo>
                <a:cubicBezTo>
                  <a:pt x="338832" y="317500"/>
                  <a:pt x="317500" y="338832"/>
                  <a:pt x="317500" y="365125"/>
                </a:cubicBezTo>
                <a:lnTo>
                  <a:pt x="317500" y="428625"/>
                </a:lnTo>
                <a:cubicBezTo>
                  <a:pt x="317500" y="454918"/>
                  <a:pt x="338832" y="476250"/>
                  <a:pt x="365125" y="476250"/>
                </a:cubicBezTo>
                <a:lnTo>
                  <a:pt x="460375" y="476250"/>
                </a:lnTo>
                <a:cubicBezTo>
                  <a:pt x="486668" y="476250"/>
                  <a:pt x="508000" y="454918"/>
                  <a:pt x="508000" y="428625"/>
                </a:cubicBezTo>
                <a:lnTo>
                  <a:pt x="508000" y="365125"/>
                </a:lnTo>
                <a:cubicBezTo>
                  <a:pt x="508000" y="338832"/>
                  <a:pt x="486668" y="317500"/>
                  <a:pt x="460375" y="317500"/>
                </a:cubicBezTo>
                <a:lnTo>
                  <a:pt x="444500" y="317500"/>
                </a:lnTo>
                <a:lnTo>
                  <a:pt x="444500" y="285750"/>
                </a:lnTo>
                <a:lnTo>
                  <a:pt x="539750" y="285750"/>
                </a:lnTo>
                <a:cubicBezTo>
                  <a:pt x="557312" y="285750"/>
                  <a:pt x="571500" y="271562"/>
                  <a:pt x="571500" y="254000"/>
                </a:cubicBezTo>
                <a:cubicBezTo>
                  <a:pt x="571500" y="236438"/>
                  <a:pt x="557312" y="222250"/>
                  <a:pt x="539750" y="222250"/>
                </a:cubicBezTo>
                <a:lnTo>
                  <a:pt x="317500" y="222250"/>
                </a:lnTo>
                <a:lnTo>
                  <a:pt x="317500" y="190500"/>
                </a:lnTo>
                <a:lnTo>
                  <a:pt x="333375" y="190500"/>
                </a:lnTo>
                <a:cubicBezTo>
                  <a:pt x="359668" y="190500"/>
                  <a:pt x="381000" y="169168"/>
                  <a:pt x="381000" y="142875"/>
                </a:cubicBezTo>
                <a:lnTo>
                  <a:pt x="381000" y="79375"/>
                </a:lnTo>
                <a:cubicBezTo>
                  <a:pt x="381000" y="53082"/>
                  <a:pt x="359668" y="31750"/>
                  <a:pt x="333375" y="31750"/>
                </a:cubicBezTo>
                <a:lnTo>
                  <a:pt x="238125" y="31750"/>
                </a:lnTo>
                <a:close/>
                <a:moveTo>
                  <a:pt x="444500" y="373063"/>
                </a:moveTo>
                <a:lnTo>
                  <a:pt x="452437" y="373063"/>
                </a:lnTo>
                <a:lnTo>
                  <a:pt x="452437" y="420688"/>
                </a:lnTo>
                <a:lnTo>
                  <a:pt x="373063" y="420688"/>
                </a:lnTo>
                <a:lnTo>
                  <a:pt x="373063" y="373063"/>
                </a:lnTo>
                <a:lnTo>
                  <a:pt x="444500" y="373063"/>
                </a:lnTo>
                <a:close/>
                <a:moveTo>
                  <a:pt x="190500" y="373063"/>
                </a:moveTo>
                <a:lnTo>
                  <a:pt x="198438" y="373063"/>
                </a:lnTo>
                <a:lnTo>
                  <a:pt x="198438" y="420688"/>
                </a:lnTo>
                <a:lnTo>
                  <a:pt x="119063" y="420688"/>
                </a:lnTo>
                <a:lnTo>
                  <a:pt x="119063" y="373063"/>
                </a:lnTo>
                <a:lnTo>
                  <a:pt x="190500" y="373063"/>
                </a:lnTo>
                <a:close/>
              </a:path>
            </a:pathLst>
          </a:custGeom>
          <a:solidFill>
            <a:srgbClr val="4A3F35"/>
          </a:solidFill>
          <a:ln/>
        </p:spPr>
      </p:sp>
      <p:sp>
        <p:nvSpPr>
          <p:cNvPr id="11" name="Text 9"/>
          <p:cNvSpPr/>
          <p:nvPr/>
        </p:nvSpPr>
        <p:spPr>
          <a:xfrm>
            <a:off x="4191000" y="4572000"/>
            <a:ext cx="152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7000" y="4953000"/>
            <a:ext cx="203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Wired local networks in schools and offices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49151" y="277813"/>
                </a:moveTo>
                <a:lnTo>
                  <a:pt x="159742" y="277813"/>
                </a:lnTo>
                <a:cubicBezTo>
                  <a:pt x="162620" y="341809"/>
                  <a:pt x="176808" y="400745"/>
                  <a:pt x="196949" y="443905"/>
                </a:cubicBezTo>
                <a:cubicBezTo>
                  <a:pt x="208260" y="468213"/>
                  <a:pt x="220464" y="485378"/>
                  <a:pt x="231775" y="495895"/>
                </a:cubicBezTo>
                <a:cubicBezTo>
                  <a:pt x="242887" y="506313"/>
                  <a:pt x="250527" y="508000"/>
                  <a:pt x="254496" y="508000"/>
                </a:cubicBezTo>
                <a:cubicBezTo>
                  <a:pt x="258465" y="508000"/>
                  <a:pt x="266105" y="506313"/>
                  <a:pt x="277217" y="495895"/>
                </a:cubicBezTo>
                <a:cubicBezTo>
                  <a:pt x="288528" y="485378"/>
                  <a:pt x="300732" y="468114"/>
                  <a:pt x="312043" y="443905"/>
                </a:cubicBezTo>
                <a:cubicBezTo>
                  <a:pt x="332184" y="400745"/>
                  <a:pt x="346373" y="341809"/>
                  <a:pt x="349250" y="277813"/>
                </a:cubicBezTo>
                <a:close/>
                <a:moveTo>
                  <a:pt x="159643" y="230188"/>
                </a:moveTo>
                <a:lnTo>
                  <a:pt x="349052" y="230188"/>
                </a:lnTo>
                <a:cubicBezTo>
                  <a:pt x="346273" y="166191"/>
                  <a:pt x="332085" y="107255"/>
                  <a:pt x="311944" y="64095"/>
                </a:cubicBezTo>
                <a:cubicBezTo>
                  <a:pt x="300633" y="39886"/>
                  <a:pt x="288429" y="22622"/>
                  <a:pt x="277118" y="12105"/>
                </a:cubicBezTo>
                <a:cubicBezTo>
                  <a:pt x="266005" y="1687"/>
                  <a:pt x="258366" y="0"/>
                  <a:pt x="254397" y="0"/>
                </a:cubicBezTo>
                <a:cubicBezTo>
                  <a:pt x="250428" y="0"/>
                  <a:pt x="242788" y="1687"/>
                  <a:pt x="231676" y="12105"/>
                </a:cubicBezTo>
                <a:cubicBezTo>
                  <a:pt x="220365" y="22622"/>
                  <a:pt x="208161" y="39886"/>
                  <a:pt x="196850" y="64095"/>
                </a:cubicBezTo>
                <a:cubicBezTo>
                  <a:pt x="176709" y="107255"/>
                  <a:pt x="162520" y="166191"/>
                  <a:pt x="159643" y="230188"/>
                </a:cubicBezTo>
                <a:close/>
                <a:moveTo>
                  <a:pt x="112018" y="230188"/>
                </a:moveTo>
                <a:cubicBezTo>
                  <a:pt x="115491" y="145256"/>
                  <a:pt x="137418" y="66377"/>
                  <a:pt x="169466" y="14585"/>
                </a:cubicBezTo>
                <a:cubicBezTo>
                  <a:pt x="78085" y="46930"/>
                  <a:pt x="10815" y="130175"/>
                  <a:pt x="1488" y="230188"/>
                </a:cubicBezTo>
                <a:lnTo>
                  <a:pt x="112018" y="230188"/>
                </a:lnTo>
                <a:close/>
                <a:moveTo>
                  <a:pt x="1488" y="277813"/>
                </a:moveTo>
                <a:cubicBezTo>
                  <a:pt x="10815" y="377825"/>
                  <a:pt x="78085" y="461070"/>
                  <a:pt x="169466" y="493415"/>
                </a:cubicBezTo>
                <a:cubicBezTo>
                  <a:pt x="137418" y="441623"/>
                  <a:pt x="115491" y="362744"/>
                  <a:pt x="112018" y="277813"/>
                </a:cubicBezTo>
                <a:lnTo>
                  <a:pt x="1488" y="277813"/>
                </a:lnTo>
                <a:close/>
                <a:moveTo>
                  <a:pt x="396776" y="277813"/>
                </a:moveTo>
                <a:cubicBezTo>
                  <a:pt x="393303" y="362744"/>
                  <a:pt x="371376" y="441623"/>
                  <a:pt x="339328" y="493415"/>
                </a:cubicBezTo>
                <a:cubicBezTo>
                  <a:pt x="430709" y="460970"/>
                  <a:pt x="497979" y="377825"/>
                  <a:pt x="507305" y="277813"/>
                </a:cubicBezTo>
                <a:lnTo>
                  <a:pt x="396776" y="277813"/>
                </a:lnTo>
                <a:close/>
                <a:moveTo>
                  <a:pt x="507305" y="230188"/>
                </a:moveTo>
                <a:cubicBezTo>
                  <a:pt x="497979" y="130175"/>
                  <a:pt x="430709" y="46930"/>
                  <a:pt x="339328" y="14585"/>
                </a:cubicBezTo>
                <a:cubicBezTo>
                  <a:pt x="371376" y="66377"/>
                  <a:pt x="393303" y="145256"/>
                  <a:pt x="396776" y="230188"/>
                </a:cubicBezTo>
                <a:lnTo>
                  <a:pt x="507305" y="230188"/>
                </a:lnTo>
                <a:close/>
              </a:path>
            </a:pathLst>
          </a:custGeom>
          <a:solidFill>
            <a:srgbClr val="4A3F35"/>
          </a:solidFill>
          <a:ln/>
        </p:spPr>
      </p:sp>
      <p:sp>
        <p:nvSpPr>
          <p:cNvPr id="14" name="Text 12"/>
          <p:cNvSpPr/>
          <p:nvPr/>
        </p:nvSpPr>
        <p:spPr>
          <a:xfrm>
            <a:off x="7366000" y="4572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12000" y="4953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Global network connecting billions of devices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430000" y="3937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381000" y="190500"/>
                </a:moveTo>
                <a:cubicBezTo>
                  <a:pt x="433586" y="190500"/>
                  <a:pt x="476250" y="147836"/>
                  <a:pt x="476250" y="95250"/>
                </a:cubicBezTo>
                <a:cubicBezTo>
                  <a:pt x="476250" y="42664"/>
                  <a:pt x="433586" y="0"/>
                  <a:pt x="381000" y="0"/>
                </a:cubicBezTo>
                <a:cubicBezTo>
                  <a:pt x="328414" y="0"/>
                  <a:pt x="285750" y="42664"/>
                  <a:pt x="285750" y="95250"/>
                </a:cubicBezTo>
                <a:cubicBezTo>
                  <a:pt x="285750" y="100608"/>
                  <a:pt x="286246" y="105966"/>
                  <a:pt x="287040" y="111125"/>
                </a:cubicBezTo>
                <a:lnTo>
                  <a:pt x="158353" y="182662"/>
                </a:lnTo>
                <a:cubicBezTo>
                  <a:pt x="141585" y="167779"/>
                  <a:pt x="119459" y="158750"/>
                  <a:pt x="95250" y="158750"/>
                </a:cubicBezTo>
                <a:cubicBezTo>
                  <a:pt x="42664" y="158750"/>
                  <a:pt x="0" y="201414"/>
                  <a:pt x="0" y="254000"/>
                </a:cubicBezTo>
                <a:cubicBezTo>
                  <a:pt x="0" y="306586"/>
                  <a:pt x="42664" y="349250"/>
                  <a:pt x="95250" y="349250"/>
                </a:cubicBezTo>
                <a:cubicBezTo>
                  <a:pt x="119459" y="349250"/>
                  <a:pt x="141486" y="340221"/>
                  <a:pt x="158353" y="325338"/>
                </a:cubicBezTo>
                <a:lnTo>
                  <a:pt x="287040" y="396875"/>
                </a:lnTo>
                <a:cubicBezTo>
                  <a:pt x="286147" y="402034"/>
                  <a:pt x="285750" y="407293"/>
                  <a:pt x="285750" y="412750"/>
                </a:cubicBezTo>
                <a:cubicBezTo>
                  <a:pt x="285750" y="465336"/>
                  <a:pt x="328414" y="508000"/>
                  <a:pt x="381000" y="508000"/>
                </a:cubicBezTo>
                <a:cubicBezTo>
                  <a:pt x="433586" y="508000"/>
                  <a:pt x="476250" y="465336"/>
                  <a:pt x="476250" y="412750"/>
                </a:cubicBezTo>
                <a:cubicBezTo>
                  <a:pt x="476250" y="360164"/>
                  <a:pt x="433586" y="317500"/>
                  <a:pt x="381000" y="317500"/>
                </a:cubicBezTo>
                <a:cubicBezTo>
                  <a:pt x="356791" y="317500"/>
                  <a:pt x="334764" y="326529"/>
                  <a:pt x="317897" y="341412"/>
                </a:cubicBezTo>
                <a:lnTo>
                  <a:pt x="189210" y="269875"/>
                </a:lnTo>
                <a:cubicBezTo>
                  <a:pt x="190103" y="264716"/>
                  <a:pt x="190500" y="259457"/>
                  <a:pt x="190500" y="254000"/>
                </a:cubicBezTo>
                <a:cubicBezTo>
                  <a:pt x="190500" y="248543"/>
                  <a:pt x="190004" y="243284"/>
                  <a:pt x="189210" y="238125"/>
                </a:cubicBezTo>
                <a:lnTo>
                  <a:pt x="317897" y="166588"/>
                </a:lnTo>
                <a:cubicBezTo>
                  <a:pt x="334665" y="181471"/>
                  <a:pt x="356791" y="190500"/>
                  <a:pt x="381000" y="190500"/>
                </a:cubicBezTo>
                <a:close/>
              </a:path>
            </a:pathLst>
          </a:custGeom>
          <a:solidFill>
            <a:srgbClr val="4A3F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0" y="4572000"/>
            <a:ext cx="1778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Sharing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41000" y="4953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Devices exchange files, media, and resources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62000" y="6477000"/>
            <a:ext cx="14732000" cy="1524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0" name="Shape 18"/>
          <p:cNvSpPr/>
          <p:nvPr/>
        </p:nvSpPr>
        <p:spPr>
          <a:xfrm>
            <a:off x="1193800" y="6921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1778000" y="6667500"/>
            <a:ext cx="13335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Purpose: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Networks enable devices to exchange data efficiently and reliably, from simple file sharing to accessing global web services.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of Networks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482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Shape 3"/>
          <p:cNvSpPr/>
          <p:nvPr/>
        </p:nvSpPr>
        <p:spPr>
          <a:xfrm>
            <a:off x="1136650" y="18415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157163" y="314325"/>
                </a:moveTo>
                <a:lnTo>
                  <a:pt x="185738" y="314325"/>
                </a:lnTo>
                <a:cubicBezTo>
                  <a:pt x="201543" y="314325"/>
                  <a:pt x="214313" y="327094"/>
                  <a:pt x="214313" y="342900"/>
                </a:cubicBezTo>
                <a:lnTo>
                  <a:pt x="214313" y="414338"/>
                </a:lnTo>
                <a:lnTo>
                  <a:pt x="128588" y="414338"/>
                </a:lnTo>
                <a:lnTo>
                  <a:pt x="128588" y="342900"/>
                </a:lnTo>
                <a:cubicBezTo>
                  <a:pt x="128588" y="327094"/>
                  <a:pt x="141357" y="314325"/>
                  <a:pt x="157163" y="314325"/>
                </a:cubicBezTo>
                <a:close/>
                <a:moveTo>
                  <a:pt x="85725" y="100013"/>
                </a:moveTo>
                <a:cubicBezTo>
                  <a:pt x="85725" y="92154"/>
                  <a:pt x="92154" y="85725"/>
                  <a:pt x="100013" y="85725"/>
                </a:cubicBezTo>
                <a:lnTo>
                  <a:pt x="128588" y="85725"/>
                </a:lnTo>
                <a:cubicBezTo>
                  <a:pt x="136446" y="85725"/>
                  <a:pt x="142875" y="92154"/>
                  <a:pt x="142875" y="100013"/>
                </a:cubicBezTo>
                <a:lnTo>
                  <a:pt x="142875" y="128588"/>
                </a:lnTo>
                <a:cubicBezTo>
                  <a:pt x="142875" y="136446"/>
                  <a:pt x="136446" y="142875"/>
                  <a:pt x="128588" y="142875"/>
                </a:cubicBezTo>
                <a:lnTo>
                  <a:pt x="100013" y="142875"/>
                </a:lnTo>
                <a:cubicBezTo>
                  <a:pt x="92154" y="142875"/>
                  <a:pt x="85725" y="136446"/>
                  <a:pt x="85725" y="128588"/>
                </a:cubicBezTo>
                <a:lnTo>
                  <a:pt x="85725" y="100013"/>
                </a:lnTo>
                <a:close/>
                <a:moveTo>
                  <a:pt x="214313" y="85725"/>
                </a:moveTo>
                <a:lnTo>
                  <a:pt x="242888" y="85725"/>
                </a:lnTo>
                <a:cubicBezTo>
                  <a:pt x="250746" y="85725"/>
                  <a:pt x="257175" y="92154"/>
                  <a:pt x="257175" y="100013"/>
                </a:cubicBezTo>
                <a:lnTo>
                  <a:pt x="257175" y="128588"/>
                </a:lnTo>
                <a:cubicBezTo>
                  <a:pt x="257175" y="136446"/>
                  <a:pt x="250746" y="142875"/>
                  <a:pt x="242888" y="142875"/>
                </a:cubicBezTo>
                <a:lnTo>
                  <a:pt x="214313" y="142875"/>
                </a:lnTo>
                <a:cubicBezTo>
                  <a:pt x="206454" y="142875"/>
                  <a:pt x="200025" y="136446"/>
                  <a:pt x="200025" y="128588"/>
                </a:cubicBezTo>
                <a:lnTo>
                  <a:pt x="200025" y="100013"/>
                </a:lnTo>
                <a:cubicBezTo>
                  <a:pt x="200025" y="92154"/>
                  <a:pt x="206454" y="85725"/>
                  <a:pt x="214313" y="85725"/>
                </a:cubicBezTo>
                <a:close/>
                <a:moveTo>
                  <a:pt x="85725" y="214313"/>
                </a:moveTo>
                <a:cubicBezTo>
                  <a:pt x="85725" y="206454"/>
                  <a:pt x="92154" y="200025"/>
                  <a:pt x="100013" y="200025"/>
                </a:cubicBezTo>
                <a:lnTo>
                  <a:pt x="128588" y="200025"/>
                </a:lnTo>
                <a:cubicBezTo>
                  <a:pt x="136446" y="200025"/>
                  <a:pt x="142875" y="206454"/>
                  <a:pt x="142875" y="214313"/>
                </a:cubicBezTo>
                <a:lnTo>
                  <a:pt x="142875" y="242888"/>
                </a:lnTo>
                <a:cubicBezTo>
                  <a:pt x="142875" y="250746"/>
                  <a:pt x="136446" y="257175"/>
                  <a:pt x="128588" y="257175"/>
                </a:cubicBezTo>
                <a:lnTo>
                  <a:pt x="100013" y="257175"/>
                </a:lnTo>
                <a:cubicBezTo>
                  <a:pt x="92154" y="257175"/>
                  <a:pt x="85725" y="250746"/>
                  <a:pt x="85725" y="242888"/>
                </a:cubicBezTo>
                <a:lnTo>
                  <a:pt x="85725" y="214313"/>
                </a:lnTo>
                <a:close/>
                <a:moveTo>
                  <a:pt x="214313" y="200025"/>
                </a:moveTo>
                <a:lnTo>
                  <a:pt x="242888" y="200025"/>
                </a:lnTo>
                <a:cubicBezTo>
                  <a:pt x="250746" y="200025"/>
                  <a:pt x="257175" y="206454"/>
                  <a:pt x="257175" y="214313"/>
                </a:cubicBezTo>
                <a:lnTo>
                  <a:pt x="257175" y="242888"/>
                </a:lnTo>
                <a:cubicBezTo>
                  <a:pt x="257175" y="250746"/>
                  <a:pt x="250746" y="257175"/>
                  <a:pt x="242888" y="257175"/>
                </a:cubicBezTo>
                <a:lnTo>
                  <a:pt x="214313" y="257175"/>
                </a:lnTo>
                <a:cubicBezTo>
                  <a:pt x="206454" y="257175"/>
                  <a:pt x="200025" y="250746"/>
                  <a:pt x="200025" y="242888"/>
                </a:cubicBezTo>
                <a:lnTo>
                  <a:pt x="200025" y="214313"/>
                </a:lnTo>
                <a:cubicBezTo>
                  <a:pt x="200025" y="206454"/>
                  <a:pt x="206454" y="200025"/>
                  <a:pt x="214313" y="200025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 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" y="3276600"/>
            <a:ext cx="381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Covers a small area like home, office, or school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High speed, low latency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Privately managed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Ethernet or WiFi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778500" y="1524000"/>
            <a:ext cx="4699000" cy="482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1" name="Shape 9"/>
          <p:cNvSpPr/>
          <p:nvPr/>
        </p:nvSpPr>
        <p:spPr>
          <a:xfrm>
            <a:off x="6067425" y="1841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85750" y="0"/>
                </a:moveTo>
                <a:cubicBezTo>
                  <a:pt x="254228" y="0"/>
                  <a:pt x="228600" y="25628"/>
                  <a:pt x="228600" y="57150"/>
                </a:cubicBezTo>
                <a:lnTo>
                  <a:pt x="228600" y="85725"/>
                </a:lnTo>
                <a:lnTo>
                  <a:pt x="185738" y="85725"/>
                </a:lnTo>
                <a:lnTo>
                  <a:pt x="185738" y="21431"/>
                </a:lnTo>
                <a:cubicBezTo>
                  <a:pt x="185738" y="9555"/>
                  <a:pt x="176183" y="0"/>
                  <a:pt x="164306" y="0"/>
                </a:cubicBezTo>
                <a:cubicBezTo>
                  <a:pt x="152430" y="0"/>
                  <a:pt x="142875" y="9555"/>
                  <a:pt x="142875" y="21431"/>
                </a:cubicBezTo>
                <a:lnTo>
                  <a:pt x="142875" y="85725"/>
                </a:lnTo>
                <a:lnTo>
                  <a:pt x="85725" y="85725"/>
                </a:lnTo>
                <a:lnTo>
                  <a:pt x="85725" y="21431"/>
                </a:lnTo>
                <a:cubicBezTo>
                  <a:pt x="85725" y="9555"/>
                  <a:pt x="76170" y="0"/>
                  <a:pt x="64294" y="0"/>
                </a:cubicBezTo>
                <a:cubicBezTo>
                  <a:pt x="52417" y="0"/>
                  <a:pt x="42863" y="9555"/>
                  <a:pt x="42863" y="21431"/>
                </a:cubicBezTo>
                <a:lnTo>
                  <a:pt x="42863" y="87511"/>
                </a:lnTo>
                <a:cubicBezTo>
                  <a:pt x="18217" y="93851"/>
                  <a:pt x="0" y="116265"/>
                  <a:pt x="0" y="14287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457200" y="457200"/>
                </a:lnTo>
                <a:cubicBezTo>
                  <a:pt x="488722" y="457200"/>
                  <a:pt x="514350" y="431572"/>
                  <a:pt x="514350" y="400050"/>
                </a:cubicBezTo>
                <a:lnTo>
                  <a:pt x="514350" y="228600"/>
                </a:lnTo>
                <a:cubicBezTo>
                  <a:pt x="514350" y="197078"/>
                  <a:pt x="488722" y="171450"/>
                  <a:pt x="457200" y="171450"/>
                </a:cubicBezTo>
                <a:lnTo>
                  <a:pt x="400050" y="171450"/>
                </a:lnTo>
                <a:lnTo>
                  <a:pt x="400050" y="57150"/>
                </a:lnTo>
                <a:cubicBezTo>
                  <a:pt x="400050" y="25628"/>
                  <a:pt x="374422" y="0"/>
                  <a:pt x="342900" y="0"/>
                </a:cubicBezTo>
                <a:lnTo>
                  <a:pt x="285750" y="0"/>
                </a:lnTo>
                <a:close/>
                <a:moveTo>
                  <a:pt x="342900" y="100013"/>
                </a:moveTo>
                <a:lnTo>
                  <a:pt x="342900" y="128588"/>
                </a:lnTo>
                <a:cubicBezTo>
                  <a:pt x="342900" y="136446"/>
                  <a:pt x="336471" y="142875"/>
                  <a:pt x="328613" y="142875"/>
                </a:cubicBezTo>
                <a:lnTo>
                  <a:pt x="300038" y="142875"/>
                </a:lnTo>
                <a:cubicBezTo>
                  <a:pt x="292179" y="142875"/>
                  <a:pt x="285750" y="136446"/>
                  <a:pt x="285750" y="128588"/>
                </a:cubicBezTo>
                <a:lnTo>
                  <a:pt x="285750" y="100013"/>
                </a:lnTo>
                <a:cubicBezTo>
                  <a:pt x="285750" y="92154"/>
                  <a:pt x="292179" y="85725"/>
                  <a:pt x="300038" y="85725"/>
                </a:cubicBezTo>
                <a:lnTo>
                  <a:pt x="328613" y="85725"/>
                </a:lnTo>
                <a:cubicBezTo>
                  <a:pt x="336471" y="85725"/>
                  <a:pt x="342900" y="92154"/>
                  <a:pt x="342900" y="100013"/>
                </a:cubicBezTo>
                <a:close/>
                <a:moveTo>
                  <a:pt x="328613" y="171450"/>
                </a:moveTo>
                <a:cubicBezTo>
                  <a:pt x="336471" y="171450"/>
                  <a:pt x="342900" y="177879"/>
                  <a:pt x="342900" y="185738"/>
                </a:cubicBezTo>
                <a:lnTo>
                  <a:pt x="342900" y="214313"/>
                </a:lnTo>
                <a:cubicBezTo>
                  <a:pt x="342900" y="222171"/>
                  <a:pt x="336471" y="228600"/>
                  <a:pt x="328613" y="228600"/>
                </a:cubicBezTo>
                <a:lnTo>
                  <a:pt x="300038" y="228600"/>
                </a:lnTo>
                <a:cubicBezTo>
                  <a:pt x="292179" y="228600"/>
                  <a:pt x="285750" y="222171"/>
                  <a:pt x="285750" y="214313"/>
                </a:cubicBezTo>
                <a:lnTo>
                  <a:pt x="285750" y="185738"/>
                </a:lnTo>
                <a:cubicBezTo>
                  <a:pt x="285750" y="177879"/>
                  <a:pt x="292179" y="171450"/>
                  <a:pt x="300038" y="171450"/>
                </a:cubicBezTo>
                <a:lnTo>
                  <a:pt x="328613" y="171450"/>
                </a:lnTo>
                <a:close/>
                <a:moveTo>
                  <a:pt x="342900" y="271463"/>
                </a:moveTo>
                <a:lnTo>
                  <a:pt x="342900" y="300038"/>
                </a:lnTo>
                <a:cubicBezTo>
                  <a:pt x="342900" y="307896"/>
                  <a:pt x="336471" y="314325"/>
                  <a:pt x="328613" y="314325"/>
                </a:cubicBezTo>
                <a:lnTo>
                  <a:pt x="300038" y="314325"/>
                </a:lnTo>
                <a:cubicBezTo>
                  <a:pt x="292179" y="314325"/>
                  <a:pt x="285750" y="307896"/>
                  <a:pt x="285750" y="300038"/>
                </a:cubicBezTo>
                <a:lnTo>
                  <a:pt x="285750" y="271463"/>
                </a:lnTo>
                <a:cubicBezTo>
                  <a:pt x="285750" y="263604"/>
                  <a:pt x="292179" y="257175"/>
                  <a:pt x="300038" y="257175"/>
                </a:cubicBezTo>
                <a:lnTo>
                  <a:pt x="328613" y="257175"/>
                </a:lnTo>
                <a:cubicBezTo>
                  <a:pt x="336471" y="257175"/>
                  <a:pt x="342900" y="263604"/>
                  <a:pt x="342900" y="271463"/>
                </a:cubicBezTo>
                <a:close/>
                <a:moveTo>
                  <a:pt x="442913" y="257175"/>
                </a:moveTo>
                <a:cubicBezTo>
                  <a:pt x="450771" y="257175"/>
                  <a:pt x="457200" y="263604"/>
                  <a:pt x="457200" y="271463"/>
                </a:cubicBezTo>
                <a:lnTo>
                  <a:pt x="457200" y="300038"/>
                </a:lnTo>
                <a:cubicBezTo>
                  <a:pt x="457200" y="307896"/>
                  <a:pt x="450771" y="314325"/>
                  <a:pt x="442913" y="314325"/>
                </a:cubicBezTo>
                <a:lnTo>
                  <a:pt x="414338" y="314325"/>
                </a:lnTo>
                <a:cubicBezTo>
                  <a:pt x="406479" y="314325"/>
                  <a:pt x="400050" y="307896"/>
                  <a:pt x="400050" y="300038"/>
                </a:cubicBezTo>
                <a:lnTo>
                  <a:pt x="400050" y="271463"/>
                </a:lnTo>
                <a:cubicBezTo>
                  <a:pt x="400050" y="263604"/>
                  <a:pt x="406479" y="257175"/>
                  <a:pt x="414338" y="257175"/>
                </a:cubicBezTo>
                <a:lnTo>
                  <a:pt x="442913" y="257175"/>
                </a:lnTo>
                <a:close/>
                <a:moveTo>
                  <a:pt x="228600" y="271463"/>
                </a:moveTo>
                <a:lnTo>
                  <a:pt x="228600" y="300038"/>
                </a:lnTo>
                <a:cubicBezTo>
                  <a:pt x="228600" y="307896"/>
                  <a:pt x="222171" y="314325"/>
                  <a:pt x="214313" y="314325"/>
                </a:cubicBezTo>
                <a:lnTo>
                  <a:pt x="185738" y="314325"/>
                </a:lnTo>
                <a:cubicBezTo>
                  <a:pt x="177879" y="314325"/>
                  <a:pt x="171450" y="307896"/>
                  <a:pt x="171450" y="300038"/>
                </a:cubicBezTo>
                <a:lnTo>
                  <a:pt x="171450" y="271463"/>
                </a:lnTo>
                <a:cubicBezTo>
                  <a:pt x="171450" y="263604"/>
                  <a:pt x="177879" y="257175"/>
                  <a:pt x="185738" y="257175"/>
                </a:cubicBezTo>
                <a:lnTo>
                  <a:pt x="214313" y="257175"/>
                </a:lnTo>
                <a:cubicBezTo>
                  <a:pt x="222171" y="257175"/>
                  <a:pt x="228600" y="263604"/>
                  <a:pt x="228600" y="271463"/>
                </a:cubicBezTo>
                <a:close/>
                <a:moveTo>
                  <a:pt x="214313" y="171450"/>
                </a:moveTo>
                <a:cubicBezTo>
                  <a:pt x="222171" y="171450"/>
                  <a:pt x="228600" y="177879"/>
                  <a:pt x="228600" y="185738"/>
                </a:cubicBezTo>
                <a:lnTo>
                  <a:pt x="228600" y="214313"/>
                </a:lnTo>
                <a:cubicBezTo>
                  <a:pt x="228600" y="222171"/>
                  <a:pt x="222171" y="228600"/>
                  <a:pt x="214313" y="228600"/>
                </a:cubicBezTo>
                <a:lnTo>
                  <a:pt x="185738" y="228600"/>
                </a:lnTo>
                <a:cubicBezTo>
                  <a:pt x="177879" y="228600"/>
                  <a:pt x="171450" y="222171"/>
                  <a:pt x="171450" y="214313"/>
                </a:cubicBezTo>
                <a:lnTo>
                  <a:pt x="171450" y="185738"/>
                </a:lnTo>
                <a:cubicBezTo>
                  <a:pt x="171450" y="177879"/>
                  <a:pt x="177879" y="171450"/>
                  <a:pt x="185738" y="171450"/>
                </a:cubicBezTo>
                <a:lnTo>
                  <a:pt x="214313" y="171450"/>
                </a:lnTo>
                <a:close/>
                <a:moveTo>
                  <a:pt x="114300" y="271463"/>
                </a:moveTo>
                <a:lnTo>
                  <a:pt x="114300" y="300038"/>
                </a:lnTo>
                <a:cubicBezTo>
                  <a:pt x="114300" y="307896"/>
                  <a:pt x="107871" y="314325"/>
                  <a:pt x="100013" y="314325"/>
                </a:cubicBezTo>
                <a:lnTo>
                  <a:pt x="71438" y="314325"/>
                </a:lnTo>
                <a:cubicBezTo>
                  <a:pt x="63579" y="314325"/>
                  <a:pt x="57150" y="307896"/>
                  <a:pt x="57150" y="300038"/>
                </a:cubicBezTo>
                <a:lnTo>
                  <a:pt x="57150" y="271463"/>
                </a:lnTo>
                <a:cubicBezTo>
                  <a:pt x="57150" y="263604"/>
                  <a:pt x="63579" y="257175"/>
                  <a:pt x="71438" y="257175"/>
                </a:cubicBezTo>
                <a:lnTo>
                  <a:pt x="100013" y="257175"/>
                </a:lnTo>
                <a:cubicBezTo>
                  <a:pt x="107871" y="257175"/>
                  <a:pt x="114300" y="263604"/>
                  <a:pt x="114300" y="271463"/>
                </a:cubicBezTo>
                <a:close/>
                <a:moveTo>
                  <a:pt x="100013" y="171450"/>
                </a:moveTo>
                <a:cubicBezTo>
                  <a:pt x="107871" y="171450"/>
                  <a:pt x="114300" y="177879"/>
                  <a:pt x="114300" y="185738"/>
                </a:cubicBezTo>
                <a:lnTo>
                  <a:pt x="114300" y="214313"/>
                </a:lnTo>
                <a:cubicBezTo>
                  <a:pt x="114300" y="222171"/>
                  <a:pt x="107871" y="228600"/>
                  <a:pt x="100013" y="228600"/>
                </a:cubicBezTo>
                <a:lnTo>
                  <a:pt x="71438" y="228600"/>
                </a:lnTo>
                <a:cubicBezTo>
                  <a:pt x="63579" y="228600"/>
                  <a:pt x="57150" y="222171"/>
                  <a:pt x="57150" y="214313"/>
                </a:cubicBezTo>
                <a:lnTo>
                  <a:pt x="57150" y="185738"/>
                </a:lnTo>
                <a:cubicBezTo>
                  <a:pt x="57150" y="177879"/>
                  <a:pt x="63579" y="171450"/>
                  <a:pt x="71438" y="171450"/>
                </a:cubicBezTo>
                <a:lnTo>
                  <a:pt x="100013" y="171450"/>
                </a:ln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Metropolitan Area Network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0" y="3276600"/>
            <a:ext cx="381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60960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Covers a city or large campus area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Bridges LAN and WAN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ISP or municipality owned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Fiber optic connections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795000" y="1524000"/>
            <a:ext cx="4699000" cy="482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7" name="Shape 15"/>
          <p:cNvSpPr/>
          <p:nvPr/>
        </p:nvSpPr>
        <p:spPr>
          <a:xfrm>
            <a:off x="11112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14236" y="250031"/>
                </a:moveTo>
                <a:lnTo>
                  <a:pt x="143768" y="250031"/>
                </a:lnTo>
                <a:cubicBezTo>
                  <a:pt x="146358" y="307628"/>
                  <a:pt x="159127" y="360670"/>
                  <a:pt x="177254" y="399514"/>
                </a:cubicBezTo>
                <a:cubicBezTo>
                  <a:pt x="187434" y="421392"/>
                  <a:pt x="198418" y="436840"/>
                  <a:pt x="208597" y="446306"/>
                </a:cubicBezTo>
                <a:cubicBezTo>
                  <a:pt x="218599" y="455682"/>
                  <a:pt x="225475" y="457200"/>
                  <a:pt x="229046" y="457200"/>
                </a:cubicBezTo>
                <a:cubicBezTo>
                  <a:pt x="232618" y="457200"/>
                  <a:pt x="239494" y="455682"/>
                  <a:pt x="249495" y="446306"/>
                </a:cubicBezTo>
                <a:cubicBezTo>
                  <a:pt x="259675" y="436840"/>
                  <a:pt x="270659" y="421303"/>
                  <a:pt x="280839" y="399514"/>
                </a:cubicBezTo>
                <a:cubicBezTo>
                  <a:pt x="298966" y="360670"/>
                  <a:pt x="311735" y="307628"/>
                  <a:pt x="314325" y="250031"/>
                </a:cubicBezTo>
                <a:close/>
                <a:moveTo>
                  <a:pt x="143679" y="207169"/>
                </a:moveTo>
                <a:lnTo>
                  <a:pt x="314146" y="207169"/>
                </a:lnTo>
                <a:cubicBezTo>
                  <a:pt x="311646" y="149572"/>
                  <a:pt x="298877" y="96530"/>
                  <a:pt x="280749" y="57686"/>
                </a:cubicBezTo>
                <a:cubicBezTo>
                  <a:pt x="270570" y="35897"/>
                  <a:pt x="259586" y="20360"/>
                  <a:pt x="249406" y="10894"/>
                </a:cubicBezTo>
                <a:cubicBezTo>
                  <a:pt x="239405" y="1518"/>
                  <a:pt x="232529" y="0"/>
                  <a:pt x="228957" y="0"/>
                </a:cubicBezTo>
                <a:cubicBezTo>
                  <a:pt x="225385" y="0"/>
                  <a:pt x="218509" y="1518"/>
                  <a:pt x="208508" y="10894"/>
                </a:cubicBezTo>
                <a:cubicBezTo>
                  <a:pt x="198328" y="20360"/>
                  <a:pt x="187345" y="35897"/>
                  <a:pt x="177165" y="57686"/>
                </a:cubicBezTo>
                <a:cubicBezTo>
                  <a:pt x="159038" y="96530"/>
                  <a:pt x="146268" y="149572"/>
                  <a:pt x="143679" y="207169"/>
                </a:cubicBezTo>
                <a:close/>
                <a:moveTo>
                  <a:pt x="100816" y="207169"/>
                </a:moveTo>
                <a:cubicBezTo>
                  <a:pt x="103942" y="130731"/>
                  <a:pt x="123676" y="59740"/>
                  <a:pt x="152519" y="13127"/>
                </a:cubicBezTo>
                <a:cubicBezTo>
                  <a:pt x="70277" y="42237"/>
                  <a:pt x="9733" y="117157"/>
                  <a:pt x="1339" y="207169"/>
                </a:cubicBezTo>
                <a:lnTo>
                  <a:pt x="100816" y="207169"/>
                </a:lnTo>
                <a:close/>
                <a:moveTo>
                  <a:pt x="1339" y="250031"/>
                </a:moveTo>
                <a:cubicBezTo>
                  <a:pt x="9733" y="340043"/>
                  <a:pt x="70277" y="414963"/>
                  <a:pt x="152519" y="444073"/>
                </a:cubicBezTo>
                <a:cubicBezTo>
                  <a:pt x="123676" y="397460"/>
                  <a:pt x="103942" y="326469"/>
                  <a:pt x="100816" y="250031"/>
                </a:cubicBezTo>
                <a:lnTo>
                  <a:pt x="1339" y="250031"/>
                </a:lnTo>
                <a:close/>
                <a:moveTo>
                  <a:pt x="357098" y="250031"/>
                </a:moveTo>
                <a:cubicBezTo>
                  <a:pt x="353973" y="326469"/>
                  <a:pt x="334238" y="397460"/>
                  <a:pt x="305395" y="444073"/>
                </a:cubicBezTo>
                <a:cubicBezTo>
                  <a:pt x="387638" y="414873"/>
                  <a:pt x="448181" y="340043"/>
                  <a:pt x="456575" y="250031"/>
                </a:cubicBezTo>
                <a:lnTo>
                  <a:pt x="357098" y="250031"/>
                </a:lnTo>
                <a:close/>
                <a:moveTo>
                  <a:pt x="456575" y="207169"/>
                </a:moveTo>
                <a:cubicBezTo>
                  <a:pt x="448181" y="117157"/>
                  <a:pt x="387638" y="42237"/>
                  <a:pt x="305395" y="13127"/>
                </a:cubicBezTo>
                <a:cubicBezTo>
                  <a:pt x="334238" y="59740"/>
                  <a:pt x="353973" y="130731"/>
                  <a:pt x="357098" y="207169"/>
                </a:cubicBezTo>
                <a:lnTo>
                  <a:pt x="456575" y="207169"/>
                </a:ln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11112500" y="24765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12500" y="2857500"/>
            <a:ext cx="406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Wide Area Network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12500" y="3276600"/>
            <a:ext cx="381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21" name="Text 19"/>
          <p:cNvSpPr/>
          <p:nvPr/>
        </p:nvSpPr>
        <p:spPr>
          <a:xfrm>
            <a:off x="11112500" y="3492500"/>
            <a:ext cx="4064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Spans cities, countries, continents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Characteristics: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The Internet is the largest WAN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ISP-managed infrastructure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Slower than LAN due to distance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62000" y="6731000"/>
            <a:ext cx="14732000" cy="1270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3" name="Text 21"/>
          <p:cNvSpPr/>
          <p:nvPr/>
        </p:nvSpPr>
        <p:spPr>
          <a:xfrm>
            <a:off x="1079500" y="6858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Differentiator: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Geographic scope and ownership model — LAN is private and local, WAN is global and ISP-managed, MAN sits in between.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Devices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755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Shape 3"/>
          <p:cNvSpPr/>
          <p:nvPr/>
        </p:nvSpPr>
        <p:spPr>
          <a:xfrm>
            <a:off x="10795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85725"/>
                </a:moveTo>
                <a:cubicBezTo>
                  <a:pt x="457200" y="130552"/>
                  <a:pt x="404426" y="197435"/>
                  <a:pt x="381655" y="224135"/>
                </a:cubicBezTo>
                <a:cubicBezTo>
                  <a:pt x="378262" y="228064"/>
                  <a:pt x="373261" y="229582"/>
                  <a:pt x="368707" y="228600"/>
                </a:cubicBezTo>
                <a:lnTo>
                  <a:pt x="285750" y="228600"/>
                </a:lnTo>
                <a:cubicBezTo>
                  <a:pt x="269944" y="228600"/>
                  <a:pt x="257175" y="241369"/>
                  <a:pt x="257175" y="257175"/>
                </a:cubicBezTo>
                <a:cubicBezTo>
                  <a:pt x="257175" y="272981"/>
                  <a:pt x="269944" y="285750"/>
                  <a:pt x="285750" y="285750"/>
                </a:cubicBezTo>
                <a:lnTo>
                  <a:pt x="371475" y="285750"/>
                </a:lnTo>
                <a:cubicBezTo>
                  <a:pt x="418802" y="285750"/>
                  <a:pt x="457200" y="324148"/>
                  <a:pt x="457200" y="371475"/>
                </a:cubicBezTo>
                <a:cubicBezTo>
                  <a:pt x="457200" y="418802"/>
                  <a:pt x="418802" y="457200"/>
                  <a:pt x="371475" y="457200"/>
                </a:cubicBezTo>
                <a:lnTo>
                  <a:pt x="124658" y="457200"/>
                </a:lnTo>
                <a:cubicBezTo>
                  <a:pt x="132427" y="448360"/>
                  <a:pt x="141893" y="437019"/>
                  <a:pt x="151448" y="424339"/>
                </a:cubicBezTo>
                <a:cubicBezTo>
                  <a:pt x="157073" y="416838"/>
                  <a:pt x="162878" y="408622"/>
                  <a:pt x="168414" y="400050"/>
                </a:cubicBezTo>
                <a:lnTo>
                  <a:pt x="371475" y="400050"/>
                </a:lnTo>
                <a:cubicBezTo>
                  <a:pt x="387281" y="400050"/>
                  <a:pt x="400050" y="387281"/>
                  <a:pt x="400050" y="371475"/>
                </a:cubicBezTo>
                <a:cubicBezTo>
                  <a:pt x="400050" y="355669"/>
                  <a:pt x="387281" y="342900"/>
                  <a:pt x="371475" y="342900"/>
                </a:cubicBezTo>
                <a:lnTo>
                  <a:pt x="285750" y="342900"/>
                </a:lnTo>
                <a:cubicBezTo>
                  <a:pt x="238423" y="342900"/>
                  <a:pt x="200025" y="304502"/>
                  <a:pt x="200025" y="257175"/>
                </a:cubicBezTo>
                <a:cubicBezTo>
                  <a:pt x="200025" y="209848"/>
                  <a:pt x="238423" y="171450"/>
                  <a:pt x="285750" y="171450"/>
                </a:cubicBezTo>
                <a:lnTo>
                  <a:pt x="321290" y="171450"/>
                </a:lnTo>
                <a:cubicBezTo>
                  <a:pt x="302538" y="143321"/>
                  <a:pt x="285750" y="110996"/>
                  <a:pt x="285750" y="85725"/>
                </a:cubicBezTo>
                <a:cubicBezTo>
                  <a:pt x="285750" y="38398"/>
                  <a:pt x="324148" y="0"/>
                  <a:pt x="371475" y="0"/>
                </a:cubicBezTo>
                <a:cubicBezTo>
                  <a:pt x="418802" y="0"/>
                  <a:pt x="457200" y="38398"/>
                  <a:pt x="457200" y="85725"/>
                </a:cubicBezTo>
                <a:close/>
                <a:moveTo>
                  <a:pt x="104567" y="436751"/>
                </a:moveTo>
                <a:cubicBezTo>
                  <a:pt x="101173" y="440591"/>
                  <a:pt x="98137" y="443984"/>
                  <a:pt x="95548" y="446842"/>
                </a:cubicBezTo>
                <a:lnTo>
                  <a:pt x="93940" y="448628"/>
                </a:lnTo>
                <a:lnTo>
                  <a:pt x="93762" y="448449"/>
                </a:lnTo>
                <a:cubicBezTo>
                  <a:pt x="88404" y="452557"/>
                  <a:pt x="80724" y="452021"/>
                  <a:pt x="75902" y="446842"/>
                </a:cubicBezTo>
                <a:cubicBezTo>
                  <a:pt x="53400" y="422374"/>
                  <a:pt x="0" y="359420"/>
                  <a:pt x="0" y="314325"/>
                </a:cubicBezTo>
                <a:cubicBezTo>
                  <a:pt x="0" y="266998"/>
                  <a:pt x="38398" y="228600"/>
                  <a:pt x="85725" y="228600"/>
                </a:cubicBezTo>
                <a:cubicBezTo>
                  <a:pt x="133052" y="228600"/>
                  <a:pt x="171450" y="266998"/>
                  <a:pt x="171450" y="314325"/>
                </a:cubicBezTo>
                <a:cubicBezTo>
                  <a:pt x="171450" y="341114"/>
                  <a:pt x="152608" y="374154"/>
                  <a:pt x="132606" y="401747"/>
                </a:cubicBezTo>
                <a:cubicBezTo>
                  <a:pt x="123051" y="414873"/>
                  <a:pt x="113228" y="426750"/>
                  <a:pt x="105102" y="436126"/>
                </a:cubicBezTo>
                <a:lnTo>
                  <a:pt x="104567" y="436751"/>
                </a:lnTo>
                <a:close/>
                <a:moveTo>
                  <a:pt x="114300" y="314325"/>
                </a:moveTo>
                <a:cubicBezTo>
                  <a:pt x="114300" y="298554"/>
                  <a:pt x="101496" y="285750"/>
                  <a:pt x="85725" y="285750"/>
                </a:cubicBezTo>
                <a:cubicBezTo>
                  <a:pt x="69954" y="285750"/>
                  <a:pt x="57150" y="298554"/>
                  <a:pt x="57150" y="314325"/>
                </a:cubicBezTo>
                <a:cubicBezTo>
                  <a:pt x="57150" y="330096"/>
                  <a:pt x="69954" y="342900"/>
                  <a:pt x="85725" y="342900"/>
                </a:cubicBezTo>
                <a:cubicBezTo>
                  <a:pt x="101496" y="342900"/>
                  <a:pt x="114300" y="330096"/>
                  <a:pt x="114300" y="314325"/>
                </a:cubicBezTo>
                <a:close/>
                <a:moveTo>
                  <a:pt x="371475" y="114300"/>
                </a:moveTo>
                <a:cubicBezTo>
                  <a:pt x="387246" y="114300"/>
                  <a:pt x="400050" y="101496"/>
                  <a:pt x="400050" y="85725"/>
                </a:cubicBezTo>
                <a:cubicBezTo>
                  <a:pt x="400050" y="69954"/>
                  <a:pt x="387246" y="57150"/>
                  <a:pt x="371475" y="57150"/>
                </a:cubicBezTo>
                <a:cubicBezTo>
                  <a:pt x="355704" y="57150"/>
                  <a:pt x="342900" y="69954"/>
                  <a:pt x="342900" y="85725"/>
                </a:cubicBezTo>
                <a:cubicBezTo>
                  <a:pt x="342900" y="101496"/>
                  <a:pt x="355704" y="114300"/>
                  <a:pt x="371475" y="114300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Directs data between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networks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using IP addresses. The "traffic director" of networking — decides the best path for data to travel.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3 (Network Layer)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318500" y="1524000"/>
            <a:ext cx="71755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9" name="Shape 7"/>
          <p:cNvSpPr/>
          <p:nvPr/>
        </p:nvSpPr>
        <p:spPr>
          <a:xfrm>
            <a:off x="863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10" name="Text 8"/>
          <p:cNvSpPr/>
          <p:nvPr/>
        </p:nvSpPr>
        <p:spPr>
          <a:xfrm>
            <a:off x="9271000" y="1841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36000" y="2476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Connects devices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within the same network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using MAC addresses. Enables efficient local communication by forwarding data only to the intended recipient.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 (Data Link Layer)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5080000"/>
            <a:ext cx="71755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0925" y="5397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78492" y="10269"/>
                </a:moveTo>
                <a:cubicBezTo>
                  <a:pt x="68401" y="4108"/>
                  <a:pt x="55185" y="7412"/>
                  <a:pt x="49024" y="17502"/>
                </a:cubicBezTo>
                <a:cubicBezTo>
                  <a:pt x="26878" y="54114"/>
                  <a:pt x="14198" y="97066"/>
                  <a:pt x="14198" y="142875"/>
                </a:cubicBezTo>
                <a:cubicBezTo>
                  <a:pt x="14198" y="188684"/>
                  <a:pt x="26878" y="231636"/>
                  <a:pt x="49024" y="268248"/>
                </a:cubicBezTo>
                <a:cubicBezTo>
                  <a:pt x="55185" y="278338"/>
                  <a:pt x="68312" y="281642"/>
                  <a:pt x="78492" y="275481"/>
                </a:cubicBezTo>
                <a:cubicBezTo>
                  <a:pt x="88672" y="269319"/>
                  <a:pt x="91886" y="256193"/>
                  <a:pt x="85725" y="246013"/>
                </a:cubicBezTo>
                <a:cubicBezTo>
                  <a:pt x="67598" y="216009"/>
                  <a:pt x="57150" y="180648"/>
                  <a:pt x="57150" y="142875"/>
                </a:cubicBezTo>
                <a:cubicBezTo>
                  <a:pt x="57150" y="105102"/>
                  <a:pt x="67598" y="69741"/>
                  <a:pt x="85814" y="39648"/>
                </a:cubicBezTo>
                <a:cubicBezTo>
                  <a:pt x="91976" y="29557"/>
                  <a:pt x="88672" y="16341"/>
                  <a:pt x="78581" y="10180"/>
                </a:cubicBezTo>
                <a:close/>
                <a:moveTo>
                  <a:pt x="435769" y="10269"/>
                </a:moveTo>
                <a:cubicBezTo>
                  <a:pt x="425678" y="16431"/>
                  <a:pt x="422374" y="29557"/>
                  <a:pt x="428536" y="39737"/>
                </a:cubicBezTo>
                <a:cubicBezTo>
                  <a:pt x="446752" y="69830"/>
                  <a:pt x="457200" y="105192"/>
                  <a:pt x="457200" y="142964"/>
                </a:cubicBezTo>
                <a:cubicBezTo>
                  <a:pt x="457200" y="180737"/>
                  <a:pt x="446752" y="216098"/>
                  <a:pt x="428536" y="246191"/>
                </a:cubicBezTo>
                <a:cubicBezTo>
                  <a:pt x="422374" y="256282"/>
                  <a:pt x="425678" y="269498"/>
                  <a:pt x="435769" y="275659"/>
                </a:cubicBezTo>
                <a:cubicBezTo>
                  <a:pt x="445859" y="281821"/>
                  <a:pt x="459075" y="278517"/>
                  <a:pt x="465237" y="268426"/>
                </a:cubicBezTo>
                <a:cubicBezTo>
                  <a:pt x="487382" y="231815"/>
                  <a:pt x="500063" y="188863"/>
                  <a:pt x="500063" y="143054"/>
                </a:cubicBezTo>
                <a:cubicBezTo>
                  <a:pt x="500063" y="97244"/>
                  <a:pt x="487382" y="54114"/>
                  <a:pt x="465237" y="17502"/>
                </a:cubicBezTo>
                <a:cubicBezTo>
                  <a:pt x="459075" y="7412"/>
                  <a:pt x="445949" y="4108"/>
                  <a:pt x="435769" y="10269"/>
                </a:cubicBezTo>
                <a:close/>
                <a:moveTo>
                  <a:pt x="285750" y="192345"/>
                </a:moveTo>
                <a:cubicBezTo>
                  <a:pt x="302806" y="182434"/>
                  <a:pt x="314325" y="164038"/>
                  <a:pt x="314325" y="142875"/>
                </a:cubicBezTo>
                <a:cubicBezTo>
                  <a:pt x="314325" y="111353"/>
                  <a:pt x="288697" y="85725"/>
                  <a:pt x="257175" y="85725"/>
                </a:cubicBezTo>
                <a:cubicBezTo>
                  <a:pt x="225653" y="85725"/>
                  <a:pt x="200025" y="111353"/>
                  <a:pt x="200025" y="142875"/>
                </a:cubicBezTo>
                <a:cubicBezTo>
                  <a:pt x="200025" y="164038"/>
                  <a:pt x="211544" y="182523"/>
                  <a:pt x="228600" y="192345"/>
                </a:cubicBezTo>
                <a:lnTo>
                  <a:pt x="228600" y="428625"/>
                </a:lnTo>
                <a:cubicBezTo>
                  <a:pt x="228600" y="444431"/>
                  <a:pt x="241369" y="457200"/>
                  <a:pt x="257175" y="457200"/>
                </a:cubicBezTo>
                <a:cubicBezTo>
                  <a:pt x="272981" y="457200"/>
                  <a:pt x="285750" y="444431"/>
                  <a:pt x="285750" y="428625"/>
                </a:cubicBezTo>
                <a:lnTo>
                  <a:pt x="285750" y="192345"/>
                </a:lnTo>
                <a:close/>
                <a:moveTo>
                  <a:pt x="160913" y="81260"/>
                </a:moveTo>
                <a:cubicBezTo>
                  <a:pt x="167342" y="71259"/>
                  <a:pt x="164396" y="58043"/>
                  <a:pt x="154484" y="51614"/>
                </a:cubicBezTo>
                <a:cubicBezTo>
                  <a:pt x="144572" y="45184"/>
                  <a:pt x="131266" y="48131"/>
                  <a:pt x="124837" y="58043"/>
                </a:cubicBezTo>
                <a:cubicBezTo>
                  <a:pt x="109121" y="82510"/>
                  <a:pt x="100013" y="111621"/>
                  <a:pt x="100013" y="142875"/>
                </a:cubicBezTo>
                <a:cubicBezTo>
                  <a:pt x="100013" y="174129"/>
                  <a:pt x="109121" y="203240"/>
                  <a:pt x="124837" y="227707"/>
                </a:cubicBezTo>
                <a:cubicBezTo>
                  <a:pt x="131266" y="237708"/>
                  <a:pt x="144482" y="240566"/>
                  <a:pt x="154484" y="234136"/>
                </a:cubicBezTo>
                <a:cubicBezTo>
                  <a:pt x="164485" y="227707"/>
                  <a:pt x="167342" y="214491"/>
                  <a:pt x="160913" y="204490"/>
                </a:cubicBezTo>
                <a:cubicBezTo>
                  <a:pt x="149483" y="186720"/>
                  <a:pt x="142875" y="165556"/>
                  <a:pt x="142875" y="142875"/>
                </a:cubicBezTo>
                <a:cubicBezTo>
                  <a:pt x="142875" y="120194"/>
                  <a:pt x="149483" y="99030"/>
                  <a:pt x="160913" y="81260"/>
                </a:cubicBezTo>
                <a:close/>
                <a:moveTo>
                  <a:pt x="389513" y="58043"/>
                </a:moveTo>
                <a:cubicBezTo>
                  <a:pt x="383084" y="48042"/>
                  <a:pt x="369868" y="45184"/>
                  <a:pt x="359866" y="51614"/>
                </a:cubicBezTo>
                <a:cubicBezTo>
                  <a:pt x="349865" y="58043"/>
                  <a:pt x="347008" y="71259"/>
                  <a:pt x="353437" y="81260"/>
                </a:cubicBezTo>
                <a:cubicBezTo>
                  <a:pt x="364867" y="99030"/>
                  <a:pt x="371475" y="120194"/>
                  <a:pt x="371475" y="142875"/>
                </a:cubicBezTo>
                <a:cubicBezTo>
                  <a:pt x="371475" y="165556"/>
                  <a:pt x="364867" y="186720"/>
                  <a:pt x="353437" y="204490"/>
                </a:cubicBezTo>
                <a:cubicBezTo>
                  <a:pt x="347008" y="214491"/>
                  <a:pt x="349954" y="227707"/>
                  <a:pt x="359866" y="234136"/>
                </a:cubicBezTo>
                <a:cubicBezTo>
                  <a:pt x="369778" y="240566"/>
                  <a:pt x="383084" y="237619"/>
                  <a:pt x="389513" y="227707"/>
                </a:cubicBezTo>
                <a:cubicBezTo>
                  <a:pt x="405229" y="203240"/>
                  <a:pt x="414338" y="174129"/>
                  <a:pt x="414338" y="142875"/>
                </a:cubicBezTo>
                <a:cubicBezTo>
                  <a:pt x="414338" y="111621"/>
                  <a:pt x="405229" y="82510"/>
                  <a:pt x="389513" y="58043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5397500"/>
            <a:ext cx="254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032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Converts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digital signals to analog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(and vice versa) for transmission over ISP lines. Bridges your local network to the Internet.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Signal Conversion Device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18500" y="5080000"/>
            <a:ext cx="71755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7" name="Shape 15"/>
          <p:cNvSpPr/>
          <p:nvPr/>
        </p:nvSpPr>
        <p:spPr>
          <a:xfrm>
            <a:off x="8607425" y="5397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53221" y="8751"/>
                </a:moveTo>
                <a:cubicBezTo>
                  <a:pt x="42237" y="4286"/>
                  <a:pt x="29736" y="9555"/>
                  <a:pt x="25360" y="20538"/>
                </a:cubicBezTo>
                <a:cubicBezTo>
                  <a:pt x="13573" y="49560"/>
                  <a:pt x="7144" y="81171"/>
                  <a:pt x="7144" y="114300"/>
                </a:cubicBezTo>
                <a:cubicBezTo>
                  <a:pt x="7144" y="147429"/>
                  <a:pt x="13573" y="179040"/>
                  <a:pt x="25360" y="208062"/>
                </a:cubicBezTo>
                <a:cubicBezTo>
                  <a:pt x="29825" y="219045"/>
                  <a:pt x="42327" y="224314"/>
                  <a:pt x="53310" y="219849"/>
                </a:cubicBezTo>
                <a:cubicBezTo>
                  <a:pt x="64294" y="215384"/>
                  <a:pt x="69562" y="202883"/>
                  <a:pt x="65097" y="191899"/>
                </a:cubicBezTo>
                <a:cubicBezTo>
                  <a:pt x="55364" y="168057"/>
                  <a:pt x="50006" y="141803"/>
                  <a:pt x="50006" y="114300"/>
                </a:cubicBezTo>
                <a:cubicBezTo>
                  <a:pt x="50006" y="86797"/>
                  <a:pt x="55364" y="60543"/>
                  <a:pt x="65097" y="36612"/>
                </a:cubicBezTo>
                <a:cubicBezTo>
                  <a:pt x="69562" y="25628"/>
                  <a:pt x="64204" y="13127"/>
                  <a:pt x="53310" y="8662"/>
                </a:cubicBezTo>
                <a:close/>
                <a:moveTo>
                  <a:pt x="461129" y="8751"/>
                </a:moveTo>
                <a:cubicBezTo>
                  <a:pt x="450146" y="13216"/>
                  <a:pt x="444877" y="25718"/>
                  <a:pt x="449342" y="36701"/>
                </a:cubicBezTo>
                <a:cubicBezTo>
                  <a:pt x="459075" y="60633"/>
                  <a:pt x="464433" y="86886"/>
                  <a:pt x="464433" y="114389"/>
                </a:cubicBezTo>
                <a:cubicBezTo>
                  <a:pt x="464433" y="141893"/>
                  <a:pt x="459075" y="168146"/>
                  <a:pt x="449342" y="192078"/>
                </a:cubicBezTo>
                <a:cubicBezTo>
                  <a:pt x="444877" y="203061"/>
                  <a:pt x="450235" y="215563"/>
                  <a:pt x="461129" y="220028"/>
                </a:cubicBezTo>
                <a:cubicBezTo>
                  <a:pt x="472023" y="224492"/>
                  <a:pt x="484614" y="219135"/>
                  <a:pt x="489079" y="208240"/>
                </a:cubicBezTo>
                <a:cubicBezTo>
                  <a:pt x="500777" y="179219"/>
                  <a:pt x="507296" y="147608"/>
                  <a:pt x="507296" y="114479"/>
                </a:cubicBezTo>
                <a:cubicBezTo>
                  <a:pt x="507296" y="81349"/>
                  <a:pt x="500866" y="49738"/>
                  <a:pt x="489079" y="20717"/>
                </a:cubicBezTo>
                <a:cubicBezTo>
                  <a:pt x="484614" y="9733"/>
                  <a:pt x="472113" y="4465"/>
                  <a:pt x="461129" y="8930"/>
                </a:cubicBezTo>
                <a:close/>
                <a:moveTo>
                  <a:pt x="303699" y="147518"/>
                </a:moveTo>
                <a:cubicBezTo>
                  <a:pt x="310396" y="138142"/>
                  <a:pt x="314325" y="126712"/>
                  <a:pt x="314325" y="114300"/>
                </a:cubicBezTo>
                <a:cubicBezTo>
                  <a:pt x="314325" y="82778"/>
                  <a:pt x="288697" y="57150"/>
                  <a:pt x="257175" y="57150"/>
                </a:cubicBezTo>
                <a:cubicBezTo>
                  <a:pt x="225653" y="57150"/>
                  <a:pt x="200025" y="82778"/>
                  <a:pt x="200025" y="114300"/>
                </a:cubicBezTo>
                <a:cubicBezTo>
                  <a:pt x="200025" y="126712"/>
                  <a:pt x="203954" y="138142"/>
                  <a:pt x="210651" y="147518"/>
                </a:cubicBezTo>
                <a:lnTo>
                  <a:pt x="88315" y="416838"/>
                </a:lnTo>
                <a:cubicBezTo>
                  <a:pt x="81796" y="431215"/>
                  <a:pt x="88136" y="448181"/>
                  <a:pt x="102513" y="454700"/>
                </a:cubicBezTo>
                <a:cubicBezTo>
                  <a:pt x="116890" y="461218"/>
                  <a:pt x="133856" y="454878"/>
                  <a:pt x="140375" y="440501"/>
                </a:cubicBezTo>
                <a:lnTo>
                  <a:pt x="158770" y="400139"/>
                </a:lnTo>
                <a:lnTo>
                  <a:pt x="355759" y="400139"/>
                </a:lnTo>
                <a:lnTo>
                  <a:pt x="374154" y="440501"/>
                </a:lnTo>
                <a:cubicBezTo>
                  <a:pt x="380673" y="454878"/>
                  <a:pt x="397639" y="461218"/>
                  <a:pt x="412016" y="454700"/>
                </a:cubicBezTo>
                <a:cubicBezTo>
                  <a:pt x="426393" y="448181"/>
                  <a:pt x="432733" y="431215"/>
                  <a:pt x="426214" y="416838"/>
                </a:cubicBezTo>
                <a:lnTo>
                  <a:pt x="303699" y="147518"/>
                </a:lnTo>
                <a:close/>
                <a:moveTo>
                  <a:pt x="336203" y="357188"/>
                </a:moveTo>
                <a:lnTo>
                  <a:pt x="178147" y="357188"/>
                </a:lnTo>
                <a:lnTo>
                  <a:pt x="197614" y="314325"/>
                </a:lnTo>
                <a:lnTo>
                  <a:pt x="316647" y="314325"/>
                </a:lnTo>
                <a:lnTo>
                  <a:pt x="336113" y="357188"/>
                </a:lnTo>
                <a:close/>
                <a:moveTo>
                  <a:pt x="257175" y="183326"/>
                </a:moveTo>
                <a:lnTo>
                  <a:pt x="297180" y="271463"/>
                </a:lnTo>
                <a:lnTo>
                  <a:pt x="217081" y="271463"/>
                </a:lnTo>
                <a:lnTo>
                  <a:pt x="257086" y="183326"/>
                </a:lnTo>
                <a:close/>
                <a:moveTo>
                  <a:pt x="145822" y="65723"/>
                </a:moveTo>
                <a:cubicBezTo>
                  <a:pt x="150555" y="54918"/>
                  <a:pt x="145643" y="42237"/>
                  <a:pt x="134749" y="37505"/>
                </a:cubicBezTo>
                <a:cubicBezTo>
                  <a:pt x="123855" y="32772"/>
                  <a:pt x="111264" y="37683"/>
                  <a:pt x="106531" y="48577"/>
                </a:cubicBezTo>
                <a:cubicBezTo>
                  <a:pt x="97780" y="68759"/>
                  <a:pt x="92869" y="90994"/>
                  <a:pt x="92869" y="114300"/>
                </a:cubicBezTo>
                <a:cubicBezTo>
                  <a:pt x="92869" y="137606"/>
                  <a:pt x="97780" y="159841"/>
                  <a:pt x="106531" y="180023"/>
                </a:cubicBezTo>
                <a:cubicBezTo>
                  <a:pt x="111264" y="190827"/>
                  <a:pt x="123944" y="195828"/>
                  <a:pt x="134749" y="191095"/>
                </a:cubicBezTo>
                <a:cubicBezTo>
                  <a:pt x="145554" y="186363"/>
                  <a:pt x="150555" y="173682"/>
                  <a:pt x="145822" y="162877"/>
                </a:cubicBezTo>
                <a:cubicBezTo>
                  <a:pt x="139303" y="148054"/>
                  <a:pt x="135731" y="131624"/>
                  <a:pt x="135731" y="114300"/>
                </a:cubicBezTo>
                <a:cubicBezTo>
                  <a:pt x="135731" y="96976"/>
                  <a:pt x="139303" y="80546"/>
                  <a:pt x="145822" y="65723"/>
                </a:cubicBezTo>
                <a:close/>
                <a:moveTo>
                  <a:pt x="407819" y="48578"/>
                </a:moveTo>
                <a:cubicBezTo>
                  <a:pt x="403086" y="37773"/>
                  <a:pt x="390406" y="32772"/>
                  <a:pt x="379601" y="37505"/>
                </a:cubicBezTo>
                <a:cubicBezTo>
                  <a:pt x="368796" y="42237"/>
                  <a:pt x="363795" y="54918"/>
                  <a:pt x="368528" y="65723"/>
                </a:cubicBezTo>
                <a:cubicBezTo>
                  <a:pt x="375047" y="80546"/>
                  <a:pt x="378619" y="96976"/>
                  <a:pt x="378619" y="114300"/>
                </a:cubicBezTo>
                <a:cubicBezTo>
                  <a:pt x="378619" y="131624"/>
                  <a:pt x="375047" y="148054"/>
                  <a:pt x="368528" y="162877"/>
                </a:cubicBezTo>
                <a:cubicBezTo>
                  <a:pt x="363795" y="173682"/>
                  <a:pt x="368707" y="186363"/>
                  <a:pt x="379601" y="191095"/>
                </a:cubicBezTo>
                <a:cubicBezTo>
                  <a:pt x="390495" y="195828"/>
                  <a:pt x="403086" y="190917"/>
                  <a:pt x="407819" y="180023"/>
                </a:cubicBezTo>
                <a:cubicBezTo>
                  <a:pt x="416570" y="159841"/>
                  <a:pt x="421481" y="137606"/>
                  <a:pt x="421481" y="114300"/>
                </a:cubicBezTo>
                <a:cubicBezTo>
                  <a:pt x="421481" y="90994"/>
                  <a:pt x="416570" y="68759"/>
                  <a:pt x="407819" y="48578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9271000" y="5397500"/>
            <a:ext cx="3175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Access Point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6032500"/>
            <a:ext cx="65405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Creates a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wireless (WiFi)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connection point for devices to join a wired network. Extends network coverage without cables.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Wireless Bridge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 vs Switch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75500" cy="6985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3 — Network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75500" cy="4699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24765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different networks together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IP addresses for routing decisions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Inter-network communication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Postal service between cities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18500" y="1524000"/>
            <a:ext cx="7175500" cy="6985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10" name="Text 8"/>
          <p:cNvSpPr/>
          <p:nvPr/>
        </p:nvSpPr>
        <p:spPr>
          <a:xfrm>
            <a:off x="86360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365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Layer 2 — Data Link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318500" y="2222500"/>
            <a:ext cx="7175500" cy="4699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3" name="Text 11"/>
          <p:cNvSpPr/>
          <p:nvPr/>
        </p:nvSpPr>
        <p:spPr>
          <a:xfrm>
            <a:off x="8636000" y="2476500"/>
            <a:ext cx="6540500" cy="419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Function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devices within the same network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Addressing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Uses MAC addresses for forwarding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Scope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Intra-network communication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200"/>
              </a:spcBef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Analogy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Mail delivery within a neighborhood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239000"/>
            <a:ext cx="14732000" cy="762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7302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Difference: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Router handles traffic </a:t>
            </a:r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between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networks | Switch handles traffic </a:t>
            </a:r>
            <a:pPr algn="ctr">
              <a:lnSpc>
                <a:spcPct val="100000"/>
              </a:lnSpc>
            </a:pPr>
            <a:r>
              <a:rPr lang="en-US" sz="1800" i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within</a:t>
            </a:r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a network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An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IP (Internet Protocol) address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is a unique numerical identifier assigned to every device on a network, enabling devices to find and communicate with each other.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2540000"/>
            <a:ext cx="71755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800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32-bit address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9500" y="3302000"/>
            <a:ext cx="654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192.168.1.1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9500" y="4000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Four octets (0-255) separated by dots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~4.3 billion unique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Most widely used today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18500" y="2540000"/>
            <a:ext cx="71755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IPv6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36500" y="2730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128-bit address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36000" y="3302000"/>
            <a:ext cx="6540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2001:0db8::1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36000" y="4000500"/>
            <a:ext cx="65405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Eight groups of hex separated by colons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340 undecillion unique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Designed to replace IPv4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159500"/>
            <a:ext cx="14732000" cy="18415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IP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79500" y="6731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by your ISP. Unique across the entire Internet. Identifies your network to the world.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36000" y="635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36000" y="6731000"/>
            <a:ext cx="65405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Assigned by router within local network. Reusable across private networks. Not reachable from the Internet.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vs Public IP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IP Ranges (RFC 1918)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68500"/>
          <a:ext cx="14732000" cy="2286000"/>
        </p:xfrm>
        <a:graphic>
          <a:graphicData uri="http://schemas.openxmlformats.org/drawingml/2006/table">
            <a:tbl>
              <a:tblPr/>
              <a:tblGrid>
                <a:gridCol w="2946400"/>
                <a:gridCol w="5892800"/>
                <a:gridCol w="58928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 Case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A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10.0.0.0 – 10.255.255.255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 enterprise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B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172.16.0.0 – 172.31.255.255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Medium-sized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 C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192.168.0.0 – 192.168.255.255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 home/office networks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4699000"/>
            <a:ext cx="7175500" cy="3302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7" name="Shape 4"/>
          <p:cNvSpPr/>
          <p:nvPr/>
        </p:nvSpPr>
        <p:spPr>
          <a:xfrm>
            <a:off x="10795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79321" y="222250"/>
                </a:moveTo>
                <a:lnTo>
                  <a:pt x="127794" y="222250"/>
                </a:lnTo>
                <a:cubicBezTo>
                  <a:pt x="130096" y="273447"/>
                  <a:pt x="141446" y="320596"/>
                  <a:pt x="157559" y="355124"/>
                </a:cubicBezTo>
                <a:cubicBezTo>
                  <a:pt x="166608" y="374571"/>
                  <a:pt x="176371" y="388303"/>
                  <a:pt x="185420" y="396716"/>
                </a:cubicBezTo>
                <a:cubicBezTo>
                  <a:pt x="194310" y="405051"/>
                  <a:pt x="200422" y="406400"/>
                  <a:pt x="203597" y="406400"/>
                </a:cubicBezTo>
                <a:cubicBezTo>
                  <a:pt x="206772" y="406400"/>
                  <a:pt x="212884" y="405051"/>
                  <a:pt x="221774" y="396716"/>
                </a:cubicBezTo>
                <a:cubicBezTo>
                  <a:pt x="230822" y="388302"/>
                  <a:pt x="240586" y="374491"/>
                  <a:pt x="249634" y="355124"/>
                </a:cubicBezTo>
                <a:cubicBezTo>
                  <a:pt x="265747" y="320596"/>
                  <a:pt x="277098" y="273447"/>
                  <a:pt x="279400" y="222250"/>
                </a:cubicBezTo>
                <a:close/>
                <a:moveTo>
                  <a:pt x="127714" y="184150"/>
                </a:moveTo>
                <a:lnTo>
                  <a:pt x="279241" y="184150"/>
                </a:lnTo>
                <a:cubicBezTo>
                  <a:pt x="277019" y="132953"/>
                  <a:pt x="265668" y="85804"/>
                  <a:pt x="249555" y="51276"/>
                </a:cubicBezTo>
                <a:cubicBezTo>
                  <a:pt x="240506" y="31909"/>
                  <a:pt x="230743" y="18098"/>
                  <a:pt x="221694" y="9684"/>
                </a:cubicBezTo>
                <a:cubicBezTo>
                  <a:pt x="212804" y="1349"/>
                  <a:pt x="206692" y="0"/>
                  <a:pt x="203518" y="0"/>
                </a:cubicBezTo>
                <a:cubicBezTo>
                  <a:pt x="200342" y="0"/>
                  <a:pt x="194231" y="1349"/>
                  <a:pt x="185341" y="9684"/>
                </a:cubicBezTo>
                <a:cubicBezTo>
                  <a:pt x="176292" y="18098"/>
                  <a:pt x="166529" y="31909"/>
                  <a:pt x="157480" y="51276"/>
                </a:cubicBezTo>
                <a:cubicBezTo>
                  <a:pt x="141367" y="85804"/>
                  <a:pt x="130016" y="132953"/>
                  <a:pt x="127714" y="184150"/>
                </a:cubicBezTo>
                <a:close/>
                <a:moveTo>
                  <a:pt x="89614" y="184150"/>
                </a:moveTo>
                <a:cubicBezTo>
                  <a:pt x="92393" y="116205"/>
                  <a:pt x="109934" y="53102"/>
                  <a:pt x="135573" y="11668"/>
                </a:cubicBezTo>
                <a:cubicBezTo>
                  <a:pt x="62468" y="37544"/>
                  <a:pt x="8652" y="104140"/>
                  <a:pt x="1191" y="184150"/>
                </a:cubicBezTo>
                <a:lnTo>
                  <a:pt x="89614" y="184150"/>
                </a:lnTo>
                <a:close/>
                <a:moveTo>
                  <a:pt x="1191" y="222250"/>
                </a:moveTo>
                <a:cubicBezTo>
                  <a:pt x="8652" y="302260"/>
                  <a:pt x="62468" y="368856"/>
                  <a:pt x="135573" y="394732"/>
                </a:cubicBezTo>
                <a:cubicBezTo>
                  <a:pt x="109934" y="353298"/>
                  <a:pt x="92393" y="290195"/>
                  <a:pt x="89614" y="222250"/>
                </a:cubicBezTo>
                <a:lnTo>
                  <a:pt x="1191" y="222250"/>
                </a:lnTo>
                <a:close/>
                <a:moveTo>
                  <a:pt x="317421" y="222250"/>
                </a:moveTo>
                <a:cubicBezTo>
                  <a:pt x="314643" y="290195"/>
                  <a:pt x="297101" y="353298"/>
                  <a:pt x="271463" y="394732"/>
                </a:cubicBezTo>
                <a:cubicBezTo>
                  <a:pt x="344567" y="368776"/>
                  <a:pt x="398383" y="302260"/>
                  <a:pt x="405844" y="222250"/>
                </a:cubicBezTo>
                <a:lnTo>
                  <a:pt x="317421" y="222250"/>
                </a:lnTo>
                <a:close/>
                <a:moveTo>
                  <a:pt x="405844" y="184150"/>
                </a:moveTo>
                <a:cubicBezTo>
                  <a:pt x="398383" y="104140"/>
                  <a:pt x="344567" y="37544"/>
                  <a:pt x="271463" y="11668"/>
                </a:cubicBezTo>
                <a:cubicBezTo>
                  <a:pt x="297101" y="53102"/>
                  <a:pt x="314643" y="116205"/>
                  <a:pt x="317421" y="184150"/>
                </a:cubicBezTo>
                <a:lnTo>
                  <a:pt x="405844" y="184150"/>
                </a:ln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8" name="Text 5"/>
          <p:cNvSpPr/>
          <p:nvPr/>
        </p:nvSpPr>
        <p:spPr>
          <a:xfrm>
            <a:off x="1651000" y="4953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Public IP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9500" y="55245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Globally unique address reachable from anywhere on the Internet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Assigned by your ISP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One per network (typically)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Required for Internet access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318500" y="4699000"/>
            <a:ext cx="7175500" cy="3302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1" name="Shape 8"/>
          <p:cNvSpPr/>
          <p:nvPr/>
        </p:nvSpPr>
        <p:spPr>
          <a:xfrm>
            <a:off x="8636000" y="4953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/>
            </a:pathLst>
          </a:custGeom>
          <a:solidFill>
            <a:srgbClr val="BD6B4F"/>
          </a:solidFill>
          <a:ln/>
        </p:spPr>
      </p:sp>
      <p:sp>
        <p:nvSpPr>
          <p:cNvPr id="12" name="Text 9"/>
          <p:cNvSpPr/>
          <p:nvPr/>
        </p:nvSpPr>
        <p:spPr>
          <a:xfrm>
            <a:off x="9207500" y="4953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Router's Role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636000" y="5524500"/>
            <a:ext cx="6540500" cy="222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router assigns private IPs via DHCP and manages the single public IP from ISP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NAT translates between them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~18M devices reuse same ranges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Isolates local from global traffic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 (Media Access Control)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address is a hardware-level identifier burned into every Network Interface Card (NIC). It serves as a permanent, unique identity for each network device.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317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 Format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746500"/>
            <a:ext cx="7620000" cy="889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810000"/>
            <a:ext cx="6985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00:1A:2B:3C:4D:5E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4826000"/>
            <a:ext cx="762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48-bit hexadecimal address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6 pairs of hex digits separated by colons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First 3 pairs = manufacturer (OUI)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890000" y="3175000"/>
            <a:ext cx="6604000" cy="4064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1" name="Text 9"/>
          <p:cNvSpPr/>
          <p:nvPr/>
        </p:nvSpPr>
        <p:spPr>
          <a:xfrm>
            <a:off x="9207500" y="336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Properties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207500" y="3810000"/>
            <a:ext cx="381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9207500" y="4000500"/>
            <a:ext cx="5969000" cy="298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6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Unique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two NICs share the same MAC address worldwide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Permanent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Burned into hardware at manufacturing time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6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Layer 2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Used for local network communication only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7620000"/>
            <a:ext cx="14732000" cy="635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15" name="Text 13"/>
          <p:cNvSpPr/>
          <p:nvPr/>
        </p:nvSpPr>
        <p:spPr>
          <a:xfrm>
            <a:off x="1079500" y="7683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device with a network connection — laptop, phone, smart TV — has a unique MAC address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IP vs MAC Address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24000"/>
          <a:ext cx="14732000" cy="5080000"/>
        </p:xfrm>
        <a:graphic>
          <a:graphicData uri="http://schemas.openxmlformats.org/drawingml/2006/table">
            <a:tbl>
              <a:tblPr/>
              <a:tblGrid>
                <a:gridCol w="3241040"/>
                <a:gridCol w="5745480"/>
                <a:gridCol w="5745480"/>
              </a:tblGrid>
              <a:tr h="70942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Property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Logical (software-assigned)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Physical (hardware-burnt)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Can Change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BD6B4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 — dynamic via DHCP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 — permanent (mostly)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Scope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Works across networks (Layer 3)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Local network only (Layer 2)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Format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192.168.1.1 (IPv4)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</a:tr>
              <a:tr h="874115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Purpose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Location-based routing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Device-specific identification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985000"/>
            <a:ext cx="14732000" cy="1270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6" name="Shape 3"/>
          <p:cNvSpPr/>
          <p:nvPr/>
        </p:nvSpPr>
        <p:spPr>
          <a:xfrm>
            <a:off x="1143000" y="730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177800" y="127000"/>
                </a:moveTo>
                <a:cubicBezTo>
                  <a:pt x="177800" y="112981"/>
                  <a:pt x="189181" y="101600"/>
                  <a:pt x="203200" y="101600"/>
                </a:cubicBezTo>
                <a:cubicBezTo>
                  <a:pt x="217219" y="101600"/>
                  <a:pt x="228600" y="112981"/>
                  <a:pt x="228600" y="127000"/>
                </a:cubicBezTo>
                <a:cubicBezTo>
                  <a:pt x="228600" y="141019"/>
                  <a:pt x="217219" y="152400"/>
                  <a:pt x="203200" y="152400"/>
                </a:cubicBezTo>
                <a:cubicBezTo>
                  <a:pt x="189181" y="152400"/>
                  <a:pt x="177800" y="141019"/>
                  <a:pt x="177800" y="127000"/>
                </a:cubicBezTo>
                <a:close/>
                <a:moveTo>
                  <a:pt x="171450" y="177800"/>
                </a:moveTo>
                <a:lnTo>
                  <a:pt x="209550" y="177800"/>
                </a:lnTo>
                <a:cubicBezTo>
                  <a:pt x="220107" y="177800"/>
                  <a:pt x="228600" y="186293"/>
                  <a:pt x="228600" y="196850"/>
                </a:cubicBezTo>
                <a:lnTo>
                  <a:pt x="228600" y="266700"/>
                </a:lnTo>
                <a:lnTo>
                  <a:pt x="234950" y="266700"/>
                </a:lnTo>
                <a:cubicBezTo>
                  <a:pt x="245507" y="266700"/>
                  <a:pt x="254000" y="275193"/>
                  <a:pt x="254000" y="285750"/>
                </a:cubicBezTo>
                <a:cubicBezTo>
                  <a:pt x="254000" y="296307"/>
                  <a:pt x="245507" y="304800"/>
                  <a:pt x="234950" y="304800"/>
                </a:cubicBezTo>
                <a:lnTo>
                  <a:pt x="171450" y="304800"/>
                </a:lnTo>
                <a:cubicBezTo>
                  <a:pt x="160893" y="304800"/>
                  <a:pt x="152400" y="296307"/>
                  <a:pt x="152400" y="285750"/>
                </a:cubicBezTo>
                <a:cubicBezTo>
                  <a:pt x="152400" y="275193"/>
                  <a:pt x="160893" y="266700"/>
                  <a:pt x="171450" y="266700"/>
                </a:cubicBezTo>
                <a:lnTo>
                  <a:pt x="190500" y="266700"/>
                </a:lnTo>
                <a:lnTo>
                  <a:pt x="190500" y="215900"/>
                </a:lnTo>
                <a:lnTo>
                  <a:pt x="171450" y="215900"/>
                </a:lnTo>
                <a:cubicBezTo>
                  <a:pt x="160893" y="215900"/>
                  <a:pt x="152400" y="207407"/>
                  <a:pt x="152400" y="196850"/>
                </a:cubicBezTo>
                <a:cubicBezTo>
                  <a:pt x="152400" y="186293"/>
                  <a:pt x="160893" y="177800"/>
                  <a:pt x="171450" y="177800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7048500"/>
            <a:ext cx="13335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are essential: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IP finds the destination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; MAC finds the destination </a:t>
            </a:r>
            <a:pPr>
              <a:lnSpc>
                <a:spcPct val="150000"/>
              </a:lnSpc>
            </a:pPr>
            <a:r>
              <a:rPr lang="en-US" sz="1800" i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within that network. They work together at different layers.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 Gateway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70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510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default gateway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is the "exit door" of your local network — the device (typically a router) that routes traffic from your local devices to external networks, including the Internet.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14732000" cy="355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7" name="Shape 5"/>
          <p:cNvSpPr/>
          <p:nvPr/>
        </p:nvSpPr>
        <p:spPr>
          <a:xfrm>
            <a:off x="1270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192.168.1.2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56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10" name="Text 8"/>
          <p:cNvSpPr/>
          <p:nvPr/>
        </p:nvSpPr>
        <p:spPr>
          <a:xfrm>
            <a:off x="3556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42000" y="3810000"/>
            <a:ext cx="1778000" cy="889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12" name="Text 10"/>
          <p:cNvSpPr/>
          <p:nvPr/>
        </p:nvSpPr>
        <p:spPr>
          <a:xfrm>
            <a:off x="5842000" y="3810000"/>
            <a:ext cx="177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TV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192.168.1.4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048000" y="4191000"/>
            <a:ext cx="508000" cy="0"/>
          </a:xfrm>
          <a:prstGeom prst="straightConnector1">
            <a:avLst/>
          </a:prstGeom>
          <a:noFill/>
          <a:ln w="25400">
            <a:solidFill>
              <a:srgbClr val="9C8C7A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334000" y="4191000"/>
            <a:ext cx="508000" cy="0"/>
          </a:xfrm>
          <a:prstGeom prst="straightConnector1">
            <a:avLst/>
          </a:prstGeom>
          <a:noFill/>
          <a:ln w="25400">
            <a:solidFill>
              <a:srgbClr val="9C8C7A"/>
            </a:solidFill>
            <a:prstDash val="solid"/>
            <a:headEnd type="none"/>
            <a:tailEnd type="arrow"/>
          </a:ln>
        </p:spPr>
      </p:sp>
      <p:sp>
        <p:nvSpPr>
          <p:cNvPr id="15" name="Shape 13"/>
          <p:cNvSpPr/>
          <p:nvPr/>
        </p:nvSpPr>
        <p:spPr>
          <a:xfrm>
            <a:off x="8382000" y="3556000"/>
            <a:ext cx="2286000" cy="1397000"/>
          </a:xfrm>
          <a:prstGeom prst="roundRect">
            <a:avLst>
              <a:gd name="adj" fmla="val 8000"/>
            </a:avLst>
          </a:prstGeom>
          <a:solidFill>
            <a:srgbClr val="BD6B4F"/>
          </a:solidFill>
          <a:ln/>
        </p:spPr>
      </p:sp>
      <p:sp>
        <p:nvSpPr>
          <p:cNvPr id="16" name="Text 14"/>
          <p:cNvSpPr/>
          <p:nvPr/>
        </p:nvSpPr>
        <p:spPr>
          <a:xfrm>
            <a:off x="8382000" y="3556000"/>
            <a:ext cx="2286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 GATEWAY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(Router)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0" y="4191000"/>
            <a:ext cx="762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10668000" y="4191000"/>
            <a:ext cx="1016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192000" y="3683000"/>
            <a:ext cx="2540000" cy="1270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0" y="3683000"/>
            <a:ext cx="2540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INTERNET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External Networks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70000" y="508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Local Area Network (LAN)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82000" y="5080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Traffic flows through the Gateway to reach the Internet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7239000"/>
            <a:ext cx="14732000" cy="889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4" name="Text 22"/>
          <p:cNvSpPr/>
          <p:nvPr/>
        </p:nvSpPr>
        <p:spPr>
          <a:xfrm>
            <a:off x="1079500" y="73660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Point:</a:t>
            </a:r>
            <a:pPr>
              <a:lnSpc>
                <a:spcPct val="10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Without a default gateway, devices can only communicate within their own local subnet.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DNS (Domain Name System)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143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625600"/>
            <a:ext cx="14097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DNS translates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human-readable domain names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(e.g., google.com) into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machine-readable IP addresses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(e.g., 142.250.80.46). It works like the "phonebook of the Internet."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62000" y="2857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Lookup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70000" y="3619500"/>
            <a:ext cx="3048000" cy="762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8" name="Text 6"/>
          <p:cNvSpPr/>
          <p:nvPr/>
        </p:nvSpPr>
        <p:spPr>
          <a:xfrm>
            <a:off x="1270000" y="3619500"/>
            <a:ext cx="304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google.com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18000" y="3975100"/>
            <a:ext cx="1270000" cy="0"/>
          </a:xfrm>
          <a:prstGeom prst="straightConnector1">
            <a:avLst/>
          </a:prstGeom>
          <a:noFill/>
          <a:ln w="381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4445000" y="3302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Lookup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0" y="3619500"/>
            <a:ext cx="3556000" cy="762000"/>
          </a:xfrm>
          <a:prstGeom prst="roundRect">
            <a:avLst>
              <a:gd name="adj" fmla="val 8000"/>
            </a:avLst>
          </a:prstGeom>
          <a:solidFill>
            <a:srgbClr val="BD6B4F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619500"/>
            <a:ext cx="355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142.250.80.46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2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DNS is Needed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62000" y="5397500"/>
            <a:ext cx="6858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Humans remember names, computers need numbers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DNS lookups complete in under 100ms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Without DNS, you'd memorize IP addresses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Enables flexible server migration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0" y="4889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Resolution Process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0" y="5397500"/>
            <a:ext cx="7112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1. Browser checks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cache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2. Queries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DNS resolver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3. Asks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root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TLD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→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authoritative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server</a:t>
            </a:r>
            <a:endParaRPr lang="en-US" sz="18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4. IP address returned to browser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7366000"/>
            <a:ext cx="14732000" cy="762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18" name="Text 16"/>
          <p:cNvSpPr/>
          <p:nvPr/>
        </p:nvSpPr>
        <p:spPr>
          <a:xfrm>
            <a:off x="1079500" y="7429500"/>
            <a:ext cx="14097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DNS is one of the most critical systems on the Internet — every web request starts with a DNS lookup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(Address Resolution Protocol)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ARP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resolves IP addresses to MAC addresses within a local network. It bridges Layer 3 (IP) and Layer 2 (MAC) communication.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54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ARP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175000"/>
            <a:ext cx="4445000" cy="2667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873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Request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4318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broadcasts to all devices on the network: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i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"Who has this IP? Tell me your MAC!"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207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5842000" y="3175000"/>
            <a:ext cx="4445000" cy="2667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96000" y="3873500"/>
            <a:ext cx="3937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Reply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96000" y="4318000"/>
            <a:ext cx="393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device with the matching IP responds directly: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600" i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"I have that IP. Here's my MAC!"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287000" y="4254500"/>
            <a:ext cx="635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10922000" y="3175000"/>
            <a:ext cx="4572000" cy="2667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0" y="3302000"/>
            <a:ext cx="76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76000" y="3873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Cache &amp; Communicate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176000" y="4318000"/>
            <a:ext cx="40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is cached in the ARP table. Devices can now communicate directly using MAC addresses.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5969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Table Example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6477000"/>
          <a:ext cx="7620000" cy="1778000"/>
        </p:xfrm>
        <a:graphic>
          <a:graphicData uri="http://schemas.openxmlformats.org/drawingml/2006/table">
            <a:tbl>
              <a:tblPr/>
              <a:tblGrid>
                <a:gridCol w="3810000"/>
                <a:gridCol w="3810000"/>
              </a:tblGrid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IP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5EFE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MAC Address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F35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192.168.1.3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00:1A:2B:3C:4D:5F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192.168.1.4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4A3F35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00:1A:2B:3C:4D:60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C8C7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FE4"/>
                    </a:solidFill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8890000" y="5969000"/>
            <a:ext cx="6604000" cy="2286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3" name="Text 20"/>
          <p:cNvSpPr/>
          <p:nvPr/>
        </p:nvSpPr>
        <p:spPr>
          <a:xfrm>
            <a:off x="9207500" y="6159500"/>
            <a:ext cx="5969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Important: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ARP only works within a local network (subnet). To reach devices outside the local network, traffic is sent to the default gateway first.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(Network Address Translation)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translates multiple private IP addresses into a single public IP address, enabling entire networks to share one Internet connection.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NAT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3048000"/>
            <a:ext cx="5588000" cy="2921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9C8C7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PRIVATE NETWORK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43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Laptop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1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11" name="Text 9"/>
          <p:cNvSpPr/>
          <p:nvPr/>
        </p:nvSpPr>
        <p:spPr>
          <a:xfrm>
            <a:off x="2921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Phone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192.168.1.3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699000" y="3683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13" name="Text 11"/>
          <p:cNvSpPr/>
          <p:nvPr/>
        </p:nvSpPr>
        <p:spPr>
          <a:xfrm>
            <a:off x="4699000" y="3683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Tablet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968500" y="4572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15" name="Text 13"/>
          <p:cNvSpPr/>
          <p:nvPr/>
        </p:nvSpPr>
        <p:spPr>
          <a:xfrm>
            <a:off x="1968500" y="4572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Smart TV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73500" y="4572000"/>
            <a:ext cx="1524000" cy="635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17" name="Text 15"/>
          <p:cNvSpPr/>
          <p:nvPr/>
        </p:nvSpPr>
        <p:spPr>
          <a:xfrm>
            <a:off x="3873500" y="4572000"/>
            <a:ext cx="15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192.168.1.6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3429000"/>
            <a:ext cx="2032000" cy="2159000"/>
          </a:xfrm>
          <a:prstGeom prst="roundRect">
            <a:avLst>
              <a:gd name="adj" fmla="val 8000"/>
            </a:avLst>
          </a:prstGeom>
          <a:solidFill>
            <a:srgbClr val="BD6B4F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556000"/>
            <a:ext cx="2032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ROUTER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NAT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Translates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private → public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0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8890000" y="4318000"/>
            <a:ext cx="508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9652000" y="3048000"/>
            <a:ext cx="5842000" cy="2921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0" y="3175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INTERNET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541000" y="3810000"/>
            <a:ext cx="4064000" cy="762000"/>
          </a:xfrm>
          <a:prstGeom prst="roundRect">
            <a:avLst>
              <a:gd name="adj" fmla="val 8000"/>
            </a:avLst>
          </a:prstGeom>
          <a:solidFill>
            <a:srgbClr val="4A3F35"/>
          </a:solidFill>
          <a:ln/>
        </p:spPr>
      </p:sp>
      <p:sp>
        <p:nvSpPr>
          <p:cNvPr id="25" name="Text 23"/>
          <p:cNvSpPr/>
          <p:nvPr/>
        </p:nvSpPr>
        <p:spPr>
          <a:xfrm>
            <a:off x="10541000" y="3810000"/>
            <a:ext cx="406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203.0.113.1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033000" y="48260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public IP from ISP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by all devices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6350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 Types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6858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Static NAT: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One private IP maps to one public IP (1:1)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Dynamic NAT: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Maps to a pool of public IPs |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PAT (Port NAT):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 Many private IPs share one public IP using different ports — most common in homes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Devices Communicate in 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27940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52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Check Destination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2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Device checks if destination IP is in the same subnet using subnet mask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6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3937000" y="1524000"/>
            <a:ext cx="27940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0" name="Text 8"/>
          <p:cNvSpPr/>
          <p:nvPr/>
        </p:nvSpPr>
        <p:spPr>
          <a:xfrm>
            <a:off x="4127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27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ARP Request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27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local, device sends ARP broadcast to find the destination MAC address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3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112000" y="1524000"/>
            <a:ext cx="27940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5" name="Text 13"/>
          <p:cNvSpPr/>
          <p:nvPr/>
        </p:nvSpPr>
        <p:spPr>
          <a:xfrm>
            <a:off x="730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02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Create Frame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02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Builds Ethernet frame with source MAC and destination MAC addresses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906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0287000" y="1524000"/>
            <a:ext cx="2794000" cy="3175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477500" y="2222500"/>
            <a:ext cx="2413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 Forwards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477500" y="2984500"/>
            <a:ext cx="2413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receives frame and forwards to correct port based on MAC table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3081000" y="3048000"/>
            <a:ext cx="381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3462000" y="1524000"/>
            <a:ext cx="2032000" cy="3175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5" name="Text 23"/>
          <p:cNvSpPr/>
          <p:nvPr/>
        </p:nvSpPr>
        <p:spPr>
          <a:xfrm>
            <a:off x="13652500" y="1651000"/>
            <a:ext cx="76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652500" y="2222500"/>
            <a:ext cx="165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Received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3652500" y="2984500"/>
            <a:ext cx="1651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Destination device receives and processes the 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2000" y="5080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Complete Flow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5651500"/>
            <a:ext cx="14732000" cy="101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30" name="Text 28"/>
          <p:cNvSpPr/>
          <p:nvPr/>
        </p:nvSpPr>
        <p:spPr>
          <a:xfrm>
            <a:off x="1079500" y="5715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Check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ARP Resolution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Frame Creation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Forwarding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Delivery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7112000"/>
            <a:ext cx="14732000" cy="1016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71755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If the destination IP is </a:t>
            </a:r>
            <a:pPr>
              <a:lnSpc>
                <a:spcPct val="150000"/>
              </a:lnSpc>
            </a:pPr>
            <a:r>
              <a:rPr lang="en-US" sz="1600" i="1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outside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the local subnet, the device sends the frame to the default gateway (router) instead, which then routes it to the external network.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a Website Loads (Full Flow)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14732000" cy="12065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Text 3"/>
          <p:cNvSpPr/>
          <p:nvPr/>
        </p:nvSpPr>
        <p:spPr>
          <a:xfrm>
            <a:off x="952500" y="158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14500" y="1587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User Request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2006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types URL → Browser checks DNS cache → DNS lookup resolves domain to IP address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70000" y="2730500"/>
            <a:ext cx="0" cy="19050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762000" y="2921000"/>
            <a:ext cx="14732000" cy="12065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0" name="Text 8"/>
          <p:cNvSpPr/>
          <p:nvPr/>
        </p:nvSpPr>
        <p:spPr>
          <a:xfrm>
            <a:off x="952500" y="2984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4500" y="29845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TCP Connection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14500" y="3403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establishes TCP connection with server via 3-way handshake (SYN → SYN-ACK → ACK)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270000" y="4127500"/>
            <a:ext cx="0" cy="19050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762000" y="4318000"/>
            <a:ext cx="14732000" cy="12065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4381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14500" y="4381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Network Routing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714500" y="4800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 travels: Device → Router → NAT (private→public IP) → ISP → Internet backbone → Destination server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70000" y="5524500"/>
            <a:ext cx="0" cy="19050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762000" y="5715000"/>
            <a:ext cx="14732000" cy="12065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20" name="Text 18"/>
          <p:cNvSpPr/>
          <p:nvPr/>
        </p:nvSpPr>
        <p:spPr>
          <a:xfrm>
            <a:off x="952500" y="5778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714500" y="577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Response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14500" y="6197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 processes request, queries database if needed, generates HTML/CSS/JS response, sends data back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270000" y="6921500"/>
            <a:ext cx="0" cy="19050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62000" y="7112000"/>
            <a:ext cx="14732000" cy="12065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5" name="Text 23"/>
          <p:cNvSpPr/>
          <p:nvPr/>
        </p:nvSpPr>
        <p:spPr>
          <a:xfrm>
            <a:off x="952500" y="7175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714500" y="7175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Page Rendering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714500" y="7594600"/>
            <a:ext cx="13398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Browser receives response, parses HTML, fetches additional resources, renders DOM, applies CSS, executes JavaScript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 vs HTTPS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7175500" cy="698500"/>
          </a:xfrm>
          <a:prstGeom prst="rect">
            <a:avLst/>
          </a:prstGeom>
          <a:solidFill>
            <a:srgbClr val="9C8C7A"/>
          </a:solidFill>
          <a:ln/>
        </p:spPr>
      </p:sp>
      <p:sp>
        <p:nvSpPr>
          <p:cNvPr id="5" name="Text 3"/>
          <p:cNvSpPr/>
          <p:nvPr/>
        </p:nvSpPr>
        <p:spPr>
          <a:xfrm>
            <a:off x="10795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800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EDE3D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80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2222500"/>
            <a:ext cx="7175500" cy="482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8" name="Shape 6"/>
          <p:cNvSpPr/>
          <p:nvPr/>
        </p:nvSpPr>
        <p:spPr>
          <a:xfrm>
            <a:off x="4013200" y="24765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cubicBezTo>
                  <a:pt x="152400" y="72271"/>
                  <a:pt x="186571" y="38100"/>
                  <a:pt x="228600" y="38100"/>
                </a:cubicBezTo>
                <a:cubicBezTo>
                  <a:pt x="266343" y="38100"/>
                  <a:pt x="297656" y="65484"/>
                  <a:pt x="303728" y="101560"/>
                </a:cubicBezTo>
                <a:cubicBezTo>
                  <a:pt x="307181" y="122277"/>
                  <a:pt x="326827" y="136327"/>
                  <a:pt x="347663" y="132874"/>
                </a:cubicBezTo>
                <a:cubicBezTo>
                  <a:pt x="368498" y="129421"/>
                  <a:pt x="382429" y="109776"/>
                  <a:pt x="378976" y="88940"/>
                </a:cubicBezTo>
                <a:cubicBezTo>
                  <a:pt x="366832" y="16788"/>
                  <a:pt x="304205" y="-38100"/>
                  <a:pt x="228600" y="-38100"/>
                </a:cubicBezTo>
                <a:cubicBezTo>
                  <a:pt x="144423" y="-38100"/>
                  <a:pt x="76200" y="30123"/>
                  <a:pt x="76200" y="114300"/>
                </a:cubicBezTo>
                <a:lnTo>
                  <a:pt x="76200" y="190500"/>
                </a:lnTo>
                <a:cubicBezTo>
                  <a:pt x="34171" y="190500"/>
                  <a:pt x="0" y="224671"/>
                  <a:pt x="0" y="266700"/>
                </a:cubicBezTo>
                <a:lnTo>
                  <a:pt x="0" y="533400"/>
                </a:lnTo>
                <a:cubicBezTo>
                  <a:pt x="0" y="575429"/>
                  <a:pt x="34171" y="609600"/>
                  <a:pt x="76200" y="609600"/>
                </a:cubicBezTo>
                <a:lnTo>
                  <a:pt x="381000" y="609600"/>
                </a:lnTo>
                <a:cubicBezTo>
                  <a:pt x="423029" y="609600"/>
                  <a:pt x="457200" y="575429"/>
                  <a:pt x="457200" y="533400"/>
                </a:cubicBezTo>
                <a:lnTo>
                  <a:pt x="457200" y="266700"/>
                </a:lnTo>
                <a:cubicBezTo>
                  <a:pt x="457200" y="224671"/>
                  <a:pt x="423029" y="190500"/>
                  <a:pt x="381000" y="190500"/>
                </a:cubicBezTo>
                <a:lnTo>
                  <a:pt x="152400" y="190500"/>
                </a:lnTo>
                <a:lnTo>
                  <a:pt x="152400" y="114300"/>
                </a:lnTo>
                <a:close/>
              </a:path>
            </a:pathLst>
          </a:custGeom>
          <a:solidFill>
            <a:srgbClr val="9C8C7A"/>
          </a:solidFill>
          <a:ln/>
        </p:spPr>
      </p:sp>
      <p:sp>
        <p:nvSpPr>
          <p:cNvPr id="9" name="Text 7"/>
          <p:cNvSpPr/>
          <p:nvPr/>
        </p:nvSpPr>
        <p:spPr>
          <a:xfrm>
            <a:off x="1079500" y="3302000"/>
            <a:ext cx="65405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HyperText Transfer Protocol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• Data sent in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plain text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Vulnerable to interception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 identity verification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No data integrity checks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Unsecured — do not use for sensitive data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318500" y="1524000"/>
            <a:ext cx="7175500" cy="6985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11" name="Text 9"/>
          <p:cNvSpPr/>
          <p:nvPr/>
        </p:nvSpPr>
        <p:spPr>
          <a:xfrm>
            <a:off x="8636000" y="1587500"/>
            <a:ext cx="381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HTTPS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636500" y="15875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Port 443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318500" y="2222500"/>
            <a:ext cx="7175500" cy="482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4" name="Shape 12"/>
          <p:cNvSpPr/>
          <p:nvPr/>
        </p:nvSpPr>
        <p:spPr>
          <a:xfrm>
            <a:off x="11569700" y="2476500"/>
            <a:ext cx="457200" cy="609600"/>
          </a:xfrm>
          <a:custGeom>
            <a:avLst/>
            <a:gdLst/>
            <a:ahLst/>
            <a:cxnLst/>
            <a:rect l="l" t="t" r="r" b="b"/>
            <a:pathLst>
              <a:path w="457200" h="609600">
                <a:moveTo>
                  <a:pt x="152400" y="114300"/>
                </a:moveTo>
                <a:lnTo>
                  <a:pt x="152400" y="190500"/>
                </a:lnTo>
                <a:lnTo>
                  <a:pt x="304800" y="190500"/>
                </a:lnTo>
                <a:lnTo>
                  <a:pt x="304800" y="114300"/>
                </a:lnTo>
                <a:cubicBezTo>
                  <a:pt x="304800" y="72271"/>
                  <a:pt x="270629" y="38100"/>
                  <a:pt x="228600" y="38100"/>
                </a:cubicBezTo>
                <a:cubicBezTo>
                  <a:pt x="186571" y="38100"/>
                  <a:pt x="152400" y="72271"/>
                  <a:pt x="152400" y="114300"/>
                </a:cubicBezTo>
                <a:close/>
                <a:moveTo>
                  <a:pt x="76200" y="190500"/>
                </a:moveTo>
                <a:lnTo>
                  <a:pt x="76200" y="114300"/>
                </a:lnTo>
                <a:cubicBezTo>
                  <a:pt x="76200" y="30123"/>
                  <a:pt x="144423" y="-38100"/>
                  <a:pt x="228600" y="-38100"/>
                </a:cubicBezTo>
                <a:cubicBezTo>
                  <a:pt x="312777" y="-38100"/>
                  <a:pt x="381000" y="30123"/>
                  <a:pt x="381000" y="114300"/>
                </a:cubicBezTo>
                <a:lnTo>
                  <a:pt x="381000" y="190500"/>
                </a:lnTo>
                <a:cubicBezTo>
                  <a:pt x="423029" y="190500"/>
                  <a:pt x="457200" y="224671"/>
                  <a:pt x="457200" y="266700"/>
                </a:cubicBezTo>
                <a:lnTo>
                  <a:pt x="457200" y="533400"/>
                </a:lnTo>
                <a:cubicBezTo>
                  <a:pt x="457200" y="575429"/>
                  <a:pt x="423029" y="609600"/>
                  <a:pt x="381000" y="609600"/>
                </a:cubicBezTo>
                <a:lnTo>
                  <a:pt x="76200" y="609600"/>
                </a:lnTo>
                <a:cubicBezTo>
                  <a:pt x="34171" y="609600"/>
                  <a:pt x="0" y="575429"/>
                  <a:pt x="0" y="533400"/>
                </a:cubicBezTo>
                <a:lnTo>
                  <a:pt x="0" y="266700"/>
                </a:lnTo>
                <a:cubicBezTo>
                  <a:pt x="0" y="224671"/>
                  <a:pt x="34171" y="190500"/>
                  <a:pt x="76200" y="190500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8636000" y="3302000"/>
            <a:ext cx="6540500" cy="349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HTTP Secure (HTTP + SSL/TLS)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 xml:space="preserve">• Data is </a:t>
            </a:r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b="1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encrypted end-to-end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Server identity verified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Data integrity protected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Prevents MITM attacks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1000"/>
              </a:spcBef>
            </a:pPr>
            <a:r>
              <a:rPr lang="en-US" sz="1800" i="1" dirty="0">
                <a:solidFill>
                  <a:srgbClr val="BD6B4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Standard for all modern websites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7429500"/>
            <a:ext cx="14732000" cy="762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17" name="Text 15"/>
          <p:cNvSpPr/>
          <p:nvPr/>
        </p:nvSpPr>
        <p:spPr>
          <a:xfrm>
            <a:off x="1079500" y="7556500"/>
            <a:ext cx="14097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TLS provides three protections: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Encryption (privacy) | Authentication (identity) | Integrity (no tampering)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Client-Server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43000"/>
            <a:ext cx="635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24000"/>
            <a:ext cx="4699000" cy="4064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5" name="Shape 3"/>
          <p:cNvSpPr/>
          <p:nvPr/>
        </p:nvSpPr>
        <p:spPr>
          <a:xfrm>
            <a:off x="2540000" y="17780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419100"/>
                </a:lnTo>
                <a:cubicBezTo>
                  <a:pt x="0" y="461129"/>
                  <a:pt x="34171" y="495300"/>
                  <a:pt x="76200" y="495300"/>
                </a:cubicBezTo>
                <a:lnTo>
                  <a:pt x="247650" y="495300"/>
                </a:lnTo>
                <a:lnTo>
                  <a:pt x="228600" y="552450"/>
                </a:lnTo>
                <a:lnTo>
                  <a:pt x="142875" y="552450"/>
                </a:lnTo>
                <a:cubicBezTo>
                  <a:pt x="127040" y="552450"/>
                  <a:pt x="114300" y="565190"/>
                  <a:pt x="114300" y="581025"/>
                </a:cubicBezTo>
                <a:cubicBezTo>
                  <a:pt x="114300" y="596860"/>
                  <a:pt x="127040" y="609600"/>
                  <a:pt x="142875" y="609600"/>
                </a:cubicBezTo>
                <a:lnTo>
                  <a:pt x="466725" y="609600"/>
                </a:lnTo>
                <a:cubicBezTo>
                  <a:pt x="482560" y="609600"/>
                  <a:pt x="495300" y="596860"/>
                  <a:pt x="495300" y="581025"/>
                </a:cubicBezTo>
                <a:cubicBezTo>
                  <a:pt x="495300" y="565190"/>
                  <a:pt x="482560" y="552450"/>
                  <a:pt x="466725" y="552450"/>
                </a:cubicBezTo>
                <a:lnTo>
                  <a:pt x="381000" y="552450"/>
                </a:lnTo>
                <a:lnTo>
                  <a:pt x="361950" y="495300"/>
                </a:lnTo>
                <a:lnTo>
                  <a:pt x="533400" y="495300"/>
                </a:lnTo>
                <a:cubicBezTo>
                  <a:pt x="575429" y="495300"/>
                  <a:pt x="609600" y="461129"/>
                  <a:pt x="609600" y="419100"/>
                </a:cubicBezTo>
                <a:lnTo>
                  <a:pt x="609600" y="114300"/>
                </a:lnTo>
                <a:cubicBezTo>
                  <a:pt x="609600" y="72271"/>
                  <a:pt x="575429" y="38100"/>
                  <a:pt x="533400" y="38100"/>
                </a:cubicBezTo>
                <a:lnTo>
                  <a:pt x="76200" y="38100"/>
                </a:lnTo>
                <a:close/>
                <a:moveTo>
                  <a:pt x="114300" y="114300"/>
                </a:moveTo>
                <a:lnTo>
                  <a:pt x="495300" y="114300"/>
                </a:lnTo>
                <a:cubicBezTo>
                  <a:pt x="516374" y="114300"/>
                  <a:pt x="533400" y="131326"/>
                  <a:pt x="533400" y="152400"/>
                </a:cubicBezTo>
                <a:lnTo>
                  <a:pt x="533400" y="342900"/>
                </a:lnTo>
                <a:cubicBezTo>
                  <a:pt x="533400" y="363974"/>
                  <a:pt x="516374" y="381000"/>
                  <a:pt x="495300" y="381000"/>
                </a:cubicBezTo>
                <a:lnTo>
                  <a:pt x="114300" y="381000"/>
                </a:lnTo>
                <a:cubicBezTo>
                  <a:pt x="93226" y="381000"/>
                  <a:pt x="76200" y="363974"/>
                  <a:pt x="76200" y="342900"/>
                </a:cubicBezTo>
                <a:lnTo>
                  <a:pt x="76200" y="152400"/>
                </a:lnTo>
                <a:cubicBezTo>
                  <a:pt x="76200" y="131326"/>
                  <a:pt x="93226" y="114300"/>
                  <a:pt x="114300" y="114300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54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Client (Frontend)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67000" y="3022600"/>
            <a:ext cx="508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8" name="Text 6"/>
          <p:cNvSpPr/>
          <p:nvPr/>
        </p:nvSpPr>
        <p:spPr>
          <a:xfrm>
            <a:off x="1079500" y="3238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User's browser or application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Sends HTTP requests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Renders UI/UX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Handles user input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Displays data to user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61000" y="2794000"/>
            <a:ext cx="762000" cy="0"/>
          </a:xfrm>
          <a:prstGeom prst="straightConnector1">
            <a:avLst/>
          </a:prstGeom>
          <a:noFill/>
          <a:ln w="25400">
            <a:solidFill>
              <a:srgbClr val="BD6B4F"/>
            </a:solidFill>
            <a:prstDash val="solid"/>
            <a:headEnd type="none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5461000" y="2476500"/>
            <a:ext cx="8255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BD6B4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Request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77000" y="1524000"/>
            <a:ext cx="4699000" cy="4064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12" name="Shape 10"/>
          <p:cNvSpPr/>
          <p:nvPr/>
        </p:nvSpPr>
        <p:spPr>
          <a:xfrm>
            <a:off x="82931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76200" y="38100"/>
                </a:moveTo>
                <a:cubicBezTo>
                  <a:pt x="34171" y="38100"/>
                  <a:pt x="0" y="72271"/>
                  <a:pt x="0" y="114300"/>
                </a:cubicBezTo>
                <a:lnTo>
                  <a:pt x="0" y="190500"/>
                </a:lnTo>
                <a:cubicBezTo>
                  <a:pt x="0" y="232529"/>
                  <a:pt x="34171" y="266700"/>
                  <a:pt x="76200" y="266700"/>
                </a:cubicBezTo>
                <a:lnTo>
                  <a:pt x="457200" y="266700"/>
                </a:lnTo>
                <a:cubicBezTo>
                  <a:pt x="499229" y="266700"/>
                  <a:pt x="533400" y="232529"/>
                  <a:pt x="533400" y="190500"/>
                </a:cubicBezTo>
                <a:lnTo>
                  <a:pt x="533400" y="114300"/>
                </a:lnTo>
                <a:cubicBezTo>
                  <a:pt x="533400" y="72271"/>
                  <a:pt x="499229" y="38100"/>
                  <a:pt x="457200" y="38100"/>
                </a:cubicBezTo>
                <a:lnTo>
                  <a:pt x="76200" y="38100"/>
                </a:lnTo>
                <a:close/>
                <a:moveTo>
                  <a:pt x="333375" y="123825"/>
                </a:moveTo>
                <a:cubicBezTo>
                  <a:pt x="349146" y="123825"/>
                  <a:pt x="361950" y="136629"/>
                  <a:pt x="361950" y="152400"/>
                </a:cubicBezTo>
                <a:cubicBezTo>
                  <a:pt x="361950" y="168171"/>
                  <a:pt x="349146" y="180975"/>
                  <a:pt x="333375" y="180975"/>
                </a:cubicBezTo>
                <a:cubicBezTo>
                  <a:pt x="317604" y="180975"/>
                  <a:pt x="304800" y="168171"/>
                  <a:pt x="304800" y="152400"/>
                </a:cubicBezTo>
                <a:cubicBezTo>
                  <a:pt x="304800" y="136629"/>
                  <a:pt x="317604" y="123825"/>
                  <a:pt x="333375" y="123825"/>
                </a:cubicBezTo>
                <a:close/>
                <a:moveTo>
                  <a:pt x="400050" y="152400"/>
                </a:moveTo>
                <a:cubicBezTo>
                  <a:pt x="400050" y="136629"/>
                  <a:pt x="412854" y="123825"/>
                  <a:pt x="428625" y="123825"/>
                </a:cubicBezTo>
                <a:cubicBezTo>
                  <a:pt x="444396" y="123825"/>
                  <a:pt x="457200" y="136629"/>
                  <a:pt x="457200" y="152400"/>
                </a:cubicBezTo>
                <a:cubicBezTo>
                  <a:pt x="457200" y="168171"/>
                  <a:pt x="444396" y="180975"/>
                  <a:pt x="428625" y="180975"/>
                </a:cubicBezTo>
                <a:cubicBezTo>
                  <a:pt x="412854" y="180975"/>
                  <a:pt x="400050" y="168171"/>
                  <a:pt x="400050" y="152400"/>
                </a:cubicBezTo>
                <a:close/>
                <a:moveTo>
                  <a:pt x="76200" y="342900"/>
                </a:moveTo>
                <a:cubicBezTo>
                  <a:pt x="34171" y="342900"/>
                  <a:pt x="0" y="377071"/>
                  <a:pt x="0" y="419100"/>
                </a:cubicBezTo>
                <a:lnTo>
                  <a:pt x="0" y="495300"/>
                </a:lnTo>
                <a:cubicBezTo>
                  <a:pt x="0" y="537329"/>
                  <a:pt x="34171" y="571500"/>
                  <a:pt x="76200" y="571500"/>
                </a:cubicBezTo>
                <a:lnTo>
                  <a:pt x="457200" y="571500"/>
                </a:lnTo>
                <a:cubicBezTo>
                  <a:pt x="499229" y="571500"/>
                  <a:pt x="533400" y="537329"/>
                  <a:pt x="533400" y="495300"/>
                </a:cubicBezTo>
                <a:lnTo>
                  <a:pt x="533400" y="419100"/>
                </a:lnTo>
                <a:cubicBezTo>
                  <a:pt x="533400" y="377071"/>
                  <a:pt x="499229" y="342900"/>
                  <a:pt x="457200" y="342900"/>
                </a:cubicBezTo>
                <a:lnTo>
                  <a:pt x="76200" y="342900"/>
                </a:lnTo>
                <a:close/>
                <a:moveTo>
                  <a:pt x="333375" y="428625"/>
                </a:moveTo>
                <a:cubicBezTo>
                  <a:pt x="349146" y="428625"/>
                  <a:pt x="361950" y="441429"/>
                  <a:pt x="361950" y="457200"/>
                </a:cubicBezTo>
                <a:cubicBezTo>
                  <a:pt x="361950" y="472971"/>
                  <a:pt x="349146" y="485775"/>
                  <a:pt x="333375" y="485775"/>
                </a:cubicBezTo>
                <a:cubicBezTo>
                  <a:pt x="317604" y="485775"/>
                  <a:pt x="304800" y="472971"/>
                  <a:pt x="304800" y="457200"/>
                </a:cubicBezTo>
                <a:cubicBezTo>
                  <a:pt x="304800" y="441429"/>
                  <a:pt x="317604" y="428625"/>
                  <a:pt x="333375" y="428625"/>
                </a:cubicBezTo>
                <a:close/>
                <a:moveTo>
                  <a:pt x="400050" y="457200"/>
                </a:moveTo>
                <a:cubicBezTo>
                  <a:pt x="400050" y="441429"/>
                  <a:pt x="412854" y="428625"/>
                  <a:pt x="428625" y="428625"/>
                </a:cubicBezTo>
                <a:cubicBezTo>
                  <a:pt x="444396" y="428625"/>
                  <a:pt x="457200" y="441429"/>
                  <a:pt x="457200" y="457200"/>
                </a:cubicBezTo>
                <a:cubicBezTo>
                  <a:pt x="457200" y="472971"/>
                  <a:pt x="444396" y="485775"/>
                  <a:pt x="428625" y="485775"/>
                </a:cubicBezTo>
                <a:cubicBezTo>
                  <a:pt x="412854" y="485775"/>
                  <a:pt x="400050" y="472971"/>
                  <a:pt x="400050" y="457200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13" name="Text 11"/>
          <p:cNvSpPr/>
          <p:nvPr/>
        </p:nvSpPr>
        <p:spPr>
          <a:xfrm>
            <a:off x="6794500" y="25400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Server (Backend)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382000" y="3022600"/>
            <a:ext cx="508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15" name="Text 13"/>
          <p:cNvSpPr/>
          <p:nvPr/>
        </p:nvSpPr>
        <p:spPr>
          <a:xfrm>
            <a:off x="6794500" y="3238500"/>
            <a:ext cx="406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Processes client requests</a:t>
            </a:r>
            <a:endParaRPr lang="en-US" sz="18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Runs business logic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Authenticates users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Queries database</a:t>
            </a:r>
            <a:endParaRPr lang="en-US" sz="18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4A3F3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 Returns HTTP responses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1176000" y="3302000"/>
            <a:ext cx="762000" cy="0"/>
          </a:xfrm>
          <a:prstGeom prst="straightConnector1">
            <a:avLst/>
          </a:prstGeom>
          <a:noFill/>
          <a:ln w="25400">
            <a:solidFill>
              <a:srgbClr val="9C8C7A"/>
            </a:solidFill>
            <a:prstDash val="solid"/>
            <a:headEnd type="arrow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1176000" y="2895600"/>
            <a:ext cx="889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Response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192000" y="1524000"/>
            <a:ext cx="3302000" cy="4064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19" name="Shape 17"/>
          <p:cNvSpPr/>
          <p:nvPr/>
        </p:nvSpPr>
        <p:spPr>
          <a:xfrm>
            <a:off x="13449300" y="1778000"/>
            <a:ext cx="533400" cy="609600"/>
          </a:xfrm>
          <a:custGeom>
            <a:avLst/>
            <a:gdLst/>
            <a:ahLst/>
            <a:cxnLst/>
            <a:rect l="l" t="t" r="r" b="b"/>
            <a:pathLst>
              <a:path w="533400" h="609600">
                <a:moveTo>
                  <a:pt x="533400" y="245031"/>
                </a:moveTo>
                <a:cubicBezTo>
                  <a:pt x="515779" y="256699"/>
                  <a:pt x="495538" y="266105"/>
                  <a:pt x="474464" y="273606"/>
                </a:cubicBezTo>
                <a:cubicBezTo>
                  <a:pt x="418505" y="293608"/>
                  <a:pt x="345043" y="304800"/>
                  <a:pt x="266700" y="304800"/>
                </a:cubicBezTo>
                <a:cubicBezTo>
                  <a:pt x="188357" y="304800"/>
                  <a:pt x="114776" y="293489"/>
                  <a:pt x="58936" y="273606"/>
                </a:cubicBezTo>
                <a:cubicBezTo>
                  <a:pt x="37981" y="266105"/>
                  <a:pt x="17621" y="256699"/>
                  <a:pt x="0" y="245031"/>
                </a:cubicBezTo>
                <a:lnTo>
                  <a:pt x="0" y="342900"/>
                </a:lnTo>
                <a:cubicBezTo>
                  <a:pt x="0" y="395526"/>
                  <a:pt x="119420" y="438150"/>
                  <a:pt x="266700" y="438150"/>
                </a:cubicBezTo>
                <a:cubicBezTo>
                  <a:pt x="413980" y="438150"/>
                  <a:pt x="533400" y="395526"/>
                  <a:pt x="533400" y="342900"/>
                </a:cubicBezTo>
                <a:lnTo>
                  <a:pt x="533400" y="245031"/>
                </a:lnTo>
                <a:close/>
                <a:moveTo>
                  <a:pt x="533400" y="152400"/>
                </a:moveTo>
                <a:lnTo>
                  <a:pt x="533400" y="95250"/>
                </a:lnTo>
                <a:cubicBezTo>
                  <a:pt x="533400" y="42624"/>
                  <a:pt x="413980" y="0"/>
                  <a:pt x="266700" y="0"/>
                </a:cubicBezTo>
                <a:cubicBezTo>
                  <a:pt x="119420" y="0"/>
                  <a:pt x="0" y="42624"/>
                  <a:pt x="0" y="95250"/>
                </a:cubicBezTo>
                <a:lnTo>
                  <a:pt x="0" y="152400"/>
                </a:lnTo>
                <a:cubicBezTo>
                  <a:pt x="0" y="205026"/>
                  <a:pt x="119420" y="247650"/>
                  <a:pt x="266700" y="247650"/>
                </a:cubicBezTo>
                <a:cubicBezTo>
                  <a:pt x="413980" y="247650"/>
                  <a:pt x="533400" y="205026"/>
                  <a:pt x="533400" y="152400"/>
                </a:cubicBezTo>
                <a:close/>
                <a:moveTo>
                  <a:pt x="474464" y="464106"/>
                </a:moveTo>
                <a:cubicBezTo>
                  <a:pt x="418624" y="483989"/>
                  <a:pt x="345162" y="495300"/>
                  <a:pt x="266700" y="495300"/>
                </a:cubicBezTo>
                <a:cubicBezTo>
                  <a:pt x="188238" y="495300"/>
                  <a:pt x="114776" y="483989"/>
                  <a:pt x="58936" y="464106"/>
                </a:cubicBezTo>
                <a:cubicBezTo>
                  <a:pt x="37981" y="456605"/>
                  <a:pt x="17621" y="447199"/>
                  <a:pt x="0" y="435531"/>
                </a:cubicBezTo>
                <a:lnTo>
                  <a:pt x="0" y="514350"/>
                </a:lnTo>
                <a:cubicBezTo>
                  <a:pt x="0" y="566976"/>
                  <a:pt x="119420" y="609600"/>
                  <a:pt x="266700" y="609600"/>
                </a:cubicBezTo>
                <a:cubicBezTo>
                  <a:pt x="413980" y="609600"/>
                  <a:pt x="533400" y="566976"/>
                  <a:pt x="533400" y="514350"/>
                </a:cubicBezTo>
                <a:lnTo>
                  <a:pt x="533400" y="435531"/>
                </a:lnTo>
                <a:cubicBezTo>
                  <a:pt x="515779" y="447199"/>
                  <a:pt x="495538" y="456605"/>
                  <a:pt x="474464" y="464106"/>
                </a:cubicBezTo>
                <a:close/>
              </a:path>
            </a:pathLst>
          </a:custGeom>
          <a:solidFill>
            <a:srgbClr val="BD6B4F"/>
          </a:solidFill>
          <a:ln/>
        </p:spPr>
      </p:sp>
      <p:sp>
        <p:nvSpPr>
          <p:cNvPr id="20" name="Text 18"/>
          <p:cNvSpPr/>
          <p:nvPr/>
        </p:nvSpPr>
        <p:spPr>
          <a:xfrm>
            <a:off x="12446000" y="2540000"/>
            <a:ext cx="279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5EFE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0" y="3022600"/>
            <a:ext cx="508000" cy="254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22" name="Text 20"/>
          <p:cNvSpPr/>
          <p:nvPr/>
        </p:nvSpPr>
        <p:spPr>
          <a:xfrm>
            <a:off x="12446000" y="3238500"/>
            <a:ext cx="279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Persistent storage</a:t>
            </a:r>
            <a:endParaRPr lang="en-US" sz="1600" dirty="0"/>
          </a:p>
          <a:p>
            <a:pPr algn="ctr">
              <a:lnSpc>
                <a:spcPct val="16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Users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Content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Transactions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600" dirty="0">
                <a:solidFill>
                  <a:srgbClr val="D9CFC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Application 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2000" y="5715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Complete Request Flow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62000" y="6286500"/>
            <a:ext cx="14732000" cy="1016000"/>
          </a:xfrm>
          <a:prstGeom prst="rect">
            <a:avLst/>
          </a:prstGeom>
          <a:solidFill>
            <a:srgbClr val="EDE3D3"/>
          </a:solidFill>
          <a:ln/>
        </p:spPr>
      </p:sp>
      <p:sp>
        <p:nvSpPr>
          <p:cNvPr id="25" name="Text 23"/>
          <p:cNvSpPr/>
          <p:nvPr/>
        </p:nvSpPr>
        <p:spPr>
          <a:xfrm>
            <a:off x="1079500" y="6350000"/>
            <a:ext cx="14097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sends HTTP Request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Server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processes + queries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→ Server builds Response → </a:t>
            </a:r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Client</a:t>
            </a:r>
            <a:pPr algn="ctr">
              <a:lnSpc>
                <a:spcPct val="150000"/>
              </a:lnSpc>
            </a:pPr>
            <a:r>
              <a:rPr lang="en-US" sz="1600" dirty="0">
                <a:solidFill>
                  <a:srgbClr val="4A3F3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 xml:space="preserve"> receives and renders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747000"/>
            <a:ext cx="14732000" cy="635000"/>
          </a:xfrm>
          <a:prstGeom prst="rect">
            <a:avLst/>
          </a:prstGeom>
          <a:solidFill>
            <a:srgbClr val="4A3F35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7810500"/>
            <a:ext cx="14097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5EFE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three-tier architecture (Client → Server → Database) powers the vast majority of web applications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6995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9C8C7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sm26tdp357svy/mnt/agents/output/networking-for-developers/images/3_Free_Fiber_Optic_Cables_Image_Technology.png"/>
          <p:cNvPicPr>
            <a:picLocks noChangeAspect="1"/>
          </p:cNvPicPr>
          <p:nvPr/>
        </p:nvPicPr>
        <p:blipFill>
          <a:blip r:embed="rId1"/>
          <a:srcRect l="183" r="183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F5EFE4">
                  <a:alpha val="92000"/>
                </a:srgbClr>
              </a:gs>
              <a:gs pos="50000">
                <a:srgbClr val="F5EFE4">
                  <a:alpha val="89000"/>
                </a:srgbClr>
              </a:gs>
              <a:gs pos="100000">
                <a:srgbClr val="F5EFE4">
                  <a:alpha val="92000"/>
                </a:srgbClr>
              </a:gs>
            </a:gsLst>
            <a:lin ang="5400000" scaled="1"/>
          </a:gradFill>
          <a:ln w="12700">
            <a:solidFill>
              <a:srgbClr val="D9CFC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6000" y="1016000"/>
            <a:ext cx="2540000" cy="2540000"/>
          </a:xfrm>
          <a:prstGeom prst="ellipse">
            <a:avLst/>
          </a:prstGeom>
          <a:solidFill>
            <a:srgbClr val="BD6B4F">
              <a:alpha val="3137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12700000" y="5715000"/>
            <a:ext cx="2794000" cy="2794000"/>
          </a:xfrm>
          <a:prstGeom prst="ellipse">
            <a:avLst/>
          </a:prstGeom>
          <a:solidFill>
            <a:srgbClr val="9C8C7A">
              <a:alpha val="3137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4953000" y="2540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400" kern="0" dirty="0">
                <a:solidFill>
                  <a:srgbClr val="BD6B4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493000" y="3048000"/>
            <a:ext cx="1270000" cy="38100"/>
          </a:xfrm>
          <a:prstGeom prst="rect">
            <a:avLst/>
          </a:prstGeom>
          <a:solidFill>
            <a:srgbClr val="BD6B4F"/>
          </a:solidFill>
          <a:ln/>
        </p:spPr>
      </p:sp>
      <p:sp>
        <p:nvSpPr>
          <p:cNvPr id="8" name="Text 5"/>
          <p:cNvSpPr/>
          <p:nvPr/>
        </p:nvSpPr>
        <p:spPr>
          <a:xfrm>
            <a:off x="2413000" y="3365500"/>
            <a:ext cx="1143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3200" b="1" dirty="0">
                <a:solidFill>
                  <a:srgbClr val="4A3F3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networking fundamentals makes you a better developer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048000" y="5080000"/>
            <a:ext cx="1016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7A6F6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line of code you write eventually travels across a network — knowing how that works gives you superpowers.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778000" y="6477000"/>
            <a:ext cx="1270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spc="100" kern="0" dirty="0">
                <a:solidFill>
                  <a:srgbClr val="9C8C7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IP • MAC • DNS • ARP • NAT • HTTP/HTTPS • Client-Server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A3F35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Networking for Web Developers</dc:title>
  <dc:subject>Networking for Web Developers</dc:subject>
  <dc:creator>Kimi</dc:creator>
  <cp:lastModifiedBy>Kimi</cp:lastModifiedBy>
  <cp:revision>1</cp:revision>
  <dcterms:created xsi:type="dcterms:W3CDTF">2026-06-04T08:29:48Z</dcterms:created>
  <dcterms:modified xsi:type="dcterms:W3CDTF">2026-06-04T08:29:48Z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{"Label":"Networking for Web Developers","ContentProducer":"001191110108MACG2KBH8F10000","ProduceID":"19e91c05-6de2-88a4-8000-00009c04ae68","ReservedCode1":"","ContentPropagator":"001191110108MACG2KBH8F20000","PropagateID":"19e91c05-6de2-88a4-8000-00009c04ae68","ReservedCode2":""}</vt:lpwstr>
  </property>
</Properties>
</file>
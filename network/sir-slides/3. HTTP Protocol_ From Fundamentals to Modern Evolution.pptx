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embeddedFontLst>
    <p:embeddedFont>
      <p:font typeface="Hedvig Letters Sans" panose="020B0604020202020204" charset="0"/>
      <p:regular r:id="rId17"/>
    </p:embeddedFont>
    <p:embeddedFont>
      <p:font typeface="Liter" panose="020B0604020202020204" charset="0"/>
      <p:regular r:id="rId18"/>
    </p:embeddedFont>
    <p:embeddedFont>
      <p:font typeface="Microsoft Yahei" panose="020B0503020204020204" pitchFamily="34" charset="-122"/>
      <p:regular r:id="rId19"/>
      <p:bold r:id="rId20"/>
    </p:embeddedFont>
    <p:embeddedFont>
      <p:font typeface="Quattrocento Sans" panose="020B0502050000020003" pitchFamily="3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6" roundtripDataSignature="AMtx7mgnoFNwFO5TLHagq12mb4X6f1mkK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36597EB-1E8D-404B-91E8-8BD160C73C9A}">
  <a:tblStyle styleId="{636597EB-1E8D-404B-91E8-8BD160C73C9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4754" autoAdjust="0"/>
    <p:restoredTop sz="94096" autoAdjust="0"/>
  </p:normalViewPr>
  <p:slideViewPr>
    <p:cSldViewPr snapToGrid="0">
      <p:cViewPr varScale="1">
        <p:scale>
          <a:sx n="84" d="100"/>
          <a:sy n="84" d="100"/>
        </p:scale>
        <p:origin x="283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/>
              <a:t>‹#›</a:t>
            </a:fld>
            <a:endParaRPr sz="1200" b="0" i="0" u="none" strike="noStrike" cap="none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" name="Google Shape;14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" name="Google Shape;3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" name="Google Shape;60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8" name="Google Shape;118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8" name="Google Shape;188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4" name="Google Shape;204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0" name="Google Shape;27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6" name="Google Shape;286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0" name="Google Shape;35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3" name="Google Shape;42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5" name="Google Shape;495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6" name="Google Shape;496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72" name="Google Shape;57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3" name="Google Shape;57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4" name="Google Shape;584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5" name="Google Shape;585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PTIST_MASTER">
  <p:cSld name="PPTIST_MASTER">
    <p:bg>
      <p:bgPr>
        <a:solidFill>
          <a:srgbClr val="FFFFFF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p1" descr="https://kimi-web-img.moonshot.cn/img/images.presentationgo.com/e571232c06dfc03d533c300c9599ac5a728f4219.png"/>
          <p:cNvPicPr preferRelativeResize="0"/>
          <p:nvPr/>
        </p:nvPicPr>
        <p:blipFill rotWithShape="1">
          <a:blip r:embed="rId3">
            <a:alphaModFix amt="40000"/>
          </a:blip>
          <a:srcRect t="21875" b="21875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pic>
      <p:sp>
        <p:nvSpPr>
          <p:cNvPr id="18" name="Google Shape;18;p1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1A1D21">
                  <a:alpha val="80000"/>
                </a:srgbClr>
              </a:gs>
              <a:gs pos="50000">
                <a:srgbClr val="4A6C8C">
                  <a:alpha val="30196"/>
                </a:srgbClr>
              </a:gs>
              <a:gs pos="100000">
                <a:srgbClr val="1A1D21">
                  <a:alpha val="90196"/>
                </a:srgbClr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Google Shape;19;p1"/>
          <p:cNvSpPr/>
          <p:nvPr/>
        </p:nvSpPr>
        <p:spPr>
          <a:xfrm>
            <a:off x="400050" y="1399282"/>
            <a:ext cx="2771775" cy="419100"/>
          </a:xfrm>
          <a:custGeom>
            <a:avLst/>
            <a:gdLst/>
            <a:ahLst/>
            <a:cxnLst/>
            <a:rect l="l" t="t" r="r" b="b"/>
            <a:pathLst>
              <a:path w="2771775" h="419100" extrusionOk="0">
                <a:moveTo>
                  <a:pt x="0" y="0"/>
                </a:moveTo>
                <a:lnTo>
                  <a:pt x="2771775" y="0"/>
                </a:lnTo>
                <a:lnTo>
                  <a:pt x="2771775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Google Shape;20;p1"/>
          <p:cNvSpPr/>
          <p:nvPr/>
        </p:nvSpPr>
        <p:spPr>
          <a:xfrm>
            <a:off x="400050" y="1399282"/>
            <a:ext cx="38100" cy="419100"/>
          </a:xfrm>
          <a:custGeom>
            <a:avLst/>
            <a:gdLst/>
            <a:ahLst/>
            <a:cxnLst/>
            <a:rect l="l" t="t" r="r" b="b"/>
            <a:pathLst>
              <a:path w="38100" h="419100" extrusionOk="0">
                <a:moveTo>
                  <a:pt x="0" y="0"/>
                </a:moveTo>
                <a:lnTo>
                  <a:pt x="38100" y="0"/>
                </a:lnTo>
                <a:lnTo>
                  <a:pt x="3810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Google Shape;21;p1"/>
          <p:cNvSpPr/>
          <p:nvPr/>
        </p:nvSpPr>
        <p:spPr>
          <a:xfrm>
            <a:off x="609600" y="1513582"/>
            <a:ext cx="2461766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Technical Deep Dive</a:t>
            </a:r>
            <a:endParaRPr sz="1600" b="0" i="0" u="none" strike="noStrike" cap="none"/>
          </a:p>
        </p:txBody>
      </p:sp>
      <p:sp>
        <p:nvSpPr>
          <p:cNvPr id="22" name="Google Shape;22;p1"/>
          <p:cNvSpPr/>
          <p:nvPr/>
        </p:nvSpPr>
        <p:spPr>
          <a:xfrm>
            <a:off x="381000" y="2123182"/>
            <a:ext cx="11887200" cy="866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HTTP Protocol</a:t>
            </a:r>
            <a:endParaRPr sz="1600" b="0" i="0" u="none" strike="noStrike" cap="none"/>
          </a:p>
        </p:txBody>
      </p:sp>
      <p:sp>
        <p:nvSpPr>
          <p:cNvPr id="23" name="Google Shape;23;p1"/>
          <p:cNvSpPr/>
          <p:nvPr/>
        </p:nvSpPr>
        <p:spPr>
          <a:xfrm>
            <a:off x="381000" y="3296543"/>
            <a:ext cx="11658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788A9C"/>
                </a:solidFill>
                <a:latin typeface="Liter"/>
                <a:ea typeface="Liter"/>
                <a:cs typeface="Liter"/>
                <a:sym typeface="Liter"/>
              </a:rPr>
              <a:t>From Fundamentals to</a:t>
            </a:r>
            <a:endParaRPr sz="1600" b="0" i="0" u="none" strike="noStrike" cap="none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788A9C"/>
                </a:solidFill>
                <a:latin typeface="Liter"/>
                <a:ea typeface="Liter"/>
                <a:cs typeface="Liter"/>
                <a:sym typeface="Liter"/>
              </a:rPr>
              <a:t>Modern Evolution</a:t>
            </a:r>
            <a:endParaRPr sz="1600" b="0" i="0" u="none" strike="noStrike" cap="none"/>
          </a:p>
        </p:txBody>
      </p:sp>
      <p:sp>
        <p:nvSpPr>
          <p:cNvPr id="24" name="Google Shape;24;p1"/>
          <p:cNvSpPr/>
          <p:nvPr/>
        </p:nvSpPr>
        <p:spPr>
          <a:xfrm>
            <a:off x="381000" y="4820543"/>
            <a:ext cx="7429500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Comprehensive Guide to Web Communication Architecture</a:t>
            </a:r>
            <a:endParaRPr sz="1600" b="0" i="0" u="none" strike="noStrike" cap="none"/>
          </a:p>
        </p:txBody>
      </p:sp>
      <p:sp>
        <p:nvSpPr>
          <p:cNvPr id="25" name="Google Shape;25;p1"/>
          <p:cNvSpPr/>
          <p:nvPr/>
        </p:nvSpPr>
        <p:spPr>
          <a:xfrm>
            <a:off x="392906" y="6248400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 extrusionOk="0">
                <a:moveTo>
                  <a:pt x="92273" y="32742"/>
                </a:moveTo>
                <a:lnTo>
                  <a:pt x="122039" y="32742"/>
                </a:lnTo>
                <a:lnTo>
                  <a:pt x="122039" y="50602"/>
                </a:lnTo>
                <a:lnTo>
                  <a:pt x="92273" y="50602"/>
                </a:lnTo>
                <a:lnTo>
                  <a:pt x="92273" y="32742"/>
                </a:lnTo>
                <a:close/>
                <a:moveTo>
                  <a:pt x="89297" y="11906"/>
                </a:moveTo>
                <a:cubicBezTo>
                  <a:pt x="79437" y="11906"/>
                  <a:pt x="71438" y="19906"/>
                  <a:pt x="71438" y="29766"/>
                </a:cubicBezTo>
                <a:lnTo>
                  <a:pt x="71438" y="53578"/>
                </a:lnTo>
                <a:cubicBezTo>
                  <a:pt x="71438" y="63438"/>
                  <a:pt x="79437" y="71438"/>
                  <a:pt x="89297" y="71438"/>
                </a:cubicBezTo>
                <a:lnTo>
                  <a:pt x="95250" y="71438"/>
                </a:lnTo>
                <a:lnTo>
                  <a:pt x="95250" y="83344"/>
                </a:lnTo>
                <a:lnTo>
                  <a:pt x="11906" y="83344"/>
                </a:lnTo>
                <a:cubicBezTo>
                  <a:pt x="5321" y="83344"/>
                  <a:pt x="0" y="88664"/>
                  <a:pt x="0" y="95250"/>
                </a:cubicBezTo>
                <a:cubicBezTo>
                  <a:pt x="0" y="101836"/>
                  <a:pt x="5321" y="107156"/>
                  <a:pt x="11906" y="107156"/>
                </a:cubicBezTo>
                <a:lnTo>
                  <a:pt x="47625" y="107156"/>
                </a:lnTo>
                <a:lnTo>
                  <a:pt x="47625" y="119063"/>
                </a:lnTo>
                <a:lnTo>
                  <a:pt x="41672" y="119063"/>
                </a:lnTo>
                <a:cubicBezTo>
                  <a:pt x="31812" y="119063"/>
                  <a:pt x="23812" y="127062"/>
                  <a:pt x="23812" y="136922"/>
                </a:cubicBezTo>
                <a:lnTo>
                  <a:pt x="23812" y="160734"/>
                </a:lnTo>
                <a:cubicBezTo>
                  <a:pt x="23812" y="170594"/>
                  <a:pt x="31812" y="178594"/>
                  <a:pt x="41672" y="178594"/>
                </a:cubicBezTo>
                <a:lnTo>
                  <a:pt x="77391" y="178594"/>
                </a:lnTo>
                <a:cubicBezTo>
                  <a:pt x="87250" y="178594"/>
                  <a:pt x="95250" y="170594"/>
                  <a:pt x="95250" y="160734"/>
                </a:cubicBezTo>
                <a:lnTo>
                  <a:pt x="95250" y="136922"/>
                </a:lnTo>
                <a:cubicBezTo>
                  <a:pt x="95250" y="127062"/>
                  <a:pt x="87250" y="119063"/>
                  <a:pt x="77391" y="119063"/>
                </a:cubicBezTo>
                <a:lnTo>
                  <a:pt x="71438" y="119063"/>
                </a:lnTo>
                <a:lnTo>
                  <a:pt x="71438" y="107156"/>
                </a:lnTo>
                <a:lnTo>
                  <a:pt x="142875" y="107156"/>
                </a:lnTo>
                <a:lnTo>
                  <a:pt x="142875" y="119063"/>
                </a:lnTo>
                <a:lnTo>
                  <a:pt x="136922" y="119063"/>
                </a:lnTo>
                <a:cubicBezTo>
                  <a:pt x="127062" y="119063"/>
                  <a:pt x="119063" y="127062"/>
                  <a:pt x="119063" y="136922"/>
                </a:cubicBezTo>
                <a:lnTo>
                  <a:pt x="119063" y="160734"/>
                </a:lnTo>
                <a:cubicBezTo>
                  <a:pt x="119063" y="170594"/>
                  <a:pt x="127062" y="178594"/>
                  <a:pt x="136922" y="178594"/>
                </a:cubicBezTo>
                <a:lnTo>
                  <a:pt x="172641" y="178594"/>
                </a:lnTo>
                <a:cubicBezTo>
                  <a:pt x="182500" y="178594"/>
                  <a:pt x="190500" y="170594"/>
                  <a:pt x="190500" y="160734"/>
                </a:cubicBezTo>
                <a:lnTo>
                  <a:pt x="190500" y="136922"/>
                </a:lnTo>
                <a:cubicBezTo>
                  <a:pt x="190500" y="127062"/>
                  <a:pt x="182500" y="119063"/>
                  <a:pt x="172641" y="119063"/>
                </a:cubicBezTo>
                <a:lnTo>
                  <a:pt x="166688" y="119063"/>
                </a:lnTo>
                <a:lnTo>
                  <a:pt x="166688" y="107156"/>
                </a:lnTo>
                <a:lnTo>
                  <a:pt x="202406" y="107156"/>
                </a:lnTo>
                <a:cubicBezTo>
                  <a:pt x="208992" y="107156"/>
                  <a:pt x="214313" y="101836"/>
                  <a:pt x="214313" y="95250"/>
                </a:cubicBezTo>
                <a:cubicBezTo>
                  <a:pt x="214313" y="88664"/>
                  <a:pt x="208992" y="83344"/>
                  <a:pt x="202406" y="83344"/>
                </a:cubicBezTo>
                <a:lnTo>
                  <a:pt x="119063" y="83344"/>
                </a:lnTo>
                <a:lnTo>
                  <a:pt x="119063" y="71438"/>
                </a:lnTo>
                <a:lnTo>
                  <a:pt x="125016" y="71438"/>
                </a:lnTo>
                <a:cubicBezTo>
                  <a:pt x="134875" y="71438"/>
                  <a:pt x="142875" y="63438"/>
                  <a:pt x="142875" y="53578"/>
                </a:cubicBezTo>
                <a:lnTo>
                  <a:pt x="142875" y="29766"/>
                </a:lnTo>
                <a:cubicBezTo>
                  <a:pt x="142875" y="19906"/>
                  <a:pt x="134875" y="11906"/>
                  <a:pt x="125016" y="11906"/>
                </a:cubicBezTo>
                <a:lnTo>
                  <a:pt x="89297" y="11906"/>
                </a:lnTo>
                <a:close/>
                <a:moveTo>
                  <a:pt x="166688" y="139898"/>
                </a:moveTo>
                <a:lnTo>
                  <a:pt x="169664" y="139898"/>
                </a:lnTo>
                <a:lnTo>
                  <a:pt x="169664" y="157758"/>
                </a:lnTo>
                <a:lnTo>
                  <a:pt x="139898" y="157758"/>
                </a:lnTo>
                <a:lnTo>
                  <a:pt x="139898" y="139898"/>
                </a:lnTo>
                <a:lnTo>
                  <a:pt x="166688" y="139898"/>
                </a:lnTo>
                <a:close/>
                <a:moveTo>
                  <a:pt x="71438" y="139898"/>
                </a:moveTo>
                <a:lnTo>
                  <a:pt x="74414" y="139898"/>
                </a:lnTo>
                <a:lnTo>
                  <a:pt x="74414" y="157758"/>
                </a:lnTo>
                <a:lnTo>
                  <a:pt x="44648" y="157758"/>
                </a:lnTo>
                <a:lnTo>
                  <a:pt x="44648" y="139898"/>
                </a:lnTo>
                <a:lnTo>
                  <a:pt x="71438" y="139898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1"/>
          <p:cNvSpPr/>
          <p:nvPr/>
        </p:nvSpPr>
        <p:spPr>
          <a:xfrm>
            <a:off x="733425" y="6210300"/>
            <a:ext cx="16859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Network Architecture</a:t>
            </a:r>
            <a:endParaRPr sz="1600" b="0" i="0" u="none" strike="noStrike" cap="none"/>
          </a:p>
        </p:txBody>
      </p:sp>
      <p:sp>
        <p:nvSpPr>
          <p:cNvPr id="27" name="Google Shape;27;p1"/>
          <p:cNvSpPr/>
          <p:nvPr/>
        </p:nvSpPr>
        <p:spPr>
          <a:xfrm>
            <a:off x="2725043" y="6248400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 extrusionOk="0">
                <a:moveTo>
                  <a:pt x="134243" y="446"/>
                </a:moveTo>
                <a:cubicBezTo>
                  <a:pt x="127918" y="-1377"/>
                  <a:pt x="121332" y="2307"/>
                  <a:pt x="119509" y="8632"/>
                </a:cubicBezTo>
                <a:lnTo>
                  <a:pt x="71884" y="175320"/>
                </a:lnTo>
                <a:cubicBezTo>
                  <a:pt x="70061" y="181645"/>
                  <a:pt x="73744" y="188230"/>
                  <a:pt x="80070" y="190054"/>
                </a:cubicBezTo>
                <a:cubicBezTo>
                  <a:pt x="86395" y="191877"/>
                  <a:pt x="92980" y="188193"/>
                  <a:pt x="94804" y="181868"/>
                </a:cubicBezTo>
                <a:lnTo>
                  <a:pt x="142429" y="15180"/>
                </a:lnTo>
                <a:cubicBezTo>
                  <a:pt x="144252" y="8855"/>
                  <a:pt x="140568" y="2270"/>
                  <a:pt x="134243" y="446"/>
                </a:cubicBezTo>
                <a:close/>
                <a:moveTo>
                  <a:pt x="158279" y="51085"/>
                </a:moveTo>
                <a:cubicBezTo>
                  <a:pt x="153628" y="55736"/>
                  <a:pt x="153628" y="63289"/>
                  <a:pt x="158279" y="67940"/>
                </a:cubicBezTo>
                <a:lnTo>
                  <a:pt x="185589" y="95250"/>
                </a:lnTo>
                <a:lnTo>
                  <a:pt x="158279" y="122560"/>
                </a:lnTo>
                <a:cubicBezTo>
                  <a:pt x="153628" y="127211"/>
                  <a:pt x="153628" y="134764"/>
                  <a:pt x="158279" y="139415"/>
                </a:cubicBezTo>
                <a:cubicBezTo>
                  <a:pt x="162930" y="144066"/>
                  <a:pt x="170483" y="144066"/>
                  <a:pt x="175133" y="139415"/>
                </a:cubicBezTo>
                <a:lnTo>
                  <a:pt x="210852" y="103696"/>
                </a:lnTo>
                <a:cubicBezTo>
                  <a:pt x="215503" y="99045"/>
                  <a:pt x="215503" y="91492"/>
                  <a:pt x="210852" y="86841"/>
                </a:cubicBezTo>
                <a:lnTo>
                  <a:pt x="175133" y="51122"/>
                </a:lnTo>
                <a:cubicBezTo>
                  <a:pt x="170483" y="46472"/>
                  <a:pt x="162930" y="46472"/>
                  <a:pt x="158279" y="51122"/>
                </a:cubicBezTo>
                <a:close/>
                <a:moveTo>
                  <a:pt x="56071" y="51085"/>
                </a:moveTo>
                <a:cubicBezTo>
                  <a:pt x="51420" y="46434"/>
                  <a:pt x="43867" y="46434"/>
                  <a:pt x="39216" y="51085"/>
                </a:cubicBezTo>
                <a:lnTo>
                  <a:pt x="3497" y="86804"/>
                </a:lnTo>
                <a:cubicBezTo>
                  <a:pt x="-1153" y="91455"/>
                  <a:pt x="-1153" y="99008"/>
                  <a:pt x="3497" y="103659"/>
                </a:cubicBezTo>
                <a:lnTo>
                  <a:pt x="39216" y="139378"/>
                </a:lnTo>
                <a:cubicBezTo>
                  <a:pt x="43867" y="144028"/>
                  <a:pt x="51420" y="144028"/>
                  <a:pt x="56071" y="139378"/>
                </a:cubicBezTo>
                <a:cubicBezTo>
                  <a:pt x="60722" y="134727"/>
                  <a:pt x="60722" y="127174"/>
                  <a:pt x="56071" y="122523"/>
                </a:cubicBezTo>
                <a:lnTo>
                  <a:pt x="28761" y="95250"/>
                </a:lnTo>
                <a:lnTo>
                  <a:pt x="56034" y="67940"/>
                </a:lnTo>
                <a:cubicBezTo>
                  <a:pt x="60685" y="63289"/>
                  <a:pt x="60685" y="55736"/>
                  <a:pt x="56034" y="51085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1"/>
          <p:cNvSpPr/>
          <p:nvPr/>
        </p:nvSpPr>
        <p:spPr>
          <a:xfrm>
            <a:off x="3065562" y="6210300"/>
            <a:ext cx="143827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Protocol Evolution</a:t>
            </a:r>
            <a:endParaRPr sz="1600" b="0" i="0" u="none" strike="noStrike" cap="none"/>
          </a:p>
        </p:txBody>
      </p:sp>
      <p:sp>
        <p:nvSpPr>
          <p:cNvPr id="29" name="Google Shape;29;p1"/>
          <p:cNvSpPr/>
          <p:nvPr/>
        </p:nvSpPr>
        <p:spPr>
          <a:xfrm>
            <a:off x="4824264" y="62484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 extrusionOk="0">
                <a:moveTo>
                  <a:pt x="47625" y="119063"/>
                </a:moveTo>
                <a:lnTo>
                  <a:pt x="9116" y="119063"/>
                </a:lnTo>
                <a:cubicBezTo>
                  <a:pt x="-149" y="119063"/>
                  <a:pt x="-5842" y="108979"/>
                  <a:pt x="-1079" y="101017"/>
                </a:cubicBezTo>
                <a:lnTo>
                  <a:pt x="18604" y="68200"/>
                </a:lnTo>
                <a:cubicBezTo>
                  <a:pt x="21841" y="62805"/>
                  <a:pt x="27645" y="59531"/>
                  <a:pt x="33933" y="59531"/>
                </a:cubicBezTo>
                <a:lnTo>
                  <a:pt x="69279" y="59531"/>
                </a:lnTo>
                <a:cubicBezTo>
                  <a:pt x="97594" y="11571"/>
                  <a:pt x="139824" y="9153"/>
                  <a:pt x="168064" y="13283"/>
                </a:cubicBezTo>
                <a:cubicBezTo>
                  <a:pt x="172827" y="13990"/>
                  <a:pt x="176547" y="17711"/>
                  <a:pt x="177217" y="22436"/>
                </a:cubicBezTo>
                <a:cubicBezTo>
                  <a:pt x="181347" y="50676"/>
                  <a:pt x="178929" y="92906"/>
                  <a:pt x="130969" y="121221"/>
                </a:cubicBezTo>
                <a:lnTo>
                  <a:pt x="130969" y="156567"/>
                </a:lnTo>
                <a:cubicBezTo>
                  <a:pt x="130969" y="162855"/>
                  <a:pt x="127695" y="168659"/>
                  <a:pt x="122300" y="171896"/>
                </a:cubicBezTo>
                <a:lnTo>
                  <a:pt x="89483" y="191579"/>
                </a:lnTo>
                <a:cubicBezTo>
                  <a:pt x="81558" y="196342"/>
                  <a:pt x="71438" y="190612"/>
                  <a:pt x="71438" y="181384"/>
                </a:cubicBezTo>
                <a:lnTo>
                  <a:pt x="71438" y="142875"/>
                </a:lnTo>
                <a:cubicBezTo>
                  <a:pt x="71438" y="129741"/>
                  <a:pt x="60759" y="119063"/>
                  <a:pt x="47625" y="119063"/>
                </a:cubicBezTo>
                <a:lnTo>
                  <a:pt x="47588" y="119063"/>
                </a:lnTo>
                <a:close/>
                <a:moveTo>
                  <a:pt x="148828" y="59531"/>
                </a:moveTo>
                <a:cubicBezTo>
                  <a:pt x="148828" y="49674"/>
                  <a:pt x="140826" y="41672"/>
                  <a:pt x="130969" y="41672"/>
                </a:cubicBezTo>
                <a:cubicBezTo>
                  <a:pt x="121112" y="41672"/>
                  <a:pt x="113109" y="49674"/>
                  <a:pt x="113109" y="59531"/>
                </a:cubicBezTo>
                <a:cubicBezTo>
                  <a:pt x="113109" y="69388"/>
                  <a:pt x="121112" y="77391"/>
                  <a:pt x="130969" y="77391"/>
                </a:cubicBezTo>
                <a:cubicBezTo>
                  <a:pt x="140826" y="77391"/>
                  <a:pt x="148828" y="69388"/>
                  <a:pt x="148828" y="59531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1"/>
          <p:cNvSpPr/>
          <p:nvPr/>
        </p:nvSpPr>
        <p:spPr>
          <a:xfrm>
            <a:off x="5152876" y="6210300"/>
            <a:ext cx="16573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Modern Performance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Navigation</a:t>
            </a:r>
            <a:endParaRPr sz="1600" b="0" i="0" u="none" strike="noStrike" cap="none"/>
          </a:p>
        </p:txBody>
      </p:sp>
      <p:sp>
        <p:nvSpPr>
          <p:cNvPr id="37" name="Google Shape;37;p2"/>
          <p:cNvSpPr/>
          <p:nvPr/>
        </p:nvSpPr>
        <p:spPr>
          <a:xfrm>
            <a:off x="381000" y="723900"/>
            <a:ext cx="117157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Contents</a:t>
            </a:r>
            <a:endParaRPr sz="1600" b="0" i="0" u="none" strike="noStrike" cap="none"/>
          </a:p>
        </p:txBody>
      </p:sp>
      <p:sp>
        <p:nvSpPr>
          <p:cNvPr id="38" name="Google Shape;38;p2"/>
          <p:cNvSpPr/>
          <p:nvPr/>
        </p:nvSpPr>
        <p:spPr>
          <a:xfrm>
            <a:off x="385763" y="1681163"/>
            <a:ext cx="5553075" cy="2409825"/>
          </a:xfrm>
          <a:custGeom>
            <a:avLst/>
            <a:gdLst/>
            <a:ahLst/>
            <a:cxnLst/>
            <a:rect l="l" t="t" r="r" b="b"/>
            <a:pathLst>
              <a:path w="5553075" h="2409825" extrusionOk="0">
                <a:moveTo>
                  <a:pt x="152397" y="0"/>
                </a:moveTo>
                <a:lnTo>
                  <a:pt x="5400678" y="0"/>
                </a:lnTo>
                <a:cubicBezTo>
                  <a:pt x="5484844" y="0"/>
                  <a:pt x="5553075" y="68231"/>
                  <a:pt x="5553075" y="152397"/>
                </a:cubicBezTo>
                <a:lnTo>
                  <a:pt x="5553075" y="2257428"/>
                </a:lnTo>
                <a:cubicBezTo>
                  <a:pt x="5553075" y="2341594"/>
                  <a:pt x="5484844" y="2409825"/>
                  <a:pt x="5400678" y="2409825"/>
                </a:cubicBezTo>
                <a:lnTo>
                  <a:pt x="152397" y="2409825"/>
                </a:lnTo>
                <a:cubicBezTo>
                  <a:pt x="68231" y="2409825"/>
                  <a:pt x="0" y="2341594"/>
                  <a:pt x="0" y="2257428"/>
                </a:cubicBezTo>
                <a:lnTo>
                  <a:pt x="0" y="152397"/>
                </a:lnTo>
                <a:cubicBezTo>
                  <a:pt x="0" y="68287"/>
                  <a:pt x="68287" y="0"/>
                  <a:pt x="152397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771525" y="2157413"/>
            <a:ext cx="762000" cy="762000"/>
          </a:xfrm>
          <a:custGeom>
            <a:avLst/>
            <a:gdLst/>
            <a:ahLst/>
            <a:cxnLst/>
            <a:rect l="l" t="t" r="r" b="b"/>
            <a:pathLst>
              <a:path w="762000" h="762000" extrusionOk="0">
                <a:moveTo>
                  <a:pt x="114300" y="0"/>
                </a:moveTo>
                <a:lnTo>
                  <a:pt x="647700" y="0"/>
                </a:lnTo>
                <a:cubicBezTo>
                  <a:pt x="710784" y="0"/>
                  <a:pt x="762000" y="51216"/>
                  <a:pt x="762000" y="114300"/>
                </a:cubicBezTo>
                <a:lnTo>
                  <a:pt x="762000" y="647700"/>
                </a:lnTo>
                <a:cubicBezTo>
                  <a:pt x="762000" y="710784"/>
                  <a:pt x="710784" y="762000"/>
                  <a:pt x="6477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685800" y="2157413"/>
            <a:ext cx="93345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A1D21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01</a:t>
            </a:r>
            <a:endParaRPr sz="1600" b="0" i="0" u="none" strike="noStrike" cap="none"/>
          </a:p>
        </p:txBody>
      </p:sp>
      <p:sp>
        <p:nvSpPr>
          <p:cNvPr id="41" name="Google Shape;41;p2"/>
          <p:cNvSpPr/>
          <p:nvPr/>
        </p:nvSpPr>
        <p:spPr>
          <a:xfrm>
            <a:off x="1762125" y="2157413"/>
            <a:ext cx="393382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Network Architecture Fundamentals</a:t>
            </a:r>
            <a:endParaRPr sz="1600" b="0" i="0" u="none" strike="noStrike" cap="none"/>
          </a:p>
        </p:txBody>
      </p:sp>
      <p:sp>
        <p:nvSpPr>
          <p:cNvPr id="42" name="Google Shape;42;p2"/>
          <p:cNvSpPr/>
          <p:nvPr/>
        </p:nvSpPr>
        <p:spPr>
          <a:xfrm>
            <a:off x="1762125" y="2995613"/>
            <a:ext cx="38862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Understanding Client-Server and Peer-to-Peer Models</a:t>
            </a:r>
            <a:endParaRPr sz="1600" b="0" i="0" u="none" strike="noStrike" cap="none"/>
          </a:p>
        </p:txBody>
      </p:sp>
      <p:sp>
        <p:nvSpPr>
          <p:cNvPr id="43" name="Google Shape;43;p2"/>
          <p:cNvSpPr/>
          <p:nvPr/>
        </p:nvSpPr>
        <p:spPr>
          <a:xfrm>
            <a:off x="6253163" y="1681163"/>
            <a:ext cx="5553075" cy="2409825"/>
          </a:xfrm>
          <a:custGeom>
            <a:avLst/>
            <a:gdLst/>
            <a:ahLst/>
            <a:cxnLst/>
            <a:rect l="l" t="t" r="r" b="b"/>
            <a:pathLst>
              <a:path w="5553075" h="2409825" extrusionOk="0">
                <a:moveTo>
                  <a:pt x="152397" y="0"/>
                </a:moveTo>
                <a:lnTo>
                  <a:pt x="5400678" y="0"/>
                </a:lnTo>
                <a:cubicBezTo>
                  <a:pt x="5484844" y="0"/>
                  <a:pt x="5553075" y="68231"/>
                  <a:pt x="5553075" y="152397"/>
                </a:cubicBezTo>
                <a:lnTo>
                  <a:pt x="5553075" y="2257428"/>
                </a:lnTo>
                <a:cubicBezTo>
                  <a:pt x="5553075" y="2341594"/>
                  <a:pt x="5484844" y="2409825"/>
                  <a:pt x="5400678" y="2409825"/>
                </a:cubicBezTo>
                <a:lnTo>
                  <a:pt x="152397" y="2409825"/>
                </a:lnTo>
                <a:cubicBezTo>
                  <a:pt x="68231" y="2409825"/>
                  <a:pt x="0" y="2341594"/>
                  <a:pt x="0" y="2257428"/>
                </a:cubicBezTo>
                <a:lnTo>
                  <a:pt x="0" y="152397"/>
                </a:lnTo>
                <a:cubicBezTo>
                  <a:pt x="0" y="68287"/>
                  <a:pt x="68287" y="0"/>
                  <a:pt x="152397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6638925" y="2328863"/>
            <a:ext cx="762000" cy="762000"/>
          </a:xfrm>
          <a:custGeom>
            <a:avLst/>
            <a:gdLst/>
            <a:ahLst/>
            <a:cxnLst/>
            <a:rect l="l" t="t" r="r" b="b"/>
            <a:pathLst>
              <a:path w="762000" h="762000" extrusionOk="0">
                <a:moveTo>
                  <a:pt x="114300" y="0"/>
                </a:moveTo>
                <a:lnTo>
                  <a:pt x="647700" y="0"/>
                </a:lnTo>
                <a:cubicBezTo>
                  <a:pt x="710784" y="0"/>
                  <a:pt x="762000" y="51216"/>
                  <a:pt x="762000" y="114300"/>
                </a:cubicBezTo>
                <a:lnTo>
                  <a:pt x="762000" y="647700"/>
                </a:lnTo>
                <a:cubicBezTo>
                  <a:pt x="762000" y="710784"/>
                  <a:pt x="710784" y="762000"/>
                  <a:pt x="6477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6553200" y="2328863"/>
            <a:ext cx="93345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A1D21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02</a:t>
            </a:r>
            <a:endParaRPr sz="1600" b="0" i="0" u="none" strike="noStrike" cap="none"/>
          </a:p>
        </p:txBody>
      </p:sp>
      <p:sp>
        <p:nvSpPr>
          <p:cNvPr id="46" name="Google Shape;46;p2"/>
          <p:cNvSpPr/>
          <p:nvPr/>
        </p:nvSpPr>
        <p:spPr>
          <a:xfrm>
            <a:off x="7629525" y="2328863"/>
            <a:ext cx="393382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 Protocol Basics</a:t>
            </a:r>
            <a:endParaRPr sz="1600" b="0" i="0" u="none" strike="noStrike" cap="none"/>
          </a:p>
        </p:txBody>
      </p:sp>
      <p:sp>
        <p:nvSpPr>
          <p:cNvPr id="47" name="Google Shape;47;p2"/>
          <p:cNvSpPr/>
          <p:nvPr/>
        </p:nvSpPr>
        <p:spPr>
          <a:xfrm>
            <a:off x="7629525" y="2824163"/>
            <a:ext cx="38862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Understanding the Hypertext Transfer Protocol</a:t>
            </a:r>
            <a:endParaRPr sz="1600" b="0" i="0" u="none" strike="noStrike" cap="none"/>
          </a:p>
        </p:txBody>
      </p:sp>
      <p:sp>
        <p:nvSpPr>
          <p:cNvPr id="48" name="Google Shape;48;p2"/>
          <p:cNvSpPr/>
          <p:nvPr/>
        </p:nvSpPr>
        <p:spPr>
          <a:xfrm>
            <a:off x="385763" y="4405313"/>
            <a:ext cx="5553075" cy="2066925"/>
          </a:xfrm>
          <a:custGeom>
            <a:avLst/>
            <a:gdLst/>
            <a:ahLst/>
            <a:cxnLst/>
            <a:rect l="l" t="t" r="r" b="b"/>
            <a:pathLst>
              <a:path w="5553075" h="2066925" extrusionOk="0">
                <a:moveTo>
                  <a:pt x="152394" y="0"/>
                </a:moveTo>
                <a:lnTo>
                  <a:pt x="5400681" y="0"/>
                </a:lnTo>
                <a:cubicBezTo>
                  <a:pt x="5484846" y="0"/>
                  <a:pt x="5553075" y="68229"/>
                  <a:pt x="5553075" y="152394"/>
                </a:cubicBezTo>
                <a:lnTo>
                  <a:pt x="5553075" y="1914531"/>
                </a:lnTo>
                <a:cubicBezTo>
                  <a:pt x="5553075" y="1998696"/>
                  <a:pt x="5484846" y="2066925"/>
                  <a:pt x="5400681" y="2066925"/>
                </a:cubicBezTo>
                <a:lnTo>
                  <a:pt x="152394" y="2066925"/>
                </a:lnTo>
                <a:cubicBezTo>
                  <a:pt x="68229" y="2066925"/>
                  <a:pt x="0" y="1998696"/>
                  <a:pt x="0" y="1914531"/>
                </a:cubicBezTo>
                <a:lnTo>
                  <a:pt x="0" y="152394"/>
                </a:lnTo>
                <a:cubicBezTo>
                  <a:pt x="0" y="68229"/>
                  <a:pt x="68229" y="0"/>
                  <a:pt x="152394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771525" y="4881563"/>
            <a:ext cx="762000" cy="762000"/>
          </a:xfrm>
          <a:custGeom>
            <a:avLst/>
            <a:gdLst/>
            <a:ahLst/>
            <a:cxnLst/>
            <a:rect l="l" t="t" r="r" b="b"/>
            <a:pathLst>
              <a:path w="762000" h="762000" extrusionOk="0">
                <a:moveTo>
                  <a:pt x="114300" y="0"/>
                </a:moveTo>
                <a:lnTo>
                  <a:pt x="647700" y="0"/>
                </a:lnTo>
                <a:cubicBezTo>
                  <a:pt x="710784" y="0"/>
                  <a:pt x="762000" y="51216"/>
                  <a:pt x="762000" y="114300"/>
                </a:cubicBezTo>
                <a:lnTo>
                  <a:pt x="762000" y="647700"/>
                </a:lnTo>
                <a:cubicBezTo>
                  <a:pt x="762000" y="710784"/>
                  <a:pt x="710784" y="762000"/>
                  <a:pt x="6477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685800" y="4881563"/>
            <a:ext cx="93345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A1D21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03</a:t>
            </a:r>
            <a:endParaRPr sz="1600" b="0" i="0" u="none" strike="noStrike" cap="none"/>
          </a:p>
        </p:txBody>
      </p:sp>
      <p:sp>
        <p:nvSpPr>
          <p:cNvPr id="51" name="Google Shape;51;p2"/>
          <p:cNvSpPr/>
          <p:nvPr/>
        </p:nvSpPr>
        <p:spPr>
          <a:xfrm>
            <a:off x="1762125" y="4881563"/>
            <a:ext cx="393382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 Version Evolution</a:t>
            </a:r>
            <a:endParaRPr sz="1600" b="0" i="0" u="none" strike="noStrike" cap="none"/>
          </a:p>
        </p:txBody>
      </p:sp>
      <p:sp>
        <p:nvSpPr>
          <p:cNvPr id="52" name="Google Shape;52;p2"/>
          <p:cNvSpPr/>
          <p:nvPr/>
        </p:nvSpPr>
        <p:spPr>
          <a:xfrm>
            <a:off x="1762125" y="5376863"/>
            <a:ext cx="38862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From HTTP/0.9 to HTTP/3: A Journey of Innovation</a:t>
            </a:r>
            <a:endParaRPr sz="1600" b="0" i="0" u="none" strike="noStrike" cap="none"/>
          </a:p>
        </p:txBody>
      </p:sp>
      <p:sp>
        <p:nvSpPr>
          <p:cNvPr id="53" name="Google Shape;53;p2"/>
          <p:cNvSpPr/>
          <p:nvPr/>
        </p:nvSpPr>
        <p:spPr>
          <a:xfrm>
            <a:off x="6253163" y="4405313"/>
            <a:ext cx="5553075" cy="2066925"/>
          </a:xfrm>
          <a:custGeom>
            <a:avLst/>
            <a:gdLst/>
            <a:ahLst/>
            <a:cxnLst/>
            <a:rect l="l" t="t" r="r" b="b"/>
            <a:pathLst>
              <a:path w="5553075" h="2066925" extrusionOk="0">
                <a:moveTo>
                  <a:pt x="152394" y="0"/>
                </a:moveTo>
                <a:lnTo>
                  <a:pt x="5400681" y="0"/>
                </a:lnTo>
                <a:cubicBezTo>
                  <a:pt x="5484846" y="0"/>
                  <a:pt x="5553075" y="68229"/>
                  <a:pt x="5553075" y="152394"/>
                </a:cubicBezTo>
                <a:lnTo>
                  <a:pt x="5553075" y="1914531"/>
                </a:lnTo>
                <a:cubicBezTo>
                  <a:pt x="5553075" y="1998696"/>
                  <a:pt x="5484846" y="2066925"/>
                  <a:pt x="5400681" y="2066925"/>
                </a:cubicBezTo>
                <a:lnTo>
                  <a:pt x="152394" y="2066925"/>
                </a:lnTo>
                <a:cubicBezTo>
                  <a:pt x="68229" y="2066925"/>
                  <a:pt x="0" y="1998696"/>
                  <a:pt x="0" y="1914531"/>
                </a:cubicBezTo>
                <a:lnTo>
                  <a:pt x="0" y="152394"/>
                </a:lnTo>
                <a:cubicBezTo>
                  <a:pt x="0" y="68229"/>
                  <a:pt x="68229" y="0"/>
                  <a:pt x="152394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/>
          <p:nvPr/>
        </p:nvSpPr>
        <p:spPr>
          <a:xfrm>
            <a:off x="6638925" y="4881563"/>
            <a:ext cx="762000" cy="762000"/>
          </a:xfrm>
          <a:custGeom>
            <a:avLst/>
            <a:gdLst/>
            <a:ahLst/>
            <a:cxnLst/>
            <a:rect l="l" t="t" r="r" b="b"/>
            <a:pathLst>
              <a:path w="762000" h="762000" extrusionOk="0">
                <a:moveTo>
                  <a:pt x="114300" y="0"/>
                </a:moveTo>
                <a:lnTo>
                  <a:pt x="647700" y="0"/>
                </a:lnTo>
                <a:cubicBezTo>
                  <a:pt x="710784" y="0"/>
                  <a:pt x="762000" y="51216"/>
                  <a:pt x="762000" y="114300"/>
                </a:cubicBezTo>
                <a:lnTo>
                  <a:pt x="762000" y="647700"/>
                </a:lnTo>
                <a:cubicBezTo>
                  <a:pt x="762000" y="710784"/>
                  <a:pt x="710784" y="762000"/>
                  <a:pt x="6477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2"/>
          <p:cNvSpPr/>
          <p:nvPr/>
        </p:nvSpPr>
        <p:spPr>
          <a:xfrm>
            <a:off x="6553200" y="4881563"/>
            <a:ext cx="93345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A1D21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04</a:t>
            </a:r>
            <a:endParaRPr sz="1600" b="0" i="0" u="none" strike="noStrike" cap="none"/>
          </a:p>
        </p:txBody>
      </p:sp>
      <p:sp>
        <p:nvSpPr>
          <p:cNvPr id="56" name="Google Shape;56;p2"/>
          <p:cNvSpPr/>
          <p:nvPr/>
        </p:nvSpPr>
        <p:spPr>
          <a:xfrm>
            <a:off x="7629525" y="4881563"/>
            <a:ext cx="393382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Modern Protocol Features</a:t>
            </a:r>
            <a:endParaRPr sz="1600" b="0" i="0" u="none" strike="noStrike" cap="none"/>
          </a:p>
        </p:txBody>
      </p:sp>
      <p:sp>
        <p:nvSpPr>
          <p:cNvPr id="57" name="Google Shape;57;p2"/>
          <p:cNvSpPr/>
          <p:nvPr/>
        </p:nvSpPr>
        <p:spPr>
          <a:xfrm>
            <a:off x="7629525" y="5376863"/>
            <a:ext cx="38862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Performance, Security &amp; Future Considerations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3" descr="https://kimi-web-img.moonshot.cn/img/thumbs.dreamstime.com/731385432872d09b9e91558e6ca4bddd543c857c.jpg"/>
          <p:cNvPicPr preferRelativeResize="0"/>
          <p:nvPr/>
        </p:nvPicPr>
        <p:blipFill rotWithShape="1">
          <a:blip r:embed="rId3">
            <a:alphaModFix amt="30000"/>
          </a:blip>
          <a:srcRect t="766" b="766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pic>
      <p:sp>
        <p:nvSpPr>
          <p:cNvPr id="64" name="Google Shape;64;p3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1A1D21"/>
              </a:gs>
              <a:gs pos="50000">
                <a:srgbClr val="1A1D21">
                  <a:alpha val="94901"/>
                </a:srgbClr>
              </a:gs>
              <a:gs pos="100000">
                <a:srgbClr val="4A6C8C">
                  <a:alpha val="20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5" name="Google Shape;65;p3"/>
          <p:cNvSpPr/>
          <p:nvPr/>
        </p:nvSpPr>
        <p:spPr>
          <a:xfrm>
            <a:off x="400050" y="1017687"/>
            <a:ext cx="1809750" cy="419100"/>
          </a:xfrm>
          <a:custGeom>
            <a:avLst/>
            <a:gdLst/>
            <a:ahLst/>
            <a:cxnLst/>
            <a:rect l="l" t="t" r="r" b="b"/>
            <a:pathLst>
              <a:path w="1809750" h="419100" extrusionOk="0">
                <a:moveTo>
                  <a:pt x="0" y="0"/>
                </a:moveTo>
                <a:lnTo>
                  <a:pt x="1809750" y="0"/>
                </a:lnTo>
                <a:lnTo>
                  <a:pt x="180975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6" name="Google Shape;66;p3"/>
          <p:cNvSpPr/>
          <p:nvPr/>
        </p:nvSpPr>
        <p:spPr>
          <a:xfrm>
            <a:off x="400050" y="1017687"/>
            <a:ext cx="38100" cy="419100"/>
          </a:xfrm>
          <a:custGeom>
            <a:avLst/>
            <a:gdLst/>
            <a:ahLst/>
            <a:cxnLst/>
            <a:rect l="l" t="t" r="r" b="b"/>
            <a:pathLst>
              <a:path w="38100" h="419100" extrusionOk="0">
                <a:moveTo>
                  <a:pt x="0" y="0"/>
                </a:moveTo>
                <a:lnTo>
                  <a:pt x="38100" y="0"/>
                </a:lnTo>
                <a:lnTo>
                  <a:pt x="3810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7" name="Google Shape;67;p3"/>
          <p:cNvSpPr/>
          <p:nvPr/>
        </p:nvSpPr>
        <p:spPr>
          <a:xfrm>
            <a:off x="609600" y="1122462"/>
            <a:ext cx="1500783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Chapter 01</a:t>
            </a:r>
            <a:endParaRPr sz="1600" b="0" i="0" u="none" strike="noStrike" cap="none"/>
          </a:p>
        </p:txBody>
      </p:sp>
      <p:sp>
        <p:nvSpPr>
          <p:cNvPr id="68" name="Google Shape;68;p3"/>
          <p:cNvSpPr/>
          <p:nvPr/>
        </p:nvSpPr>
        <p:spPr>
          <a:xfrm>
            <a:off x="381000" y="1741587"/>
            <a:ext cx="8991600" cy="2609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Network Architecture</a:t>
            </a:r>
            <a:endParaRPr sz="1600" b="0" i="0" u="none" strike="noStrike" cap="none"/>
          </a:p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Fundamentals</a:t>
            </a:r>
            <a:endParaRPr sz="1600" b="0" i="0" u="none" strike="noStrike" cap="none"/>
          </a:p>
        </p:txBody>
      </p:sp>
      <p:sp>
        <p:nvSpPr>
          <p:cNvPr id="69" name="Google Shape;69;p3"/>
          <p:cNvSpPr/>
          <p:nvPr/>
        </p:nvSpPr>
        <p:spPr>
          <a:xfrm>
            <a:off x="381000" y="4652070"/>
            <a:ext cx="8677275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Understanding Client-Server and Peer-to-Peer Models</a:t>
            </a:r>
            <a:endParaRPr sz="1600" b="0" i="0" u="none" strike="noStrike" cap="none"/>
          </a:p>
        </p:txBody>
      </p:sp>
      <p:sp>
        <p:nvSpPr>
          <p:cNvPr id="70" name="Google Shape;70;p3"/>
          <p:cNvSpPr/>
          <p:nvPr/>
        </p:nvSpPr>
        <p:spPr>
          <a:xfrm>
            <a:off x="423863" y="5592663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 extrusionOk="0">
                <a:moveTo>
                  <a:pt x="28575" y="14288"/>
                </a:moveTo>
                <a:cubicBezTo>
                  <a:pt x="12814" y="14288"/>
                  <a:pt x="0" y="27102"/>
                  <a:pt x="0" y="42863"/>
                </a:cubicBezTo>
                <a:lnTo>
                  <a:pt x="0" y="71438"/>
                </a:lnTo>
                <a:cubicBezTo>
                  <a:pt x="0" y="87198"/>
                  <a:pt x="12814" y="100013"/>
                  <a:pt x="28575" y="100013"/>
                </a:cubicBezTo>
                <a:lnTo>
                  <a:pt x="171450" y="100013"/>
                </a:lnTo>
                <a:cubicBezTo>
                  <a:pt x="187211" y="100013"/>
                  <a:pt x="200025" y="87198"/>
                  <a:pt x="200025" y="71438"/>
                </a:cubicBezTo>
                <a:lnTo>
                  <a:pt x="200025" y="42863"/>
                </a:lnTo>
                <a:cubicBezTo>
                  <a:pt x="200025" y="27102"/>
                  <a:pt x="187211" y="14288"/>
                  <a:pt x="171450" y="14288"/>
                </a:cubicBezTo>
                <a:lnTo>
                  <a:pt x="28575" y="14288"/>
                </a:lnTo>
                <a:close/>
                <a:moveTo>
                  <a:pt x="125016" y="46434"/>
                </a:moveTo>
                <a:cubicBezTo>
                  <a:pt x="130930" y="46434"/>
                  <a:pt x="135731" y="51236"/>
                  <a:pt x="135731" y="57150"/>
                </a:cubicBezTo>
                <a:cubicBezTo>
                  <a:pt x="135731" y="63064"/>
                  <a:pt x="130930" y="67866"/>
                  <a:pt x="125016" y="67866"/>
                </a:cubicBezTo>
                <a:cubicBezTo>
                  <a:pt x="119102" y="67866"/>
                  <a:pt x="114300" y="63064"/>
                  <a:pt x="114300" y="57150"/>
                </a:cubicBezTo>
                <a:cubicBezTo>
                  <a:pt x="114300" y="51236"/>
                  <a:pt x="119102" y="46434"/>
                  <a:pt x="125016" y="46434"/>
                </a:cubicBezTo>
                <a:close/>
                <a:moveTo>
                  <a:pt x="150019" y="57150"/>
                </a:moveTo>
                <a:cubicBezTo>
                  <a:pt x="150019" y="51236"/>
                  <a:pt x="154820" y="46434"/>
                  <a:pt x="160734" y="46434"/>
                </a:cubicBezTo>
                <a:cubicBezTo>
                  <a:pt x="166648" y="46434"/>
                  <a:pt x="171450" y="51236"/>
                  <a:pt x="171450" y="57150"/>
                </a:cubicBezTo>
                <a:cubicBezTo>
                  <a:pt x="171450" y="63064"/>
                  <a:pt x="166648" y="67866"/>
                  <a:pt x="160734" y="67866"/>
                </a:cubicBezTo>
                <a:cubicBezTo>
                  <a:pt x="154820" y="67866"/>
                  <a:pt x="150019" y="63064"/>
                  <a:pt x="150019" y="57150"/>
                </a:cubicBezTo>
                <a:close/>
                <a:moveTo>
                  <a:pt x="28575" y="128588"/>
                </a:moveTo>
                <a:cubicBezTo>
                  <a:pt x="12814" y="128588"/>
                  <a:pt x="0" y="141402"/>
                  <a:pt x="0" y="157163"/>
                </a:cubicBezTo>
                <a:lnTo>
                  <a:pt x="0" y="185738"/>
                </a:lnTo>
                <a:cubicBezTo>
                  <a:pt x="0" y="201498"/>
                  <a:pt x="12814" y="214313"/>
                  <a:pt x="28575" y="214313"/>
                </a:cubicBezTo>
                <a:lnTo>
                  <a:pt x="171450" y="214313"/>
                </a:lnTo>
                <a:cubicBezTo>
                  <a:pt x="187211" y="214313"/>
                  <a:pt x="200025" y="201498"/>
                  <a:pt x="200025" y="185738"/>
                </a:cubicBezTo>
                <a:lnTo>
                  <a:pt x="200025" y="157163"/>
                </a:lnTo>
                <a:cubicBezTo>
                  <a:pt x="200025" y="141402"/>
                  <a:pt x="187211" y="128588"/>
                  <a:pt x="171450" y="128588"/>
                </a:cubicBezTo>
                <a:lnTo>
                  <a:pt x="28575" y="128588"/>
                </a:lnTo>
                <a:close/>
                <a:moveTo>
                  <a:pt x="125016" y="160734"/>
                </a:moveTo>
                <a:cubicBezTo>
                  <a:pt x="130930" y="160734"/>
                  <a:pt x="135731" y="165536"/>
                  <a:pt x="135731" y="171450"/>
                </a:cubicBezTo>
                <a:cubicBezTo>
                  <a:pt x="135731" y="177364"/>
                  <a:pt x="130930" y="182166"/>
                  <a:pt x="125016" y="182166"/>
                </a:cubicBezTo>
                <a:cubicBezTo>
                  <a:pt x="119102" y="182166"/>
                  <a:pt x="114300" y="177364"/>
                  <a:pt x="114300" y="171450"/>
                </a:cubicBezTo>
                <a:cubicBezTo>
                  <a:pt x="114300" y="165536"/>
                  <a:pt x="119102" y="160734"/>
                  <a:pt x="125016" y="160734"/>
                </a:cubicBezTo>
                <a:close/>
                <a:moveTo>
                  <a:pt x="150019" y="171450"/>
                </a:moveTo>
                <a:cubicBezTo>
                  <a:pt x="150019" y="165536"/>
                  <a:pt x="154820" y="160734"/>
                  <a:pt x="160734" y="160734"/>
                </a:cubicBezTo>
                <a:cubicBezTo>
                  <a:pt x="166648" y="160734"/>
                  <a:pt x="171450" y="165536"/>
                  <a:pt x="171450" y="171450"/>
                </a:cubicBezTo>
                <a:cubicBezTo>
                  <a:pt x="171450" y="177364"/>
                  <a:pt x="166648" y="182166"/>
                  <a:pt x="160734" y="182166"/>
                </a:cubicBezTo>
                <a:cubicBezTo>
                  <a:pt x="154820" y="182166"/>
                  <a:pt x="150019" y="177364"/>
                  <a:pt x="150019" y="17145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"/>
          <p:cNvSpPr/>
          <p:nvPr/>
        </p:nvSpPr>
        <p:spPr>
          <a:xfrm>
            <a:off x="781050" y="5573613"/>
            <a:ext cx="17621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Centralized Systems</a:t>
            </a:r>
            <a:endParaRPr sz="1600" b="0" i="0" u="none" strike="noStrike" cap="none" dirty="0"/>
          </a:p>
        </p:txBody>
      </p:sp>
      <p:sp>
        <p:nvSpPr>
          <p:cNvPr id="72" name="Google Shape;72;p3"/>
          <p:cNvSpPr/>
          <p:nvPr/>
        </p:nvSpPr>
        <p:spPr>
          <a:xfrm>
            <a:off x="2777728" y="559266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 extrusionOk="0">
                <a:moveTo>
                  <a:pt x="0" y="35719"/>
                </a:moveTo>
                <a:cubicBezTo>
                  <a:pt x="0" y="23887"/>
                  <a:pt x="9599" y="14288"/>
                  <a:pt x="21431" y="14288"/>
                </a:cubicBezTo>
                <a:lnTo>
                  <a:pt x="64294" y="14288"/>
                </a:lnTo>
                <a:cubicBezTo>
                  <a:pt x="76126" y="14288"/>
                  <a:pt x="85725" y="23887"/>
                  <a:pt x="85725" y="35719"/>
                </a:cubicBezTo>
                <a:lnTo>
                  <a:pt x="85725" y="42863"/>
                </a:lnTo>
                <a:lnTo>
                  <a:pt x="142875" y="42863"/>
                </a:lnTo>
                <a:lnTo>
                  <a:pt x="142875" y="35719"/>
                </a:lnTo>
                <a:cubicBezTo>
                  <a:pt x="142875" y="23887"/>
                  <a:pt x="152474" y="14288"/>
                  <a:pt x="164306" y="14288"/>
                </a:cubicBezTo>
                <a:lnTo>
                  <a:pt x="207169" y="14288"/>
                </a:lnTo>
                <a:cubicBezTo>
                  <a:pt x="219001" y="14288"/>
                  <a:pt x="228600" y="23887"/>
                  <a:pt x="228600" y="35719"/>
                </a:cubicBezTo>
                <a:lnTo>
                  <a:pt x="228600" y="78581"/>
                </a:lnTo>
                <a:cubicBezTo>
                  <a:pt x="228600" y="90413"/>
                  <a:pt x="219001" y="100013"/>
                  <a:pt x="207169" y="100013"/>
                </a:cubicBezTo>
                <a:lnTo>
                  <a:pt x="164306" y="100013"/>
                </a:lnTo>
                <a:cubicBezTo>
                  <a:pt x="152474" y="100013"/>
                  <a:pt x="142875" y="90413"/>
                  <a:pt x="142875" y="78581"/>
                </a:cubicBezTo>
                <a:lnTo>
                  <a:pt x="142875" y="71438"/>
                </a:lnTo>
                <a:lnTo>
                  <a:pt x="85725" y="71438"/>
                </a:lnTo>
                <a:lnTo>
                  <a:pt x="85725" y="78581"/>
                </a:lnTo>
                <a:cubicBezTo>
                  <a:pt x="85725" y="81841"/>
                  <a:pt x="84966" y="84966"/>
                  <a:pt x="83671" y="87734"/>
                </a:cubicBezTo>
                <a:lnTo>
                  <a:pt x="114300" y="128588"/>
                </a:lnTo>
                <a:lnTo>
                  <a:pt x="150019" y="128588"/>
                </a:lnTo>
                <a:cubicBezTo>
                  <a:pt x="161851" y="128588"/>
                  <a:pt x="171450" y="138187"/>
                  <a:pt x="171450" y="150019"/>
                </a:cubicBezTo>
                <a:lnTo>
                  <a:pt x="171450" y="192881"/>
                </a:lnTo>
                <a:cubicBezTo>
                  <a:pt x="171450" y="204713"/>
                  <a:pt x="161851" y="214313"/>
                  <a:pt x="150019" y="214313"/>
                </a:cubicBezTo>
                <a:lnTo>
                  <a:pt x="107156" y="214313"/>
                </a:lnTo>
                <a:cubicBezTo>
                  <a:pt x="95324" y="214313"/>
                  <a:pt x="85725" y="204713"/>
                  <a:pt x="85725" y="192881"/>
                </a:cubicBezTo>
                <a:lnTo>
                  <a:pt x="85725" y="150019"/>
                </a:lnTo>
                <a:cubicBezTo>
                  <a:pt x="85725" y="146759"/>
                  <a:pt x="86484" y="143634"/>
                  <a:pt x="87779" y="140866"/>
                </a:cubicBezTo>
                <a:lnTo>
                  <a:pt x="57150" y="100013"/>
                </a:lnTo>
                <a:lnTo>
                  <a:pt x="21431" y="100013"/>
                </a:lnTo>
                <a:cubicBezTo>
                  <a:pt x="9599" y="100013"/>
                  <a:pt x="0" y="90413"/>
                  <a:pt x="0" y="78581"/>
                </a:cubicBezTo>
                <a:lnTo>
                  <a:pt x="0" y="35719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3"/>
          <p:cNvSpPr/>
          <p:nvPr/>
        </p:nvSpPr>
        <p:spPr>
          <a:xfrm>
            <a:off x="3149203" y="5573613"/>
            <a:ext cx="185737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Distributed Networks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Network Architecture</a:t>
            </a:r>
            <a:endParaRPr sz="1600" b="0" i="0" u="none" strike="noStrike" cap="none"/>
          </a:p>
        </p:txBody>
      </p:sp>
      <p:sp>
        <p:nvSpPr>
          <p:cNvPr id="80" name="Google Shape;80;p4"/>
          <p:cNvSpPr/>
          <p:nvPr/>
        </p:nvSpPr>
        <p:spPr>
          <a:xfrm>
            <a:off x="381000" y="685800"/>
            <a:ext cx="11601450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Client-Server Architecture: The Foundation of Web Communication</a:t>
            </a:r>
            <a:endParaRPr sz="1600" b="0" i="0" u="none" strike="noStrike" cap="none" dirty="0"/>
          </a:p>
        </p:txBody>
      </p:sp>
      <p:sp>
        <p:nvSpPr>
          <p:cNvPr id="81" name="Google Shape;81;p4"/>
          <p:cNvSpPr/>
          <p:nvPr/>
        </p:nvSpPr>
        <p:spPr>
          <a:xfrm>
            <a:off x="400050" y="1343025"/>
            <a:ext cx="6534150" cy="1543050"/>
          </a:xfrm>
          <a:custGeom>
            <a:avLst/>
            <a:gdLst/>
            <a:ahLst/>
            <a:cxnLst/>
            <a:rect l="l" t="t" r="r" b="b"/>
            <a:pathLst>
              <a:path w="6534150" h="1543050" extrusionOk="0">
                <a:moveTo>
                  <a:pt x="0" y="0"/>
                </a:moveTo>
                <a:lnTo>
                  <a:pt x="6419856" y="0"/>
                </a:lnTo>
                <a:cubicBezTo>
                  <a:pt x="6482937" y="0"/>
                  <a:pt x="6534150" y="51213"/>
                  <a:pt x="6534150" y="114294"/>
                </a:cubicBezTo>
                <a:lnTo>
                  <a:pt x="6534150" y="1428756"/>
                </a:lnTo>
                <a:cubicBezTo>
                  <a:pt x="6534150" y="1491837"/>
                  <a:pt x="6482937" y="1543050"/>
                  <a:pt x="6419856" y="1543050"/>
                </a:cubicBezTo>
                <a:lnTo>
                  <a:pt x="0" y="1543050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400050" y="1343025"/>
            <a:ext cx="38100" cy="1543050"/>
          </a:xfrm>
          <a:custGeom>
            <a:avLst/>
            <a:gdLst/>
            <a:ahLst/>
            <a:cxnLst/>
            <a:rect l="l" t="t" r="r" b="b"/>
            <a:pathLst>
              <a:path w="38100" h="1543050" extrusionOk="0">
                <a:moveTo>
                  <a:pt x="0" y="0"/>
                </a:moveTo>
                <a:lnTo>
                  <a:pt x="38100" y="0"/>
                </a:lnTo>
                <a:lnTo>
                  <a:pt x="38100" y="1543050"/>
                </a:lnTo>
                <a:lnTo>
                  <a:pt x="0" y="1543050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3" name="Google Shape;83;p4"/>
          <p:cNvSpPr/>
          <p:nvPr/>
        </p:nvSpPr>
        <p:spPr>
          <a:xfrm>
            <a:off x="647700" y="15716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 extrusionOk="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4"/>
          <p:cNvSpPr/>
          <p:nvPr/>
        </p:nvSpPr>
        <p:spPr>
          <a:xfrm>
            <a:off x="781050" y="170497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 extrusionOk="0">
                <a:moveTo>
                  <a:pt x="23812" y="11906"/>
                </a:moveTo>
                <a:cubicBezTo>
                  <a:pt x="10678" y="11906"/>
                  <a:pt x="0" y="22585"/>
                  <a:pt x="0" y="35719"/>
                </a:cubicBezTo>
                <a:lnTo>
                  <a:pt x="0" y="130969"/>
                </a:lnTo>
                <a:cubicBezTo>
                  <a:pt x="0" y="144103"/>
                  <a:pt x="10678" y="154781"/>
                  <a:pt x="23812" y="154781"/>
                </a:cubicBezTo>
                <a:lnTo>
                  <a:pt x="77391" y="154781"/>
                </a:lnTo>
                <a:lnTo>
                  <a:pt x="71438" y="172641"/>
                </a:lnTo>
                <a:lnTo>
                  <a:pt x="44648" y="172641"/>
                </a:lnTo>
                <a:cubicBezTo>
                  <a:pt x="39700" y="172641"/>
                  <a:pt x="35719" y="176622"/>
                  <a:pt x="35719" y="181570"/>
                </a:cubicBezTo>
                <a:cubicBezTo>
                  <a:pt x="35719" y="186519"/>
                  <a:pt x="39700" y="190500"/>
                  <a:pt x="44648" y="190500"/>
                </a:cubicBezTo>
                <a:lnTo>
                  <a:pt x="145852" y="190500"/>
                </a:lnTo>
                <a:cubicBezTo>
                  <a:pt x="150800" y="190500"/>
                  <a:pt x="154781" y="186519"/>
                  <a:pt x="154781" y="181570"/>
                </a:cubicBezTo>
                <a:cubicBezTo>
                  <a:pt x="154781" y="176622"/>
                  <a:pt x="150800" y="172641"/>
                  <a:pt x="145852" y="172641"/>
                </a:cubicBezTo>
                <a:lnTo>
                  <a:pt x="119063" y="172641"/>
                </a:lnTo>
                <a:lnTo>
                  <a:pt x="113109" y="154781"/>
                </a:lnTo>
                <a:lnTo>
                  <a:pt x="166688" y="154781"/>
                </a:lnTo>
                <a:cubicBezTo>
                  <a:pt x="179822" y="154781"/>
                  <a:pt x="190500" y="144103"/>
                  <a:pt x="190500" y="130969"/>
                </a:cubicBezTo>
                <a:lnTo>
                  <a:pt x="190500" y="35719"/>
                </a:lnTo>
                <a:cubicBezTo>
                  <a:pt x="190500" y="22585"/>
                  <a:pt x="179822" y="11906"/>
                  <a:pt x="166688" y="11906"/>
                </a:cubicBezTo>
                <a:lnTo>
                  <a:pt x="23812" y="11906"/>
                </a:lnTo>
                <a:close/>
                <a:moveTo>
                  <a:pt x="35719" y="35719"/>
                </a:moveTo>
                <a:lnTo>
                  <a:pt x="154781" y="35719"/>
                </a:lnTo>
                <a:cubicBezTo>
                  <a:pt x="161367" y="35719"/>
                  <a:pt x="166688" y="41039"/>
                  <a:pt x="166688" y="47625"/>
                </a:cubicBezTo>
                <a:lnTo>
                  <a:pt x="166688" y="107156"/>
                </a:lnTo>
                <a:cubicBezTo>
                  <a:pt x="166688" y="113742"/>
                  <a:pt x="161367" y="119063"/>
                  <a:pt x="154781" y="119063"/>
                </a:cubicBezTo>
                <a:lnTo>
                  <a:pt x="35719" y="119063"/>
                </a:lnTo>
                <a:cubicBezTo>
                  <a:pt x="29133" y="119063"/>
                  <a:pt x="23812" y="113742"/>
                  <a:pt x="23812" y="107156"/>
                </a:cubicBezTo>
                <a:lnTo>
                  <a:pt x="23812" y="47625"/>
                </a:lnTo>
                <a:cubicBezTo>
                  <a:pt x="23812" y="41039"/>
                  <a:pt x="29133" y="35719"/>
                  <a:pt x="35719" y="35719"/>
                </a:cubicBezTo>
                <a:close/>
              </a:path>
            </a:pathLst>
          </a:custGeom>
          <a:solidFill>
            <a:srgbClr val="1A1D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4"/>
          <p:cNvSpPr/>
          <p:nvPr/>
        </p:nvSpPr>
        <p:spPr>
          <a:xfrm>
            <a:off x="1257300" y="1571625"/>
            <a:ext cx="55435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The Client Role</a:t>
            </a:r>
            <a:endParaRPr sz="1600" b="0" i="0" u="none" strike="noStrike" cap="none"/>
          </a:p>
        </p:txBody>
      </p:sp>
      <p:sp>
        <p:nvSpPr>
          <p:cNvPr id="86" name="Google Shape;86;p4"/>
          <p:cNvSpPr/>
          <p:nvPr/>
        </p:nvSpPr>
        <p:spPr>
          <a:xfrm>
            <a:off x="1257300" y="1914525"/>
            <a:ext cx="55245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</a:t>
            </a:r>
            <a:r>
              <a:rPr lang="en-US" sz="1200" b="0" i="0" u="none" strike="noStrike" cap="none" dirty="0">
                <a:solidFill>
                  <a:srgbClr val="E0E2E5"/>
                </a:solidFill>
                <a:highlight>
                  <a:srgbClr val="008000"/>
                </a:highlight>
                <a:latin typeface="Quattrocento Sans"/>
                <a:ea typeface="Quattrocento Sans"/>
                <a:cs typeface="Quattrocento Sans"/>
                <a:sym typeface="Quattrocento Sans"/>
              </a:rPr>
              <a:t>client </a:t>
            </a:r>
            <a:r>
              <a:rPr lang="en-US" sz="1200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is responsible </a:t>
            </a:r>
            <a:r>
              <a:rPr lang="en-US" sz="1200" b="0" i="0" u="none" strike="noStrike" cap="none" dirty="0">
                <a:solidFill>
                  <a:srgbClr val="E0E2E5"/>
                </a:solidFill>
                <a:highlight>
                  <a:srgbClr val="008000"/>
                </a:highlight>
                <a:latin typeface="Quattrocento Sans"/>
                <a:ea typeface="Quattrocento Sans"/>
                <a:cs typeface="Quattrocento Sans"/>
                <a:sym typeface="Quattrocento Sans"/>
              </a:rPr>
              <a:t>for presenting data to users</a:t>
            </a:r>
            <a:r>
              <a:rPr lang="en-US" sz="1200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—like web browsers displaying webpages. It sends requests to servers to retrieve needed data and renders it for user interaction.</a:t>
            </a:r>
            <a:endParaRPr sz="1600" b="0" i="0" u="none" strike="noStrike" cap="none" dirty="0"/>
          </a:p>
        </p:txBody>
      </p:sp>
      <p:sp>
        <p:nvSpPr>
          <p:cNvPr id="87" name="Google Shape;87;p4"/>
          <p:cNvSpPr/>
          <p:nvPr/>
        </p:nvSpPr>
        <p:spPr>
          <a:xfrm>
            <a:off x="400050" y="3076575"/>
            <a:ext cx="6534150" cy="1543050"/>
          </a:xfrm>
          <a:custGeom>
            <a:avLst/>
            <a:gdLst/>
            <a:ahLst/>
            <a:cxnLst/>
            <a:rect l="l" t="t" r="r" b="b"/>
            <a:pathLst>
              <a:path w="6534150" h="1543050" extrusionOk="0">
                <a:moveTo>
                  <a:pt x="0" y="0"/>
                </a:moveTo>
                <a:lnTo>
                  <a:pt x="6419856" y="0"/>
                </a:lnTo>
                <a:cubicBezTo>
                  <a:pt x="6482937" y="0"/>
                  <a:pt x="6534150" y="51213"/>
                  <a:pt x="6534150" y="114294"/>
                </a:cubicBezTo>
                <a:lnTo>
                  <a:pt x="6534150" y="1428756"/>
                </a:lnTo>
                <a:cubicBezTo>
                  <a:pt x="6534150" y="1491837"/>
                  <a:pt x="6482937" y="1543050"/>
                  <a:pt x="6419856" y="1543050"/>
                </a:cubicBezTo>
                <a:lnTo>
                  <a:pt x="0" y="1543050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4"/>
          <p:cNvSpPr/>
          <p:nvPr/>
        </p:nvSpPr>
        <p:spPr>
          <a:xfrm>
            <a:off x="400050" y="3076575"/>
            <a:ext cx="38100" cy="1543050"/>
          </a:xfrm>
          <a:custGeom>
            <a:avLst/>
            <a:gdLst/>
            <a:ahLst/>
            <a:cxnLst/>
            <a:rect l="l" t="t" r="r" b="b"/>
            <a:pathLst>
              <a:path w="38100" h="1543050" extrusionOk="0">
                <a:moveTo>
                  <a:pt x="0" y="0"/>
                </a:moveTo>
                <a:lnTo>
                  <a:pt x="38100" y="0"/>
                </a:lnTo>
                <a:lnTo>
                  <a:pt x="38100" y="1543050"/>
                </a:lnTo>
                <a:lnTo>
                  <a:pt x="0" y="1543050"/>
                </a:lnTo>
                <a:lnTo>
                  <a:pt x="0" y="0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9" name="Google Shape;89;p4"/>
          <p:cNvSpPr/>
          <p:nvPr/>
        </p:nvSpPr>
        <p:spPr>
          <a:xfrm>
            <a:off x="647700" y="330517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 extrusionOk="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4"/>
          <p:cNvSpPr/>
          <p:nvPr/>
        </p:nvSpPr>
        <p:spPr>
          <a:xfrm>
            <a:off x="792956" y="3438525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 extrusionOk="0">
                <a:moveTo>
                  <a:pt x="23812" y="11906"/>
                </a:moveTo>
                <a:cubicBezTo>
                  <a:pt x="10678" y="11906"/>
                  <a:pt x="0" y="22585"/>
                  <a:pt x="0" y="35719"/>
                </a:cubicBezTo>
                <a:lnTo>
                  <a:pt x="0" y="59531"/>
                </a:lnTo>
                <a:cubicBezTo>
                  <a:pt x="0" y="72665"/>
                  <a:pt x="10678" y="83344"/>
                  <a:pt x="23812" y="83344"/>
                </a:cubicBezTo>
                <a:lnTo>
                  <a:pt x="142875" y="83344"/>
                </a:lnTo>
                <a:cubicBezTo>
                  <a:pt x="156009" y="83344"/>
                  <a:pt x="166688" y="72665"/>
                  <a:pt x="166688" y="59531"/>
                </a:cubicBezTo>
                <a:lnTo>
                  <a:pt x="166688" y="35719"/>
                </a:lnTo>
                <a:cubicBezTo>
                  <a:pt x="166688" y="22585"/>
                  <a:pt x="156009" y="11906"/>
                  <a:pt x="142875" y="11906"/>
                </a:cubicBezTo>
                <a:lnTo>
                  <a:pt x="23812" y="11906"/>
                </a:lnTo>
                <a:close/>
                <a:moveTo>
                  <a:pt x="104180" y="38695"/>
                </a:moveTo>
                <a:cubicBezTo>
                  <a:pt x="109108" y="38695"/>
                  <a:pt x="113109" y="42697"/>
                  <a:pt x="113109" y="47625"/>
                </a:cubicBezTo>
                <a:cubicBezTo>
                  <a:pt x="113109" y="52553"/>
                  <a:pt x="109108" y="56555"/>
                  <a:pt x="104180" y="56555"/>
                </a:cubicBezTo>
                <a:cubicBezTo>
                  <a:pt x="99251" y="56555"/>
                  <a:pt x="95250" y="52553"/>
                  <a:pt x="95250" y="47625"/>
                </a:cubicBezTo>
                <a:cubicBezTo>
                  <a:pt x="95250" y="42697"/>
                  <a:pt x="99251" y="38695"/>
                  <a:pt x="104180" y="38695"/>
                </a:cubicBezTo>
                <a:close/>
                <a:moveTo>
                  <a:pt x="125016" y="47625"/>
                </a:moveTo>
                <a:cubicBezTo>
                  <a:pt x="125016" y="42697"/>
                  <a:pt x="129017" y="38695"/>
                  <a:pt x="133945" y="38695"/>
                </a:cubicBezTo>
                <a:cubicBezTo>
                  <a:pt x="138874" y="38695"/>
                  <a:pt x="142875" y="42697"/>
                  <a:pt x="142875" y="47625"/>
                </a:cubicBezTo>
                <a:cubicBezTo>
                  <a:pt x="142875" y="52553"/>
                  <a:pt x="138874" y="56555"/>
                  <a:pt x="133945" y="56555"/>
                </a:cubicBezTo>
                <a:cubicBezTo>
                  <a:pt x="129017" y="56555"/>
                  <a:pt x="125016" y="52553"/>
                  <a:pt x="125016" y="47625"/>
                </a:cubicBezTo>
                <a:close/>
                <a:moveTo>
                  <a:pt x="23812" y="107156"/>
                </a:moveTo>
                <a:cubicBezTo>
                  <a:pt x="10678" y="107156"/>
                  <a:pt x="0" y="117835"/>
                  <a:pt x="0" y="130969"/>
                </a:cubicBezTo>
                <a:lnTo>
                  <a:pt x="0" y="154781"/>
                </a:lnTo>
                <a:cubicBezTo>
                  <a:pt x="0" y="167915"/>
                  <a:pt x="10678" y="178594"/>
                  <a:pt x="23812" y="178594"/>
                </a:cubicBezTo>
                <a:lnTo>
                  <a:pt x="142875" y="178594"/>
                </a:lnTo>
                <a:cubicBezTo>
                  <a:pt x="156009" y="178594"/>
                  <a:pt x="166688" y="167915"/>
                  <a:pt x="166688" y="154781"/>
                </a:cubicBezTo>
                <a:lnTo>
                  <a:pt x="166688" y="130969"/>
                </a:lnTo>
                <a:cubicBezTo>
                  <a:pt x="166688" y="117835"/>
                  <a:pt x="156009" y="107156"/>
                  <a:pt x="142875" y="107156"/>
                </a:cubicBezTo>
                <a:lnTo>
                  <a:pt x="23812" y="107156"/>
                </a:lnTo>
                <a:close/>
                <a:moveTo>
                  <a:pt x="104180" y="133945"/>
                </a:moveTo>
                <a:cubicBezTo>
                  <a:pt x="109108" y="133945"/>
                  <a:pt x="113109" y="137947"/>
                  <a:pt x="113109" y="142875"/>
                </a:cubicBezTo>
                <a:cubicBezTo>
                  <a:pt x="113109" y="147803"/>
                  <a:pt x="109108" y="151805"/>
                  <a:pt x="104180" y="151805"/>
                </a:cubicBezTo>
                <a:cubicBezTo>
                  <a:pt x="99251" y="151805"/>
                  <a:pt x="95250" y="147803"/>
                  <a:pt x="95250" y="142875"/>
                </a:cubicBezTo>
                <a:cubicBezTo>
                  <a:pt x="95250" y="137947"/>
                  <a:pt x="99251" y="133945"/>
                  <a:pt x="104180" y="133945"/>
                </a:cubicBezTo>
                <a:close/>
                <a:moveTo>
                  <a:pt x="125016" y="142875"/>
                </a:moveTo>
                <a:cubicBezTo>
                  <a:pt x="125016" y="137947"/>
                  <a:pt x="129017" y="133945"/>
                  <a:pt x="133945" y="133945"/>
                </a:cubicBezTo>
                <a:cubicBezTo>
                  <a:pt x="138874" y="133945"/>
                  <a:pt x="142875" y="137947"/>
                  <a:pt x="142875" y="142875"/>
                </a:cubicBezTo>
                <a:cubicBezTo>
                  <a:pt x="142875" y="147803"/>
                  <a:pt x="138874" y="151805"/>
                  <a:pt x="133945" y="151805"/>
                </a:cubicBezTo>
                <a:cubicBezTo>
                  <a:pt x="129017" y="151805"/>
                  <a:pt x="125016" y="147803"/>
                  <a:pt x="125016" y="142875"/>
                </a:cubicBezTo>
                <a:close/>
              </a:path>
            </a:pathLst>
          </a:custGeom>
          <a:solidFill>
            <a:srgbClr val="E0E2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4"/>
          <p:cNvSpPr/>
          <p:nvPr/>
        </p:nvSpPr>
        <p:spPr>
          <a:xfrm>
            <a:off x="1257300" y="3305175"/>
            <a:ext cx="55435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The Server Role</a:t>
            </a:r>
            <a:endParaRPr sz="1600" b="0" i="0" u="none" strike="noStrike" cap="none"/>
          </a:p>
        </p:txBody>
      </p:sp>
      <p:sp>
        <p:nvSpPr>
          <p:cNvPr id="92" name="Google Shape;92;p4"/>
          <p:cNvSpPr/>
          <p:nvPr/>
        </p:nvSpPr>
        <p:spPr>
          <a:xfrm>
            <a:off x="1257300" y="3648075"/>
            <a:ext cx="55245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server holds and manages data, acting as the central authority. It processes client requests and sends back appropriate responses, ensuring data is stored and delivered correctly.</a:t>
            </a:r>
            <a:endParaRPr sz="1600" b="0" i="0" u="none" strike="noStrike" cap="none"/>
          </a:p>
        </p:txBody>
      </p:sp>
      <p:sp>
        <p:nvSpPr>
          <p:cNvPr id="93" name="Google Shape;93;p4"/>
          <p:cNvSpPr/>
          <p:nvPr/>
        </p:nvSpPr>
        <p:spPr>
          <a:xfrm>
            <a:off x="385763" y="4814888"/>
            <a:ext cx="6543675" cy="1552575"/>
          </a:xfrm>
          <a:custGeom>
            <a:avLst/>
            <a:gdLst/>
            <a:ahLst/>
            <a:cxnLst/>
            <a:rect l="l" t="t" r="r" b="b"/>
            <a:pathLst>
              <a:path w="6543675" h="1552575" extrusionOk="0">
                <a:moveTo>
                  <a:pt x="114301" y="0"/>
                </a:moveTo>
                <a:lnTo>
                  <a:pt x="6429374" y="0"/>
                </a:lnTo>
                <a:cubicBezTo>
                  <a:pt x="6492501" y="0"/>
                  <a:pt x="6543675" y="51174"/>
                  <a:pt x="6543675" y="114301"/>
                </a:cubicBezTo>
                <a:lnTo>
                  <a:pt x="6543675" y="1438274"/>
                </a:lnTo>
                <a:cubicBezTo>
                  <a:pt x="6543675" y="1501401"/>
                  <a:pt x="6492501" y="1552575"/>
                  <a:pt x="6429374" y="1552575"/>
                </a:cubicBezTo>
                <a:lnTo>
                  <a:pt x="114301" y="1552575"/>
                </a:lnTo>
                <a:cubicBezTo>
                  <a:pt x="51174" y="1552575"/>
                  <a:pt x="0" y="1501401"/>
                  <a:pt x="0" y="143827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4"/>
          <p:cNvSpPr/>
          <p:nvPr/>
        </p:nvSpPr>
        <p:spPr>
          <a:xfrm>
            <a:off x="619125" y="504825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 extrusionOk="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B89A6B">
              <a:alpha val="3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4"/>
          <p:cNvSpPr/>
          <p:nvPr/>
        </p:nvSpPr>
        <p:spPr>
          <a:xfrm>
            <a:off x="752475" y="51816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 extrusionOk="0">
                <a:moveTo>
                  <a:pt x="187003" y="56034"/>
                </a:moveTo>
                <a:lnTo>
                  <a:pt x="151284" y="91753"/>
                </a:lnTo>
                <a:cubicBezTo>
                  <a:pt x="147861" y="95176"/>
                  <a:pt x="142763" y="96180"/>
                  <a:pt x="138299" y="94320"/>
                </a:cubicBezTo>
                <a:cubicBezTo>
                  <a:pt x="133834" y="92459"/>
                  <a:pt x="130969" y="88143"/>
                  <a:pt x="130969" y="83344"/>
                </a:cubicBezTo>
                <a:lnTo>
                  <a:pt x="130969" y="59531"/>
                </a:lnTo>
                <a:lnTo>
                  <a:pt x="11906" y="59531"/>
                </a:lnTo>
                <a:cubicBezTo>
                  <a:pt x="5321" y="59531"/>
                  <a:pt x="0" y="54211"/>
                  <a:pt x="0" y="47625"/>
                </a:cubicBezTo>
                <a:cubicBezTo>
                  <a:pt x="0" y="41039"/>
                  <a:pt x="5321" y="35719"/>
                  <a:pt x="11906" y="35719"/>
                </a:cubicBezTo>
                <a:lnTo>
                  <a:pt x="130969" y="35719"/>
                </a:lnTo>
                <a:lnTo>
                  <a:pt x="130969" y="11906"/>
                </a:lnTo>
                <a:cubicBezTo>
                  <a:pt x="130969" y="7107"/>
                  <a:pt x="133871" y="2753"/>
                  <a:pt x="138336" y="893"/>
                </a:cubicBezTo>
                <a:cubicBezTo>
                  <a:pt x="142801" y="-967"/>
                  <a:pt x="147898" y="74"/>
                  <a:pt x="151321" y="3460"/>
                </a:cubicBezTo>
                <a:lnTo>
                  <a:pt x="187040" y="39179"/>
                </a:lnTo>
                <a:cubicBezTo>
                  <a:pt x="191691" y="43830"/>
                  <a:pt x="191691" y="51383"/>
                  <a:pt x="187040" y="56034"/>
                </a:cubicBezTo>
                <a:close/>
                <a:moveTo>
                  <a:pt x="39179" y="187003"/>
                </a:moveTo>
                <a:lnTo>
                  <a:pt x="3460" y="151284"/>
                </a:lnTo>
                <a:cubicBezTo>
                  <a:pt x="-1191" y="146633"/>
                  <a:pt x="-1191" y="139080"/>
                  <a:pt x="3460" y="134429"/>
                </a:cubicBezTo>
                <a:lnTo>
                  <a:pt x="39179" y="98710"/>
                </a:lnTo>
                <a:cubicBezTo>
                  <a:pt x="42602" y="95287"/>
                  <a:pt x="47699" y="94283"/>
                  <a:pt x="52164" y="96143"/>
                </a:cubicBezTo>
                <a:cubicBezTo>
                  <a:pt x="56629" y="98003"/>
                  <a:pt x="59531" y="102357"/>
                  <a:pt x="59531" y="107156"/>
                </a:cubicBezTo>
                <a:lnTo>
                  <a:pt x="59531" y="130969"/>
                </a:lnTo>
                <a:lnTo>
                  <a:pt x="178594" y="130969"/>
                </a:lnTo>
                <a:cubicBezTo>
                  <a:pt x="185179" y="130969"/>
                  <a:pt x="190500" y="136289"/>
                  <a:pt x="190500" y="142875"/>
                </a:cubicBezTo>
                <a:cubicBezTo>
                  <a:pt x="190500" y="149461"/>
                  <a:pt x="185179" y="154781"/>
                  <a:pt x="178594" y="154781"/>
                </a:cubicBezTo>
                <a:lnTo>
                  <a:pt x="59531" y="154781"/>
                </a:lnTo>
                <a:lnTo>
                  <a:pt x="59531" y="178594"/>
                </a:lnTo>
                <a:cubicBezTo>
                  <a:pt x="59531" y="183393"/>
                  <a:pt x="56629" y="187747"/>
                  <a:pt x="52164" y="189607"/>
                </a:cubicBezTo>
                <a:cubicBezTo>
                  <a:pt x="47699" y="191467"/>
                  <a:pt x="42602" y="190426"/>
                  <a:pt x="39179" y="18704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4"/>
          <p:cNvSpPr/>
          <p:nvPr/>
        </p:nvSpPr>
        <p:spPr>
          <a:xfrm>
            <a:off x="1228725" y="5048250"/>
            <a:ext cx="55626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Request-Response Model</a:t>
            </a:r>
            <a:endParaRPr sz="1600" b="0" i="0" u="none" strike="noStrike" cap="none"/>
          </a:p>
        </p:txBody>
      </p:sp>
      <p:sp>
        <p:nvSpPr>
          <p:cNvPr id="97" name="Google Shape;97;p4"/>
          <p:cNvSpPr/>
          <p:nvPr/>
        </p:nvSpPr>
        <p:spPr>
          <a:xfrm>
            <a:off x="1228725" y="5391150"/>
            <a:ext cx="554355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Data exchange follows a simple pattern: </a:t>
            </a:r>
            <a:r>
              <a:rPr lang="en-US" sz="12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Client sends request → Server processes → Server sends response</a:t>
            </a:r>
            <a:r>
              <a:rPr lang="en-US" sz="12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. This synchronous communication forms the backbone of web interactions.</a:t>
            </a:r>
            <a:endParaRPr sz="1600" b="0" i="0" u="none" strike="noStrike" cap="none"/>
          </a:p>
        </p:txBody>
      </p:sp>
      <p:sp>
        <p:nvSpPr>
          <p:cNvPr id="98" name="Google Shape;98;p4"/>
          <p:cNvSpPr/>
          <p:nvPr/>
        </p:nvSpPr>
        <p:spPr>
          <a:xfrm>
            <a:off x="7243763" y="1347788"/>
            <a:ext cx="4562475" cy="5124450"/>
          </a:xfrm>
          <a:custGeom>
            <a:avLst/>
            <a:gdLst/>
            <a:ahLst/>
            <a:cxnLst/>
            <a:rect l="l" t="t" r="r" b="b"/>
            <a:pathLst>
              <a:path w="4562475" h="5124450" extrusionOk="0">
                <a:moveTo>
                  <a:pt x="152387" y="0"/>
                </a:moveTo>
                <a:lnTo>
                  <a:pt x="4410088" y="0"/>
                </a:lnTo>
                <a:cubicBezTo>
                  <a:pt x="4494249" y="0"/>
                  <a:pt x="4562475" y="68226"/>
                  <a:pt x="4562475" y="152387"/>
                </a:cubicBezTo>
                <a:lnTo>
                  <a:pt x="4562475" y="4972063"/>
                </a:lnTo>
                <a:cubicBezTo>
                  <a:pt x="4562475" y="5056224"/>
                  <a:pt x="4494249" y="5124450"/>
                  <a:pt x="4410088" y="5124450"/>
                </a:cubicBezTo>
                <a:lnTo>
                  <a:pt x="152387" y="5124450"/>
                </a:lnTo>
                <a:cubicBezTo>
                  <a:pt x="68226" y="5124450"/>
                  <a:pt x="0" y="5056224"/>
                  <a:pt x="0" y="4972063"/>
                </a:cubicBezTo>
                <a:lnTo>
                  <a:pt x="0" y="152387"/>
                </a:lnTo>
                <a:cubicBezTo>
                  <a:pt x="0" y="68282"/>
                  <a:pt x="68282" y="0"/>
                  <a:pt x="152387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788A9C">
                  <a:alpha val="10196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4"/>
          <p:cNvSpPr/>
          <p:nvPr/>
        </p:nvSpPr>
        <p:spPr>
          <a:xfrm>
            <a:off x="7419975" y="1581150"/>
            <a:ext cx="42100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Client-Server Flow</a:t>
            </a:r>
            <a:endParaRPr sz="1600" b="0" i="0" u="none" strike="noStrike" cap="none"/>
          </a:p>
        </p:txBody>
      </p:sp>
      <p:sp>
        <p:nvSpPr>
          <p:cNvPr id="100" name="Google Shape;100;p4"/>
          <p:cNvSpPr/>
          <p:nvPr/>
        </p:nvSpPr>
        <p:spPr>
          <a:xfrm>
            <a:off x="7481887" y="2043113"/>
            <a:ext cx="4086225" cy="1419225"/>
          </a:xfrm>
          <a:custGeom>
            <a:avLst/>
            <a:gdLst/>
            <a:ahLst/>
            <a:cxnLst/>
            <a:rect l="l" t="t" r="r" b="b"/>
            <a:pathLst>
              <a:path w="4086225" h="1419225" extrusionOk="0">
                <a:moveTo>
                  <a:pt x="114304" y="0"/>
                </a:moveTo>
                <a:lnTo>
                  <a:pt x="3971921" y="0"/>
                </a:lnTo>
                <a:cubicBezTo>
                  <a:pt x="4035049" y="0"/>
                  <a:pt x="4086225" y="51176"/>
                  <a:pt x="4086225" y="114304"/>
                </a:cubicBezTo>
                <a:lnTo>
                  <a:pt x="4086225" y="1304921"/>
                </a:lnTo>
                <a:cubicBezTo>
                  <a:pt x="4086225" y="1368049"/>
                  <a:pt x="4035049" y="1419225"/>
                  <a:pt x="3971921" y="1419225"/>
                </a:cubicBezTo>
                <a:lnTo>
                  <a:pt x="114304" y="1419225"/>
                </a:lnTo>
                <a:cubicBezTo>
                  <a:pt x="51176" y="1419225"/>
                  <a:pt x="0" y="1368049"/>
                  <a:pt x="0" y="1304921"/>
                </a:cubicBezTo>
                <a:lnTo>
                  <a:pt x="0" y="114304"/>
                </a:lnTo>
                <a:cubicBezTo>
                  <a:pt x="0" y="51218"/>
                  <a:pt x="51218" y="0"/>
                  <a:pt x="114304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B89A6B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4"/>
          <p:cNvSpPr/>
          <p:nvPr/>
        </p:nvSpPr>
        <p:spPr>
          <a:xfrm>
            <a:off x="9267825" y="2209800"/>
            <a:ext cx="514350" cy="514350"/>
          </a:xfrm>
          <a:custGeom>
            <a:avLst/>
            <a:gdLst/>
            <a:ahLst/>
            <a:cxnLst/>
            <a:rect l="l" t="t" r="r" b="b"/>
            <a:pathLst>
              <a:path w="514350" h="514350" extrusionOk="0">
                <a:moveTo>
                  <a:pt x="257175" y="0"/>
                </a:moveTo>
                <a:lnTo>
                  <a:pt x="257175" y="0"/>
                </a:lnTo>
                <a:cubicBezTo>
                  <a:pt x="399114" y="0"/>
                  <a:pt x="514350" y="115236"/>
                  <a:pt x="514350" y="257175"/>
                </a:cubicBezTo>
                <a:lnTo>
                  <a:pt x="514350" y="257175"/>
                </a:lnTo>
                <a:cubicBezTo>
                  <a:pt x="514350" y="399114"/>
                  <a:pt x="399114" y="514350"/>
                  <a:pt x="257175" y="514350"/>
                </a:cubicBezTo>
                <a:lnTo>
                  <a:pt x="257175" y="514350"/>
                </a:lnTo>
                <a:cubicBezTo>
                  <a:pt x="115236" y="514350"/>
                  <a:pt x="0" y="399114"/>
                  <a:pt x="0" y="257175"/>
                </a:cubicBezTo>
                <a:lnTo>
                  <a:pt x="0" y="257175"/>
                </a:lnTo>
                <a:cubicBezTo>
                  <a:pt x="0" y="115236"/>
                  <a:pt x="115236" y="0"/>
                  <a:pt x="257175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 w="25400" cap="flat" cmpd="sng">
            <a:solidFill>
              <a:srgbClr val="B89A6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4"/>
          <p:cNvSpPr/>
          <p:nvPr/>
        </p:nvSpPr>
        <p:spPr>
          <a:xfrm>
            <a:off x="9382125" y="2352675"/>
            <a:ext cx="285750" cy="228600"/>
          </a:xfrm>
          <a:custGeom>
            <a:avLst/>
            <a:gdLst/>
            <a:ahLst/>
            <a:cxnLst/>
            <a:rect l="l" t="t" r="r" b="b"/>
            <a:pathLst>
              <a:path w="285750" h="228600" extrusionOk="0">
                <a:moveTo>
                  <a:pt x="57150" y="14288"/>
                </a:moveTo>
                <a:cubicBezTo>
                  <a:pt x="41389" y="14288"/>
                  <a:pt x="28575" y="27102"/>
                  <a:pt x="28575" y="42863"/>
                </a:cubicBezTo>
                <a:lnTo>
                  <a:pt x="28575" y="150019"/>
                </a:lnTo>
                <a:lnTo>
                  <a:pt x="57150" y="150019"/>
                </a:lnTo>
                <a:lnTo>
                  <a:pt x="57150" y="42863"/>
                </a:lnTo>
                <a:lnTo>
                  <a:pt x="228600" y="42863"/>
                </a:lnTo>
                <a:lnTo>
                  <a:pt x="228600" y="150019"/>
                </a:lnTo>
                <a:lnTo>
                  <a:pt x="257175" y="150019"/>
                </a:lnTo>
                <a:lnTo>
                  <a:pt x="257175" y="42863"/>
                </a:lnTo>
                <a:cubicBezTo>
                  <a:pt x="257175" y="27102"/>
                  <a:pt x="244361" y="14288"/>
                  <a:pt x="228600" y="14288"/>
                </a:cubicBezTo>
                <a:lnTo>
                  <a:pt x="57150" y="14288"/>
                </a:lnTo>
                <a:close/>
                <a:moveTo>
                  <a:pt x="8573" y="171450"/>
                </a:moveTo>
                <a:cubicBezTo>
                  <a:pt x="3840" y="171450"/>
                  <a:pt x="0" y="175290"/>
                  <a:pt x="0" y="180023"/>
                </a:cubicBezTo>
                <a:cubicBezTo>
                  <a:pt x="0" y="198953"/>
                  <a:pt x="15359" y="214313"/>
                  <a:pt x="34290" y="214313"/>
                </a:cubicBezTo>
                <a:lnTo>
                  <a:pt x="251460" y="214313"/>
                </a:lnTo>
                <a:cubicBezTo>
                  <a:pt x="270391" y="214313"/>
                  <a:pt x="285750" y="198953"/>
                  <a:pt x="285750" y="180023"/>
                </a:cubicBezTo>
                <a:cubicBezTo>
                  <a:pt x="285750" y="175290"/>
                  <a:pt x="281910" y="171450"/>
                  <a:pt x="277177" y="171450"/>
                </a:cubicBezTo>
                <a:lnTo>
                  <a:pt x="8573" y="17145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4"/>
          <p:cNvSpPr/>
          <p:nvPr/>
        </p:nvSpPr>
        <p:spPr>
          <a:xfrm>
            <a:off x="7596187" y="2809875"/>
            <a:ext cx="38576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Client</a:t>
            </a:r>
            <a:endParaRPr sz="1600" b="0" i="0" u="none" strike="noStrike" cap="none"/>
          </a:p>
        </p:txBody>
      </p:sp>
      <p:sp>
        <p:nvSpPr>
          <p:cNvPr id="104" name="Google Shape;104;p4"/>
          <p:cNvSpPr/>
          <p:nvPr/>
        </p:nvSpPr>
        <p:spPr>
          <a:xfrm>
            <a:off x="7605713" y="3114675"/>
            <a:ext cx="38385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Browser / Application</a:t>
            </a:r>
            <a:endParaRPr sz="1600" b="0" i="0" u="none" strike="noStrike" cap="none"/>
          </a:p>
        </p:txBody>
      </p:sp>
      <p:sp>
        <p:nvSpPr>
          <p:cNvPr id="105" name="Google Shape;105;p4"/>
          <p:cNvSpPr/>
          <p:nvPr/>
        </p:nvSpPr>
        <p:spPr>
          <a:xfrm>
            <a:off x="9453563" y="3619500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 extrusionOk="0">
                <a:moveTo>
                  <a:pt x="63029" y="187003"/>
                </a:moveTo>
                <a:cubicBezTo>
                  <a:pt x="67680" y="191653"/>
                  <a:pt x="75233" y="191653"/>
                  <a:pt x="79883" y="187003"/>
                </a:cubicBezTo>
                <a:lnTo>
                  <a:pt x="139415" y="127471"/>
                </a:lnTo>
                <a:cubicBezTo>
                  <a:pt x="144066" y="122820"/>
                  <a:pt x="144066" y="115267"/>
                  <a:pt x="139415" y="110617"/>
                </a:cubicBezTo>
                <a:cubicBezTo>
                  <a:pt x="134764" y="105966"/>
                  <a:pt x="127211" y="105966"/>
                  <a:pt x="122560" y="110617"/>
                </a:cubicBezTo>
                <a:lnTo>
                  <a:pt x="83344" y="149833"/>
                </a:lnTo>
                <a:lnTo>
                  <a:pt x="83344" y="11906"/>
                </a:lnTo>
                <a:cubicBezTo>
                  <a:pt x="83344" y="5321"/>
                  <a:pt x="78023" y="0"/>
                  <a:pt x="71438" y="0"/>
                </a:cubicBezTo>
                <a:cubicBezTo>
                  <a:pt x="64852" y="0"/>
                  <a:pt x="59531" y="5321"/>
                  <a:pt x="59531" y="11906"/>
                </a:cubicBezTo>
                <a:lnTo>
                  <a:pt x="59531" y="149833"/>
                </a:lnTo>
                <a:lnTo>
                  <a:pt x="20315" y="110617"/>
                </a:lnTo>
                <a:cubicBezTo>
                  <a:pt x="15664" y="105966"/>
                  <a:pt x="8111" y="105966"/>
                  <a:pt x="3460" y="110617"/>
                </a:cubicBezTo>
                <a:cubicBezTo>
                  <a:pt x="-1191" y="115267"/>
                  <a:pt x="-1191" y="122820"/>
                  <a:pt x="3460" y="127471"/>
                </a:cubicBezTo>
                <a:lnTo>
                  <a:pt x="62992" y="187003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4"/>
          <p:cNvSpPr/>
          <p:nvPr/>
        </p:nvSpPr>
        <p:spPr>
          <a:xfrm>
            <a:off x="9121825" y="3848100"/>
            <a:ext cx="8763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Request</a:t>
            </a:r>
            <a:endParaRPr sz="1600" b="0" i="0" u="none" strike="noStrike" cap="none"/>
          </a:p>
        </p:txBody>
      </p:sp>
      <p:sp>
        <p:nvSpPr>
          <p:cNvPr id="107" name="Google Shape;107;p4"/>
          <p:cNvSpPr/>
          <p:nvPr/>
        </p:nvSpPr>
        <p:spPr>
          <a:xfrm>
            <a:off x="7481887" y="4195763"/>
            <a:ext cx="4086225" cy="1419225"/>
          </a:xfrm>
          <a:custGeom>
            <a:avLst/>
            <a:gdLst/>
            <a:ahLst/>
            <a:cxnLst/>
            <a:rect l="l" t="t" r="r" b="b"/>
            <a:pathLst>
              <a:path w="4086225" h="1419225" extrusionOk="0">
                <a:moveTo>
                  <a:pt x="114304" y="0"/>
                </a:moveTo>
                <a:lnTo>
                  <a:pt x="3971921" y="0"/>
                </a:lnTo>
                <a:cubicBezTo>
                  <a:pt x="4035049" y="0"/>
                  <a:pt x="4086225" y="51176"/>
                  <a:pt x="4086225" y="114304"/>
                </a:cubicBezTo>
                <a:lnTo>
                  <a:pt x="4086225" y="1304921"/>
                </a:lnTo>
                <a:cubicBezTo>
                  <a:pt x="4086225" y="1368049"/>
                  <a:pt x="4035049" y="1419225"/>
                  <a:pt x="3971921" y="1419225"/>
                </a:cubicBezTo>
                <a:lnTo>
                  <a:pt x="114304" y="1419225"/>
                </a:lnTo>
                <a:cubicBezTo>
                  <a:pt x="51176" y="1419225"/>
                  <a:pt x="0" y="1368049"/>
                  <a:pt x="0" y="1304921"/>
                </a:cubicBezTo>
                <a:lnTo>
                  <a:pt x="0" y="114304"/>
                </a:lnTo>
                <a:cubicBezTo>
                  <a:pt x="0" y="51218"/>
                  <a:pt x="51218" y="0"/>
                  <a:pt x="114304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4A6C8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"/>
          <p:cNvSpPr/>
          <p:nvPr/>
        </p:nvSpPr>
        <p:spPr>
          <a:xfrm>
            <a:off x="9267825" y="4362450"/>
            <a:ext cx="514350" cy="514350"/>
          </a:xfrm>
          <a:custGeom>
            <a:avLst/>
            <a:gdLst/>
            <a:ahLst/>
            <a:cxnLst/>
            <a:rect l="l" t="t" r="r" b="b"/>
            <a:pathLst>
              <a:path w="514350" h="514350" extrusionOk="0">
                <a:moveTo>
                  <a:pt x="257175" y="0"/>
                </a:moveTo>
                <a:lnTo>
                  <a:pt x="257175" y="0"/>
                </a:lnTo>
                <a:cubicBezTo>
                  <a:pt x="399114" y="0"/>
                  <a:pt x="514350" y="115236"/>
                  <a:pt x="514350" y="257175"/>
                </a:cubicBezTo>
                <a:lnTo>
                  <a:pt x="514350" y="257175"/>
                </a:lnTo>
                <a:cubicBezTo>
                  <a:pt x="514350" y="399114"/>
                  <a:pt x="399114" y="514350"/>
                  <a:pt x="257175" y="514350"/>
                </a:cubicBezTo>
                <a:lnTo>
                  <a:pt x="257175" y="514350"/>
                </a:lnTo>
                <a:cubicBezTo>
                  <a:pt x="115236" y="514350"/>
                  <a:pt x="0" y="399114"/>
                  <a:pt x="0" y="257175"/>
                </a:cubicBezTo>
                <a:lnTo>
                  <a:pt x="0" y="257175"/>
                </a:lnTo>
                <a:cubicBezTo>
                  <a:pt x="0" y="115236"/>
                  <a:pt x="115236" y="0"/>
                  <a:pt x="257175" y="0"/>
                </a:cubicBezTo>
                <a:close/>
              </a:path>
            </a:pathLst>
          </a:custGeom>
          <a:solidFill>
            <a:srgbClr val="4A6C8C">
              <a:alpha val="20000"/>
            </a:srgbClr>
          </a:solidFill>
          <a:ln w="25400" cap="flat" cmpd="sng">
            <a:solidFill>
              <a:srgbClr val="4A6C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4"/>
          <p:cNvSpPr/>
          <p:nvPr/>
        </p:nvSpPr>
        <p:spPr>
          <a:xfrm>
            <a:off x="9424988" y="4505325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 extrusionOk="0">
                <a:moveTo>
                  <a:pt x="200025" y="91886"/>
                </a:moveTo>
                <a:cubicBezTo>
                  <a:pt x="193417" y="96262"/>
                  <a:pt x="185827" y="99789"/>
                  <a:pt x="177924" y="102602"/>
                </a:cubicBezTo>
                <a:cubicBezTo>
                  <a:pt x="156939" y="110103"/>
                  <a:pt x="129391" y="114300"/>
                  <a:pt x="100013" y="114300"/>
                </a:cubicBezTo>
                <a:cubicBezTo>
                  <a:pt x="70634" y="114300"/>
                  <a:pt x="43041" y="110058"/>
                  <a:pt x="22101" y="102602"/>
                </a:cubicBezTo>
                <a:cubicBezTo>
                  <a:pt x="14243" y="99789"/>
                  <a:pt x="6608" y="96262"/>
                  <a:pt x="0" y="91886"/>
                </a:cubicBezTo>
                <a:lnTo>
                  <a:pt x="0" y="128588"/>
                </a:lnTo>
                <a:cubicBezTo>
                  <a:pt x="0" y="148322"/>
                  <a:pt x="44782" y="164306"/>
                  <a:pt x="100013" y="164306"/>
                </a:cubicBezTo>
                <a:cubicBezTo>
                  <a:pt x="155243" y="164306"/>
                  <a:pt x="200025" y="148322"/>
                  <a:pt x="200025" y="128588"/>
                </a:cubicBezTo>
                <a:lnTo>
                  <a:pt x="200025" y="91886"/>
                </a:lnTo>
                <a:close/>
                <a:moveTo>
                  <a:pt x="200025" y="57150"/>
                </a:moveTo>
                <a:lnTo>
                  <a:pt x="200025" y="35719"/>
                </a:lnTo>
                <a:cubicBezTo>
                  <a:pt x="200025" y="15984"/>
                  <a:pt x="155243" y="0"/>
                  <a:pt x="100013" y="0"/>
                </a:cubicBezTo>
                <a:cubicBezTo>
                  <a:pt x="44782" y="0"/>
                  <a:pt x="0" y="15984"/>
                  <a:pt x="0" y="35719"/>
                </a:cubicBezTo>
                <a:lnTo>
                  <a:pt x="0" y="57150"/>
                </a:lnTo>
                <a:cubicBezTo>
                  <a:pt x="0" y="76885"/>
                  <a:pt x="44782" y="92869"/>
                  <a:pt x="100013" y="92869"/>
                </a:cubicBezTo>
                <a:cubicBezTo>
                  <a:pt x="155243" y="92869"/>
                  <a:pt x="200025" y="76885"/>
                  <a:pt x="200025" y="57150"/>
                </a:cubicBezTo>
                <a:close/>
                <a:moveTo>
                  <a:pt x="177924" y="174040"/>
                </a:moveTo>
                <a:cubicBezTo>
                  <a:pt x="156984" y="181496"/>
                  <a:pt x="129436" y="185738"/>
                  <a:pt x="100013" y="185738"/>
                </a:cubicBezTo>
                <a:cubicBezTo>
                  <a:pt x="70589" y="185738"/>
                  <a:pt x="43041" y="181496"/>
                  <a:pt x="22101" y="174040"/>
                </a:cubicBezTo>
                <a:cubicBezTo>
                  <a:pt x="14243" y="171227"/>
                  <a:pt x="6608" y="167700"/>
                  <a:pt x="0" y="163324"/>
                </a:cubicBezTo>
                <a:lnTo>
                  <a:pt x="0" y="192881"/>
                </a:lnTo>
                <a:cubicBezTo>
                  <a:pt x="0" y="212616"/>
                  <a:pt x="44782" y="228600"/>
                  <a:pt x="100013" y="228600"/>
                </a:cubicBezTo>
                <a:cubicBezTo>
                  <a:pt x="155243" y="228600"/>
                  <a:pt x="200025" y="212616"/>
                  <a:pt x="200025" y="192881"/>
                </a:cubicBezTo>
                <a:lnTo>
                  <a:pt x="200025" y="163324"/>
                </a:lnTo>
                <a:cubicBezTo>
                  <a:pt x="193417" y="167700"/>
                  <a:pt x="185827" y="171227"/>
                  <a:pt x="177924" y="174040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4"/>
          <p:cNvSpPr/>
          <p:nvPr/>
        </p:nvSpPr>
        <p:spPr>
          <a:xfrm>
            <a:off x="7596187" y="4962525"/>
            <a:ext cx="38576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Server</a:t>
            </a:r>
            <a:endParaRPr sz="1600" b="0" i="0" u="none" strike="noStrike" cap="none"/>
          </a:p>
        </p:txBody>
      </p:sp>
      <p:sp>
        <p:nvSpPr>
          <p:cNvPr id="111" name="Google Shape;111;p4"/>
          <p:cNvSpPr/>
          <p:nvPr/>
        </p:nvSpPr>
        <p:spPr>
          <a:xfrm>
            <a:off x="7605713" y="5267325"/>
            <a:ext cx="38385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Data Authority</a:t>
            </a:r>
            <a:endParaRPr sz="1600" b="0" i="0" u="none" strike="noStrike" cap="none"/>
          </a:p>
        </p:txBody>
      </p:sp>
      <p:sp>
        <p:nvSpPr>
          <p:cNvPr id="112" name="Google Shape;112;p4"/>
          <p:cNvSpPr/>
          <p:nvPr/>
        </p:nvSpPr>
        <p:spPr>
          <a:xfrm>
            <a:off x="9453563" y="5772150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 extrusionOk="0">
                <a:moveTo>
                  <a:pt x="79846" y="6474"/>
                </a:moveTo>
                <a:cubicBezTo>
                  <a:pt x="75195" y="1823"/>
                  <a:pt x="67642" y="1823"/>
                  <a:pt x="62992" y="6474"/>
                </a:cubicBezTo>
                <a:lnTo>
                  <a:pt x="3460" y="66005"/>
                </a:lnTo>
                <a:cubicBezTo>
                  <a:pt x="-1191" y="70656"/>
                  <a:pt x="-1191" y="78209"/>
                  <a:pt x="3460" y="82860"/>
                </a:cubicBezTo>
                <a:cubicBezTo>
                  <a:pt x="8111" y="87511"/>
                  <a:pt x="15664" y="87511"/>
                  <a:pt x="20315" y="82860"/>
                </a:cubicBezTo>
                <a:lnTo>
                  <a:pt x="59531" y="43644"/>
                </a:lnTo>
                <a:lnTo>
                  <a:pt x="59531" y="181570"/>
                </a:lnTo>
                <a:cubicBezTo>
                  <a:pt x="59531" y="188156"/>
                  <a:pt x="64852" y="193477"/>
                  <a:pt x="71438" y="193477"/>
                </a:cubicBezTo>
                <a:cubicBezTo>
                  <a:pt x="78023" y="193477"/>
                  <a:pt x="83344" y="188156"/>
                  <a:pt x="83344" y="181570"/>
                </a:cubicBezTo>
                <a:lnTo>
                  <a:pt x="83344" y="43644"/>
                </a:lnTo>
                <a:lnTo>
                  <a:pt x="122560" y="82860"/>
                </a:lnTo>
                <a:cubicBezTo>
                  <a:pt x="127211" y="87511"/>
                  <a:pt x="134764" y="87511"/>
                  <a:pt x="139415" y="82860"/>
                </a:cubicBezTo>
                <a:cubicBezTo>
                  <a:pt x="144066" y="78209"/>
                  <a:pt x="144066" y="70656"/>
                  <a:pt x="139415" y="66005"/>
                </a:cubicBezTo>
                <a:lnTo>
                  <a:pt x="79883" y="6474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9075837" y="6000750"/>
            <a:ext cx="96202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4A6C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Response</a:t>
            </a:r>
            <a:endParaRPr sz="1600" b="0" i="0" u="none" strike="noStrike" cap="none"/>
          </a:p>
        </p:txBody>
      </p:sp>
      <p:sp>
        <p:nvSpPr>
          <p:cNvPr id="114" name="Google Shape;114;p4"/>
          <p:cNvSpPr/>
          <p:nvPr/>
        </p:nvSpPr>
        <p:spPr>
          <a:xfrm>
            <a:off x="7481887" y="6348413"/>
            <a:ext cx="4086225" cy="428625"/>
          </a:xfrm>
          <a:custGeom>
            <a:avLst/>
            <a:gdLst/>
            <a:ahLst/>
            <a:cxnLst/>
            <a:rect l="l" t="t" r="r" b="b"/>
            <a:pathLst>
              <a:path w="4086225" h="428625" extrusionOk="0">
                <a:moveTo>
                  <a:pt x="114301" y="0"/>
                </a:moveTo>
                <a:lnTo>
                  <a:pt x="3971924" y="0"/>
                </a:lnTo>
                <a:cubicBezTo>
                  <a:pt x="4035051" y="0"/>
                  <a:pt x="4086225" y="51174"/>
                  <a:pt x="4086225" y="114301"/>
                </a:cubicBezTo>
                <a:lnTo>
                  <a:pt x="4086225" y="314324"/>
                </a:lnTo>
                <a:cubicBezTo>
                  <a:pt x="4086225" y="377451"/>
                  <a:pt x="4035051" y="428625"/>
                  <a:pt x="3971924" y="428625"/>
                </a:cubicBezTo>
                <a:lnTo>
                  <a:pt x="114301" y="428625"/>
                </a:lnTo>
                <a:cubicBezTo>
                  <a:pt x="51174" y="428625"/>
                  <a:pt x="0" y="377451"/>
                  <a:pt x="0" y="31432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4"/>
          <p:cNvSpPr/>
          <p:nvPr/>
        </p:nvSpPr>
        <p:spPr>
          <a:xfrm>
            <a:off x="7567612" y="6467475"/>
            <a:ext cx="39147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Result:</a:t>
            </a:r>
            <a:r>
              <a:rPr lang="en-US" sz="105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Webpage Displayed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/>
          <p:cNvSpPr/>
          <p:nvPr/>
        </p:nvSpPr>
        <p:spPr>
          <a:xfrm>
            <a:off x="361512" y="361512"/>
            <a:ext cx="11541278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Network Architecture</a:t>
            </a:r>
            <a:endParaRPr sz="1600" b="0" i="0" u="none" strike="noStrike" cap="none"/>
          </a:p>
        </p:txBody>
      </p:sp>
      <p:sp>
        <p:nvSpPr>
          <p:cNvPr id="122" name="Google Shape;122;p5"/>
          <p:cNvSpPr/>
          <p:nvPr/>
        </p:nvSpPr>
        <p:spPr>
          <a:xfrm>
            <a:off x="361512" y="650722"/>
            <a:ext cx="11631656" cy="406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62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Peer-to-Peer Architecture: Decentralized Data Exchange</a:t>
            </a:r>
            <a:endParaRPr sz="1600" b="0" i="0" u="none" strike="noStrike" cap="none"/>
          </a:p>
        </p:txBody>
      </p:sp>
      <p:sp>
        <p:nvSpPr>
          <p:cNvPr id="123" name="Google Shape;123;p5"/>
          <p:cNvSpPr/>
          <p:nvPr/>
        </p:nvSpPr>
        <p:spPr>
          <a:xfrm>
            <a:off x="366031" y="1278850"/>
            <a:ext cx="6787392" cy="1906977"/>
          </a:xfrm>
          <a:custGeom>
            <a:avLst/>
            <a:gdLst/>
            <a:ahLst/>
            <a:cxnLst/>
            <a:rect l="l" t="t" r="r" b="b"/>
            <a:pathLst>
              <a:path w="6787392" h="1906977" extrusionOk="0">
                <a:moveTo>
                  <a:pt x="108450" y="0"/>
                </a:moveTo>
                <a:lnTo>
                  <a:pt x="6678942" y="0"/>
                </a:lnTo>
                <a:cubicBezTo>
                  <a:pt x="6738838" y="0"/>
                  <a:pt x="6787392" y="48555"/>
                  <a:pt x="6787392" y="108450"/>
                </a:cubicBezTo>
                <a:lnTo>
                  <a:pt x="6787392" y="1798527"/>
                </a:lnTo>
                <a:cubicBezTo>
                  <a:pt x="6787392" y="1858422"/>
                  <a:pt x="6738838" y="1906977"/>
                  <a:pt x="6678942" y="1906977"/>
                </a:cubicBezTo>
                <a:lnTo>
                  <a:pt x="108450" y="1906977"/>
                </a:lnTo>
                <a:cubicBezTo>
                  <a:pt x="48555" y="1906977"/>
                  <a:pt x="0" y="1858422"/>
                  <a:pt x="0" y="1798527"/>
                </a:cubicBezTo>
                <a:lnTo>
                  <a:pt x="0" y="108450"/>
                </a:lnTo>
                <a:cubicBezTo>
                  <a:pt x="0" y="48595"/>
                  <a:pt x="48595" y="0"/>
                  <a:pt x="108450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5"/>
          <p:cNvSpPr/>
          <p:nvPr/>
        </p:nvSpPr>
        <p:spPr>
          <a:xfrm>
            <a:off x="610052" y="1536427"/>
            <a:ext cx="180756" cy="180756"/>
          </a:xfrm>
          <a:custGeom>
            <a:avLst/>
            <a:gdLst/>
            <a:ahLst/>
            <a:cxnLst/>
            <a:rect l="l" t="t" r="r" b="b"/>
            <a:pathLst>
              <a:path w="180756" h="180756" extrusionOk="0">
                <a:moveTo>
                  <a:pt x="90378" y="180756"/>
                </a:moveTo>
                <a:cubicBezTo>
                  <a:pt x="140259" y="180756"/>
                  <a:pt x="180756" y="140259"/>
                  <a:pt x="180756" y="90378"/>
                </a:cubicBezTo>
                <a:cubicBezTo>
                  <a:pt x="180756" y="40497"/>
                  <a:pt x="140259" y="0"/>
                  <a:pt x="90378" y="0"/>
                </a:cubicBezTo>
                <a:cubicBezTo>
                  <a:pt x="40497" y="0"/>
                  <a:pt x="0" y="40497"/>
                  <a:pt x="0" y="90378"/>
                </a:cubicBezTo>
                <a:cubicBezTo>
                  <a:pt x="0" y="140259"/>
                  <a:pt x="40497" y="180756"/>
                  <a:pt x="90378" y="180756"/>
                </a:cubicBezTo>
                <a:close/>
                <a:moveTo>
                  <a:pt x="79081" y="56486"/>
                </a:moveTo>
                <a:cubicBezTo>
                  <a:pt x="79081" y="50251"/>
                  <a:pt x="84143" y="45189"/>
                  <a:pt x="90378" y="45189"/>
                </a:cubicBezTo>
                <a:cubicBezTo>
                  <a:pt x="96613" y="45189"/>
                  <a:pt x="101675" y="50251"/>
                  <a:pt x="101675" y="56486"/>
                </a:cubicBezTo>
                <a:cubicBezTo>
                  <a:pt x="101675" y="62721"/>
                  <a:pt x="96613" y="67784"/>
                  <a:pt x="90378" y="67784"/>
                </a:cubicBezTo>
                <a:cubicBezTo>
                  <a:pt x="84143" y="67784"/>
                  <a:pt x="79081" y="62721"/>
                  <a:pt x="79081" y="56486"/>
                </a:cubicBezTo>
                <a:close/>
                <a:moveTo>
                  <a:pt x="76256" y="79081"/>
                </a:moveTo>
                <a:lnTo>
                  <a:pt x="93202" y="79081"/>
                </a:lnTo>
                <a:cubicBezTo>
                  <a:pt x="97898" y="79081"/>
                  <a:pt x="101675" y="82858"/>
                  <a:pt x="101675" y="87554"/>
                </a:cubicBezTo>
                <a:lnTo>
                  <a:pt x="101675" y="118621"/>
                </a:lnTo>
                <a:lnTo>
                  <a:pt x="104500" y="118621"/>
                </a:lnTo>
                <a:cubicBezTo>
                  <a:pt x="109195" y="118621"/>
                  <a:pt x="112973" y="122399"/>
                  <a:pt x="112973" y="127094"/>
                </a:cubicBezTo>
                <a:cubicBezTo>
                  <a:pt x="112973" y="131790"/>
                  <a:pt x="109195" y="135567"/>
                  <a:pt x="104500" y="135567"/>
                </a:cubicBezTo>
                <a:lnTo>
                  <a:pt x="76256" y="135567"/>
                </a:lnTo>
                <a:cubicBezTo>
                  <a:pt x="71561" y="135567"/>
                  <a:pt x="67784" y="131790"/>
                  <a:pt x="67784" y="127094"/>
                </a:cubicBezTo>
                <a:cubicBezTo>
                  <a:pt x="67784" y="122399"/>
                  <a:pt x="71561" y="118621"/>
                  <a:pt x="76256" y="118621"/>
                </a:cubicBezTo>
                <a:lnTo>
                  <a:pt x="84729" y="118621"/>
                </a:lnTo>
                <a:lnTo>
                  <a:pt x="84729" y="96027"/>
                </a:lnTo>
                <a:lnTo>
                  <a:pt x="76256" y="96027"/>
                </a:lnTo>
                <a:cubicBezTo>
                  <a:pt x="71561" y="96027"/>
                  <a:pt x="67784" y="92249"/>
                  <a:pt x="67784" y="87554"/>
                </a:cubicBezTo>
                <a:cubicBezTo>
                  <a:pt x="67784" y="82858"/>
                  <a:pt x="71561" y="79081"/>
                  <a:pt x="76256" y="79081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5"/>
          <p:cNvSpPr/>
          <p:nvPr/>
        </p:nvSpPr>
        <p:spPr>
          <a:xfrm>
            <a:off x="813403" y="1500276"/>
            <a:ext cx="6208973" cy="25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3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What is P2P Architecture?</a:t>
            </a:r>
            <a:endParaRPr sz="1600" b="0" i="0" u="none" strike="noStrike" cap="none"/>
          </a:p>
        </p:txBody>
      </p:sp>
      <p:sp>
        <p:nvSpPr>
          <p:cNvPr id="126" name="Google Shape;126;p5"/>
          <p:cNvSpPr/>
          <p:nvPr/>
        </p:nvSpPr>
        <p:spPr>
          <a:xfrm>
            <a:off x="587457" y="1861788"/>
            <a:ext cx="6416842" cy="704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Unlike Client-Server, P2P has no dedicated clients or servers—only </a:t>
            </a:r>
            <a:r>
              <a:rPr lang="en-US" sz="113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peers</a:t>
            </a: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. Each peer can act as both client and server simultaneously, creating a decentralized network where resources are shared directly between participants.</a:t>
            </a:r>
            <a:endParaRPr sz="1600" b="0" i="0" u="none" strike="noStrike" cap="none"/>
          </a:p>
        </p:txBody>
      </p:sp>
      <p:sp>
        <p:nvSpPr>
          <p:cNvPr id="127" name="Google Shape;127;p5"/>
          <p:cNvSpPr/>
          <p:nvPr/>
        </p:nvSpPr>
        <p:spPr>
          <a:xfrm>
            <a:off x="587457" y="2711342"/>
            <a:ext cx="804365" cy="253059"/>
          </a:xfrm>
          <a:custGeom>
            <a:avLst/>
            <a:gdLst/>
            <a:ahLst/>
            <a:cxnLst/>
            <a:rect l="l" t="t" r="r" b="b"/>
            <a:pathLst>
              <a:path w="804365" h="253059" extrusionOk="0">
                <a:moveTo>
                  <a:pt x="126529" y="0"/>
                </a:moveTo>
                <a:lnTo>
                  <a:pt x="677835" y="0"/>
                </a:lnTo>
                <a:cubicBezTo>
                  <a:pt x="747716" y="0"/>
                  <a:pt x="804365" y="56649"/>
                  <a:pt x="804365" y="126529"/>
                </a:cubicBezTo>
                <a:lnTo>
                  <a:pt x="804365" y="126529"/>
                </a:lnTo>
                <a:cubicBezTo>
                  <a:pt x="804365" y="196409"/>
                  <a:pt x="747716" y="253059"/>
                  <a:pt x="677835" y="253059"/>
                </a:cubicBezTo>
                <a:lnTo>
                  <a:pt x="126529" y="253059"/>
                </a:lnTo>
                <a:cubicBezTo>
                  <a:pt x="56649" y="253059"/>
                  <a:pt x="0" y="196409"/>
                  <a:pt x="0" y="126529"/>
                </a:cubicBezTo>
                <a:lnTo>
                  <a:pt x="0" y="126529"/>
                </a:lnTo>
                <a:cubicBezTo>
                  <a:pt x="0" y="56649"/>
                  <a:pt x="56649" y="0"/>
                  <a:pt x="126529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5"/>
          <p:cNvSpPr/>
          <p:nvPr/>
        </p:nvSpPr>
        <p:spPr>
          <a:xfrm>
            <a:off x="587457" y="2711342"/>
            <a:ext cx="867629" cy="25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8450" tIns="36150" rIns="108450" bIns="3615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6" b="0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Blockchain</a:t>
            </a:r>
            <a:endParaRPr sz="1600" b="0" i="0" u="none" strike="noStrike" cap="none"/>
          </a:p>
        </p:txBody>
      </p:sp>
      <p:sp>
        <p:nvSpPr>
          <p:cNvPr id="129" name="Google Shape;129;p5"/>
          <p:cNvSpPr/>
          <p:nvPr/>
        </p:nvSpPr>
        <p:spPr>
          <a:xfrm>
            <a:off x="1500699" y="2711342"/>
            <a:ext cx="759176" cy="253059"/>
          </a:xfrm>
          <a:custGeom>
            <a:avLst/>
            <a:gdLst/>
            <a:ahLst/>
            <a:cxnLst/>
            <a:rect l="l" t="t" r="r" b="b"/>
            <a:pathLst>
              <a:path w="759176" h="253059" extrusionOk="0">
                <a:moveTo>
                  <a:pt x="126529" y="0"/>
                </a:moveTo>
                <a:lnTo>
                  <a:pt x="632646" y="0"/>
                </a:lnTo>
                <a:cubicBezTo>
                  <a:pt x="702527" y="0"/>
                  <a:pt x="759176" y="56649"/>
                  <a:pt x="759176" y="126529"/>
                </a:cubicBezTo>
                <a:lnTo>
                  <a:pt x="759176" y="126529"/>
                </a:lnTo>
                <a:cubicBezTo>
                  <a:pt x="759176" y="196409"/>
                  <a:pt x="702527" y="253059"/>
                  <a:pt x="632646" y="253059"/>
                </a:cubicBezTo>
                <a:lnTo>
                  <a:pt x="126529" y="253059"/>
                </a:lnTo>
                <a:cubicBezTo>
                  <a:pt x="56649" y="253059"/>
                  <a:pt x="0" y="196409"/>
                  <a:pt x="0" y="126529"/>
                </a:cubicBezTo>
                <a:lnTo>
                  <a:pt x="0" y="126529"/>
                </a:lnTo>
                <a:cubicBezTo>
                  <a:pt x="0" y="56649"/>
                  <a:pt x="56649" y="0"/>
                  <a:pt x="126529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"/>
          <p:cNvSpPr/>
          <p:nvPr/>
        </p:nvSpPr>
        <p:spPr>
          <a:xfrm>
            <a:off x="1500699" y="2711342"/>
            <a:ext cx="822440" cy="25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8450" tIns="36150" rIns="108450" bIns="3615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6" b="0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BitTorrent</a:t>
            </a:r>
            <a:endParaRPr sz="1600" b="0" i="0" u="none" strike="noStrike" cap="none"/>
          </a:p>
        </p:txBody>
      </p:sp>
      <p:sp>
        <p:nvSpPr>
          <p:cNvPr id="131" name="Google Shape;131;p5"/>
          <p:cNvSpPr/>
          <p:nvPr/>
        </p:nvSpPr>
        <p:spPr>
          <a:xfrm>
            <a:off x="2367764" y="2711342"/>
            <a:ext cx="1039348" cy="253059"/>
          </a:xfrm>
          <a:custGeom>
            <a:avLst/>
            <a:gdLst/>
            <a:ahLst/>
            <a:cxnLst/>
            <a:rect l="l" t="t" r="r" b="b"/>
            <a:pathLst>
              <a:path w="1039348" h="253059" extrusionOk="0">
                <a:moveTo>
                  <a:pt x="126529" y="0"/>
                </a:moveTo>
                <a:lnTo>
                  <a:pt x="912818" y="0"/>
                </a:lnTo>
                <a:cubicBezTo>
                  <a:pt x="982699" y="0"/>
                  <a:pt x="1039348" y="56649"/>
                  <a:pt x="1039348" y="126529"/>
                </a:cubicBezTo>
                <a:lnTo>
                  <a:pt x="1039348" y="126529"/>
                </a:lnTo>
                <a:cubicBezTo>
                  <a:pt x="1039348" y="196409"/>
                  <a:pt x="982699" y="253059"/>
                  <a:pt x="912818" y="253059"/>
                </a:cubicBezTo>
                <a:lnTo>
                  <a:pt x="126529" y="253059"/>
                </a:lnTo>
                <a:cubicBezTo>
                  <a:pt x="56649" y="253059"/>
                  <a:pt x="0" y="196409"/>
                  <a:pt x="0" y="126529"/>
                </a:cubicBezTo>
                <a:lnTo>
                  <a:pt x="0" y="126529"/>
                </a:lnTo>
                <a:cubicBezTo>
                  <a:pt x="0" y="56649"/>
                  <a:pt x="56649" y="0"/>
                  <a:pt x="126529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5"/>
          <p:cNvSpPr/>
          <p:nvPr/>
        </p:nvSpPr>
        <p:spPr>
          <a:xfrm>
            <a:off x="2367764" y="2711342"/>
            <a:ext cx="1102612" cy="25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8450" tIns="36150" rIns="108450" bIns="3615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6" b="0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Skype (Legacy)</a:t>
            </a:r>
            <a:endParaRPr sz="1600" b="0" i="0" u="none" strike="noStrike" cap="none"/>
          </a:p>
        </p:txBody>
      </p:sp>
      <p:sp>
        <p:nvSpPr>
          <p:cNvPr id="133" name="Google Shape;133;p5"/>
          <p:cNvSpPr/>
          <p:nvPr/>
        </p:nvSpPr>
        <p:spPr>
          <a:xfrm>
            <a:off x="379588" y="3371102"/>
            <a:ext cx="3289761" cy="1536427"/>
          </a:xfrm>
          <a:custGeom>
            <a:avLst/>
            <a:gdLst/>
            <a:ahLst/>
            <a:cxnLst/>
            <a:rect l="l" t="t" r="r" b="b"/>
            <a:pathLst>
              <a:path w="3289761" h="1536427" extrusionOk="0">
                <a:moveTo>
                  <a:pt x="0" y="0"/>
                </a:moveTo>
                <a:lnTo>
                  <a:pt x="3181305" y="0"/>
                </a:lnTo>
                <a:cubicBezTo>
                  <a:pt x="3241204" y="0"/>
                  <a:pt x="3289761" y="48558"/>
                  <a:pt x="3289761" y="108456"/>
                </a:cubicBezTo>
                <a:lnTo>
                  <a:pt x="3289761" y="1427971"/>
                </a:lnTo>
                <a:cubicBezTo>
                  <a:pt x="3289761" y="1487869"/>
                  <a:pt x="3241204" y="1536427"/>
                  <a:pt x="3181305" y="1536427"/>
                </a:cubicBezTo>
                <a:lnTo>
                  <a:pt x="0" y="1536427"/>
                </a:lnTo>
                <a:lnTo>
                  <a:pt x="0" y="0"/>
                </a:lnTo>
                <a:close/>
              </a:path>
            </a:pathLst>
          </a:custGeom>
          <a:solidFill>
            <a:srgbClr val="B89A6B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5"/>
          <p:cNvSpPr/>
          <p:nvPr/>
        </p:nvSpPr>
        <p:spPr>
          <a:xfrm>
            <a:off x="379588" y="3371102"/>
            <a:ext cx="36151" cy="1536427"/>
          </a:xfrm>
          <a:custGeom>
            <a:avLst/>
            <a:gdLst/>
            <a:ahLst/>
            <a:cxnLst/>
            <a:rect l="l" t="t" r="r" b="b"/>
            <a:pathLst>
              <a:path w="36151" h="1536427" extrusionOk="0">
                <a:moveTo>
                  <a:pt x="0" y="0"/>
                </a:moveTo>
                <a:lnTo>
                  <a:pt x="36151" y="0"/>
                </a:lnTo>
                <a:lnTo>
                  <a:pt x="36151" y="1536427"/>
                </a:lnTo>
                <a:lnTo>
                  <a:pt x="0" y="1536427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5" name="Google Shape;135;p5"/>
          <p:cNvSpPr/>
          <p:nvPr/>
        </p:nvSpPr>
        <p:spPr>
          <a:xfrm>
            <a:off x="578420" y="3551858"/>
            <a:ext cx="361512" cy="361512"/>
          </a:xfrm>
          <a:custGeom>
            <a:avLst/>
            <a:gdLst/>
            <a:ahLst/>
            <a:cxnLst/>
            <a:rect l="l" t="t" r="r" b="b"/>
            <a:pathLst>
              <a:path w="361512" h="361512" extrusionOk="0">
                <a:moveTo>
                  <a:pt x="72302" y="0"/>
                </a:moveTo>
                <a:lnTo>
                  <a:pt x="289210" y="0"/>
                </a:lnTo>
                <a:cubicBezTo>
                  <a:pt x="329115" y="0"/>
                  <a:pt x="361512" y="32398"/>
                  <a:pt x="361512" y="72302"/>
                </a:cubicBezTo>
                <a:lnTo>
                  <a:pt x="361512" y="289210"/>
                </a:lnTo>
                <a:cubicBezTo>
                  <a:pt x="361512" y="329115"/>
                  <a:pt x="329115" y="361512"/>
                  <a:pt x="289210" y="361512"/>
                </a:cubicBezTo>
                <a:lnTo>
                  <a:pt x="72302" y="361512"/>
                </a:lnTo>
                <a:cubicBezTo>
                  <a:pt x="32398" y="361512"/>
                  <a:pt x="0" y="329115"/>
                  <a:pt x="0" y="289210"/>
                </a:cubicBezTo>
                <a:lnTo>
                  <a:pt x="0" y="72302"/>
                </a:lnTo>
                <a:cubicBezTo>
                  <a:pt x="0" y="32371"/>
                  <a:pt x="32371" y="0"/>
                  <a:pt x="72302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5"/>
          <p:cNvSpPr/>
          <p:nvPr/>
        </p:nvSpPr>
        <p:spPr>
          <a:xfrm>
            <a:off x="680095" y="3651274"/>
            <a:ext cx="162681" cy="162681"/>
          </a:xfrm>
          <a:custGeom>
            <a:avLst/>
            <a:gdLst/>
            <a:ahLst/>
            <a:cxnLst/>
            <a:rect l="l" t="t" r="r" b="b"/>
            <a:pathLst>
              <a:path w="162681" h="162681" extrusionOk="0">
                <a:moveTo>
                  <a:pt x="162681" y="10168"/>
                </a:moveTo>
                <a:cubicBezTo>
                  <a:pt x="162681" y="44515"/>
                  <a:pt x="138342" y="73174"/>
                  <a:pt x="105997" y="79879"/>
                </a:cubicBezTo>
                <a:cubicBezTo>
                  <a:pt x="103486" y="61418"/>
                  <a:pt x="95194" y="44801"/>
                  <a:pt x="82961" y="31932"/>
                </a:cubicBezTo>
                <a:cubicBezTo>
                  <a:pt x="95702" y="12709"/>
                  <a:pt x="117530" y="0"/>
                  <a:pt x="142345" y="0"/>
                </a:cubicBezTo>
                <a:lnTo>
                  <a:pt x="152513" y="0"/>
                </a:lnTo>
                <a:cubicBezTo>
                  <a:pt x="158137" y="0"/>
                  <a:pt x="162681" y="4544"/>
                  <a:pt x="162681" y="10168"/>
                </a:cubicBezTo>
                <a:close/>
                <a:moveTo>
                  <a:pt x="0" y="30503"/>
                </a:moveTo>
                <a:cubicBezTo>
                  <a:pt x="0" y="24879"/>
                  <a:pt x="4544" y="20335"/>
                  <a:pt x="10168" y="20335"/>
                </a:cubicBezTo>
                <a:lnTo>
                  <a:pt x="20335" y="20335"/>
                </a:lnTo>
                <a:cubicBezTo>
                  <a:pt x="59639" y="20335"/>
                  <a:pt x="91508" y="52204"/>
                  <a:pt x="91508" y="91508"/>
                </a:cubicBezTo>
                <a:lnTo>
                  <a:pt x="91508" y="152513"/>
                </a:lnTo>
                <a:cubicBezTo>
                  <a:pt x="91508" y="158137"/>
                  <a:pt x="86964" y="162681"/>
                  <a:pt x="81340" y="162681"/>
                </a:cubicBezTo>
                <a:cubicBezTo>
                  <a:pt x="75716" y="162681"/>
                  <a:pt x="71173" y="158137"/>
                  <a:pt x="71173" y="152513"/>
                </a:cubicBezTo>
                <a:lnTo>
                  <a:pt x="71173" y="101675"/>
                </a:lnTo>
                <a:cubicBezTo>
                  <a:pt x="31869" y="101675"/>
                  <a:pt x="0" y="69806"/>
                  <a:pt x="0" y="30503"/>
                </a:cubicBezTo>
                <a:close/>
              </a:path>
            </a:pathLst>
          </a:custGeom>
          <a:solidFill>
            <a:srgbClr val="1A1D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5"/>
          <p:cNvSpPr/>
          <p:nvPr/>
        </p:nvSpPr>
        <p:spPr>
          <a:xfrm>
            <a:off x="1048385" y="3606085"/>
            <a:ext cx="668798" cy="25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Seeders</a:t>
            </a:r>
            <a:endParaRPr sz="1600" b="0" i="0" u="none" strike="noStrike" cap="none"/>
          </a:p>
        </p:txBody>
      </p:sp>
      <p:sp>
        <p:nvSpPr>
          <p:cNvPr id="138" name="Google Shape;138;p5"/>
          <p:cNvSpPr/>
          <p:nvPr/>
        </p:nvSpPr>
        <p:spPr>
          <a:xfrm>
            <a:off x="578420" y="4021824"/>
            <a:ext cx="2982476" cy="704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Peers who </a:t>
            </a:r>
            <a:r>
              <a:rPr lang="en-US" sz="1139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contribute to the network</a:t>
            </a: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by uploading data for others. They have complete files and share them with the swarm.</a:t>
            </a:r>
            <a:endParaRPr sz="1600" b="0" i="0" u="none" strike="noStrike" cap="none"/>
          </a:p>
        </p:txBody>
      </p:sp>
      <p:sp>
        <p:nvSpPr>
          <p:cNvPr id="139" name="Google Shape;139;p5"/>
          <p:cNvSpPr/>
          <p:nvPr/>
        </p:nvSpPr>
        <p:spPr>
          <a:xfrm>
            <a:off x="3868040" y="3371102"/>
            <a:ext cx="3289761" cy="1536427"/>
          </a:xfrm>
          <a:custGeom>
            <a:avLst/>
            <a:gdLst/>
            <a:ahLst/>
            <a:cxnLst/>
            <a:rect l="l" t="t" r="r" b="b"/>
            <a:pathLst>
              <a:path w="3289761" h="1536427" extrusionOk="0">
                <a:moveTo>
                  <a:pt x="0" y="0"/>
                </a:moveTo>
                <a:lnTo>
                  <a:pt x="3181305" y="0"/>
                </a:lnTo>
                <a:cubicBezTo>
                  <a:pt x="3241204" y="0"/>
                  <a:pt x="3289761" y="48558"/>
                  <a:pt x="3289761" y="108456"/>
                </a:cubicBezTo>
                <a:lnTo>
                  <a:pt x="3289761" y="1427971"/>
                </a:lnTo>
                <a:cubicBezTo>
                  <a:pt x="3289761" y="1487869"/>
                  <a:pt x="3241204" y="1536427"/>
                  <a:pt x="3181305" y="1536427"/>
                </a:cubicBezTo>
                <a:lnTo>
                  <a:pt x="0" y="1536427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5"/>
          <p:cNvSpPr/>
          <p:nvPr/>
        </p:nvSpPr>
        <p:spPr>
          <a:xfrm>
            <a:off x="3868040" y="3371102"/>
            <a:ext cx="36151" cy="1536427"/>
          </a:xfrm>
          <a:custGeom>
            <a:avLst/>
            <a:gdLst/>
            <a:ahLst/>
            <a:cxnLst/>
            <a:rect l="l" t="t" r="r" b="b"/>
            <a:pathLst>
              <a:path w="36151" h="1536427" extrusionOk="0">
                <a:moveTo>
                  <a:pt x="0" y="0"/>
                </a:moveTo>
                <a:lnTo>
                  <a:pt x="36151" y="0"/>
                </a:lnTo>
                <a:lnTo>
                  <a:pt x="36151" y="1536427"/>
                </a:lnTo>
                <a:lnTo>
                  <a:pt x="0" y="1536427"/>
                </a:lnTo>
                <a:lnTo>
                  <a:pt x="0" y="0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1" name="Google Shape;141;p5"/>
          <p:cNvSpPr/>
          <p:nvPr/>
        </p:nvSpPr>
        <p:spPr>
          <a:xfrm>
            <a:off x="4066871" y="3551858"/>
            <a:ext cx="361512" cy="361512"/>
          </a:xfrm>
          <a:custGeom>
            <a:avLst/>
            <a:gdLst/>
            <a:ahLst/>
            <a:cxnLst/>
            <a:rect l="l" t="t" r="r" b="b"/>
            <a:pathLst>
              <a:path w="361512" h="361512" extrusionOk="0">
                <a:moveTo>
                  <a:pt x="72302" y="0"/>
                </a:moveTo>
                <a:lnTo>
                  <a:pt x="289210" y="0"/>
                </a:lnTo>
                <a:cubicBezTo>
                  <a:pt x="329115" y="0"/>
                  <a:pt x="361512" y="32398"/>
                  <a:pt x="361512" y="72302"/>
                </a:cubicBezTo>
                <a:lnTo>
                  <a:pt x="361512" y="289210"/>
                </a:lnTo>
                <a:cubicBezTo>
                  <a:pt x="361512" y="329115"/>
                  <a:pt x="329115" y="361512"/>
                  <a:pt x="289210" y="361512"/>
                </a:cubicBezTo>
                <a:lnTo>
                  <a:pt x="72302" y="361512"/>
                </a:lnTo>
                <a:cubicBezTo>
                  <a:pt x="32398" y="361512"/>
                  <a:pt x="0" y="329115"/>
                  <a:pt x="0" y="289210"/>
                </a:cubicBezTo>
                <a:lnTo>
                  <a:pt x="0" y="72302"/>
                </a:lnTo>
                <a:cubicBezTo>
                  <a:pt x="0" y="32371"/>
                  <a:pt x="32371" y="0"/>
                  <a:pt x="72302" y="0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5"/>
          <p:cNvSpPr/>
          <p:nvPr/>
        </p:nvSpPr>
        <p:spPr>
          <a:xfrm>
            <a:off x="4178714" y="3651274"/>
            <a:ext cx="142345" cy="162681"/>
          </a:xfrm>
          <a:custGeom>
            <a:avLst/>
            <a:gdLst/>
            <a:ahLst/>
            <a:cxnLst/>
            <a:rect l="l" t="t" r="r" b="b"/>
            <a:pathLst>
              <a:path w="142345" h="162681" extrusionOk="0">
                <a:moveTo>
                  <a:pt x="81340" y="10168"/>
                </a:moveTo>
                <a:cubicBezTo>
                  <a:pt x="81340" y="4544"/>
                  <a:pt x="76797" y="0"/>
                  <a:pt x="71173" y="0"/>
                </a:cubicBezTo>
                <a:cubicBezTo>
                  <a:pt x="65549" y="0"/>
                  <a:pt x="61005" y="4544"/>
                  <a:pt x="61005" y="10168"/>
                </a:cubicBezTo>
                <a:lnTo>
                  <a:pt x="61005" y="77114"/>
                </a:lnTo>
                <a:lnTo>
                  <a:pt x="47851" y="63960"/>
                </a:lnTo>
                <a:cubicBezTo>
                  <a:pt x="43879" y="59988"/>
                  <a:pt x="37429" y="59988"/>
                  <a:pt x="33458" y="63960"/>
                </a:cubicBezTo>
                <a:cubicBezTo>
                  <a:pt x="29486" y="67932"/>
                  <a:pt x="29486" y="74382"/>
                  <a:pt x="33458" y="78354"/>
                </a:cubicBezTo>
                <a:lnTo>
                  <a:pt x="63960" y="108856"/>
                </a:lnTo>
                <a:cubicBezTo>
                  <a:pt x="67932" y="112828"/>
                  <a:pt x="74382" y="112828"/>
                  <a:pt x="78354" y="108856"/>
                </a:cubicBezTo>
                <a:lnTo>
                  <a:pt x="108856" y="78354"/>
                </a:lnTo>
                <a:cubicBezTo>
                  <a:pt x="112828" y="74382"/>
                  <a:pt x="112828" y="67932"/>
                  <a:pt x="108856" y="63960"/>
                </a:cubicBezTo>
                <a:cubicBezTo>
                  <a:pt x="104884" y="59988"/>
                  <a:pt x="98434" y="59988"/>
                  <a:pt x="94463" y="63960"/>
                </a:cubicBezTo>
                <a:lnTo>
                  <a:pt x="81340" y="77114"/>
                </a:lnTo>
                <a:lnTo>
                  <a:pt x="81340" y="10168"/>
                </a:lnTo>
                <a:close/>
                <a:moveTo>
                  <a:pt x="20335" y="101675"/>
                </a:moveTo>
                <a:cubicBezTo>
                  <a:pt x="9119" y="101675"/>
                  <a:pt x="0" y="110794"/>
                  <a:pt x="0" y="122010"/>
                </a:cubicBezTo>
                <a:lnTo>
                  <a:pt x="0" y="132178"/>
                </a:lnTo>
                <a:cubicBezTo>
                  <a:pt x="0" y="143394"/>
                  <a:pt x="9119" y="152513"/>
                  <a:pt x="20335" y="152513"/>
                </a:cubicBezTo>
                <a:lnTo>
                  <a:pt x="122010" y="152513"/>
                </a:lnTo>
                <a:cubicBezTo>
                  <a:pt x="133226" y="152513"/>
                  <a:pt x="142345" y="143394"/>
                  <a:pt x="142345" y="132178"/>
                </a:cubicBezTo>
                <a:lnTo>
                  <a:pt x="142345" y="122010"/>
                </a:lnTo>
                <a:cubicBezTo>
                  <a:pt x="142345" y="110794"/>
                  <a:pt x="133226" y="101675"/>
                  <a:pt x="122010" y="101675"/>
                </a:cubicBezTo>
                <a:lnTo>
                  <a:pt x="107109" y="101675"/>
                </a:lnTo>
                <a:lnTo>
                  <a:pt x="89125" y="119659"/>
                </a:lnTo>
                <a:cubicBezTo>
                  <a:pt x="79211" y="129572"/>
                  <a:pt x="63102" y="129572"/>
                  <a:pt x="53189" y="119659"/>
                </a:cubicBezTo>
                <a:lnTo>
                  <a:pt x="35237" y="101675"/>
                </a:lnTo>
                <a:lnTo>
                  <a:pt x="20335" y="101675"/>
                </a:lnTo>
                <a:close/>
                <a:moveTo>
                  <a:pt x="116927" y="119468"/>
                </a:moveTo>
                <a:cubicBezTo>
                  <a:pt x="121135" y="119468"/>
                  <a:pt x="124552" y="122885"/>
                  <a:pt x="124552" y="127094"/>
                </a:cubicBezTo>
                <a:cubicBezTo>
                  <a:pt x="124552" y="131303"/>
                  <a:pt x="121135" y="134720"/>
                  <a:pt x="116927" y="134720"/>
                </a:cubicBezTo>
                <a:cubicBezTo>
                  <a:pt x="112718" y="134720"/>
                  <a:pt x="109301" y="131303"/>
                  <a:pt x="109301" y="127094"/>
                </a:cubicBezTo>
                <a:cubicBezTo>
                  <a:pt x="109301" y="122885"/>
                  <a:pt x="112718" y="119468"/>
                  <a:pt x="116927" y="119468"/>
                </a:cubicBezTo>
                <a:close/>
              </a:path>
            </a:pathLst>
          </a:custGeom>
          <a:solidFill>
            <a:srgbClr val="E0E2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5"/>
          <p:cNvSpPr/>
          <p:nvPr/>
        </p:nvSpPr>
        <p:spPr>
          <a:xfrm>
            <a:off x="4536837" y="3606085"/>
            <a:ext cx="741100" cy="25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Leechers</a:t>
            </a:r>
            <a:endParaRPr sz="1600" b="0" i="0" u="none" strike="noStrike" cap="none"/>
          </a:p>
        </p:txBody>
      </p:sp>
      <p:sp>
        <p:nvSpPr>
          <p:cNvPr id="144" name="Google Shape;144;p5"/>
          <p:cNvSpPr/>
          <p:nvPr/>
        </p:nvSpPr>
        <p:spPr>
          <a:xfrm>
            <a:off x="4066871" y="4021824"/>
            <a:ext cx="2982476" cy="704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Peers who </a:t>
            </a:r>
            <a:r>
              <a:rPr lang="en-US" sz="1139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only download</a:t>
            </a: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from the network without contributing uploads. Most users are both simultaneously.</a:t>
            </a:r>
            <a:endParaRPr sz="1600" b="0" i="0" u="none" strike="noStrike" cap="none"/>
          </a:p>
        </p:txBody>
      </p:sp>
      <p:sp>
        <p:nvSpPr>
          <p:cNvPr id="145" name="Google Shape;145;p5"/>
          <p:cNvSpPr/>
          <p:nvPr/>
        </p:nvSpPr>
        <p:spPr>
          <a:xfrm>
            <a:off x="366031" y="5092804"/>
            <a:ext cx="6787392" cy="1527389"/>
          </a:xfrm>
          <a:custGeom>
            <a:avLst/>
            <a:gdLst/>
            <a:ahLst/>
            <a:cxnLst/>
            <a:rect l="l" t="t" r="r" b="b"/>
            <a:pathLst>
              <a:path w="6787392" h="1527389" extrusionOk="0">
                <a:moveTo>
                  <a:pt x="108460" y="0"/>
                </a:moveTo>
                <a:lnTo>
                  <a:pt x="6678932" y="0"/>
                </a:lnTo>
                <a:cubicBezTo>
                  <a:pt x="6738833" y="0"/>
                  <a:pt x="6787392" y="48559"/>
                  <a:pt x="6787392" y="108460"/>
                </a:cubicBezTo>
                <a:lnTo>
                  <a:pt x="6787392" y="1418929"/>
                </a:lnTo>
                <a:cubicBezTo>
                  <a:pt x="6787392" y="1478830"/>
                  <a:pt x="6738833" y="1527389"/>
                  <a:pt x="6678932" y="1527389"/>
                </a:cubicBezTo>
                <a:lnTo>
                  <a:pt x="108460" y="1527389"/>
                </a:lnTo>
                <a:cubicBezTo>
                  <a:pt x="48559" y="1527389"/>
                  <a:pt x="0" y="1478830"/>
                  <a:pt x="0" y="1418929"/>
                </a:cubicBezTo>
                <a:lnTo>
                  <a:pt x="0" y="108460"/>
                </a:lnTo>
                <a:cubicBezTo>
                  <a:pt x="0" y="48559"/>
                  <a:pt x="48559" y="0"/>
                  <a:pt x="108460" y="0"/>
                </a:cubicBezTo>
                <a:close/>
              </a:path>
            </a:pathLst>
          </a:custGeom>
          <a:solidFill>
            <a:srgbClr val="788A9C">
              <a:alpha val="10196"/>
            </a:srgbClr>
          </a:solidFill>
          <a:ln w="12700" cap="flat" cmpd="sng">
            <a:solidFill>
              <a:srgbClr val="788A9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5"/>
          <p:cNvSpPr/>
          <p:nvPr/>
        </p:nvSpPr>
        <p:spPr>
          <a:xfrm>
            <a:off x="553566" y="5323268"/>
            <a:ext cx="203351" cy="162681"/>
          </a:xfrm>
          <a:custGeom>
            <a:avLst/>
            <a:gdLst/>
            <a:ahLst/>
            <a:cxnLst/>
            <a:rect l="l" t="t" r="r" b="b"/>
            <a:pathLst>
              <a:path w="203351" h="162681" extrusionOk="0">
                <a:moveTo>
                  <a:pt x="132146" y="66883"/>
                </a:moveTo>
                <a:cubicBezTo>
                  <a:pt x="136023" y="65835"/>
                  <a:pt x="140090" y="67678"/>
                  <a:pt x="141837" y="71268"/>
                </a:cubicBezTo>
                <a:lnTo>
                  <a:pt x="147747" y="83215"/>
                </a:lnTo>
                <a:cubicBezTo>
                  <a:pt x="151020" y="83660"/>
                  <a:pt x="154229" y="84549"/>
                  <a:pt x="157247" y="85789"/>
                </a:cubicBezTo>
                <a:lnTo>
                  <a:pt x="168368" y="78385"/>
                </a:lnTo>
                <a:cubicBezTo>
                  <a:pt x="171704" y="76161"/>
                  <a:pt x="176121" y="76606"/>
                  <a:pt x="178949" y="79434"/>
                </a:cubicBezTo>
                <a:lnTo>
                  <a:pt x="185049" y="85534"/>
                </a:lnTo>
                <a:cubicBezTo>
                  <a:pt x="187877" y="88362"/>
                  <a:pt x="188322" y="92810"/>
                  <a:pt x="186098" y="96115"/>
                </a:cubicBezTo>
                <a:lnTo>
                  <a:pt x="178694" y="107204"/>
                </a:lnTo>
                <a:cubicBezTo>
                  <a:pt x="179298" y="108697"/>
                  <a:pt x="179838" y="110254"/>
                  <a:pt x="180283" y="111875"/>
                </a:cubicBezTo>
                <a:cubicBezTo>
                  <a:pt x="180728" y="113495"/>
                  <a:pt x="181014" y="115084"/>
                  <a:pt x="181236" y="116704"/>
                </a:cubicBezTo>
                <a:lnTo>
                  <a:pt x="193215" y="122614"/>
                </a:lnTo>
                <a:cubicBezTo>
                  <a:pt x="196805" y="124393"/>
                  <a:pt x="198648" y="128460"/>
                  <a:pt x="197600" y="132305"/>
                </a:cubicBezTo>
                <a:lnTo>
                  <a:pt x="195375" y="140630"/>
                </a:lnTo>
                <a:cubicBezTo>
                  <a:pt x="194327" y="144474"/>
                  <a:pt x="190737" y="147080"/>
                  <a:pt x="186733" y="146826"/>
                </a:cubicBezTo>
                <a:lnTo>
                  <a:pt x="173388" y="145968"/>
                </a:lnTo>
                <a:cubicBezTo>
                  <a:pt x="171386" y="148541"/>
                  <a:pt x="169067" y="150924"/>
                  <a:pt x="166430" y="152958"/>
                </a:cubicBezTo>
                <a:lnTo>
                  <a:pt x="167288" y="166271"/>
                </a:lnTo>
                <a:cubicBezTo>
                  <a:pt x="167542" y="170274"/>
                  <a:pt x="164936" y="173897"/>
                  <a:pt x="161092" y="174913"/>
                </a:cubicBezTo>
                <a:lnTo>
                  <a:pt x="152767" y="177137"/>
                </a:lnTo>
                <a:cubicBezTo>
                  <a:pt x="148891" y="178186"/>
                  <a:pt x="144856" y="176343"/>
                  <a:pt x="143076" y="172753"/>
                </a:cubicBezTo>
                <a:lnTo>
                  <a:pt x="137166" y="160806"/>
                </a:lnTo>
                <a:cubicBezTo>
                  <a:pt x="133894" y="160361"/>
                  <a:pt x="130685" y="159471"/>
                  <a:pt x="127666" y="158232"/>
                </a:cubicBezTo>
                <a:lnTo>
                  <a:pt x="116545" y="165635"/>
                </a:lnTo>
                <a:cubicBezTo>
                  <a:pt x="113209" y="167860"/>
                  <a:pt x="108793" y="167415"/>
                  <a:pt x="105965" y="164587"/>
                </a:cubicBezTo>
                <a:lnTo>
                  <a:pt x="99864" y="158486"/>
                </a:lnTo>
                <a:cubicBezTo>
                  <a:pt x="97036" y="155659"/>
                  <a:pt x="96592" y="151242"/>
                  <a:pt x="98816" y="147906"/>
                </a:cubicBezTo>
                <a:lnTo>
                  <a:pt x="106219" y="136785"/>
                </a:lnTo>
                <a:cubicBezTo>
                  <a:pt x="105615" y="135292"/>
                  <a:pt x="105075" y="133735"/>
                  <a:pt x="104630" y="132114"/>
                </a:cubicBezTo>
                <a:cubicBezTo>
                  <a:pt x="104185" y="130494"/>
                  <a:pt x="103899" y="128873"/>
                  <a:pt x="103677" y="127285"/>
                </a:cubicBezTo>
                <a:lnTo>
                  <a:pt x="91698" y="121375"/>
                </a:lnTo>
                <a:cubicBezTo>
                  <a:pt x="88108" y="119596"/>
                  <a:pt x="86297" y="115529"/>
                  <a:pt x="87314" y="111684"/>
                </a:cubicBezTo>
                <a:lnTo>
                  <a:pt x="89538" y="103359"/>
                </a:lnTo>
                <a:cubicBezTo>
                  <a:pt x="90586" y="99515"/>
                  <a:pt x="94177" y="96909"/>
                  <a:pt x="98180" y="97163"/>
                </a:cubicBezTo>
                <a:lnTo>
                  <a:pt x="111493" y="98021"/>
                </a:lnTo>
                <a:cubicBezTo>
                  <a:pt x="113495" y="95448"/>
                  <a:pt x="115815" y="93065"/>
                  <a:pt x="118452" y="91031"/>
                </a:cubicBezTo>
                <a:lnTo>
                  <a:pt x="117594" y="77750"/>
                </a:lnTo>
                <a:cubicBezTo>
                  <a:pt x="117340" y="73746"/>
                  <a:pt x="119945" y="70124"/>
                  <a:pt x="123790" y="69107"/>
                </a:cubicBezTo>
                <a:lnTo>
                  <a:pt x="132114" y="66883"/>
                </a:lnTo>
                <a:close/>
                <a:moveTo>
                  <a:pt x="142473" y="108030"/>
                </a:moveTo>
                <a:cubicBezTo>
                  <a:pt x="134757" y="108039"/>
                  <a:pt x="128499" y="114310"/>
                  <a:pt x="128508" y="122026"/>
                </a:cubicBezTo>
                <a:cubicBezTo>
                  <a:pt x="128517" y="129742"/>
                  <a:pt x="134788" y="136000"/>
                  <a:pt x="142504" y="135991"/>
                </a:cubicBezTo>
                <a:cubicBezTo>
                  <a:pt x="150220" y="135982"/>
                  <a:pt x="156478" y="129710"/>
                  <a:pt x="156469" y="121994"/>
                </a:cubicBezTo>
                <a:cubicBezTo>
                  <a:pt x="156460" y="114279"/>
                  <a:pt x="150189" y="108021"/>
                  <a:pt x="142473" y="108030"/>
                </a:cubicBezTo>
                <a:close/>
                <a:moveTo>
                  <a:pt x="71459" y="-14457"/>
                </a:moveTo>
                <a:lnTo>
                  <a:pt x="79783" y="-12233"/>
                </a:lnTo>
                <a:cubicBezTo>
                  <a:pt x="83628" y="-11184"/>
                  <a:pt x="86233" y="-7562"/>
                  <a:pt x="85979" y="-3590"/>
                </a:cubicBezTo>
                <a:lnTo>
                  <a:pt x="85121" y="9691"/>
                </a:lnTo>
                <a:cubicBezTo>
                  <a:pt x="87759" y="11724"/>
                  <a:pt x="90078" y="14076"/>
                  <a:pt x="92080" y="16681"/>
                </a:cubicBezTo>
                <a:lnTo>
                  <a:pt x="105425" y="15823"/>
                </a:lnTo>
                <a:cubicBezTo>
                  <a:pt x="109396" y="15569"/>
                  <a:pt x="113018" y="18174"/>
                  <a:pt x="114067" y="22019"/>
                </a:cubicBezTo>
                <a:lnTo>
                  <a:pt x="116291" y="30344"/>
                </a:lnTo>
                <a:cubicBezTo>
                  <a:pt x="117308" y="34188"/>
                  <a:pt x="115497" y="38255"/>
                  <a:pt x="111906" y="40035"/>
                </a:cubicBezTo>
                <a:lnTo>
                  <a:pt x="99928" y="45945"/>
                </a:lnTo>
                <a:cubicBezTo>
                  <a:pt x="99705" y="47565"/>
                  <a:pt x="99388" y="49185"/>
                  <a:pt x="98975" y="50774"/>
                </a:cubicBezTo>
                <a:cubicBezTo>
                  <a:pt x="98562" y="52363"/>
                  <a:pt x="97990" y="53951"/>
                  <a:pt x="97386" y="55445"/>
                </a:cubicBezTo>
                <a:lnTo>
                  <a:pt x="104789" y="66566"/>
                </a:lnTo>
                <a:cubicBezTo>
                  <a:pt x="107013" y="69902"/>
                  <a:pt x="106568" y="74318"/>
                  <a:pt x="103741" y="77146"/>
                </a:cubicBezTo>
                <a:lnTo>
                  <a:pt x="97640" y="83247"/>
                </a:lnTo>
                <a:cubicBezTo>
                  <a:pt x="94812" y="86075"/>
                  <a:pt x="90396" y="86519"/>
                  <a:pt x="87059" y="84295"/>
                </a:cubicBezTo>
                <a:lnTo>
                  <a:pt x="75939" y="76892"/>
                </a:lnTo>
                <a:cubicBezTo>
                  <a:pt x="72920" y="78131"/>
                  <a:pt x="69711" y="79021"/>
                  <a:pt x="66438" y="79466"/>
                </a:cubicBezTo>
                <a:lnTo>
                  <a:pt x="60529" y="91412"/>
                </a:lnTo>
                <a:cubicBezTo>
                  <a:pt x="58749" y="95003"/>
                  <a:pt x="54682" y="96814"/>
                  <a:pt x="50838" y="95797"/>
                </a:cubicBezTo>
                <a:lnTo>
                  <a:pt x="42513" y="93573"/>
                </a:lnTo>
                <a:cubicBezTo>
                  <a:pt x="38637" y="92525"/>
                  <a:pt x="36063" y="88902"/>
                  <a:pt x="36317" y="84931"/>
                </a:cubicBezTo>
                <a:lnTo>
                  <a:pt x="37175" y="71618"/>
                </a:lnTo>
                <a:cubicBezTo>
                  <a:pt x="34538" y="69584"/>
                  <a:pt x="32218" y="67233"/>
                  <a:pt x="30217" y="64627"/>
                </a:cubicBezTo>
                <a:lnTo>
                  <a:pt x="16872" y="65485"/>
                </a:lnTo>
                <a:cubicBezTo>
                  <a:pt x="12900" y="65739"/>
                  <a:pt x="9278" y="63134"/>
                  <a:pt x="8229" y="59289"/>
                </a:cubicBezTo>
                <a:lnTo>
                  <a:pt x="6005" y="50965"/>
                </a:lnTo>
                <a:cubicBezTo>
                  <a:pt x="4988" y="47120"/>
                  <a:pt x="6800" y="43053"/>
                  <a:pt x="10390" y="41274"/>
                </a:cubicBezTo>
                <a:lnTo>
                  <a:pt x="22369" y="35364"/>
                </a:lnTo>
                <a:cubicBezTo>
                  <a:pt x="22591" y="33743"/>
                  <a:pt x="22909" y="32155"/>
                  <a:pt x="23322" y="30534"/>
                </a:cubicBezTo>
                <a:cubicBezTo>
                  <a:pt x="23767" y="28914"/>
                  <a:pt x="24275" y="27357"/>
                  <a:pt x="24910" y="25864"/>
                </a:cubicBezTo>
                <a:lnTo>
                  <a:pt x="17507" y="14775"/>
                </a:lnTo>
                <a:cubicBezTo>
                  <a:pt x="15283" y="11438"/>
                  <a:pt x="15728" y="7022"/>
                  <a:pt x="18556" y="4194"/>
                </a:cubicBezTo>
                <a:lnTo>
                  <a:pt x="24656" y="-1906"/>
                </a:lnTo>
                <a:cubicBezTo>
                  <a:pt x="27484" y="-4734"/>
                  <a:pt x="31901" y="-5179"/>
                  <a:pt x="35237" y="-2955"/>
                </a:cubicBezTo>
                <a:lnTo>
                  <a:pt x="46358" y="4448"/>
                </a:lnTo>
                <a:cubicBezTo>
                  <a:pt x="49376" y="3209"/>
                  <a:pt x="52585" y="2319"/>
                  <a:pt x="55858" y="1875"/>
                </a:cubicBezTo>
                <a:lnTo>
                  <a:pt x="61768" y="-10072"/>
                </a:lnTo>
                <a:cubicBezTo>
                  <a:pt x="63547" y="-13663"/>
                  <a:pt x="67582" y="-15474"/>
                  <a:pt x="71459" y="-14457"/>
                </a:cubicBezTo>
                <a:close/>
                <a:moveTo>
                  <a:pt x="61132" y="26690"/>
                </a:moveTo>
                <a:cubicBezTo>
                  <a:pt x="53416" y="26690"/>
                  <a:pt x="47152" y="32954"/>
                  <a:pt x="47152" y="40670"/>
                </a:cubicBezTo>
                <a:cubicBezTo>
                  <a:pt x="47152" y="48386"/>
                  <a:pt x="53416" y="54650"/>
                  <a:pt x="61132" y="54650"/>
                </a:cubicBezTo>
                <a:cubicBezTo>
                  <a:pt x="68848" y="54650"/>
                  <a:pt x="75113" y="48386"/>
                  <a:pt x="75113" y="40670"/>
                </a:cubicBezTo>
                <a:cubicBezTo>
                  <a:pt x="75113" y="32954"/>
                  <a:pt x="68848" y="26690"/>
                  <a:pt x="61132" y="2669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5"/>
          <p:cNvSpPr/>
          <p:nvPr/>
        </p:nvSpPr>
        <p:spPr>
          <a:xfrm>
            <a:off x="759176" y="5278079"/>
            <a:ext cx="6290313" cy="25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How BitTorrent Works</a:t>
            </a:r>
            <a:endParaRPr sz="1600" b="0" i="0" u="none" strike="noStrike" cap="none"/>
          </a:p>
        </p:txBody>
      </p:sp>
      <p:sp>
        <p:nvSpPr>
          <p:cNvPr id="148" name="Google Shape;148;p5"/>
          <p:cNvSpPr/>
          <p:nvPr/>
        </p:nvSpPr>
        <p:spPr>
          <a:xfrm>
            <a:off x="551306" y="5639591"/>
            <a:ext cx="153643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 sz="1600" b="0" i="0" u="none" strike="noStrike" cap="none"/>
          </a:p>
        </p:txBody>
      </p:sp>
      <p:sp>
        <p:nvSpPr>
          <p:cNvPr id="149" name="Google Shape;149;p5"/>
          <p:cNvSpPr/>
          <p:nvPr/>
        </p:nvSpPr>
        <p:spPr>
          <a:xfrm>
            <a:off x="703537" y="5639591"/>
            <a:ext cx="2304640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Download .torrent file from website</a:t>
            </a:r>
            <a:endParaRPr sz="1600" b="0" i="0" u="none" strike="noStrike" cap="none"/>
          </a:p>
        </p:txBody>
      </p:sp>
      <p:sp>
        <p:nvSpPr>
          <p:cNvPr id="150" name="Google Shape;150;p5"/>
          <p:cNvSpPr/>
          <p:nvPr/>
        </p:nvSpPr>
        <p:spPr>
          <a:xfrm>
            <a:off x="3831888" y="5639591"/>
            <a:ext cx="180756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 sz="1600" b="0" i="0" u="none" strike="noStrike" cap="none"/>
          </a:p>
        </p:txBody>
      </p:sp>
      <p:sp>
        <p:nvSpPr>
          <p:cNvPr id="151" name="Google Shape;151;p5"/>
          <p:cNvSpPr/>
          <p:nvPr/>
        </p:nvSpPr>
        <p:spPr>
          <a:xfrm>
            <a:off x="4011797" y="5639591"/>
            <a:ext cx="1970242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Read tracker server IP address</a:t>
            </a:r>
            <a:endParaRPr sz="1600" b="0" i="0" u="none" strike="noStrike" cap="none"/>
          </a:p>
        </p:txBody>
      </p:sp>
      <p:sp>
        <p:nvSpPr>
          <p:cNvPr id="152" name="Google Shape;152;p5"/>
          <p:cNvSpPr/>
          <p:nvPr/>
        </p:nvSpPr>
        <p:spPr>
          <a:xfrm>
            <a:off x="551306" y="5928801"/>
            <a:ext cx="180756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</a:t>
            </a:r>
            <a:endParaRPr sz="1600" b="0" i="0" u="none" strike="noStrike" cap="none"/>
          </a:p>
        </p:txBody>
      </p:sp>
      <p:sp>
        <p:nvSpPr>
          <p:cNvPr id="153" name="Google Shape;153;p5"/>
          <p:cNvSpPr/>
          <p:nvPr/>
        </p:nvSpPr>
        <p:spPr>
          <a:xfrm>
            <a:off x="735028" y="5928801"/>
            <a:ext cx="2304640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Connect to tracker, announce intent</a:t>
            </a:r>
            <a:endParaRPr sz="1600" b="0" i="0" u="none" strike="noStrike" cap="none"/>
          </a:p>
        </p:txBody>
      </p:sp>
      <p:sp>
        <p:nvSpPr>
          <p:cNvPr id="154" name="Google Shape;154;p5"/>
          <p:cNvSpPr/>
          <p:nvPr/>
        </p:nvSpPr>
        <p:spPr>
          <a:xfrm>
            <a:off x="3831888" y="5928801"/>
            <a:ext cx="180756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</a:t>
            </a:r>
            <a:endParaRPr sz="1600" b="0" i="0" u="none" strike="noStrike" cap="none"/>
          </a:p>
        </p:txBody>
      </p:sp>
      <p:sp>
        <p:nvSpPr>
          <p:cNvPr id="155" name="Google Shape;155;p5"/>
          <p:cNvSpPr/>
          <p:nvPr/>
        </p:nvSpPr>
        <p:spPr>
          <a:xfrm>
            <a:off x="4011656" y="5928801"/>
            <a:ext cx="2060620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Receive peer list (50 addresses)</a:t>
            </a:r>
            <a:endParaRPr sz="1600" b="0" i="0" u="none" strike="noStrike" cap="none"/>
          </a:p>
        </p:txBody>
      </p:sp>
      <p:sp>
        <p:nvSpPr>
          <p:cNvPr id="156" name="Google Shape;156;p5"/>
          <p:cNvSpPr/>
          <p:nvPr/>
        </p:nvSpPr>
        <p:spPr>
          <a:xfrm>
            <a:off x="551306" y="6218010"/>
            <a:ext cx="180756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</a:t>
            </a:r>
            <a:endParaRPr sz="1600" b="0" i="0" u="none" strike="noStrike" cap="none"/>
          </a:p>
        </p:txBody>
      </p:sp>
      <p:sp>
        <p:nvSpPr>
          <p:cNvPr id="157" name="Google Shape;157;p5"/>
          <p:cNvSpPr/>
          <p:nvPr/>
        </p:nvSpPr>
        <p:spPr>
          <a:xfrm>
            <a:off x="735451" y="6218010"/>
            <a:ext cx="3533782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Download file parts from multiple peers simultaneously</a:t>
            </a:r>
            <a:endParaRPr sz="1600" b="0" i="0" u="none" strike="noStrike" cap="none"/>
          </a:p>
        </p:txBody>
      </p:sp>
      <p:sp>
        <p:nvSpPr>
          <p:cNvPr id="158" name="Google Shape;158;p5"/>
          <p:cNvSpPr/>
          <p:nvPr/>
        </p:nvSpPr>
        <p:spPr>
          <a:xfrm>
            <a:off x="7379227" y="1278850"/>
            <a:ext cx="4446600" cy="5341343"/>
          </a:xfrm>
          <a:custGeom>
            <a:avLst/>
            <a:gdLst/>
            <a:ahLst/>
            <a:cxnLst/>
            <a:rect l="l" t="t" r="r" b="b"/>
            <a:pathLst>
              <a:path w="4446600" h="5341343" extrusionOk="0">
                <a:moveTo>
                  <a:pt x="144603" y="0"/>
                </a:moveTo>
                <a:lnTo>
                  <a:pt x="4301997" y="0"/>
                </a:lnTo>
                <a:cubicBezTo>
                  <a:pt x="4381859" y="0"/>
                  <a:pt x="4446600" y="64741"/>
                  <a:pt x="4446600" y="144603"/>
                </a:cubicBezTo>
                <a:lnTo>
                  <a:pt x="4446600" y="5196740"/>
                </a:lnTo>
                <a:cubicBezTo>
                  <a:pt x="4446600" y="5276602"/>
                  <a:pt x="4381859" y="5341343"/>
                  <a:pt x="4301997" y="5341343"/>
                </a:cubicBezTo>
                <a:lnTo>
                  <a:pt x="144603" y="5341343"/>
                </a:lnTo>
                <a:cubicBezTo>
                  <a:pt x="64741" y="5341343"/>
                  <a:pt x="0" y="5276602"/>
                  <a:pt x="0" y="5196740"/>
                </a:cubicBezTo>
                <a:lnTo>
                  <a:pt x="0" y="144603"/>
                </a:lnTo>
                <a:cubicBezTo>
                  <a:pt x="0" y="64795"/>
                  <a:pt x="64795" y="0"/>
                  <a:pt x="144603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788A9C">
                  <a:alpha val="10196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5"/>
          <p:cNvSpPr/>
          <p:nvPr/>
        </p:nvSpPr>
        <p:spPr>
          <a:xfrm>
            <a:off x="7555464" y="1500276"/>
            <a:ext cx="4094126" cy="25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3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The Swarm Network</a:t>
            </a:r>
            <a:endParaRPr sz="1600" b="0" i="0" u="none" strike="noStrike" cap="none"/>
          </a:p>
        </p:txBody>
      </p:sp>
      <p:sp>
        <p:nvSpPr>
          <p:cNvPr id="160" name="Google Shape;160;p5"/>
          <p:cNvSpPr/>
          <p:nvPr/>
        </p:nvSpPr>
        <p:spPr>
          <a:xfrm>
            <a:off x="7609691" y="2675191"/>
            <a:ext cx="1220104" cy="813403"/>
          </a:xfrm>
          <a:custGeom>
            <a:avLst/>
            <a:gdLst/>
            <a:ahLst/>
            <a:cxnLst/>
            <a:rect l="l" t="t" r="r" b="b"/>
            <a:pathLst>
              <a:path w="1220104" h="813403" extrusionOk="0">
                <a:moveTo>
                  <a:pt x="108451" y="0"/>
                </a:moveTo>
                <a:lnTo>
                  <a:pt x="1111653" y="0"/>
                </a:lnTo>
                <a:cubicBezTo>
                  <a:pt x="1171549" y="0"/>
                  <a:pt x="1220104" y="48555"/>
                  <a:pt x="1220104" y="108451"/>
                </a:cubicBezTo>
                <a:lnTo>
                  <a:pt x="1220104" y="704952"/>
                </a:lnTo>
                <a:cubicBezTo>
                  <a:pt x="1220104" y="764847"/>
                  <a:pt x="1171549" y="813403"/>
                  <a:pt x="1111653" y="813403"/>
                </a:cubicBezTo>
                <a:lnTo>
                  <a:pt x="108451" y="813403"/>
                </a:lnTo>
                <a:cubicBezTo>
                  <a:pt x="48595" y="813403"/>
                  <a:pt x="0" y="764807"/>
                  <a:pt x="0" y="704952"/>
                </a:cubicBezTo>
                <a:lnTo>
                  <a:pt x="0" y="108451"/>
                </a:lnTo>
                <a:cubicBezTo>
                  <a:pt x="0" y="48595"/>
                  <a:pt x="48595" y="0"/>
                  <a:pt x="10845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25400" cap="flat" cmpd="sng">
            <a:solidFill>
              <a:srgbClr val="4A6C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5"/>
          <p:cNvSpPr/>
          <p:nvPr/>
        </p:nvSpPr>
        <p:spPr>
          <a:xfrm>
            <a:off x="8084600" y="2792682"/>
            <a:ext cx="271134" cy="216907"/>
          </a:xfrm>
          <a:custGeom>
            <a:avLst/>
            <a:gdLst/>
            <a:ahLst/>
            <a:cxnLst/>
            <a:rect l="l" t="t" r="r" b="b"/>
            <a:pathLst>
              <a:path w="271134" h="216907" extrusionOk="0">
                <a:moveTo>
                  <a:pt x="54227" y="13557"/>
                </a:moveTo>
                <a:cubicBezTo>
                  <a:pt x="39272" y="13557"/>
                  <a:pt x="27113" y="25715"/>
                  <a:pt x="27113" y="40670"/>
                </a:cubicBezTo>
                <a:lnTo>
                  <a:pt x="27113" y="142345"/>
                </a:lnTo>
                <a:lnTo>
                  <a:pt x="54227" y="142345"/>
                </a:lnTo>
                <a:lnTo>
                  <a:pt x="54227" y="40670"/>
                </a:lnTo>
                <a:lnTo>
                  <a:pt x="216907" y="40670"/>
                </a:lnTo>
                <a:lnTo>
                  <a:pt x="216907" y="142345"/>
                </a:lnTo>
                <a:lnTo>
                  <a:pt x="244021" y="142345"/>
                </a:lnTo>
                <a:lnTo>
                  <a:pt x="244021" y="40670"/>
                </a:lnTo>
                <a:cubicBezTo>
                  <a:pt x="244021" y="25715"/>
                  <a:pt x="231862" y="13557"/>
                  <a:pt x="216907" y="13557"/>
                </a:cubicBezTo>
                <a:lnTo>
                  <a:pt x="54227" y="13557"/>
                </a:lnTo>
                <a:close/>
                <a:moveTo>
                  <a:pt x="8134" y="162681"/>
                </a:moveTo>
                <a:cubicBezTo>
                  <a:pt x="3643" y="162681"/>
                  <a:pt x="0" y="166324"/>
                  <a:pt x="0" y="170815"/>
                </a:cubicBezTo>
                <a:cubicBezTo>
                  <a:pt x="0" y="188777"/>
                  <a:pt x="14573" y="203351"/>
                  <a:pt x="32536" y="203351"/>
                </a:cubicBezTo>
                <a:lnTo>
                  <a:pt x="238598" y="203351"/>
                </a:lnTo>
                <a:cubicBezTo>
                  <a:pt x="256561" y="203351"/>
                  <a:pt x="271134" y="188777"/>
                  <a:pt x="271134" y="170815"/>
                </a:cubicBezTo>
                <a:cubicBezTo>
                  <a:pt x="271134" y="166324"/>
                  <a:pt x="267491" y="162681"/>
                  <a:pt x="263000" y="162681"/>
                </a:cubicBezTo>
                <a:lnTo>
                  <a:pt x="8134" y="162681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5"/>
          <p:cNvSpPr/>
          <p:nvPr/>
        </p:nvSpPr>
        <p:spPr>
          <a:xfrm>
            <a:off x="7695550" y="3045741"/>
            <a:ext cx="1048385" cy="180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6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Peer A</a:t>
            </a:r>
            <a:endParaRPr sz="1600" b="0" i="0" u="none" strike="noStrike" cap="none"/>
          </a:p>
        </p:txBody>
      </p:sp>
      <p:sp>
        <p:nvSpPr>
          <p:cNvPr id="163" name="Google Shape;163;p5"/>
          <p:cNvSpPr/>
          <p:nvPr/>
        </p:nvSpPr>
        <p:spPr>
          <a:xfrm>
            <a:off x="7700069" y="3226497"/>
            <a:ext cx="1039348" cy="144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Seeder</a:t>
            </a:r>
            <a:endParaRPr sz="1600" b="0" i="0" u="none" strike="noStrike" cap="none"/>
          </a:p>
        </p:txBody>
      </p:sp>
      <p:sp>
        <p:nvSpPr>
          <p:cNvPr id="164" name="Google Shape;164;p5"/>
          <p:cNvSpPr/>
          <p:nvPr/>
        </p:nvSpPr>
        <p:spPr>
          <a:xfrm>
            <a:off x="8993464" y="2675191"/>
            <a:ext cx="1220104" cy="813403"/>
          </a:xfrm>
          <a:custGeom>
            <a:avLst/>
            <a:gdLst/>
            <a:ahLst/>
            <a:cxnLst/>
            <a:rect l="l" t="t" r="r" b="b"/>
            <a:pathLst>
              <a:path w="1220104" h="813403" extrusionOk="0">
                <a:moveTo>
                  <a:pt x="108451" y="0"/>
                </a:moveTo>
                <a:lnTo>
                  <a:pt x="1111653" y="0"/>
                </a:lnTo>
                <a:cubicBezTo>
                  <a:pt x="1171549" y="0"/>
                  <a:pt x="1220104" y="48555"/>
                  <a:pt x="1220104" y="108451"/>
                </a:cubicBezTo>
                <a:lnTo>
                  <a:pt x="1220104" y="704952"/>
                </a:lnTo>
                <a:cubicBezTo>
                  <a:pt x="1220104" y="764847"/>
                  <a:pt x="1171549" y="813403"/>
                  <a:pt x="1111653" y="813403"/>
                </a:cubicBezTo>
                <a:lnTo>
                  <a:pt x="108451" y="813403"/>
                </a:lnTo>
                <a:cubicBezTo>
                  <a:pt x="48595" y="813403"/>
                  <a:pt x="0" y="764807"/>
                  <a:pt x="0" y="704952"/>
                </a:cubicBezTo>
                <a:lnTo>
                  <a:pt x="0" y="108451"/>
                </a:lnTo>
                <a:cubicBezTo>
                  <a:pt x="0" y="48595"/>
                  <a:pt x="48595" y="0"/>
                  <a:pt x="10845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25400" cap="flat" cmpd="sng">
            <a:solidFill>
              <a:srgbClr val="4A6C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5"/>
          <p:cNvSpPr/>
          <p:nvPr/>
        </p:nvSpPr>
        <p:spPr>
          <a:xfrm>
            <a:off x="9468372" y="2792682"/>
            <a:ext cx="271134" cy="216907"/>
          </a:xfrm>
          <a:custGeom>
            <a:avLst/>
            <a:gdLst/>
            <a:ahLst/>
            <a:cxnLst/>
            <a:rect l="l" t="t" r="r" b="b"/>
            <a:pathLst>
              <a:path w="271134" h="216907" extrusionOk="0">
                <a:moveTo>
                  <a:pt x="54227" y="13557"/>
                </a:moveTo>
                <a:cubicBezTo>
                  <a:pt x="39272" y="13557"/>
                  <a:pt x="27113" y="25715"/>
                  <a:pt x="27113" y="40670"/>
                </a:cubicBezTo>
                <a:lnTo>
                  <a:pt x="27113" y="142345"/>
                </a:lnTo>
                <a:lnTo>
                  <a:pt x="54227" y="142345"/>
                </a:lnTo>
                <a:lnTo>
                  <a:pt x="54227" y="40670"/>
                </a:lnTo>
                <a:lnTo>
                  <a:pt x="216907" y="40670"/>
                </a:lnTo>
                <a:lnTo>
                  <a:pt x="216907" y="142345"/>
                </a:lnTo>
                <a:lnTo>
                  <a:pt x="244021" y="142345"/>
                </a:lnTo>
                <a:lnTo>
                  <a:pt x="244021" y="40670"/>
                </a:lnTo>
                <a:cubicBezTo>
                  <a:pt x="244021" y="25715"/>
                  <a:pt x="231862" y="13557"/>
                  <a:pt x="216907" y="13557"/>
                </a:cubicBezTo>
                <a:lnTo>
                  <a:pt x="54227" y="13557"/>
                </a:lnTo>
                <a:close/>
                <a:moveTo>
                  <a:pt x="8134" y="162681"/>
                </a:moveTo>
                <a:cubicBezTo>
                  <a:pt x="3643" y="162681"/>
                  <a:pt x="0" y="166324"/>
                  <a:pt x="0" y="170815"/>
                </a:cubicBezTo>
                <a:cubicBezTo>
                  <a:pt x="0" y="188777"/>
                  <a:pt x="14573" y="203351"/>
                  <a:pt x="32536" y="203351"/>
                </a:cubicBezTo>
                <a:lnTo>
                  <a:pt x="238598" y="203351"/>
                </a:lnTo>
                <a:cubicBezTo>
                  <a:pt x="256561" y="203351"/>
                  <a:pt x="271134" y="188777"/>
                  <a:pt x="271134" y="170815"/>
                </a:cubicBezTo>
                <a:cubicBezTo>
                  <a:pt x="271134" y="166324"/>
                  <a:pt x="267491" y="162681"/>
                  <a:pt x="263000" y="162681"/>
                </a:cubicBezTo>
                <a:lnTo>
                  <a:pt x="8134" y="162681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5"/>
          <p:cNvSpPr/>
          <p:nvPr/>
        </p:nvSpPr>
        <p:spPr>
          <a:xfrm>
            <a:off x="9079323" y="3045741"/>
            <a:ext cx="1048385" cy="180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6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Peer B</a:t>
            </a:r>
            <a:endParaRPr sz="1600" b="0" i="0" u="none" strike="noStrike" cap="none"/>
          </a:p>
        </p:txBody>
      </p:sp>
      <p:sp>
        <p:nvSpPr>
          <p:cNvPr id="167" name="Google Shape;167;p5"/>
          <p:cNvSpPr/>
          <p:nvPr/>
        </p:nvSpPr>
        <p:spPr>
          <a:xfrm>
            <a:off x="9083842" y="3226497"/>
            <a:ext cx="1039348" cy="144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Leecher</a:t>
            </a:r>
            <a:endParaRPr sz="1600" b="0" i="0" u="none" strike="noStrike" cap="none"/>
          </a:p>
        </p:txBody>
      </p:sp>
      <p:sp>
        <p:nvSpPr>
          <p:cNvPr id="168" name="Google Shape;168;p5"/>
          <p:cNvSpPr/>
          <p:nvPr/>
        </p:nvSpPr>
        <p:spPr>
          <a:xfrm>
            <a:off x="10377237" y="2675191"/>
            <a:ext cx="1220104" cy="813403"/>
          </a:xfrm>
          <a:custGeom>
            <a:avLst/>
            <a:gdLst/>
            <a:ahLst/>
            <a:cxnLst/>
            <a:rect l="l" t="t" r="r" b="b"/>
            <a:pathLst>
              <a:path w="1220104" h="813403" extrusionOk="0">
                <a:moveTo>
                  <a:pt x="108451" y="0"/>
                </a:moveTo>
                <a:lnTo>
                  <a:pt x="1111653" y="0"/>
                </a:lnTo>
                <a:cubicBezTo>
                  <a:pt x="1171549" y="0"/>
                  <a:pt x="1220104" y="48555"/>
                  <a:pt x="1220104" y="108451"/>
                </a:cubicBezTo>
                <a:lnTo>
                  <a:pt x="1220104" y="704952"/>
                </a:lnTo>
                <a:cubicBezTo>
                  <a:pt x="1220104" y="764847"/>
                  <a:pt x="1171549" y="813403"/>
                  <a:pt x="1111653" y="813403"/>
                </a:cubicBezTo>
                <a:lnTo>
                  <a:pt x="108451" y="813403"/>
                </a:lnTo>
                <a:cubicBezTo>
                  <a:pt x="48595" y="813403"/>
                  <a:pt x="0" y="764807"/>
                  <a:pt x="0" y="704952"/>
                </a:cubicBezTo>
                <a:lnTo>
                  <a:pt x="0" y="108451"/>
                </a:lnTo>
                <a:cubicBezTo>
                  <a:pt x="0" y="48595"/>
                  <a:pt x="48595" y="0"/>
                  <a:pt x="10845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25400" cap="flat" cmpd="sng">
            <a:solidFill>
              <a:srgbClr val="4A6C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5"/>
          <p:cNvSpPr/>
          <p:nvPr/>
        </p:nvSpPr>
        <p:spPr>
          <a:xfrm>
            <a:off x="10852145" y="2792682"/>
            <a:ext cx="271134" cy="216907"/>
          </a:xfrm>
          <a:custGeom>
            <a:avLst/>
            <a:gdLst/>
            <a:ahLst/>
            <a:cxnLst/>
            <a:rect l="l" t="t" r="r" b="b"/>
            <a:pathLst>
              <a:path w="271134" h="216907" extrusionOk="0">
                <a:moveTo>
                  <a:pt x="54227" y="13557"/>
                </a:moveTo>
                <a:cubicBezTo>
                  <a:pt x="39272" y="13557"/>
                  <a:pt x="27113" y="25715"/>
                  <a:pt x="27113" y="40670"/>
                </a:cubicBezTo>
                <a:lnTo>
                  <a:pt x="27113" y="142345"/>
                </a:lnTo>
                <a:lnTo>
                  <a:pt x="54227" y="142345"/>
                </a:lnTo>
                <a:lnTo>
                  <a:pt x="54227" y="40670"/>
                </a:lnTo>
                <a:lnTo>
                  <a:pt x="216907" y="40670"/>
                </a:lnTo>
                <a:lnTo>
                  <a:pt x="216907" y="142345"/>
                </a:lnTo>
                <a:lnTo>
                  <a:pt x="244021" y="142345"/>
                </a:lnTo>
                <a:lnTo>
                  <a:pt x="244021" y="40670"/>
                </a:lnTo>
                <a:cubicBezTo>
                  <a:pt x="244021" y="25715"/>
                  <a:pt x="231862" y="13557"/>
                  <a:pt x="216907" y="13557"/>
                </a:cubicBezTo>
                <a:lnTo>
                  <a:pt x="54227" y="13557"/>
                </a:lnTo>
                <a:close/>
                <a:moveTo>
                  <a:pt x="8134" y="162681"/>
                </a:moveTo>
                <a:cubicBezTo>
                  <a:pt x="3643" y="162681"/>
                  <a:pt x="0" y="166324"/>
                  <a:pt x="0" y="170815"/>
                </a:cubicBezTo>
                <a:cubicBezTo>
                  <a:pt x="0" y="188777"/>
                  <a:pt x="14573" y="203351"/>
                  <a:pt x="32536" y="203351"/>
                </a:cubicBezTo>
                <a:lnTo>
                  <a:pt x="238598" y="203351"/>
                </a:lnTo>
                <a:cubicBezTo>
                  <a:pt x="256561" y="203351"/>
                  <a:pt x="271134" y="188777"/>
                  <a:pt x="271134" y="170815"/>
                </a:cubicBezTo>
                <a:cubicBezTo>
                  <a:pt x="271134" y="166324"/>
                  <a:pt x="267491" y="162681"/>
                  <a:pt x="263000" y="162681"/>
                </a:cubicBezTo>
                <a:lnTo>
                  <a:pt x="8134" y="162681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5"/>
          <p:cNvSpPr/>
          <p:nvPr/>
        </p:nvSpPr>
        <p:spPr>
          <a:xfrm>
            <a:off x="10463096" y="3045741"/>
            <a:ext cx="1048385" cy="180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6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Peer C</a:t>
            </a:r>
            <a:endParaRPr sz="1600" b="0" i="0" u="none" strike="noStrike" cap="none"/>
          </a:p>
        </p:txBody>
      </p:sp>
      <p:sp>
        <p:nvSpPr>
          <p:cNvPr id="171" name="Google Shape;171;p5"/>
          <p:cNvSpPr/>
          <p:nvPr/>
        </p:nvSpPr>
        <p:spPr>
          <a:xfrm>
            <a:off x="10467615" y="3226497"/>
            <a:ext cx="1039348" cy="144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Both</a:t>
            </a:r>
            <a:endParaRPr sz="1600" b="0" i="0" u="none" strike="noStrike" cap="none"/>
          </a:p>
        </p:txBody>
      </p:sp>
      <p:sp>
        <p:nvSpPr>
          <p:cNvPr id="172" name="Google Shape;172;p5"/>
          <p:cNvSpPr/>
          <p:nvPr/>
        </p:nvSpPr>
        <p:spPr>
          <a:xfrm>
            <a:off x="7609691" y="3651274"/>
            <a:ext cx="1220104" cy="813403"/>
          </a:xfrm>
          <a:custGeom>
            <a:avLst/>
            <a:gdLst/>
            <a:ahLst/>
            <a:cxnLst/>
            <a:rect l="l" t="t" r="r" b="b"/>
            <a:pathLst>
              <a:path w="1220104" h="813403" extrusionOk="0">
                <a:moveTo>
                  <a:pt x="108451" y="0"/>
                </a:moveTo>
                <a:lnTo>
                  <a:pt x="1111653" y="0"/>
                </a:lnTo>
                <a:cubicBezTo>
                  <a:pt x="1171549" y="0"/>
                  <a:pt x="1220104" y="48555"/>
                  <a:pt x="1220104" y="108451"/>
                </a:cubicBezTo>
                <a:lnTo>
                  <a:pt x="1220104" y="704952"/>
                </a:lnTo>
                <a:cubicBezTo>
                  <a:pt x="1220104" y="764847"/>
                  <a:pt x="1171549" y="813403"/>
                  <a:pt x="1111653" y="813403"/>
                </a:cubicBezTo>
                <a:lnTo>
                  <a:pt x="108451" y="813403"/>
                </a:lnTo>
                <a:cubicBezTo>
                  <a:pt x="48595" y="813403"/>
                  <a:pt x="0" y="764807"/>
                  <a:pt x="0" y="704952"/>
                </a:cubicBezTo>
                <a:lnTo>
                  <a:pt x="0" y="108451"/>
                </a:lnTo>
                <a:cubicBezTo>
                  <a:pt x="0" y="48595"/>
                  <a:pt x="48595" y="0"/>
                  <a:pt x="10845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25400" cap="flat" cmpd="sng">
            <a:solidFill>
              <a:srgbClr val="4A6C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5"/>
          <p:cNvSpPr/>
          <p:nvPr/>
        </p:nvSpPr>
        <p:spPr>
          <a:xfrm>
            <a:off x="8084600" y="3768765"/>
            <a:ext cx="271134" cy="216907"/>
          </a:xfrm>
          <a:custGeom>
            <a:avLst/>
            <a:gdLst/>
            <a:ahLst/>
            <a:cxnLst/>
            <a:rect l="l" t="t" r="r" b="b"/>
            <a:pathLst>
              <a:path w="271134" h="216907" extrusionOk="0">
                <a:moveTo>
                  <a:pt x="54227" y="13557"/>
                </a:moveTo>
                <a:cubicBezTo>
                  <a:pt x="39272" y="13557"/>
                  <a:pt x="27113" y="25715"/>
                  <a:pt x="27113" y="40670"/>
                </a:cubicBezTo>
                <a:lnTo>
                  <a:pt x="27113" y="142345"/>
                </a:lnTo>
                <a:lnTo>
                  <a:pt x="54227" y="142345"/>
                </a:lnTo>
                <a:lnTo>
                  <a:pt x="54227" y="40670"/>
                </a:lnTo>
                <a:lnTo>
                  <a:pt x="216907" y="40670"/>
                </a:lnTo>
                <a:lnTo>
                  <a:pt x="216907" y="142345"/>
                </a:lnTo>
                <a:lnTo>
                  <a:pt x="244021" y="142345"/>
                </a:lnTo>
                <a:lnTo>
                  <a:pt x="244021" y="40670"/>
                </a:lnTo>
                <a:cubicBezTo>
                  <a:pt x="244021" y="25715"/>
                  <a:pt x="231862" y="13557"/>
                  <a:pt x="216907" y="13557"/>
                </a:cubicBezTo>
                <a:lnTo>
                  <a:pt x="54227" y="13557"/>
                </a:lnTo>
                <a:close/>
                <a:moveTo>
                  <a:pt x="8134" y="162681"/>
                </a:moveTo>
                <a:cubicBezTo>
                  <a:pt x="3643" y="162681"/>
                  <a:pt x="0" y="166324"/>
                  <a:pt x="0" y="170815"/>
                </a:cubicBezTo>
                <a:cubicBezTo>
                  <a:pt x="0" y="188777"/>
                  <a:pt x="14573" y="203351"/>
                  <a:pt x="32536" y="203351"/>
                </a:cubicBezTo>
                <a:lnTo>
                  <a:pt x="238598" y="203351"/>
                </a:lnTo>
                <a:cubicBezTo>
                  <a:pt x="256561" y="203351"/>
                  <a:pt x="271134" y="188777"/>
                  <a:pt x="271134" y="170815"/>
                </a:cubicBezTo>
                <a:cubicBezTo>
                  <a:pt x="271134" y="166324"/>
                  <a:pt x="267491" y="162681"/>
                  <a:pt x="263000" y="162681"/>
                </a:cubicBezTo>
                <a:lnTo>
                  <a:pt x="8134" y="162681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5"/>
          <p:cNvSpPr/>
          <p:nvPr/>
        </p:nvSpPr>
        <p:spPr>
          <a:xfrm>
            <a:off x="7695550" y="4021824"/>
            <a:ext cx="1048385" cy="180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6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Peer D</a:t>
            </a:r>
            <a:endParaRPr sz="1600" b="0" i="0" u="none" strike="noStrike" cap="none"/>
          </a:p>
        </p:txBody>
      </p:sp>
      <p:sp>
        <p:nvSpPr>
          <p:cNvPr id="175" name="Google Shape;175;p5"/>
          <p:cNvSpPr/>
          <p:nvPr/>
        </p:nvSpPr>
        <p:spPr>
          <a:xfrm>
            <a:off x="7700069" y="4202580"/>
            <a:ext cx="1039348" cy="144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Seeder</a:t>
            </a:r>
            <a:endParaRPr sz="1600" b="0" i="0" u="none" strike="noStrike" cap="none"/>
          </a:p>
        </p:txBody>
      </p:sp>
      <p:sp>
        <p:nvSpPr>
          <p:cNvPr id="176" name="Google Shape;176;p5"/>
          <p:cNvSpPr/>
          <p:nvPr/>
        </p:nvSpPr>
        <p:spPr>
          <a:xfrm>
            <a:off x="10377237" y="3651274"/>
            <a:ext cx="1220104" cy="813403"/>
          </a:xfrm>
          <a:custGeom>
            <a:avLst/>
            <a:gdLst/>
            <a:ahLst/>
            <a:cxnLst/>
            <a:rect l="l" t="t" r="r" b="b"/>
            <a:pathLst>
              <a:path w="1220104" h="813403" extrusionOk="0">
                <a:moveTo>
                  <a:pt x="108451" y="0"/>
                </a:moveTo>
                <a:lnTo>
                  <a:pt x="1111653" y="0"/>
                </a:lnTo>
                <a:cubicBezTo>
                  <a:pt x="1171549" y="0"/>
                  <a:pt x="1220104" y="48555"/>
                  <a:pt x="1220104" y="108451"/>
                </a:cubicBezTo>
                <a:lnTo>
                  <a:pt x="1220104" y="704952"/>
                </a:lnTo>
                <a:cubicBezTo>
                  <a:pt x="1220104" y="764847"/>
                  <a:pt x="1171549" y="813403"/>
                  <a:pt x="1111653" y="813403"/>
                </a:cubicBezTo>
                <a:lnTo>
                  <a:pt x="108451" y="813403"/>
                </a:lnTo>
                <a:cubicBezTo>
                  <a:pt x="48595" y="813403"/>
                  <a:pt x="0" y="764807"/>
                  <a:pt x="0" y="704952"/>
                </a:cubicBezTo>
                <a:lnTo>
                  <a:pt x="0" y="108451"/>
                </a:lnTo>
                <a:cubicBezTo>
                  <a:pt x="0" y="48595"/>
                  <a:pt x="48595" y="0"/>
                  <a:pt x="10845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25400" cap="flat" cmpd="sng">
            <a:solidFill>
              <a:srgbClr val="4A6C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5"/>
          <p:cNvSpPr/>
          <p:nvPr/>
        </p:nvSpPr>
        <p:spPr>
          <a:xfrm>
            <a:off x="10852145" y="3768765"/>
            <a:ext cx="271134" cy="216907"/>
          </a:xfrm>
          <a:custGeom>
            <a:avLst/>
            <a:gdLst/>
            <a:ahLst/>
            <a:cxnLst/>
            <a:rect l="l" t="t" r="r" b="b"/>
            <a:pathLst>
              <a:path w="271134" h="216907" extrusionOk="0">
                <a:moveTo>
                  <a:pt x="54227" y="13557"/>
                </a:moveTo>
                <a:cubicBezTo>
                  <a:pt x="39272" y="13557"/>
                  <a:pt x="27113" y="25715"/>
                  <a:pt x="27113" y="40670"/>
                </a:cubicBezTo>
                <a:lnTo>
                  <a:pt x="27113" y="142345"/>
                </a:lnTo>
                <a:lnTo>
                  <a:pt x="54227" y="142345"/>
                </a:lnTo>
                <a:lnTo>
                  <a:pt x="54227" y="40670"/>
                </a:lnTo>
                <a:lnTo>
                  <a:pt x="216907" y="40670"/>
                </a:lnTo>
                <a:lnTo>
                  <a:pt x="216907" y="142345"/>
                </a:lnTo>
                <a:lnTo>
                  <a:pt x="244021" y="142345"/>
                </a:lnTo>
                <a:lnTo>
                  <a:pt x="244021" y="40670"/>
                </a:lnTo>
                <a:cubicBezTo>
                  <a:pt x="244021" y="25715"/>
                  <a:pt x="231862" y="13557"/>
                  <a:pt x="216907" y="13557"/>
                </a:cubicBezTo>
                <a:lnTo>
                  <a:pt x="54227" y="13557"/>
                </a:lnTo>
                <a:close/>
                <a:moveTo>
                  <a:pt x="8134" y="162681"/>
                </a:moveTo>
                <a:cubicBezTo>
                  <a:pt x="3643" y="162681"/>
                  <a:pt x="0" y="166324"/>
                  <a:pt x="0" y="170815"/>
                </a:cubicBezTo>
                <a:cubicBezTo>
                  <a:pt x="0" y="188777"/>
                  <a:pt x="14573" y="203351"/>
                  <a:pt x="32536" y="203351"/>
                </a:cubicBezTo>
                <a:lnTo>
                  <a:pt x="238598" y="203351"/>
                </a:lnTo>
                <a:cubicBezTo>
                  <a:pt x="256561" y="203351"/>
                  <a:pt x="271134" y="188777"/>
                  <a:pt x="271134" y="170815"/>
                </a:cubicBezTo>
                <a:cubicBezTo>
                  <a:pt x="271134" y="166324"/>
                  <a:pt x="267491" y="162681"/>
                  <a:pt x="263000" y="162681"/>
                </a:cubicBezTo>
                <a:lnTo>
                  <a:pt x="8134" y="162681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5"/>
          <p:cNvSpPr/>
          <p:nvPr/>
        </p:nvSpPr>
        <p:spPr>
          <a:xfrm>
            <a:off x="10463096" y="4021824"/>
            <a:ext cx="1048385" cy="180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6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Peer E</a:t>
            </a:r>
            <a:endParaRPr sz="1600" b="0" i="0" u="none" strike="noStrike" cap="none"/>
          </a:p>
        </p:txBody>
      </p:sp>
      <p:sp>
        <p:nvSpPr>
          <p:cNvPr id="179" name="Google Shape;179;p5"/>
          <p:cNvSpPr/>
          <p:nvPr/>
        </p:nvSpPr>
        <p:spPr>
          <a:xfrm>
            <a:off x="10467615" y="4202580"/>
            <a:ext cx="1039348" cy="144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Leecher</a:t>
            </a:r>
            <a:endParaRPr sz="1600" b="0" i="0" u="none" strike="noStrike" cap="none"/>
          </a:p>
        </p:txBody>
      </p:sp>
      <p:sp>
        <p:nvSpPr>
          <p:cNvPr id="180" name="Google Shape;180;p5"/>
          <p:cNvSpPr/>
          <p:nvPr/>
        </p:nvSpPr>
        <p:spPr>
          <a:xfrm>
            <a:off x="7605172" y="4658989"/>
            <a:ext cx="3994710" cy="1003196"/>
          </a:xfrm>
          <a:custGeom>
            <a:avLst/>
            <a:gdLst/>
            <a:ahLst/>
            <a:cxnLst/>
            <a:rect l="l" t="t" r="r" b="b"/>
            <a:pathLst>
              <a:path w="3994710" h="1003196" extrusionOk="0">
                <a:moveTo>
                  <a:pt x="108456" y="0"/>
                </a:moveTo>
                <a:lnTo>
                  <a:pt x="3886255" y="0"/>
                </a:lnTo>
                <a:cubicBezTo>
                  <a:pt x="3946153" y="0"/>
                  <a:pt x="3994710" y="48557"/>
                  <a:pt x="3994710" y="108456"/>
                </a:cubicBezTo>
                <a:lnTo>
                  <a:pt x="3994710" y="894741"/>
                </a:lnTo>
                <a:cubicBezTo>
                  <a:pt x="3994710" y="954639"/>
                  <a:pt x="3946153" y="1003196"/>
                  <a:pt x="3886255" y="1003196"/>
                </a:cubicBezTo>
                <a:lnTo>
                  <a:pt x="108456" y="1003196"/>
                </a:lnTo>
                <a:cubicBezTo>
                  <a:pt x="48557" y="1003196"/>
                  <a:pt x="0" y="954639"/>
                  <a:pt x="0" y="894741"/>
                </a:cubicBezTo>
                <a:lnTo>
                  <a:pt x="0" y="108456"/>
                </a:lnTo>
                <a:cubicBezTo>
                  <a:pt x="0" y="48557"/>
                  <a:pt x="48557" y="0"/>
                  <a:pt x="108456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5"/>
          <p:cNvSpPr/>
          <p:nvPr/>
        </p:nvSpPr>
        <p:spPr>
          <a:xfrm>
            <a:off x="8167070" y="4853302"/>
            <a:ext cx="108454" cy="144605"/>
          </a:xfrm>
          <a:custGeom>
            <a:avLst/>
            <a:gdLst/>
            <a:ahLst/>
            <a:cxnLst/>
            <a:rect l="l" t="t" r="r" b="b"/>
            <a:pathLst>
              <a:path w="108454" h="144605" extrusionOk="0">
                <a:moveTo>
                  <a:pt x="82724" y="108454"/>
                </a:moveTo>
                <a:cubicBezTo>
                  <a:pt x="84786" y="102155"/>
                  <a:pt x="88909" y="96450"/>
                  <a:pt x="93570" y="91536"/>
                </a:cubicBezTo>
                <a:cubicBezTo>
                  <a:pt x="102805" y="81820"/>
                  <a:pt x="108454" y="68687"/>
                  <a:pt x="108454" y="54227"/>
                </a:cubicBezTo>
                <a:cubicBezTo>
                  <a:pt x="108454" y="24289"/>
                  <a:pt x="84165" y="0"/>
                  <a:pt x="54227" y="0"/>
                </a:cubicBezTo>
                <a:cubicBezTo>
                  <a:pt x="24289" y="0"/>
                  <a:pt x="0" y="24289"/>
                  <a:pt x="0" y="54227"/>
                </a:cubicBezTo>
                <a:cubicBezTo>
                  <a:pt x="0" y="68687"/>
                  <a:pt x="5649" y="81820"/>
                  <a:pt x="14884" y="91536"/>
                </a:cubicBezTo>
                <a:cubicBezTo>
                  <a:pt x="19544" y="96450"/>
                  <a:pt x="23696" y="102155"/>
                  <a:pt x="25730" y="108454"/>
                </a:cubicBezTo>
                <a:lnTo>
                  <a:pt x="82696" y="108454"/>
                </a:lnTo>
                <a:close/>
                <a:moveTo>
                  <a:pt x="81340" y="122010"/>
                </a:moveTo>
                <a:lnTo>
                  <a:pt x="27113" y="122010"/>
                </a:lnTo>
                <a:lnTo>
                  <a:pt x="27113" y="126529"/>
                </a:lnTo>
                <a:cubicBezTo>
                  <a:pt x="27113" y="139013"/>
                  <a:pt x="37224" y="149124"/>
                  <a:pt x="49708" y="149124"/>
                </a:cubicBezTo>
                <a:lnTo>
                  <a:pt x="58746" y="149124"/>
                </a:lnTo>
                <a:cubicBezTo>
                  <a:pt x="71229" y="149124"/>
                  <a:pt x="81340" y="139013"/>
                  <a:pt x="81340" y="126529"/>
                </a:cubicBezTo>
                <a:lnTo>
                  <a:pt x="81340" y="122010"/>
                </a:lnTo>
                <a:close/>
                <a:moveTo>
                  <a:pt x="51967" y="31632"/>
                </a:moveTo>
                <a:cubicBezTo>
                  <a:pt x="40727" y="31632"/>
                  <a:pt x="31632" y="40727"/>
                  <a:pt x="31632" y="51967"/>
                </a:cubicBezTo>
                <a:cubicBezTo>
                  <a:pt x="31632" y="55724"/>
                  <a:pt x="28610" y="58746"/>
                  <a:pt x="24854" y="58746"/>
                </a:cubicBezTo>
                <a:cubicBezTo>
                  <a:pt x="21098" y="58746"/>
                  <a:pt x="18076" y="55724"/>
                  <a:pt x="18076" y="51967"/>
                </a:cubicBezTo>
                <a:cubicBezTo>
                  <a:pt x="18076" y="33242"/>
                  <a:pt x="33242" y="18076"/>
                  <a:pt x="51967" y="18076"/>
                </a:cubicBezTo>
                <a:cubicBezTo>
                  <a:pt x="55724" y="18076"/>
                  <a:pt x="58746" y="21098"/>
                  <a:pt x="58746" y="24854"/>
                </a:cubicBezTo>
                <a:cubicBezTo>
                  <a:pt x="58746" y="28610"/>
                  <a:pt x="55724" y="31632"/>
                  <a:pt x="51967" y="31632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5"/>
          <p:cNvSpPr/>
          <p:nvPr/>
        </p:nvSpPr>
        <p:spPr>
          <a:xfrm>
            <a:off x="7950354" y="4808113"/>
            <a:ext cx="3536556" cy="704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Key Insight:</a:t>
            </a: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Files are divided into parts and downloaded from multiple peers based on availability and network proximity</a:t>
            </a:r>
            <a:endParaRPr sz="1600" b="0" i="0" u="none" strike="noStrike" cap="none"/>
          </a:p>
        </p:txBody>
      </p:sp>
      <p:sp>
        <p:nvSpPr>
          <p:cNvPr id="183" name="Google Shape;183;p5"/>
          <p:cNvSpPr/>
          <p:nvPr/>
        </p:nvSpPr>
        <p:spPr>
          <a:xfrm>
            <a:off x="9115473" y="3639980"/>
            <a:ext cx="976083" cy="976083"/>
          </a:xfrm>
          <a:custGeom>
            <a:avLst/>
            <a:gdLst/>
            <a:ahLst/>
            <a:cxnLst/>
            <a:rect l="l" t="t" r="r" b="b"/>
            <a:pathLst>
              <a:path w="976083" h="976083" extrusionOk="0">
                <a:moveTo>
                  <a:pt x="488042" y="0"/>
                </a:moveTo>
                <a:lnTo>
                  <a:pt x="488042" y="0"/>
                </a:lnTo>
                <a:cubicBezTo>
                  <a:pt x="757399" y="0"/>
                  <a:pt x="976083" y="218684"/>
                  <a:pt x="976083" y="488042"/>
                </a:cubicBezTo>
                <a:lnTo>
                  <a:pt x="976083" y="488042"/>
                </a:lnTo>
                <a:cubicBezTo>
                  <a:pt x="976083" y="757399"/>
                  <a:pt x="757399" y="976083"/>
                  <a:pt x="488042" y="976083"/>
                </a:cubicBezTo>
                <a:lnTo>
                  <a:pt x="488042" y="976083"/>
                </a:lnTo>
                <a:cubicBezTo>
                  <a:pt x="218684" y="976083"/>
                  <a:pt x="0" y="757399"/>
                  <a:pt x="0" y="488042"/>
                </a:cubicBezTo>
                <a:lnTo>
                  <a:pt x="0" y="488042"/>
                </a:lnTo>
                <a:cubicBezTo>
                  <a:pt x="0" y="218684"/>
                  <a:pt x="218684" y="0"/>
                  <a:pt x="488042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 w="50800" cap="flat" cmpd="sng">
            <a:solidFill>
              <a:srgbClr val="B89A6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5"/>
          <p:cNvSpPr/>
          <p:nvPr/>
        </p:nvSpPr>
        <p:spPr>
          <a:xfrm>
            <a:off x="9484891" y="4048938"/>
            <a:ext cx="237242" cy="271134"/>
          </a:xfrm>
          <a:custGeom>
            <a:avLst/>
            <a:gdLst/>
            <a:ahLst/>
            <a:cxnLst/>
            <a:rect l="l" t="t" r="r" b="b"/>
            <a:pathLst>
              <a:path w="237242" h="271134" extrusionOk="0">
                <a:moveTo>
                  <a:pt x="33892" y="16946"/>
                </a:moveTo>
                <a:cubicBezTo>
                  <a:pt x="15198" y="16946"/>
                  <a:pt x="0" y="32144"/>
                  <a:pt x="0" y="50838"/>
                </a:cubicBezTo>
                <a:lnTo>
                  <a:pt x="0" y="84729"/>
                </a:lnTo>
                <a:cubicBezTo>
                  <a:pt x="0" y="103423"/>
                  <a:pt x="15198" y="118621"/>
                  <a:pt x="33892" y="118621"/>
                </a:cubicBezTo>
                <a:lnTo>
                  <a:pt x="203351" y="118621"/>
                </a:lnTo>
                <a:cubicBezTo>
                  <a:pt x="222044" y="118621"/>
                  <a:pt x="237242" y="103423"/>
                  <a:pt x="237242" y="84729"/>
                </a:cubicBezTo>
                <a:lnTo>
                  <a:pt x="237242" y="50838"/>
                </a:lnTo>
                <a:cubicBezTo>
                  <a:pt x="237242" y="32144"/>
                  <a:pt x="222044" y="16946"/>
                  <a:pt x="203351" y="16946"/>
                </a:cubicBezTo>
                <a:lnTo>
                  <a:pt x="33892" y="16946"/>
                </a:lnTo>
                <a:close/>
                <a:moveTo>
                  <a:pt x="148277" y="55074"/>
                </a:moveTo>
                <a:cubicBezTo>
                  <a:pt x="155291" y="55074"/>
                  <a:pt x="160986" y="60769"/>
                  <a:pt x="160986" y="67784"/>
                </a:cubicBezTo>
                <a:cubicBezTo>
                  <a:pt x="160986" y="74798"/>
                  <a:pt x="155291" y="80493"/>
                  <a:pt x="148277" y="80493"/>
                </a:cubicBezTo>
                <a:cubicBezTo>
                  <a:pt x="141262" y="80493"/>
                  <a:pt x="135567" y="74798"/>
                  <a:pt x="135567" y="67784"/>
                </a:cubicBezTo>
                <a:cubicBezTo>
                  <a:pt x="135567" y="60769"/>
                  <a:pt x="141262" y="55074"/>
                  <a:pt x="148277" y="55074"/>
                </a:cubicBezTo>
                <a:close/>
                <a:moveTo>
                  <a:pt x="177932" y="67784"/>
                </a:moveTo>
                <a:cubicBezTo>
                  <a:pt x="177932" y="60769"/>
                  <a:pt x="183627" y="55074"/>
                  <a:pt x="190641" y="55074"/>
                </a:cubicBezTo>
                <a:cubicBezTo>
                  <a:pt x="197656" y="55074"/>
                  <a:pt x="203351" y="60769"/>
                  <a:pt x="203351" y="67784"/>
                </a:cubicBezTo>
                <a:cubicBezTo>
                  <a:pt x="203351" y="74798"/>
                  <a:pt x="197656" y="80493"/>
                  <a:pt x="190641" y="80493"/>
                </a:cubicBezTo>
                <a:cubicBezTo>
                  <a:pt x="183627" y="80493"/>
                  <a:pt x="177932" y="74798"/>
                  <a:pt x="177932" y="67784"/>
                </a:cubicBezTo>
                <a:close/>
                <a:moveTo>
                  <a:pt x="33892" y="152513"/>
                </a:moveTo>
                <a:cubicBezTo>
                  <a:pt x="15198" y="152513"/>
                  <a:pt x="0" y="167711"/>
                  <a:pt x="0" y="186405"/>
                </a:cubicBezTo>
                <a:lnTo>
                  <a:pt x="0" y="220297"/>
                </a:lnTo>
                <a:cubicBezTo>
                  <a:pt x="0" y="238990"/>
                  <a:pt x="15198" y="254188"/>
                  <a:pt x="33892" y="254188"/>
                </a:cubicBezTo>
                <a:lnTo>
                  <a:pt x="203351" y="254188"/>
                </a:lnTo>
                <a:cubicBezTo>
                  <a:pt x="222044" y="254188"/>
                  <a:pt x="237242" y="238990"/>
                  <a:pt x="237242" y="220297"/>
                </a:cubicBezTo>
                <a:lnTo>
                  <a:pt x="237242" y="186405"/>
                </a:lnTo>
                <a:cubicBezTo>
                  <a:pt x="237242" y="167711"/>
                  <a:pt x="222044" y="152513"/>
                  <a:pt x="203351" y="152513"/>
                </a:cubicBezTo>
                <a:lnTo>
                  <a:pt x="33892" y="152513"/>
                </a:lnTo>
                <a:close/>
                <a:moveTo>
                  <a:pt x="148277" y="190641"/>
                </a:moveTo>
                <a:cubicBezTo>
                  <a:pt x="155291" y="190641"/>
                  <a:pt x="160986" y="196336"/>
                  <a:pt x="160986" y="203351"/>
                </a:cubicBezTo>
                <a:cubicBezTo>
                  <a:pt x="160986" y="210365"/>
                  <a:pt x="155291" y="216060"/>
                  <a:pt x="148277" y="216060"/>
                </a:cubicBezTo>
                <a:cubicBezTo>
                  <a:pt x="141262" y="216060"/>
                  <a:pt x="135567" y="210365"/>
                  <a:pt x="135567" y="203351"/>
                </a:cubicBezTo>
                <a:cubicBezTo>
                  <a:pt x="135567" y="196336"/>
                  <a:pt x="141262" y="190641"/>
                  <a:pt x="148277" y="190641"/>
                </a:cubicBezTo>
                <a:close/>
                <a:moveTo>
                  <a:pt x="177932" y="203351"/>
                </a:moveTo>
                <a:cubicBezTo>
                  <a:pt x="177932" y="196336"/>
                  <a:pt x="183627" y="190641"/>
                  <a:pt x="190641" y="190641"/>
                </a:cubicBezTo>
                <a:cubicBezTo>
                  <a:pt x="197656" y="190641"/>
                  <a:pt x="203351" y="196336"/>
                  <a:pt x="203351" y="203351"/>
                </a:cubicBezTo>
                <a:cubicBezTo>
                  <a:pt x="203351" y="210365"/>
                  <a:pt x="197656" y="216060"/>
                  <a:pt x="190641" y="216060"/>
                </a:cubicBezTo>
                <a:cubicBezTo>
                  <a:pt x="183627" y="216060"/>
                  <a:pt x="177932" y="210365"/>
                  <a:pt x="177932" y="203351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"/>
          <p:cNvSpPr/>
          <p:nvPr/>
        </p:nvSpPr>
        <p:spPr>
          <a:xfrm>
            <a:off x="9367550" y="3796049"/>
            <a:ext cx="470100" cy="21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6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Tracker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Google Shape;191;p6" descr="https://kimi-web-img.moonshot.cn/img/thumbs.dreamstime.com/7c96d8bd0d68b2c16a033c084c1161d710d63906.jpg"/>
          <p:cNvPicPr preferRelativeResize="0"/>
          <p:nvPr/>
        </p:nvPicPr>
        <p:blipFill rotWithShape="1">
          <a:blip r:embed="rId3">
            <a:alphaModFix amt="25000"/>
          </a:blip>
          <a:srcRect t="7786" b="7786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pic>
      <p:sp>
        <p:nvSpPr>
          <p:cNvPr id="192" name="Google Shape;192;p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1A1D21"/>
              </a:gs>
              <a:gs pos="50000">
                <a:srgbClr val="1A1D21">
                  <a:alpha val="94901"/>
                </a:srgbClr>
              </a:gs>
              <a:gs pos="100000">
                <a:srgbClr val="4A6C8C">
                  <a:alpha val="20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3" name="Google Shape;193;p6"/>
          <p:cNvSpPr/>
          <p:nvPr/>
        </p:nvSpPr>
        <p:spPr>
          <a:xfrm>
            <a:off x="9949755" y="1451967"/>
            <a:ext cx="1838325" cy="419100"/>
          </a:xfrm>
          <a:custGeom>
            <a:avLst/>
            <a:gdLst/>
            <a:ahLst/>
            <a:cxnLst/>
            <a:rect l="l" t="t" r="r" b="b"/>
            <a:pathLst>
              <a:path w="1838325" h="419100" extrusionOk="0">
                <a:moveTo>
                  <a:pt x="0" y="0"/>
                </a:moveTo>
                <a:lnTo>
                  <a:pt x="1838325" y="0"/>
                </a:lnTo>
                <a:lnTo>
                  <a:pt x="1838325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4" name="Google Shape;194;p6"/>
          <p:cNvSpPr/>
          <p:nvPr/>
        </p:nvSpPr>
        <p:spPr>
          <a:xfrm>
            <a:off x="11788080" y="1451967"/>
            <a:ext cx="38100" cy="419100"/>
          </a:xfrm>
          <a:custGeom>
            <a:avLst/>
            <a:gdLst/>
            <a:ahLst/>
            <a:cxnLst/>
            <a:rect l="l" t="t" r="r" b="b"/>
            <a:pathLst>
              <a:path w="38100" h="419100" extrusionOk="0">
                <a:moveTo>
                  <a:pt x="0" y="0"/>
                </a:moveTo>
                <a:lnTo>
                  <a:pt x="38100" y="0"/>
                </a:lnTo>
                <a:lnTo>
                  <a:pt x="3810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5" name="Google Shape;195;p6"/>
          <p:cNvSpPr/>
          <p:nvPr/>
        </p:nvSpPr>
        <p:spPr>
          <a:xfrm>
            <a:off x="10045005" y="1556742"/>
            <a:ext cx="153739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Chapter 02</a:t>
            </a:r>
            <a:endParaRPr sz="1600" b="0" i="0" u="none" strike="noStrike" cap="none"/>
          </a:p>
        </p:txBody>
      </p:sp>
      <p:sp>
        <p:nvSpPr>
          <p:cNvPr id="196" name="Google Shape;196;p6"/>
          <p:cNvSpPr/>
          <p:nvPr/>
        </p:nvSpPr>
        <p:spPr>
          <a:xfrm>
            <a:off x="5382667" y="2175867"/>
            <a:ext cx="6429375" cy="1733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HTTP Protocol</a:t>
            </a:r>
            <a:endParaRPr sz="1600" b="0" i="0" u="none" strike="noStrike" cap="none"/>
          </a:p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Basics</a:t>
            </a:r>
            <a:endParaRPr sz="1600" b="0" i="0" u="none" strike="noStrike" cap="none"/>
          </a:p>
        </p:txBody>
      </p:sp>
      <p:sp>
        <p:nvSpPr>
          <p:cNvPr id="197" name="Google Shape;197;p6"/>
          <p:cNvSpPr/>
          <p:nvPr/>
        </p:nvSpPr>
        <p:spPr>
          <a:xfrm>
            <a:off x="5696992" y="4217789"/>
            <a:ext cx="61150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Understanding the Hypertext Transfer Protocol</a:t>
            </a:r>
            <a:endParaRPr sz="1600" b="0" i="0" u="none" strike="noStrike" cap="none"/>
          </a:p>
        </p:txBody>
      </p:sp>
      <p:sp>
        <p:nvSpPr>
          <p:cNvPr id="198" name="Google Shape;198;p6"/>
          <p:cNvSpPr/>
          <p:nvPr/>
        </p:nvSpPr>
        <p:spPr>
          <a:xfrm>
            <a:off x="7712273" y="5139333"/>
            <a:ext cx="1524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Application Layer</a:t>
            </a:r>
            <a:endParaRPr sz="1600" b="0" i="0" u="none" strike="noStrike" cap="none"/>
          </a:p>
        </p:txBody>
      </p:sp>
      <p:sp>
        <p:nvSpPr>
          <p:cNvPr id="199" name="Google Shape;199;p6"/>
          <p:cNvSpPr/>
          <p:nvPr/>
        </p:nvSpPr>
        <p:spPr>
          <a:xfrm>
            <a:off x="9383167" y="515838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 extrusionOk="0">
                <a:moveTo>
                  <a:pt x="103808" y="2322"/>
                </a:moveTo>
                <a:cubicBezTo>
                  <a:pt x="110460" y="-759"/>
                  <a:pt x="118140" y="-759"/>
                  <a:pt x="124792" y="2322"/>
                </a:cubicBezTo>
                <a:lnTo>
                  <a:pt x="222394" y="47417"/>
                </a:lnTo>
                <a:cubicBezTo>
                  <a:pt x="226189" y="49158"/>
                  <a:pt x="228600" y="52953"/>
                  <a:pt x="228600" y="57150"/>
                </a:cubicBezTo>
                <a:cubicBezTo>
                  <a:pt x="228600" y="61347"/>
                  <a:pt x="226189" y="65142"/>
                  <a:pt x="222394" y="66883"/>
                </a:cubicBezTo>
                <a:lnTo>
                  <a:pt x="124792" y="111978"/>
                </a:lnTo>
                <a:cubicBezTo>
                  <a:pt x="118140" y="115059"/>
                  <a:pt x="110460" y="115059"/>
                  <a:pt x="103808" y="111978"/>
                </a:cubicBezTo>
                <a:lnTo>
                  <a:pt x="6206" y="66883"/>
                </a:lnTo>
                <a:cubicBezTo>
                  <a:pt x="2411" y="65097"/>
                  <a:pt x="0" y="61302"/>
                  <a:pt x="0" y="57150"/>
                </a:cubicBezTo>
                <a:cubicBezTo>
                  <a:pt x="0" y="52998"/>
                  <a:pt x="2411" y="49158"/>
                  <a:pt x="6206" y="47417"/>
                </a:cubicBezTo>
                <a:lnTo>
                  <a:pt x="103808" y="2322"/>
                </a:lnTo>
                <a:close/>
                <a:moveTo>
                  <a:pt x="21476" y="97512"/>
                </a:moveTo>
                <a:lnTo>
                  <a:pt x="94833" y="131400"/>
                </a:lnTo>
                <a:cubicBezTo>
                  <a:pt x="107201" y="137115"/>
                  <a:pt x="121444" y="137115"/>
                  <a:pt x="133811" y="131400"/>
                </a:cubicBezTo>
                <a:lnTo>
                  <a:pt x="207169" y="97512"/>
                </a:lnTo>
                <a:lnTo>
                  <a:pt x="222394" y="104567"/>
                </a:lnTo>
                <a:cubicBezTo>
                  <a:pt x="226189" y="106308"/>
                  <a:pt x="228600" y="110103"/>
                  <a:pt x="228600" y="114300"/>
                </a:cubicBezTo>
                <a:cubicBezTo>
                  <a:pt x="228600" y="118497"/>
                  <a:pt x="226189" y="122292"/>
                  <a:pt x="222394" y="124033"/>
                </a:cubicBezTo>
                <a:lnTo>
                  <a:pt x="124792" y="169128"/>
                </a:lnTo>
                <a:cubicBezTo>
                  <a:pt x="118140" y="172209"/>
                  <a:pt x="110460" y="172209"/>
                  <a:pt x="103808" y="169128"/>
                </a:cubicBezTo>
                <a:lnTo>
                  <a:pt x="6206" y="124033"/>
                </a:lnTo>
                <a:cubicBezTo>
                  <a:pt x="2411" y="122247"/>
                  <a:pt x="0" y="118452"/>
                  <a:pt x="0" y="114300"/>
                </a:cubicBezTo>
                <a:cubicBezTo>
                  <a:pt x="0" y="110148"/>
                  <a:pt x="2411" y="106308"/>
                  <a:pt x="6206" y="104567"/>
                </a:cubicBezTo>
                <a:lnTo>
                  <a:pt x="21431" y="97512"/>
                </a:lnTo>
                <a:close/>
                <a:moveTo>
                  <a:pt x="6206" y="161717"/>
                </a:moveTo>
                <a:lnTo>
                  <a:pt x="21431" y="154662"/>
                </a:lnTo>
                <a:lnTo>
                  <a:pt x="94789" y="188550"/>
                </a:lnTo>
                <a:cubicBezTo>
                  <a:pt x="107156" y="194265"/>
                  <a:pt x="121399" y="194265"/>
                  <a:pt x="133767" y="188550"/>
                </a:cubicBezTo>
                <a:lnTo>
                  <a:pt x="207124" y="154662"/>
                </a:lnTo>
                <a:lnTo>
                  <a:pt x="222349" y="161717"/>
                </a:lnTo>
                <a:cubicBezTo>
                  <a:pt x="226144" y="163458"/>
                  <a:pt x="228555" y="167253"/>
                  <a:pt x="228555" y="171450"/>
                </a:cubicBezTo>
                <a:cubicBezTo>
                  <a:pt x="228555" y="175647"/>
                  <a:pt x="226144" y="179442"/>
                  <a:pt x="222349" y="181183"/>
                </a:cubicBezTo>
                <a:lnTo>
                  <a:pt x="124748" y="226278"/>
                </a:lnTo>
                <a:cubicBezTo>
                  <a:pt x="118095" y="229359"/>
                  <a:pt x="110416" y="229359"/>
                  <a:pt x="103763" y="226278"/>
                </a:cubicBezTo>
                <a:lnTo>
                  <a:pt x="6206" y="181183"/>
                </a:lnTo>
                <a:cubicBezTo>
                  <a:pt x="2411" y="179397"/>
                  <a:pt x="0" y="175602"/>
                  <a:pt x="0" y="171450"/>
                </a:cubicBezTo>
                <a:cubicBezTo>
                  <a:pt x="0" y="167298"/>
                  <a:pt x="2411" y="163458"/>
                  <a:pt x="6206" y="161717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6"/>
          <p:cNvSpPr/>
          <p:nvPr/>
        </p:nvSpPr>
        <p:spPr>
          <a:xfrm>
            <a:off x="9849892" y="5139333"/>
            <a:ext cx="15621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Stateless Protocol</a:t>
            </a:r>
            <a:endParaRPr sz="1600" b="0" i="0" u="none" strike="noStrike" cap="none"/>
          </a:p>
        </p:txBody>
      </p:sp>
      <p:sp>
        <p:nvSpPr>
          <p:cNvPr id="201" name="Google Shape;201;p6"/>
          <p:cNvSpPr/>
          <p:nvPr/>
        </p:nvSpPr>
        <p:spPr>
          <a:xfrm>
            <a:off x="11553825" y="515838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 extrusionOk="0">
                <a:moveTo>
                  <a:pt x="224403" y="67241"/>
                </a:moveTo>
                <a:lnTo>
                  <a:pt x="181541" y="110103"/>
                </a:lnTo>
                <a:cubicBezTo>
                  <a:pt x="177433" y="114211"/>
                  <a:pt x="171316" y="115416"/>
                  <a:pt x="165958" y="113184"/>
                </a:cubicBezTo>
                <a:cubicBezTo>
                  <a:pt x="160600" y="110951"/>
                  <a:pt x="157163" y="105772"/>
                  <a:pt x="157163" y="100013"/>
                </a:cubicBezTo>
                <a:lnTo>
                  <a:pt x="157163" y="71438"/>
                </a:lnTo>
                <a:lnTo>
                  <a:pt x="14288" y="71438"/>
                </a:lnTo>
                <a:cubicBezTo>
                  <a:pt x="6385" y="71438"/>
                  <a:pt x="0" y="65053"/>
                  <a:pt x="0" y="57150"/>
                </a:cubicBezTo>
                <a:cubicBezTo>
                  <a:pt x="0" y="49247"/>
                  <a:pt x="6385" y="42863"/>
                  <a:pt x="14288" y="42863"/>
                </a:cubicBezTo>
                <a:lnTo>
                  <a:pt x="157163" y="42863"/>
                </a:lnTo>
                <a:lnTo>
                  <a:pt x="157163" y="14288"/>
                </a:lnTo>
                <a:cubicBezTo>
                  <a:pt x="157163" y="8528"/>
                  <a:pt x="160645" y="3304"/>
                  <a:pt x="166003" y="1072"/>
                </a:cubicBezTo>
                <a:cubicBezTo>
                  <a:pt x="171361" y="-1161"/>
                  <a:pt x="177478" y="89"/>
                  <a:pt x="181585" y="4152"/>
                </a:cubicBezTo>
                <a:lnTo>
                  <a:pt x="224448" y="47015"/>
                </a:lnTo>
                <a:cubicBezTo>
                  <a:pt x="230029" y="52596"/>
                  <a:pt x="230029" y="61659"/>
                  <a:pt x="224448" y="67241"/>
                </a:cubicBezTo>
                <a:close/>
                <a:moveTo>
                  <a:pt x="47015" y="224403"/>
                </a:moveTo>
                <a:lnTo>
                  <a:pt x="4152" y="181541"/>
                </a:lnTo>
                <a:cubicBezTo>
                  <a:pt x="-1429" y="175959"/>
                  <a:pt x="-1429" y="166896"/>
                  <a:pt x="4152" y="161315"/>
                </a:cubicBezTo>
                <a:lnTo>
                  <a:pt x="47015" y="118452"/>
                </a:lnTo>
                <a:cubicBezTo>
                  <a:pt x="51122" y="114345"/>
                  <a:pt x="57239" y="113139"/>
                  <a:pt x="62597" y="115372"/>
                </a:cubicBezTo>
                <a:cubicBezTo>
                  <a:pt x="67955" y="117604"/>
                  <a:pt x="71438" y="122828"/>
                  <a:pt x="71438" y="128588"/>
                </a:cubicBezTo>
                <a:lnTo>
                  <a:pt x="71438" y="157163"/>
                </a:lnTo>
                <a:lnTo>
                  <a:pt x="214313" y="157163"/>
                </a:lnTo>
                <a:cubicBezTo>
                  <a:pt x="222215" y="157163"/>
                  <a:pt x="228600" y="163547"/>
                  <a:pt x="228600" y="171450"/>
                </a:cubicBezTo>
                <a:cubicBezTo>
                  <a:pt x="228600" y="179353"/>
                  <a:pt x="222215" y="185738"/>
                  <a:pt x="214313" y="185738"/>
                </a:cubicBezTo>
                <a:lnTo>
                  <a:pt x="71438" y="185738"/>
                </a:lnTo>
                <a:lnTo>
                  <a:pt x="71438" y="214313"/>
                </a:lnTo>
                <a:cubicBezTo>
                  <a:pt x="71438" y="220072"/>
                  <a:pt x="67955" y="225296"/>
                  <a:pt x="62597" y="227528"/>
                </a:cubicBezTo>
                <a:cubicBezTo>
                  <a:pt x="57239" y="229761"/>
                  <a:pt x="51122" y="228511"/>
                  <a:pt x="47015" y="224448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7"/>
          <p:cNvSpPr/>
          <p:nvPr/>
        </p:nvSpPr>
        <p:spPr>
          <a:xfrm>
            <a:off x="320000" y="320000"/>
            <a:ext cx="116160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8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Protocol Basics</a:t>
            </a:r>
            <a:endParaRPr sz="1600" b="0" i="0" u="none" strike="noStrike" cap="none"/>
          </a:p>
        </p:txBody>
      </p:sp>
      <p:sp>
        <p:nvSpPr>
          <p:cNvPr id="208" name="Google Shape;208;p7"/>
          <p:cNvSpPr/>
          <p:nvPr/>
        </p:nvSpPr>
        <p:spPr>
          <a:xfrm>
            <a:off x="320000" y="576000"/>
            <a:ext cx="11696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68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 Fundamentals: The Language of the Web</a:t>
            </a:r>
            <a:endParaRPr sz="1600" b="0" i="0" u="none" strike="noStrike" cap="none"/>
          </a:p>
        </p:txBody>
      </p:sp>
      <p:sp>
        <p:nvSpPr>
          <p:cNvPr id="209" name="Google Shape;209;p7"/>
          <p:cNvSpPr/>
          <p:nvPr/>
        </p:nvSpPr>
        <p:spPr>
          <a:xfrm>
            <a:off x="324000" y="1132000"/>
            <a:ext cx="7128000" cy="1368000"/>
          </a:xfrm>
          <a:custGeom>
            <a:avLst/>
            <a:gdLst/>
            <a:ahLst/>
            <a:cxnLst/>
            <a:rect l="l" t="t" r="r" b="b"/>
            <a:pathLst>
              <a:path w="7128000" h="1368000" extrusionOk="0">
                <a:moveTo>
                  <a:pt x="96006" y="0"/>
                </a:moveTo>
                <a:lnTo>
                  <a:pt x="7031994" y="0"/>
                </a:lnTo>
                <a:cubicBezTo>
                  <a:pt x="7085017" y="0"/>
                  <a:pt x="7128000" y="42983"/>
                  <a:pt x="7128000" y="96006"/>
                </a:cubicBezTo>
                <a:lnTo>
                  <a:pt x="7128000" y="1271994"/>
                </a:lnTo>
                <a:cubicBezTo>
                  <a:pt x="7128000" y="1325017"/>
                  <a:pt x="7085017" y="1368000"/>
                  <a:pt x="7031994" y="1368000"/>
                </a:cubicBezTo>
                <a:lnTo>
                  <a:pt x="96006" y="1368000"/>
                </a:lnTo>
                <a:cubicBezTo>
                  <a:pt x="42983" y="1368000"/>
                  <a:pt x="0" y="1325017"/>
                  <a:pt x="0" y="1271994"/>
                </a:cubicBezTo>
                <a:lnTo>
                  <a:pt x="0" y="96006"/>
                </a:lnTo>
                <a:cubicBezTo>
                  <a:pt x="0" y="43019"/>
                  <a:pt x="43019" y="0"/>
                  <a:pt x="96006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7"/>
          <p:cNvSpPr/>
          <p:nvPr/>
        </p:nvSpPr>
        <p:spPr>
          <a:xfrm>
            <a:off x="540000" y="1360000"/>
            <a:ext cx="160000" cy="160000"/>
          </a:xfrm>
          <a:custGeom>
            <a:avLst/>
            <a:gdLst/>
            <a:ahLst/>
            <a:cxnLst/>
            <a:rect l="l" t="t" r="r" b="b"/>
            <a:pathLst>
              <a:path w="160000" h="160000" extrusionOk="0">
                <a:moveTo>
                  <a:pt x="80000" y="160000"/>
                </a:moveTo>
                <a:cubicBezTo>
                  <a:pt x="124153" y="160000"/>
                  <a:pt x="160000" y="124153"/>
                  <a:pt x="160000" y="80000"/>
                </a:cubicBezTo>
                <a:cubicBezTo>
                  <a:pt x="160000" y="35847"/>
                  <a:pt x="124153" y="0"/>
                  <a:pt x="80000" y="0"/>
                </a:cubicBezTo>
                <a:cubicBezTo>
                  <a:pt x="35847" y="0"/>
                  <a:pt x="0" y="35847"/>
                  <a:pt x="0" y="80000"/>
                </a:cubicBezTo>
                <a:cubicBezTo>
                  <a:pt x="0" y="124153"/>
                  <a:pt x="35847" y="160000"/>
                  <a:pt x="80000" y="160000"/>
                </a:cubicBezTo>
                <a:close/>
                <a:moveTo>
                  <a:pt x="80000" y="55000"/>
                </a:moveTo>
                <a:cubicBezTo>
                  <a:pt x="74469" y="55000"/>
                  <a:pt x="70000" y="59469"/>
                  <a:pt x="70000" y="65000"/>
                </a:cubicBezTo>
                <a:cubicBezTo>
                  <a:pt x="70000" y="69156"/>
                  <a:pt x="66656" y="72500"/>
                  <a:pt x="62500" y="72500"/>
                </a:cubicBezTo>
                <a:cubicBezTo>
                  <a:pt x="58344" y="72500"/>
                  <a:pt x="55000" y="69156"/>
                  <a:pt x="55000" y="65000"/>
                </a:cubicBezTo>
                <a:cubicBezTo>
                  <a:pt x="55000" y="51188"/>
                  <a:pt x="66188" y="40000"/>
                  <a:pt x="80000" y="40000"/>
                </a:cubicBezTo>
                <a:cubicBezTo>
                  <a:pt x="93813" y="40000"/>
                  <a:pt x="105000" y="51188"/>
                  <a:pt x="105000" y="65000"/>
                </a:cubicBezTo>
                <a:cubicBezTo>
                  <a:pt x="105000" y="79750"/>
                  <a:pt x="93750" y="86000"/>
                  <a:pt x="87500" y="88281"/>
                </a:cubicBezTo>
                <a:lnTo>
                  <a:pt x="87500" y="89469"/>
                </a:lnTo>
                <a:cubicBezTo>
                  <a:pt x="87500" y="93625"/>
                  <a:pt x="84156" y="96969"/>
                  <a:pt x="80000" y="96969"/>
                </a:cubicBezTo>
                <a:cubicBezTo>
                  <a:pt x="75844" y="96969"/>
                  <a:pt x="72500" y="93625"/>
                  <a:pt x="72500" y="89469"/>
                </a:cubicBezTo>
                <a:lnTo>
                  <a:pt x="72500" y="86938"/>
                </a:lnTo>
                <a:cubicBezTo>
                  <a:pt x="72500" y="80531"/>
                  <a:pt x="77125" y="75938"/>
                  <a:pt x="81906" y="74375"/>
                </a:cubicBezTo>
                <a:cubicBezTo>
                  <a:pt x="83906" y="73719"/>
                  <a:pt x="86031" y="72656"/>
                  <a:pt x="87594" y="71156"/>
                </a:cubicBezTo>
                <a:cubicBezTo>
                  <a:pt x="88938" y="69844"/>
                  <a:pt x="90000" y="68031"/>
                  <a:pt x="90000" y="65031"/>
                </a:cubicBezTo>
                <a:cubicBezTo>
                  <a:pt x="90000" y="59500"/>
                  <a:pt x="85531" y="55031"/>
                  <a:pt x="80000" y="55031"/>
                </a:cubicBezTo>
                <a:close/>
                <a:moveTo>
                  <a:pt x="70000" y="115000"/>
                </a:moveTo>
                <a:cubicBezTo>
                  <a:pt x="70000" y="109481"/>
                  <a:pt x="74481" y="105000"/>
                  <a:pt x="80000" y="105000"/>
                </a:cubicBezTo>
                <a:cubicBezTo>
                  <a:pt x="85519" y="105000"/>
                  <a:pt x="90000" y="109481"/>
                  <a:pt x="90000" y="115000"/>
                </a:cubicBezTo>
                <a:cubicBezTo>
                  <a:pt x="90000" y="120519"/>
                  <a:pt x="85519" y="125000"/>
                  <a:pt x="80000" y="125000"/>
                </a:cubicBezTo>
                <a:cubicBezTo>
                  <a:pt x="74481" y="125000"/>
                  <a:pt x="70000" y="120519"/>
                  <a:pt x="70000" y="11500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7"/>
          <p:cNvSpPr/>
          <p:nvPr/>
        </p:nvSpPr>
        <p:spPr>
          <a:xfrm>
            <a:off x="720000" y="1328000"/>
            <a:ext cx="6616000" cy="2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6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Why Was HTTP Invented?</a:t>
            </a:r>
            <a:endParaRPr sz="1600" b="0" i="0" u="none" strike="noStrike" cap="none"/>
          </a:p>
        </p:txBody>
      </p:sp>
      <p:sp>
        <p:nvSpPr>
          <p:cNvPr id="212" name="Google Shape;212;p7"/>
          <p:cNvSpPr/>
          <p:nvPr/>
        </p:nvSpPr>
        <p:spPr>
          <a:xfrm>
            <a:off x="520000" y="1680000"/>
            <a:ext cx="6800000" cy="6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8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Before HTTP, there was </a:t>
            </a:r>
            <a:r>
              <a:rPr lang="en-US" sz="1008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standard way</a:t>
            </a:r>
            <a:r>
              <a:rPr lang="en-US" sz="1008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to send web pages between browsers and servers. HTTP (Hypertext Transfer Protocol) established a universal set of rules for transferring hypertext—documents containing clickable links—over the internet.</a:t>
            </a:r>
            <a:endParaRPr sz="1600" b="0" i="0" u="none" strike="noStrike" cap="none"/>
          </a:p>
        </p:txBody>
      </p:sp>
      <p:sp>
        <p:nvSpPr>
          <p:cNvPr id="213" name="Google Shape;213;p7"/>
          <p:cNvSpPr/>
          <p:nvPr/>
        </p:nvSpPr>
        <p:spPr>
          <a:xfrm>
            <a:off x="377080" y="2712000"/>
            <a:ext cx="3472000" cy="2896000"/>
          </a:xfrm>
          <a:custGeom>
            <a:avLst/>
            <a:gdLst/>
            <a:ahLst/>
            <a:cxnLst/>
            <a:rect l="l" t="t" r="r" b="b"/>
            <a:pathLst>
              <a:path w="3472000" h="2896000" extrusionOk="0">
                <a:moveTo>
                  <a:pt x="0" y="0"/>
                </a:moveTo>
                <a:lnTo>
                  <a:pt x="3375998" y="0"/>
                </a:lnTo>
                <a:cubicBezTo>
                  <a:pt x="3429018" y="0"/>
                  <a:pt x="3472000" y="42982"/>
                  <a:pt x="3472000" y="96002"/>
                </a:cubicBezTo>
                <a:lnTo>
                  <a:pt x="3472000" y="2799998"/>
                </a:lnTo>
                <a:cubicBezTo>
                  <a:pt x="3472000" y="2853018"/>
                  <a:pt x="3429018" y="2896000"/>
                  <a:pt x="3375998" y="2896000"/>
                </a:cubicBezTo>
                <a:lnTo>
                  <a:pt x="0" y="28960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7"/>
          <p:cNvSpPr/>
          <p:nvPr/>
        </p:nvSpPr>
        <p:spPr>
          <a:xfrm>
            <a:off x="336000" y="2664000"/>
            <a:ext cx="32000" cy="2896000"/>
          </a:xfrm>
          <a:custGeom>
            <a:avLst/>
            <a:gdLst/>
            <a:ahLst/>
            <a:cxnLst/>
            <a:rect l="l" t="t" r="r" b="b"/>
            <a:pathLst>
              <a:path w="32000" h="2896000" extrusionOk="0">
                <a:moveTo>
                  <a:pt x="0" y="0"/>
                </a:moveTo>
                <a:lnTo>
                  <a:pt x="32000" y="0"/>
                </a:lnTo>
                <a:lnTo>
                  <a:pt x="32000" y="2896000"/>
                </a:lnTo>
                <a:lnTo>
                  <a:pt x="0" y="28960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5" name="Google Shape;215;p7"/>
          <p:cNvSpPr/>
          <p:nvPr/>
        </p:nvSpPr>
        <p:spPr>
          <a:xfrm>
            <a:off x="512000" y="3696000"/>
            <a:ext cx="320000" cy="320000"/>
          </a:xfrm>
          <a:custGeom>
            <a:avLst/>
            <a:gdLst/>
            <a:ahLst/>
            <a:cxnLst/>
            <a:rect l="l" t="t" r="r" b="b"/>
            <a:pathLst>
              <a:path w="320000" h="320000" extrusionOk="0">
                <a:moveTo>
                  <a:pt x="64000" y="0"/>
                </a:moveTo>
                <a:lnTo>
                  <a:pt x="256000" y="0"/>
                </a:lnTo>
                <a:cubicBezTo>
                  <a:pt x="291346" y="0"/>
                  <a:pt x="320000" y="28654"/>
                  <a:pt x="320000" y="64000"/>
                </a:cubicBezTo>
                <a:lnTo>
                  <a:pt x="320000" y="256000"/>
                </a:lnTo>
                <a:cubicBezTo>
                  <a:pt x="320000" y="291346"/>
                  <a:pt x="291346" y="320000"/>
                  <a:pt x="256000" y="320000"/>
                </a:cubicBezTo>
                <a:lnTo>
                  <a:pt x="64000" y="320000"/>
                </a:lnTo>
                <a:cubicBezTo>
                  <a:pt x="28654" y="320000"/>
                  <a:pt x="0" y="291346"/>
                  <a:pt x="0" y="256000"/>
                </a:cubicBezTo>
                <a:lnTo>
                  <a:pt x="0" y="64000"/>
                </a:lnTo>
                <a:cubicBezTo>
                  <a:pt x="0" y="28677"/>
                  <a:pt x="28677" y="0"/>
                  <a:pt x="64000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7"/>
          <p:cNvSpPr/>
          <p:nvPr/>
        </p:nvSpPr>
        <p:spPr>
          <a:xfrm>
            <a:off x="602000" y="3784000"/>
            <a:ext cx="144000" cy="144000"/>
          </a:xfrm>
          <a:custGeom>
            <a:avLst/>
            <a:gdLst/>
            <a:ahLst/>
            <a:cxnLst/>
            <a:rect l="l" t="t" r="r" b="b"/>
            <a:pathLst>
              <a:path w="144000" h="144000" extrusionOk="0">
                <a:moveTo>
                  <a:pt x="65391" y="1463"/>
                </a:moveTo>
                <a:cubicBezTo>
                  <a:pt x="69581" y="-478"/>
                  <a:pt x="74419" y="-478"/>
                  <a:pt x="78609" y="1463"/>
                </a:cubicBezTo>
                <a:lnTo>
                  <a:pt x="140091" y="29869"/>
                </a:lnTo>
                <a:cubicBezTo>
                  <a:pt x="142481" y="30966"/>
                  <a:pt x="144000" y="33356"/>
                  <a:pt x="144000" y="36000"/>
                </a:cubicBezTo>
                <a:cubicBezTo>
                  <a:pt x="144000" y="38644"/>
                  <a:pt x="142481" y="41034"/>
                  <a:pt x="140091" y="42131"/>
                </a:cubicBezTo>
                <a:lnTo>
                  <a:pt x="78609" y="70538"/>
                </a:lnTo>
                <a:cubicBezTo>
                  <a:pt x="74419" y="72478"/>
                  <a:pt x="69581" y="72478"/>
                  <a:pt x="65391" y="70538"/>
                </a:cubicBezTo>
                <a:lnTo>
                  <a:pt x="3909" y="42131"/>
                </a:lnTo>
                <a:cubicBezTo>
                  <a:pt x="1519" y="41006"/>
                  <a:pt x="0" y="38616"/>
                  <a:pt x="0" y="36000"/>
                </a:cubicBezTo>
                <a:cubicBezTo>
                  <a:pt x="0" y="33384"/>
                  <a:pt x="1519" y="30966"/>
                  <a:pt x="3909" y="29869"/>
                </a:cubicBezTo>
                <a:lnTo>
                  <a:pt x="65391" y="1463"/>
                </a:lnTo>
                <a:close/>
                <a:moveTo>
                  <a:pt x="13528" y="61425"/>
                </a:moveTo>
                <a:lnTo>
                  <a:pt x="59737" y="82772"/>
                </a:lnTo>
                <a:cubicBezTo>
                  <a:pt x="67528" y="86372"/>
                  <a:pt x="76500" y="86372"/>
                  <a:pt x="84291" y="82772"/>
                </a:cubicBezTo>
                <a:lnTo>
                  <a:pt x="130500" y="61425"/>
                </a:lnTo>
                <a:lnTo>
                  <a:pt x="140091" y="65869"/>
                </a:lnTo>
                <a:cubicBezTo>
                  <a:pt x="142481" y="66966"/>
                  <a:pt x="144000" y="69356"/>
                  <a:pt x="144000" y="72000"/>
                </a:cubicBezTo>
                <a:cubicBezTo>
                  <a:pt x="144000" y="74644"/>
                  <a:pt x="142481" y="77034"/>
                  <a:pt x="140091" y="78131"/>
                </a:cubicBezTo>
                <a:lnTo>
                  <a:pt x="78609" y="106537"/>
                </a:lnTo>
                <a:cubicBezTo>
                  <a:pt x="74419" y="108478"/>
                  <a:pt x="69581" y="108478"/>
                  <a:pt x="65391" y="106537"/>
                </a:cubicBezTo>
                <a:lnTo>
                  <a:pt x="3909" y="78131"/>
                </a:lnTo>
                <a:cubicBezTo>
                  <a:pt x="1519" y="77006"/>
                  <a:pt x="0" y="74616"/>
                  <a:pt x="0" y="72000"/>
                </a:cubicBezTo>
                <a:cubicBezTo>
                  <a:pt x="0" y="69384"/>
                  <a:pt x="1519" y="66966"/>
                  <a:pt x="3909" y="65869"/>
                </a:cubicBezTo>
                <a:lnTo>
                  <a:pt x="13500" y="61425"/>
                </a:lnTo>
                <a:close/>
                <a:moveTo>
                  <a:pt x="3909" y="101869"/>
                </a:moveTo>
                <a:lnTo>
                  <a:pt x="13500" y="97425"/>
                </a:lnTo>
                <a:lnTo>
                  <a:pt x="59709" y="118772"/>
                </a:lnTo>
                <a:cubicBezTo>
                  <a:pt x="67500" y="122372"/>
                  <a:pt x="76472" y="122372"/>
                  <a:pt x="84263" y="118772"/>
                </a:cubicBezTo>
                <a:lnTo>
                  <a:pt x="130472" y="97425"/>
                </a:lnTo>
                <a:lnTo>
                  <a:pt x="140063" y="101869"/>
                </a:lnTo>
                <a:cubicBezTo>
                  <a:pt x="142453" y="102966"/>
                  <a:pt x="143972" y="105356"/>
                  <a:pt x="143972" y="108000"/>
                </a:cubicBezTo>
                <a:cubicBezTo>
                  <a:pt x="143972" y="110644"/>
                  <a:pt x="142453" y="113034"/>
                  <a:pt x="140063" y="114131"/>
                </a:cubicBezTo>
                <a:lnTo>
                  <a:pt x="78581" y="142538"/>
                </a:lnTo>
                <a:cubicBezTo>
                  <a:pt x="74391" y="144478"/>
                  <a:pt x="69553" y="144478"/>
                  <a:pt x="65363" y="142538"/>
                </a:cubicBezTo>
                <a:lnTo>
                  <a:pt x="3909" y="114131"/>
                </a:lnTo>
                <a:cubicBezTo>
                  <a:pt x="1519" y="113006"/>
                  <a:pt x="0" y="110616"/>
                  <a:pt x="0" y="108000"/>
                </a:cubicBezTo>
                <a:cubicBezTo>
                  <a:pt x="0" y="105384"/>
                  <a:pt x="1519" y="102966"/>
                  <a:pt x="3909" y="101869"/>
                </a:cubicBezTo>
                <a:close/>
              </a:path>
            </a:pathLst>
          </a:custGeom>
          <a:solidFill>
            <a:srgbClr val="1A1D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7"/>
          <p:cNvSpPr/>
          <p:nvPr/>
        </p:nvSpPr>
        <p:spPr>
          <a:xfrm>
            <a:off x="928000" y="3744000"/>
            <a:ext cx="992000" cy="2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4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Protocol Layer</a:t>
            </a:r>
            <a:endParaRPr sz="1600" b="0" i="0" u="none" strike="noStrike" cap="none"/>
          </a:p>
        </p:txBody>
      </p:sp>
      <p:sp>
        <p:nvSpPr>
          <p:cNvPr id="218" name="Google Shape;218;p7"/>
          <p:cNvSpPr/>
          <p:nvPr/>
        </p:nvSpPr>
        <p:spPr>
          <a:xfrm>
            <a:off x="512000" y="4112000"/>
            <a:ext cx="3200000" cy="4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8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operates at the </a:t>
            </a:r>
            <a:r>
              <a:rPr lang="en-US" sz="1008" b="1" i="0" u="none" strike="noStrike" cap="none" dirty="0">
                <a:solidFill>
                  <a:srgbClr val="E0E2E5"/>
                </a:solidFill>
                <a:highlight>
                  <a:srgbClr val="008000"/>
                </a:highlight>
                <a:latin typeface="Quattrocento Sans"/>
                <a:ea typeface="Quattrocento Sans"/>
                <a:cs typeface="Quattrocento Sans"/>
                <a:sym typeface="Quattrocento Sans"/>
              </a:rPr>
              <a:t>Application Layer</a:t>
            </a:r>
            <a:r>
              <a:rPr lang="en-US" sz="1008" b="0" i="0" u="none" strike="noStrike" cap="none" dirty="0">
                <a:solidFill>
                  <a:srgbClr val="E0E2E5"/>
                </a:solidFill>
                <a:highlight>
                  <a:srgbClr val="008000"/>
                </a:highlight>
                <a:latin typeface="Quattrocento Sans"/>
                <a:ea typeface="Quattrocento Sans"/>
                <a:cs typeface="Quattrocento Sans"/>
                <a:sym typeface="Quattrocento Sans"/>
              </a:rPr>
              <a:t> </a:t>
            </a:r>
            <a:r>
              <a:rPr lang="en-US" sz="1008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of the network stack, using TCP for data transfer (QUIC in HTTP/3).</a:t>
            </a:r>
            <a:endParaRPr sz="1600" b="0" i="0" u="none" strike="noStrike" cap="none" dirty="0"/>
          </a:p>
        </p:txBody>
      </p:sp>
      <p:sp>
        <p:nvSpPr>
          <p:cNvPr id="219" name="Google Shape;219;p7"/>
          <p:cNvSpPr/>
          <p:nvPr/>
        </p:nvSpPr>
        <p:spPr>
          <a:xfrm>
            <a:off x="3982125" y="2664000"/>
            <a:ext cx="3472000" cy="2896000"/>
          </a:xfrm>
          <a:custGeom>
            <a:avLst/>
            <a:gdLst/>
            <a:ahLst/>
            <a:cxnLst/>
            <a:rect l="l" t="t" r="r" b="b"/>
            <a:pathLst>
              <a:path w="3472000" h="2896000" extrusionOk="0">
                <a:moveTo>
                  <a:pt x="0" y="0"/>
                </a:moveTo>
                <a:lnTo>
                  <a:pt x="3375998" y="0"/>
                </a:lnTo>
                <a:cubicBezTo>
                  <a:pt x="3429018" y="0"/>
                  <a:pt x="3472000" y="42982"/>
                  <a:pt x="3472000" y="96002"/>
                </a:cubicBezTo>
                <a:lnTo>
                  <a:pt x="3472000" y="2799998"/>
                </a:lnTo>
                <a:cubicBezTo>
                  <a:pt x="3472000" y="2853018"/>
                  <a:pt x="3429018" y="2896000"/>
                  <a:pt x="3375998" y="2896000"/>
                </a:cubicBezTo>
                <a:lnTo>
                  <a:pt x="0" y="2896000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7"/>
          <p:cNvSpPr/>
          <p:nvPr/>
        </p:nvSpPr>
        <p:spPr>
          <a:xfrm>
            <a:off x="3982125" y="2664000"/>
            <a:ext cx="32000" cy="2896000"/>
          </a:xfrm>
          <a:custGeom>
            <a:avLst/>
            <a:gdLst/>
            <a:ahLst/>
            <a:cxnLst/>
            <a:rect l="l" t="t" r="r" b="b"/>
            <a:pathLst>
              <a:path w="32000" h="2896000" extrusionOk="0">
                <a:moveTo>
                  <a:pt x="0" y="0"/>
                </a:moveTo>
                <a:lnTo>
                  <a:pt x="32000" y="0"/>
                </a:lnTo>
                <a:lnTo>
                  <a:pt x="32000" y="2896000"/>
                </a:lnTo>
                <a:lnTo>
                  <a:pt x="0" y="2896000"/>
                </a:lnTo>
                <a:lnTo>
                  <a:pt x="0" y="0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1" name="Google Shape;221;p7"/>
          <p:cNvSpPr/>
          <p:nvPr/>
        </p:nvSpPr>
        <p:spPr>
          <a:xfrm>
            <a:off x="4158125" y="3696000"/>
            <a:ext cx="320000" cy="320000"/>
          </a:xfrm>
          <a:custGeom>
            <a:avLst/>
            <a:gdLst/>
            <a:ahLst/>
            <a:cxnLst/>
            <a:rect l="l" t="t" r="r" b="b"/>
            <a:pathLst>
              <a:path w="320000" h="320000" extrusionOk="0">
                <a:moveTo>
                  <a:pt x="64000" y="0"/>
                </a:moveTo>
                <a:lnTo>
                  <a:pt x="256000" y="0"/>
                </a:lnTo>
                <a:cubicBezTo>
                  <a:pt x="291346" y="0"/>
                  <a:pt x="320000" y="28654"/>
                  <a:pt x="320000" y="64000"/>
                </a:cubicBezTo>
                <a:lnTo>
                  <a:pt x="320000" y="256000"/>
                </a:lnTo>
                <a:cubicBezTo>
                  <a:pt x="320000" y="291346"/>
                  <a:pt x="291346" y="320000"/>
                  <a:pt x="256000" y="320000"/>
                </a:cubicBezTo>
                <a:lnTo>
                  <a:pt x="64000" y="320000"/>
                </a:lnTo>
                <a:cubicBezTo>
                  <a:pt x="28654" y="320000"/>
                  <a:pt x="0" y="291346"/>
                  <a:pt x="0" y="256000"/>
                </a:cubicBezTo>
                <a:lnTo>
                  <a:pt x="0" y="64000"/>
                </a:lnTo>
                <a:cubicBezTo>
                  <a:pt x="0" y="28677"/>
                  <a:pt x="28677" y="0"/>
                  <a:pt x="64000" y="0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7"/>
          <p:cNvSpPr/>
          <p:nvPr/>
        </p:nvSpPr>
        <p:spPr>
          <a:xfrm>
            <a:off x="4248125" y="3784000"/>
            <a:ext cx="144000" cy="144000"/>
          </a:xfrm>
          <a:custGeom>
            <a:avLst/>
            <a:gdLst/>
            <a:ahLst/>
            <a:cxnLst/>
            <a:rect l="l" t="t" r="r" b="b"/>
            <a:pathLst>
              <a:path w="144000" h="144000" extrusionOk="0">
                <a:moveTo>
                  <a:pt x="141356" y="42356"/>
                </a:moveTo>
                <a:lnTo>
                  <a:pt x="114356" y="69356"/>
                </a:lnTo>
                <a:cubicBezTo>
                  <a:pt x="111769" y="71944"/>
                  <a:pt x="107916" y="72703"/>
                  <a:pt x="104541" y="71297"/>
                </a:cubicBezTo>
                <a:cubicBezTo>
                  <a:pt x="101166" y="69891"/>
                  <a:pt x="99000" y="66628"/>
                  <a:pt x="99000" y="63000"/>
                </a:cubicBezTo>
                <a:lnTo>
                  <a:pt x="99000" y="45000"/>
                </a:lnTo>
                <a:lnTo>
                  <a:pt x="9000" y="45000"/>
                </a:lnTo>
                <a:cubicBezTo>
                  <a:pt x="4022" y="45000"/>
                  <a:pt x="0" y="40978"/>
                  <a:pt x="0" y="36000"/>
                </a:cubicBezTo>
                <a:cubicBezTo>
                  <a:pt x="0" y="31022"/>
                  <a:pt x="4022" y="27000"/>
                  <a:pt x="9000" y="27000"/>
                </a:cubicBezTo>
                <a:lnTo>
                  <a:pt x="99000" y="27000"/>
                </a:lnTo>
                <a:lnTo>
                  <a:pt x="99000" y="9000"/>
                </a:lnTo>
                <a:cubicBezTo>
                  <a:pt x="99000" y="5372"/>
                  <a:pt x="101194" y="2081"/>
                  <a:pt x="104569" y="675"/>
                </a:cubicBezTo>
                <a:cubicBezTo>
                  <a:pt x="107944" y="-731"/>
                  <a:pt x="111797" y="56"/>
                  <a:pt x="114384" y="2616"/>
                </a:cubicBezTo>
                <a:lnTo>
                  <a:pt x="141384" y="29616"/>
                </a:lnTo>
                <a:cubicBezTo>
                  <a:pt x="144900" y="33131"/>
                  <a:pt x="144900" y="38841"/>
                  <a:pt x="141384" y="42356"/>
                </a:cubicBezTo>
                <a:close/>
                <a:moveTo>
                  <a:pt x="29616" y="141356"/>
                </a:moveTo>
                <a:lnTo>
                  <a:pt x="2616" y="114356"/>
                </a:lnTo>
                <a:cubicBezTo>
                  <a:pt x="-900" y="110841"/>
                  <a:pt x="-900" y="105131"/>
                  <a:pt x="2616" y="101616"/>
                </a:cubicBezTo>
                <a:lnTo>
                  <a:pt x="29616" y="74616"/>
                </a:lnTo>
                <a:cubicBezTo>
                  <a:pt x="32203" y="72028"/>
                  <a:pt x="36056" y="71269"/>
                  <a:pt x="39431" y="72675"/>
                </a:cubicBezTo>
                <a:cubicBezTo>
                  <a:pt x="42806" y="74081"/>
                  <a:pt x="45000" y="77372"/>
                  <a:pt x="45000" y="81000"/>
                </a:cubicBezTo>
                <a:lnTo>
                  <a:pt x="45000" y="99000"/>
                </a:lnTo>
                <a:lnTo>
                  <a:pt x="135000" y="99000"/>
                </a:lnTo>
                <a:cubicBezTo>
                  <a:pt x="139978" y="99000"/>
                  <a:pt x="144000" y="103022"/>
                  <a:pt x="144000" y="108000"/>
                </a:cubicBezTo>
                <a:cubicBezTo>
                  <a:pt x="144000" y="112978"/>
                  <a:pt x="139978" y="117000"/>
                  <a:pt x="135000" y="117000"/>
                </a:cubicBezTo>
                <a:lnTo>
                  <a:pt x="45000" y="117000"/>
                </a:lnTo>
                <a:lnTo>
                  <a:pt x="45000" y="135000"/>
                </a:lnTo>
                <a:cubicBezTo>
                  <a:pt x="45000" y="138628"/>
                  <a:pt x="42806" y="141919"/>
                  <a:pt x="39431" y="143325"/>
                </a:cubicBezTo>
                <a:cubicBezTo>
                  <a:pt x="36056" y="144731"/>
                  <a:pt x="32203" y="143944"/>
                  <a:pt x="29616" y="141384"/>
                </a:cubicBezTo>
                <a:close/>
              </a:path>
            </a:pathLst>
          </a:custGeom>
          <a:solidFill>
            <a:srgbClr val="E0E2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7"/>
          <p:cNvSpPr/>
          <p:nvPr/>
        </p:nvSpPr>
        <p:spPr>
          <a:xfrm>
            <a:off x="4574125" y="3744000"/>
            <a:ext cx="1280000" cy="2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4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Request-Response</a:t>
            </a:r>
            <a:endParaRPr sz="1600" b="0" i="0" u="none" strike="noStrike" cap="none"/>
          </a:p>
        </p:txBody>
      </p:sp>
      <p:sp>
        <p:nvSpPr>
          <p:cNvPr id="224" name="Google Shape;224;p7"/>
          <p:cNvSpPr/>
          <p:nvPr/>
        </p:nvSpPr>
        <p:spPr>
          <a:xfrm>
            <a:off x="4158125" y="4112000"/>
            <a:ext cx="3200000" cy="4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8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Clients send </a:t>
            </a:r>
            <a:r>
              <a:rPr lang="en-US" sz="1008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requests</a:t>
            </a:r>
            <a:r>
              <a:rPr lang="en-US" sz="1008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for data; servers process and return </a:t>
            </a:r>
            <a:r>
              <a:rPr lang="en-US" sz="1008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responses</a:t>
            </a:r>
            <a:r>
              <a:rPr lang="en-US" sz="1008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containing the requested information.</a:t>
            </a:r>
            <a:endParaRPr sz="1600" b="0" i="0" u="none" strike="noStrike" cap="none"/>
          </a:p>
        </p:txBody>
      </p:sp>
      <p:sp>
        <p:nvSpPr>
          <p:cNvPr id="225" name="Google Shape;225;p7"/>
          <p:cNvSpPr/>
          <p:nvPr/>
        </p:nvSpPr>
        <p:spPr>
          <a:xfrm>
            <a:off x="324000" y="5724000"/>
            <a:ext cx="7128000" cy="1128000"/>
          </a:xfrm>
          <a:custGeom>
            <a:avLst/>
            <a:gdLst/>
            <a:ahLst/>
            <a:cxnLst/>
            <a:rect l="l" t="t" r="r" b="b"/>
            <a:pathLst>
              <a:path w="7128000" h="1128000" extrusionOk="0">
                <a:moveTo>
                  <a:pt x="96004" y="0"/>
                </a:moveTo>
                <a:lnTo>
                  <a:pt x="7031996" y="0"/>
                </a:lnTo>
                <a:cubicBezTo>
                  <a:pt x="7085018" y="0"/>
                  <a:pt x="7128000" y="42982"/>
                  <a:pt x="7128000" y="96004"/>
                </a:cubicBezTo>
                <a:lnTo>
                  <a:pt x="7128000" y="1031996"/>
                </a:lnTo>
                <a:cubicBezTo>
                  <a:pt x="7128000" y="1085018"/>
                  <a:pt x="7085018" y="1128000"/>
                  <a:pt x="7031996" y="1128000"/>
                </a:cubicBezTo>
                <a:lnTo>
                  <a:pt x="96004" y="1128000"/>
                </a:lnTo>
                <a:cubicBezTo>
                  <a:pt x="42982" y="1128000"/>
                  <a:pt x="0" y="1085018"/>
                  <a:pt x="0" y="1031996"/>
                </a:cubicBezTo>
                <a:lnTo>
                  <a:pt x="0" y="96004"/>
                </a:lnTo>
                <a:cubicBezTo>
                  <a:pt x="0" y="43018"/>
                  <a:pt x="43018" y="0"/>
                  <a:pt x="96004" y="0"/>
                </a:cubicBezTo>
                <a:close/>
              </a:path>
            </a:pathLst>
          </a:custGeom>
          <a:solidFill>
            <a:srgbClr val="788A9C">
              <a:alpha val="10196"/>
            </a:srgbClr>
          </a:solidFill>
          <a:ln w="12700" cap="flat" cmpd="sng">
            <a:solidFill>
              <a:srgbClr val="788A9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7"/>
          <p:cNvSpPr/>
          <p:nvPr/>
        </p:nvSpPr>
        <p:spPr>
          <a:xfrm>
            <a:off x="549000" y="5960000"/>
            <a:ext cx="126000" cy="144000"/>
          </a:xfrm>
          <a:custGeom>
            <a:avLst/>
            <a:gdLst/>
            <a:ahLst/>
            <a:cxnLst/>
            <a:rect l="l" t="t" r="r" b="b"/>
            <a:pathLst>
              <a:path w="126000" h="144000" extrusionOk="0">
                <a:moveTo>
                  <a:pt x="95288" y="-2784"/>
                </a:moveTo>
                <a:cubicBezTo>
                  <a:pt x="98634" y="-366"/>
                  <a:pt x="99872" y="4022"/>
                  <a:pt x="98353" y="7847"/>
                </a:cubicBezTo>
                <a:lnTo>
                  <a:pt x="76303" y="63000"/>
                </a:lnTo>
                <a:lnTo>
                  <a:pt x="117000" y="63000"/>
                </a:lnTo>
                <a:cubicBezTo>
                  <a:pt x="120797" y="63000"/>
                  <a:pt x="124172" y="65363"/>
                  <a:pt x="125466" y="68934"/>
                </a:cubicBezTo>
                <a:cubicBezTo>
                  <a:pt x="126759" y="72506"/>
                  <a:pt x="125663" y="76500"/>
                  <a:pt x="122766" y="78919"/>
                </a:cubicBezTo>
                <a:lnTo>
                  <a:pt x="41766" y="146419"/>
                </a:lnTo>
                <a:cubicBezTo>
                  <a:pt x="38587" y="149063"/>
                  <a:pt x="34059" y="149203"/>
                  <a:pt x="30712" y="146784"/>
                </a:cubicBezTo>
                <a:cubicBezTo>
                  <a:pt x="27366" y="144366"/>
                  <a:pt x="26128" y="139978"/>
                  <a:pt x="27647" y="136153"/>
                </a:cubicBezTo>
                <a:lnTo>
                  <a:pt x="49697" y="81000"/>
                </a:lnTo>
                <a:lnTo>
                  <a:pt x="9000" y="81000"/>
                </a:lnTo>
                <a:cubicBezTo>
                  <a:pt x="5203" y="81000"/>
                  <a:pt x="1828" y="78638"/>
                  <a:pt x="534" y="75066"/>
                </a:cubicBezTo>
                <a:cubicBezTo>
                  <a:pt x="-759" y="71494"/>
                  <a:pt x="337" y="67500"/>
                  <a:pt x="3234" y="65081"/>
                </a:cubicBezTo>
                <a:lnTo>
                  <a:pt x="84234" y="-2419"/>
                </a:lnTo>
                <a:cubicBezTo>
                  <a:pt x="87412" y="-5063"/>
                  <a:pt x="91941" y="-5203"/>
                  <a:pt x="95288" y="-2784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7"/>
          <p:cNvSpPr/>
          <p:nvPr/>
        </p:nvSpPr>
        <p:spPr>
          <a:xfrm>
            <a:off x="704000" y="5920000"/>
            <a:ext cx="6624000" cy="2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4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Stateless Nature</a:t>
            </a:r>
            <a:endParaRPr sz="1600" b="0" i="0" u="none" strike="noStrike" cap="none"/>
          </a:p>
        </p:txBody>
      </p:sp>
      <p:sp>
        <p:nvSpPr>
          <p:cNvPr id="228" name="Google Shape;228;p7"/>
          <p:cNvSpPr/>
          <p:nvPr/>
        </p:nvSpPr>
        <p:spPr>
          <a:xfrm>
            <a:off x="520000" y="6240000"/>
            <a:ext cx="6800000" cy="4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8" b="1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is </a:t>
            </a:r>
            <a:r>
              <a:rPr lang="en-US" sz="1008" b="1" i="0" u="none" strike="noStrike" cap="none" dirty="0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stateless</a:t>
            </a:r>
            <a:r>
              <a:rPr lang="en-US" sz="1008" b="1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r>
              <a:rPr lang="en-US" sz="1008" b="1" i="0" u="none" strike="noStrike" cap="none" dirty="0">
                <a:solidFill>
                  <a:srgbClr val="E0E2E5"/>
                </a:solidFill>
                <a:highlight>
                  <a:srgbClr val="008000"/>
                </a:highlight>
                <a:latin typeface="Quattrocento Sans"/>
                <a:ea typeface="Quattrocento Sans"/>
                <a:cs typeface="Quattrocento Sans"/>
                <a:sym typeface="Quattrocento Sans"/>
              </a:rPr>
              <a:t>it doesn't store information about previous requests</a:t>
            </a:r>
            <a:r>
              <a:rPr lang="en-US" sz="1008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. This design enables easy scaling but requires mechanisms like cookies, sessions, or tokens to maintain state in web applications. </a:t>
            </a:r>
            <a:r>
              <a:rPr lang="en-US" sz="1008" b="1" i="0" u="none" strike="noStrike" cap="none" dirty="0">
                <a:solidFill>
                  <a:schemeClr val="accent4">
                    <a:lumMod val="60000"/>
                    <a:lumOff val="40000"/>
                  </a:schemeClr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*** IMPORTANT POINT</a:t>
            </a:r>
            <a:endParaRPr sz="1600" b="1" i="0" u="none" strike="noStrike" cap="none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29" name="Google Shape;229;p7"/>
          <p:cNvSpPr/>
          <p:nvPr/>
        </p:nvSpPr>
        <p:spPr>
          <a:xfrm>
            <a:off x="7712375" y="1132000"/>
            <a:ext cx="4152000" cy="2664000"/>
          </a:xfrm>
          <a:custGeom>
            <a:avLst/>
            <a:gdLst/>
            <a:ahLst/>
            <a:cxnLst/>
            <a:rect l="l" t="t" r="r" b="b"/>
            <a:pathLst>
              <a:path w="4152000" h="2664000" extrusionOk="0">
                <a:moveTo>
                  <a:pt x="128005" y="0"/>
                </a:moveTo>
                <a:lnTo>
                  <a:pt x="4023995" y="0"/>
                </a:lnTo>
                <a:cubicBezTo>
                  <a:pt x="4094643" y="0"/>
                  <a:pt x="4152000" y="57357"/>
                  <a:pt x="4152000" y="128005"/>
                </a:cubicBezTo>
                <a:lnTo>
                  <a:pt x="4152000" y="2535995"/>
                </a:lnTo>
                <a:cubicBezTo>
                  <a:pt x="4152000" y="2606643"/>
                  <a:pt x="4094643" y="2664000"/>
                  <a:pt x="4023995" y="2664000"/>
                </a:cubicBezTo>
                <a:lnTo>
                  <a:pt x="128005" y="2664000"/>
                </a:lnTo>
                <a:cubicBezTo>
                  <a:pt x="57357" y="2664000"/>
                  <a:pt x="0" y="2606643"/>
                  <a:pt x="0" y="2535995"/>
                </a:cubicBezTo>
                <a:lnTo>
                  <a:pt x="0" y="128005"/>
                </a:lnTo>
                <a:cubicBezTo>
                  <a:pt x="0" y="57357"/>
                  <a:pt x="57357" y="0"/>
                  <a:pt x="128005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788A9C">
                  <a:alpha val="10196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7"/>
          <p:cNvSpPr/>
          <p:nvPr/>
        </p:nvSpPr>
        <p:spPr>
          <a:xfrm>
            <a:off x="7868375" y="1328000"/>
            <a:ext cx="3840000" cy="2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6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 Request Structure</a:t>
            </a:r>
            <a:endParaRPr sz="1600" b="0" i="0" u="none" strike="noStrike" cap="none"/>
          </a:p>
        </p:txBody>
      </p:sp>
      <p:sp>
        <p:nvSpPr>
          <p:cNvPr id="231" name="Google Shape;231;p7"/>
          <p:cNvSpPr/>
          <p:nvPr/>
        </p:nvSpPr>
        <p:spPr>
          <a:xfrm>
            <a:off x="7912375" y="1684000"/>
            <a:ext cx="3752000" cy="1256000"/>
          </a:xfrm>
          <a:custGeom>
            <a:avLst/>
            <a:gdLst/>
            <a:ahLst/>
            <a:cxnLst/>
            <a:rect l="l" t="t" r="r" b="b"/>
            <a:pathLst>
              <a:path w="3752000" h="1256000" extrusionOk="0">
                <a:moveTo>
                  <a:pt x="95996" y="0"/>
                </a:moveTo>
                <a:lnTo>
                  <a:pt x="3656004" y="0"/>
                </a:lnTo>
                <a:cubicBezTo>
                  <a:pt x="3709021" y="0"/>
                  <a:pt x="3752000" y="42979"/>
                  <a:pt x="3752000" y="95996"/>
                </a:cubicBezTo>
                <a:lnTo>
                  <a:pt x="3752000" y="1160004"/>
                </a:lnTo>
                <a:cubicBezTo>
                  <a:pt x="3752000" y="1213021"/>
                  <a:pt x="3709021" y="1256000"/>
                  <a:pt x="3656004" y="1256000"/>
                </a:cubicBezTo>
                <a:lnTo>
                  <a:pt x="95996" y="1256000"/>
                </a:lnTo>
                <a:cubicBezTo>
                  <a:pt x="42979" y="1256000"/>
                  <a:pt x="0" y="1213021"/>
                  <a:pt x="0" y="1160004"/>
                </a:cubicBezTo>
                <a:lnTo>
                  <a:pt x="0" y="95996"/>
                </a:lnTo>
                <a:cubicBezTo>
                  <a:pt x="0" y="43014"/>
                  <a:pt x="43014" y="0"/>
                  <a:pt x="95996" y="0"/>
                </a:cubicBezTo>
                <a:close/>
              </a:path>
            </a:pathLst>
          </a:custGeom>
          <a:solidFill>
            <a:srgbClr val="1A1D21">
              <a:alpha val="80000"/>
            </a:srgbClr>
          </a:solidFill>
          <a:ln w="12700" cap="flat" cmpd="sng">
            <a:solidFill>
              <a:srgbClr val="4A6C8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7"/>
          <p:cNvSpPr/>
          <p:nvPr/>
        </p:nvSpPr>
        <p:spPr>
          <a:xfrm>
            <a:off x="8044375" y="1832000"/>
            <a:ext cx="258375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B89A6B"/>
                </a:solidFill>
                <a:latin typeface="Arial"/>
                <a:ea typeface="Arial"/>
                <a:cs typeface="Arial"/>
                <a:sym typeface="Arial"/>
              </a:rPr>
              <a:t>GET</a:t>
            </a:r>
            <a:endParaRPr sz="1600" b="0" i="0" u="none" strike="noStrike" cap="none"/>
          </a:p>
        </p:txBody>
      </p:sp>
      <p:sp>
        <p:nvSpPr>
          <p:cNvPr id="233" name="Google Shape;233;p7"/>
          <p:cNvSpPr/>
          <p:nvPr/>
        </p:nvSpPr>
        <p:spPr>
          <a:xfrm>
            <a:off x="8314250" y="1832000"/>
            <a:ext cx="190875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E0E2E5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endParaRPr sz="1600" b="0" i="0" u="none" strike="noStrike" cap="none"/>
          </a:p>
        </p:txBody>
      </p:sp>
      <p:sp>
        <p:nvSpPr>
          <p:cNvPr id="234" name="Google Shape;234;p7"/>
          <p:cNvSpPr/>
          <p:nvPr/>
        </p:nvSpPr>
        <p:spPr>
          <a:xfrm>
            <a:off x="8449125" y="1832000"/>
            <a:ext cx="595500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HTTP/1.1</a:t>
            </a:r>
            <a:endParaRPr sz="1600" b="0" i="0" u="none" strike="noStrike" cap="none"/>
          </a:p>
        </p:txBody>
      </p:sp>
      <p:sp>
        <p:nvSpPr>
          <p:cNvPr id="235" name="Google Shape;235;p7"/>
          <p:cNvSpPr/>
          <p:nvPr/>
        </p:nvSpPr>
        <p:spPr>
          <a:xfrm>
            <a:off x="8044375" y="2072000"/>
            <a:ext cx="3544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Host: codersgyan.com</a:t>
            </a:r>
            <a:endParaRPr sz="1600" b="0" i="0" u="none" strike="noStrike" cap="none"/>
          </a:p>
        </p:txBody>
      </p:sp>
      <p:sp>
        <p:nvSpPr>
          <p:cNvPr id="236" name="Google Shape;236;p7"/>
          <p:cNvSpPr/>
          <p:nvPr/>
        </p:nvSpPr>
        <p:spPr>
          <a:xfrm>
            <a:off x="8044375" y="2264000"/>
            <a:ext cx="3544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Accept-Language: en</a:t>
            </a:r>
            <a:endParaRPr sz="1600" b="0" i="0" u="none" strike="noStrike" cap="none"/>
          </a:p>
        </p:txBody>
      </p:sp>
      <p:sp>
        <p:nvSpPr>
          <p:cNvPr id="237" name="Google Shape;237;p7"/>
          <p:cNvSpPr/>
          <p:nvPr/>
        </p:nvSpPr>
        <p:spPr>
          <a:xfrm>
            <a:off x="8044375" y="2456000"/>
            <a:ext cx="3544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User-Agent: Mozilla/5.0</a:t>
            </a:r>
            <a:endParaRPr sz="1600" b="0" i="0" u="none" strike="noStrike" cap="none"/>
          </a:p>
        </p:txBody>
      </p:sp>
      <p:sp>
        <p:nvSpPr>
          <p:cNvPr id="238" name="Google Shape;238;p7"/>
          <p:cNvSpPr/>
          <p:nvPr/>
        </p:nvSpPr>
        <p:spPr>
          <a:xfrm>
            <a:off x="8044375" y="2648000"/>
            <a:ext cx="3544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Connection: keep-alive</a:t>
            </a:r>
            <a:endParaRPr sz="1600" b="0" i="0" u="none" strike="noStrike" cap="none"/>
          </a:p>
        </p:txBody>
      </p:sp>
      <p:sp>
        <p:nvSpPr>
          <p:cNvPr id="239" name="Google Shape;239;p7"/>
          <p:cNvSpPr/>
          <p:nvPr/>
        </p:nvSpPr>
        <p:spPr>
          <a:xfrm>
            <a:off x="7912375" y="3076000"/>
            <a:ext cx="1184000" cy="520000"/>
          </a:xfrm>
          <a:custGeom>
            <a:avLst/>
            <a:gdLst/>
            <a:ahLst/>
            <a:cxnLst/>
            <a:rect l="l" t="t" r="r" b="b"/>
            <a:pathLst>
              <a:path w="1184000" h="520000" extrusionOk="0">
                <a:moveTo>
                  <a:pt x="64002" y="0"/>
                </a:moveTo>
                <a:lnTo>
                  <a:pt x="1119998" y="0"/>
                </a:lnTo>
                <a:cubicBezTo>
                  <a:pt x="1155346" y="0"/>
                  <a:pt x="1184000" y="28654"/>
                  <a:pt x="1184000" y="64002"/>
                </a:cubicBezTo>
                <a:lnTo>
                  <a:pt x="1184000" y="455998"/>
                </a:lnTo>
                <a:cubicBezTo>
                  <a:pt x="1184000" y="491346"/>
                  <a:pt x="1155346" y="520000"/>
                  <a:pt x="1119998" y="520000"/>
                </a:cubicBezTo>
                <a:lnTo>
                  <a:pt x="64002" y="520000"/>
                </a:lnTo>
                <a:cubicBezTo>
                  <a:pt x="28654" y="520000"/>
                  <a:pt x="0" y="491346"/>
                  <a:pt x="0" y="455998"/>
                </a:cubicBezTo>
                <a:lnTo>
                  <a:pt x="0" y="64002"/>
                </a:lnTo>
                <a:cubicBezTo>
                  <a:pt x="0" y="28654"/>
                  <a:pt x="28654" y="0"/>
                  <a:pt x="64002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7"/>
          <p:cNvSpPr/>
          <p:nvPr/>
        </p:nvSpPr>
        <p:spPr>
          <a:xfrm>
            <a:off x="7984375" y="3176000"/>
            <a:ext cx="1040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Method</a:t>
            </a:r>
            <a:endParaRPr sz="1600" b="0" i="0" u="none" strike="noStrike" cap="none"/>
          </a:p>
        </p:txBody>
      </p:sp>
      <p:sp>
        <p:nvSpPr>
          <p:cNvPr id="241" name="Google Shape;241;p7"/>
          <p:cNvSpPr/>
          <p:nvPr/>
        </p:nvSpPr>
        <p:spPr>
          <a:xfrm>
            <a:off x="7988375" y="3368000"/>
            <a:ext cx="1032000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GET, POST, etc.</a:t>
            </a:r>
            <a:endParaRPr sz="1600" b="0" i="0" u="none" strike="noStrike" cap="none"/>
          </a:p>
        </p:txBody>
      </p:sp>
      <p:sp>
        <p:nvSpPr>
          <p:cNvPr id="242" name="Google Shape;242;p7"/>
          <p:cNvSpPr/>
          <p:nvPr/>
        </p:nvSpPr>
        <p:spPr>
          <a:xfrm>
            <a:off x="9197625" y="3076000"/>
            <a:ext cx="1184000" cy="520000"/>
          </a:xfrm>
          <a:custGeom>
            <a:avLst/>
            <a:gdLst/>
            <a:ahLst/>
            <a:cxnLst/>
            <a:rect l="l" t="t" r="r" b="b"/>
            <a:pathLst>
              <a:path w="1184000" h="520000" extrusionOk="0">
                <a:moveTo>
                  <a:pt x="64002" y="0"/>
                </a:moveTo>
                <a:lnTo>
                  <a:pt x="1119998" y="0"/>
                </a:lnTo>
                <a:cubicBezTo>
                  <a:pt x="1155346" y="0"/>
                  <a:pt x="1184000" y="28654"/>
                  <a:pt x="1184000" y="64002"/>
                </a:cubicBezTo>
                <a:lnTo>
                  <a:pt x="1184000" y="455998"/>
                </a:lnTo>
                <a:cubicBezTo>
                  <a:pt x="1184000" y="491346"/>
                  <a:pt x="1155346" y="520000"/>
                  <a:pt x="1119998" y="520000"/>
                </a:cubicBezTo>
                <a:lnTo>
                  <a:pt x="64002" y="520000"/>
                </a:lnTo>
                <a:cubicBezTo>
                  <a:pt x="28654" y="520000"/>
                  <a:pt x="0" y="491346"/>
                  <a:pt x="0" y="455998"/>
                </a:cubicBezTo>
                <a:lnTo>
                  <a:pt x="0" y="64002"/>
                </a:lnTo>
                <a:cubicBezTo>
                  <a:pt x="0" y="28654"/>
                  <a:pt x="28654" y="0"/>
                  <a:pt x="64002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7"/>
          <p:cNvSpPr/>
          <p:nvPr/>
        </p:nvSpPr>
        <p:spPr>
          <a:xfrm>
            <a:off x="9245625" y="3129500"/>
            <a:ext cx="1040000" cy="2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1" i="0" u="none" strike="noStrike" cap="none" dirty="0">
                <a:solidFill>
                  <a:srgbClr val="4A6C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Path</a:t>
            </a:r>
            <a:r>
              <a:rPr lang="en-US" sz="800" b="1" i="0" u="none" strike="noStrike" cap="none" dirty="0">
                <a:solidFill>
                  <a:srgbClr val="4A6C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(which server hit)</a:t>
            </a:r>
            <a:endParaRPr sz="1600" b="0" i="0" u="none" strike="noStrike" cap="none" dirty="0"/>
          </a:p>
        </p:txBody>
      </p:sp>
      <p:sp>
        <p:nvSpPr>
          <p:cNvPr id="244" name="Google Shape;244;p7"/>
          <p:cNvSpPr/>
          <p:nvPr/>
        </p:nvSpPr>
        <p:spPr>
          <a:xfrm>
            <a:off x="9253625" y="3414500"/>
            <a:ext cx="1032000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6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Resource location</a:t>
            </a:r>
            <a:endParaRPr sz="1600" b="0" i="0" u="none" strike="noStrike" cap="none" dirty="0"/>
          </a:p>
        </p:txBody>
      </p:sp>
      <p:sp>
        <p:nvSpPr>
          <p:cNvPr id="245" name="Google Shape;245;p7"/>
          <p:cNvSpPr/>
          <p:nvPr/>
        </p:nvSpPr>
        <p:spPr>
          <a:xfrm>
            <a:off x="10483000" y="3076000"/>
            <a:ext cx="1184000" cy="520000"/>
          </a:xfrm>
          <a:custGeom>
            <a:avLst/>
            <a:gdLst/>
            <a:ahLst/>
            <a:cxnLst/>
            <a:rect l="l" t="t" r="r" b="b"/>
            <a:pathLst>
              <a:path w="1184000" h="520000" extrusionOk="0">
                <a:moveTo>
                  <a:pt x="64002" y="0"/>
                </a:moveTo>
                <a:lnTo>
                  <a:pt x="1119998" y="0"/>
                </a:lnTo>
                <a:cubicBezTo>
                  <a:pt x="1155346" y="0"/>
                  <a:pt x="1184000" y="28654"/>
                  <a:pt x="1184000" y="64002"/>
                </a:cubicBezTo>
                <a:lnTo>
                  <a:pt x="1184000" y="455998"/>
                </a:lnTo>
                <a:cubicBezTo>
                  <a:pt x="1184000" y="491346"/>
                  <a:pt x="1155346" y="520000"/>
                  <a:pt x="1119998" y="520000"/>
                </a:cubicBezTo>
                <a:lnTo>
                  <a:pt x="64002" y="520000"/>
                </a:lnTo>
                <a:cubicBezTo>
                  <a:pt x="28654" y="520000"/>
                  <a:pt x="0" y="491346"/>
                  <a:pt x="0" y="455998"/>
                </a:cubicBezTo>
                <a:lnTo>
                  <a:pt x="0" y="64002"/>
                </a:lnTo>
                <a:cubicBezTo>
                  <a:pt x="0" y="28654"/>
                  <a:pt x="28654" y="0"/>
                  <a:pt x="64002" y="0"/>
                </a:cubicBezTo>
                <a:close/>
              </a:path>
            </a:pathLst>
          </a:custGeom>
          <a:solidFill>
            <a:srgbClr val="788A9C">
              <a:alpha val="10196"/>
            </a:srgbClr>
          </a:solidFill>
          <a:ln w="12700" cap="flat" cmpd="sng">
            <a:solidFill>
              <a:srgbClr val="788A9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7"/>
          <p:cNvSpPr/>
          <p:nvPr/>
        </p:nvSpPr>
        <p:spPr>
          <a:xfrm>
            <a:off x="10555000" y="3176000"/>
            <a:ext cx="1040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1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Headers</a:t>
            </a:r>
            <a:endParaRPr sz="1600" b="0" i="0" u="none" strike="noStrike" cap="none"/>
          </a:p>
        </p:txBody>
      </p:sp>
      <p:sp>
        <p:nvSpPr>
          <p:cNvPr id="247" name="Google Shape;247;p7"/>
          <p:cNvSpPr/>
          <p:nvPr/>
        </p:nvSpPr>
        <p:spPr>
          <a:xfrm>
            <a:off x="10559000" y="3368000"/>
            <a:ext cx="1032000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Metadata</a:t>
            </a:r>
            <a:endParaRPr sz="1600" b="0" i="0" u="none" strike="noStrike" cap="none"/>
          </a:p>
        </p:txBody>
      </p:sp>
      <p:sp>
        <p:nvSpPr>
          <p:cNvPr id="248" name="Google Shape;248;p7"/>
          <p:cNvSpPr/>
          <p:nvPr/>
        </p:nvSpPr>
        <p:spPr>
          <a:xfrm>
            <a:off x="7712375" y="3964000"/>
            <a:ext cx="4152000" cy="2888000"/>
          </a:xfrm>
          <a:custGeom>
            <a:avLst/>
            <a:gdLst/>
            <a:ahLst/>
            <a:cxnLst/>
            <a:rect l="l" t="t" r="r" b="b"/>
            <a:pathLst>
              <a:path w="4152000" h="2888000" extrusionOk="0">
                <a:moveTo>
                  <a:pt x="127996" y="0"/>
                </a:moveTo>
                <a:lnTo>
                  <a:pt x="4024004" y="0"/>
                </a:lnTo>
                <a:cubicBezTo>
                  <a:pt x="4094647" y="0"/>
                  <a:pt x="4152000" y="57353"/>
                  <a:pt x="4152000" y="127996"/>
                </a:cubicBezTo>
                <a:lnTo>
                  <a:pt x="4152000" y="2760004"/>
                </a:lnTo>
                <a:cubicBezTo>
                  <a:pt x="4152000" y="2830647"/>
                  <a:pt x="4094647" y="2888000"/>
                  <a:pt x="4024004" y="2888000"/>
                </a:cubicBezTo>
                <a:lnTo>
                  <a:pt x="127996" y="2888000"/>
                </a:lnTo>
                <a:cubicBezTo>
                  <a:pt x="57353" y="2888000"/>
                  <a:pt x="0" y="2830647"/>
                  <a:pt x="0" y="2760004"/>
                </a:cubicBezTo>
                <a:lnTo>
                  <a:pt x="0" y="127996"/>
                </a:lnTo>
                <a:cubicBezTo>
                  <a:pt x="0" y="57353"/>
                  <a:pt x="57353" y="0"/>
                  <a:pt x="127996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788A9C">
                  <a:alpha val="10196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7"/>
          <p:cNvSpPr/>
          <p:nvPr/>
        </p:nvSpPr>
        <p:spPr>
          <a:xfrm>
            <a:off x="7868375" y="4160000"/>
            <a:ext cx="3840000" cy="2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6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 Response Structure</a:t>
            </a:r>
            <a:endParaRPr sz="1600" b="0" i="0" u="none" strike="noStrike" cap="none"/>
          </a:p>
        </p:txBody>
      </p:sp>
      <p:sp>
        <p:nvSpPr>
          <p:cNvPr id="250" name="Google Shape;250;p7"/>
          <p:cNvSpPr/>
          <p:nvPr/>
        </p:nvSpPr>
        <p:spPr>
          <a:xfrm>
            <a:off x="7912375" y="4516000"/>
            <a:ext cx="3752000" cy="1480000"/>
          </a:xfrm>
          <a:custGeom>
            <a:avLst/>
            <a:gdLst/>
            <a:ahLst/>
            <a:cxnLst/>
            <a:rect l="l" t="t" r="r" b="b"/>
            <a:pathLst>
              <a:path w="3752000" h="1480000" extrusionOk="0">
                <a:moveTo>
                  <a:pt x="95993" y="0"/>
                </a:moveTo>
                <a:lnTo>
                  <a:pt x="3656007" y="0"/>
                </a:lnTo>
                <a:cubicBezTo>
                  <a:pt x="3709023" y="0"/>
                  <a:pt x="3752000" y="42977"/>
                  <a:pt x="3752000" y="95993"/>
                </a:cubicBezTo>
                <a:lnTo>
                  <a:pt x="3752000" y="1384007"/>
                </a:lnTo>
                <a:cubicBezTo>
                  <a:pt x="3752000" y="1437023"/>
                  <a:pt x="3709023" y="1480000"/>
                  <a:pt x="3656007" y="1480000"/>
                </a:cubicBezTo>
                <a:lnTo>
                  <a:pt x="95993" y="1480000"/>
                </a:lnTo>
                <a:cubicBezTo>
                  <a:pt x="42977" y="1480000"/>
                  <a:pt x="0" y="1437023"/>
                  <a:pt x="0" y="1384007"/>
                </a:cubicBezTo>
                <a:lnTo>
                  <a:pt x="0" y="95993"/>
                </a:lnTo>
                <a:cubicBezTo>
                  <a:pt x="0" y="43013"/>
                  <a:pt x="43013" y="0"/>
                  <a:pt x="95993" y="0"/>
                </a:cubicBezTo>
                <a:close/>
              </a:path>
            </a:pathLst>
          </a:custGeom>
          <a:solidFill>
            <a:srgbClr val="1A1D21">
              <a:alpha val="80000"/>
            </a:srgbClr>
          </a:solidFill>
          <a:ln w="12700" cap="flat" cmpd="sng">
            <a:solidFill>
              <a:srgbClr val="4A6C8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51" name="Google Shape;251;p7"/>
          <p:cNvSpPr/>
          <p:nvPr/>
        </p:nvSpPr>
        <p:spPr>
          <a:xfrm>
            <a:off x="8044375" y="4664000"/>
            <a:ext cx="595500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HTTP/1.1</a:t>
            </a:r>
            <a:endParaRPr sz="1600" b="0" i="0" u="none" strike="noStrike" cap="none"/>
          </a:p>
        </p:txBody>
      </p:sp>
      <p:sp>
        <p:nvSpPr>
          <p:cNvPr id="252" name="Google Shape;252;p7"/>
          <p:cNvSpPr/>
          <p:nvPr/>
        </p:nvSpPr>
        <p:spPr>
          <a:xfrm>
            <a:off x="8651375" y="4664000"/>
            <a:ext cx="985385" cy="1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 dirty="0">
                <a:solidFill>
                  <a:srgbClr val="B89A6B"/>
                </a:solidFill>
                <a:latin typeface="Arial"/>
                <a:ea typeface="Arial"/>
                <a:cs typeface="Arial"/>
                <a:sym typeface="Arial"/>
              </a:rPr>
              <a:t>200(status code)</a:t>
            </a:r>
            <a:endParaRPr sz="1600" b="0" i="0" u="none" strike="noStrike" cap="none" dirty="0"/>
          </a:p>
        </p:txBody>
      </p:sp>
      <p:sp>
        <p:nvSpPr>
          <p:cNvPr id="253" name="Google Shape;253;p7"/>
          <p:cNvSpPr/>
          <p:nvPr/>
        </p:nvSpPr>
        <p:spPr>
          <a:xfrm>
            <a:off x="9625500" y="4662520"/>
            <a:ext cx="190875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 dirty="0">
                <a:solidFill>
                  <a:srgbClr val="E0E2E5"/>
                </a:solidFill>
                <a:latin typeface="Arial"/>
                <a:ea typeface="Arial"/>
                <a:cs typeface="Arial"/>
                <a:sym typeface="Arial"/>
              </a:rPr>
              <a:t>OK</a:t>
            </a:r>
            <a:endParaRPr sz="1600" b="0" i="0" u="none" strike="noStrike" cap="none" dirty="0"/>
          </a:p>
        </p:txBody>
      </p:sp>
      <p:sp>
        <p:nvSpPr>
          <p:cNvPr id="254" name="Google Shape;254;p7"/>
          <p:cNvSpPr/>
          <p:nvPr/>
        </p:nvSpPr>
        <p:spPr>
          <a:xfrm>
            <a:off x="8044375" y="4904000"/>
            <a:ext cx="3544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Date: Sat, 09 Jan 2025</a:t>
            </a:r>
            <a:endParaRPr sz="1600" b="0" i="0" u="none" strike="noStrike" cap="none"/>
          </a:p>
        </p:txBody>
      </p:sp>
      <p:sp>
        <p:nvSpPr>
          <p:cNvPr id="255" name="Google Shape;255;p7"/>
          <p:cNvSpPr/>
          <p:nvPr/>
        </p:nvSpPr>
        <p:spPr>
          <a:xfrm>
            <a:off x="8044375" y="5096000"/>
            <a:ext cx="3544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Server: Nginx</a:t>
            </a:r>
            <a:endParaRPr sz="1600" b="0" i="0" u="none" strike="noStrike" cap="none"/>
          </a:p>
        </p:txBody>
      </p:sp>
      <p:sp>
        <p:nvSpPr>
          <p:cNvPr id="256" name="Google Shape;256;p7"/>
          <p:cNvSpPr/>
          <p:nvPr/>
        </p:nvSpPr>
        <p:spPr>
          <a:xfrm>
            <a:off x="8044375" y="5288000"/>
            <a:ext cx="3544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Content-Type: text/html</a:t>
            </a:r>
            <a:endParaRPr sz="1600" b="0" i="0" u="none" strike="noStrike" cap="none"/>
          </a:p>
        </p:txBody>
      </p:sp>
      <p:sp>
        <p:nvSpPr>
          <p:cNvPr id="257" name="Google Shape;257;p7"/>
          <p:cNvSpPr/>
          <p:nvPr/>
        </p:nvSpPr>
        <p:spPr>
          <a:xfrm>
            <a:off x="8044375" y="5480000"/>
            <a:ext cx="3544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Content-Length: 29769</a:t>
            </a:r>
            <a:endParaRPr sz="1600" b="0" i="0" u="none" strike="noStrike" cap="none"/>
          </a:p>
        </p:txBody>
      </p:sp>
      <p:sp>
        <p:nvSpPr>
          <p:cNvPr id="258" name="Google Shape;258;p7"/>
          <p:cNvSpPr/>
          <p:nvPr/>
        </p:nvSpPr>
        <p:spPr>
          <a:xfrm>
            <a:off x="8044375" y="5704000"/>
            <a:ext cx="3544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4A6C8C"/>
                </a:solidFill>
                <a:latin typeface="Arial"/>
                <a:ea typeface="Arial"/>
                <a:cs typeface="Arial"/>
                <a:sym typeface="Arial"/>
              </a:rPr>
              <a:t>...</a:t>
            </a:r>
            <a:endParaRPr sz="1600" b="0" i="0" u="none" strike="noStrike" cap="none"/>
          </a:p>
        </p:txBody>
      </p:sp>
      <p:sp>
        <p:nvSpPr>
          <p:cNvPr id="259" name="Google Shape;259;p7"/>
          <p:cNvSpPr/>
          <p:nvPr/>
        </p:nvSpPr>
        <p:spPr>
          <a:xfrm>
            <a:off x="7912375" y="6132000"/>
            <a:ext cx="1184000" cy="520000"/>
          </a:xfrm>
          <a:custGeom>
            <a:avLst/>
            <a:gdLst/>
            <a:ahLst/>
            <a:cxnLst/>
            <a:rect l="l" t="t" r="r" b="b"/>
            <a:pathLst>
              <a:path w="1184000" h="520000" extrusionOk="0">
                <a:moveTo>
                  <a:pt x="64002" y="0"/>
                </a:moveTo>
                <a:lnTo>
                  <a:pt x="1119998" y="0"/>
                </a:lnTo>
                <a:cubicBezTo>
                  <a:pt x="1155346" y="0"/>
                  <a:pt x="1184000" y="28654"/>
                  <a:pt x="1184000" y="64002"/>
                </a:cubicBezTo>
                <a:lnTo>
                  <a:pt x="1184000" y="455998"/>
                </a:lnTo>
                <a:cubicBezTo>
                  <a:pt x="1184000" y="491346"/>
                  <a:pt x="1155346" y="520000"/>
                  <a:pt x="1119998" y="520000"/>
                </a:cubicBezTo>
                <a:lnTo>
                  <a:pt x="64002" y="520000"/>
                </a:lnTo>
                <a:cubicBezTo>
                  <a:pt x="28654" y="520000"/>
                  <a:pt x="0" y="491346"/>
                  <a:pt x="0" y="455998"/>
                </a:cubicBezTo>
                <a:lnTo>
                  <a:pt x="0" y="64002"/>
                </a:lnTo>
                <a:cubicBezTo>
                  <a:pt x="0" y="28654"/>
                  <a:pt x="28654" y="0"/>
                  <a:pt x="64002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7"/>
          <p:cNvSpPr/>
          <p:nvPr/>
        </p:nvSpPr>
        <p:spPr>
          <a:xfrm>
            <a:off x="7984375" y="6232000"/>
            <a:ext cx="1040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 sz="1600" b="0" i="0" u="none" strike="noStrike" cap="none"/>
          </a:p>
        </p:txBody>
      </p:sp>
      <p:sp>
        <p:nvSpPr>
          <p:cNvPr id="261" name="Google Shape;261;p7"/>
          <p:cNvSpPr/>
          <p:nvPr/>
        </p:nvSpPr>
        <p:spPr>
          <a:xfrm>
            <a:off x="7988375" y="6424000"/>
            <a:ext cx="1032000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200, 404, etc.</a:t>
            </a:r>
            <a:endParaRPr sz="1600" b="0" i="0" u="none" strike="noStrike" cap="none"/>
          </a:p>
        </p:txBody>
      </p:sp>
      <p:sp>
        <p:nvSpPr>
          <p:cNvPr id="262" name="Google Shape;262;p7"/>
          <p:cNvSpPr/>
          <p:nvPr/>
        </p:nvSpPr>
        <p:spPr>
          <a:xfrm>
            <a:off x="9197625" y="6132000"/>
            <a:ext cx="1184000" cy="520000"/>
          </a:xfrm>
          <a:custGeom>
            <a:avLst/>
            <a:gdLst/>
            <a:ahLst/>
            <a:cxnLst/>
            <a:rect l="l" t="t" r="r" b="b"/>
            <a:pathLst>
              <a:path w="1184000" h="520000" extrusionOk="0">
                <a:moveTo>
                  <a:pt x="64002" y="0"/>
                </a:moveTo>
                <a:lnTo>
                  <a:pt x="1119998" y="0"/>
                </a:lnTo>
                <a:cubicBezTo>
                  <a:pt x="1155346" y="0"/>
                  <a:pt x="1184000" y="28654"/>
                  <a:pt x="1184000" y="64002"/>
                </a:cubicBezTo>
                <a:lnTo>
                  <a:pt x="1184000" y="455998"/>
                </a:lnTo>
                <a:cubicBezTo>
                  <a:pt x="1184000" y="491346"/>
                  <a:pt x="1155346" y="520000"/>
                  <a:pt x="1119998" y="520000"/>
                </a:cubicBezTo>
                <a:lnTo>
                  <a:pt x="64002" y="520000"/>
                </a:lnTo>
                <a:cubicBezTo>
                  <a:pt x="28654" y="520000"/>
                  <a:pt x="0" y="491346"/>
                  <a:pt x="0" y="455998"/>
                </a:cubicBezTo>
                <a:lnTo>
                  <a:pt x="0" y="64002"/>
                </a:lnTo>
                <a:cubicBezTo>
                  <a:pt x="0" y="28654"/>
                  <a:pt x="28654" y="0"/>
                  <a:pt x="64002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7"/>
          <p:cNvSpPr/>
          <p:nvPr/>
        </p:nvSpPr>
        <p:spPr>
          <a:xfrm>
            <a:off x="9269625" y="6232000"/>
            <a:ext cx="1040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1" i="0" u="none" strike="noStrike" cap="none">
                <a:solidFill>
                  <a:srgbClr val="4A6C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Headers</a:t>
            </a:r>
            <a:endParaRPr sz="1600" b="0" i="0" u="none" strike="noStrike" cap="none"/>
          </a:p>
        </p:txBody>
      </p:sp>
      <p:sp>
        <p:nvSpPr>
          <p:cNvPr id="264" name="Google Shape;264;p7"/>
          <p:cNvSpPr/>
          <p:nvPr/>
        </p:nvSpPr>
        <p:spPr>
          <a:xfrm>
            <a:off x="9273625" y="6424000"/>
            <a:ext cx="1032000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Response info</a:t>
            </a:r>
            <a:endParaRPr sz="1600" b="0" i="0" u="none" strike="noStrike" cap="none"/>
          </a:p>
        </p:txBody>
      </p:sp>
      <p:sp>
        <p:nvSpPr>
          <p:cNvPr id="265" name="Google Shape;265;p7"/>
          <p:cNvSpPr/>
          <p:nvPr/>
        </p:nvSpPr>
        <p:spPr>
          <a:xfrm>
            <a:off x="10483000" y="6132000"/>
            <a:ext cx="1184000" cy="520000"/>
          </a:xfrm>
          <a:custGeom>
            <a:avLst/>
            <a:gdLst/>
            <a:ahLst/>
            <a:cxnLst/>
            <a:rect l="l" t="t" r="r" b="b"/>
            <a:pathLst>
              <a:path w="1184000" h="520000" extrusionOk="0">
                <a:moveTo>
                  <a:pt x="64002" y="0"/>
                </a:moveTo>
                <a:lnTo>
                  <a:pt x="1119998" y="0"/>
                </a:lnTo>
                <a:cubicBezTo>
                  <a:pt x="1155346" y="0"/>
                  <a:pt x="1184000" y="28654"/>
                  <a:pt x="1184000" y="64002"/>
                </a:cubicBezTo>
                <a:lnTo>
                  <a:pt x="1184000" y="455998"/>
                </a:lnTo>
                <a:cubicBezTo>
                  <a:pt x="1184000" y="491346"/>
                  <a:pt x="1155346" y="520000"/>
                  <a:pt x="1119998" y="520000"/>
                </a:cubicBezTo>
                <a:lnTo>
                  <a:pt x="64002" y="520000"/>
                </a:lnTo>
                <a:cubicBezTo>
                  <a:pt x="28654" y="520000"/>
                  <a:pt x="0" y="491346"/>
                  <a:pt x="0" y="455998"/>
                </a:cubicBezTo>
                <a:lnTo>
                  <a:pt x="0" y="64002"/>
                </a:lnTo>
                <a:cubicBezTo>
                  <a:pt x="0" y="28654"/>
                  <a:pt x="28654" y="0"/>
                  <a:pt x="64002" y="0"/>
                </a:cubicBezTo>
                <a:close/>
              </a:path>
            </a:pathLst>
          </a:custGeom>
          <a:solidFill>
            <a:srgbClr val="788A9C">
              <a:alpha val="10196"/>
            </a:srgbClr>
          </a:solidFill>
          <a:ln w="12700" cap="flat" cmpd="sng">
            <a:solidFill>
              <a:srgbClr val="788A9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7"/>
          <p:cNvSpPr/>
          <p:nvPr/>
        </p:nvSpPr>
        <p:spPr>
          <a:xfrm>
            <a:off x="10555000" y="6232000"/>
            <a:ext cx="1040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1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Body</a:t>
            </a:r>
            <a:endParaRPr sz="1600" b="0" i="0" u="none" strike="noStrike" cap="none"/>
          </a:p>
        </p:txBody>
      </p:sp>
      <p:sp>
        <p:nvSpPr>
          <p:cNvPr id="267" name="Google Shape;267;p7"/>
          <p:cNvSpPr/>
          <p:nvPr/>
        </p:nvSpPr>
        <p:spPr>
          <a:xfrm>
            <a:off x="10559000" y="6424000"/>
            <a:ext cx="1032000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Actual content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8" descr="https://kimi-web-img.moonshot.cn/img/thumbs.dreamstime.com/2c6bfebdbaeebd1e7014968daff457c5930b5478.jpg"/>
          <p:cNvPicPr preferRelativeResize="0"/>
          <p:nvPr/>
        </p:nvPicPr>
        <p:blipFill rotWithShape="1">
          <a:blip r:embed="rId3">
            <a:alphaModFix amt="30000"/>
          </a:blip>
          <a:srcRect l="111" r="111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pic>
      <p:sp>
        <p:nvSpPr>
          <p:cNvPr id="274" name="Google Shape;274;p8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1A1D21"/>
              </a:gs>
              <a:gs pos="50000">
                <a:srgbClr val="1A1D21">
                  <a:alpha val="94901"/>
                </a:srgbClr>
              </a:gs>
              <a:gs pos="100000">
                <a:srgbClr val="4A6C8C">
                  <a:alpha val="20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5" name="Google Shape;275;p8"/>
          <p:cNvSpPr/>
          <p:nvPr/>
        </p:nvSpPr>
        <p:spPr>
          <a:xfrm>
            <a:off x="400050" y="1451967"/>
            <a:ext cx="1847850" cy="419100"/>
          </a:xfrm>
          <a:custGeom>
            <a:avLst/>
            <a:gdLst/>
            <a:ahLst/>
            <a:cxnLst/>
            <a:rect l="l" t="t" r="r" b="b"/>
            <a:pathLst>
              <a:path w="1847850" h="419100" extrusionOk="0">
                <a:moveTo>
                  <a:pt x="0" y="0"/>
                </a:moveTo>
                <a:lnTo>
                  <a:pt x="1847850" y="0"/>
                </a:lnTo>
                <a:lnTo>
                  <a:pt x="184785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6" name="Google Shape;276;p8"/>
          <p:cNvSpPr/>
          <p:nvPr/>
        </p:nvSpPr>
        <p:spPr>
          <a:xfrm>
            <a:off x="400050" y="1451967"/>
            <a:ext cx="38100" cy="419100"/>
          </a:xfrm>
          <a:custGeom>
            <a:avLst/>
            <a:gdLst/>
            <a:ahLst/>
            <a:cxnLst/>
            <a:rect l="l" t="t" r="r" b="b"/>
            <a:pathLst>
              <a:path w="38100" h="419100" extrusionOk="0">
                <a:moveTo>
                  <a:pt x="0" y="0"/>
                </a:moveTo>
                <a:lnTo>
                  <a:pt x="38100" y="0"/>
                </a:lnTo>
                <a:lnTo>
                  <a:pt x="3810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7" name="Google Shape;277;p8"/>
          <p:cNvSpPr/>
          <p:nvPr/>
        </p:nvSpPr>
        <p:spPr>
          <a:xfrm>
            <a:off x="609600" y="1556742"/>
            <a:ext cx="1542306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Chapter 03</a:t>
            </a:r>
            <a:endParaRPr sz="1600" b="0" i="0" u="none" strike="noStrike" cap="none"/>
          </a:p>
        </p:txBody>
      </p:sp>
      <p:sp>
        <p:nvSpPr>
          <p:cNvPr id="278" name="Google Shape;278;p8"/>
          <p:cNvSpPr/>
          <p:nvPr/>
        </p:nvSpPr>
        <p:spPr>
          <a:xfrm>
            <a:off x="381000" y="2175867"/>
            <a:ext cx="6715125" cy="1733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HTTP Version</a:t>
            </a:r>
            <a:endParaRPr sz="1600" b="0" i="0" u="none" strike="noStrike" cap="none"/>
          </a:p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Evolution</a:t>
            </a:r>
            <a:endParaRPr sz="1600" b="0" i="0" u="none" strike="noStrike" cap="none"/>
          </a:p>
        </p:txBody>
      </p:sp>
      <p:sp>
        <p:nvSpPr>
          <p:cNvPr id="279" name="Google Shape;279;p8"/>
          <p:cNvSpPr/>
          <p:nvPr/>
        </p:nvSpPr>
        <p:spPr>
          <a:xfrm>
            <a:off x="381000" y="4217789"/>
            <a:ext cx="640080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From HTTP/0.9 to HTTP/3: A Journey of Innovation</a:t>
            </a:r>
            <a:endParaRPr sz="1600" b="0" i="0" u="none" strike="noStrike" cap="none"/>
          </a:p>
        </p:txBody>
      </p:sp>
      <p:sp>
        <p:nvSpPr>
          <p:cNvPr id="280" name="Google Shape;280;p8"/>
          <p:cNvSpPr/>
          <p:nvPr/>
        </p:nvSpPr>
        <p:spPr>
          <a:xfrm>
            <a:off x="395288" y="5158383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 extrusionOk="0">
                <a:moveTo>
                  <a:pt x="128588" y="28575"/>
                </a:moveTo>
                <a:cubicBezTo>
                  <a:pt x="175915" y="28575"/>
                  <a:pt x="214313" y="66973"/>
                  <a:pt x="214313" y="114300"/>
                </a:cubicBezTo>
                <a:cubicBezTo>
                  <a:pt x="214313" y="161627"/>
                  <a:pt x="175915" y="200025"/>
                  <a:pt x="128588" y="200025"/>
                </a:cubicBezTo>
                <a:cubicBezTo>
                  <a:pt x="99477" y="200025"/>
                  <a:pt x="73715" y="185514"/>
                  <a:pt x="58222" y="163279"/>
                </a:cubicBezTo>
                <a:cubicBezTo>
                  <a:pt x="53712" y="156805"/>
                  <a:pt x="44782" y="155243"/>
                  <a:pt x="38308" y="159752"/>
                </a:cubicBezTo>
                <a:cubicBezTo>
                  <a:pt x="31834" y="164262"/>
                  <a:pt x="30272" y="173191"/>
                  <a:pt x="34781" y="179665"/>
                </a:cubicBezTo>
                <a:cubicBezTo>
                  <a:pt x="55409" y="209223"/>
                  <a:pt x="89743" y="228600"/>
                  <a:pt x="128588" y="228600"/>
                </a:cubicBezTo>
                <a:cubicBezTo>
                  <a:pt x="191720" y="228600"/>
                  <a:pt x="242888" y="177433"/>
                  <a:pt x="242888" y="114300"/>
                </a:cubicBezTo>
                <a:cubicBezTo>
                  <a:pt x="242888" y="51167"/>
                  <a:pt x="191720" y="0"/>
                  <a:pt x="128588" y="0"/>
                </a:cubicBezTo>
                <a:cubicBezTo>
                  <a:pt x="90324" y="0"/>
                  <a:pt x="56480" y="18797"/>
                  <a:pt x="35719" y="47640"/>
                </a:cubicBezTo>
                <a:lnTo>
                  <a:pt x="35719" y="35719"/>
                </a:lnTo>
                <a:cubicBezTo>
                  <a:pt x="35719" y="27816"/>
                  <a:pt x="29334" y="21431"/>
                  <a:pt x="21431" y="21431"/>
                </a:cubicBezTo>
                <a:cubicBezTo>
                  <a:pt x="13528" y="21431"/>
                  <a:pt x="7144" y="27816"/>
                  <a:pt x="7144" y="35719"/>
                </a:cubicBezTo>
                <a:lnTo>
                  <a:pt x="7144" y="85725"/>
                </a:lnTo>
                <a:cubicBezTo>
                  <a:pt x="7144" y="93628"/>
                  <a:pt x="13528" y="100013"/>
                  <a:pt x="21431" y="100013"/>
                </a:cubicBezTo>
                <a:lnTo>
                  <a:pt x="32415" y="100013"/>
                </a:lnTo>
                <a:cubicBezTo>
                  <a:pt x="32638" y="100013"/>
                  <a:pt x="32861" y="100013"/>
                  <a:pt x="33084" y="100013"/>
                </a:cubicBezTo>
                <a:lnTo>
                  <a:pt x="71482" y="100013"/>
                </a:lnTo>
                <a:cubicBezTo>
                  <a:pt x="79385" y="100013"/>
                  <a:pt x="85770" y="93628"/>
                  <a:pt x="85770" y="85725"/>
                </a:cubicBezTo>
                <a:cubicBezTo>
                  <a:pt x="85770" y="77822"/>
                  <a:pt x="79385" y="71438"/>
                  <a:pt x="71482" y="71438"/>
                </a:cubicBezTo>
                <a:lnTo>
                  <a:pt x="54382" y="71438"/>
                </a:lnTo>
                <a:cubicBezTo>
                  <a:pt x="69160" y="45809"/>
                  <a:pt x="96887" y="28575"/>
                  <a:pt x="128588" y="28575"/>
                </a:cubicBezTo>
                <a:close/>
                <a:moveTo>
                  <a:pt x="139303" y="67866"/>
                </a:moveTo>
                <a:cubicBezTo>
                  <a:pt x="139303" y="61927"/>
                  <a:pt x="134526" y="57150"/>
                  <a:pt x="128588" y="57150"/>
                </a:cubicBezTo>
                <a:cubicBezTo>
                  <a:pt x="122649" y="57150"/>
                  <a:pt x="117872" y="61927"/>
                  <a:pt x="117872" y="67866"/>
                </a:cubicBezTo>
                <a:lnTo>
                  <a:pt x="117872" y="114300"/>
                </a:lnTo>
                <a:cubicBezTo>
                  <a:pt x="117872" y="117157"/>
                  <a:pt x="118988" y="119881"/>
                  <a:pt x="120997" y="121890"/>
                </a:cubicBezTo>
                <a:lnTo>
                  <a:pt x="153144" y="154037"/>
                </a:lnTo>
                <a:cubicBezTo>
                  <a:pt x="157341" y="158234"/>
                  <a:pt x="164128" y="158234"/>
                  <a:pt x="168280" y="154037"/>
                </a:cubicBezTo>
                <a:cubicBezTo>
                  <a:pt x="172432" y="149840"/>
                  <a:pt x="172477" y="143054"/>
                  <a:pt x="168280" y="138901"/>
                </a:cubicBezTo>
                <a:lnTo>
                  <a:pt x="139258" y="109880"/>
                </a:lnTo>
                <a:lnTo>
                  <a:pt x="139258" y="67866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8"/>
          <p:cNvSpPr/>
          <p:nvPr/>
        </p:nvSpPr>
        <p:spPr>
          <a:xfrm>
            <a:off x="781050" y="5139333"/>
            <a:ext cx="19431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30+ Years of Evolution</a:t>
            </a:r>
            <a:endParaRPr sz="1600" b="0" i="0" u="none" strike="noStrike" cap="none"/>
          </a:p>
        </p:txBody>
      </p:sp>
      <p:sp>
        <p:nvSpPr>
          <p:cNvPr id="282" name="Google Shape;282;p8"/>
          <p:cNvSpPr/>
          <p:nvPr/>
        </p:nvSpPr>
        <p:spPr>
          <a:xfrm>
            <a:off x="3035647" y="515838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 extrusionOk="0">
                <a:moveTo>
                  <a:pt x="0" y="114300"/>
                </a:moveTo>
                <a:cubicBezTo>
                  <a:pt x="0" y="51216"/>
                  <a:pt x="51216" y="0"/>
                  <a:pt x="114300" y="0"/>
                </a:cubicBezTo>
                <a:cubicBezTo>
                  <a:pt x="177384" y="0"/>
                  <a:pt x="228600" y="51216"/>
                  <a:pt x="228600" y="114300"/>
                </a:cubicBezTo>
                <a:cubicBezTo>
                  <a:pt x="228600" y="177384"/>
                  <a:pt x="177384" y="228600"/>
                  <a:pt x="114300" y="228600"/>
                </a:cubicBezTo>
                <a:cubicBezTo>
                  <a:pt x="51216" y="228600"/>
                  <a:pt x="0" y="177384"/>
                  <a:pt x="0" y="114300"/>
                </a:cubicBezTo>
                <a:close/>
                <a:moveTo>
                  <a:pt x="128588" y="42863"/>
                </a:moveTo>
                <a:cubicBezTo>
                  <a:pt x="128588" y="34977"/>
                  <a:pt x="122185" y="28575"/>
                  <a:pt x="114300" y="28575"/>
                </a:cubicBezTo>
                <a:cubicBezTo>
                  <a:pt x="106415" y="28575"/>
                  <a:pt x="100013" y="34977"/>
                  <a:pt x="100013" y="42863"/>
                </a:cubicBezTo>
                <a:cubicBezTo>
                  <a:pt x="100013" y="50748"/>
                  <a:pt x="106415" y="57150"/>
                  <a:pt x="114300" y="57150"/>
                </a:cubicBezTo>
                <a:cubicBezTo>
                  <a:pt x="122185" y="57150"/>
                  <a:pt x="128588" y="50748"/>
                  <a:pt x="128588" y="42863"/>
                </a:cubicBezTo>
                <a:close/>
                <a:moveTo>
                  <a:pt x="114300" y="185738"/>
                </a:moveTo>
                <a:cubicBezTo>
                  <a:pt x="130061" y="185738"/>
                  <a:pt x="142875" y="172923"/>
                  <a:pt x="142875" y="157163"/>
                </a:cubicBezTo>
                <a:cubicBezTo>
                  <a:pt x="142875" y="149929"/>
                  <a:pt x="140196" y="143277"/>
                  <a:pt x="135731" y="138276"/>
                </a:cubicBezTo>
                <a:lnTo>
                  <a:pt x="166762" y="76260"/>
                </a:lnTo>
                <a:cubicBezTo>
                  <a:pt x="169396" y="70946"/>
                  <a:pt x="167253" y="64517"/>
                  <a:pt x="161985" y="61883"/>
                </a:cubicBezTo>
                <a:cubicBezTo>
                  <a:pt x="156716" y="59248"/>
                  <a:pt x="150242" y="61392"/>
                  <a:pt x="147608" y="66660"/>
                </a:cubicBezTo>
                <a:lnTo>
                  <a:pt x="116577" y="128677"/>
                </a:lnTo>
                <a:cubicBezTo>
                  <a:pt x="115818" y="128632"/>
                  <a:pt x="115059" y="128588"/>
                  <a:pt x="114300" y="128588"/>
                </a:cubicBezTo>
                <a:cubicBezTo>
                  <a:pt x="98539" y="128588"/>
                  <a:pt x="85725" y="141402"/>
                  <a:pt x="85725" y="157163"/>
                </a:cubicBezTo>
                <a:cubicBezTo>
                  <a:pt x="85725" y="172923"/>
                  <a:pt x="98539" y="185738"/>
                  <a:pt x="114300" y="185738"/>
                </a:cubicBezTo>
                <a:close/>
                <a:moveTo>
                  <a:pt x="78581" y="64294"/>
                </a:moveTo>
                <a:cubicBezTo>
                  <a:pt x="78581" y="56408"/>
                  <a:pt x="72179" y="50006"/>
                  <a:pt x="64294" y="50006"/>
                </a:cubicBezTo>
                <a:cubicBezTo>
                  <a:pt x="56408" y="50006"/>
                  <a:pt x="50006" y="56408"/>
                  <a:pt x="50006" y="64294"/>
                </a:cubicBezTo>
                <a:cubicBezTo>
                  <a:pt x="50006" y="72179"/>
                  <a:pt x="56408" y="78581"/>
                  <a:pt x="64294" y="78581"/>
                </a:cubicBezTo>
                <a:cubicBezTo>
                  <a:pt x="72179" y="78581"/>
                  <a:pt x="78581" y="72179"/>
                  <a:pt x="78581" y="64294"/>
                </a:cubicBezTo>
                <a:close/>
                <a:moveTo>
                  <a:pt x="42863" y="128588"/>
                </a:moveTo>
                <a:cubicBezTo>
                  <a:pt x="50748" y="128588"/>
                  <a:pt x="57150" y="122185"/>
                  <a:pt x="57150" y="114300"/>
                </a:cubicBezTo>
                <a:cubicBezTo>
                  <a:pt x="57150" y="106415"/>
                  <a:pt x="50748" y="100013"/>
                  <a:pt x="42863" y="100013"/>
                </a:cubicBezTo>
                <a:cubicBezTo>
                  <a:pt x="34977" y="100013"/>
                  <a:pt x="28575" y="106415"/>
                  <a:pt x="28575" y="114300"/>
                </a:cubicBezTo>
                <a:cubicBezTo>
                  <a:pt x="28575" y="122185"/>
                  <a:pt x="34977" y="128588"/>
                  <a:pt x="42863" y="128588"/>
                </a:cubicBezTo>
                <a:close/>
                <a:moveTo>
                  <a:pt x="200025" y="114300"/>
                </a:moveTo>
                <a:cubicBezTo>
                  <a:pt x="200025" y="106415"/>
                  <a:pt x="193623" y="100013"/>
                  <a:pt x="185738" y="100013"/>
                </a:cubicBezTo>
                <a:cubicBezTo>
                  <a:pt x="177852" y="100013"/>
                  <a:pt x="171450" y="106415"/>
                  <a:pt x="171450" y="114300"/>
                </a:cubicBezTo>
                <a:cubicBezTo>
                  <a:pt x="171450" y="122185"/>
                  <a:pt x="177852" y="128588"/>
                  <a:pt x="185738" y="128588"/>
                </a:cubicBezTo>
                <a:cubicBezTo>
                  <a:pt x="193623" y="128588"/>
                  <a:pt x="200025" y="122185"/>
                  <a:pt x="200025" y="11430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8"/>
          <p:cNvSpPr/>
          <p:nvPr/>
        </p:nvSpPr>
        <p:spPr>
          <a:xfrm>
            <a:off x="3407122" y="5139333"/>
            <a:ext cx="20764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Performance Revolution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9"/>
          <p:cNvSpPr/>
          <p:nvPr/>
        </p:nvSpPr>
        <p:spPr>
          <a:xfrm>
            <a:off x="317500" y="317500"/>
            <a:ext cx="116205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Evolution</a:t>
            </a:r>
            <a:endParaRPr sz="1600" b="0" i="0" u="none" strike="noStrike" cap="none"/>
          </a:p>
        </p:txBody>
      </p:sp>
      <p:sp>
        <p:nvSpPr>
          <p:cNvPr id="290" name="Google Shape;290;p9"/>
          <p:cNvSpPr/>
          <p:nvPr/>
        </p:nvSpPr>
        <p:spPr>
          <a:xfrm>
            <a:off x="317500" y="571500"/>
            <a:ext cx="11699875" cy="3571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1" i="0" u="none" strike="noStrike" cap="none" dirty="0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HTTP/0.9 &amp; HTTP/1.0: The Early Days (1991-1996)</a:t>
            </a:r>
            <a:endParaRPr sz="1600" b="0" i="0" u="none" strike="noStrike" cap="none" dirty="0"/>
          </a:p>
        </p:txBody>
      </p:sp>
      <p:sp>
        <p:nvSpPr>
          <p:cNvPr id="291" name="Google Shape;291;p9"/>
          <p:cNvSpPr/>
          <p:nvPr/>
        </p:nvSpPr>
        <p:spPr>
          <a:xfrm>
            <a:off x="321469" y="1123156"/>
            <a:ext cx="7485063" cy="2278063"/>
          </a:xfrm>
          <a:custGeom>
            <a:avLst/>
            <a:gdLst/>
            <a:ahLst/>
            <a:cxnLst/>
            <a:rect l="l" t="t" r="r" b="b"/>
            <a:pathLst>
              <a:path w="7485063" h="2278063" extrusionOk="0">
                <a:moveTo>
                  <a:pt x="127002" y="0"/>
                </a:moveTo>
                <a:lnTo>
                  <a:pt x="7358061" y="0"/>
                </a:lnTo>
                <a:cubicBezTo>
                  <a:pt x="7428202" y="0"/>
                  <a:pt x="7485063" y="56861"/>
                  <a:pt x="7485063" y="127002"/>
                </a:cubicBezTo>
                <a:lnTo>
                  <a:pt x="7485063" y="2151061"/>
                </a:lnTo>
                <a:cubicBezTo>
                  <a:pt x="7485063" y="2221202"/>
                  <a:pt x="7428202" y="2278063"/>
                  <a:pt x="7358061" y="2278063"/>
                </a:cubicBezTo>
                <a:lnTo>
                  <a:pt x="127002" y="2278063"/>
                </a:lnTo>
                <a:cubicBezTo>
                  <a:pt x="56861" y="2278063"/>
                  <a:pt x="0" y="2221202"/>
                  <a:pt x="0" y="2151061"/>
                </a:cubicBezTo>
                <a:lnTo>
                  <a:pt x="0" y="127002"/>
                </a:lnTo>
                <a:cubicBezTo>
                  <a:pt x="0" y="56861"/>
                  <a:pt x="56861" y="0"/>
                  <a:pt x="127002" y="0"/>
                </a:cubicBezTo>
                <a:close/>
              </a:path>
            </a:pathLst>
          </a:custGeom>
          <a:gradFill>
            <a:gsLst>
              <a:gs pos="0">
                <a:srgbClr val="788A9C">
                  <a:alpha val="20000"/>
                </a:srgbClr>
              </a:gs>
              <a:gs pos="100000">
                <a:srgbClr val="788A9C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788A9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p9"/>
          <p:cNvSpPr/>
          <p:nvPr/>
        </p:nvSpPr>
        <p:spPr>
          <a:xfrm>
            <a:off x="515938" y="1317625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 extrusionOk="0">
                <a:moveTo>
                  <a:pt x="95250" y="0"/>
                </a:moveTo>
                <a:lnTo>
                  <a:pt x="412750" y="0"/>
                </a:lnTo>
                <a:cubicBezTo>
                  <a:pt x="465320" y="0"/>
                  <a:pt x="508000" y="42680"/>
                  <a:pt x="508000" y="95250"/>
                </a:cubicBezTo>
                <a:lnTo>
                  <a:pt x="508000" y="412750"/>
                </a:lnTo>
                <a:cubicBezTo>
                  <a:pt x="508000" y="465320"/>
                  <a:pt x="465320" y="508000"/>
                  <a:pt x="412750" y="508000"/>
                </a:cubicBezTo>
                <a:lnTo>
                  <a:pt x="95250" y="508000"/>
                </a:lnTo>
                <a:cubicBezTo>
                  <a:pt x="42680" y="508000"/>
                  <a:pt x="0" y="465320"/>
                  <a:pt x="0" y="412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p9"/>
          <p:cNvSpPr/>
          <p:nvPr/>
        </p:nvSpPr>
        <p:spPr>
          <a:xfrm>
            <a:off x="468313" y="1317625"/>
            <a:ext cx="603250" cy="5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A1D21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0.9</a:t>
            </a:r>
            <a:endParaRPr sz="1600" b="0" i="0" u="none" strike="noStrike" cap="none"/>
          </a:p>
        </p:txBody>
      </p:sp>
      <p:sp>
        <p:nvSpPr>
          <p:cNvPr id="294" name="Google Shape;294;p9"/>
          <p:cNvSpPr/>
          <p:nvPr/>
        </p:nvSpPr>
        <p:spPr>
          <a:xfrm>
            <a:off x="1150938" y="1349375"/>
            <a:ext cx="1182688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HTTP/0.9</a:t>
            </a:r>
            <a:endParaRPr sz="1600" b="0" i="0" u="none" strike="noStrike" cap="none" dirty="0"/>
          </a:p>
        </p:txBody>
      </p:sp>
      <p:sp>
        <p:nvSpPr>
          <p:cNvPr id="295" name="Google Shape;295;p9"/>
          <p:cNvSpPr/>
          <p:nvPr/>
        </p:nvSpPr>
        <p:spPr>
          <a:xfrm>
            <a:off x="1150938" y="1603375"/>
            <a:ext cx="1150938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1991 • The Beginning</a:t>
            </a:r>
            <a:endParaRPr sz="1600" b="0" i="0" u="none" strike="noStrike" cap="none"/>
          </a:p>
        </p:txBody>
      </p:sp>
      <p:sp>
        <p:nvSpPr>
          <p:cNvPr id="296" name="Google Shape;296;p9"/>
          <p:cNvSpPr/>
          <p:nvPr/>
        </p:nvSpPr>
        <p:spPr>
          <a:xfrm>
            <a:off x="531813" y="1984375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9"/>
          <p:cNvSpPr/>
          <p:nvPr/>
        </p:nvSpPr>
        <p:spPr>
          <a:xfrm>
            <a:off x="769938" y="1952625"/>
            <a:ext cx="3944937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Simple request format:</a:t>
            </a:r>
            <a:r>
              <a:rPr lang="en-US" sz="10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Only GET requests, no headers, no status codes</a:t>
            </a:r>
            <a:endParaRPr sz="1600" b="0" i="0" u="none" strike="noStrike" cap="none"/>
          </a:p>
        </p:txBody>
      </p:sp>
      <p:sp>
        <p:nvSpPr>
          <p:cNvPr id="298" name="Google Shape;298;p9"/>
          <p:cNvSpPr/>
          <p:nvPr/>
        </p:nvSpPr>
        <p:spPr>
          <a:xfrm>
            <a:off x="531813" y="2270125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9"/>
          <p:cNvSpPr/>
          <p:nvPr/>
        </p:nvSpPr>
        <p:spPr>
          <a:xfrm>
            <a:off x="769938" y="2238375"/>
            <a:ext cx="303212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Raw HTML only:</a:t>
            </a:r>
            <a:r>
              <a:rPr lang="en-US" sz="10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No metadata, images, or media types</a:t>
            </a:r>
            <a:endParaRPr sz="1600" b="0" i="0" u="none" strike="noStrike" cap="none"/>
          </a:p>
        </p:txBody>
      </p:sp>
      <p:sp>
        <p:nvSpPr>
          <p:cNvPr id="300" name="Google Shape;300;p9"/>
          <p:cNvSpPr/>
          <p:nvPr/>
        </p:nvSpPr>
        <p:spPr>
          <a:xfrm>
            <a:off x="531813" y="2555875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p9"/>
          <p:cNvSpPr/>
          <p:nvPr/>
        </p:nvSpPr>
        <p:spPr>
          <a:xfrm>
            <a:off x="769938" y="2524125"/>
            <a:ext cx="3786188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One request per connection:</a:t>
            </a:r>
            <a:r>
              <a:rPr lang="en-US" sz="1000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Connection closed after each response</a:t>
            </a:r>
            <a:endParaRPr sz="1600" b="0" i="0" u="none" strike="noStrike" cap="none" dirty="0"/>
          </a:p>
        </p:txBody>
      </p:sp>
      <p:sp>
        <p:nvSpPr>
          <p:cNvPr id="302" name="Google Shape;302;p9"/>
          <p:cNvSpPr/>
          <p:nvPr/>
        </p:nvSpPr>
        <p:spPr>
          <a:xfrm>
            <a:off x="519906" y="2845594"/>
            <a:ext cx="7088188" cy="357188"/>
          </a:xfrm>
          <a:custGeom>
            <a:avLst/>
            <a:gdLst/>
            <a:ahLst/>
            <a:cxnLst/>
            <a:rect l="l" t="t" r="r" b="b"/>
            <a:pathLst>
              <a:path w="7088188" h="357188" extrusionOk="0">
                <a:moveTo>
                  <a:pt x="63501" y="0"/>
                </a:moveTo>
                <a:lnTo>
                  <a:pt x="7024687" y="0"/>
                </a:lnTo>
                <a:cubicBezTo>
                  <a:pt x="7059757" y="0"/>
                  <a:pt x="7088188" y="28430"/>
                  <a:pt x="7088188" y="63501"/>
                </a:cubicBezTo>
                <a:lnTo>
                  <a:pt x="7088188" y="293687"/>
                </a:lnTo>
                <a:cubicBezTo>
                  <a:pt x="7088188" y="328757"/>
                  <a:pt x="7059757" y="357188"/>
                  <a:pt x="7024687" y="357188"/>
                </a:cubicBezTo>
                <a:lnTo>
                  <a:pt x="63501" y="357188"/>
                </a:lnTo>
                <a:cubicBezTo>
                  <a:pt x="28430" y="357188"/>
                  <a:pt x="0" y="328757"/>
                  <a:pt x="0" y="293687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788A9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p9"/>
          <p:cNvSpPr/>
          <p:nvPr/>
        </p:nvSpPr>
        <p:spPr>
          <a:xfrm>
            <a:off x="619125" y="2960688"/>
            <a:ext cx="256356" cy="12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b="0" i="0" u="none" strike="noStrike" cap="none" dirty="0">
                <a:solidFill>
                  <a:srgbClr val="B89A6B"/>
                </a:solidFill>
                <a:latin typeface="Arial"/>
                <a:ea typeface="Arial"/>
                <a:cs typeface="Arial"/>
                <a:sym typeface="Arial"/>
              </a:rPr>
              <a:t>GET</a:t>
            </a:r>
            <a:endParaRPr sz="1600" b="0" i="0" u="none" strike="noStrike" cap="none" dirty="0"/>
          </a:p>
        </p:txBody>
      </p:sp>
      <p:sp>
        <p:nvSpPr>
          <p:cNvPr id="304" name="Google Shape;304;p9"/>
          <p:cNvSpPr/>
          <p:nvPr/>
        </p:nvSpPr>
        <p:spPr>
          <a:xfrm>
            <a:off x="886892" y="2960688"/>
            <a:ext cx="791518" cy="12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b="0" i="0" u="none" strike="noStrike" cap="none" dirty="0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/index.html</a:t>
            </a:r>
            <a:endParaRPr sz="1600" b="0" i="0" u="none" strike="noStrike" cap="none" dirty="0"/>
          </a:p>
        </p:txBody>
      </p:sp>
      <p:sp>
        <p:nvSpPr>
          <p:cNvPr id="305" name="Google Shape;305;p9"/>
          <p:cNvSpPr/>
          <p:nvPr/>
        </p:nvSpPr>
        <p:spPr>
          <a:xfrm>
            <a:off x="321469" y="3567906"/>
            <a:ext cx="7485063" cy="3563938"/>
          </a:xfrm>
          <a:custGeom>
            <a:avLst/>
            <a:gdLst/>
            <a:ahLst/>
            <a:cxnLst/>
            <a:rect l="l" t="t" r="r" b="b"/>
            <a:pathLst>
              <a:path w="7485063" h="3563938" extrusionOk="0">
                <a:moveTo>
                  <a:pt x="126983" y="0"/>
                </a:moveTo>
                <a:lnTo>
                  <a:pt x="7358079" y="0"/>
                </a:lnTo>
                <a:cubicBezTo>
                  <a:pt x="7428210" y="0"/>
                  <a:pt x="7485063" y="56852"/>
                  <a:pt x="7485063" y="126983"/>
                </a:cubicBezTo>
                <a:lnTo>
                  <a:pt x="7485063" y="3436954"/>
                </a:lnTo>
                <a:cubicBezTo>
                  <a:pt x="7485062" y="3507085"/>
                  <a:pt x="7428210" y="3563938"/>
                  <a:pt x="7358079" y="3563938"/>
                </a:cubicBezTo>
                <a:lnTo>
                  <a:pt x="126983" y="3563938"/>
                </a:lnTo>
                <a:cubicBezTo>
                  <a:pt x="56852" y="3563938"/>
                  <a:pt x="0" y="3507085"/>
                  <a:pt x="0" y="3436954"/>
                </a:cubicBezTo>
                <a:lnTo>
                  <a:pt x="0" y="126983"/>
                </a:lnTo>
                <a:cubicBezTo>
                  <a:pt x="0" y="56899"/>
                  <a:pt x="56899" y="0"/>
                  <a:pt x="126983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9"/>
          <p:cNvSpPr/>
          <p:nvPr/>
        </p:nvSpPr>
        <p:spPr>
          <a:xfrm>
            <a:off x="515938" y="3762375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 extrusionOk="0">
                <a:moveTo>
                  <a:pt x="95250" y="0"/>
                </a:moveTo>
                <a:lnTo>
                  <a:pt x="412750" y="0"/>
                </a:lnTo>
                <a:cubicBezTo>
                  <a:pt x="465320" y="0"/>
                  <a:pt x="508000" y="42680"/>
                  <a:pt x="508000" y="95250"/>
                </a:cubicBezTo>
                <a:lnTo>
                  <a:pt x="508000" y="412750"/>
                </a:lnTo>
                <a:cubicBezTo>
                  <a:pt x="508000" y="465320"/>
                  <a:pt x="465320" y="508000"/>
                  <a:pt x="412750" y="508000"/>
                </a:cubicBezTo>
                <a:lnTo>
                  <a:pt x="95250" y="508000"/>
                </a:lnTo>
                <a:cubicBezTo>
                  <a:pt x="42680" y="508000"/>
                  <a:pt x="0" y="465320"/>
                  <a:pt x="0" y="412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9"/>
          <p:cNvSpPr/>
          <p:nvPr/>
        </p:nvSpPr>
        <p:spPr>
          <a:xfrm>
            <a:off x="468313" y="3762375"/>
            <a:ext cx="603250" cy="5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1.0</a:t>
            </a:r>
            <a:endParaRPr sz="1600" b="0" i="0" u="none" strike="noStrike" cap="none"/>
          </a:p>
        </p:txBody>
      </p:sp>
      <p:sp>
        <p:nvSpPr>
          <p:cNvPr id="308" name="Google Shape;308;p9"/>
          <p:cNvSpPr/>
          <p:nvPr/>
        </p:nvSpPr>
        <p:spPr>
          <a:xfrm>
            <a:off x="1150938" y="3794125"/>
            <a:ext cx="944563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HTTP/1.0</a:t>
            </a:r>
            <a:endParaRPr sz="1600" b="0" i="0" u="none" strike="noStrike" cap="none"/>
          </a:p>
        </p:txBody>
      </p:sp>
      <p:sp>
        <p:nvSpPr>
          <p:cNvPr id="309" name="Google Shape;309;p9"/>
          <p:cNvSpPr/>
          <p:nvPr/>
        </p:nvSpPr>
        <p:spPr>
          <a:xfrm>
            <a:off x="1150938" y="4048125"/>
            <a:ext cx="912813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1996 • RFC 1945</a:t>
            </a:r>
            <a:endParaRPr sz="1600" b="0" i="0" u="none" strike="noStrike" cap="none"/>
          </a:p>
        </p:txBody>
      </p:sp>
      <p:sp>
        <p:nvSpPr>
          <p:cNvPr id="310" name="Google Shape;310;p9"/>
          <p:cNvSpPr/>
          <p:nvPr/>
        </p:nvSpPr>
        <p:spPr>
          <a:xfrm>
            <a:off x="531813" y="4429125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 extrusionOk="0">
                <a:moveTo>
                  <a:pt x="55563" y="111125"/>
                </a:moveTo>
                <a:cubicBezTo>
                  <a:pt x="86228" y="111125"/>
                  <a:pt x="111125" y="86228"/>
                  <a:pt x="111125" y="55563"/>
                </a:cubicBezTo>
                <a:cubicBezTo>
                  <a:pt x="111125" y="24897"/>
                  <a:pt x="86228" y="0"/>
                  <a:pt x="55563" y="0"/>
                </a:cubicBezTo>
                <a:cubicBezTo>
                  <a:pt x="24897" y="0"/>
                  <a:pt x="0" y="24897"/>
                  <a:pt x="0" y="55563"/>
                </a:cubicBezTo>
                <a:cubicBezTo>
                  <a:pt x="0" y="86228"/>
                  <a:pt x="24897" y="111125"/>
                  <a:pt x="55562" y="111125"/>
                </a:cubicBezTo>
                <a:close/>
                <a:moveTo>
                  <a:pt x="50354" y="74662"/>
                </a:moveTo>
                <a:lnTo>
                  <a:pt x="50354" y="60771"/>
                </a:lnTo>
                <a:lnTo>
                  <a:pt x="36463" y="60771"/>
                </a:lnTo>
                <a:cubicBezTo>
                  <a:pt x="33576" y="60771"/>
                  <a:pt x="31254" y="58449"/>
                  <a:pt x="31254" y="55563"/>
                </a:cubicBezTo>
                <a:cubicBezTo>
                  <a:pt x="31254" y="52676"/>
                  <a:pt x="33576" y="50354"/>
                  <a:pt x="36463" y="50354"/>
                </a:cubicBezTo>
                <a:lnTo>
                  <a:pt x="50354" y="50354"/>
                </a:lnTo>
                <a:lnTo>
                  <a:pt x="50354" y="36463"/>
                </a:lnTo>
                <a:cubicBezTo>
                  <a:pt x="50354" y="33576"/>
                  <a:pt x="52676" y="31254"/>
                  <a:pt x="55563" y="31254"/>
                </a:cubicBezTo>
                <a:cubicBezTo>
                  <a:pt x="58449" y="31254"/>
                  <a:pt x="60771" y="33576"/>
                  <a:pt x="60771" y="36463"/>
                </a:cubicBezTo>
                <a:lnTo>
                  <a:pt x="60771" y="50354"/>
                </a:lnTo>
                <a:lnTo>
                  <a:pt x="74662" y="50354"/>
                </a:lnTo>
                <a:cubicBezTo>
                  <a:pt x="77549" y="50354"/>
                  <a:pt x="79871" y="52676"/>
                  <a:pt x="79871" y="55563"/>
                </a:cubicBezTo>
                <a:cubicBezTo>
                  <a:pt x="79871" y="58449"/>
                  <a:pt x="77549" y="60771"/>
                  <a:pt x="74662" y="60771"/>
                </a:cubicBezTo>
                <a:lnTo>
                  <a:pt x="60771" y="60771"/>
                </a:lnTo>
                <a:lnTo>
                  <a:pt x="60771" y="74662"/>
                </a:lnTo>
                <a:cubicBezTo>
                  <a:pt x="60771" y="77549"/>
                  <a:pt x="58449" y="79871"/>
                  <a:pt x="55563" y="79871"/>
                </a:cubicBezTo>
                <a:cubicBezTo>
                  <a:pt x="52676" y="79871"/>
                  <a:pt x="50354" y="77549"/>
                  <a:pt x="50354" y="74662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9"/>
          <p:cNvSpPr/>
          <p:nvPr/>
        </p:nvSpPr>
        <p:spPr>
          <a:xfrm>
            <a:off x="718344" y="4397375"/>
            <a:ext cx="161925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 codes:</a:t>
            </a:r>
            <a:r>
              <a:rPr lang="en-US" sz="1000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200, 404, 500</a:t>
            </a:r>
            <a:endParaRPr sz="1600" b="0" i="0" u="none" strike="noStrike" cap="none" dirty="0"/>
          </a:p>
        </p:txBody>
      </p:sp>
      <p:sp>
        <p:nvSpPr>
          <p:cNvPr id="312" name="Google Shape;312;p9"/>
          <p:cNvSpPr/>
          <p:nvPr/>
        </p:nvSpPr>
        <p:spPr>
          <a:xfrm>
            <a:off x="4127500" y="4429125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 extrusionOk="0">
                <a:moveTo>
                  <a:pt x="55563" y="111125"/>
                </a:moveTo>
                <a:cubicBezTo>
                  <a:pt x="86228" y="111125"/>
                  <a:pt x="111125" y="86228"/>
                  <a:pt x="111125" y="55563"/>
                </a:cubicBezTo>
                <a:cubicBezTo>
                  <a:pt x="111125" y="24897"/>
                  <a:pt x="86228" y="0"/>
                  <a:pt x="55563" y="0"/>
                </a:cubicBezTo>
                <a:cubicBezTo>
                  <a:pt x="24897" y="0"/>
                  <a:pt x="0" y="24897"/>
                  <a:pt x="0" y="55563"/>
                </a:cubicBezTo>
                <a:cubicBezTo>
                  <a:pt x="0" y="86228"/>
                  <a:pt x="24897" y="111125"/>
                  <a:pt x="55562" y="111125"/>
                </a:cubicBezTo>
                <a:close/>
                <a:moveTo>
                  <a:pt x="50354" y="74662"/>
                </a:moveTo>
                <a:lnTo>
                  <a:pt x="50354" y="60771"/>
                </a:lnTo>
                <a:lnTo>
                  <a:pt x="36463" y="60771"/>
                </a:lnTo>
                <a:cubicBezTo>
                  <a:pt x="33576" y="60771"/>
                  <a:pt x="31254" y="58449"/>
                  <a:pt x="31254" y="55563"/>
                </a:cubicBezTo>
                <a:cubicBezTo>
                  <a:pt x="31254" y="52676"/>
                  <a:pt x="33576" y="50354"/>
                  <a:pt x="36463" y="50354"/>
                </a:cubicBezTo>
                <a:lnTo>
                  <a:pt x="50354" y="50354"/>
                </a:lnTo>
                <a:lnTo>
                  <a:pt x="50354" y="36463"/>
                </a:lnTo>
                <a:cubicBezTo>
                  <a:pt x="50354" y="33576"/>
                  <a:pt x="52676" y="31254"/>
                  <a:pt x="55563" y="31254"/>
                </a:cubicBezTo>
                <a:cubicBezTo>
                  <a:pt x="58449" y="31254"/>
                  <a:pt x="60771" y="33576"/>
                  <a:pt x="60771" y="36463"/>
                </a:cubicBezTo>
                <a:lnTo>
                  <a:pt x="60771" y="50354"/>
                </a:lnTo>
                <a:lnTo>
                  <a:pt x="74662" y="50354"/>
                </a:lnTo>
                <a:cubicBezTo>
                  <a:pt x="77549" y="50354"/>
                  <a:pt x="79871" y="52676"/>
                  <a:pt x="79871" y="55563"/>
                </a:cubicBezTo>
                <a:cubicBezTo>
                  <a:pt x="79871" y="58449"/>
                  <a:pt x="77549" y="60771"/>
                  <a:pt x="74662" y="60771"/>
                </a:cubicBezTo>
                <a:lnTo>
                  <a:pt x="60771" y="60771"/>
                </a:lnTo>
                <a:lnTo>
                  <a:pt x="60771" y="74662"/>
                </a:lnTo>
                <a:cubicBezTo>
                  <a:pt x="60771" y="77549"/>
                  <a:pt x="58449" y="79871"/>
                  <a:pt x="55563" y="79871"/>
                </a:cubicBezTo>
                <a:cubicBezTo>
                  <a:pt x="52676" y="79871"/>
                  <a:pt x="50354" y="77549"/>
                  <a:pt x="50354" y="74662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9"/>
          <p:cNvSpPr/>
          <p:nvPr/>
        </p:nvSpPr>
        <p:spPr>
          <a:xfrm>
            <a:off x="4314031" y="4397375"/>
            <a:ext cx="15875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methods:</a:t>
            </a:r>
            <a:r>
              <a:rPr lang="en-US" sz="1000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POST, HEAD</a:t>
            </a:r>
            <a:endParaRPr sz="1600" b="0" i="0" u="none" strike="noStrike" cap="none" dirty="0"/>
          </a:p>
        </p:txBody>
      </p:sp>
      <p:sp>
        <p:nvSpPr>
          <p:cNvPr id="314" name="Google Shape;314;p9"/>
          <p:cNvSpPr/>
          <p:nvPr/>
        </p:nvSpPr>
        <p:spPr>
          <a:xfrm>
            <a:off x="531813" y="4714875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 extrusionOk="0">
                <a:moveTo>
                  <a:pt x="55563" y="111125"/>
                </a:moveTo>
                <a:cubicBezTo>
                  <a:pt x="86228" y="111125"/>
                  <a:pt x="111125" y="86228"/>
                  <a:pt x="111125" y="55563"/>
                </a:cubicBezTo>
                <a:cubicBezTo>
                  <a:pt x="111125" y="24897"/>
                  <a:pt x="86228" y="0"/>
                  <a:pt x="55563" y="0"/>
                </a:cubicBezTo>
                <a:cubicBezTo>
                  <a:pt x="24897" y="0"/>
                  <a:pt x="0" y="24897"/>
                  <a:pt x="0" y="55563"/>
                </a:cubicBezTo>
                <a:cubicBezTo>
                  <a:pt x="0" y="86228"/>
                  <a:pt x="24897" y="111125"/>
                  <a:pt x="55562" y="111125"/>
                </a:cubicBezTo>
                <a:close/>
                <a:moveTo>
                  <a:pt x="50354" y="74662"/>
                </a:moveTo>
                <a:lnTo>
                  <a:pt x="50354" y="60771"/>
                </a:lnTo>
                <a:lnTo>
                  <a:pt x="36463" y="60771"/>
                </a:lnTo>
                <a:cubicBezTo>
                  <a:pt x="33576" y="60771"/>
                  <a:pt x="31254" y="58449"/>
                  <a:pt x="31254" y="55563"/>
                </a:cubicBezTo>
                <a:cubicBezTo>
                  <a:pt x="31254" y="52676"/>
                  <a:pt x="33576" y="50354"/>
                  <a:pt x="36463" y="50354"/>
                </a:cubicBezTo>
                <a:lnTo>
                  <a:pt x="50354" y="50354"/>
                </a:lnTo>
                <a:lnTo>
                  <a:pt x="50354" y="36463"/>
                </a:lnTo>
                <a:cubicBezTo>
                  <a:pt x="50354" y="33576"/>
                  <a:pt x="52676" y="31254"/>
                  <a:pt x="55563" y="31254"/>
                </a:cubicBezTo>
                <a:cubicBezTo>
                  <a:pt x="58449" y="31254"/>
                  <a:pt x="60771" y="33576"/>
                  <a:pt x="60771" y="36463"/>
                </a:cubicBezTo>
                <a:lnTo>
                  <a:pt x="60771" y="50354"/>
                </a:lnTo>
                <a:lnTo>
                  <a:pt x="74662" y="50354"/>
                </a:lnTo>
                <a:cubicBezTo>
                  <a:pt x="77549" y="50354"/>
                  <a:pt x="79871" y="52676"/>
                  <a:pt x="79871" y="55563"/>
                </a:cubicBezTo>
                <a:cubicBezTo>
                  <a:pt x="79871" y="58449"/>
                  <a:pt x="77549" y="60771"/>
                  <a:pt x="74662" y="60771"/>
                </a:cubicBezTo>
                <a:lnTo>
                  <a:pt x="60771" y="60771"/>
                </a:lnTo>
                <a:lnTo>
                  <a:pt x="60771" y="74662"/>
                </a:lnTo>
                <a:cubicBezTo>
                  <a:pt x="60771" y="77549"/>
                  <a:pt x="58449" y="79871"/>
                  <a:pt x="55563" y="79871"/>
                </a:cubicBezTo>
                <a:cubicBezTo>
                  <a:pt x="52676" y="79871"/>
                  <a:pt x="50354" y="77549"/>
                  <a:pt x="50354" y="74662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9"/>
          <p:cNvSpPr/>
          <p:nvPr/>
        </p:nvSpPr>
        <p:spPr>
          <a:xfrm>
            <a:off x="718344" y="4683125"/>
            <a:ext cx="1579563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Multimedia:</a:t>
            </a:r>
            <a:r>
              <a:rPr lang="en-US" sz="1000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Images, CSS, JS</a:t>
            </a:r>
            <a:endParaRPr sz="1600" b="0" i="0" u="none" strike="noStrike" cap="none" dirty="0"/>
          </a:p>
        </p:txBody>
      </p:sp>
      <p:sp>
        <p:nvSpPr>
          <p:cNvPr id="316" name="Google Shape;316;p9"/>
          <p:cNvSpPr/>
          <p:nvPr/>
        </p:nvSpPr>
        <p:spPr>
          <a:xfrm>
            <a:off x="4127500" y="4714875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 extrusionOk="0">
                <a:moveTo>
                  <a:pt x="55563" y="111125"/>
                </a:moveTo>
                <a:cubicBezTo>
                  <a:pt x="86228" y="111125"/>
                  <a:pt x="111125" y="86228"/>
                  <a:pt x="111125" y="55563"/>
                </a:cubicBezTo>
                <a:cubicBezTo>
                  <a:pt x="111125" y="24897"/>
                  <a:pt x="86228" y="0"/>
                  <a:pt x="55563" y="0"/>
                </a:cubicBezTo>
                <a:cubicBezTo>
                  <a:pt x="24897" y="0"/>
                  <a:pt x="0" y="24897"/>
                  <a:pt x="0" y="55563"/>
                </a:cubicBezTo>
                <a:cubicBezTo>
                  <a:pt x="0" y="86228"/>
                  <a:pt x="24897" y="111125"/>
                  <a:pt x="55562" y="111125"/>
                </a:cubicBezTo>
                <a:close/>
                <a:moveTo>
                  <a:pt x="50354" y="74662"/>
                </a:moveTo>
                <a:lnTo>
                  <a:pt x="50354" y="60771"/>
                </a:lnTo>
                <a:lnTo>
                  <a:pt x="36463" y="60771"/>
                </a:lnTo>
                <a:cubicBezTo>
                  <a:pt x="33576" y="60771"/>
                  <a:pt x="31254" y="58449"/>
                  <a:pt x="31254" y="55563"/>
                </a:cubicBezTo>
                <a:cubicBezTo>
                  <a:pt x="31254" y="52676"/>
                  <a:pt x="33576" y="50354"/>
                  <a:pt x="36463" y="50354"/>
                </a:cubicBezTo>
                <a:lnTo>
                  <a:pt x="50354" y="50354"/>
                </a:lnTo>
                <a:lnTo>
                  <a:pt x="50354" y="36463"/>
                </a:lnTo>
                <a:cubicBezTo>
                  <a:pt x="50354" y="33576"/>
                  <a:pt x="52676" y="31254"/>
                  <a:pt x="55563" y="31254"/>
                </a:cubicBezTo>
                <a:cubicBezTo>
                  <a:pt x="58449" y="31254"/>
                  <a:pt x="60771" y="33576"/>
                  <a:pt x="60771" y="36463"/>
                </a:cubicBezTo>
                <a:lnTo>
                  <a:pt x="60771" y="50354"/>
                </a:lnTo>
                <a:lnTo>
                  <a:pt x="74662" y="50354"/>
                </a:lnTo>
                <a:cubicBezTo>
                  <a:pt x="77549" y="50354"/>
                  <a:pt x="79871" y="52676"/>
                  <a:pt x="79871" y="55563"/>
                </a:cubicBezTo>
                <a:cubicBezTo>
                  <a:pt x="79871" y="58449"/>
                  <a:pt x="77549" y="60771"/>
                  <a:pt x="74662" y="60771"/>
                </a:cubicBezTo>
                <a:lnTo>
                  <a:pt x="60771" y="60771"/>
                </a:lnTo>
                <a:lnTo>
                  <a:pt x="60771" y="74662"/>
                </a:lnTo>
                <a:cubicBezTo>
                  <a:pt x="60771" y="77549"/>
                  <a:pt x="58449" y="79871"/>
                  <a:pt x="55563" y="79871"/>
                </a:cubicBezTo>
                <a:cubicBezTo>
                  <a:pt x="52676" y="79871"/>
                  <a:pt x="50354" y="77549"/>
                  <a:pt x="50354" y="74662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p9"/>
          <p:cNvSpPr/>
          <p:nvPr/>
        </p:nvSpPr>
        <p:spPr>
          <a:xfrm>
            <a:off x="4314031" y="4683125"/>
            <a:ext cx="155575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Headers:</a:t>
            </a:r>
            <a:r>
              <a:rPr lang="en-US" sz="1000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Metadata support</a:t>
            </a:r>
            <a:endParaRPr sz="1600" b="0" i="0" u="none" strike="noStrike" cap="none" dirty="0"/>
          </a:p>
        </p:txBody>
      </p:sp>
      <p:sp>
        <p:nvSpPr>
          <p:cNvPr id="318" name="Google Shape;318;p9"/>
          <p:cNvSpPr/>
          <p:nvPr/>
        </p:nvSpPr>
        <p:spPr>
          <a:xfrm>
            <a:off x="519906" y="5004594"/>
            <a:ext cx="7088188" cy="388938"/>
          </a:xfrm>
          <a:custGeom>
            <a:avLst/>
            <a:gdLst/>
            <a:ahLst/>
            <a:cxnLst/>
            <a:rect l="l" t="t" r="r" b="b"/>
            <a:pathLst>
              <a:path w="7088188" h="388938" extrusionOk="0">
                <a:moveTo>
                  <a:pt x="63502" y="0"/>
                </a:moveTo>
                <a:lnTo>
                  <a:pt x="7024686" y="0"/>
                </a:lnTo>
                <a:cubicBezTo>
                  <a:pt x="7059757" y="0"/>
                  <a:pt x="7088188" y="28431"/>
                  <a:pt x="7088188" y="63502"/>
                </a:cubicBezTo>
                <a:lnTo>
                  <a:pt x="7088188" y="325436"/>
                </a:lnTo>
                <a:cubicBezTo>
                  <a:pt x="7088188" y="360507"/>
                  <a:pt x="7059757" y="388938"/>
                  <a:pt x="7024686" y="388938"/>
                </a:cubicBezTo>
                <a:lnTo>
                  <a:pt x="63502" y="388938"/>
                </a:lnTo>
                <a:cubicBezTo>
                  <a:pt x="28431" y="388938"/>
                  <a:pt x="0" y="360507"/>
                  <a:pt x="0" y="325436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9"/>
          <p:cNvSpPr/>
          <p:nvPr/>
        </p:nvSpPr>
        <p:spPr>
          <a:xfrm>
            <a:off x="635000" y="513556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extrusionOk="0">
                <a:moveTo>
                  <a:pt x="63500" y="0"/>
                </a:moveTo>
                <a:cubicBezTo>
                  <a:pt x="67146" y="0"/>
                  <a:pt x="70495" y="2009"/>
                  <a:pt x="72231" y="5209"/>
                </a:cubicBezTo>
                <a:lnTo>
                  <a:pt x="125809" y="104428"/>
                </a:lnTo>
                <a:cubicBezTo>
                  <a:pt x="127471" y="107504"/>
                  <a:pt x="127397" y="111224"/>
                  <a:pt x="125611" y="114226"/>
                </a:cubicBezTo>
                <a:cubicBezTo>
                  <a:pt x="123825" y="117227"/>
                  <a:pt x="120576" y="119063"/>
                  <a:pt x="117078" y="119063"/>
                </a:cubicBezTo>
                <a:lnTo>
                  <a:pt x="9922" y="119063"/>
                </a:lnTo>
                <a:cubicBezTo>
                  <a:pt x="6424" y="119063"/>
                  <a:pt x="3200" y="117227"/>
                  <a:pt x="1389" y="114226"/>
                </a:cubicBezTo>
                <a:cubicBezTo>
                  <a:pt x="-422" y="111224"/>
                  <a:pt x="-471" y="107504"/>
                  <a:pt x="1191" y="104428"/>
                </a:cubicBezTo>
                <a:lnTo>
                  <a:pt x="54769" y="5209"/>
                </a:lnTo>
                <a:cubicBezTo>
                  <a:pt x="56505" y="2009"/>
                  <a:pt x="59854" y="0"/>
                  <a:pt x="63500" y="0"/>
                </a:cubicBezTo>
                <a:close/>
                <a:moveTo>
                  <a:pt x="63500" y="41672"/>
                </a:moveTo>
                <a:cubicBezTo>
                  <a:pt x="60201" y="41672"/>
                  <a:pt x="57547" y="44326"/>
                  <a:pt x="57547" y="47625"/>
                </a:cubicBezTo>
                <a:lnTo>
                  <a:pt x="57547" y="75406"/>
                </a:lnTo>
                <a:cubicBezTo>
                  <a:pt x="57547" y="78705"/>
                  <a:pt x="60201" y="81359"/>
                  <a:pt x="63500" y="81359"/>
                </a:cubicBezTo>
                <a:cubicBezTo>
                  <a:pt x="66799" y="81359"/>
                  <a:pt x="69453" y="78705"/>
                  <a:pt x="69453" y="75406"/>
                </a:cubicBezTo>
                <a:lnTo>
                  <a:pt x="69453" y="47625"/>
                </a:lnTo>
                <a:cubicBezTo>
                  <a:pt x="69453" y="44326"/>
                  <a:pt x="66799" y="41672"/>
                  <a:pt x="63500" y="41672"/>
                </a:cubicBezTo>
                <a:close/>
                <a:moveTo>
                  <a:pt x="70123" y="95250"/>
                </a:moveTo>
                <a:cubicBezTo>
                  <a:pt x="70274" y="92792"/>
                  <a:pt x="69048" y="90453"/>
                  <a:pt x="66940" y="89178"/>
                </a:cubicBezTo>
                <a:cubicBezTo>
                  <a:pt x="64833" y="87903"/>
                  <a:pt x="62192" y="87903"/>
                  <a:pt x="60085" y="89178"/>
                </a:cubicBezTo>
                <a:cubicBezTo>
                  <a:pt x="57977" y="90453"/>
                  <a:pt x="56751" y="92792"/>
                  <a:pt x="56902" y="95250"/>
                </a:cubicBezTo>
                <a:cubicBezTo>
                  <a:pt x="56751" y="97708"/>
                  <a:pt x="57977" y="100047"/>
                  <a:pt x="60085" y="101322"/>
                </a:cubicBezTo>
                <a:cubicBezTo>
                  <a:pt x="62192" y="102597"/>
                  <a:pt x="64833" y="102597"/>
                  <a:pt x="66940" y="101322"/>
                </a:cubicBezTo>
                <a:cubicBezTo>
                  <a:pt x="69048" y="100047"/>
                  <a:pt x="70274" y="97708"/>
                  <a:pt x="70123" y="9525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0" name="Google Shape;320;p9"/>
          <p:cNvSpPr/>
          <p:nvPr/>
        </p:nvSpPr>
        <p:spPr>
          <a:xfrm>
            <a:off x="817563" y="5103813"/>
            <a:ext cx="6754813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Limitation:</a:t>
            </a:r>
            <a:r>
              <a:rPr lang="en-US" sz="1000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Still </a:t>
            </a:r>
            <a:r>
              <a:rPr lang="en-US" sz="1000" b="0" i="0" u="none" strike="noStrike" cap="none" dirty="0">
                <a:solidFill>
                  <a:srgbClr val="E0E2E5"/>
                </a:solidFill>
                <a:highlight>
                  <a:srgbClr val="008000"/>
                </a:highlight>
                <a:latin typeface="Quattrocento Sans"/>
                <a:ea typeface="Quattrocento Sans"/>
                <a:cs typeface="Quattrocento Sans"/>
                <a:sym typeface="Quattrocento Sans"/>
              </a:rPr>
              <a:t>requires new TCP connection per request  </a:t>
            </a:r>
            <a:r>
              <a:rPr lang="en-US" sz="1000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(Each req 3 way handshake)</a:t>
            </a:r>
            <a:endParaRPr sz="1600" b="0" i="0" u="none" strike="noStrike" cap="none" dirty="0"/>
          </a:p>
        </p:txBody>
      </p:sp>
      <p:sp>
        <p:nvSpPr>
          <p:cNvPr id="321" name="Google Shape;321;p9"/>
          <p:cNvSpPr/>
          <p:nvPr/>
        </p:nvSpPr>
        <p:spPr>
          <a:xfrm>
            <a:off x="8068469" y="1123156"/>
            <a:ext cx="3802062" cy="6008688"/>
          </a:xfrm>
          <a:custGeom>
            <a:avLst/>
            <a:gdLst/>
            <a:ahLst/>
            <a:cxnLst/>
            <a:rect l="l" t="t" r="r" b="b"/>
            <a:pathLst>
              <a:path w="3802062" h="6008688" extrusionOk="0">
                <a:moveTo>
                  <a:pt x="126989" y="0"/>
                </a:moveTo>
                <a:lnTo>
                  <a:pt x="3675074" y="0"/>
                </a:lnTo>
                <a:cubicBezTo>
                  <a:pt x="3745208" y="0"/>
                  <a:pt x="3802062" y="56855"/>
                  <a:pt x="3802062" y="126989"/>
                </a:cubicBezTo>
                <a:lnTo>
                  <a:pt x="3802062" y="5881699"/>
                </a:lnTo>
                <a:cubicBezTo>
                  <a:pt x="3802062" y="5951833"/>
                  <a:pt x="3745208" y="6008687"/>
                  <a:pt x="3675074" y="6008687"/>
                </a:cubicBezTo>
                <a:lnTo>
                  <a:pt x="126989" y="6008688"/>
                </a:lnTo>
                <a:cubicBezTo>
                  <a:pt x="56855" y="6008687"/>
                  <a:pt x="0" y="5951833"/>
                  <a:pt x="0" y="5881699"/>
                </a:cubicBezTo>
                <a:lnTo>
                  <a:pt x="0" y="126989"/>
                </a:lnTo>
                <a:cubicBezTo>
                  <a:pt x="0" y="56902"/>
                  <a:pt x="56902" y="0"/>
                  <a:pt x="126989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788A9C">
                  <a:alpha val="10196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" name="Google Shape;322;p9"/>
          <p:cNvSpPr/>
          <p:nvPr/>
        </p:nvSpPr>
        <p:spPr>
          <a:xfrm>
            <a:off x="8215313" y="1317625"/>
            <a:ext cx="3508375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HTTP/1.0 Connection Flow</a:t>
            </a:r>
            <a:endParaRPr sz="1600" b="0" i="0" u="none" strike="noStrike" cap="none"/>
          </a:p>
        </p:txBody>
      </p:sp>
      <p:sp>
        <p:nvSpPr>
          <p:cNvPr id="323" name="Google Shape;323;p9"/>
          <p:cNvSpPr/>
          <p:nvPr/>
        </p:nvSpPr>
        <p:spPr>
          <a:xfrm>
            <a:off x="8270875" y="1738313"/>
            <a:ext cx="619125" cy="619125"/>
          </a:xfrm>
          <a:custGeom>
            <a:avLst/>
            <a:gdLst/>
            <a:ahLst/>
            <a:cxnLst/>
            <a:rect l="l" t="t" r="r" b="b"/>
            <a:pathLst>
              <a:path w="619125" h="619125" extrusionOk="0">
                <a:moveTo>
                  <a:pt x="95252" y="0"/>
                </a:moveTo>
                <a:lnTo>
                  <a:pt x="523873" y="0"/>
                </a:lnTo>
                <a:cubicBezTo>
                  <a:pt x="576479" y="0"/>
                  <a:pt x="619125" y="42646"/>
                  <a:pt x="619125" y="95252"/>
                </a:cubicBezTo>
                <a:lnTo>
                  <a:pt x="619125" y="523873"/>
                </a:lnTo>
                <a:cubicBezTo>
                  <a:pt x="619125" y="576479"/>
                  <a:pt x="576479" y="619125"/>
                  <a:pt x="523873" y="619125"/>
                </a:cubicBezTo>
                <a:lnTo>
                  <a:pt x="95252" y="619125"/>
                </a:lnTo>
                <a:cubicBezTo>
                  <a:pt x="42646" y="619125"/>
                  <a:pt x="0" y="576479"/>
                  <a:pt x="0" y="523873"/>
                </a:cubicBezTo>
                <a:lnTo>
                  <a:pt x="0" y="95252"/>
                </a:lnTo>
                <a:cubicBezTo>
                  <a:pt x="0" y="42681"/>
                  <a:pt x="42681" y="0"/>
                  <a:pt x="95252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 w="25400" cap="flat" cmpd="sng">
            <a:solidFill>
              <a:srgbClr val="B89A6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9"/>
          <p:cNvSpPr/>
          <p:nvPr/>
        </p:nvSpPr>
        <p:spPr>
          <a:xfrm>
            <a:off x="8433594" y="1928813"/>
            <a:ext cx="297656" cy="238125"/>
          </a:xfrm>
          <a:custGeom>
            <a:avLst/>
            <a:gdLst/>
            <a:ahLst/>
            <a:cxnLst/>
            <a:rect l="l" t="t" r="r" b="b"/>
            <a:pathLst>
              <a:path w="297656" h="238125" extrusionOk="0">
                <a:moveTo>
                  <a:pt x="59531" y="14883"/>
                </a:moveTo>
                <a:cubicBezTo>
                  <a:pt x="43114" y="14883"/>
                  <a:pt x="29766" y="28231"/>
                  <a:pt x="29766" y="44648"/>
                </a:cubicBezTo>
                <a:lnTo>
                  <a:pt x="29766" y="156270"/>
                </a:lnTo>
                <a:lnTo>
                  <a:pt x="59531" y="156270"/>
                </a:lnTo>
                <a:lnTo>
                  <a:pt x="59531" y="44648"/>
                </a:lnTo>
                <a:lnTo>
                  <a:pt x="238125" y="44648"/>
                </a:lnTo>
                <a:lnTo>
                  <a:pt x="238125" y="156270"/>
                </a:lnTo>
                <a:lnTo>
                  <a:pt x="267891" y="156270"/>
                </a:lnTo>
                <a:lnTo>
                  <a:pt x="267891" y="44648"/>
                </a:lnTo>
                <a:cubicBezTo>
                  <a:pt x="267891" y="28231"/>
                  <a:pt x="254543" y="14883"/>
                  <a:pt x="238125" y="14883"/>
                </a:cubicBezTo>
                <a:lnTo>
                  <a:pt x="59531" y="14883"/>
                </a:lnTo>
                <a:close/>
                <a:moveTo>
                  <a:pt x="8930" y="178594"/>
                </a:moveTo>
                <a:cubicBezTo>
                  <a:pt x="4000" y="178594"/>
                  <a:pt x="0" y="182594"/>
                  <a:pt x="0" y="187523"/>
                </a:cubicBezTo>
                <a:cubicBezTo>
                  <a:pt x="0" y="207243"/>
                  <a:pt x="15999" y="223242"/>
                  <a:pt x="35719" y="223242"/>
                </a:cubicBezTo>
                <a:lnTo>
                  <a:pt x="261937" y="223242"/>
                </a:lnTo>
                <a:cubicBezTo>
                  <a:pt x="281657" y="223242"/>
                  <a:pt x="297656" y="207243"/>
                  <a:pt x="297656" y="187523"/>
                </a:cubicBezTo>
                <a:cubicBezTo>
                  <a:pt x="297656" y="182594"/>
                  <a:pt x="293656" y="178594"/>
                  <a:pt x="288727" y="178594"/>
                </a:cubicBezTo>
                <a:lnTo>
                  <a:pt x="8930" y="178594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9"/>
          <p:cNvSpPr/>
          <p:nvPr/>
        </p:nvSpPr>
        <p:spPr>
          <a:xfrm>
            <a:off x="9024938" y="1825625"/>
            <a:ext cx="2722563" cy="222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Client</a:t>
            </a:r>
            <a:endParaRPr sz="1600" b="0" i="0" u="none" strike="noStrike" cap="none"/>
          </a:p>
        </p:txBody>
      </p:sp>
      <p:sp>
        <p:nvSpPr>
          <p:cNvPr id="326" name="Google Shape;326;p9"/>
          <p:cNvSpPr/>
          <p:nvPr/>
        </p:nvSpPr>
        <p:spPr>
          <a:xfrm>
            <a:off x="9024938" y="2079625"/>
            <a:ext cx="271462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Browser / Application</a:t>
            </a:r>
            <a:endParaRPr sz="1600" b="0" i="0" u="none" strike="noStrike" cap="none"/>
          </a:p>
        </p:txBody>
      </p:sp>
      <p:sp>
        <p:nvSpPr>
          <p:cNvPr id="327" name="Google Shape;327;p9"/>
          <p:cNvSpPr/>
          <p:nvPr/>
        </p:nvSpPr>
        <p:spPr>
          <a:xfrm>
            <a:off x="9419332" y="2496344"/>
            <a:ext cx="1103313" cy="293688"/>
          </a:xfrm>
          <a:custGeom>
            <a:avLst/>
            <a:gdLst/>
            <a:ahLst/>
            <a:cxnLst/>
            <a:rect l="l" t="t" r="r" b="b"/>
            <a:pathLst>
              <a:path w="1103313" h="293688" extrusionOk="0">
                <a:moveTo>
                  <a:pt x="63501" y="0"/>
                </a:moveTo>
                <a:lnTo>
                  <a:pt x="1039811" y="0"/>
                </a:lnTo>
                <a:cubicBezTo>
                  <a:pt x="1074882" y="0"/>
                  <a:pt x="1103313" y="28430"/>
                  <a:pt x="1103313" y="63501"/>
                </a:cubicBezTo>
                <a:lnTo>
                  <a:pt x="1103313" y="230186"/>
                </a:lnTo>
                <a:cubicBezTo>
                  <a:pt x="1103312" y="265257"/>
                  <a:pt x="1074882" y="293688"/>
                  <a:pt x="1039811" y="293688"/>
                </a:cubicBezTo>
                <a:lnTo>
                  <a:pt x="63501" y="293688"/>
                </a:lnTo>
                <a:cubicBezTo>
                  <a:pt x="28430" y="293688"/>
                  <a:pt x="0" y="265257"/>
                  <a:pt x="0" y="230186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B89A6B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8" name="Google Shape;328;p9"/>
          <p:cNvSpPr/>
          <p:nvPr/>
        </p:nvSpPr>
        <p:spPr>
          <a:xfrm>
            <a:off x="9550301" y="2563813"/>
            <a:ext cx="896938" cy="15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 TCP Handshake</a:t>
            </a:r>
            <a:endParaRPr sz="1600" b="0" i="0" u="none" strike="noStrike" cap="none"/>
          </a:p>
        </p:txBody>
      </p:sp>
      <p:sp>
        <p:nvSpPr>
          <p:cNvPr id="329" name="Google Shape;329;p9"/>
          <p:cNvSpPr/>
          <p:nvPr/>
        </p:nvSpPr>
        <p:spPr>
          <a:xfrm>
            <a:off x="9909845" y="2825750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 extrusionOk="0">
                <a:moveTo>
                  <a:pt x="52524" y="155835"/>
                </a:moveTo>
                <a:cubicBezTo>
                  <a:pt x="56400" y="159711"/>
                  <a:pt x="62694" y="159711"/>
                  <a:pt x="66570" y="155835"/>
                </a:cubicBezTo>
                <a:lnTo>
                  <a:pt x="116179" y="106226"/>
                </a:lnTo>
                <a:cubicBezTo>
                  <a:pt x="120055" y="102350"/>
                  <a:pt x="120055" y="96056"/>
                  <a:pt x="116179" y="92180"/>
                </a:cubicBezTo>
                <a:cubicBezTo>
                  <a:pt x="112303" y="88305"/>
                  <a:pt x="106009" y="88305"/>
                  <a:pt x="102133" y="92180"/>
                </a:cubicBezTo>
                <a:lnTo>
                  <a:pt x="69453" y="124861"/>
                </a:lnTo>
                <a:lnTo>
                  <a:pt x="69453" y="9922"/>
                </a:lnTo>
                <a:cubicBezTo>
                  <a:pt x="69453" y="4434"/>
                  <a:pt x="65019" y="0"/>
                  <a:pt x="59531" y="0"/>
                </a:cubicBezTo>
                <a:cubicBezTo>
                  <a:pt x="54043" y="0"/>
                  <a:pt x="49609" y="4434"/>
                  <a:pt x="49609" y="9922"/>
                </a:cubicBezTo>
                <a:lnTo>
                  <a:pt x="49609" y="124861"/>
                </a:lnTo>
                <a:lnTo>
                  <a:pt x="16929" y="92180"/>
                </a:lnTo>
                <a:cubicBezTo>
                  <a:pt x="13053" y="88305"/>
                  <a:pt x="6759" y="88305"/>
                  <a:pt x="2884" y="92180"/>
                </a:cubicBezTo>
                <a:cubicBezTo>
                  <a:pt x="-992" y="96056"/>
                  <a:pt x="-992" y="102350"/>
                  <a:pt x="2884" y="106226"/>
                </a:cubicBezTo>
                <a:lnTo>
                  <a:pt x="52493" y="155835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0" name="Google Shape;330;p9"/>
          <p:cNvSpPr/>
          <p:nvPr/>
        </p:nvSpPr>
        <p:spPr>
          <a:xfrm>
            <a:off x="9209608" y="3115469"/>
            <a:ext cx="1516063" cy="293688"/>
          </a:xfrm>
          <a:custGeom>
            <a:avLst/>
            <a:gdLst/>
            <a:ahLst/>
            <a:cxnLst/>
            <a:rect l="l" t="t" r="r" b="b"/>
            <a:pathLst>
              <a:path w="1516063" h="293688" extrusionOk="0">
                <a:moveTo>
                  <a:pt x="63501" y="0"/>
                </a:moveTo>
                <a:lnTo>
                  <a:pt x="1452561" y="0"/>
                </a:lnTo>
                <a:cubicBezTo>
                  <a:pt x="1487632" y="0"/>
                  <a:pt x="1516063" y="28430"/>
                  <a:pt x="1516063" y="63501"/>
                </a:cubicBezTo>
                <a:lnTo>
                  <a:pt x="1516063" y="230186"/>
                </a:lnTo>
                <a:cubicBezTo>
                  <a:pt x="1516062" y="265257"/>
                  <a:pt x="1487632" y="293688"/>
                  <a:pt x="1452561" y="293688"/>
                </a:cubicBezTo>
                <a:lnTo>
                  <a:pt x="63501" y="293688"/>
                </a:lnTo>
                <a:cubicBezTo>
                  <a:pt x="28430" y="293688"/>
                  <a:pt x="0" y="265257"/>
                  <a:pt x="0" y="230186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4A6C8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p9"/>
          <p:cNvSpPr/>
          <p:nvPr/>
        </p:nvSpPr>
        <p:spPr>
          <a:xfrm>
            <a:off x="9340577" y="3182938"/>
            <a:ext cx="1309688" cy="15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b="1" i="0" u="none" strike="noStrike" cap="none">
                <a:solidFill>
                  <a:srgbClr val="4A6C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 TLS Handshake (HTTPS)</a:t>
            </a:r>
            <a:endParaRPr sz="1600" b="0" i="0" u="none" strike="noStrike" cap="none"/>
          </a:p>
        </p:txBody>
      </p:sp>
      <p:sp>
        <p:nvSpPr>
          <p:cNvPr id="332" name="Google Shape;332;p9"/>
          <p:cNvSpPr/>
          <p:nvPr/>
        </p:nvSpPr>
        <p:spPr>
          <a:xfrm>
            <a:off x="9909845" y="3444875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 extrusionOk="0">
                <a:moveTo>
                  <a:pt x="52524" y="155835"/>
                </a:moveTo>
                <a:cubicBezTo>
                  <a:pt x="56400" y="159711"/>
                  <a:pt x="62694" y="159711"/>
                  <a:pt x="66570" y="155835"/>
                </a:cubicBezTo>
                <a:lnTo>
                  <a:pt x="116179" y="106226"/>
                </a:lnTo>
                <a:cubicBezTo>
                  <a:pt x="120055" y="102350"/>
                  <a:pt x="120055" y="96056"/>
                  <a:pt x="116179" y="92180"/>
                </a:cubicBezTo>
                <a:cubicBezTo>
                  <a:pt x="112303" y="88305"/>
                  <a:pt x="106009" y="88305"/>
                  <a:pt x="102133" y="92180"/>
                </a:cubicBezTo>
                <a:lnTo>
                  <a:pt x="69453" y="124861"/>
                </a:lnTo>
                <a:lnTo>
                  <a:pt x="69453" y="9922"/>
                </a:lnTo>
                <a:cubicBezTo>
                  <a:pt x="69453" y="4434"/>
                  <a:pt x="65019" y="0"/>
                  <a:pt x="59531" y="0"/>
                </a:cubicBezTo>
                <a:cubicBezTo>
                  <a:pt x="54043" y="0"/>
                  <a:pt x="49609" y="4434"/>
                  <a:pt x="49609" y="9922"/>
                </a:cubicBezTo>
                <a:lnTo>
                  <a:pt x="49609" y="124861"/>
                </a:lnTo>
                <a:lnTo>
                  <a:pt x="16929" y="92180"/>
                </a:lnTo>
                <a:cubicBezTo>
                  <a:pt x="13053" y="88305"/>
                  <a:pt x="6759" y="88305"/>
                  <a:pt x="2884" y="92180"/>
                </a:cubicBezTo>
                <a:cubicBezTo>
                  <a:pt x="-992" y="96056"/>
                  <a:pt x="-992" y="102350"/>
                  <a:pt x="2884" y="106226"/>
                </a:cubicBezTo>
                <a:lnTo>
                  <a:pt x="52493" y="155835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9"/>
          <p:cNvSpPr/>
          <p:nvPr/>
        </p:nvSpPr>
        <p:spPr>
          <a:xfrm>
            <a:off x="9446121" y="3734594"/>
            <a:ext cx="1047750" cy="293688"/>
          </a:xfrm>
          <a:custGeom>
            <a:avLst/>
            <a:gdLst/>
            <a:ahLst/>
            <a:cxnLst/>
            <a:rect l="l" t="t" r="r" b="b"/>
            <a:pathLst>
              <a:path w="1047750" h="293688" extrusionOk="0">
                <a:moveTo>
                  <a:pt x="63501" y="0"/>
                </a:moveTo>
                <a:lnTo>
                  <a:pt x="984249" y="0"/>
                </a:lnTo>
                <a:cubicBezTo>
                  <a:pt x="1019320" y="0"/>
                  <a:pt x="1047750" y="28430"/>
                  <a:pt x="1047750" y="63501"/>
                </a:cubicBezTo>
                <a:lnTo>
                  <a:pt x="1047750" y="230186"/>
                </a:lnTo>
                <a:cubicBezTo>
                  <a:pt x="1047750" y="265257"/>
                  <a:pt x="1019320" y="293688"/>
                  <a:pt x="984249" y="293688"/>
                </a:cubicBezTo>
                <a:lnTo>
                  <a:pt x="63501" y="293688"/>
                </a:lnTo>
                <a:cubicBezTo>
                  <a:pt x="28430" y="293688"/>
                  <a:pt x="0" y="265257"/>
                  <a:pt x="0" y="230186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B89A6B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p9"/>
          <p:cNvSpPr/>
          <p:nvPr/>
        </p:nvSpPr>
        <p:spPr>
          <a:xfrm>
            <a:off x="9577090" y="3802062"/>
            <a:ext cx="841375" cy="15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 HTTP Request</a:t>
            </a:r>
            <a:endParaRPr sz="1600" b="0" i="0" u="none" strike="noStrike" cap="none"/>
          </a:p>
        </p:txBody>
      </p:sp>
      <p:sp>
        <p:nvSpPr>
          <p:cNvPr id="335" name="Google Shape;335;p9"/>
          <p:cNvSpPr/>
          <p:nvPr/>
        </p:nvSpPr>
        <p:spPr>
          <a:xfrm>
            <a:off x="9909845" y="4064000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 extrusionOk="0">
                <a:moveTo>
                  <a:pt x="52524" y="155835"/>
                </a:moveTo>
                <a:cubicBezTo>
                  <a:pt x="56400" y="159711"/>
                  <a:pt x="62694" y="159711"/>
                  <a:pt x="66570" y="155835"/>
                </a:cubicBezTo>
                <a:lnTo>
                  <a:pt x="116179" y="106226"/>
                </a:lnTo>
                <a:cubicBezTo>
                  <a:pt x="120055" y="102350"/>
                  <a:pt x="120055" y="96056"/>
                  <a:pt x="116179" y="92180"/>
                </a:cubicBezTo>
                <a:cubicBezTo>
                  <a:pt x="112303" y="88305"/>
                  <a:pt x="106009" y="88305"/>
                  <a:pt x="102133" y="92180"/>
                </a:cubicBezTo>
                <a:lnTo>
                  <a:pt x="69453" y="124861"/>
                </a:lnTo>
                <a:lnTo>
                  <a:pt x="69453" y="9922"/>
                </a:lnTo>
                <a:cubicBezTo>
                  <a:pt x="69453" y="4434"/>
                  <a:pt x="65019" y="0"/>
                  <a:pt x="59531" y="0"/>
                </a:cubicBezTo>
                <a:cubicBezTo>
                  <a:pt x="54043" y="0"/>
                  <a:pt x="49609" y="4434"/>
                  <a:pt x="49609" y="9922"/>
                </a:cubicBezTo>
                <a:lnTo>
                  <a:pt x="49609" y="124861"/>
                </a:lnTo>
                <a:lnTo>
                  <a:pt x="16929" y="92180"/>
                </a:lnTo>
                <a:cubicBezTo>
                  <a:pt x="13053" y="88305"/>
                  <a:pt x="6759" y="88305"/>
                  <a:pt x="2884" y="92180"/>
                </a:cubicBezTo>
                <a:cubicBezTo>
                  <a:pt x="-992" y="96056"/>
                  <a:pt x="-992" y="102350"/>
                  <a:pt x="2884" y="106226"/>
                </a:cubicBezTo>
                <a:lnTo>
                  <a:pt x="52493" y="155835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9"/>
          <p:cNvSpPr/>
          <p:nvPr/>
        </p:nvSpPr>
        <p:spPr>
          <a:xfrm>
            <a:off x="8270875" y="4357688"/>
            <a:ext cx="619125" cy="619125"/>
          </a:xfrm>
          <a:custGeom>
            <a:avLst/>
            <a:gdLst/>
            <a:ahLst/>
            <a:cxnLst/>
            <a:rect l="l" t="t" r="r" b="b"/>
            <a:pathLst>
              <a:path w="619125" h="619125" extrusionOk="0">
                <a:moveTo>
                  <a:pt x="95252" y="0"/>
                </a:moveTo>
                <a:lnTo>
                  <a:pt x="523873" y="0"/>
                </a:lnTo>
                <a:cubicBezTo>
                  <a:pt x="576479" y="0"/>
                  <a:pt x="619125" y="42646"/>
                  <a:pt x="619125" y="95252"/>
                </a:cubicBezTo>
                <a:lnTo>
                  <a:pt x="619125" y="523873"/>
                </a:lnTo>
                <a:cubicBezTo>
                  <a:pt x="619125" y="576479"/>
                  <a:pt x="576479" y="619125"/>
                  <a:pt x="523873" y="619125"/>
                </a:cubicBezTo>
                <a:lnTo>
                  <a:pt x="95252" y="619125"/>
                </a:lnTo>
                <a:cubicBezTo>
                  <a:pt x="42646" y="619125"/>
                  <a:pt x="0" y="576479"/>
                  <a:pt x="0" y="523873"/>
                </a:cubicBezTo>
                <a:lnTo>
                  <a:pt x="0" y="95252"/>
                </a:lnTo>
                <a:cubicBezTo>
                  <a:pt x="0" y="42681"/>
                  <a:pt x="42681" y="0"/>
                  <a:pt x="95252" y="0"/>
                </a:cubicBezTo>
                <a:close/>
              </a:path>
            </a:pathLst>
          </a:custGeom>
          <a:solidFill>
            <a:srgbClr val="4A6C8C">
              <a:alpha val="20000"/>
            </a:srgbClr>
          </a:solidFill>
          <a:ln w="25400" cap="flat" cmpd="sng">
            <a:solidFill>
              <a:srgbClr val="4A6C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9"/>
          <p:cNvSpPr/>
          <p:nvPr/>
        </p:nvSpPr>
        <p:spPr>
          <a:xfrm>
            <a:off x="8478242" y="4548188"/>
            <a:ext cx="208359" cy="238125"/>
          </a:xfrm>
          <a:custGeom>
            <a:avLst/>
            <a:gdLst/>
            <a:ahLst/>
            <a:cxnLst/>
            <a:rect l="l" t="t" r="r" b="b"/>
            <a:pathLst>
              <a:path w="208359" h="238125" extrusionOk="0">
                <a:moveTo>
                  <a:pt x="29766" y="14883"/>
                </a:moveTo>
                <a:cubicBezTo>
                  <a:pt x="13348" y="14883"/>
                  <a:pt x="0" y="28231"/>
                  <a:pt x="0" y="44648"/>
                </a:cubicBezTo>
                <a:lnTo>
                  <a:pt x="0" y="74414"/>
                </a:lnTo>
                <a:cubicBezTo>
                  <a:pt x="0" y="90832"/>
                  <a:pt x="13348" y="104180"/>
                  <a:pt x="29766" y="104180"/>
                </a:cubicBezTo>
                <a:lnTo>
                  <a:pt x="178594" y="104180"/>
                </a:lnTo>
                <a:cubicBezTo>
                  <a:pt x="195011" y="104180"/>
                  <a:pt x="208359" y="90832"/>
                  <a:pt x="208359" y="74414"/>
                </a:cubicBezTo>
                <a:lnTo>
                  <a:pt x="208359" y="44648"/>
                </a:lnTo>
                <a:cubicBezTo>
                  <a:pt x="208359" y="28231"/>
                  <a:pt x="195011" y="14883"/>
                  <a:pt x="178594" y="14883"/>
                </a:cubicBezTo>
                <a:lnTo>
                  <a:pt x="29766" y="14883"/>
                </a:lnTo>
                <a:close/>
                <a:moveTo>
                  <a:pt x="130225" y="48369"/>
                </a:moveTo>
                <a:cubicBezTo>
                  <a:pt x="136385" y="48369"/>
                  <a:pt x="141387" y="53371"/>
                  <a:pt x="141387" y="59531"/>
                </a:cubicBezTo>
                <a:cubicBezTo>
                  <a:pt x="141387" y="65692"/>
                  <a:pt x="136385" y="70693"/>
                  <a:pt x="130225" y="70693"/>
                </a:cubicBezTo>
                <a:cubicBezTo>
                  <a:pt x="124064" y="70693"/>
                  <a:pt x="119062" y="65692"/>
                  <a:pt x="119062" y="59531"/>
                </a:cubicBezTo>
                <a:cubicBezTo>
                  <a:pt x="119062" y="53371"/>
                  <a:pt x="124064" y="48369"/>
                  <a:pt x="130225" y="48369"/>
                </a:cubicBezTo>
                <a:close/>
                <a:moveTo>
                  <a:pt x="156270" y="59531"/>
                </a:moveTo>
                <a:cubicBezTo>
                  <a:pt x="156270" y="53371"/>
                  <a:pt x="161271" y="48369"/>
                  <a:pt x="167432" y="48369"/>
                </a:cubicBezTo>
                <a:cubicBezTo>
                  <a:pt x="173592" y="48369"/>
                  <a:pt x="178594" y="53371"/>
                  <a:pt x="178594" y="59531"/>
                </a:cubicBezTo>
                <a:cubicBezTo>
                  <a:pt x="178594" y="65692"/>
                  <a:pt x="173592" y="70693"/>
                  <a:pt x="167432" y="70693"/>
                </a:cubicBezTo>
                <a:cubicBezTo>
                  <a:pt x="161271" y="70693"/>
                  <a:pt x="156270" y="65692"/>
                  <a:pt x="156270" y="59531"/>
                </a:cubicBezTo>
                <a:close/>
                <a:moveTo>
                  <a:pt x="29766" y="133945"/>
                </a:moveTo>
                <a:cubicBezTo>
                  <a:pt x="13348" y="133945"/>
                  <a:pt x="0" y="147293"/>
                  <a:pt x="0" y="163711"/>
                </a:cubicBezTo>
                <a:lnTo>
                  <a:pt x="0" y="193477"/>
                </a:lnTo>
                <a:cubicBezTo>
                  <a:pt x="0" y="209894"/>
                  <a:pt x="13348" y="223242"/>
                  <a:pt x="29766" y="223242"/>
                </a:cubicBezTo>
                <a:lnTo>
                  <a:pt x="178594" y="223242"/>
                </a:lnTo>
                <a:cubicBezTo>
                  <a:pt x="195011" y="223242"/>
                  <a:pt x="208359" y="209894"/>
                  <a:pt x="208359" y="193477"/>
                </a:cubicBezTo>
                <a:lnTo>
                  <a:pt x="208359" y="163711"/>
                </a:lnTo>
                <a:cubicBezTo>
                  <a:pt x="208359" y="147293"/>
                  <a:pt x="195011" y="133945"/>
                  <a:pt x="178594" y="133945"/>
                </a:cubicBezTo>
                <a:lnTo>
                  <a:pt x="29766" y="133945"/>
                </a:lnTo>
                <a:close/>
                <a:moveTo>
                  <a:pt x="130225" y="167432"/>
                </a:moveTo>
                <a:cubicBezTo>
                  <a:pt x="136385" y="167432"/>
                  <a:pt x="141387" y="172433"/>
                  <a:pt x="141387" y="178594"/>
                </a:cubicBezTo>
                <a:cubicBezTo>
                  <a:pt x="141387" y="184754"/>
                  <a:pt x="136385" y="189756"/>
                  <a:pt x="130225" y="189756"/>
                </a:cubicBezTo>
                <a:cubicBezTo>
                  <a:pt x="124064" y="189756"/>
                  <a:pt x="119062" y="184754"/>
                  <a:pt x="119062" y="178594"/>
                </a:cubicBezTo>
                <a:cubicBezTo>
                  <a:pt x="119062" y="172433"/>
                  <a:pt x="124064" y="167432"/>
                  <a:pt x="130225" y="167432"/>
                </a:cubicBezTo>
                <a:close/>
                <a:moveTo>
                  <a:pt x="156270" y="178594"/>
                </a:moveTo>
                <a:cubicBezTo>
                  <a:pt x="156270" y="172433"/>
                  <a:pt x="161271" y="167432"/>
                  <a:pt x="167432" y="167432"/>
                </a:cubicBezTo>
                <a:cubicBezTo>
                  <a:pt x="173592" y="167432"/>
                  <a:pt x="178594" y="172433"/>
                  <a:pt x="178594" y="178594"/>
                </a:cubicBezTo>
                <a:cubicBezTo>
                  <a:pt x="178594" y="184754"/>
                  <a:pt x="173592" y="189756"/>
                  <a:pt x="167432" y="189756"/>
                </a:cubicBezTo>
                <a:cubicBezTo>
                  <a:pt x="161271" y="189756"/>
                  <a:pt x="156270" y="184754"/>
                  <a:pt x="156270" y="178594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8" name="Google Shape;338;p9"/>
          <p:cNvSpPr/>
          <p:nvPr/>
        </p:nvSpPr>
        <p:spPr>
          <a:xfrm>
            <a:off x="9024938" y="4445000"/>
            <a:ext cx="2722563" cy="222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Server</a:t>
            </a:r>
            <a:endParaRPr sz="1600" b="0" i="0" u="none" strike="noStrike" cap="none"/>
          </a:p>
        </p:txBody>
      </p:sp>
      <p:sp>
        <p:nvSpPr>
          <p:cNvPr id="339" name="Google Shape;339;p9"/>
          <p:cNvSpPr/>
          <p:nvPr/>
        </p:nvSpPr>
        <p:spPr>
          <a:xfrm>
            <a:off x="9024938" y="4699000"/>
            <a:ext cx="271462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Processes &amp; Responds</a:t>
            </a:r>
            <a:endParaRPr sz="1600" b="0" i="0" u="none" strike="noStrike" cap="none"/>
          </a:p>
        </p:txBody>
      </p:sp>
      <p:sp>
        <p:nvSpPr>
          <p:cNvPr id="340" name="Google Shape;340;p9"/>
          <p:cNvSpPr/>
          <p:nvPr/>
        </p:nvSpPr>
        <p:spPr>
          <a:xfrm>
            <a:off x="9909845" y="5111750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 extrusionOk="0">
                <a:moveTo>
                  <a:pt x="66539" y="5395"/>
                </a:moveTo>
                <a:cubicBezTo>
                  <a:pt x="62663" y="1519"/>
                  <a:pt x="56369" y="1519"/>
                  <a:pt x="52493" y="5395"/>
                </a:cubicBezTo>
                <a:lnTo>
                  <a:pt x="2884" y="55004"/>
                </a:lnTo>
                <a:cubicBezTo>
                  <a:pt x="-992" y="58880"/>
                  <a:pt x="-992" y="65174"/>
                  <a:pt x="2884" y="69050"/>
                </a:cubicBezTo>
                <a:cubicBezTo>
                  <a:pt x="6759" y="72926"/>
                  <a:pt x="13053" y="72926"/>
                  <a:pt x="16929" y="69050"/>
                </a:cubicBezTo>
                <a:lnTo>
                  <a:pt x="49609" y="36370"/>
                </a:lnTo>
                <a:lnTo>
                  <a:pt x="49609" y="151309"/>
                </a:lnTo>
                <a:cubicBezTo>
                  <a:pt x="49609" y="156797"/>
                  <a:pt x="54043" y="161230"/>
                  <a:pt x="59531" y="161230"/>
                </a:cubicBezTo>
                <a:cubicBezTo>
                  <a:pt x="65019" y="161230"/>
                  <a:pt x="69453" y="156797"/>
                  <a:pt x="69453" y="151309"/>
                </a:cubicBezTo>
                <a:lnTo>
                  <a:pt x="69453" y="36370"/>
                </a:lnTo>
                <a:lnTo>
                  <a:pt x="102133" y="69050"/>
                </a:lnTo>
                <a:cubicBezTo>
                  <a:pt x="106009" y="72926"/>
                  <a:pt x="112303" y="72926"/>
                  <a:pt x="116179" y="69050"/>
                </a:cubicBezTo>
                <a:cubicBezTo>
                  <a:pt x="120055" y="65174"/>
                  <a:pt x="120055" y="58880"/>
                  <a:pt x="116179" y="55004"/>
                </a:cubicBezTo>
                <a:lnTo>
                  <a:pt x="66570" y="5395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9"/>
          <p:cNvSpPr/>
          <p:nvPr/>
        </p:nvSpPr>
        <p:spPr>
          <a:xfrm>
            <a:off x="9409286" y="5306219"/>
            <a:ext cx="1119188" cy="293688"/>
          </a:xfrm>
          <a:custGeom>
            <a:avLst/>
            <a:gdLst/>
            <a:ahLst/>
            <a:cxnLst/>
            <a:rect l="l" t="t" r="r" b="b"/>
            <a:pathLst>
              <a:path w="1119188" h="293688" extrusionOk="0">
                <a:moveTo>
                  <a:pt x="63501" y="0"/>
                </a:moveTo>
                <a:lnTo>
                  <a:pt x="1055686" y="0"/>
                </a:lnTo>
                <a:cubicBezTo>
                  <a:pt x="1090757" y="0"/>
                  <a:pt x="1119188" y="28430"/>
                  <a:pt x="1119188" y="63501"/>
                </a:cubicBezTo>
                <a:lnTo>
                  <a:pt x="1119188" y="230186"/>
                </a:lnTo>
                <a:cubicBezTo>
                  <a:pt x="1119187" y="265257"/>
                  <a:pt x="1090757" y="293688"/>
                  <a:pt x="1055686" y="293688"/>
                </a:cubicBezTo>
                <a:lnTo>
                  <a:pt x="63501" y="293688"/>
                </a:lnTo>
                <a:cubicBezTo>
                  <a:pt x="28430" y="293688"/>
                  <a:pt x="0" y="265257"/>
                  <a:pt x="0" y="230186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4A6C8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9"/>
          <p:cNvSpPr/>
          <p:nvPr/>
        </p:nvSpPr>
        <p:spPr>
          <a:xfrm>
            <a:off x="9540255" y="5373688"/>
            <a:ext cx="912813" cy="15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b="1" i="0" u="none" strike="noStrike" cap="none">
                <a:solidFill>
                  <a:srgbClr val="4A6C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 HTTP Response</a:t>
            </a:r>
            <a:endParaRPr sz="1600" b="0" i="0" u="none" strike="noStrike" cap="none"/>
          </a:p>
        </p:txBody>
      </p:sp>
      <p:sp>
        <p:nvSpPr>
          <p:cNvPr id="343" name="Google Shape;343;p9"/>
          <p:cNvSpPr/>
          <p:nvPr/>
        </p:nvSpPr>
        <p:spPr>
          <a:xfrm>
            <a:off x="8266906" y="5734844"/>
            <a:ext cx="3405188" cy="388938"/>
          </a:xfrm>
          <a:custGeom>
            <a:avLst/>
            <a:gdLst/>
            <a:ahLst/>
            <a:cxnLst/>
            <a:rect l="l" t="t" r="r" b="b"/>
            <a:pathLst>
              <a:path w="3405188" h="388938" extrusionOk="0">
                <a:moveTo>
                  <a:pt x="63502" y="0"/>
                </a:moveTo>
                <a:lnTo>
                  <a:pt x="3341686" y="0"/>
                </a:lnTo>
                <a:cubicBezTo>
                  <a:pt x="3376757" y="0"/>
                  <a:pt x="3405188" y="28431"/>
                  <a:pt x="3405188" y="63502"/>
                </a:cubicBezTo>
                <a:lnTo>
                  <a:pt x="3405188" y="325436"/>
                </a:lnTo>
                <a:cubicBezTo>
                  <a:pt x="3405188" y="360507"/>
                  <a:pt x="3376757" y="388938"/>
                  <a:pt x="3341686" y="388938"/>
                </a:cubicBezTo>
                <a:lnTo>
                  <a:pt x="63502" y="388938"/>
                </a:lnTo>
                <a:cubicBezTo>
                  <a:pt x="28431" y="388938"/>
                  <a:pt x="0" y="360507"/>
                  <a:pt x="0" y="325436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788A9C">
              <a:alpha val="10196"/>
            </a:srgbClr>
          </a:solidFill>
          <a:ln w="12700" cap="flat" cmpd="sng">
            <a:solidFill>
              <a:srgbClr val="788A9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9"/>
          <p:cNvSpPr/>
          <p:nvPr/>
        </p:nvSpPr>
        <p:spPr>
          <a:xfrm>
            <a:off x="8334375" y="5834063"/>
            <a:ext cx="327025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 Connection Closed</a:t>
            </a:r>
            <a:r>
              <a:rPr lang="en-US" sz="10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→ Repeat for each resource</a:t>
            </a:r>
            <a:endParaRPr sz="1600" b="0" i="0" u="none" strike="noStrike" cap="none"/>
          </a:p>
        </p:txBody>
      </p:sp>
      <p:sp>
        <p:nvSpPr>
          <p:cNvPr id="345" name="Google Shape;345;p9"/>
          <p:cNvSpPr/>
          <p:nvPr/>
        </p:nvSpPr>
        <p:spPr>
          <a:xfrm>
            <a:off x="8266906" y="6258719"/>
            <a:ext cx="3405188" cy="674688"/>
          </a:xfrm>
          <a:custGeom>
            <a:avLst/>
            <a:gdLst/>
            <a:ahLst/>
            <a:cxnLst/>
            <a:rect l="l" t="t" r="r" b="b"/>
            <a:pathLst>
              <a:path w="3405188" h="674688" extrusionOk="0">
                <a:moveTo>
                  <a:pt x="95252" y="0"/>
                </a:moveTo>
                <a:lnTo>
                  <a:pt x="3309935" y="0"/>
                </a:lnTo>
                <a:cubicBezTo>
                  <a:pt x="3362542" y="0"/>
                  <a:pt x="3405187" y="42646"/>
                  <a:pt x="3405187" y="95252"/>
                </a:cubicBezTo>
                <a:lnTo>
                  <a:pt x="3405188" y="579435"/>
                </a:lnTo>
                <a:cubicBezTo>
                  <a:pt x="3405188" y="632042"/>
                  <a:pt x="3362542" y="674687"/>
                  <a:pt x="3309935" y="674688"/>
                </a:cubicBezTo>
                <a:lnTo>
                  <a:pt x="95252" y="674688"/>
                </a:lnTo>
                <a:cubicBezTo>
                  <a:pt x="42646" y="674688"/>
                  <a:pt x="0" y="632042"/>
                  <a:pt x="0" y="579435"/>
                </a:cubicBezTo>
                <a:lnTo>
                  <a:pt x="0" y="95252"/>
                </a:lnTo>
                <a:cubicBezTo>
                  <a:pt x="0" y="42681"/>
                  <a:pt x="42681" y="0"/>
                  <a:pt x="95252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9"/>
          <p:cNvSpPr/>
          <p:nvPr/>
        </p:nvSpPr>
        <p:spPr>
          <a:xfrm>
            <a:off x="8543230" y="6429375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55563" y="39688"/>
                </a:moveTo>
                <a:cubicBezTo>
                  <a:pt x="55563" y="35307"/>
                  <a:pt x="59119" y="31750"/>
                  <a:pt x="63500" y="31750"/>
                </a:cubicBezTo>
                <a:cubicBezTo>
                  <a:pt x="67881" y="31750"/>
                  <a:pt x="71438" y="35307"/>
                  <a:pt x="71438" y="39688"/>
                </a:cubicBezTo>
                <a:cubicBezTo>
                  <a:pt x="71438" y="44068"/>
                  <a:pt x="67881" y="47625"/>
                  <a:pt x="63500" y="47625"/>
                </a:cubicBezTo>
                <a:cubicBezTo>
                  <a:pt x="59119" y="47625"/>
                  <a:pt x="55563" y="44068"/>
                  <a:pt x="55563" y="39688"/>
                </a:cubicBezTo>
                <a:close/>
                <a:moveTo>
                  <a:pt x="53578" y="55563"/>
                </a:moveTo>
                <a:lnTo>
                  <a:pt x="65484" y="55563"/>
                </a:lnTo>
                <a:cubicBezTo>
                  <a:pt x="68783" y="55563"/>
                  <a:pt x="71438" y="58217"/>
                  <a:pt x="71438" y="61516"/>
                </a:cubicBezTo>
                <a:lnTo>
                  <a:pt x="71438" y="83344"/>
                </a:lnTo>
                <a:lnTo>
                  <a:pt x="73422" y="83344"/>
                </a:lnTo>
                <a:cubicBezTo>
                  <a:pt x="76721" y="83344"/>
                  <a:pt x="79375" y="85998"/>
                  <a:pt x="79375" y="89297"/>
                </a:cubicBezTo>
                <a:cubicBezTo>
                  <a:pt x="79375" y="92596"/>
                  <a:pt x="76721" y="95250"/>
                  <a:pt x="73422" y="95250"/>
                </a:cubicBezTo>
                <a:lnTo>
                  <a:pt x="53578" y="95250"/>
                </a:lnTo>
                <a:cubicBezTo>
                  <a:pt x="50279" y="95250"/>
                  <a:pt x="47625" y="92596"/>
                  <a:pt x="47625" y="89297"/>
                </a:cubicBezTo>
                <a:cubicBezTo>
                  <a:pt x="47625" y="85998"/>
                  <a:pt x="50279" y="83344"/>
                  <a:pt x="53578" y="83344"/>
                </a:cubicBezTo>
                <a:lnTo>
                  <a:pt x="59531" y="83344"/>
                </a:lnTo>
                <a:lnTo>
                  <a:pt x="59531" y="67469"/>
                </a:lnTo>
                <a:lnTo>
                  <a:pt x="53578" y="67469"/>
                </a:lnTo>
                <a:cubicBezTo>
                  <a:pt x="50279" y="67469"/>
                  <a:pt x="47625" y="64815"/>
                  <a:pt x="47625" y="61516"/>
                </a:cubicBezTo>
                <a:cubicBezTo>
                  <a:pt x="47625" y="58217"/>
                  <a:pt x="50279" y="55563"/>
                  <a:pt x="53578" y="55563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9"/>
          <p:cNvSpPr/>
          <p:nvPr/>
        </p:nvSpPr>
        <p:spPr>
          <a:xfrm>
            <a:off x="8564563" y="6389688"/>
            <a:ext cx="3008313" cy="412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Performance Issue:</a:t>
            </a:r>
            <a:r>
              <a:rPr lang="en-US" sz="10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Multiple TCP handshakes for each resource (HTML, CSS, JS, images)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10"/>
          <p:cNvSpPr/>
          <p:nvPr/>
        </p:nvSpPr>
        <p:spPr>
          <a:xfrm>
            <a:off x="364212" y="364212"/>
            <a:ext cx="11536418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Evolution</a:t>
            </a:r>
            <a:endParaRPr sz="1600" b="0" i="0" u="none" strike="noStrike" cap="none"/>
          </a:p>
        </p:txBody>
      </p:sp>
      <p:sp>
        <p:nvSpPr>
          <p:cNvPr id="354" name="Google Shape;354;p10"/>
          <p:cNvSpPr/>
          <p:nvPr/>
        </p:nvSpPr>
        <p:spPr>
          <a:xfrm>
            <a:off x="364212" y="655582"/>
            <a:ext cx="11627471" cy="409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81" b="1" i="0" u="none" strike="noStrike" cap="none" dirty="0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HTTP/1.1: The Workhorse of the Web (1997-2015)</a:t>
            </a:r>
            <a:endParaRPr sz="1600" b="0" i="0" u="none" strike="noStrike" cap="none" dirty="0"/>
          </a:p>
        </p:txBody>
      </p:sp>
      <p:sp>
        <p:nvSpPr>
          <p:cNvPr id="355" name="Google Shape;355;p10"/>
          <p:cNvSpPr/>
          <p:nvPr/>
        </p:nvSpPr>
        <p:spPr>
          <a:xfrm>
            <a:off x="368765" y="1288400"/>
            <a:ext cx="6792556" cy="3469120"/>
          </a:xfrm>
          <a:custGeom>
            <a:avLst/>
            <a:gdLst/>
            <a:ahLst/>
            <a:cxnLst/>
            <a:rect l="l" t="t" r="r" b="b"/>
            <a:pathLst>
              <a:path w="6792556" h="3469120" extrusionOk="0">
                <a:moveTo>
                  <a:pt x="145668" y="0"/>
                </a:moveTo>
                <a:lnTo>
                  <a:pt x="6646887" y="0"/>
                </a:lnTo>
                <a:cubicBezTo>
                  <a:pt x="6727338" y="0"/>
                  <a:pt x="6792556" y="65218"/>
                  <a:pt x="6792556" y="145668"/>
                </a:cubicBezTo>
                <a:lnTo>
                  <a:pt x="6792556" y="3323452"/>
                </a:lnTo>
                <a:cubicBezTo>
                  <a:pt x="6792556" y="3403902"/>
                  <a:pt x="6727338" y="3469120"/>
                  <a:pt x="6646887" y="3469120"/>
                </a:cubicBezTo>
                <a:lnTo>
                  <a:pt x="145668" y="3469120"/>
                </a:lnTo>
                <a:cubicBezTo>
                  <a:pt x="65218" y="3469120"/>
                  <a:pt x="0" y="3403902"/>
                  <a:pt x="0" y="3323452"/>
                </a:cubicBezTo>
                <a:lnTo>
                  <a:pt x="0" y="145668"/>
                </a:lnTo>
                <a:cubicBezTo>
                  <a:pt x="0" y="65272"/>
                  <a:pt x="65272" y="0"/>
                  <a:pt x="145668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10"/>
          <p:cNvSpPr/>
          <p:nvPr/>
        </p:nvSpPr>
        <p:spPr>
          <a:xfrm>
            <a:off x="591845" y="1511480"/>
            <a:ext cx="582739" cy="582739"/>
          </a:xfrm>
          <a:custGeom>
            <a:avLst/>
            <a:gdLst/>
            <a:ahLst/>
            <a:cxnLst/>
            <a:rect l="l" t="t" r="r" b="b"/>
            <a:pathLst>
              <a:path w="582739" h="582739" extrusionOk="0">
                <a:moveTo>
                  <a:pt x="109264" y="0"/>
                </a:moveTo>
                <a:lnTo>
                  <a:pt x="473476" y="0"/>
                </a:lnTo>
                <a:cubicBezTo>
                  <a:pt x="533820" y="0"/>
                  <a:pt x="582739" y="48919"/>
                  <a:pt x="582739" y="109264"/>
                </a:cubicBezTo>
                <a:lnTo>
                  <a:pt x="582739" y="473476"/>
                </a:lnTo>
                <a:cubicBezTo>
                  <a:pt x="582739" y="533820"/>
                  <a:pt x="533820" y="582739"/>
                  <a:pt x="473476" y="582739"/>
                </a:cubicBezTo>
                <a:lnTo>
                  <a:pt x="109264" y="582739"/>
                </a:lnTo>
                <a:cubicBezTo>
                  <a:pt x="48919" y="582739"/>
                  <a:pt x="0" y="533820"/>
                  <a:pt x="0" y="473476"/>
                </a:cubicBezTo>
                <a:lnTo>
                  <a:pt x="0" y="109264"/>
                </a:lnTo>
                <a:cubicBezTo>
                  <a:pt x="0" y="48959"/>
                  <a:pt x="48959" y="0"/>
                  <a:pt x="109264" y="0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0"/>
          <p:cNvSpPr/>
          <p:nvPr/>
        </p:nvSpPr>
        <p:spPr>
          <a:xfrm>
            <a:off x="537213" y="1511480"/>
            <a:ext cx="692003" cy="582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21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1.1</a:t>
            </a:r>
            <a:endParaRPr sz="1600" b="0" i="0" u="none" strike="noStrike" cap="none"/>
          </a:p>
        </p:txBody>
      </p:sp>
      <p:sp>
        <p:nvSpPr>
          <p:cNvPr id="358" name="Google Shape;358;p10"/>
          <p:cNvSpPr/>
          <p:nvPr/>
        </p:nvSpPr>
        <p:spPr>
          <a:xfrm>
            <a:off x="1320269" y="1547901"/>
            <a:ext cx="1456848" cy="291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2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HTTP/1.1</a:t>
            </a:r>
            <a:endParaRPr sz="1600" b="0" i="0" u="none" strike="noStrike" cap="none"/>
          </a:p>
        </p:txBody>
      </p:sp>
      <p:sp>
        <p:nvSpPr>
          <p:cNvPr id="359" name="Google Shape;359;p10"/>
          <p:cNvSpPr/>
          <p:nvPr/>
        </p:nvSpPr>
        <p:spPr>
          <a:xfrm>
            <a:off x="1320269" y="1839271"/>
            <a:ext cx="1420427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0" i="0" u="none" strike="noStrike" cap="none" dirty="0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1997 • RFC 2068/2616</a:t>
            </a:r>
            <a:endParaRPr sz="1600" b="0" i="0" u="none" strike="noStrike" cap="none" dirty="0"/>
          </a:p>
        </p:txBody>
      </p:sp>
      <p:sp>
        <p:nvSpPr>
          <p:cNvPr id="360" name="Google Shape;360;p10"/>
          <p:cNvSpPr/>
          <p:nvPr/>
        </p:nvSpPr>
        <p:spPr>
          <a:xfrm>
            <a:off x="610055" y="2276326"/>
            <a:ext cx="3077592" cy="1056215"/>
          </a:xfrm>
          <a:custGeom>
            <a:avLst/>
            <a:gdLst/>
            <a:ahLst/>
            <a:cxnLst/>
            <a:rect l="l" t="t" r="r" b="b"/>
            <a:pathLst>
              <a:path w="3077592" h="1056215" extrusionOk="0">
                <a:moveTo>
                  <a:pt x="0" y="0"/>
                </a:moveTo>
                <a:lnTo>
                  <a:pt x="2968327" y="0"/>
                </a:lnTo>
                <a:cubicBezTo>
                  <a:pt x="3028672" y="0"/>
                  <a:pt x="3077592" y="48920"/>
                  <a:pt x="3077592" y="109265"/>
                </a:cubicBezTo>
                <a:lnTo>
                  <a:pt x="3077592" y="946950"/>
                </a:lnTo>
                <a:cubicBezTo>
                  <a:pt x="3077592" y="1007295"/>
                  <a:pt x="3028672" y="1056215"/>
                  <a:pt x="2968327" y="1056215"/>
                </a:cubicBezTo>
                <a:lnTo>
                  <a:pt x="0" y="1056215"/>
                </a:lnTo>
                <a:lnTo>
                  <a:pt x="0" y="0"/>
                </a:lnTo>
                <a:close/>
              </a:path>
            </a:pathLst>
          </a:custGeom>
          <a:solidFill>
            <a:srgbClr val="B89A6B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p10"/>
          <p:cNvSpPr/>
          <p:nvPr/>
        </p:nvSpPr>
        <p:spPr>
          <a:xfrm>
            <a:off x="610055" y="2276326"/>
            <a:ext cx="36421" cy="1056215"/>
          </a:xfrm>
          <a:custGeom>
            <a:avLst/>
            <a:gdLst/>
            <a:ahLst/>
            <a:cxnLst/>
            <a:rect l="l" t="t" r="r" b="b"/>
            <a:pathLst>
              <a:path w="36421" h="1056215" extrusionOk="0">
                <a:moveTo>
                  <a:pt x="0" y="0"/>
                </a:moveTo>
                <a:lnTo>
                  <a:pt x="36421" y="0"/>
                </a:lnTo>
                <a:lnTo>
                  <a:pt x="36421" y="1056215"/>
                </a:lnTo>
                <a:lnTo>
                  <a:pt x="0" y="1056215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2" name="Google Shape;362;p10"/>
          <p:cNvSpPr/>
          <p:nvPr/>
        </p:nvSpPr>
        <p:spPr>
          <a:xfrm>
            <a:off x="783056" y="2458432"/>
            <a:ext cx="163895" cy="145685"/>
          </a:xfrm>
          <a:custGeom>
            <a:avLst/>
            <a:gdLst/>
            <a:ahLst/>
            <a:cxnLst/>
            <a:rect l="l" t="t" r="r" b="b"/>
            <a:pathLst>
              <a:path w="163895" h="145685" extrusionOk="0">
                <a:moveTo>
                  <a:pt x="119365" y="27316"/>
                </a:moveTo>
                <a:cubicBezTo>
                  <a:pt x="114641" y="27316"/>
                  <a:pt x="110060" y="28596"/>
                  <a:pt x="106048" y="30930"/>
                </a:cubicBezTo>
                <a:cubicBezTo>
                  <a:pt x="101553" y="26377"/>
                  <a:pt x="96317" y="22564"/>
                  <a:pt x="90541" y="19690"/>
                </a:cubicBezTo>
                <a:cubicBezTo>
                  <a:pt x="98565" y="12861"/>
                  <a:pt x="108780" y="9105"/>
                  <a:pt x="119365" y="9105"/>
                </a:cubicBezTo>
                <a:cubicBezTo>
                  <a:pt x="143949" y="9105"/>
                  <a:pt x="163895" y="29023"/>
                  <a:pt x="163895" y="53636"/>
                </a:cubicBezTo>
                <a:cubicBezTo>
                  <a:pt x="163895" y="65444"/>
                  <a:pt x="159201" y="76769"/>
                  <a:pt x="150863" y="85106"/>
                </a:cubicBezTo>
                <a:lnTo>
                  <a:pt x="130633" y="105337"/>
                </a:lnTo>
                <a:cubicBezTo>
                  <a:pt x="122296" y="113674"/>
                  <a:pt x="110971" y="118369"/>
                  <a:pt x="99162" y="118369"/>
                </a:cubicBezTo>
                <a:cubicBezTo>
                  <a:pt x="74578" y="118369"/>
                  <a:pt x="54632" y="98451"/>
                  <a:pt x="54632" y="73838"/>
                </a:cubicBezTo>
                <a:cubicBezTo>
                  <a:pt x="54632" y="73412"/>
                  <a:pt x="54632" y="72985"/>
                  <a:pt x="54660" y="72558"/>
                </a:cubicBezTo>
                <a:cubicBezTo>
                  <a:pt x="54803" y="67522"/>
                  <a:pt x="58985" y="63566"/>
                  <a:pt x="64022" y="63709"/>
                </a:cubicBezTo>
                <a:cubicBezTo>
                  <a:pt x="69058" y="63851"/>
                  <a:pt x="73013" y="68034"/>
                  <a:pt x="72871" y="73070"/>
                </a:cubicBezTo>
                <a:cubicBezTo>
                  <a:pt x="72871" y="73326"/>
                  <a:pt x="72871" y="73582"/>
                  <a:pt x="72871" y="73810"/>
                </a:cubicBezTo>
                <a:cubicBezTo>
                  <a:pt x="72871" y="88350"/>
                  <a:pt x="84651" y="100130"/>
                  <a:pt x="99191" y="100130"/>
                </a:cubicBezTo>
                <a:cubicBezTo>
                  <a:pt x="106162" y="100130"/>
                  <a:pt x="112849" y="97370"/>
                  <a:pt x="117800" y="92419"/>
                </a:cubicBezTo>
                <a:lnTo>
                  <a:pt x="138031" y="72188"/>
                </a:lnTo>
                <a:cubicBezTo>
                  <a:pt x="142953" y="67265"/>
                  <a:pt x="145742" y="60550"/>
                  <a:pt x="145742" y="53579"/>
                </a:cubicBezTo>
                <a:cubicBezTo>
                  <a:pt x="145742" y="39039"/>
                  <a:pt x="133962" y="27259"/>
                  <a:pt x="119422" y="27259"/>
                </a:cubicBezTo>
                <a:close/>
                <a:moveTo>
                  <a:pt x="78306" y="49311"/>
                </a:moveTo>
                <a:cubicBezTo>
                  <a:pt x="77765" y="49083"/>
                  <a:pt x="77224" y="48770"/>
                  <a:pt x="76741" y="48429"/>
                </a:cubicBezTo>
                <a:cubicBezTo>
                  <a:pt x="73155" y="46579"/>
                  <a:pt x="69058" y="45527"/>
                  <a:pt x="64761" y="45527"/>
                </a:cubicBezTo>
                <a:cubicBezTo>
                  <a:pt x="57790" y="45527"/>
                  <a:pt x="51104" y="48287"/>
                  <a:pt x="46153" y="53238"/>
                </a:cubicBezTo>
                <a:lnTo>
                  <a:pt x="25922" y="73468"/>
                </a:lnTo>
                <a:cubicBezTo>
                  <a:pt x="20999" y="78391"/>
                  <a:pt x="18211" y="85106"/>
                  <a:pt x="18211" y="92077"/>
                </a:cubicBezTo>
                <a:cubicBezTo>
                  <a:pt x="18211" y="106617"/>
                  <a:pt x="29991" y="118397"/>
                  <a:pt x="44531" y="118397"/>
                </a:cubicBezTo>
                <a:cubicBezTo>
                  <a:pt x="49226" y="118397"/>
                  <a:pt x="53807" y="117145"/>
                  <a:pt x="57819" y="114812"/>
                </a:cubicBezTo>
                <a:cubicBezTo>
                  <a:pt x="62314" y="119365"/>
                  <a:pt x="67550" y="123178"/>
                  <a:pt x="73355" y="126052"/>
                </a:cubicBezTo>
                <a:cubicBezTo>
                  <a:pt x="65331" y="132852"/>
                  <a:pt x="55144" y="136636"/>
                  <a:pt x="44531" y="136636"/>
                </a:cubicBezTo>
                <a:cubicBezTo>
                  <a:pt x="19946" y="136636"/>
                  <a:pt x="0" y="116719"/>
                  <a:pt x="0" y="92106"/>
                </a:cubicBezTo>
                <a:cubicBezTo>
                  <a:pt x="0" y="80297"/>
                  <a:pt x="4695" y="68973"/>
                  <a:pt x="13032" y="60636"/>
                </a:cubicBezTo>
                <a:lnTo>
                  <a:pt x="33263" y="40405"/>
                </a:lnTo>
                <a:cubicBezTo>
                  <a:pt x="41600" y="32068"/>
                  <a:pt x="52925" y="27373"/>
                  <a:pt x="64733" y="27373"/>
                </a:cubicBezTo>
                <a:cubicBezTo>
                  <a:pt x="89374" y="27373"/>
                  <a:pt x="109264" y="47461"/>
                  <a:pt x="109264" y="72017"/>
                </a:cubicBezTo>
                <a:cubicBezTo>
                  <a:pt x="109264" y="72387"/>
                  <a:pt x="109264" y="72757"/>
                  <a:pt x="109264" y="73127"/>
                </a:cubicBezTo>
                <a:cubicBezTo>
                  <a:pt x="109150" y="78163"/>
                  <a:pt x="104967" y="82118"/>
                  <a:pt x="99931" y="82005"/>
                </a:cubicBezTo>
                <a:cubicBezTo>
                  <a:pt x="94894" y="81891"/>
                  <a:pt x="90939" y="77708"/>
                  <a:pt x="91053" y="72672"/>
                </a:cubicBezTo>
                <a:cubicBezTo>
                  <a:pt x="91053" y="72444"/>
                  <a:pt x="91053" y="72245"/>
                  <a:pt x="91053" y="72017"/>
                </a:cubicBezTo>
                <a:cubicBezTo>
                  <a:pt x="91053" y="62428"/>
                  <a:pt x="85931" y="54006"/>
                  <a:pt x="78306" y="49368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3" name="Google Shape;363;p10"/>
          <p:cNvSpPr/>
          <p:nvPr/>
        </p:nvSpPr>
        <p:spPr>
          <a:xfrm>
            <a:off x="1028899" y="2422010"/>
            <a:ext cx="1566112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Persistent Connections</a:t>
            </a:r>
            <a:endParaRPr sz="1600" b="0" i="0" u="none" strike="noStrike" cap="none"/>
          </a:p>
        </p:txBody>
      </p:sp>
      <p:sp>
        <p:nvSpPr>
          <p:cNvPr id="364" name="Google Shape;364;p10"/>
          <p:cNvSpPr/>
          <p:nvPr/>
        </p:nvSpPr>
        <p:spPr>
          <a:xfrm>
            <a:off x="773951" y="2713380"/>
            <a:ext cx="2840854" cy="473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Keep-Alive by default—single TCP connection for multiple requests</a:t>
            </a:r>
            <a:endParaRPr sz="1600" b="0" i="0" u="none" strike="noStrike" cap="none"/>
          </a:p>
        </p:txBody>
      </p:sp>
      <p:sp>
        <p:nvSpPr>
          <p:cNvPr id="365" name="Google Shape;365;p10"/>
          <p:cNvSpPr/>
          <p:nvPr/>
        </p:nvSpPr>
        <p:spPr>
          <a:xfrm>
            <a:off x="3854531" y="2276326"/>
            <a:ext cx="3077592" cy="1056215"/>
          </a:xfrm>
          <a:custGeom>
            <a:avLst/>
            <a:gdLst/>
            <a:ahLst/>
            <a:cxnLst/>
            <a:rect l="l" t="t" r="r" b="b"/>
            <a:pathLst>
              <a:path w="3077592" h="1056215" extrusionOk="0">
                <a:moveTo>
                  <a:pt x="0" y="0"/>
                </a:moveTo>
                <a:lnTo>
                  <a:pt x="2968327" y="0"/>
                </a:lnTo>
                <a:cubicBezTo>
                  <a:pt x="3028672" y="0"/>
                  <a:pt x="3077592" y="48920"/>
                  <a:pt x="3077592" y="109265"/>
                </a:cubicBezTo>
                <a:lnTo>
                  <a:pt x="3077592" y="946950"/>
                </a:lnTo>
                <a:cubicBezTo>
                  <a:pt x="3077592" y="1007295"/>
                  <a:pt x="3028672" y="1056215"/>
                  <a:pt x="2968327" y="1056215"/>
                </a:cubicBezTo>
                <a:lnTo>
                  <a:pt x="0" y="1056215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10"/>
          <p:cNvSpPr/>
          <p:nvPr/>
        </p:nvSpPr>
        <p:spPr>
          <a:xfrm>
            <a:off x="3854531" y="2276326"/>
            <a:ext cx="36421" cy="1056215"/>
          </a:xfrm>
          <a:custGeom>
            <a:avLst/>
            <a:gdLst/>
            <a:ahLst/>
            <a:cxnLst/>
            <a:rect l="l" t="t" r="r" b="b"/>
            <a:pathLst>
              <a:path w="36421" h="1056215" extrusionOk="0">
                <a:moveTo>
                  <a:pt x="0" y="0"/>
                </a:moveTo>
                <a:lnTo>
                  <a:pt x="36421" y="0"/>
                </a:lnTo>
                <a:lnTo>
                  <a:pt x="36421" y="1056215"/>
                </a:lnTo>
                <a:lnTo>
                  <a:pt x="0" y="1056215"/>
                </a:lnTo>
                <a:lnTo>
                  <a:pt x="0" y="0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7" name="Google Shape;367;p10"/>
          <p:cNvSpPr/>
          <p:nvPr/>
        </p:nvSpPr>
        <p:spPr>
          <a:xfrm>
            <a:off x="4036637" y="2458432"/>
            <a:ext cx="145685" cy="145685"/>
          </a:xfrm>
          <a:custGeom>
            <a:avLst/>
            <a:gdLst/>
            <a:ahLst/>
            <a:cxnLst/>
            <a:rect l="l" t="t" r="r" b="b"/>
            <a:pathLst>
              <a:path w="145685" h="145685" extrusionOk="0">
                <a:moveTo>
                  <a:pt x="0" y="27316"/>
                </a:moveTo>
                <a:cubicBezTo>
                  <a:pt x="0" y="22280"/>
                  <a:pt x="4069" y="18211"/>
                  <a:pt x="9105" y="18211"/>
                </a:cubicBezTo>
                <a:lnTo>
                  <a:pt x="118369" y="18211"/>
                </a:lnTo>
                <a:cubicBezTo>
                  <a:pt x="123405" y="18211"/>
                  <a:pt x="127474" y="22280"/>
                  <a:pt x="127474" y="27316"/>
                </a:cubicBezTo>
                <a:cubicBezTo>
                  <a:pt x="127474" y="32352"/>
                  <a:pt x="123405" y="36421"/>
                  <a:pt x="118369" y="36421"/>
                </a:cubicBezTo>
                <a:lnTo>
                  <a:pt x="9105" y="36421"/>
                </a:lnTo>
                <a:cubicBezTo>
                  <a:pt x="4069" y="36421"/>
                  <a:pt x="0" y="32352"/>
                  <a:pt x="0" y="27316"/>
                </a:cubicBezTo>
                <a:close/>
                <a:moveTo>
                  <a:pt x="18211" y="72842"/>
                </a:moveTo>
                <a:cubicBezTo>
                  <a:pt x="18211" y="67806"/>
                  <a:pt x="22280" y="63737"/>
                  <a:pt x="27316" y="63737"/>
                </a:cubicBezTo>
                <a:lnTo>
                  <a:pt x="136580" y="63737"/>
                </a:lnTo>
                <a:cubicBezTo>
                  <a:pt x="141616" y="63737"/>
                  <a:pt x="145685" y="67806"/>
                  <a:pt x="145685" y="72842"/>
                </a:cubicBezTo>
                <a:cubicBezTo>
                  <a:pt x="145685" y="77879"/>
                  <a:pt x="141616" y="81948"/>
                  <a:pt x="136580" y="81948"/>
                </a:cubicBezTo>
                <a:lnTo>
                  <a:pt x="27316" y="81948"/>
                </a:lnTo>
                <a:cubicBezTo>
                  <a:pt x="22280" y="81948"/>
                  <a:pt x="18211" y="77879"/>
                  <a:pt x="18211" y="72842"/>
                </a:cubicBezTo>
                <a:close/>
                <a:moveTo>
                  <a:pt x="127474" y="118369"/>
                </a:moveTo>
                <a:cubicBezTo>
                  <a:pt x="127474" y="123405"/>
                  <a:pt x="123405" y="127474"/>
                  <a:pt x="118369" y="127474"/>
                </a:cubicBezTo>
                <a:lnTo>
                  <a:pt x="9105" y="127474"/>
                </a:lnTo>
                <a:cubicBezTo>
                  <a:pt x="4069" y="127474"/>
                  <a:pt x="0" y="123405"/>
                  <a:pt x="0" y="118369"/>
                </a:cubicBezTo>
                <a:cubicBezTo>
                  <a:pt x="0" y="113333"/>
                  <a:pt x="4069" y="109264"/>
                  <a:pt x="9105" y="109264"/>
                </a:cubicBezTo>
                <a:lnTo>
                  <a:pt x="118369" y="109264"/>
                </a:lnTo>
                <a:cubicBezTo>
                  <a:pt x="123405" y="109264"/>
                  <a:pt x="127474" y="113333"/>
                  <a:pt x="127474" y="118369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10"/>
          <p:cNvSpPr/>
          <p:nvPr/>
        </p:nvSpPr>
        <p:spPr>
          <a:xfrm>
            <a:off x="4273375" y="2422010"/>
            <a:ext cx="710214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 dirty="0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Pipelining</a:t>
            </a:r>
            <a:endParaRPr sz="1600" b="0" i="0" u="none" strike="noStrike" cap="none" dirty="0"/>
          </a:p>
        </p:txBody>
      </p:sp>
      <p:sp>
        <p:nvSpPr>
          <p:cNvPr id="369" name="Google Shape;369;p10"/>
          <p:cNvSpPr/>
          <p:nvPr/>
        </p:nvSpPr>
        <p:spPr>
          <a:xfrm>
            <a:off x="4018426" y="2713380"/>
            <a:ext cx="2840854" cy="473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Send multiple requests without waiting for previous responses</a:t>
            </a:r>
            <a:endParaRPr sz="1600" b="0" i="0" u="none" strike="noStrike" cap="none" dirty="0"/>
          </a:p>
        </p:txBody>
      </p:sp>
      <p:sp>
        <p:nvSpPr>
          <p:cNvPr id="370" name="Google Shape;370;p10"/>
          <p:cNvSpPr/>
          <p:nvPr/>
        </p:nvSpPr>
        <p:spPr>
          <a:xfrm>
            <a:off x="610055" y="3478226"/>
            <a:ext cx="3077592" cy="1056215"/>
          </a:xfrm>
          <a:custGeom>
            <a:avLst/>
            <a:gdLst/>
            <a:ahLst/>
            <a:cxnLst/>
            <a:rect l="l" t="t" r="r" b="b"/>
            <a:pathLst>
              <a:path w="3077592" h="1056215" extrusionOk="0">
                <a:moveTo>
                  <a:pt x="0" y="0"/>
                </a:moveTo>
                <a:lnTo>
                  <a:pt x="2968327" y="0"/>
                </a:lnTo>
                <a:cubicBezTo>
                  <a:pt x="3028672" y="0"/>
                  <a:pt x="3077592" y="48920"/>
                  <a:pt x="3077592" y="109265"/>
                </a:cubicBezTo>
                <a:lnTo>
                  <a:pt x="3077592" y="946950"/>
                </a:lnTo>
                <a:cubicBezTo>
                  <a:pt x="3077592" y="1007295"/>
                  <a:pt x="3028672" y="1056215"/>
                  <a:pt x="2968327" y="1056215"/>
                </a:cubicBezTo>
                <a:lnTo>
                  <a:pt x="0" y="1056215"/>
                </a:lnTo>
                <a:lnTo>
                  <a:pt x="0" y="0"/>
                </a:lnTo>
                <a:close/>
              </a:path>
            </a:pathLst>
          </a:custGeom>
          <a:solidFill>
            <a:srgbClr val="788A9C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10"/>
          <p:cNvSpPr/>
          <p:nvPr/>
        </p:nvSpPr>
        <p:spPr>
          <a:xfrm>
            <a:off x="610055" y="3478226"/>
            <a:ext cx="36421" cy="1056215"/>
          </a:xfrm>
          <a:custGeom>
            <a:avLst/>
            <a:gdLst/>
            <a:ahLst/>
            <a:cxnLst/>
            <a:rect l="l" t="t" r="r" b="b"/>
            <a:pathLst>
              <a:path w="36421" h="1056215" extrusionOk="0">
                <a:moveTo>
                  <a:pt x="0" y="0"/>
                </a:moveTo>
                <a:lnTo>
                  <a:pt x="36421" y="0"/>
                </a:lnTo>
                <a:lnTo>
                  <a:pt x="36421" y="1056215"/>
                </a:lnTo>
                <a:lnTo>
                  <a:pt x="0" y="1056215"/>
                </a:lnTo>
                <a:lnTo>
                  <a:pt x="0" y="0"/>
                </a:ln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2" name="Google Shape;372;p10"/>
          <p:cNvSpPr/>
          <p:nvPr/>
        </p:nvSpPr>
        <p:spPr>
          <a:xfrm>
            <a:off x="792161" y="3660332"/>
            <a:ext cx="145685" cy="145685"/>
          </a:xfrm>
          <a:custGeom>
            <a:avLst/>
            <a:gdLst/>
            <a:ahLst/>
            <a:cxnLst/>
            <a:rect l="l" t="t" r="r" b="b"/>
            <a:pathLst>
              <a:path w="145685" h="145685" extrusionOk="0">
                <a:moveTo>
                  <a:pt x="100130" y="79671"/>
                </a:moveTo>
                <a:lnTo>
                  <a:pt x="45811" y="79671"/>
                </a:lnTo>
                <a:cubicBezTo>
                  <a:pt x="46636" y="98024"/>
                  <a:pt x="50705" y="114926"/>
                  <a:pt x="56481" y="127304"/>
                </a:cubicBezTo>
                <a:cubicBezTo>
                  <a:pt x="59725" y="134275"/>
                  <a:pt x="63225" y="139197"/>
                  <a:pt x="66469" y="142213"/>
                </a:cubicBezTo>
                <a:cubicBezTo>
                  <a:pt x="69656" y="145201"/>
                  <a:pt x="71847" y="145685"/>
                  <a:pt x="72985" y="145685"/>
                </a:cubicBezTo>
                <a:cubicBezTo>
                  <a:pt x="74123" y="145685"/>
                  <a:pt x="76314" y="145201"/>
                  <a:pt x="79501" y="142213"/>
                </a:cubicBezTo>
                <a:cubicBezTo>
                  <a:pt x="82744" y="139197"/>
                  <a:pt x="86244" y="134246"/>
                  <a:pt x="89488" y="127304"/>
                </a:cubicBezTo>
                <a:cubicBezTo>
                  <a:pt x="95264" y="114926"/>
                  <a:pt x="99333" y="98024"/>
                  <a:pt x="100158" y="79671"/>
                </a:cubicBezTo>
                <a:close/>
                <a:moveTo>
                  <a:pt x="45783" y="66013"/>
                </a:moveTo>
                <a:lnTo>
                  <a:pt x="100101" y="66013"/>
                </a:lnTo>
                <a:cubicBezTo>
                  <a:pt x="99305" y="47661"/>
                  <a:pt x="95236" y="30759"/>
                  <a:pt x="89460" y="18381"/>
                </a:cubicBezTo>
                <a:cubicBezTo>
                  <a:pt x="86216" y="11439"/>
                  <a:pt x="82716" y="6488"/>
                  <a:pt x="79472" y="3471"/>
                </a:cubicBezTo>
                <a:cubicBezTo>
                  <a:pt x="76285" y="484"/>
                  <a:pt x="74094" y="0"/>
                  <a:pt x="72956" y="0"/>
                </a:cubicBezTo>
                <a:cubicBezTo>
                  <a:pt x="71818" y="0"/>
                  <a:pt x="69627" y="484"/>
                  <a:pt x="66440" y="3471"/>
                </a:cubicBezTo>
                <a:cubicBezTo>
                  <a:pt x="63196" y="6488"/>
                  <a:pt x="59697" y="11439"/>
                  <a:pt x="56453" y="18381"/>
                </a:cubicBezTo>
                <a:cubicBezTo>
                  <a:pt x="50677" y="30759"/>
                  <a:pt x="46608" y="47661"/>
                  <a:pt x="45783" y="66013"/>
                </a:cubicBezTo>
                <a:close/>
                <a:moveTo>
                  <a:pt x="32125" y="66013"/>
                </a:moveTo>
                <a:cubicBezTo>
                  <a:pt x="33121" y="41657"/>
                  <a:pt x="39409" y="19036"/>
                  <a:pt x="48600" y="4183"/>
                </a:cubicBezTo>
                <a:cubicBezTo>
                  <a:pt x="22393" y="13459"/>
                  <a:pt x="3101" y="37332"/>
                  <a:pt x="427" y="66013"/>
                </a:cubicBezTo>
                <a:lnTo>
                  <a:pt x="32125" y="66013"/>
                </a:lnTo>
                <a:close/>
                <a:moveTo>
                  <a:pt x="427" y="79671"/>
                </a:moveTo>
                <a:cubicBezTo>
                  <a:pt x="3101" y="108353"/>
                  <a:pt x="22393" y="132226"/>
                  <a:pt x="48600" y="141502"/>
                </a:cubicBezTo>
                <a:cubicBezTo>
                  <a:pt x="39409" y="126649"/>
                  <a:pt x="33121" y="104028"/>
                  <a:pt x="32125" y="79671"/>
                </a:cubicBezTo>
                <a:lnTo>
                  <a:pt x="427" y="79671"/>
                </a:lnTo>
                <a:close/>
                <a:moveTo>
                  <a:pt x="113788" y="79671"/>
                </a:moveTo>
                <a:cubicBezTo>
                  <a:pt x="112792" y="104028"/>
                  <a:pt x="106504" y="126649"/>
                  <a:pt x="97313" y="141502"/>
                </a:cubicBezTo>
                <a:cubicBezTo>
                  <a:pt x="123519" y="132198"/>
                  <a:pt x="142811" y="108353"/>
                  <a:pt x="145486" y="79671"/>
                </a:cubicBezTo>
                <a:lnTo>
                  <a:pt x="113788" y="79671"/>
                </a:lnTo>
                <a:close/>
                <a:moveTo>
                  <a:pt x="145486" y="66013"/>
                </a:moveTo>
                <a:cubicBezTo>
                  <a:pt x="142811" y="37332"/>
                  <a:pt x="123519" y="13459"/>
                  <a:pt x="97313" y="4183"/>
                </a:cubicBezTo>
                <a:cubicBezTo>
                  <a:pt x="106504" y="19036"/>
                  <a:pt x="112792" y="41657"/>
                  <a:pt x="113788" y="66013"/>
                </a:cubicBezTo>
                <a:lnTo>
                  <a:pt x="145486" y="66013"/>
                </a:ln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3" name="Google Shape;373;p10"/>
          <p:cNvSpPr/>
          <p:nvPr/>
        </p:nvSpPr>
        <p:spPr>
          <a:xfrm>
            <a:off x="1028899" y="3623910"/>
            <a:ext cx="883214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 dirty="0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Host Header</a:t>
            </a:r>
            <a:endParaRPr sz="1600" b="0" i="0" u="none" strike="noStrike" cap="none" dirty="0"/>
          </a:p>
        </p:txBody>
      </p:sp>
      <p:sp>
        <p:nvSpPr>
          <p:cNvPr id="374" name="Google Shape;374;p10"/>
          <p:cNvSpPr/>
          <p:nvPr/>
        </p:nvSpPr>
        <p:spPr>
          <a:xfrm>
            <a:off x="773951" y="3915280"/>
            <a:ext cx="2840854" cy="473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Virtual hosting—multiple domains on single IP address</a:t>
            </a:r>
            <a:endParaRPr sz="1600" b="0" i="0" u="none" strike="noStrike" cap="none"/>
          </a:p>
        </p:txBody>
      </p:sp>
      <p:sp>
        <p:nvSpPr>
          <p:cNvPr id="375" name="Google Shape;375;p10"/>
          <p:cNvSpPr/>
          <p:nvPr/>
        </p:nvSpPr>
        <p:spPr>
          <a:xfrm>
            <a:off x="3854531" y="3478226"/>
            <a:ext cx="3077592" cy="1056215"/>
          </a:xfrm>
          <a:custGeom>
            <a:avLst/>
            <a:gdLst/>
            <a:ahLst/>
            <a:cxnLst/>
            <a:rect l="l" t="t" r="r" b="b"/>
            <a:pathLst>
              <a:path w="3077592" h="1056215" extrusionOk="0">
                <a:moveTo>
                  <a:pt x="0" y="0"/>
                </a:moveTo>
                <a:lnTo>
                  <a:pt x="2968327" y="0"/>
                </a:lnTo>
                <a:cubicBezTo>
                  <a:pt x="3028672" y="0"/>
                  <a:pt x="3077592" y="48920"/>
                  <a:pt x="3077592" y="109265"/>
                </a:cubicBezTo>
                <a:lnTo>
                  <a:pt x="3077592" y="946950"/>
                </a:lnTo>
                <a:cubicBezTo>
                  <a:pt x="3077592" y="1007295"/>
                  <a:pt x="3028672" y="1056215"/>
                  <a:pt x="2968327" y="1056215"/>
                </a:cubicBezTo>
                <a:lnTo>
                  <a:pt x="0" y="1056215"/>
                </a:lnTo>
                <a:lnTo>
                  <a:pt x="0" y="0"/>
                </a:lnTo>
                <a:close/>
              </a:path>
            </a:pathLst>
          </a:custGeom>
          <a:solidFill>
            <a:srgbClr val="B89A6B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6" name="Google Shape;376;p10"/>
          <p:cNvSpPr/>
          <p:nvPr/>
        </p:nvSpPr>
        <p:spPr>
          <a:xfrm>
            <a:off x="3854531" y="3478226"/>
            <a:ext cx="36421" cy="1056215"/>
          </a:xfrm>
          <a:custGeom>
            <a:avLst/>
            <a:gdLst/>
            <a:ahLst/>
            <a:cxnLst/>
            <a:rect l="l" t="t" r="r" b="b"/>
            <a:pathLst>
              <a:path w="36421" h="1056215" extrusionOk="0">
                <a:moveTo>
                  <a:pt x="0" y="0"/>
                </a:moveTo>
                <a:lnTo>
                  <a:pt x="36421" y="0"/>
                </a:lnTo>
                <a:lnTo>
                  <a:pt x="36421" y="1056215"/>
                </a:lnTo>
                <a:lnTo>
                  <a:pt x="0" y="1056215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7" name="Google Shape;377;p10"/>
          <p:cNvSpPr/>
          <p:nvPr/>
        </p:nvSpPr>
        <p:spPr>
          <a:xfrm>
            <a:off x="4036637" y="3660332"/>
            <a:ext cx="145685" cy="145685"/>
          </a:xfrm>
          <a:custGeom>
            <a:avLst/>
            <a:gdLst/>
            <a:ahLst/>
            <a:cxnLst/>
            <a:rect l="l" t="t" r="r" b="b"/>
            <a:pathLst>
              <a:path w="145685" h="145685" extrusionOk="0">
                <a:moveTo>
                  <a:pt x="18751" y="65018"/>
                </a:moveTo>
                <a:cubicBezTo>
                  <a:pt x="22536" y="38555"/>
                  <a:pt x="45327" y="18211"/>
                  <a:pt x="72842" y="18211"/>
                </a:cubicBezTo>
                <a:cubicBezTo>
                  <a:pt x="87923" y="18211"/>
                  <a:pt x="101581" y="24328"/>
                  <a:pt x="111483" y="34202"/>
                </a:cubicBezTo>
                <a:cubicBezTo>
                  <a:pt x="111540" y="34259"/>
                  <a:pt x="111597" y="34316"/>
                  <a:pt x="111654" y="34373"/>
                </a:cubicBezTo>
                <a:lnTo>
                  <a:pt x="113816" y="36421"/>
                </a:lnTo>
                <a:lnTo>
                  <a:pt x="100187" y="36421"/>
                </a:lnTo>
                <a:cubicBezTo>
                  <a:pt x="95150" y="36421"/>
                  <a:pt x="91081" y="40490"/>
                  <a:pt x="91081" y="45527"/>
                </a:cubicBezTo>
                <a:cubicBezTo>
                  <a:pt x="91081" y="50563"/>
                  <a:pt x="95150" y="54632"/>
                  <a:pt x="100187" y="54632"/>
                </a:cubicBezTo>
                <a:lnTo>
                  <a:pt x="136608" y="54632"/>
                </a:lnTo>
                <a:cubicBezTo>
                  <a:pt x="141644" y="54632"/>
                  <a:pt x="145713" y="50563"/>
                  <a:pt x="145713" y="45527"/>
                </a:cubicBezTo>
                <a:lnTo>
                  <a:pt x="145713" y="9105"/>
                </a:lnTo>
                <a:cubicBezTo>
                  <a:pt x="145713" y="4069"/>
                  <a:pt x="141644" y="0"/>
                  <a:pt x="136608" y="0"/>
                </a:cubicBezTo>
                <a:cubicBezTo>
                  <a:pt x="131572" y="0"/>
                  <a:pt x="127503" y="4069"/>
                  <a:pt x="127503" y="9105"/>
                </a:cubicBezTo>
                <a:lnTo>
                  <a:pt x="127503" y="24300"/>
                </a:lnTo>
                <a:lnTo>
                  <a:pt x="124287" y="21255"/>
                </a:lnTo>
                <a:cubicBezTo>
                  <a:pt x="111113" y="8138"/>
                  <a:pt x="92903" y="0"/>
                  <a:pt x="72842" y="0"/>
                </a:cubicBezTo>
                <a:cubicBezTo>
                  <a:pt x="36137" y="0"/>
                  <a:pt x="5776" y="27145"/>
                  <a:pt x="740" y="62457"/>
                </a:cubicBezTo>
                <a:cubicBezTo>
                  <a:pt x="28" y="67436"/>
                  <a:pt x="3471" y="72046"/>
                  <a:pt x="8451" y="72757"/>
                </a:cubicBezTo>
                <a:cubicBezTo>
                  <a:pt x="13430" y="73468"/>
                  <a:pt x="18040" y="69997"/>
                  <a:pt x="18751" y="65046"/>
                </a:cubicBezTo>
                <a:close/>
                <a:moveTo>
                  <a:pt x="144945" y="83228"/>
                </a:moveTo>
                <a:cubicBezTo>
                  <a:pt x="145656" y="78249"/>
                  <a:pt x="142185" y="73639"/>
                  <a:pt x="137234" y="72928"/>
                </a:cubicBezTo>
                <a:cubicBezTo>
                  <a:pt x="132283" y="72216"/>
                  <a:pt x="127645" y="75688"/>
                  <a:pt x="126934" y="80639"/>
                </a:cubicBezTo>
                <a:cubicBezTo>
                  <a:pt x="123149" y="107101"/>
                  <a:pt x="100358" y="127446"/>
                  <a:pt x="72842" y="127446"/>
                </a:cubicBezTo>
                <a:cubicBezTo>
                  <a:pt x="57762" y="127446"/>
                  <a:pt x="44104" y="121328"/>
                  <a:pt x="34202" y="111455"/>
                </a:cubicBezTo>
                <a:cubicBezTo>
                  <a:pt x="34145" y="111398"/>
                  <a:pt x="34088" y="111341"/>
                  <a:pt x="34031" y="111284"/>
                </a:cubicBezTo>
                <a:lnTo>
                  <a:pt x="31869" y="109235"/>
                </a:lnTo>
                <a:lnTo>
                  <a:pt x="45498" y="109235"/>
                </a:lnTo>
                <a:cubicBezTo>
                  <a:pt x="50534" y="109235"/>
                  <a:pt x="54603" y="105166"/>
                  <a:pt x="54603" y="100130"/>
                </a:cubicBezTo>
                <a:cubicBezTo>
                  <a:pt x="54603" y="95094"/>
                  <a:pt x="50534" y="91025"/>
                  <a:pt x="45498" y="91025"/>
                </a:cubicBezTo>
                <a:lnTo>
                  <a:pt x="9105" y="91053"/>
                </a:lnTo>
                <a:cubicBezTo>
                  <a:pt x="6687" y="91053"/>
                  <a:pt x="4353" y="92020"/>
                  <a:pt x="2646" y="93756"/>
                </a:cubicBezTo>
                <a:cubicBezTo>
                  <a:pt x="939" y="95492"/>
                  <a:pt x="-28" y="97797"/>
                  <a:pt x="0" y="100244"/>
                </a:cubicBezTo>
                <a:lnTo>
                  <a:pt x="285" y="136380"/>
                </a:lnTo>
                <a:cubicBezTo>
                  <a:pt x="313" y="141417"/>
                  <a:pt x="4439" y="145457"/>
                  <a:pt x="9475" y="145400"/>
                </a:cubicBezTo>
                <a:cubicBezTo>
                  <a:pt x="14512" y="145343"/>
                  <a:pt x="18552" y="141246"/>
                  <a:pt x="18495" y="136210"/>
                </a:cubicBezTo>
                <a:lnTo>
                  <a:pt x="18381" y="121556"/>
                </a:lnTo>
                <a:lnTo>
                  <a:pt x="21426" y="124430"/>
                </a:lnTo>
                <a:cubicBezTo>
                  <a:pt x="34600" y="137547"/>
                  <a:pt x="52782" y="145685"/>
                  <a:pt x="72842" y="145685"/>
                </a:cubicBezTo>
                <a:cubicBezTo>
                  <a:pt x="109548" y="145685"/>
                  <a:pt x="139909" y="118540"/>
                  <a:pt x="144945" y="83228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p10"/>
          <p:cNvSpPr/>
          <p:nvPr/>
        </p:nvSpPr>
        <p:spPr>
          <a:xfrm>
            <a:off x="4273375" y="3623910"/>
            <a:ext cx="600950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Caching</a:t>
            </a:r>
            <a:endParaRPr sz="1600" b="0" i="0" u="none" strike="noStrike" cap="none"/>
          </a:p>
        </p:txBody>
      </p:sp>
      <p:sp>
        <p:nvSpPr>
          <p:cNvPr id="379" name="Google Shape;379;p10"/>
          <p:cNvSpPr/>
          <p:nvPr/>
        </p:nvSpPr>
        <p:spPr>
          <a:xfrm>
            <a:off x="4018426" y="3915280"/>
            <a:ext cx="2840854" cy="473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Cache-Control, ETag for fine-grained cache management</a:t>
            </a:r>
            <a:endParaRPr sz="1600" b="0" i="0" u="none" strike="noStrike" cap="none"/>
          </a:p>
        </p:txBody>
      </p:sp>
      <p:sp>
        <p:nvSpPr>
          <p:cNvPr id="380" name="Google Shape;380;p10"/>
          <p:cNvSpPr/>
          <p:nvPr/>
        </p:nvSpPr>
        <p:spPr>
          <a:xfrm>
            <a:off x="368765" y="4948732"/>
            <a:ext cx="6792556" cy="1520586"/>
          </a:xfrm>
          <a:custGeom>
            <a:avLst/>
            <a:gdLst/>
            <a:ahLst/>
            <a:cxnLst/>
            <a:rect l="l" t="t" r="r" b="b"/>
            <a:pathLst>
              <a:path w="6792556" h="1520586" extrusionOk="0">
                <a:moveTo>
                  <a:pt x="109269" y="0"/>
                </a:moveTo>
                <a:lnTo>
                  <a:pt x="6683286" y="0"/>
                </a:lnTo>
                <a:cubicBezTo>
                  <a:pt x="6743634" y="0"/>
                  <a:pt x="6792556" y="48922"/>
                  <a:pt x="6792556" y="109269"/>
                </a:cubicBezTo>
                <a:lnTo>
                  <a:pt x="6792556" y="1411316"/>
                </a:lnTo>
                <a:cubicBezTo>
                  <a:pt x="6792556" y="1471664"/>
                  <a:pt x="6743634" y="1520586"/>
                  <a:pt x="6683286" y="1520586"/>
                </a:cubicBezTo>
                <a:lnTo>
                  <a:pt x="109269" y="1520586"/>
                </a:lnTo>
                <a:cubicBezTo>
                  <a:pt x="48922" y="1520586"/>
                  <a:pt x="0" y="1471664"/>
                  <a:pt x="0" y="1411316"/>
                </a:cubicBezTo>
                <a:lnTo>
                  <a:pt x="0" y="109269"/>
                </a:lnTo>
                <a:cubicBezTo>
                  <a:pt x="0" y="48962"/>
                  <a:pt x="48962" y="0"/>
                  <a:pt x="109269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p10"/>
          <p:cNvSpPr/>
          <p:nvPr/>
        </p:nvSpPr>
        <p:spPr>
          <a:xfrm>
            <a:off x="624851" y="5217338"/>
            <a:ext cx="143409" cy="163895"/>
          </a:xfrm>
          <a:custGeom>
            <a:avLst/>
            <a:gdLst/>
            <a:ahLst/>
            <a:cxnLst/>
            <a:rect l="l" t="t" r="r" b="b"/>
            <a:pathLst>
              <a:path w="143409" h="163895" extrusionOk="0">
                <a:moveTo>
                  <a:pt x="81948" y="20487"/>
                </a:moveTo>
                <a:cubicBezTo>
                  <a:pt x="81948" y="14821"/>
                  <a:pt x="77370" y="10243"/>
                  <a:pt x="71704" y="10243"/>
                </a:cubicBezTo>
                <a:cubicBezTo>
                  <a:pt x="66038" y="10243"/>
                  <a:pt x="61461" y="14821"/>
                  <a:pt x="61461" y="20487"/>
                </a:cubicBezTo>
                <a:lnTo>
                  <a:pt x="61461" y="71704"/>
                </a:lnTo>
                <a:lnTo>
                  <a:pt x="10243" y="71704"/>
                </a:lnTo>
                <a:cubicBezTo>
                  <a:pt x="4578" y="71704"/>
                  <a:pt x="0" y="76282"/>
                  <a:pt x="0" y="81948"/>
                </a:cubicBezTo>
                <a:cubicBezTo>
                  <a:pt x="0" y="87614"/>
                  <a:pt x="4578" y="92191"/>
                  <a:pt x="10243" y="92191"/>
                </a:cubicBezTo>
                <a:lnTo>
                  <a:pt x="61461" y="92191"/>
                </a:lnTo>
                <a:lnTo>
                  <a:pt x="61461" y="143409"/>
                </a:lnTo>
                <a:cubicBezTo>
                  <a:pt x="61461" y="149074"/>
                  <a:pt x="66038" y="153652"/>
                  <a:pt x="71704" y="153652"/>
                </a:cubicBezTo>
                <a:cubicBezTo>
                  <a:pt x="77370" y="153652"/>
                  <a:pt x="81948" y="149074"/>
                  <a:pt x="81948" y="143409"/>
                </a:cubicBezTo>
                <a:lnTo>
                  <a:pt x="81948" y="92191"/>
                </a:lnTo>
                <a:lnTo>
                  <a:pt x="133165" y="92191"/>
                </a:lnTo>
                <a:cubicBezTo>
                  <a:pt x="138831" y="92191"/>
                  <a:pt x="143409" y="87614"/>
                  <a:pt x="143409" y="81948"/>
                </a:cubicBezTo>
                <a:cubicBezTo>
                  <a:pt x="143409" y="76282"/>
                  <a:pt x="138831" y="71704"/>
                  <a:pt x="133165" y="71704"/>
                </a:cubicBezTo>
                <a:lnTo>
                  <a:pt x="81948" y="71704"/>
                </a:lnTo>
                <a:lnTo>
                  <a:pt x="81948" y="20487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0"/>
          <p:cNvSpPr/>
          <p:nvPr/>
        </p:nvSpPr>
        <p:spPr>
          <a:xfrm>
            <a:off x="801267" y="5171812"/>
            <a:ext cx="6218922" cy="254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9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New Methods Introduced</a:t>
            </a:r>
            <a:endParaRPr sz="1600" b="0" i="0" u="none" strike="noStrike" cap="none"/>
          </a:p>
        </p:txBody>
      </p:sp>
      <p:sp>
        <p:nvSpPr>
          <p:cNvPr id="383" name="Google Shape;383;p10"/>
          <p:cNvSpPr/>
          <p:nvPr/>
        </p:nvSpPr>
        <p:spPr>
          <a:xfrm>
            <a:off x="596397" y="5576998"/>
            <a:ext cx="1174584" cy="664687"/>
          </a:xfrm>
          <a:custGeom>
            <a:avLst/>
            <a:gdLst/>
            <a:ahLst/>
            <a:cxnLst/>
            <a:rect l="l" t="t" r="r" b="b"/>
            <a:pathLst>
              <a:path w="1174584" h="664687" extrusionOk="0">
                <a:moveTo>
                  <a:pt x="72843" y="0"/>
                </a:moveTo>
                <a:lnTo>
                  <a:pt x="1101741" y="0"/>
                </a:lnTo>
                <a:cubicBezTo>
                  <a:pt x="1141971" y="0"/>
                  <a:pt x="1174584" y="32613"/>
                  <a:pt x="1174584" y="72843"/>
                </a:cubicBezTo>
                <a:lnTo>
                  <a:pt x="1174584" y="591844"/>
                </a:lnTo>
                <a:cubicBezTo>
                  <a:pt x="1174584" y="632074"/>
                  <a:pt x="1141971" y="664687"/>
                  <a:pt x="1101741" y="664687"/>
                </a:cubicBezTo>
                <a:lnTo>
                  <a:pt x="72843" y="664687"/>
                </a:lnTo>
                <a:cubicBezTo>
                  <a:pt x="32613" y="664687"/>
                  <a:pt x="0" y="632074"/>
                  <a:pt x="0" y="591844"/>
                </a:cubicBezTo>
                <a:lnTo>
                  <a:pt x="0" y="72843"/>
                </a:lnTo>
                <a:cubicBezTo>
                  <a:pt x="0" y="32640"/>
                  <a:pt x="32640" y="0"/>
                  <a:pt x="7284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B89A6B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4" name="Google Shape;384;p10"/>
          <p:cNvSpPr/>
          <p:nvPr/>
        </p:nvSpPr>
        <p:spPr>
          <a:xfrm>
            <a:off x="673792" y="5690814"/>
            <a:ext cx="1019794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OPTIONS</a:t>
            </a:r>
            <a:endParaRPr sz="1600" b="0" i="0" u="none" strike="noStrike" cap="none"/>
          </a:p>
        </p:txBody>
      </p:sp>
      <p:sp>
        <p:nvSpPr>
          <p:cNvPr id="385" name="Google Shape;385;p10"/>
          <p:cNvSpPr/>
          <p:nvPr/>
        </p:nvSpPr>
        <p:spPr>
          <a:xfrm>
            <a:off x="678345" y="5945763"/>
            <a:ext cx="1010689" cy="182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List methods</a:t>
            </a:r>
            <a:endParaRPr sz="1600" b="0" i="0" u="none" strike="noStrike" cap="none"/>
          </a:p>
        </p:txBody>
      </p:sp>
      <p:sp>
        <p:nvSpPr>
          <p:cNvPr id="386" name="Google Shape;386;p10"/>
          <p:cNvSpPr/>
          <p:nvPr/>
        </p:nvSpPr>
        <p:spPr>
          <a:xfrm>
            <a:off x="1886789" y="5576998"/>
            <a:ext cx="1174584" cy="664687"/>
          </a:xfrm>
          <a:custGeom>
            <a:avLst/>
            <a:gdLst/>
            <a:ahLst/>
            <a:cxnLst/>
            <a:rect l="l" t="t" r="r" b="b"/>
            <a:pathLst>
              <a:path w="1174584" h="664687" extrusionOk="0">
                <a:moveTo>
                  <a:pt x="72843" y="0"/>
                </a:moveTo>
                <a:lnTo>
                  <a:pt x="1101741" y="0"/>
                </a:lnTo>
                <a:cubicBezTo>
                  <a:pt x="1141971" y="0"/>
                  <a:pt x="1174584" y="32613"/>
                  <a:pt x="1174584" y="72843"/>
                </a:cubicBezTo>
                <a:lnTo>
                  <a:pt x="1174584" y="591844"/>
                </a:lnTo>
                <a:cubicBezTo>
                  <a:pt x="1174584" y="632074"/>
                  <a:pt x="1141971" y="664687"/>
                  <a:pt x="1101741" y="664687"/>
                </a:cubicBezTo>
                <a:lnTo>
                  <a:pt x="72843" y="664687"/>
                </a:lnTo>
                <a:cubicBezTo>
                  <a:pt x="32613" y="664687"/>
                  <a:pt x="0" y="632074"/>
                  <a:pt x="0" y="591844"/>
                </a:cubicBezTo>
                <a:lnTo>
                  <a:pt x="0" y="72843"/>
                </a:lnTo>
                <a:cubicBezTo>
                  <a:pt x="0" y="32640"/>
                  <a:pt x="32640" y="0"/>
                  <a:pt x="7284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4A6C8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7" name="Google Shape;387;p10"/>
          <p:cNvSpPr/>
          <p:nvPr/>
        </p:nvSpPr>
        <p:spPr>
          <a:xfrm>
            <a:off x="1964184" y="5690814"/>
            <a:ext cx="1019794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4A6C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PUT</a:t>
            </a:r>
            <a:endParaRPr sz="1600" b="0" i="0" u="none" strike="noStrike" cap="none"/>
          </a:p>
        </p:txBody>
      </p:sp>
      <p:sp>
        <p:nvSpPr>
          <p:cNvPr id="388" name="Google Shape;388;p10"/>
          <p:cNvSpPr/>
          <p:nvPr/>
        </p:nvSpPr>
        <p:spPr>
          <a:xfrm>
            <a:off x="1968737" y="5945763"/>
            <a:ext cx="1010689" cy="182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Upload</a:t>
            </a:r>
            <a:endParaRPr sz="1600" b="0" i="0" u="none" strike="noStrike" cap="none"/>
          </a:p>
        </p:txBody>
      </p:sp>
      <p:sp>
        <p:nvSpPr>
          <p:cNvPr id="389" name="Google Shape;389;p10"/>
          <p:cNvSpPr/>
          <p:nvPr/>
        </p:nvSpPr>
        <p:spPr>
          <a:xfrm>
            <a:off x="3177324" y="5576998"/>
            <a:ext cx="1174584" cy="664687"/>
          </a:xfrm>
          <a:custGeom>
            <a:avLst/>
            <a:gdLst/>
            <a:ahLst/>
            <a:cxnLst/>
            <a:rect l="l" t="t" r="r" b="b"/>
            <a:pathLst>
              <a:path w="1174584" h="664687" extrusionOk="0">
                <a:moveTo>
                  <a:pt x="72843" y="0"/>
                </a:moveTo>
                <a:lnTo>
                  <a:pt x="1101741" y="0"/>
                </a:lnTo>
                <a:cubicBezTo>
                  <a:pt x="1141971" y="0"/>
                  <a:pt x="1174584" y="32613"/>
                  <a:pt x="1174584" y="72843"/>
                </a:cubicBezTo>
                <a:lnTo>
                  <a:pt x="1174584" y="591844"/>
                </a:lnTo>
                <a:cubicBezTo>
                  <a:pt x="1174584" y="632074"/>
                  <a:pt x="1141971" y="664687"/>
                  <a:pt x="1101741" y="664687"/>
                </a:cubicBezTo>
                <a:lnTo>
                  <a:pt x="72843" y="664687"/>
                </a:lnTo>
                <a:cubicBezTo>
                  <a:pt x="32613" y="664687"/>
                  <a:pt x="0" y="632074"/>
                  <a:pt x="0" y="591844"/>
                </a:cubicBezTo>
                <a:lnTo>
                  <a:pt x="0" y="72843"/>
                </a:lnTo>
                <a:cubicBezTo>
                  <a:pt x="0" y="32640"/>
                  <a:pt x="32640" y="0"/>
                  <a:pt x="7284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788A9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0" name="Google Shape;390;p10"/>
          <p:cNvSpPr/>
          <p:nvPr/>
        </p:nvSpPr>
        <p:spPr>
          <a:xfrm>
            <a:off x="3254719" y="5690814"/>
            <a:ext cx="1019794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DELETE</a:t>
            </a:r>
            <a:endParaRPr sz="1600" b="0" i="0" u="none" strike="noStrike" cap="none"/>
          </a:p>
        </p:txBody>
      </p:sp>
      <p:sp>
        <p:nvSpPr>
          <p:cNvPr id="391" name="Google Shape;391;p10"/>
          <p:cNvSpPr/>
          <p:nvPr/>
        </p:nvSpPr>
        <p:spPr>
          <a:xfrm>
            <a:off x="3259271" y="5945763"/>
            <a:ext cx="1010689" cy="182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Remove</a:t>
            </a:r>
            <a:endParaRPr sz="1600" b="0" i="0" u="none" strike="noStrike" cap="none"/>
          </a:p>
        </p:txBody>
      </p:sp>
      <p:sp>
        <p:nvSpPr>
          <p:cNvPr id="392" name="Google Shape;392;p10"/>
          <p:cNvSpPr/>
          <p:nvPr/>
        </p:nvSpPr>
        <p:spPr>
          <a:xfrm>
            <a:off x="4467858" y="5576998"/>
            <a:ext cx="1174584" cy="664687"/>
          </a:xfrm>
          <a:custGeom>
            <a:avLst/>
            <a:gdLst/>
            <a:ahLst/>
            <a:cxnLst/>
            <a:rect l="l" t="t" r="r" b="b"/>
            <a:pathLst>
              <a:path w="1174584" h="664687" extrusionOk="0">
                <a:moveTo>
                  <a:pt x="72843" y="0"/>
                </a:moveTo>
                <a:lnTo>
                  <a:pt x="1101741" y="0"/>
                </a:lnTo>
                <a:cubicBezTo>
                  <a:pt x="1141971" y="0"/>
                  <a:pt x="1174584" y="32613"/>
                  <a:pt x="1174584" y="72843"/>
                </a:cubicBezTo>
                <a:lnTo>
                  <a:pt x="1174584" y="591844"/>
                </a:lnTo>
                <a:cubicBezTo>
                  <a:pt x="1174584" y="632074"/>
                  <a:pt x="1141971" y="664687"/>
                  <a:pt x="1101741" y="664687"/>
                </a:cubicBezTo>
                <a:lnTo>
                  <a:pt x="72843" y="664687"/>
                </a:lnTo>
                <a:cubicBezTo>
                  <a:pt x="32613" y="664687"/>
                  <a:pt x="0" y="632074"/>
                  <a:pt x="0" y="591844"/>
                </a:cubicBezTo>
                <a:lnTo>
                  <a:pt x="0" y="72843"/>
                </a:lnTo>
                <a:cubicBezTo>
                  <a:pt x="0" y="32640"/>
                  <a:pt x="32640" y="0"/>
                  <a:pt x="7284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B89A6B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3" name="Google Shape;393;p10"/>
          <p:cNvSpPr/>
          <p:nvPr/>
        </p:nvSpPr>
        <p:spPr>
          <a:xfrm>
            <a:off x="4545253" y="5690814"/>
            <a:ext cx="1019794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TRACE</a:t>
            </a:r>
            <a:endParaRPr sz="1600" b="0" i="0" u="none" strike="noStrike" cap="none"/>
          </a:p>
        </p:txBody>
      </p:sp>
      <p:sp>
        <p:nvSpPr>
          <p:cNvPr id="394" name="Google Shape;394;p10"/>
          <p:cNvSpPr/>
          <p:nvPr/>
        </p:nvSpPr>
        <p:spPr>
          <a:xfrm>
            <a:off x="4549806" y="5945763"/>
            <a:ext cx="1010689" cy="182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Debug</a:t>
            </a:r>
            <a:endParaRPr sz="1600" b="0" i="0" u="none" strike="noStrike" cap="none"/>
          </a:p>
        </p:txBody>
      </p:sp>
      <p:sp>
        <p:nvSpPr>
          <p:cNvPr id="395" name="Google Shape;395;p10"/>
          <p:cNvSpPr/>
          <p:nvPr/>
        </p:nvSpPr>
        <p:spPr>
          <a:xfrm>
            <a:off x="5758392" y="5576998"/>
            <a:ext cx="1174584" cy="664687"/>
          </a:xfrm>
          <a:custGeom>
            <a:avLst/>
            <a:gdLst/>
            <a:ahLst/>
            <a:cxnLst/>
            <a:rect l="l" t="t" r="r" b="b"/>
            <a:pathLst>
              <a:path w="1174584" h="664687" extrusionOk="0">
                <a:moveTo>
                  <a:pt x="72843" y="0"/>
                </a:moveTo>
                <a:lnTo>
                  <a:pt x="1101741" y="0"/>
                </a:lnTo>
                <a:cubicBezTo>
                  <a:pt x="1141971" y="0"/>
                  <a:pt x="1174584" y="32613"/>
                  <a:pt x="1174584" y="72843"/>
                </a:cubicBezTo>
                <a:lnTo>
                  <a:pt x="1174584" y="591844"/>
                </a:lnTo>
                <a:cubicBezTo>
                  <a:pt x="1174584" y="632074"/>
                  <a:pt x="1141971" y="664687"/>
                  <a:pt x="1101741" y="664687"/>
                </a:cubicBezTo>
                <a:lnTo>
                  <a:pt x="72843" y="664687"/>
                </a:lnTo>
                <a:cubicBezTo>
                  <a:pt x="32613" y="664687"/>
                  <a:pt x="0" y="632074"/>
                  <a:pt x="0" y="591844"/>
                </a:cubicBezTo>
                <a:lnTo>
                  <a:pt x="0" y="72843"/>
                </a:lnTo>
                <a:cubicBezTo>
                  <a:pt x="0" y="32640"/>
                  <a:pt x="32640" y="0"/>
                  <a:pt x="7284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4A6C8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10"/>
          <p:cNvSpPr/>
          <p:nvPr/>
        </p:nvSpPr>
        <p:spPr>
          <a:xfrm>
            <a:off x="5835788" y="5690814"/>
            <a:ext cx="1019794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4A6C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CONNECT</a:t>
            </a:r>
            <a:endParaRPr sz="1600" b="0" i="0" u="none" strike="noStrike" cap="none"/>
          </a:p>
        </p:txBody>
      </p:sp>
      <p:sp>
        <p:nvSpPr>
          <p:cNvPr id="397" name="Google Shape;397;p10"/>
          <p:cNvSpPr/>
          <p:nvPr/>
        </p:nvSpPr>
        <p:spPr>
          <a:xfrm>
            <a:off x="5840340" y="5945763"/>
            <a:ext cx="1010689" cy="182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Tunnel</a:t>
            </a:r>
            <a:endParaRPr sz="1600" b="0" i="0" u="none" strike="noStrike" cap="none"/>
          </a:p>
        </p:txBody>
      </p:sp>
      <p:sp>
        <p:nvSpPr>
          <p:cNvPr id="398" name="Google Shape;398;p10"/>
          <p:cNvSpPr/>
          <p:nvPr/>
        </p:nvSpPr>
        <p:spPr>
          <a:xfrm>
            <a:off x="7458665" y="1288400"/>
            <a:ext cx="4361440" cy="3214172"/>
          </a:xfrm>
          <a:custGeom>
            <a:avLst/>
            <a:gdLst/>
            <a:ahLst/>
            <a:cxnLst/>
            <a:rect l="l" t="t" r="r" b="b"/>
            <a:pathLst>
              <a:path w="4361440" h="3214172" extrusionOk="0">
                <a:moveTo>
                  <a:pt x="145698" y="0"/>
                </a:moveTo>
                <a:lnTo>
                  <a:pt x="4215741" y="0"/>
                </a:lnTo>
                <a:cubicBezTo>
                  <a:pt x="4296208" y="0"/>
                  <a:pt x="4361440" y="65231"/>
                  <a:pt x="4361440" y="145698"/>
                </a:cubicBezTo>
                <a:lnTo>
                  <a:pt x="4361440" y="3068473"/>
                </a:lnTo>
                <a:cubicBezTo>
                  <a:pt x="4361440" y="3148940"/>
                  <a:pt x="4296208" y="3214172"/>
                  <a:pt x="4215741" y="3214172"/>
                </a:cubicBezTo>
                <a:lnTo>
                  <a:pt x="145698" y="3214172"/>
                </a:lnTo>
                <a:cubicBezTo>
                  <a:pt x="65231" y="3214172"/>
                  <a:pt x="0" y="3148940"/>
                  <a:pt x="0" y="3068473"/>
                </a:cubicBezTo>
                <a:lnTo>
                  <a:pt x="0" y="145698"/>
                </a:lnTo>
                <a:cubicBezTo>
                  <a:pt x="0" y="65285"/>
                  <a:pt x="65285" y="0"/>
                  <a:pt x="145698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788A9C">
                  <a:alpha val="10196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0"/>
          <p:cNvSpPr/>
          <p:nvPr/>
        </p:nvSpPr>
        <p:spPr>
          <a:xfrm>
            <a:off x="7636219" y="1511480"/>
            <a:ext cx="4006333" cy="254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34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Without vs With Pipelining</a:t>
            </a:r>
            <a:endParaRPr sz="1600" b="0" i="0" u="none" strike="noStrike" cap="none"/>
          </a:p>
        </p:txBody>
      </p:sp>
      <p:sp>
        <p:nvSpPr>
          <p:cNvPr id="400" name="Google Shape;400;p10"/>
          <p:cNvSpPr/>
          <p:nvPr/>
        </p:nvSpPr>
        <p:spPr>
          <a:xfrm>
            <a:off x="7681745" y="1912114"/>
            <a:ext cx="3988122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HTTP/1.0: Sequential</a:t>
            </a:r>
            <a:endParaRPr sz="1600" b="0" i="0" u="none" strike="noStrike" cap="none"/>
          </a:p>
        </p:txBody>
      </p:sp>
      <p:sp>
        <p:nvSpPr>
          <p:cNvPr id="401" name="Google Shape;401;p10"/>
          <p:cNvSpPr/>
          <p:nvPr/>
        </p:nvSpPr>
        <p:spPr>
          <a:xfrm>
            <a:off x="7681745" y="2239904"/>
            <a:ext cx="1174584" cy="291370"/>
          </a:xfrm>
          <a:custGeom>
            <a:avLst/>
            <a:gdLst/>
            <a:ahLst/>
            <a:cxnLst/>
            <a:rect l="l" t="t" r="r" b="b"/>
            <a:pathLst>
              <a:path w="1174584" h="291370" extrusionOk="0">
                <a:moveTo>
                  <a:pt x="36421" y="0"/>
                </a:moveTo>
                <a:lnTo>
                  <a:pt x="1138163" y="0"/>
                </a:lnTo>
                <a:cubicBezTo>
                  <a:pt x="1158278" y="0"/>
                  <a:pt x="1174584" y="16306"/>
                  <a:pt x="1174584" y="36421"/>
                </a:cubicBezTo>
                <a:lnTo>
                  <a:pt x="1174584" y="254948"/>
                </a:lnTo>
                <a:cubicBezTo>
                  <a:pt x="1174584" y="275063"/>
                  <a:pt x="1158278" y="291370"/>
                  <a:pt x="1138163" y="291370"/>
                </a:cubicBezTo>
                <a:lnTo>
                  <a:pt x="36421" y="291370"/>
                </a:lnTo>
                <a:cubicBezTo>
                  <a:pt x="16306" y="291370"/>
                  <a:pt x="0" y="275063"/>
                  <a:pt x="0" y="254948"/>
                </a:cubicBezTo>
                <a:lnTo>
                  <a:pt x="0" y="36421"/>
                </a:lnTo>
                <a:cubicBezTo>
                  <a:pt x="0" y="16306"/>
                  <a:pt x="16306" y="0"/>
                  <a:pt x="36421" y="0"/>
                </a:cubicBezTo>
                <a:close/>
              </a:path>
            </a:pathLst>
          </a:custGeom>
          <a:solidFill>
            <a:srgbClr val="788A9C">
              <a:alpha val="3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2" name="Google Shape;402;p10"/>
          <p:cNvSpPr/>
          <p:nvPr/>
        </p:nvSpPr>
        <p:spPr>
          <a:xfrm>
            <a:off x="8929172" y="2294536"/>
            <a:ext cx="355107" cy="182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Req 1</a:t>
            </a:r>
            <a:endParaRPr sz="1600" b="0" i="0" u="none" strike="noStrike" cap="none"/>
          </a:p>
        </p:txBody>
      </p:sp>
      <p:sp>
        <p:nvSpPr>
          <p:cNvPr id="403" name="Google Shape;403;p10"/>
          <p:cNvSpPr/>
          <p:nvPr/>
        </p:nvSpPr>
        <p:spPr>
          <a:xfrm>
            <a:off x="7877509" y="2604117"/>
            <a:ext cx="1174584" cy="291370"/>
          </a:xfrm>
          <a:custGeom>
            <a:avLst/>
            <a:gdLst/>
            <a:ahLst/>
            <a:cxnLst/>
            <a:rect l="l" t="t" r="r" b="b"/>
            <a:pathLst>
              <a:path w="1174584" h="291370" extrusionOk="0">
                <a:moveTo>
                  <a:pt x="36421" y="0"/>
                </a:moveTo>
                <a:lnTo>
                  <a:pt x="1138163" y="0"/>
                </a:lnTo>
                <a:cubicBezTo>
                  <a:pt x="1158278" y="0"/>
                  <a:pt x="1174584" y="16306"/>
                  <a:pt x="1174584" y="36421"/>
                </a:cubicBezTo>
                <a:lnTo>
                  <a:pt x="1174584" y="254948"/>
                </a:lnTo>
                <a:cubicBezTo>
                  <a:pt x="1174584" y="275063"/>
                  <a:pt x="1158278" y="291370"/>
                  <a:pt x="1138163" y="291370"/>
                </a:cubicBezTo>
                <a:lnTo>
                  <a:pt x="36421" y="291370"/>
                </a:lnTo>
                <a:cubicBezTo>
                  <a:pt x="16306" y="291370"/>
                  <a:pt x="0" y="275063"/>
                  <a:pt x="0" y="254948"/>
                </a:cubicBezTo>
                <a:lnTo>
                  <a:pt x="0" y="36421"/>
                </a:lnTo>
                <a:cubicBezTo>
                  <a:pt x="0" y="16306"/>
                  <a:pt x="16306" y="0"/>
                  <a:pt x="36421" y="0"/>
                </a:cubicBezTo>
                <a:close/>
              </a:path>
            </a:pathLst>
          </a:custGeom>
          <a:solidFill>
            <a:srgbClr val="788A9C">
              <a:alpha val="3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Google Shape;404;p10"/>
          <p:cNvSpPr/>
          <p:nvPr/>
        </p:nvSpPr>
        <p:spPr>
          <a:xfrm>
            <a:off x="9124936" y="2658748"/>
            <a:ext cx="373317" cy="182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Req 2</a:t>
            </a:r>
            <a:endParaRPr sz="1600" b="0" i="0" u="none" strike="noStrike" cap="none"/>
          </a:p>
        </p:txBody>
      </p:sp>
      <p:sp>
        <p:nvSpPr>
          <p:cNvPr id="405" name="Google Shape;405;p10"/>
          <p:cNvSpPr/>
          <p:nvPr/>
        </p:nvSpPr>
        <p:spPr>
          <a:xfrm>
            <a:off x="8073273" y="2968329"/>
            <a:ext cx="1174584" cy="291370"/>
          </a:xfrm>
          <a:custGeom>
            <a:avLst/>
            <a:gdLst/>
            <a:ahLst/>
            <a:cxnLst/>
            <a:rect l="l" t="t" r="r" b="b"/>
            <a:pathLst>
              <a:path w="1174584" h="291370" extrusionOk="0">
                <a:moveTo>
                  <a:pt x="36421" y="0"/>
                </a:moveTo>
                <a:lnTo>
                  <a:pt x="1138163" y="0"/>
                </a:lnTo>
                <a:cubicBezTo>
                  <a:pt x="1158278" y="0"/>
                  <a:pt x="1174584" y="16306"/>
                  <a:pt x="1174584" y="36421"/>
                </a:cubicBezTo>
                <a:lnTo>
                  <a:pt x="1174584" y="254948"/>
                </a:lnTo>
                <a:cubicBezTo>
                  <a:pt x="1174584" y="275063"/>
                  <a:pt x="1158278" y="291370"/>
                  <a:pt x="1138163" y="291370"/>
                </a:cubicBezTo>
                <a:lnTo>
                  <a:pt x="36421" y="291370"/>
                </a:lnTo>
                <a:cubicBezTo>
                  <a:pt x="16306" y="291370"/>
                  <a:pt x="0" y="275063"/>
                  <a:pt x="0" y="254948"/>
                </a:cubicBezTo>
                <a:lnTo>
                  <a:pt x="0" y="36421"/>
                </a:lnTo>
                <a:cubicBezTo>
                  <a:pt x="0" y="16306"/>
                  <a:pt x="16306" y="0"/>
                  <a:pt x="36421" y="0"/>
                </a:cubicBezTo>
                <a:close/>
              </a:path>
            </a:pathLst>
          </a:custGeom>
          <a:solidFill>
            <a:srgbClr val="788A9C">
              <a:alpha val="3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10"/>
          <p:cNvSpPr/>
          <p:nvPr/>
        </p:nvSpPr>
        <p:spPr>
          <a:xfrm>
            <a:off x="9320700" y="3022960"/>
            <a:ext cx="382423" cy="182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Req 3</a:t>
            </a:r>
            <a:endParaRPr sz="1600" b="0" i="0" u="none" strike="noStrike" cap="none"/>
          </a:p>
        </p:txBody>
      </p:sp>
      <p:sp>
        <p:nvSpPr>
          <p:cNvPr id="407" name="Google Shape;407;p10"/>
          <p:cNvSpPr/>
          <p:nvPr/>
        </p:nvSpPr>
        <p:spPr>
          <a:xfrm>
            <a:off x="7681745" y="3405383"/>
            <a:ext cx="3988122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HTTP/1.1: Pipelined</a:t>
            </a:r>
            <a:endParaRPr sz="1600" b="0" i="0" u="none" strike="noStrike" cap="none" dirty="0"/>
          </a:p>
        </p:txBody>
      </p:sp>
      <p:sp>
        <p:nvSpPr>
          <p:cNvPr id="408" name="Google Shape;408;p10"/>
          <p:cNvSpPr/>
          <p:nvPr/>
        </p:nvSpPr>
        <p:spPr>
          <a:xfrm>
            <a:off x="7681745" y="3733174"/>
            <a:ext cx="1283848" cy="291370"/>
          </a:xfrm>
          <a:custGeom>
            <a:avLst/>
            <a:gdLst/>
            <a:ahLst/>
            <a:cxnLst/>
            <a:rect l="l" t="t" r="r" b="b"/>
            <a:pathLst>
              <a:path w="1283848" h="291370" extrusionOk="0">
                <a:moveTo>
                  <a:pt x="36421" y="0"/>
                </a:moveTo>
                <a:lnTo>
                  <a:pt x="1247426" y="0"/>
                </a:lnTo>
                <a:cubicBezTo>
                  <a:pt x="1267541" y="0"/>
                  <a:pt x="1283848" y="16306"/>
                  <a:pt x="1283848" y="36421"/>
                </a:cubicBezTo>
                <a:lnTo>
                  <a:pt x="1283848" y="254948"/>
                </a:lnTo>
                <a:cubicBezTo>
                  <a:pt x="1283848" y="275063"/>
                  <a:pt x="1267541" y="291370"/>
                  <a:pt x="1247426" y="291370"/>
                </a:cubicBezTo>
                <a:lnTo>
                  <a:pt x="36421" y="291370"/>
                </a:lnTo>
                <a:cubicBezTo>
                  <a:pt x="16306" y="291370"/>
                  <a:pt x="0" y="275063"/>
                  <a:pt x="0" y="254948"/>
                </a:cubicBezTo>
                <a:lnTo>
                  <a:pt x="0" y="36421"/>
                </a:lnTo>
                <a:cubicBezTo>
                  <a:pt x="0" y="16306"/>
                  <a:pt x="16306" y="0"/>
                  <a:pt x="36421" y="0"/>
                </a:cubicBezTo>
                <a:close/>
              </a:path>
            </a:pathLst>
          </a:custGeom>
          <a:solidFill>
            <a:srgbClr val="B89A6B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10"/>
          <p:cNvSpPr/>
          <p:nvPr/>
        </p:nvSpPr>
        <p:spPr>
          <a:xfrm>
            <a:off x="8998884" y="3733174"/>
            <a:ext cx="1283848" cy="291370"/>
          </a:xfrm>
          <a:custGeom>
            <a:avLst/>
            <a:gdLst/>
            <a:ahLst/>
            <a:cxnLst/>
            <a:rect l="l" t="t" r="r" b="b"/>
            <a:pathLst>
              <a:path w="1283848" h="291370" extrusionOk="0">
                <a:moveTo>
                  <a:pt x="36421" y="0"/>
                </a:moveTo>
                <a:lnTo>
                  <a:pt x="1247426" y="0"/>
                </a:lnTo>
                <a:cubicBezTo>
                  <a:pt x="1267541" y="0"/>
                  <a:pt x="1283848" y="16306"/>
                  <a:pt x="1283848" y="36421"/>
                </a:cubicBezTo>
                <a:lnTo>
                  <a:pt x="1283848" y="254948"/>
                </a:lnTo>
                <a:cubicBezTo>
                  <a:pt x="1283848" y="275063"/>
                  <a:pt x="1267541" y="291370"/>
                  <a:pt x="1247426" y="291370"/>
                </a:cubicBezTo>
                <a:lnTo>
                  <a:pt x="36421" y="291370"/>
                </a:lnTo>
                <a:cubicBezTo>
                  <a:pt x="16306" y="291370"/>
                  <a:pt x="0" y="275063"/>
                  <a:pt x="0" y="254948"/>
                </a:cubicBezTo>
                <a:lnTo>
                  <a:pt x="0" y="36421"/>
                </a:lnTo>
                <a:cubicBezTo>
                  <a:pt x="0" y="16306"/>
                  <a:pt x="16306" y="0"/>
                  <a:pt x="36421" y="0"/>
                </a:cubicBezTo>
                <a:close/>
              </a:path>
            </a:pathLst>
          </a:custGeom>
          <a:solidFill>
            <a:srgbClr val="B89A6B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10"/>
          <p:cNvSpPr/>
          <p:nvPr/>
        </p:nvSpPr>
        <p:spPr>
          <a:xfrm>
            <a:off x="10316165" y="3733174"/>
            <a:ext cx="1283848" cy="291370"/>
          </a:xfrm>
          <a:custGeom>
            <a:avLst/>
            <a:gdLst/>
            <a:ahLst/>
            <a:cxnLst/>
            <a:rect l="l" t="t" r="r" b="b"/>
            <a:pathLst>
              <a:path w="1283848" h="291370" extrusionOk="0">
                <a:moveTo>
                  <a:pt x="36421" y="0"/>
                </a:moveTo>
                <a:lnTo>
                  <a:pt x="1247426" y="0"/>
                </a:lnTo>
                <a:cubicBezTo>
                  <a:pt x="1267541" y="0"/>
                  <a:pt x="1283848" y="16306"/>
                  <a:pt x="1283848" y="36421"/>
                </a:cubicBezTo>
                <a:lnTo>
                  <a:pt x="1283848" y="254948"/>
                </a:lnTo>
                <a:cubicBezTo>
                  <a:pt x="1283848" y="275063"/>
                  <a:pt x="1267541" y="291370"/>
                  <a:pt x="1247426" y="291370"/>
                </a:cubicBezTo>
                <a:lnTo>
                  <a:pt x="36421" y="291370"/>
                </a:lnTo>
                <a:cubicBezTo>
                  <a:pt x="16306" y="291370"/>
                  <a:pt x="0" y="275063"/>
                  <a:pt x="0" y="254948"/>
                </a:cubicBezTo>
                <a:lnTo>
                  <a:pt x="0" y="36421"/>
                </a:lnTo>
                <a:cubicBezTo>
                  <a:pt x="0" y="16306"/>
                  <a:pt x="16306" y="0"/>
                  <a:pt x="36421" y="0"/>
                </a:cubicBezTo>
                <a:close/>
              </a:path>
            </a:pathLst>
          </a:custGeom>
          <a:solidFill>
            <a:srgbClr val="B89A6B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10"/>
          <p:cNvSpPr/>
          <p:nvPr/>
        </p:nvSpPr>
        <p:spPr>
          <a:xfrm>
            <a:off x="7681745" y="4097386"/>
            <a:ext cx="3979017" cy="182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4" b="0" i="0" u="none" strike="noStrike" cap="none" dirty="0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Multiple requests sent without waiting</a:t>
            </a:r>
            <a:endParaRPr sz="1600" b="0" i="0" u="none" strike="noStrike" cap="none" dirty="0"/>
          </a:p>
        </p:txBody>
      </p:sp>
      <p:sp>
        <p:nvSpPr>
          <p:cNvPr id="412" name="Google Shape;412;p10"/>
          <p:cNvSpPr/>
          <p:nvPr/>
        </p:nvSpPr>
        <p:spPr>
          <a:xfrm>
            <a:off x="7458665" y="4693783"/>
            <a:ext cx="4361440" cy="2157957"/>
          </a:xfrm>
          <a:custGeom>
            <a:avLst/>
            <a:gdLst/>
            <a:ahLst/>
            <a:cxnLst/>
            <a:rect l="l" t="t" r="r" b="b"/>
            <a:pathLst>
              <a:path w="4361440" h="2157957" extrusionOk="0">
                <a:moveTo>
                  <a:pt x="109257" y="0"/>
                </a:moveTo>
                <a:lnTo>
                  <a:pt x="4252183" y="0"/>
                </a:lnTo>
                <a:cubicBezTo>
                  <a:pt x="4312524" y="0"/>
                  <a:pt x="4361440" y="48916"/>
                  <a:pt x="4361440" y="109257"/>
                </a:cubicBezTo>
                <a:lnTo>
                  <a:pt x="4361440" y="2048699"/>
                </a:lnTo>
                <a:cubicBezTo>
                  <a:pt x="4361440" y="2109041"/>
                  <a:pt x="4312524" y="2157957"/>
                  <a:pt x="4252183" y="2157957"/>
                </a:cubicBezTo>
                <a:lnTo>
                  <a:pt x="109257" y="2157957"/>
                </a:lnTo>
                <a:cubicBezTo>
                  <a:pt x="48916" y="2157957"/>
                  <a:pt x="0" y="2109041"/>
                  <a:pt x="0" y="2048699"/>
                </a:cubicBezTo>
                <a:lnTo>
                  <a:pt x="0" y="109257"/>
                </a:lnTo>
                <a:cubicBezTo>
                  <a:pt x="0" y="48916"/>
                  <a:pt x="48916" y="0"/>
                  <a:pt x="109257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0"/>
          <p:cNvSpPr/>
          <p:nvPr/>
        </p:nvSpPr>
        <p:spPr>
          <a:xfrm>
            <a:off x="7704509" y="4962390"/>
            <a:ext cx="163895" cy="163895"/>
          </a:xfrm>
          <a:custGeom>
            <a:avLst/>
            <a:gdLst/>
            <a:ahLst/>
            <a:cxnLst/>
            <a:rect l="l" t="t" r="r" b="b"/>
            <a:pathLst>
              <a:path w="163895" h="163895" extrusionOk="0">
                <a:moveTo>
                  <a:pt x="81948" y="163895"/>
                </a:moveTo>
                <a:cubicBezTo>
                  <a:pt x="127176" y="163895"/>
                  <a:pt x="163895" y="127176"/>
                  <a:pt x="163895" y="81948"/>
                </a:cubicBezTo>
                <a:cubicBezTo>
                  <a:pt x="163895" y="36720"/>
                  <a:pt x="127176" y="0"/>
                  <a:pt x="81948" y="0"/>
                </a:cubicBezTo>
                <a:cubicBezTo>
                  <a:pt x="36720" y="0"/>
                  <a:pt x="0" y="36720"/>
                  <a:pt x="0" y="81948"/>
                </a:cubicBezTo>
                <a:cubicBezTo>
                  <a:pt x="0" y="127176"/>
                  <a:pt x="36720" y="163895"/>
                  <a:pt x="81948" y="163895"/>
                </a:cubicBezTo>
                <a:close/>
                <a:moveTo>
                  <a:pt x="81948" y="43535"/>
                </a:moveTo>
                <a:cubicBezTo>
                  <a:pt x="86205" y="43535"/>
                  <a:pt x="89630" y="46960"/>
                  <a:pt x="89630" y="51217"/>
                </a:cubicBezTo>
                <a:lnTo>
                  <a:pt x="89630" y="87069"/>
                </a:lnTo>
                <a:cubicBezTo>
                  <a:pt x="89630" y="91327"/>
                  <a:pt x="86205" y="94752"/>
                  <a:pt x="81948" y="94752"/>
                </a:cubicBezTo>
                <a:cubicBezTo>
                  <a:pt x="77690" y="94752"/>
                  <a:pt x="74265" y="91327"/>
                  <a:pt x="74265" y="87069"/>
                </a:cubicBezTo>
                <a:lnTo>
                  <a:pt x="74265" y="51217"/>
                </a:lnTo>
                <a:cubicBezTo>
                  <a:pt x="74265" y="46960"/>
                  <a:pt x="77690" y="43535"/>
                  <a:pt x="81948" y="43535"/>
                </a:cubicBezTo>
                <a:close/>
                <a:moveTo>
                  <a:pt x="73401" y="112678"/>
                </a:moveTo>
                <a:cubicBezTo>
                  <a:pt x="73206" y="109506"/>
                  <a:pt x="74789" y="106487"/>
                  <a:pt x="77508" y="104842"/>
                </a:cubicBezTo>
                <a:cubicBezTo>
                  <a:pt x="80228" y="103197"/>
                  <a:pt x="83636" y="103197"/>
                  <a:pt x="86355" y="104842"/>
                </a:cubicBezTo>
                <a:cubicBezTo>
                  <a:pt x="89075" y="106487"/>
                  <a:pt x="90657" y="109506"/>
                  <a:pt x="90463" y="112678"/>
                </a:cubicBezTo>
                <a:cubicBezTo>
                  <a:pt x="90657" y="115851"/>
                  <a:pt x="89075" y="118869"/>
                  <a:pt x="86355" y="120514"/>
                </a:cubicBezTo>
                <a:cubicBezTo>
                  <a:pt x="83636" y="122159"/>
                  <a:pt x="80228" y="122159"/>
                  <a:pt x="77508" y="120514"/>
                </a:cubicBezTo>
                <a:cubicBezTo>
                  <a:pt x="74789" y="118869"/>
                  <a:pt x="73206" y="115851"/>
                  <a:pt x="73401" y="112678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10"/>
          <p:cNvSpPr/>
          <p:nvPr/>
        </p:nvSpPr>
        <p:spPr>
          <a:xfrm>
            <a:off x="7891167" y="4916863"/>
            <a:ext cx="3787806" cy="254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9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Limitations</a:t>
            </a:r>
            <a:endParaRPr sz="1600" b="0" i="0" u="none" strike="noStrike" cap="none"/>
          </a:p>
        </p:txBody>
      </p:sp>
      <p:sp>
        <p:nvSpPr>
          <p:cNvPr id="415" name="Google Shape;415;p10"/>
          <p:cNvSpPr/>
          <p:nvPr/>
        </p:nvSpPr>
        <p:spPr>
          <a:xfrm>
            <a:off x="7699956" y="5353918"/>
            <a:ext cx="145685" cy="145685"/>
          </a:xfrm>
          <a:custGeom>
            <a:avLst/>
            <a:gdLst/>
            <a:ahLst/>
            <a:cxnLst/>
            <a:rect l="l" t="t" r="r" b="b"/>
            <a:pathLst>
              <a:path w="145685" h="145685" extrusionOk="0">
                <a:moveTo>
                  <a:pt x="72842" y="145685"/>
                </a:moveTo>
                <a:cubicBezTo>
                  <a:pt x="113045" y="145685"/>
                  <a:pt x="145685" y="113045"/>
                  <a:pt x="145685" y="72842"/>
                </a:cubicBezTo>
                <a:cubicBezTo>
                  <a:pt x="145685" y="32640"/>
                  <a:pt x="113045" y="0"/>
                  <a:pt x="72842" y="0"/>
                </a:cubicBezTo>
                <a:cubicBezTo>
                  <a:pt x="32640" y="0"/>
                  <a:pt x="0" y="32640"/>
                  <a:pt x="0" y="72842"/>
                </a:cubicBezTo>
                <a:cubicBezTo>
                  <a:pt x="0" y="113045"/>
                  <a:pt x="32640" y="145685"/>
                  <a:pt x="72842" y="145685"/>
                </a:cubicBezTo>
                <a:close/>
                <a:moveTo>
                  <a:pt x="47518" y="47518"/>
                </a:moveTo>
                <a:cubicBezTo>
                  <a:pt x="50193" y="44844"/>
                  <a:pt x="54518" y="44844"/>
                  <a:pt x="57164" y="47518"/>
                </a:cubicBezTo>
                <a:lnTo>
                  <a:pt x="72814" y="63168"/>
                </a:lnTo>
                <a:lnTo>
                  <a:pt x="88464" y="47518"/>
                </a:lnTo>
                <a:cubicBezTo>
                  <a:pt x="91138" y="44844"/>
                  <a:pt x="95463" y="44844"/>
                  <a:pt x="98110" y="47518"/>
                </a:cubicBezTo>
                <a:cubicBezTo>
                  <a:pt x="100756" y="50193"/>
                  <a:pt x="100784" y="54518"/>
                  <a:pt x="98110" y="57164"/>
                </a:cubicBezTo>
                <a:lnTo>
                  <a:pt x="82460" y="72814"/>
                </a:lnTo>
                <a:lnTo>
                  <a:pt x="98110" y="88464"/>
                </a:lnTo>
                <a:cubicBezTo>
                  <a:pt x="100784" y="91138"/>
                  <a:pt x="100784" y="95463"/>
                  <a:pt x="98110" y="98110"/>
                </a:cubicBezTo>
                <a:cubicBezTo>
                  <a:pt x="95435" y="100756"/>
                  <a:pt x="91110" y="100784"/>
                  <a:pt x="88464" y="98110"/>
                </a:cubicBezTo>
                <a:lnTo>
                  <a:pt x="72814" y="82460"/>
                </a:lnTo>
                <a:lnTo>
                  <a:pt x="57164" y="98110"/>
                </a:lnTo>
                <a:cubicBezTo>
                  <a:pt x="54490" y="100784"/>
                  <a:pt x="50165" y="100784"/>
                  <a:pt x="47518" y="98110"/>
                </a:cubicBezTo>
                <a:cubicBezTo>
                  <a:pt x="44872" y="95435"/>
                  <a:pt x="44844" y="91110"/>
                  <a:pt x="47518" y="88464"/>
                </a:cubicBezTo>
                <a:lnTo>
                  <a:pt x="63168" y="72814"/>
                </a:lnTo>
                <a:lnTo>
                  <a:pt x="47518" y="57164"/>
                </a:lnTo>
                <a:cubicBezTo>
                  <a:pt x="44844" y="54490"/>
                  <a:pt x="44844" y="50165"/>
                  <a:pt x="47518" y="47518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10"/>
          <p:cNvSpPr/>
          <p:nvPr/>
        </p:nvSpPr>
        <p:spPr>
          <a:xfrm>
            <a:off x="7973115" y="5317497"/>
            <a:ext cx="3696753" cy="437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Head-of-Line Blocking:</a:t>
            </a:r>
            <a:r>
              <a:rPr lang="en-US" sz="1147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One delayed request blocks all subsequent requests</a:t>
            </a:r>
            <a:endParaRPr sz="1600" b="0" i="0" u="none" strike="noStrike" cap="none" dirty="0"/>
          </a:p>
        </p:txBody>
      </p:sp>
      <p:sp>
        <p:nvSpPr>
          <p:cNvPr id="417" name="Google Shape;417;p10"/>
          <p:cNvSpPr/>
          <p:nvPr/>
        </p:nvSpPr>
        <p:spPr>
          <a:xfrm>
            <a:off x="7699956" y="5900236"/>
            <a:ext cx="145685" cy="145685"/>
          </a:xfrm>
          <a:custGeom>
            <a:avLst/>
            <a:gdLst/>
            <a:ahLst/>
            <a:cxnLst/>
            <a:rect l="l" t="t" r="r" b="b"/>
            <a:pathLst>
              <a:path w="145685" h="145685" extrusionOk="0">
                <a:moveTo>
                  <a:pt x="72842" y="145685"/>
                </a:moveTo>
                <a:cubicBezTo>
                  <a:pt x="113045" y="145685"/>
                  <a:pt x="145685" y="113045"/>
                  <a:pt x="145685" y="72842"/>
                </a:cubicBezTo>
                <a:cubicBezTo>
                  <a:pt x="145685" y="32640"/>
                  <a:pt x="113045" y="0"/>
                  <a:pt x="72842" y="0"/>
                </a:cubicBezTo>
                <a:cubicBezTo>
                  <a:pt x="32640" y="0"/>
                  <a:pt x="0" y="32640"/>
                  <a:pt x="0" y="72842"/>
                </a:cubicBezTo>
                <a:cubicBezTo>
                  <a:pt x="0" y="113045"/>
                  <a:pt x="32640" y="145685"/>
                  <a:pt x="72842" y="145685"/>
                </a:cubicBezTo>
                <a:close/>
                <a:moveTo>
                  <a:pt x="47518" y="47518"/>
                </a:moveTo>
                <a:cubicBezTo>
                  <a:pt x="50193" y="44844"/>
                  <a:pt x="54518" y="44844"/>
                  <a:pt x="57164" y="47518"/>
                </a:cubicBezTo>
                <a:lnTo>
                  <a:pt x="72814" y="63168"/>
                </a:lnTo>
                <a:lnTo>
                  <a:pt x="88464" y="47518"/>
                </a:lnTo>
                <a:cubicBezTo>
                  <a:pt x="91138" y="44844"/>
                  <a:pt x="95463" y="44844"/>
                  <a:pt x="98110" y="47518"/>
                </a:cubicBezTo>
                <a:cubicBezTo>
                  <a:pt x="100756" y="50193"/>
                  <a:pt x="100784" y="54518"/>
                  <a:pt x="98110" y="57164"/>
                </a:cubicBezTo>
                <a:lnTo>
                  <a:pt x="82460" y="72814"/>
                </a:lnTo>
                <a:lnTo>
                  <a:pt x="98110" y="88464"/>
                </a:lnTo>
                <a:cubicBezTo>
                  <a:pt x="100784" y="91138"/>
                  <a:pt x="100784" y="95463"/>
                  <a:pt x="98110" y="98110"/>
                </a:cubicBezTo>
                <a:cubicBezTo>
                  <a:pt x="95435" y="100756"/>
                  <a:pt x="91110" y="100784"/>
                  <a:pt x="88464" y="98110"/>
                </a:cubicBezTo>
                <a:lnTo>
                  <a:pt x="72814" y="82460"/>
                </a:lnTo>
                <a:lnTo>
                  <a:pt x="57164" y="98110"/>
                </a:lnTo>
                <a:cubicBezTo>
                  <a:pt x="54490" y="100784"/>
                  <a:pt x="50165" y="100784"/>
                  <a:pt x="47518" y="98110"/>
                </a:cubicBezTo>
                <a:cubicBezTo>
                  <a:pt x="44872" y="95435"/>
                  <a:pt x="44844" y="91110"/>
                  <a:pt x="47518" y="88464"/>
                </a:cubicBezTo>
                <a:lnTo>
                  <a:pt x="63168" y="72814"/>
                </a:lnTo>
                <a:lnTo>
                  <a:pt x="47518" y="57164"/>
                </a:lnTo>
                <a:cubicBezTo>
                  <a:pt x="44844" y="54490"/>
                  <a:pt x="44844" y="50165"/>
                  <a:pt x="47518" y="47518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10"/>
          <p:cNvSpPr/>
          <p:nvPr/>
        </p:nvSpPr>
        <p:spPr>
          <a:xfrm>
            <a:off x="7973115" y="5863815"/>
            <a:ext cx="3104908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Multiplexing:</a:t>
            </a:r>
            <a:r>
              <a:rPr lang="en-US" sz="1147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Responses must return in order</a:t>
            </a:r>
            <a:endParaRPr sz="1600" b="0" i="0" u="none" strike="noStrike" cap="none" dirty="0"/>
          </a:p>
        </p:txBody>
      </p:sp>
      <p:sp>
        <p:nvSpPr>
          <p:cNvPr id="419" name="Google Shape;419;p10"/>
          <p:cNvSpPr/>
          <p:nvPr/>
        </p:nvSpPr>
        <p:spPr>
          <a:xfrm>
            <a:off x="7699956" y="6228027"/>
            <a:ext cx="145685" cy="145685"/>
          </a:xfrm>
          <a:custGeom>
            <a:avLst/>
            <a:gdLst/>
            <a:ahLst/>
            <a:cxnLst/>
            <a:rect l="l" t="t" r="r" b="b"/>
            <a:pathLst>
              <a:path w="145685" h="145685" extrusionOk="0">
                <a:moveTo>
                  <a:pt x="72842" y="145685"/>
                </a:moveTo>
                <a:cubicBezTo>
                  <a:pt x="113045" y="145685"/>
                  <a:pt x="145685" y="113045"/>
                  <a:pt x="145685" y="72842"/>
                </a:cubicBezTo>
                <a:cubicBezTo>
                  <a:pt x="145685" y="32640"/>
                  <a:pt x="113045" y="0"/>
                  <a:pt x="72842" y="0"/>
                </a:cubicBezTo>
                <a:cubicBezTo>
                  <a:pt x="32640" y="0"/>
                  <a:pt x="0" y="32640"/>
                  <a:pt x="0" y="72842"/>
                </a:cubicBezTo>
                <a:cubicBezTo>
                  <a:pt x="0" y="113045"/>
                  <a:pt x="32640" y="145685"/>
                  <a:pt x="72842" y="145685"/>
                </a:cubicBezTo>
                <a:close/>
                <a:moveTo>
                  <a:pt x="47518" y="47518"/>
                </a:moveTo>
                <a:cubicBezTo>
                  <a:pt x="50193" y="44844"/>
                  <a:pt x="54518" y="44844"/>
                  <a:pt x="57164" y="47518"/>
                </a:cubicBezTo>
                <a:lnTo>
                  <a:pt x="72814" y="63168"/>
                </a:lnTo>
                <a:lnTo>
                  <a:pt x="88464" y="47518"/>
                </a:lnTo>
                <a:cubicBezTo>
                  <a:pt x="91138" y="44844"/>
                  <a:pt x="95463" y="44844"/>
                  <a:pt x="98110" y="47518"/>
                </a:cubicBezTo>
                <a:cubicBezTo>
                  <a:pt x="100756" y="50193"/>
                  <a:pt x="100784" y="54518"/>
                  <a:pt x="98110" y="57164"/>
                </a:cubicBezTo>
                <a:lnTo>
                  <a:pt x="82460" y="72814"/>
                </a:lnTo>
                <a:lnTo>
                  <a:pt x="98110" y="88464"/>
                </a:lnTo>
                <a:cubicBezTo>
                  <a:pt x="100784" y="91138"/>
                  <a:pt x="100784" y="95463"/>
                  <a:pt x="98110" y="98110"/>
                </a:cubicBezTo>
                <a:cubicBezTo>
                  <a:pt x="95435" y="100756"/>
                  <a:pt x="91110" y="100784"/>
                  <a:pt x="88464" y="98110"/>
                </a:cubicBezTo>
                <a:lnTo>
                  <a:pt x="72814" y="82460"/>
                </a:lnTo>
                <a:lnTo>
                  <a:pt x="57164" y="98110"/>
                </a:lnTo>
                <a:cubicBezTo>
                  <a:pt x="54490" y="100784"/>
                  <a:pt x="50165" y="100784"/>
                  <a:pt x="47518" y="98110"/>
                </a:cubicBezTo>
                <a:cubicBezTo>
                  <a:pt x="44872" y="95435"/>
                  <a:pt x="44844" y="91110"/>
                  <a:pt x="47518" y="88464"/>
                </a:cubicBezTo>
                <a:lnTo>
                  <a:pt x="63168" y="72814"/>
                </a:lnTo>
                <a:lnTo>
                  <a:pt x="47518" y="57164"/>
                </a:lnTo>
                <a:cubicBezTo>
                  <a:pt x="44844" y="54490"/>
                  <a:pt x="44844" y="50165"/>
                  <a:pt x="47518" y="47518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Google Shape;420;p10"/>
          <p:cNvSpPr/>
          <p:nvPr/>
        </p:nvSpPr>
        <p:spPr>
          <a:xfrm>
            <a:off x="7973115" y="6191606"/>
            <a:ext cx="3696753" cy="437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Header Compression:</a:t>
            </a:r>
            <a:r>
              <a:rPr lang="en-US" sz="1147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Redundant headers increase overhead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1"/>
          <p:cNvSpPr/>
          <p:nvPr/>
        </p:nvSpPr>
        <p:spPr>
          <a:xfrm>
            <a:off x="362318" y="362318"/>
            <a:ext cx="11539828" cy="2173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Evolution</a:t>
            </a:r>
            <a:endParaRPr sz="1600" b="0" i="0" u="none" strike="noStrike" cap="none"/>
          </a:p>
        </p:txBody>
      </p:sp>
      <p:sp>
        <p:nvSpPr>
          <p:cNvPr id="427" name="Google Shape;427;p11"/>
          <p:cNvSpPr/>
          <p:nvPr/>
        </p:nvSpPr>
        <p:spPr>
          <a:xfrm>
            <a:off x="362318" y="652172"/>
            <a:ext cx="11630407" cy="407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68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HTTP/2: Performance Revolution (2015)</a:t>
            </a:r>
            <a:endParaRPr sz="1600" b="0" i="0" u="none" strike="noStrike" cap="none"/>
          </a:p>
        </p:txBody>
      </p:sp>
      <p:sp>
        <p:nvSpPr>
          <p:cNvPr id="428" name="Google Shape;428;p11"/>
          <p:cNvSpPr/>
          <p:nvPr/>
        </p:nvSpPr>
        <p:spPr>
          <a:xfrm>
            <a:off x="366847" y="1281700"/>
            <a:ext cx="6458318" cy="3940208"/>
          </a:xfrm>
          <a:custGeom>
            <a:avLst/>
            <a:gdLst/>
            <a:ahLst/>
            <a:cxnLst/>
            <a:rect l="l" t="t" r="r" b="b"/>
            <a:pathLst>
              <a:path w="6458318" h="3940208" extrusionOk="0">
                <a:moveTo>
                  <a:pt x="144921" y="0"/>
                </a:moveTo>
                <a:lnTo>
                  <a:pt x="6313397" y="0"/>
                </a:lnTo>
                <a:cubicBezTo>
                  <a:pt x="6393435" y="0"/>
                  <a:pt x="6458318" y="64883"/>
                  <a:pt x="6458318" y="144921"/>
                </a:cubicBezTo>
                <a:lnTo>
                  <a:pt x="6458318" y="3795287"/>
                </a:lnTo>
                <a:cubicBezTo>
                  <a:pt x="6458318" y="3875325"/>
                  <a:pt x="6393435" y="3940208"/>
                  <a:pt x="6313397" y="3940208"/>
                </a:cubicBezTo>
                <a:lnTo>
                  <a:pt x="144921" y="3940208"/>
                </a:lnTo>
                <a:cubicBezTo>
                  <a:pt x="64883" y="3940208"/>
                  <a:pt x="0" y="3875325"/>
                  <a:pt x="0" y="3795287"/>
                </a:cubicBezTo>
                <a:lnTo>
                  <a:pt x="0" y="144921"/>
                </a:lnTo>
                <a:cubicBezTo>
                  <a:pt x="0" y="64937"/>
                  <a:pt x="64937" y="0"/>
                  <a:pt x="144921" y="0"/>
                </a:cubicBezTo>
                <a:close/>
              </a:path>
            </a:pathLst>
          </a:custGeom>
          <a:gradFill>
            <a:gsLst>
              <a:gs pos="0">
                <a:srgbClr val="B89A6B">
                  <a:alpha val="20000"/>
                </a:srgbClr>
              </a:gs>
              <a:gs pos="100000">
                <a:srgbClr val="B89A6B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11"/>
          <p:cNvSpPr/>
          <p:nvPr/>
        </p:nvSpPr>
        <p:spPr>
          <a:xfrm>
            <a:off x="588767" y="1503620"/>
            <a:ext cx="579709" cy="579709"/>
          </a:xfrm>
          <a:custGeom>
            <a:avLst/>
            <a:gdLst/>
            <a:ahLst/>
            <a:cxnLst/>
            <a:rect l="l" t="t" r="r" b="b"/>
            <a:pathLst>
              <a:path w="579709" h="579709" extrusionOk="0">
                <a:moveTo>
                  <a:pt x="108695" y="0"/>
                </a:moveTo>
                <a:lnTo>
                  <a:pt x="471013" y="0"/>
                </a:lnTo>
                <a:cubicBezTo>
                  <a:pt x="531044" y="0"/>
                  <a:pt x="579709" y="48665"/>
                  <a:pt x="579709" y="108695"/>
                </a:cubicBezTo>
                <a:lnTo>
                  <a:pt x="579709" y="471013"/>
                </a:lnTo>
                <a:cubicBezTo>
                  <a:pt x="579709" y="531044"/>
                  <a:pt x="531044" y="579709"/>
                  <a:pt x="471013" y="579709"/>
                </a:cubicBezTo>
                <a:lnTo>
                  <a:pt x="108695" y="579709"/>
                </a:lnTo>
                <a:cubicBezTo>
                  <a:pt x="48665" y="579709"/>
                  <a:pt x="0" y="531044"/>
                  <a:pt x="0" y="471013"/>
                </a:cubicBezTo>
                <a:lnTo>
                  <a:pt x="0" y="108695"/>
                </a:lnTo>
                <a:cubicBezTo>
                  <a:pt x="0" y="48665"/>
                  <a:pt x="48665" y="0"/>
                  <a:pt x="108695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0" name="Google Shape;430;p11"/>
          <p:cNvSpPr/>
          <p:nvPr/>
        </p:nvSpPr>
        <p:spPr>
          <a:xfrm>
            <a:off x="534419" y="1503620"/>
            <a:ext cx="688404" cy="579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12" b="1" i="0" u="none" strike="noStrike" cap="none">
                <a:solidFill>
                  <a:srgbClr val="1A1D21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2</a:t>
            </a:r>
            <a:endParaRPr sz="1600" b="0" i="0" u="none" strike="noStrike" cap="none"/>
          </a:p>
        </p:txBody>
      </p:sp>
      <p:sp>
        <p:nvSpPr>
          <p:cNvPr id="431" name="Google Shape;431;p11"/>
          <p:cNvSpPr/>
          <p:nvPr/>
        </p:nvSpPr>
        <p:spPr>
          <a:xfrm>
            <a:off x="1313403" y="1539851"/>
            <a:ext cx="1114128" cy="289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12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HTTP/2</a:t>
            </a:r>
            <a:endParaRPr sz="1600" b="0" i="0" u="none" strike="noStrike" cap="none"/>
          </a:p>
        </p:txBody>
      </p:sp>
      <p:sp>
        <p:nvSpPr>
          <p:cNvPr id="432" name="Google Shape;432;p11"/>
          <p:cNvSpPr/>
          <p:nvPr/>
        </p:nvSpPr>
        <p:spPr>
          <a:xfrm>
            <a:off x="1313403" y="1829706"/>
            <a:ext cx="1077896" cy="2173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b="0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2015 • RFC 7540</a:t>
            </a:r>
            <a:endParaRPr sz="1600" b="0" i="0" u="none" strike="noStrike" cap="none"/>
          </a:p>
        </p:txBody>
      </p:sp>
      <p:sp>
        <p:nvSpPr>
          <p:cNvPr id="433" name="Google Shape;433;p11"/>
          <p:cNvSpPr/>
          <p:nvPr/>
        </p:nvSpPr>
        <p:spPr>
          <a:xfrm>
            <a:off x="606883" y="2264487"/>
            <a:ext cx="5996363" cy="815215"/>
          </a:xfrm>
          <a:custGeom>
            <a:avLst/>
            <a:gdLst/>
            <a:ahLst/>
            <a:cxnLst/>
            <a:rect l="l" t="t" r="r" b="b"/>
            <a:pathLst>
              <a:path w="5996363" h="815215" extrusionOk="0">
                <a:moveTo>
                  <a:pt x="0" y="0"/>
                </a:moveTo>
                <a:lnTo>
                  <a:pt x="5887670" y="0"/>
                </a:lnTo>
                <a:cubicBezTo>
                  <a:pt x="5947699" y="0"/>
                  <a:pt x="5996363" y="48663"/>
                  <a:pt x="5996363" y="108693"/>
                </a:cubicBezTo>
                <a:lnTo>
                  <a:pt x="5996363" y="706523"/>
                </a:lnTo>
                <a:cubicBezTo>
                  <a:pt x="5996363" y="766552"/>
                  <a:pt x="5947699" y="815215"/>
                  <a:pt x="5887670" y="815215"/>
                </a:cubicBezTo>
                <a:lnTo>
                  <a:pt x="0" y="815215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11"/>
          <p:cNvSpPr/>
          <p:nvPr/>
        </p:nvSpPr>
        <p:spPr>
          <a:xfrm>
            <a:off x="606883" y="2264487"/>
            <a:ext cx="36232" cy="815215"/>
          </a:xfrm>
          <a:custGeom>
            <a:avLst/>
            <a:gdLst/>
            <a:ahLst/>
            <a:cxnLst/>
            <a:rect l="l" t="t" r="r" b="b"/>
            <a:pathLst>
              <a:path w="36232" h="815215" extrusionOk="0">
                <a:moveTo>
                  <a:pt x="0" y="0"/>
                </a:moveTo>
                <a:lnTo>
                  <a:pt x="36232" y="0"/>
                </a:lnTo>
                <a:lnTo>
                  <a:pt x="36232" y="815215"/>
                </a:lnTo>
                <a:lnTo>
                  <a:pt x="0" y="815215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35" name="Google Shape;435;p11"/>
          <p:cNvSpPr/>
          <p:nvPr/>
        </p:nvSpPr>
        <p:spPr>
          <a:xfrm>
            <a:off x="769926" y="2409415"/>
            <a:ext cx="362318" cy="362318"/>
          </a:xfrm>
          <a:custGeom>
            <a:avLst/>
            <a:gdLst/>
            <a:ahLst/>
            <a:cxnLst/>
            <a:rect l="l" t="t" r="r" b="b"/>
            <a:pathLst>
              <a:path w="362318" h="362318" extrusionOk="0">
                <a:moveTo>
                  <a:pt x="72464" y="0"/>
                </a:moveTo>
                <a:lnTo>
                  <a:pt x="289854" y="0"/>
                </a:lnTo>
                <a:cubicBezTo>
                  <a:pt x="329875" y="0"/>
                  <a:pt x="362318" y="32443"/>
                  <a:pt x="362318" y="72464"/>
                </a:cubicBezTo>
                <a:lnTo>
                  <a:pt x="362318" y="289854"/>
                </a:lnTo>
                <a:cubicBezTo>
                  <a:pt x="362318" y="329875"/>
                  <a:pt x="329875" y="362318"/>
                  <a:pt x="289854" y="362318"/>
                </a:cubicBezTo>
                <a:lnTo>
                  <a:pt x="72464" y="362318"/>
                </a:lnTo>
                <a:cubicBezTo>
                  <a:pt x="32443" y="362318"/>
                  <a:pt x="0" y="329875"/>
                  <a:pt x="0" y="289854"/>
                </a:cubicBezTo>
                <a:lnTo>
                  <a:pt x="0" y="72464"/>
                </a:lnTo>
                <a:cubicBezTo>
                  <a:pt x="0" y="32443"/>
                  <a:pt x="32443" y="0"/>
                  <a:pt x="72464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11"/>
          <p:cNvSpPr/>
          <p:nvPr/>
        </p:nvSpPr>
        <p:spPr>
          <a:xfrm>
            <a:off x="871828" y="2509052"/>
            <a:ext cx="163043" cy="163043"/>
          </a:xfrm>
          <a:custGeom>
            <a:avLst/>
            <a:gdLst/>
            <a:ahLst/>
            <a:cxnLst/>
            <a:rect l="l" t="t" r="r" b="b"/>
            <a:pathLst>
              <a:path w="163043" h="163043" extrusionOk="0">
                <a:moveTo>
                  <a:pt x="74038" y="1656"/>
                </a:moveTo>
                <a:cubicBezTo>
                  <a:pt x="78783" y="-541"/>
                  <a:pt x="84260" y="-541"/>
                  <a:pt x="89005" y="1656"/>
                </a:cubicBezTo>
                <a:lnTo>
                  <a:pt x="158617" y="33819"/>
                </a:lnTo>
                <a:cubicBezTo>
                  <a:pt x="161323" y="35061"/>
                  <a:pt x="163043" y="37767"/>
                  <a:pt x="163043" y="40761"/>
                </a:cubicBezTo>
                <a:cubicBezTo>
                  <a:pt x="163043" y="43754"/>
                  <a:pt x="161323" y="46461"/>
                  <a:pt x="158617" y="47703"/>
                </a:cubicBezTo>
                <a:lnTo>
                  <a:pt x="89005" y="79866"/>
                </a:lnTo>
                <a:cubicBezTo>
                  <a:pt x="84260" y="82063"/>
                  <a:pt x="78783" y="82063"/>
                  <a:pt x="74038" y="79866"/>
                </a:cubicBezTo>
                <a:lnTo>
                  <a:pt x="4426" y="47703"/>
                </a:lnTo>
                <a:cubicBezTo>
                  <a:pt x="1720" y="46429"/>
                  <a:pt x="0" y="43722"/>
                  <a:pt x="0" y="40761"/>
                </a:cubicBezTo>
                <a:cubicBezTo>
                  <a:pt x="0" y="37799"/>
                  <a:pt x="1720" y="35061"/>
                  <a:pt x="4426" y="33819"/>
                </a:cubicBezTo>
                <a:lnTo>
                  <a:pt x="74038" y="1656"/>
                </a:lnTo>
                <a:close/>
                <a:moveTo>
                  <a:pt x="15317" y="69548"/>
                </a:moveTo>
                <a:lnTo>
                  <a:pt x="67637" y="93718"/>
                </a:lnTo>
                <a:cubicBezTo>
                  <a:pt x="76458" y="97794"/>
                  <a:pt x="86617" y="97794"/>
                  <a:pt x="95438" y="93718"/>
                </a:cubicBezTo>
                <a:lnTo>
                  <a:pt x="147758" y="69548"/>
                </a:lnTo>
                <a:lnTo>
                  <a:pt x="158617" y="74579"/>
                </a:lnTo>
                <a:cubicBezTo>
                  <a:pt x="161323" y="75821"/>
                  <a:pt x="163043" y="78528"/>
                  <a:pt x="163043" y="81522"/>
                </a:cubicBezTo>
                <a:cubicBezTo>
                  <a:pt x="163043" y="84515"/>
                  <a:pt x="161323" y="87222"/>
                  <a:pt x="158617" y="88464"/>
                </a:cubicBezTo>
                <a:lnTo>
                  <a:pt x="89005" y="120626"/>
                </a:lnTo>
                <a:cubicBezTo>
                  <a:pt x="84260" y="122824"/>
                  <a:pt x="78783" y="122824"/>
                  <a:pt x="74038" y="120626"/>
                </a:cubicBezTo>
                <a:lnTo>
                  <a:pt x="4426" y="88464"/>
                </a:lnTo>
                <a:cubicBezTo>
                  <a:pt x="1720" y="87190"/>
                  <a:pt x="0" y="84483"/>
                  <a:pt x="0" y="81522"/>
                </a:cubicBezTo>
                <a:cubicBezTo>
                  <a:pt x="0" y="78560"/>
                  <a:pt x="1720" y="75821"/>
                  <a:pt x="4426" y="74579"/>
                </a:cubicBezTo>
                <a:lnTo>
                  <a:pt x="15285" y="69548"/>
                </a:lnTo>
                <a:close/>
                <a:moveTo>
                  <a:pt x="4426" y="115340"/>
                </a:moveTo>
                <a:lnTo>
                  <a:pt x="15285" y="110309"/>
                </a:lnTo>
                <a:lnTo>
                  <a:pt x="67606" y="134479"/>
                </a:lnTo>
                <a:cubicBezTo>
                  <a:pt x="76426" y="138555"/>
                  <a:pt x="86585" y="138555"/>
                  <a:pt x="95406" y="134479"/>
                </a:cubicBezTo>
                <a:lnTo>
                  <a:pt x="147726" y="110309"/>
                </a:lnTo>
                <a:lnTo>
                  <a:pt x="158585" y="115340"/>
                </a:lnTo>
                <a:cubicBezTo>
                  <a:pt x="161292" y="116582"/>
                  <a:pt x="163011" y="119289"/>
                  <a:pt x="163011" y="122282"/>
                </a:cubicBezTo>
                <a:cubicBezTo>
                  <a:pt x="163011" y="125276"/>
                  <a:pt x="161292" y="127982"/>
                  <a:pt x="158585" y="129224"/>
                </a:cubicBezTo>
                <a:lnTo>
                  <a:pt x="88973" y="161387"/>
                </a:lnTo>
                <a:cubicBezTo>
                  <a:pt x="84228" y="163584"/>
                  <a:pt x="78751" y="163584"/>
                  <a:pt x="74006" y="161387"/>
                </a:cubicBezTo>
                <a:lnTo>
                  <a:pt x="4426" y="129224"/>
                </a:lnTo>
                <a:cubicBezTo>
                  <a:pt x="1720" y="127951"/>
                  <a:pt x="0" y="125244"/>
                  <a:pt x="0" y="122282"/>
                </a:cubicBezTo>
                <a:cubicBezTo>
                  <a:pt x="0" y="119321"/>
                  <a:pt x="1720" y="116582"/>
                  <a:pt x="4426" y="115340"/>
                </a:cubicBezTo>
                <a:close/>
              </a:path>
            </a:pathLst>
          </a:custGeom>
          <a:solidFill>
            <a:srgbClr val="1A1D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7" name="Google Shape;437;p11"/>
          <p:cNvSpPr/>
          <p:nvPr/>
        </p:nvSpPr>
        <p:spPr>
          <a:xfrm>
            <a:off x="1240939" y="2409415"/>
            <a:ext cx="5081510" cy="25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4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Multiplexing</a:t>
            </a:r>
            <a:endParaRPr sz="1600" b="0" i="0" u="none" strike="noStrike" cap="none"/>
          </a:p>
        </p:txBody>
      </p:sp>
      <p:sp>
        <p:nvSpPr>
          <p:cNvPr id="438" name="Google Shape;438;p11"/>
          <p:cNvSpPr/>
          <p:nvPr/>
        </p:nvSpPr>
        <p:spPr>
          <a:xfrm>
            <a:off x="1240939" y="2699269"/>
            <a:ext cx="5072452" cy="235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Parallel HTTP requests over single TCP connection—no more sequential blocking</a:t>
            </a:r>
            <a:endParaRPr sz="1600" b="0" i="0" u="none" strike="noStrike" cap="none"/>
          </a:p>
        </p:txBody>
      </p:sp>
      <p:sp>
        <p:nvSpPr>
          <p:cNvPr id="439" name="Google Shape;439;p11"/>
          <p:cNvSpPr/>
          <p:nvPr/>
        </p:nvSpPr>
        <p:spPr>
          <a:xfrm>
            <a:off x="606883" y="3224630"/>
            <a:ext cx="5996363" cy="815215"/>
          </a:xfrm>
          <a:custGeom>
            <a:avLst/>
            <a:gdLst/>
            <a:ahLst/>
            <a:cxnLst/>
            <a:rect l="l" t="t" r="r" b="b"/>
            <a:pathLst>
              <a:path w="5996363" h="815215" extrusionOk="0">
                <a:moveTo>
                  <a:pt x="0" y="0"/>
                </a:moveTo>
                <a:lnTo>
                  <a:pt x="5887670" y="0"/>
                </a:lnTo>
                <a:cubicBezTo>
                  <a:pt x="5947699" y="0"/>
                  <a:pt x="5996363" y="48663"/>
                  <a:pt x="5996363" y="108693"/>
                </a:cubicBezTo>
                <a:lnTo>
                  <a:pt x="5996363" y="706523"/>
                </a:lnTo>
                <a:cubicBezTo>
                  <a:pt x="5996363" y="766552"/>
                  <a:pt x="5947699" y="815215"/>
                  <a:pt x="5887670" y="815215"/>
                </a:cubicBezTo>
                <a:lnTo>
                  <a:pt x="0" y="815215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0" name="Google Shape;440;p11"/>
          <p:cNvSpPr/>
          <p:nvPr/>
        </p:nvSpPr>
        <p:spPr>
          <a:xfrm>
            <a:off x="606883" y="3224630"/>
            <a:ext cx="36232" cy="815215"/>
          </a:xfrm>
          <a:custGeom>
            <a:avLst/>
            <a:gdLst/>
            <a:ahLst/>
            <a:cxnLst/>
            <a:rect l="l" t="t" r="r" b="b"/>
            <a:pathLst>
              <a:path w="36232" h="815215" extrusionOk="0">
                <a:moveTo>
                  <a:pt x="0" y="0"/>
                </a:moveTo>
                <a:lnTo>
                  <a:pt x="36232" y="0"/>
                </a:lnTo>
                <a:lnTo>
                  <a:pt x="36232" y="815215"/>
                </a:lnTo>
                <a:lnTo>
                  <a:pt x="0" y="815215"/>
                </a:lnTo>
                <a:lnTo>
                  <a:pt x="0" y="0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41" name="Google Shape;441;p11"/>
          <p:cNvSpPr/>
          <p:nvPr/>
        </p:nvSpPr>
        <p:spPr>
          <a:xfrm>
            <a:off x="769926" y="3369557"/>
            <a:ext cx="362318" cy="362318"/>
          </a:xfrm>
          <a:custGeom>
            <a:avLst/>
            <a:gdLst/>
            <a:ahLst/>
            <a:cxnLst/>
            <a:rect l="l" t="t" r="r" b="b"/>
            <a:pathLst>
              <a:path w="362318" h="362318" extrusionOk="0">
                <a:moveTo>
                  <a:pt x="72464" y="0"/>
                </a:moveTo>
                <a:lnTo>
                  <a:pt x="289854" y="0"/>
                </a:lnTo>
                <a:cubicBezTo>
                  <a:pt x="329875" y="0"/>
                  <a:pt x="362318" y="32443"/>
                  <a:pt x="362318" y="72464"/>
                </a:cubicBezTo>
                <a:lnTo>
                  <a:pt x="362318" y="289854"/>
                </a:lnTo>
                <a:cubicBezTo>
                  <a:pt x="362318" y="329875"/>
                  <a:pt x="329875" y="362318"/>
                  <a:pt x="289854" y="362318"/>
                </a:cubicBezTo>
                <a:lnTo>
                  <a:pt x="72464" y="362318"/>
                </a:lnTo>
                <a:cubicBezTo>
                  <a:pt x="32443" y="362318"/>
                  <a:pt x="0" y="329875"/>
                  <a:pt x="0" y="289854"/>
                </a:cubicBezTo>
                <a:lnTo>
                  <a:pt x="0" y="72464"/>
                </a:lnTo>
                <a:cubicBezTo>
                  <a:pt x="0" y="32443"/>
                  <a:pt x="32443" y="0"/>
                  <a:pt x="72464" y="0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2" name="Google Shape;442;p11"/>
          <p:cNvSpPr/>
          <p:nvPr/>
        </p:nvSpPr>
        <p:spPr>
          <a:xfrm>
            <a:off x="871828" y="3469195"/>
            <a:ext cx="163043" cy="163043"/>
          </a:xfrm>
          <a:custGeom>
            <a:avLst/>
            <a:gdLst/>
            <a:ahLst/>
            <a:cxnLst/>
            <a:rect l="l" t="t" r="r" b="b"/>
            <a:pathLst>
              <a:path w="163043" h="163043" extrusionOk="0">
                <a:moveTo>
                  <a:pt x="139956" y="2229"/>
                </a:moveTo>
                <a:cubicBezTo>
                  <a:pt x="142949" y="-764"/>
                  <a:pt x="147790" y="-764"/>
                  <a:pt x="150751" y="2229"/>
                </a:cubicBezTo>
                <a:lnTo>
                  <a:pt x="160941" y="12419"/>
                </a:lnTo>
                <a:cubicBezTo>
                  <a:pt x="163935" y="15413"/>
                  <a:pt x="163935" y="20253"/>
                  <a:pt x="160941" y="23215"/>
                </a:cubicBezTo>
                <a:lnTo>
                  <a:pt x="133237" y="50919"/>
                </a:lnTo>
                <a:lnTo>
                  <a:pt x="145656" y="63338"/>
                </a:lnTo>
                <a:cubicBezTo>
                  <a:pt x="147853" y="65536"/>
                  <a:pt x="148490" y="68816"/>
                  <a:pt x="147312" y="71682"/>
                </a:cubicBezTo>
                <a:cubicBezTo>
                  <a:pt x="146134" y="74548"/>
                  <a:pt x="143363" y="76426"/>
                  <a:pt x="140274" y="76426"/>
                </a:cubicBezTo>
                <a:lnTo>
                  <a:pt x="94419" y="76426"/>
                </a:lnTo>
                <a:cubicBezTo>
                  <a:pt x="90183" y="76426"/>
                  <a:pt x="86776" y="73019"/>
                  <a:pt x="86776" y="68784"/>
                </a:cubicBezTo>
                <a:lnTo>
                  <a:pt x="86776" y="22928"/>
                </a:lnTo>
                <a:cubicBezTo>
                  <a:pt x="86776" y="19839"/>
                  <a:pt x="88623" y="17037"/>
                  <a:pt x="91489" y="15858"/>
                </a:cubicBezTo>
                <a:cubicBezTo>
                  <a:pt x="94355" y="14680"/>
                  <a:pt x="97635" y="15317"/>
                  <a:pt x="99832" y="17514"/>
                </a:cubicBezTo>
                <a:lnTo>
                  <a:pt x="112251" y="29934"/>
                </a:lnTo>
                <a:lnTo>
                  <a:pt x="139956" y="2229"/>
                </a:lnTo>
                <a:close/>
                <a:moveTo>
                  <a:pt x="23087" y="86617"/>
                </a:moveTo>
                <a:lnTo>
                  <a:pt x="68943" y="86617"/>
                </a:lnTo>
                <a:cubicBezTo>
                  <a:pt x="73178" y="86617"/>
                  <a:pt x="76586" y="90024"/>
                  <a:pt x="76586" y="94259"/>
                </a:cubicBezTo>
                <a:lnTo>
                  <a:pt x="76586" y="140115"/>
                </a:lnTo>
                <a:cubicBezTo>
                  <a:pt x="76586" y="143204"/>
                  <a:pt x="74739" y="146006"/>
                  <a:pt x="71873" y="147185"/>
                </a:cubicBezTo>
                <a:cubicBezTo>
                  <a:pt x="69007" y="148363"/>
                  <a:pt x="65727" y="147726"/>
                  <a:pt x="63529" y="145529"/>
                </a:cubicBezTo>
                <a:lnTo>
                  <a:pt x="51110" y="133109"/>
                </a:lnTo>
                <a:lnTo>
                  <a:pt x="23406" y="160814"/>
                </a:lnTo>
                <a:cubicBezTo>
                  <a:pt x="20412" y="163807"/>
                  <a:pt x="15572" y="163807"/>
                  <a:pt x="12610" y="160814"/>
                </a:cubicBezTo>
                <a:lnTo>
                  <a:pt x="2420" y="150624"/>
                </a:lnTo>
                <a:cubicBezTo>
                  <a:pt x="-573" y="147630"/>
                  <a:pt x="-573" y="142790"/>
                  <a:pt x="2420" y="139829"/>
                </a:cubicBezTo>
                <a:lnTo>
                  <a:pt x="30125" y="112124"/>
                </a:lnTo>
                <a:lnTo>
                  <a:pt x="17705" y="99705"/>
                </a:lnTo>
                <a:cubicBezTo>
                  <a:pt x="15508" y="97507"/>
                  <a:pt x="14871" y="94227"/>
                  <a:pt x="16050" y="91361"/>
                </a:cubicBezTo>
                <a:cubicBezTo>
                  <a:pt x="17228" y="88495"/>
                  <a:pt x="19998" y="86617"/>
                  <a:pt x="23087" y="86617"/>
                </a:cubicBezTo>
                <a:close/>
              </a:path>
            </a:pathLst>
          </a:custGeom>
          <a:solidFill>
            <a:srgbClr val="E0E2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3" name="Google Shape;443;p11"/>
          <p:cNvSpPr/>
          <p:nvPr/>
        </p:nvSpPr>
        <p:spPr>
          <a:xfrm>
            <a:off x="1240939" y="3369557"/>
            <a:ext cx="3786223" cy="25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4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Header Compression</a:t>
            </a:r>
            <a:endParaRPr sz="1600" b="0" i="0" u="none" strike="noStrike" cap="none"/>
          </a:p>
        </p:txBody>
      </p:sp>
      <p:sp>
        <p:nvSpPr>
          <p:cNvPr id="444" name="Google Shape;444;p11"/>
          <p:cNvSpPr/>
          <p:nvPr/>
        </p:nvSpPr>
        <p:spPr>
          <a:xfrm>
            <a:off x="1240939" y="3659412"/>
            <a:ext cx="3777165" cy="235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HPACK compression reduces header overhead significantly</a:t>
            </a:r>
            <a:endParaRPr sz="1600" b="0" i="0" u="none" strike="noStrike" cap="none"/>
          </a:p>
        </p:txBody>
      </p:sp>
      <p:sp>
        <p:nvSpPr>
          <p:cNvPr id="445" name="Google Shape;445;p11"/>
          <p:cNvSpPr/>
          <p:nvPr/>
        </p:nvSpPr>
        <p:spPr>
          <a:xfrm>
            <a:off x="606883" y="4184773"/>
            <a:ext cx="5996363" cy="815215"/>
          </a:xfrm>
          <a:custGeom>
            <a:avLst/>
            <a:gdLst/>
            <a:ahLst/>
            <a:cxnLst/>
            <a:rect l="l" t="t" r="r" b="b"/>
            <a:pathLst>
              <a:path w="5996363" h="815215" extrusionOk="0">
                <a:moveTo>
                  <a:pt x="0" y="0"/>
                </a:moveTo>
                <a:lnTo>
                  <a:pt x="5887670" y="0"/>
                </a:lnTo>
                <a:cubicBezTo>
                  <a:pt x="5947699" y="0"/>
                  <a:pt x="5996363" y="48663"/>
                  <a:pt x="5996363" y="108693"/>
                </a:cubicBezTo>
                <a:lnTo>
                  <a:pt x="5996363" y="706523"/>
                </a:lnTo>
                <a:cubicBezTo>
                  <a:pt x="5996363" y="766552"/>
                  <a:pt x="5947699" y="815215"/>
                  <a:pt x="5887670" y="815215"/>
                </a:cubicBezTo>
                <a:lnTo>
                  <a:pt x="0" y="815215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6" name="Google Shape;446;p11"/>
          <p:cNvSpPr/>
          <p:nvPr/>
        </p:nvSpPr>
        <p:spPr>
          <a:xfrm>
            <a:off x="606883" y="4184773"/>
            <a:ext cx="36232" cy="815215"/>
          </a:xfrm>
          <a:custGeom>
            <a:avLst/>
            <a:gdLst/>
            <a:ahLst/>
            <a:cxnLst/>
            <a:rect l="l" t="t" r="r" b="b"/>
            <a:pathLst>
              <a:path w="36232" h="815215" extrusionOk="0">
                <a:moveTo>
                  <a:pt x="0" y="0"/>
                </a:moveTo>
                <a:lnTo>
                  <a:pt x="36232" y="0"/>
                </a:lnTo>
                <a:lnTo>
                  <a:pt x="36232" y="815215"/>
                </a:lnTo>
                <a:lnTo>
                  <a:pt x="0" y="815215"/>
                </a:lnTo>
                <a:lnTo>
                  <a:pt x="0" y="0"/>
                </a:ln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47" name="Google Shape;447;p11"/>
          <p:cNvSpPr/>
          <p:nvPr/>
        </p:nvSpPr>
        <p:spPr>
          <a:xfrm>
            <a:off x="769926" y="4329700"/>
            <a:ext cx="362318" cy="362318"/>
          </a:xfrm>
          <a:custGeom>
            <a:avLst/>
            <a:gdLst/>
            <a:ahLst/>
            <a:cxnLst/>
            <a:rect l="l" t="t" r="r" b="b"/>
            <a:pathLst>
              <a:path w="362318" h="362318" extrusionOk="0">
                <a:moveTo>
                  <a:pt x="72464" y="0"/>
                </a:moveTo>
                <a:lnTo>
                  <a:pt x="289854" y="0"/>
                </a:lnTo>
                <a:cubicBezTo>
                  <a:pt x="329875" y="0"/>
                  <a:pt x="362318" y="32443"/>
                  <a:pt x="362318" y="72464"/>
                </a:cubicBezTo>
                <a:lnTo>
                  <a:pt x="362318" y="289854"/>
                </a:lnTo>
                <a:cubicBezTo>
                  <a:pt x="362318" y="329875"/>
                  <a:pt x="329875" y="362318"/>
                  <a:pt x="289854" y="362318"/>
                </a:cubicBezTo>
                <a:lnTo>
                  <a:pt x="72464" y="362318"/>
                </a:lnTo>
                <a:cubicBezTo>
                  <a:pt x="32443" y="362318"/>
                  <a:pt x="0" y="329875"/>
                  <a:pt x="0" y="289854"/>
                </a:cubicBezTo>
                <a:lnTo>
                  <a:pt x="0" y="72464"/>
                </a:lnTo>
                <a:cubicBezTo>
                  <a:pt x="0" y="32443"/>
                  <a:pt x="32443" y="0"/>
                  <a:pt x="72464" y="0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1"/>
          <p:cNvSpPr/>
          <p:nvPr/>
        </p:nvSpPr>
        <p:spPr>
          <a:xfrm>
            <a:off x="861637" y="4429337"/>
            <a:ext cx="183423" cy="163043"/>
          </a:xfrm>
          <a:custGeom>
            <a:avLst/>
            <a:gdLst/>
            <a:ahLst/>
            <a:cxnLst/>
            <a:rect l="l" t="t" r="r" b="b"/>
            <a:pathLst>
              <a:path w="183423" h="163043" extrusionOk="0">
                <a:moveTo>
                  <a:pt x="45856" y="152853"/>
                </a:moveTo>
                <a:cubicBezTo>
                  <a:pt x="20540" y="152853"/>
                  <a:pt x="0" y="132313"/>
                  <a:pt x="0" y="106997"/>
                </a:cubicBezTo>
                <a:cubicBezTo>
                  <a:pt x="0" y="86808"/>
                  <a:pt x="13056" y="69675"/>
                  <a:pt x="31176" y="63529"/>
                </a:cubicBezTo>
                <a:cubicBezTo>
                  <a:pt x="30762" y="61077"/>
                  <a:pt x="30571" y="58594"/>
                  <a:pt x="30571" y="56046"/>
                </a:cubicBezTo>
                <a:cubicBezTo>
                  <a:pt x="30571" y="30730"/>
                  <a:pt x="51110" y="10190"/>
                  <a:pt x="76426" y="10190"/>
                </a:cubicBezTo>
                <a:cubicBezTo>
                  <a:pt x="94068" y="10190"/>
                  <a:pt x="109385" y="20157"/>
                  <a:pt x="117060" y="34742"/>
                </a:cubicBezTo>
                <a:cubicBezTo>
                  <a:pt x="121582" y="32099"/>
                  <a:pt x="126868" y="30571"/>
                  <a:pt x="132473" y="30571"/>
                </a:cubicBezTo>
                <a:cubicBezTo>
                  <a:pt x="149350" y="30571"/>
                  <a:pt x="163043" y="44264"/>
                  <a:pt x="163043" y="61141"/>
                </a:cubicBezTo>
                <a:cubicBezTo>
                  <a:pt x="163043" y="66141"/>
                  <a:pt x="161833" y="70886"/>
                  <a:pt x="159699" y="75057"/>
                </a:cubicBezTo>
                <a:cubicBezTo>
                  <a:pt x="173711" y="81522"/>
                  <a:pt x="183423" y="95660"/>
                  <a:pt x="183423" y="112092"/>
                </a:cubicBezTo>
                <a:cubicBezTo>
                  <a:pt x="183423" y="134606"/>
                  <a:pt x="165177" y="152853"/>
                  <a:pt x="142663" y="152853"/>
                </a:cubicBezTo>
                <a:lnTo>
                  <a:pt x="45856" y="152853"/>
                </a:lnTo>
                <a:close/>
                <a:moveTo>
                  <a:pt x="97125" y="60823"/>
                </a:moveTo>
                <a:cubicBezTo>
                  <a:pt x="94132" y="57829"/>
                  <a:pt x="89292" y="57829"/>
                  <a:pt x="86330" y="60823"/>
                </a:cubicBezTo>
                <a:lnTo>
                  <a:pt x="63402" y="83751"/>
                </a:lnTo>
                <a:cubicBezTo>
                  <a:pt x="60409" y="86744"/>
                  <a:pt x="60409" y="91584"/>
                  <a:pt x="63402" y="94546"/>
                </a:cubicBezTo>
                <a:cubicBezTo>
                  <a:pt x="66395" y="97507"/>
                  <a:pt x="71236" y="97539"/>
                  <a:pt x="74197" y="94546"/>
                </a:cubicBezTo>
                <a:lnTo>
                  <a:pt x="84069" y="84674"/>
                </a:lnTo>
                <a:lnTo>
                  <a:pt x="84069" y="117187"/>
                </a:lnTo>
                <a:cubicBezTo>
                  <a:pt x="84069" y="121423"/>
                  <a:pt x="87476" y="124830"/>
                  <a:pt x="91712" y="124830"/>
                </a:cubicBezTo>
                <a:cubicBezTo>
                  <a:pt x="95947" y="124830"/>
                  <a:pt x="99354" y="121423"/>
                  <a:pt x="99354" y="117187"/>
                </a:cubicBezTo>
                <a:lnTo>
                  <a:pt x="99354" y="84674"/>
                </a:lnTo>
                <a:lnTo>
                  <a:pt x="109226" y="94546"/>
                </a:lnTo>
                <a:cubicBezTo>
                  <a:pt x="112220" y="97539"/>
                  <a:pt x="117060" y="97539"/>
                  <a:pt x="120021" y="94546"/>
                </a:cubicBezTo>
                <a:cubicBezTo>
                  <a:pt x="122983" y="91553"/>
                  <a:pt x="123015" y="86712"/>
                  <a:pt x="120021" y="83751"/>
                </a:cubicBezTo>
                <a:lnTo>
                  <a:pt x="97093" y="60823"/>
                </a:lnTo>
                <a:close/>
              </a:path>
            </a:pathLst>
          </a:custGeom>
          <a:solidFill>
            <a:srgbClr val="E0E2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11"/>
          <p:cNvSpPr/>
          <p:nvPr/>
        </p:nvSpPr>
        <p:spPr>
          <a:xfrm>
            <a:off x="1240939" y="4329700"/>
            <a:ext cx="3487311" cy="25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4" b="1" i="0" u="none" strike="noStrike" cap="none" dirty="0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Server Push (Server </a:t>
            </a:r>
            <a:r>
              <a:rPr lang="en-US" sz="1284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Sent Events ?? ) </a:t>
            </a:r>
            <a:r>
              <a:rPr lang="en-US" sz="1284" b="1" i="0" u="none" strike="noStrike" cap="none" dirty="0">
                <a:solidFill>
                  <a:srgbClr val="92D050"/>
                </a:solidFill>
                <a:latin typeface="Liter"/>
                <a:ea typeface="Liter"/>
                <a:cs typeface="Liter"/>
                <a:sym typeface="Liter"/>
              </a:rPr>
              <a:t>*** IMP</a:t>
            </a:r>
            <a:endParaRPr sz="1600" b="0" i="0" u="none" strike="noStrike" cap="none" dirty="0">
              <a:solidFill>
                <a:srgbClr val="92D050"/>
              </a:solidFill>
            </a:endParaRPr>
          </a:p>
        </p:txBody>
      </p:sp>
      <p:sp>
        <p:nvSpPr>
          <p:cNvPr id="450" name="Google Shape;450;p11"/>
          <p:cNvSpPr/>
          <p:nvPr/>
        </p:nvSpPr>
        <p:spPr>
          <a:xfrm>
            <a:off x="1240939" y="4619554"/>
            <a:ext cx="3478253" cy="235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Server can push resources before client requests them</a:t>
            </a:r>
            <a:endParaRPr sz="1600" b="0" i="0" u="none" strike="noStrike" cap="none"/>
          </a:p>
        </p:txBody>
      </p:sp>
      <p:sp>
        <p:nvSpPr>
          <p:cNvPr id="451" name="Google Shape;451;p11"/>
          <p:cNvSpPr/>
          <p:nvPr/>
        </p:nvSpPr>
        <p:spPr>
          <a:xfrm>
            <a:off x="366847" y="5412125"/>
            <a:ext cx="6458318" cy="1204707"/>
          </a:xfrm>
          <a:custGeom>
            <a:avLst/>
            <a:gdLst/>
            <a:ahLst/>
            <a:cxnLst/>
            <a:rect l="l" t="t" r="r" b="b"/>
            <a:pathLst>
              <a:path w="6458318" h="1204707" extrusionOk="0">
                <a:moveTo>
                  <a:pt x="108701" y="0"/>
                </a:moveTo>
                <a:lnTo>
                  <a:pt x="6349617" y="0"/>
                </a:lnTo>
                <a:cubicBezTo>
                  <a:pt x="6409651" y="0"/>
                  <a:pt x="6458318" y="48667"/>
                  <a:pt x="6458318" y="108701"/>
                </a:cubicBezTo>
                <a:lnTo>
                  <a:pt x="6458318" y="1096007"/>
                </a:lnTo>
                <a:cubicBezTo>
                  <a:pt x="6458318" y="1156040"/>
                  <a:pt x="6409651" y="1204707"/>
                  <a:pt x="6349617" y="1204707"/>
                </a:cubicBezTo>
                <a:lnTo>
                  <a:pt x="108701" y="1204707"/>
                </a:lnTo>
                <a:cubicBezTo>
                  <a:pt x="48667" y="1204707"/>
                  <a:pt x="0" y="1156040"/>
                  <a:pt x="0" y="1096007"/>
                </a:cubicBezTo>
                <a:lnTo>
                  <a:pt x="0" y="108701"/>
                </a:lnTo>
                <a:cubicBezTo>
                  <a:pt x="0" y="48707"/>
                  <a:pt x="48707" y="0"/>
                  <a:pt x="108701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2" name="Google Shape;452;p11"/>
          <p:cNvSpPr/>
          <p:nvPr/>
        </p:nvSpPr>
        <p:spPr>
          <a:xfrm>
            <a:off x="575180" y="5643103"/>
            <a:ext cx="163043" cy="163043"/>
          </a:xfrm>
          <a:custGeom>
            <a:avLst/>
            <a:gdLst/>
            <a:ahLst/>
            <a:cxnLst/>
            <a:rect l="l" t="t" r="r" b="b"/>
            <a:pathLst>
              <a:path w="163043" h="163043" extrusionOk="0">
                <a:moveTo>
                  <a:pt x="81522" y="0"/>
                </a:moveTo>
                <a:cubicBezTo>
                  <a:pt x="82986" y="0"/>
                  <a:pt x="84451" y="318"/>
                  <a:pt x="85789" y="923"/>
                </a:cubicBezTo>
                <a:lnTo>
                  <a:pt x="145783" y="26367"/>
                </a:lnTo>
                <a:cubicBezTo>
                  <a:pt x="152789" y="29329"/>
                  <a:pt x="158012" y="36239"/>
                  <a:pt x="157980" y="44582"/>
                </a:cubicBezTo>
                <a:cubicBezTo>
                  <a:pt x="157821" y="76172"/>
                  <a:pt x="144828" y="133969"/>
                  <a:pt x="89960" y="160241"/>
                </a:cubicBezTo>
                <a:cubicBezTo>
                  <a:pt x="84642" y="162788"/>
                  <a:pt x="78464" y="162788"/>
                  <a:pt x="73146" y="160241"/>
                </a:cubicBezTo>
                <a:cubicBezTo>
                  <a:pt x="18247" y="133969"/>
                  <a:pt x="5286" y="76172"/>
                  <a:pt x="5127" y="44582"/>
                </a:cubicBezTo>
                <a:cubicBezTo>
                  <a:pt x="5095" y="36239"/>
                  <a:pt x="10318" y="29329"/>
                  <a:pt x="17323" y="26367"/>
                </a:cubicBezTo>
                <a:lnTo>
                  <a:pt x="77286" y="923"/>
                </a:lnTo>
                <a:cubicBezTo>
                  <a:pt x="78624" y="318"/>
                  <a:pt x="80057" y="0"/>
                  <a:pt x="81522" y="0"/>
                </a:cubicBezTo>
                <a:close/>
                <a:moveTo>
                  <a:pt x="81522" y="21272"/>
                </a:moveTo>
                <a:lnTo>
                  <a:pt x="81522" y="141676"/>
                </a:lnTo>
                <a:cubicBezTo>
                  <a:pt x="125467" y="120404"/>
                  <a:pt x="137281" y="73274"/>
                  <a:pt x="137568" y="45060"/>
                </a:cubicBezTo>
                <a:lnTo>
                  <a:pt x="81522" y="21304"/>
                </a:lnTo>
                <a:lnTo>
                  <a:pt x="81522" y="21304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3" name="Google Shape;453;p11"/>
          <p:cNvSpPr/>
          <p:nvPr/>
        </p:nvSpPr>
        <p:spPr>
          <a:xfrm>
            <a:off x="760868" y="5597813"/>
            <a:ext cx="5960131" cy="25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4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Optional Encryption via TLS</a:t>
            </a:r>
            <a:endParaRPr sz="1600" b="0" i="0" u="none" strike="noStrike" cap="none"/>
          </a:p>
        </p:txBody>
      </p:sp>
      <p:sp>
        <p:nvSpPr>
          <p:cNvPr id="454" name="Google Shape;454;p11"/>
          <p:cNvSpPr/>
          <p:nvPr/>
        </p:nvSpPr>
        <p:spPr>
          <a:xfrm>
            <a:off x="552535" y="5960131"/>
            <a:ext cx="6159406" cy="471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While not mandatory, most implementations use TLS encryption. HTTP/2 improves security posture while maintaining performance.</a:t>
            </a:r>
            <a:endParaRPr sz="1600" b="0" i="0" u="none" strike="noStrike" cap="none"/>
          </a:p>
        </p:txBody>
      </p:sp>
      <p:sp>
        <p:nvSpPr>
          <p:cNvPr id="455" name="Google Shape;455;p11"/>
          <p:cNvSpPr/>
          <p:nvPr/>
        </p:nvSpPr>
        <p:spPr>
          <a:xfrm>
            <a:off x="7121954" y="1281700"/>
            <a:ext cx="4701076" cy="3940208"/>
          </a:xfrm>
          <a:custGeom>
            <a:avLst/>
            <a:gdLst/>
            <a:ahLst/>
            <a:cxnLst/>
            <a:rect l="l" t="t" r="r" b="b"/>
            <a:pathLst>
              <a:path w="4701076" h="3940208" extrusionOk="0">
                <a:moveTo>
                  <a:pt x="144921" y="0"/>
                </a:moveTo>
                <a:lnTo>
                  <a:pt x="4556155" y="0"/>
                </a:lnTo>
                <a:cubicBezTo>
                  <a:pt x="4636193" y="0"/>
                  <a:pt x="4701076" y="64883"/>
                  <a:pt x="4701076" y="144921"/>
                </a:cubicBezTo>
                <a:lnTo>
                  <a:pt x="4701076" y="3795287"/>
                </a:lnTo>
                <a:cubicBezTo>
                  <a:pt x="4701076" y="3875325"/>
                  <a:pt x="4636193" y="3940208"/>
                  <a:pt x="4556155" y="3940208"/>
                </a:cubicBezTo>
                <a:lnTo>
                  <a:pt x="144921" y="3940208"/>
                </a:lnTo>
                <a:cubicBezTo>
                  <a:pt x="64883" y="3940208"/>
                  <a:pt x="0" y="3875325"/>
                  <a:pt x="0" y="3795287"/>
                </a:cubicBezTo>
                <a:lnTo>
                  <a:pt x="0" y="144921"/>
                </a:lnTo>
                <a:cubicBezTo>
                  <a:pt x="0" y="64937"/>
                  <a:pt x="64937" y="0"/>
                  <a:pt x="144921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788A9C">
                  <a:alpha val="10196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6" name="Google Shape;456;p11"/>
          <p:cNvSpPr/>
          <p:nvPr/>
        </p:nvSpPr>
        <p:spPr>
          <a:xfrm>
            <a:off x="7298584" y="1503620"/>
            <a:ext cx="4347816" cy="25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6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Pipelining vs Multiplexing</a:t>
            </a:r>
            <a:endParaRPr sz="1600" b="0" i="0" u="none" strike="noStrike" cap="none"/>
          </a:p>
        </p:txBody>
      </p:sp>
      <p:sp>
        <p:nvSpPr>
          <p:cNvPr id="457" name="Google Shape;457;p11"/>
          <p:cNvSpPr/>
          <p:nvPr/>
        </p:nvSpPr>
        <p:spPr>
          <a:xfrm>
            <a:off x="7343874" y="1938401"/>
            <a:ext cx="4329700" cy="2173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HTTP/1.1 Pipelining</a:t>
            </a:r>
            <a:endParaRPr sz="1600" b="0" i="0" u="none" strike="noStrike" cap="none"/>
          </a:p>
        </p:txBody>
      </p:sp>
      <p:sp>
        <p:nvSpPr>
          <p:cNvPr id="458" name="Google Shape;458;p11"/>
          <p:cNvSpPr/>
          <p:nvPr/>
        </p:nvSpPr>
        <p:spPr>
          <a:xfrm>
            <a:off x="7343874" y="2264487"/>
            <a:ext cx="1068838" cy="362318"/>
          </a:xfrm>
          <a:custGeom>
            <a:avLst/>
            <a:gdLst/>
            <a:ahLst/>
            <a:cxnLst/>
            <a:rect l="l" t="t" r="r" b="b"/>
            <a:pathLst>
              <a:path w="1068838" h="362318" extrusionOk="0">
                <a:moveTo>
                  <a:pt x="36232" y="0"/>
                </a:moveTo>
                <a:lnTo>
                  <a:pt x="1032606" y="0"/>
                </a:lnTo>
                <a:cubicBezTo>
                  <a:pt x="1052617" y="0"/>
                  <a:pt x="1068838" y="16222"/>
                  <a:pt x="1068838" y="36232"/>
                </a:cubicBezTo>
                <a:lnTo>
                  <a:pt x="1068838" y="326086"/>
                </a:lnTo>
                <a:cubicBezTo>
                  <a:pt x="1068838" y="346096"/>
                  <a:pt x="1052617" y="362318"/>
                  <a:pt x="1032606" y="362318"/>
                </a:cubicBezTo>
                <a:lnTo>
                  <a:pt x="36232" y="362318"/>
                </a:lnTo>
                <a:cubicBezTo>
                  <a:pt x="16222" y="362318"/>
                  <a:pt x="0" y="346096"/>
                  <a:pt x="0" y="326086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788A9C">
              <a:alpha val="3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11"/>
          <p:cNvSpPr/>
          <p:nvPr/>
        </p:nvSpPr>
        <p:spPr>
          <a:xfrm>
            <a:off x="7312171" y="2264487"/>
            <a:ext cx="1132244" cy="36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Req 1</a:t>
            </a:r>
            <a:endParaRPr sz="1600" b="0" i="0" u="none" strike="noStrike" cap="none"/>
          </a:p>
        </p:txBody>
      </p:sp>
      <p:sp>
        <p:nvSpPr>
          <p:cNvPr id="460" name="Google Shape;460;p11"/>
          <p:cNvSpPr/>
          <p:nvPr/>
        </p:nvSpPr>
        <p:spPr>
          <a:xfrm>
            <a:off x="8480647" y="2264487"/>
            <a:ext cx="1068838" cy="362318"/>
          </a:xfrm>
          <a:custGeom>
            <a:avLst/>
            <a:gdLst/>
            <a:ahLst/>
            <a:cxnLst/>
            <a:rect l="l" t="t" r="r" b="b"/>
            <a:pathLst>
              <a:path w="1068838" h="362318" extrusionOk="0">
                <a:moveTo>
                  <a:pt x="36232" y="0"/>
                </a:moveTo>
                <a:lnTo>
                  <a:pt x="1032606" y="0"/>
                </a:lnTo>
                <a:cubicBezTo>
                  <a:pt x="1052617" y="0"/>
                  <a:pt x="1068838" y="16222"/>
                  <a:pt x="1068838" y="36232"/>
                </a:cubicBezTo>
                <a:lnTo>
                  <a:pt x="1068838" y="326086"/>
                </a:lnTo>
                <a:cubicBezTo>
                  <a:pt x="1068838" y="346096"/>
                  <a:pt x="1052617" y="362318"/>
                  <a:pt x="1032606" y="362318"/>
                </a:cubicBezTo>
                <a:lnTo>
                  <a:pt x="36232" y="362318"/>
                </a:lnTo>
                <a:cubicBezTo>
                  <a:pt x="16222" y="362318"/>
                  <a:pt x="0" y="346096"/>
                  <a:pt x="0" y="326086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788A9C">
              <a:alpha val="3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11"/>
          <p:cNvSpPr/>
          <p:nvPr/>
        </p:nvSpPr>
        <p:spPr>
          <a:xfrm>
            <a:off x="8448944" y="2264487"/>
            <a:ext cx="1132244" cy="36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Req 2</a:t>
            </a:r>
            <a:endParaRPr sz="1600" b="0" i="0" u="none" strike="noStrike" cap="none"/>
          </a:p>
        </p:txBody>
      </p:sp>
      <p:sp>
        <p:nvSpPr>
          <p:cNvPr id="462" name="Google Shape;462;p11"/>
          <p:cNvSpPr/>
          <p:nvPr/>
        </p:nvSpPr>
        <p:spPr>
          <a:xfrm>
            <a:off x="9617419" y="2264487"/>
            <a:ext cx="1068838" cy="362318"/>
          </a:xfrm>
          <a:custGeom>
            <a:avLst/>
            <a:gdLst/>
            <a:ahLst/>
            <a:cxnLst/>
            <a:rect l="l" t="t" r="r" b="b"/>
            <a:pathLst>
              <a:path w="1068838" h="362318" extrusionOk="0">
                <a:moveTo>
                  <a:pt x="36232" y="0"/>
                </a:moveTo>
                <a:lnTo>
                  <a:pt x="1032606" y="0"/>
                </a:lnTo>
                <a:cubicBezTo>
                  <a:pt x="1052617" y="0"/>
                  <a:pt x="1068838" y="16222"/>
                  <a:pt x="1068838" y="36232"/>
                </a:cubicBezTo>
                <a:lnTo>
                  <a:pt x="1068838" y="326086"/>
                </a:lnTo>
                <a:cubicBezTo>
                  <a:pt x="1068838" y="346096"/>
                  <a:pt x="1052617" y="362318"/>
                  <a:pt x="1032606" y="362318"/>
                </a:cubicBezTo>
                <a:lnTo>
                  <a:pt x="36232" y="362318"/>
                </a:lnTo>
                <a:cubicBezTo>
                  <a:pt x="16222" y="362318"/>
                  <a:pt x="0" y="346096"/>
                  <a:pt x="0" y="326086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788A9C">
              <a:alpha val="3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3" name="Google Shape;463;p11"/>
          <p:cNvSpPr/>
          <p:nvPr/>
        </p:nvSpPr>
        <p:spPr>
          <a:xfrm>
            <a:off x="9585717" y="2264487"/>
            <a:ext cx="1132244" cy="36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Req 3</a:t>
            </a:r>
            <a:endParaRPr sz="1600" b="0" i="0" u="none" strike="noStrike" cap="none"/>
          </a:p>
        </p:txBody>
      </p:sp>
      <p:sp>
        <p:nvSpPr>
          <p:cNvPr id="464" name="Google Shape;464;p11"/>
          <p:cNvSpPr/>
          <p:nvPr/>
        </p:nvSpPr>
        <p:spPr>
          <a:xfrm>
            <a:off x="7343874" y="2699269"/>
            <a:ext cx="1068838" cy="362318"/>
          </a:xfrm>
          <a:custGeom>
            <a:avLst/>
            <a:gdLst/>
            <a:ahLst/>
            <a:cxnLst/>
            <a:rect l="l" t="t" r="r" b="b"/>
            <a:pathLst>
              <a:path w="1068838" h="362318" extrusionOk="0">
                <a:moveTo>
                  <a:pt x="36232" y="0"/>
                </a:moveTo>
                <a:lnTo>
                  <a:pt x="1032606" y="0"/>
                </a:lnTo>
                <a:cubicBezTo>
                  <a:pt x="1052617" y="0"/>
                  <a:pt x="1068838" y="16222"/>
                  <a:pt x="1068838" y="36232"/>
                </a:cubicBezTo>
                <a:lnTo>
                  <a:pt x="1068838" y="326086"/>
                </a:lnTo>
                <a:cubicBezTo>
                  <a:pt x="1068838" y="346096"/>
                  <a:pt x="1052617" y="362318"/>
                  <a:pt x="1032606" y="362318"/>
                </a:cubicBezTo>
                <a:lnTo>
                  <a:pt x="36232" y="362318"/>
                </a:lnTo>
                <a:cubicBezTo>
                  <a:pt x="16222" y="362318"/>
                  <a:pt x="0" y="346096"/>
                  <a:pt x="0" y="326086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4A6C8C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11"/>
          <p:cNvSpPr/>
          <p:nvPr/>
        </p:nvSpPr>
        <p:spPr>
          <a:xfrm>
            <a:off x="7312171" y="2699269"/>
            <a:ext cx="1132244" cy="36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 1</a:t>
            </a:r>
            <a:endParaRPr sz="1600" b="0" i="0" u="none" strike="noStrike" cap="none"/>
          </a:p>
        </p:txBody>
      </p:sp>
      <p:sp>
        <p:nvSpPr>
          <p:cNvPr id="466" name="Google Shape;466;p11"/>
          <p:cNvSpPr/>
          <p:nvPr/>
        </p:nvSpPr>
        <p:spPr>
          <a:xfrm>
            <a:off x="8480647" y="2699269"/>
            <a:ext cx="1068838" cy="362318"/>
          </a:xfrm>
          <a:custGeom>
            <a:avLst/>
            <a:gdLst/>
            <a:ahLst/>
            <a:cxnLst/>
            <a:rect l="l" t="t" r="r" b="b"/>
            <a:pathLst>
              <a:path w="1068838" h="362318" extrusionOk="0">
                <a:moveTo>
                  <a:pt x="36232" y="0"/>
                </a:moveTo>
                <a:lnTo>
                  <a:pt x="1032606" y="0"/>
                </a:lnTo>
                <a:cubicBezTo>
                  <a:pt x="1052617" y="0"/>
                  <a:pt x="1068838" y="16222"/>
                  <a:pt x="1068838" y="36232"/>
                </a:cubicBezTo>
                <a:lnTo>
                  <a:pt x="1068838" y="326086"/>
                </a:lnTo>
                <a:cubicBezTo>
                  <a:pt x="1068838" y="346096"/>
                  <a:pt x="1052617" y="362318"/>
                  <a:pt x="1032606" y="362318"/>
                </a:cubicBezTo>
                <a:lnTo>
                  <a:pt x="36232" y="362318"/>
                </a:lnTo>
                <a:cubicBezTo>
                  <a:pt x="16222" y="362318"/>
                  <a:pt x="0" y="346096"/>
                  <a:pt x="0" y="326086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4A6C8C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11"/>
          <p:cNvSpPr/>
          <p:nvPr/>
        </p:nvSpPr>
        <p:spPr>
          <a:xfrm>
            <a:off x="8448944" y="2699269"/>
            <a:ext cx="1132244" cy="36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 2</a:t>
            </a:r>
            <a:endParaRPr sz="1600" b="0" i="0" u="none" strike="noStrike" cap="none"/>
          </a:p>
        </p:txBody>
      </p:sp>
      <p:sp>
        <p:nvSpPr>
          <p:cNvPr id="468" name="Google Shape;468;p11"/>
          <p:cNvSpPr/>
          <p:nvPr/>
        </p:nvSpPr>
        <p:spPr>
          <a:xfrm>
            <a:off x="9617419" y="2699269"/>
            <a:ext cx="1068838" cy="362318"/>
          </a:xfrm>
          <a:custGeom>
            <a:avLst/>
            <a:gdLst/>
            <a:ahLst/>
            <a:cxnLst/>
            <a:rect l="l" t="t" r="r" b="b"/>
            <a:pathLst>
              <a:path w="1068838" h="362318" extrusionOk="0">
                <a:moveTo>
                  <a:pt x="36232" y="0"/>
                </a:moveTo>
                <a:lnTo>
                  <a:pt x="1032606" y="0"/>
                </a:lnTo>
                <a:cubicBezTo>
                  <a:pt x="1052617" y="0"/>
                  <a:pt x="1068838" y="16222"/>
                  <a:pt x="1068838" y="36232"/>
                </a:cubicBezTo>
                <a:lnTo>
                  <a:pt x="1068838" y="326086"/>
                </a:lnTo>
                <a:cubicBezTo>
                  <a:pt x="1068838" y="346096"/>
                  <a:pt x="1052617" y="362318"/>
                  <a:pt x="1032606" y="362318"/>
                </a:cubicBezTo>
                <a:lnTo>
                  <a:pt x="36232" y="362318"/>
                </a:lnTo>
                <a:cubicBezTo>
                  <a:pt x="16222" y="362318"/>
                  <a:pt x="0" y="346096"/>
                  <a:pt x="0" y="326086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4A6C8C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11"/>
          <p:cNvSpPr/>
          <p:nvPr/>
        </p:nvSpPr>
        <p:spPr>
          <a:xfrm>
            <a:off x="9585717" y="2699269"/>
            <a:ext cx="1132244" cy="36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 3</a:t>
            </a:r>
            <a:endParaRPr sz="1600" b="0" i="0" u="none" strike="noStrike" cap="none"/>
          </a:p>
        </p:txBody>
      </p:sp>
      <p:sp>
        <p:nvSpPr>
          <p:cNvPr id="470" name="Google Shape;470;p11"/>
          <p:cNvSpPr/>
          <p:nvPr/>
        </p:nvSpPr>
        <p:spPr>
          <a:xfrm>
            <a:off x="7361990" y="3161224"/>
            <a:ext cx="126811" cy="126811"/>
          </a:xfrm>
          <a:custGeom>
            <a:avLst/>
            <a:gdLst/>
            <a:ahLst/>
            <a:cxnLst/>
            <a:rect l="l" t="t" r="r" b="b"/>
            <a:pathLst>
              <a:path w="126811" h="126811" extrusionOk="0">
                <a:moveTo>
                  <a:pt x="124483" y="69003"/>
                </a:moveTo>
                <a:cubicBezTo>
                  <a:pt x="127579" y="65907"/>
                  <a:pt x="127579" y="60879"/>
                  <a:pt x="124483" y="57783"/>
                </a:cubicBezTo>
                <a:lnTo>
                  <a:pt x="84855" y="18155"/>
                </a:lnTo>
                <a:cubicBezTo>
                  <a:pt x="81759" y="15059"/>
                  <a:pt x="76731" y="15059"/>
                  <a:pt x="73635" y="18155"/>
                </a:cubicBezTo>
                <a:cubicBezTo>
                  <a:pt x="70539" y="21251"/>
                  <a:pt x="70539" y="26279"/>
                  <a:pt x="73635" y="29375"/>
                </a:cubicBezTo>
                <a:lnTo>
                  <a:pt x="99740" y="55480"/>
                </a:lnTo>
                <a:lnTo>
                  <a:pt x="7926" y="55480"/>
                </a:lnTo>
                <a:cubicBezTo>
                  <a:pt x="3542" y="55480"/>
                  <a:pt x="0" y="59022"/>
                  <a:pt x="0" y="63406"/>
                </a:cubicBezTo>
                <a:cubicBezTo>
                  <a:pt x="0" y="67790"/>
                  <a:pt x="3542" y="71331"/>
                  <a:pt x="7926" y="71331"/>
                </a:cubicBezTo>
                <a:lnTo>
                  <a:pt x="99740" y="71331"/>
                </a:lnTo>
                <a:lnTo>
                  <a:pt x="73635" y="97437"/>
                </a:lnTo>
                <a:cubicBezTo>
                  <a:pt x="70539" y="100533"/>
                  <a:pt x="70539" y="105560"/>
                  <a:pt x="73635" y="108656"/>
                </a:cubicBezTo>
                <a:cubicBezTo>
                  <a:pt x="76731" y="111752"/>
                  <a:pt x="81759" y="111752"/>
                  <a:pt x="84855" y="108656"/>
                </a:cubicBezTo>
                <a:lnTo>
                  <a:pt x="124483" y="69028"/>
                </a:ln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11"/>
          <p:cNvSpPr/>
          <p:nvPr/>
        </p:nvSpPr>
        <p:spPr>
          <a:xfrm>
            <a:off x="7532759" y="3134051"/>
            <a:ext cx="4131757" cy="181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Responses in order, HOL blocking</a:t>
            </a:r>
            <a:endParaRPr sz="1600" b="0" i="0" u="none" strike="noStrike" cap="none"/>
          </a:p>
        </p:txBody>
      </p:sp>
      <p:sp>
        <p:nvSpPr>
          <p:cNvPr id="472" name="Google Shape;472;p11"/>
          <p:cNvSpPr/>
          <p:nvPr/>
        </p:nvSpPr>
        <p:spPr>
          <a:xfrm>
            <a:off x="7343874" y="3496368"/>
            <a:ext cx="4329700" cy="2173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HTTP/2 Multiplexing</a:t>
            </a:r>
            <a:endParaRPr sz="1600" b="0" i="0" u="none" strike="noStrike" cap="none"/>
          </a:p>
        </p:txBody>
      </p:sp>
      <p:sp>
        <p:nvSpPr>
          <p:cNvPr id="473" name="Google Shape;473;p11"/>
          <p:cNvSpPr/>
          <p:nvPr/>
        </p:nvSpPr>
        <p:spPr>
          <a:xfrm>
            <a:off x="7348403" y="3826984"/>
            <a:ext cx="4248178" cy="769926"/>
          </a:xfrm>
          <a:custGeom>
            <a:avLst/>
            <a:gdLst/>
            <a:ahLst/>
            <a:cxnLst/>
            <a:rect l="l" t="t" r="r" b="b"/>
            <a:pathLst>
              <a:path w="4248178" h="769926" extrusionOk="0">
                <a:moveTo>
                  <a:pt x="72465" y="0"/>
                </a:moveTo>
                <a:lnTo>
                  <a:pt x="4175713" y="0"/>
                </a:lnTo>
                <a:cubicBezTo>
                  <a:pt x="4215734" y="0"/>
                  <a:pt x="4248178" y="32444"/>
                  <a:pt x="4248178" y="72465"/>
                </a:cubicBezTo>
                <a:lnTo>
                  <a:pt x="4248178" y="697460"/>
                </a:lnTo>
                <a:cubicBezTo>
                  <a:pt x="4248178" y="737482"/>
                  <a:pt x="4215734" y="769926"/>
                  <a:pt x="4175713" y="769926"/>
                </a:cubicBezTo>
                <a:lnTo>
                  <a:pt x="72465" y="769926"/>
                </a:lnTo>
                <a:cubicBezTo>
                  <a:pt x="32471" y="769926"/>
                  <a:pt x="0" y="737455"/>
                  <a:pt x="0" y="697460"/>
                </a:cubicBezTo>
                <a:lnTo>
                  <a:pt x="0" y="72465"/>
                </a:lnTo>
                <a:cubicBezTo>
                  <a:pt x="0" y="32471"/>
                  <a:pt x="32471" y="0"/>
                  <a:pt x="72465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B89A6B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11"/>
          <p:cNvSpPr/>
          <p:nvPr/>
        </p:nvSpPr>
        <p:spPr>
          <a:xfrm>
            <a:off x="7461627" y="3940208"/>
            <a:ext cx="643114" cy="289854"/>
          </a:xfrm>
          <a:custGeom>
            <a:avLst/>
            <a:gdLst/>
            <a:ahLst/>
            <a:cxnLst/>
            <a:rect l="l" t="t" r="r" b="b"/>
            <a:pathLst>
              <a:path w="643114" h="289854" extrusionOk="0">
                <a:moveTo>
                  <a:pt x="36232" y="0"/>
                </a:moveTo>
                <a:lnTo>
                  <a:pt x="606883" y="0"/>
                </a:lnTo>
                <a:cubicBezTo>
                  <a:pt x="626893" y="0"/>
                  <a:pt x="643114" y="16222"/>
                  <a:pt x="643114" y="36232"/>
                </a:cubicBezTo>
                <a:lnTo>
                  <a:pt x="643114" y="253623"/>
                </a:lnTo>
                <a:cubicBezTo>
                  <a:pt x="643114" y="273633"/>
                  <a:pt x="626893" y="289854"/>
                  <a:pt x="606883" y="289854"/>
                </a:cubicBezTo>
                <a:lnTo>
                  <a:pt x="36232" y="289854"/>
                </a:lnTo>
                <a:cubicBezTo>
                  <a:pt x="16222" y="289854"/>
                  <a:pt x="0" y="273633"/>
                  <a:pt x="0" y="253623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B89A6B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11"/>
          <p:cNvSpPr/>
          <p:nvPr/>
        </p:nvSpPr>
        <p:spPr>
          <a:xfrm>
            <a:off x="7434454" y="3940208"/>
            <a:ext cx="697462" cy="289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S1</a:t>
            </a:r>
            <a:endParaRPr sz="1600" b="0" i="0" u="none" strike="noStrike" cap="none"/>
          </a:p>
        </p:txBody>
      </p:sp>
      <p:sp>
        <p:nvSpPr>
          <p:cNvPr id="476" name="Google Shape;476;p11"/>
          <p:cNvSpPr/>
          <p:nvPr/>
        </p:nvSpPr>
        <p:spPr>
          <a:xfrm>
            <a:off x="8137860" y="3940208"/>
            <a:ext cx="643114" cy="289854"/>
          </a:xfrm>
          <a:custGeom>
            <a:avLst/>
            <a:gdLst/>
            <a:ahLst/>
            <a:cxnLst/>
            <a:rect l="l" t="t" r="r" b="b"/>
            <a:pathLst>
              <a:path w="643114" h="289854" extrusionOk="0">
                <a:moveTo>
                  <a:pt x="36232" y="0"/>
                </a:moveTo>
                <a:lnTo>
                  <a:pt x="606883" y="0"/>
                </a:lnTo>
                <a:cubicBezTo>
                  <a:pt x="626893" y="0"/>
                  <a:pt x="643114" y="16222"/>
                  <a:pt x="643114" y="36232"/>
                </a:cubicBezTo>
                <a:lnTo>
                  <a:pt x="643114" y="253623"/>
                </a:lnTo>
                <a:cubicBezTo>
                  <a:pt x="643114" y="273633"/>
                  <a:pt x="626893" y="289854"/>
                  <a:pt x="606883" y="289854"/>
                </a:cubicBezTo>
                <a:lnTo>
                  <a:pt x="36232" y="289854"/>
                </a:lnTo>
                <a:cubicBezTo>
                  <a:pt x="16222" y="289854"/>
                  <a:pt x="0" y="273633"/>
                  <a:pt x="0" y="253623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4A6C8C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1"/>
          <p:cNvSpPr/>
          <p:nvPr/>
        </p:nvSpPr>
        <p:spPr>
          <a:xfrm>
            <a:off x="8110686" y="3940208"/>
            <a:ext cx="697462" cy="289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S2</a:t>
            </a:r>
            <a:endParaRPr sz="1600" b="0" i="0" u="none" strike="noStrike" cap="none"/>
          </a:p>
        </p:txBody>
      </p:sp>
      <p:sp>
        <p:nvSpPr>
          <p:cNvPr id="478" name="Google Shape;478;p11"/>
          <p:cNvSpPr/>
          <p:nvPr/>
        </p:nvSpPr>
        <p:spPr>
          <a:xfrm>
            <a:off x="8814234" y="3940208"/>
            <a:ext cx="643114" cy="289854"/>
          </a:xfrm>
          <a:custGeom>
            <a:avLst/>
            <a:gdLst/>
            <a:ahLst/>
            <a:cxnLst/>
            <a:rect l="l" t="t" r="r" b="b"/>
            <a:pathLst>
              <a:path w="643114" h="289854" extrusionOk="0">
                <a:moveTo>
                  <a:pt x="36232" y="0"/>
                </a:moveTo>
                <a:lnTo>
                  <a:pt x="606883" y="0"/>
                </a:lnTo>
                <a:cubicBezTo>
                  <a:pt x="626893" y="0"/>
                  <a:pt x="643114" y="16222"/>
                  <a:pt x="643114" y="36232"/>
                </a:cubicBezTo>
                <a:lnTo>
                  <a:pt x="643114" y="253623"/>
                </a:lnTo>
                <a:cubicBezTo>
                  <a:pt x="643114" y="273633"/>
                  <a:pt x="626893" y="289854"/>
                  <a:pt x="606883" y="289854"/>
                </a:cubicBezTo>
                <a:lnTo>
                  <a:pt x="36232" y="289854"/>
                </a:lnTo>
                <a:cubicBezTo>
                  <a:pt x="16222" y="289854"/>
                  <a:pt x="0" y="273633"/>
                  <a:pt x="0" y="253623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788A9C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9" name="Google Shape;479;p11"/>
          <p:cNvSpPr/>
          <p:nvPr/>
        </p:nvSpPr>
        <p:spPr>
          <a:xfrm>
            <a:off x="8787060" y="3940208"/>
            <a:ext cx="697462" cy="289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S3</a:t>
            </a:r>
            <a:endParaRPr sz="1600" b="0" i="0" u="none" strike="noStrike" cap="none"/>
          </a:p>
        </p:txBody>
      </p:sp>
      <p:sp>
        <p:nvSpPr>
          <p:cNvPr id="480" name="Google Shape;480;p11"/>
          <p:cNvSpPr/>
          <p:nvPr/>
        </p:nvSpPr>
        <p:spPr>
          <a:xfrm>
            <a:off x="9490467" y="3940208"/>
            <a:ext cx="643114" cy="289854"/>
          </a:xfrm>
          <a:custGeom>
            <a:avLst/>
            <a:gdLst/>
            <a:ahLst/>
            <a:cxnLst/>
            <a:rect l="l" t="t" r="r" b="b"/>
            <a:pathLst>
              <a:path w="643114" h="289854" extrusionOk="0">
                <a:moveTo>
                  <a:pt x="36232" y="0"/>
                </a:moveTo>
                <a:lnTo>
                  <a:pt x="606883" y="0"/>
                </a:lnTo>
                <a:cubicBezTo>
                  <a:pt x="626893" y="0"/>
                  <a:pt x="643114" y="16222"/>
                  <a:pt x="643114" y="36232"/>
                </a:cubicBezTo>
                <a:lnTo>
                  <a:pt x="643114" y="253623"/>
                </a:lnTo>
                <a:cubicBezTo>
                  <a:pt x="643114" y="273633"/>
                  <a:pt x="626893" y="289854"/>
                  <a:pt x="606883" y="289854"/>
                </a:cubicBezTo>
                <a:lnTo>
                  <a:pt x="36232" y="289854"/>
                </a:lnTo>
                <a:cubicBezTo>
                  <a:pt x="16222" y="289854"/>
                  <a:pt x="0" y="273633"/>
                  <a:pt x="0" y="253623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B89A6B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1" name="Google Shape;481;p11"/>
          <p:cNvSpPr/>
          <p:nvPr/>
        </p:nvSpPr>
        <p:spPr>
          <a:xfrm>
            <a:off x="9463293" y="3940208"/>
            <a:ext cx="697462" cy="289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S4</a:t>
            </a:r>
            <a:endParaRPr sz="1600" b="0" i="0" u="none" strike="noStrike" cap="none"/>
          </a:p>
        </p:txBody>
      </p:sp>
      <p:sp>
        <p:nvSpPr>
          <p:cNvPr id="482" name="Google Shape;482;p11"/>
          <p:cNvSpPr/>
          <p:nvPr/>
        </p:nvSpPr>
        <p:spPr>
          <a:xfrm>
            <a:off x="10166841" y="3940208"/>
            <a:ext cx="643114" cy="289854"/>
          </a:xfrm>
          <a:custGeom>
            <a:avLst/>
            <a:gdLst/>
            <a:ahLst/>
            <a:cxnLst/>
            <a:rect l="l" t="t" r="r" b="b"/>
            <a:pathLst>
              <a:path w="643114" h="289854" extrusionOk="0">
                <a:moveTo>
                  <a:pt x="36232" y="0"/>
                </a:moveTo>
                <a:lnTo>
                  <a:pt x="606883" y="0"/>
                </a:lnTo>
                <a:cubicBezTo>
                  <a:pt x="626893" y="0"/>
                  <a:pt x="643114" y="16222"/>
                  <a:pt x="643114" y="36232"/>
                </a:cubicBezTo>
                <a:lnTo>
                  <a:pt x="643114" y="253623"/>
                </a:lnTo>
                <a:cubicBezTo>
                  <a:pt x="643114" y="273633"/>
                  <a:pt x="626893" y="289854"/>
                  <a:pt x="606883" y="289854"/>
                </a:cubicBezTo>
                <a:lnTo>
                  <a:pt x="36232" y="289854"/>
                </a:lnTo>
                <a:cubicBezTo>
                  <a:pt x="16222" y="289854"/>
                  <a:pt x="0" y="273633"/>
                  <a:pt x="0" y="253623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4A6C8C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3" name="Google Shape;483;p11"/>
          <p:cNvSpPr/>
          <p:nvPr/>
        </p:nvSpPr>
        <p:spPr>
          <a:xfrm>
            <a:off x="10139667" y="3940208"/>
            <a:ext cx="697462" cy="289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S5</a:t>
            </a:r>
            <a:endParaRPr sz="1600" b="0" i="0" u="none" strike="noStrike" cap="none"/>
          </a:p>
        </p:txBody>
      </p:sp>
      <p:sp>
        <p:nvSpPr>
          <p:cNvPr id="484" name="Google Shape;484;p11"/>
          <p:cNvSpPr/>
          <p:nvPr/>
        </p:nvSpPr>
        <p:spPr>
          <a:xfrm>
            <a:off x="10843215" y="3940208"/>
            <a:ext cx="643114" cy="289854"/>
          </a:xfrm>
          <a:custGeom>
            <a:avLst/>
            <a:gdLst/>
            <a:ahLst/>
            <a:cxnLst/>
            <a:rect l="l" t="t" r="r" b="b"/>
            <a:pathLst>
              <a:path w="643114" h="289854" extrusionOk="0">
                <a:moveTo>
                  <a:pt x="36232" y="0"/>
                </a:moveTo>
                <a:lnTo>
                  <a:pt x="606883" y="0"/>
                </a:lnTo>
                <a:cubicBezTo>
                  <a:pt x="626893" y="0"/>
                  <a:pt x="643114" y="16222"/>
                  <a:pt x="643114" y="36232"/>
                </a:cubicBezTo>
                <a:lnTo>
                  <a:pt x="643114" y="253623"/>
                </a:lnTo>
                <a:cubicBezTo>
                  <a:pt x="643114" y="273633"/>
                  <a:pt x="626893" y="289854"/>
                  <a:pt x="606883" y="289854"/>
                </a:cubicBezTo>
                <a:lnTo>
                  <a:pt x="36232" y="289854"/>
                </a:lnTo>
                <a:cubicBezTo>
                  <a:pt x="16222" y="289854"/>
                  <a:pt x="0" y="273633"/>
                  <a:pt x="0" y="253623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788A9C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5" name="Google Shape;485;p11"/>
          <p:cNvSpPr/>
          <p:nvPr/>
        </p:nvSpPr>
        <p:spPr>
          <a:xfrm>
            <a:off x="10816041" y="3940208"/>
            <a:ext cx="697462" cy="289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S6</a:t>
            </a:r>
            <a:endParaRPr sz="1600" b="0" i="0" u="none" strike="noStrike" cap="none"/>
          </a:p>
        </p:txBody>
      </p:sp>
      <p:sp>
        <p:nvSpPr>
          <p:cNvPr id="486" name="Google Shape;486;p11"/>
          <p:cNvSpPr/>
          <p:nvPr/>
        </p:nvSpPr>
        <p:spPr>
          <a:xfrm>
            <a:off x="7429925" y="4302526"/>
            <a:ext cx="4085135" cy="181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Multiple independent streams over one connection</a:t>
            </a:r>
            <a:endParaRPr sz="1600" b="0" i="0" u="none" strike="noStrike" cap="none"/>
          </a:p>
        </p:txBody>
      </p:sp>
      <p:sp>
        <p:nvSpPr>
          <p:cNvPr id="487" name="Google Shape;487;p11"/>
          <p:cNvSpPr/>
          <p:nvPr/>
        </p:nvSpPr>
        <p:spPr>
          <a:xfrm>
            <a:off x="7369916" y="4701076"/>
            <a:ext cx="110960" cy="126811"/>
          </a:xfrm>
          <a:custGeom>
            <a:avLst/>
            <a:gdLst/>
            <a:ahLst/>
            <a:cxnLst/>
            <a:rect l="l" t="t" r="r" b="b"/>
            <a:pathLst>
              <a:path w="110960" h="126811" extrusionOk="0">
                <a:moveTo>
                  <a:pt x="107691" y="17362"/>
                </a:moveTo>
                <a:cubicBezTo>
                  <a:pt x="111232" y="19938"/>
                  <a:pt x="112025" y="24892"/>
                  <a:pt x="109449" y="28433"/>
                </a:cubicBezTo>
                <a:lnTo>
                  <a:pt x="46043" y="115616"/>
                </a:lnTo>
                <a:cubicBezTo>
                  <a:pt x="44681" y="117499"/>
                  <a:pt x="42576" y="118663"/>
                  <a:pt x="40248" y="118861"/>
                </a:cubicBezTo>
                <a:cubicBezTo>
                  <a:pt x="37920" y="119059"/>
                  <a:pt x="35666" y="118192"/>
                  <a:pt x="34031" y="116557"/>
                </a:cubicBezTo>
                <a:lnTo>
                  <a:pt x="2328" y="84855"/>
                </a:lnTo>
                <a:cubicBezTo>
                  <a:pt x="-768" y="81759"/>
                  <a:pt x="-768" y="76731"/>
                  <a:pt x="2328" y="73635"/>
                </a:cubicBezTo>
                <a:cubicBezTo>
                  <a:pt x="5424" y="70539"/>
                  <a:pt x="10452" y="70539"/>
                  <a:pt x="13548" y="73635"/>
                </a:cubicBezTo>
                <a:lnTo>
                  <a:pt x="38687" y="98774"/>
                </a:lnTo>
                <a:lnTo>
                  <a:pt x="96644" y="19096"/>
                </a:lnTo>
                <a:cubicBezTo>
                  <a:pt x="99220" y="15554"/>
                  <a:pt x="104173" y="14762"/>
                  <a:pt x="107715" y="17337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8" name="Google Shape;488;p11"/>
          <p:cNvSpPr/>
          <p:nvPr/>
        </p:nvSpPr>
        <p:spPr>
          <a:xfrm>
            <a:off x="7532759" y="4673902"/>
            <a:ext cx="4131757" cy="181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Responses out of order, no HOL blocking at HTTP level</a:t>
            </a:r>
            <a:endParaRPr sz="1600" b="0" i="0" u="none" strike="noStrike" cap="none"/>
          </a:p>
        </p:txBody>
      </p:sp>
      <p:sp>
        <p:nvSpPr>
          <p:cNvPr id="489" name="Google Shape;489;p11"/>
          <p:cNvSpPr/>
          <p:nvPr/>
        </p:nvSpPr>
        <p:spPr>
          <a:xfrm>
            <a:off x="7121954" y="5412125"/>
            <a:ext cx="4701076" cy="1204707"/>
          </a:xfrm>
          <a:custGeom>
            <a:avLst/>
            <a:gdLst/>
            <a:ahLst/>
            <a:cxnLst/>
            <a:rect l="l" t="t" r="r" b="b"/>
            <a:pathLst>
              <a:path w="4701076" h="1204707" extrusionOk="0">
                <a:moveTo>
                  <a:pt x="108701" y="0"/>
                </a:moveTo>
                <a:lnTo>
                  <a:pt x="4592375" y="0"/>
                </a:lnTo>
                <a:cubicBezTo>
                  <a:pt x="4652409" y="0"/>
                  <a:pt x="4701076" y="48667"/>
                  <a:pt x="4701076" y="108701"/>
                </a:cubicBezTo>
                <a:lnTo>
                  <a:pt x="4701076" y="1096007"/>
                </a:lnTo>
                <a:cubicBezTo>
                  <a:pt x="4701076" y="1156040"/>
                  <a:pt x="4652409" y="1204707"/>
                  <a:pt x="4592375" y="1204707"/>
                </a:cubicBezTo>
                <a:lnTo>
                  <a:pt x="108701" y="1204707"/>
                </a:lnTo>
                <a:cubicBezTo>
                  <a:pt x="48667" y="1204707"/>
                  <a:pt x="0" y="1156040"/>
                  <a:pt x="0" y="1096007"/>
                </a:cubicBezTo>
                <a:lnTo>
                  <a:pt x="0" y="108701"/>
                </a:lnTo>
                <a:cubicBezTo>
                  <a:pt x="0" y="48707"/>
                  <a:pt x="48707" y="0"/>
                  <a:pt x="108701" y="0"/>
                </a:cubicBezTo>
                <a:close/>
              </a:path>
            </a:pathLst>
          </a:custGeom>
          <a:solidFill>
            <a:srgbClr val="788A9C">
              <a:alpha val="10196"/>
            </a:srgbClr>
          </a:solidFill>
          <a:ln w="12700" cap="flat" cmpd="sng">
            <a:solidFill>
              <a:srgbClr val="788A9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11"/>
          <p:cNvSpPr/>
          <p:nvPr/>
        </p:nvSpPr>
        <p:spPr>
          <a:xfrm>
            <a:off x="7330287" y="5643103"/>
            <a:ext cx="163043" cy="163043"/>
          </a:xfrm>
          <a:custGeom>
            <a:avLst/>
            <a:gdLst/>
            <a:ahLst/>
            <a:cxnLst/>
            <a:rect l="l" t="t" r="r" b="b"/>
            <a:pathLst>
              <a:path w="163043" h="163043" extrusionOk="0">
                <a:moveTo>
                  <a:pt x="81522" y="0"/>
                </a:moveTo>
                <a:cubicBezTo>
                  <a:pt x="86203" y="0"/>
                  <a:pt x="90502" y="2579"/>
                  <a:pt x="92731" y="6687"/>
                </a:cubicBezTo>
                <a:lnTo>
                  <a:pt x="161515" y="134065"/>
                </a:lnTo>
                <a:cubicBezTo>
                  <a:pt x="163648" y="138013"/>
                  <a:pt x="163553" y="142790"/>
                  <a:pt x="161260" y="146643"/>
                </a:cubicBezTo>
                <a:cubicBezTo>
                  <a:pt x="158967" y="150496"/>
                  <a:pt x="154795" y="152853"/>
                  <a:pt x="150305" y="152853"/>
                </a:cubicBezTo>
                <a:lnTo>
                  <a:pt x="12738" y="152853"/>
                </a:lnTo>
                <a:cubicBezTo>
                  <a:pt x="8248" y="152853"/>
                  <a:pt x="4108" y="150496"/>
                  <a:pt x="1783" y="146643"/>
                </a:cubicBezTo>
                <a:cubicBezTo>
                  <a:pt x="-541" y="142790"/>
                  <a:pt x="-605" y="138013"/>
                  <a:pt x="1529" y="134065"/>
                </a:cubicBezTo>
                <a:lnTo>
                  <a:pt x="70312" y="6687"/>
                </a:lnTo>
                <a:cubicBezTo>
                  <a:pt x="72541" y="2579"/>
                  <a:pt x="76840" y="0"/>
                  <a:pt x="81522" y="0"/>
                </a:cubicBezTo>
                <a:close/>
                <a:moveTo>
                  <a:pt x="81522" y="53499"/>
                </a:moveTo>
                <a:cubicBezTo>
                  <a:pt x="77286" y="53499"/>
                  <a:pt x="73879" y="56906"/>
                  <a:pt x="73879" y="61141"/>
                </a:cubicBezTo>
                <a:lnTo>
                  <a:pt x="73879" y="96807"/>
                </a:lnTo>
                <a:cubicBezTo>
                  <a:pt x="73879" y="101042"/>
                  <a:pt x="77286" y="104449"/>
                  <a:pt x="81522" y="104449"/>
                </a:cubicBezTo>
                <a:cubicBezTo>
                  <a:pt x="85757" y="104449"/>
                  <a:pt x="89164" y="101042"/>
                  <a:pt x="89164" y="96807"/>
                </a:cubicBezTo>
                <a:lnTo>
                  <a:pt x="89164" y="61141"/>
                </a:lnTo>
                <a:cubicBezTo>
                  <a:pt x="89164" y="56906"/>
                  <a:pt x="85757" y="53499"/>
                  <a:pt x="81522" y="53499"/>
                </a:cubicBezTo>
                <a:close/>
                <a:moveTo>
                  <a:pt x="90024" y="122282"/>
                </a:moveTo>
                <a:cubicBezTo>
                  <a:pt x="90217" y="119126"/>
                  <a:pt x="88644" y="116124"/>
                  <a:pt x="85938" y="114487"/>
                </a:cubicBezTo>
                <a:cubicBezTo>
                  <a:pt x="83233" y="112851"/>
                  <a:pt x="79842" y="112851"/>
                  <a:pt x="77137" y="114487"/>
                </a:cubicBezTo>
                <a:cubicBezTo>
                  <a:pt x="74431" y="116124"/>
                  <a:pt x="72858" y="119126"/>
                  <a:pt x="73051" y="122282"/>
                </a:cubicBezTo>
                <a:cubicBezTo>
                  <a:pt x="72858" y="125438"/>
                  <a:pt x="74431" y="128441"/>
                  <a:pt x="77137" y="130077"/>
                </a:cubicBezTo>
                <a:cubicBezTo>
                  <a:pt x="79842" y="131714"/>
                  <a:pt x="83233" y="131714"/>
                  <a:pt x="85938" y="130077"/>
                </a:cubicBezTo>
                <a:cubicBezTo>
                  <a:pt x="88644" y="128441"/>
                  <a:pt x="90217" y="125438"/>
                  <a:pt x="90024" y="122282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11"/>
          <p:cNvSpPr/>
          <p:nvPr/>
        </p:nvSpPr>
        <p:spPr>
          <a:xfrm>
            <a:off x="7515975" y="5597813"/>
            <a:ext cx="4202889" cy="25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4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TCP-Level Head-of-Line Blocking</a:t>
            </a:r>
            <a:endParaRPr sz="1600" b="0" i="0" u="none" strike="noStrike" cap="none"/>
          </a:p>
        </p:txBody>
      </p:sp>
      <p:sp>
        <p:nvSpPr>
          <p:cNvPr id="492" name="Google Shape;492;p11"/>
          <p:cNvSpPr/>
          <p:nvPr/>
        </p:nvSpPr>
        <p:spPr>
          <a:xfrm>
            <a:off x="7307642" y="5960131"/>
            <a:ext cx="4402163" cy="471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HTTP/2 still uses TCP—if one packet is lost, TCP stops all streams until retransmission. </a:t>
            </a:r>
            <a:r>
              <a:rPr lang="en-US" sz="1141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HTTP/3 solves this with QUIC.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12"/>
          <p:cNvSpPr/>
          <p:nvPr/>
        </p:nvSpPr>
        <p:spPr>
          <a:xfrm>
            <a:off x="371142" y="371142"/>
            <a:ext cx="11523945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Evolution</a:t>
            </a:r>
            <a:endParaRPr sz="1600" b="0" i="0" u="none" strike="noStrike" cap="none"/>
          </a:p>
        </p:txBody>
      </p:sp>
      <p:sp>
        <p:nvSpPr>
          <p:cNvPr id="499" name="Google Shape;499;p12"/>
          <p:cNvSpPr/>
          <p:nvPr/>
        </p:nvSpPr>
        <p:spPr>
          <a:xfrm>
            <a:off x="371142" y="668055"/>
            <a:ext cx="11616731" cy="41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3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HTTP/3: The QUIC Era (2018-Present)</a:t>
            </a:r>
            <a:endParaRPr sz="1600" b="0" i="0" u="none" strike="noStrike" cap="none"/>
          </a:p>
        </p:txBody>
      </p:sp>
      <p:sp>
        <p:nvSpPr>
          <p:cNvPr id="500" name="Google Shape;500;p12"/>
          <p:cNvSpPr/>
          <p:nvPr/>
        </p:nvSpPr>
        <p:spPr>
          <a:xfrm>
            <a:off x="375781" y="1312913"/>
            <a:ext cx="6318685" cy="3999050"/>
          </a:xfrm>
          <a:custGeom>
            <a:avLst/>
            <a:gdLst/>
            <a:ahLst/>
            <a:cxnLst/>
            <a:rect l="l" t="t" r="r" b="b"/>
            <a:pathLst>
              <a:path w="6318685" h="3999050" extrusionOk="0">
                <a:moveTo>
                  <a:pt x="148445" y="0"/>
                </a:moveTo>
                <a:lnTo>
                  <a:pt x="6170240" y="0"/>
                </a:lnTo>
                <a:cubicBezTo>
                  <a:pt x="6252224" y="0"/>
                  <a:pt x="6318685" y="66461"/>
                  <a:pt x="6318685" y="148445"/>
                </a:cubicBezTo>
                <a:lnTo>
                  <a:pt x="6318685" y="3850605"/>
                </a:lnTo>
                <a:cubicBezTo>
                  <a:pt x="6318685" y="3932589"/>
                  <a:pt x="6252224" y="3999050"/>
                  <a:pt x="6170240" y="3999050"/>
                </a:cubicBezTo>
                <a:lnTo>
                  <a:pt x="148445" y="3999050"/>
                </a:lnTo>
                <a:cubicBezTo>
                  <a:pt x="66461" y="3999050"/>
                  <a:pt x="0" y="3932589"/>
                  <a:pt x="0" y="3850605"/>
                </a:cubicBezTo>
                <a:lnTo>
                  <a:pt x="0" y="148445"/>
                </a:lnTo>
                <a:cubicBezTo>
                  <a:pt x="0" y="66461"/>
                  <a:pt x="66461" y="0"/>
                  <a:pt x="148445" y="0"/>
                </a:cubicBezTo>
                <a:close/>
              </a:path>
            </a:pathLst>
          </a:custGeom>
          <a:gradFill>
            <a:gsLst>
              <a:gs pos="0">
                <a:srgbClr val="B89A6B">
                  <a:alpha val="20000"/>
                </a:srgbClr>
              </a:gs>
              <a:gs pos="100000">
                <a:srgbClr val="B89A6B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1" name="Google Shape;501;p12"/>
          <p:cNvSpPr/>
          <p:nvPr/>
        </p:nvSpPr>
        <p:spPr>
          <a:xfrm>
            <a:off x="603105" y="1540237"/>
            <a:ext cx="593826" cy="593826"/>
          </a:xfrm>
          <a:custGeom>
            <a:avLst/>
            <a:gdLst/>
            <a:ahLst/>
            <a:cxnLst/>
            <a:rect l="l" t="t" r="r" b="b"/>
            <a:pathLst>
              <a:path w="593826" h="593826" extrusionOk="0">
                <a:moveTo>
                  <a:pt x="111342" y="0"/>
                </a:moveTo>
                <a:lnTo>
                  <a:pt x="482484" y="0"/>
                </a:lnTo>
                <a:cubicBezTo>
                  <a:pt x="543977" y="0"/>
                  <a:pt x="593826" y="49850"/>
                  <a:pt x="593826" y="111342"/>
                </a:cubicBezTo>
                <a:lnTo>
                  <a:pt x="593826" y="482484"/>
                </a:lnTo>
                <a:cubicBezTo>
                  <a:pt x="593826" y="543977"/>
                  <a:pt x="543977" y="593826"/>
                  <a:pt x="482484" y="593826"/>
                </a:cubicBezTo>
                <a:lnTo>
                  <a:pt x="111342" y="593826"/>
                </a:lnTo>
                <a:cubicBezTo>
                  <a:pt x="49850" y="593826"/>
                  <a:pt x="0" y="543977"/>
                  <a:pt x="0" y="482484"/>
                </a:cubicBezTo>
                <a:lnTo>
                  <a:pt x="0" y="111342"/>
                </a:lnTo>
                <a:cubicBezTo>
                  <a:pt x="0" y="49850"/>
                  <a:pt x="49850" y="0"/>
                  <a:pt x="111342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2" name="Google Shape;502;p12"/>
          <p:cNvSpPr/>
          <p:nvPr/>
        </p:nvSpPr>
        <p:spPr>
          <a:xfrm>
            <a:off x="547434" y="1540237"/>
            <a:ext cx="705169" cy="5938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53" b="1" i="0" u="none" strike="noStrike" cap="none">
                <a:solidFill>
                  <a:srgbClr val="1A1D21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3</a:t>
            </a:r>
            <a:endParaRPr sz="1600" b="0" i="0" u="none" strike="noStrike" cap="none"/>
          </a:p>
        </p:txBody>
      </p:sp>
      <p:sp>
        <p:nvSpPr>
          <p:cNvPr id="503" name="Google Shape;503;p12"/>
          <p:cNvSpPr/>
          <p:nvPr/>
        </p:nvSpPr>
        <p:spPr>
          <a:xfrm>
            <a:off x="1345388" y="1577352"/>
            <a:ext cx="1076311" cy="296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53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HTTP/3</a:t>
            </a:r>
            <a:endParaRPr sz="1600" b="0" i="0" u="none" strike="noStrike" cap="none"/>
          </a:p>
        </p:txBody>
      </p:sp>
      <p:sp>
        <p:nvSpPr>
          <p:cNvPr id="504" name="Google Shape;504;p12"/>
          <p:cNvSpPr/>
          <p:nvPr/>
        </p:nvSpPr>
        <p:spPr>
          <a:xfrm>
            <a:off x="1345388" y="1874265"/>
            <a:ext cx="1039196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0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2018 • RFC 9114</a:t>
            </a:r>
            <a:endParaRPr sz="1600" b="0" i="0" u="none" strike="noStrike" cap="none"/>
          </a:p>
        </p:txBody>
      </p:sp>
      <p:sp>
        <p:nvSpPr>
          <p:cNvPr id="505" name="Google Shape;505;p12"/>
          <p:cNvSpPr/>
          <p:nvPr/>
        </p:nvSpPr>
        <p:spPr>
          <a:xfrm>
            <a:off x="607744" y="2324274"/>
            <a:ext cx="5854758" cy="1159817"/>
          </a:xfrm>
          <a:custGeom>
            <a:avLst/>
            <a:gdLst/>
            <a:ahLst/>
            <a:cxnLst/>
            <a:rect l="l" t="t" r="r" b="b"/>
            <a:pathLst>
              <a:path w="5854758" h="1159817" extrusionOk="0">
                <a:moveTo>
                  <a:pt x="111342" y="0"/>
                </a:moveTo>
                <a:lnTo>
                  <a:pt x="5743416" y="0"/>
                </a:lnTo>
                <a:cubicBezTo>
                  <a:pt x="5804908" y="0"/>
                  <a:pt x="5854758" y="49850"/>
                  <a:pt x="5854758" y="111342"/>
                </a:cubicBezTo>
                <a:lnTo>
                  <a:pt x="5854758" y="1048475"/>
                </a:lnTo>
                <a:cubicBezTo>
                  <a:pt x="5854758" y="1109968"/>
                  <a:pt x="5804908" y="1159817"/>
                  <a:pt x="5743416" y="1159817"/>
                </a:cubicBezTo>
                <a:lnTo>
                  <a:pt x="111342" y="1159817"/>
                </a:lnTo>
                <a:cubicBezTo>
                  <a:pt x="49850" y="1159817"/>
                  <a:pt x="0" y="1109968"/>
                  <a:pt x="0" y="1048475"/>
                </a:cubicBezTo>
                <a:lnTo>
                  <a:pt x="0" y="111342"/>
                </a:lnTo>
                <a:cubicBezTo>
                  <a:pt x="0" y="49850"/>
                  <a:pt x="49850" y="0"/>
                  <a:pt x="11134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B89A6B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6" name="Google Shape;506;p12"/>
          <p:cNvSpPr/>
          <p:nvPr/>
        </p:nvSpPr>
        <p:spPr>
          <a:xfrm>
            <a:off x="802594" y="2495927"/>
            <a:ext cx="194849" cy="222685"/>
          </a:xfrm>
          <a:custGeom>
            <a:avLst/>
            <a:gdLst/>
            <a:ahLst/>
            <a:cxnLst/>
            <a:rect l="l" t="t" r="r" b="b"/>
            <a:pathLst>
              <a:path w="194849" h="222685" extrusionOk="0">
                <a:moveTo>
                  <a:pt x="147355" y="-4306"/>
                </a:moveTo>
                <a:cubicBezTo>
                  <a:pt x="152530" y="-565"/>
                  <a:pt x="154444" y="6220"/>
                  <a:pt x="152096" y="12135"/>
                </a:cubicBezTo>
                <a:lnTo>
                  <a:pt x="117997" y="97425"/>
                </a:lnTo>
                <a:lnTo>
                  <a:pt x="180932" y="97425"/>
                </a:lnTo>
                <a:cubicBezTo>
                  <a:pt x="186803" y="97425"/>
                  <a:pt x="192022" y="101078"/>
                  <a:pt x="194023" y="106602"/>
                </a:cubicBezTo>
                <a:cubicBezTo>
                  <a:pt x="196024" y="112125"/>
                  <a:pt x="194327" y="118301"/>
                  <a:pt x="189848" y="122042"/>
                </a:cubicBezTo>
                <a:lnTo>
                  <a:pt x="64587" y="226425"/>
                </a:lnTo>
                <a:cubicBezTo>
                  <a:pt x="59673" y="230514"/>
                  <a:pt x="52670" y="230731"/>
                  <a:pt x="47495" y="226991"/>
                </a:cubicBezTo>
                <a:cubicBezTo>
                  <a:pt x="42319" y="223250"/>
                  <a:pt x="40405" y="216465"/>
                  <a:pt x="42754" y="210550"/>
                </a:cubicBezTo>
                <a:lnTo>
                  <a:pt x="76852" y="125260"/>
                </a:lnTo>
                <a:lnTo>
                  <a:pt x="13918" y="125260"/>
                </a:lnTo>
                <a:cubicBezTo>
                  <a:pt x="8046" y="125260"/>
                  <a:pt x="2827" y="121607"/>
                  <a:pt x="826" y="116083"/>
                </a:cubicBezTo>
                <a:cubicBezTo>
                  <a:pt x="-1174" y="110560"/>
                  <a:pt x="522" y="104384"/>
                  <a:pt x="5002" y="100643"/>
                </a:cubicBezTo>
                <a:lnTo>
                  <a:pt x="130262" y="-3740"/>
                </a:lnTo>
                <a:cubicBezTo>
                  <a:pt x="135177" y="-7829"/>
                  <a:pt x="142179" y="-8046"/>
                  <a:pt x="147355" y="-4306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7" name="Google Shape;507;p12"/>
          <p:cNvSpPr/>
          <p:nvPr/>
        </p:nvSpPr>
        <p:spPr>
          <a:xfrm>
            <a:off x="1150539" y="2477370"/>
            <a:ext cx="1261881" cy="259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QUIC Protocol</a:t>
            </a:r>
            <a:endParaRPr sz="1600" b="0" i="0" u="none" strike="noStrike" cap="none"/>
          </a:p>
        </p:txBody>
      </p:sp>
      <p:sp>
        <p:nvSpPr>
          <p:cNvPr id="508" name="Google Shape;508;p12"/>
          <p:cNvSpPr/>
          <p:nvPr/>
        </p:nvSpPr>
        <p:spPr>
          <a:xfrm>
            <a:off x="760840" y="2848511"/>
            <a:ext cx="5622795" cy="4824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Replaces TCP with </a:t>
            </a:r>
            <a:r>
              <a:rPr lang="en-US" sz="116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QUIC</a:t>
            </a:r>
            <a:r>
              <a:rPr lang="en-US" sz="116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(Quick UDP Internet Connections)—UDP-based with built-in reliability</a:t>
            </a:r>
            <a:endParaRPr sz="1600" b="0" i="0" u="none" strike="noStrike" cap="none"/>
          </a:p>
        </p:txBody>
      </p:sp>
      <p:sp>
        <p:nvSpPr>
          <p:cNvPr id="509" name="Google Shape;509;p12"/>
          <p:cNvSpPr/>
          <p:nvPr/>
        </p:nvSpPr>
        <p:spPr>
          <a:xfrm>
            <a:off x="621662" y="3637187"/>
            <a:ext cx="2857790" cy="668055"/>
          </a:xfrm>
          <a:custGeom>
            <a:avLst/>
            <a:gdLst/>
            <a:ahLst/>
            <a:cxnLst/>
            <a:rect l="l" t="t" r="r" b="b"/>
            <a:pathLst>
              <a:path w="2857790" h="668055" extrusionOk="0">
                <a:moveTo>
                  <a:pt x="0" y="0"/>
                </a:moveTo>
                <a:lnTo>
                  <a:pt x="2746445" y="0"/>
                </a:lnTo>
                <a:cubicBezTo>
                  <a:pt x="2807939" y="0"/>
                  <a:pt x="2857790" y="49851"/>
                  <a:pt x="2857790" y="111345"/>
                </a:cubicBezTo>
                <a:lnTo>
                  <a:pt x="2857790" y="556710"/>
                </a:lnTo>
                <a:cubicBezTo>
                  <a:pt x="2857790" y="618204"/>
                  <a:pt x="2807939" y="668055"/>
                  <a:pt x="2746445" y="668055"/>
                </a:cubicBezTo>
                <a:lnTo>
                  <a:pt x="0" y="668055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12"/>
          <p:cNvSpPr/>
          <p:nvPr/>
        </p:nvSpPr>
        <p:spPr>
          <a:xfrm>
            <a:off x="621662" y="3637187"/>
            <a:ext cx="37114" cy="668055"/>
          </a:xfrm>
          <a:custGeom>
            <a:avLst/>
            <a:gdLst/>
            <a:ahLst/>
            <a:cxnLst/>
            <a:rect l="l" t="t" r="r" b="b"/>
            <a:pathLst>
              <a:path w="37114" h="668055" extrusionOk="0">
                <a:moveTo>
                  <a:pt x="0" y="0"/>
                </a:moveTo>
                <a:lnTo>
                  <a:pt x="37114" y="0"/>
                </a:lnTo>
                <a:lnTo>
                  <a:pt x="37114" y="668055"/>
                </a:lnTo>
                <a:lnTo>
                  <a:pt x="0" y="668055"/>
                </a:lnTo>
                <a:lnTo>
                  <a:pt x="0" y="0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1" name="Google Shape;511;p12"/>
          <p:cNvSpPr/>
          <p:nvPr/>
        </p:nvSpPr>
        <p:spPr>
          <a:xfrm>
            <a:off x="770119" y="3794922"/>
            <a:ext cx="129900" cy="129900"/>
          </a:xfrm>
          <a:custGeom>
            <a:avLst/>
            <a:gdLst/>
            <a:ahLst/>
            <a:cxnLst/>
            <a:rect l="l" t="t" r="r" b="b"/>
            <a:pathLst>
              <a:path w="129900" h="129900" extrusionOk="0">
                <a:moveTo>
                  <a:pt x="58988" y="1319"/>
                </a:moveTo>
                <a:cubicBezTo>
                  <a:pt x="62768" y="-431"/>
                  <a:pt x="67132" y="-431"/>
                  <a:pt x="70912" y="1319"/>
                </a:cubicBezTo>
                <a:lnTo>
                  <a:pt x="126373" y="26944"/>
                </a:lnTo>
                <a:cubicBezTo>
                  <a:pt x="128530" y="27933"/>
                  <a:pt x="129900" y="30090"/>
                  <a:pt x="129900" y="32475"/>
                </a:cubicBezTo>
                <a:cubicBezTo>
                  <a:pt x="129900" y="34860"/>
                  <a:pt x="128530" y="37016"/>
                  <a:pt x="126373" y="38006"/>
                </a:cubicBezTo>
                <a:lnTo>
                  <a:pt x="70912" y="63630"/>
                </a:lnTo>
                <a:cubicBezTo>
                  <a:pt x="67132" y="65381"/>
                  <a:pt x="62768" y="65381"/>
                  <a:pt x="58988" y="63630"/>
                </a:cubicBezTo>
                <a:lnTo>
                  <a:pt x="3527" y="38006"/>
                </a:lnTo>
                <a:cubicBezTo>
                  <a:pt x="1370" y="36991"/>
                  <a:pt x="0" y="34834"/>
                  <a:pt x="0" y="32475"/>
                </a:cubicBezTo>
                <a:cubicBezTo>
                  <a:pt x="0" y="30115"/>
                  <a:pt x="1370" y="27933"/>
                  <a:pt x="3527" y="26944"/>
                </a:cubicBezTo>
                <a:lnTo>
                  <a:pt x="58988" y="1319"/>
                </a:lnTo>
                <a:close/>
                <a:moveTo>
                  <a:pt x="12203" y="55410"/>
                </a:moveTo>
                <a:lnTo>
                  <a:pt x="53888" y="74667"/>
                </a:lnTo>
                <a:cubicBezTo>
                  <a:pt x="60916" y="77914"/>
                  <a:pt x="69009" y="77914"/>
                  <a:pt x="76037" y="74667"/>
                </a:cubicBezTo>
                <a:lnTo>
                  <a:pt x="117721" y="55410"/>
                </a:lnTo>
                <a:lnTo>
                  <a:pt x="126373" y="59419"/>
                </a:lnTo>
                <a:cubicBezTo>
                  <a:pt x="128530" y="60408"/>
                  <a:pt x="129900" y="62565"/>
                  <a:pt x="129900" y="64950"/>
                </a:cubicBezTo>
                <a:cubicBezTo>
                  <a:pt x="129900" y="67335"/>
                  <a:pt x="128530" y="69491"/>
                  <a:pt x="126373" y="70481"/>
                </a:cubicBezTo>
                <a:lnTo>
                  <a:pt x="70912" y="96105"/>
                </a:lnTo>
                <a:cubicBezTo>
                  <a:pt x="67132" y="97856"/>
                  <a:pt x="62768" y="97856"/>
                  <a:pt x="58988" y="96105"/>
                </a:cubicBezTo>
                <a:lnTo>
                  <a:pt x="3527" y="70481"/>
                </a:lnTo>
                <a:cubicBezTo>
                  <a:pt x="1370" y="69466"/>
                  <a:pt x="0" y="67309"/>
                  <a:pt x="0" y="64950"/>
                </a:cubicBezTo>
                <a:cubicBezTo>
                  <a:pt x="0" y="62590"/>
                  <a:pt x="1370" y="60408"/>
                  <a:pt x="3527" y="59419"/>
                </a:cubicBezTo>
                <a:lnTo>
                  <a:pt x="12178" y="55410"/>
                </a:lnTo>
                <a:close/>
                <a:moveTo>
                  <a:pt x="3527" y="91894"/>
                </a:moveTo>
                <a:lnTo>
                  <a:pt x="12178" y="87885"/>
                </a:lnTo>
                <a:lnTo>
                  <a:pt x="53863" y="107142"/>
                </a:lnTo>
                <a:cubicBezTo>
                  <a:pt x="60890" y="110389"/>
                  <a:pt x="68984" y="110389"/>
                  <a:pt x="76012" y="107142"/>
                </a:cubicBezTo>
                <a:lnTo>
                  <a:pt x="117696" y="87885"/>
                </a:lnTo>
                <a:lnTo>
                  <a:pt x="126348" y="91894"/>
                </a:lnTo>
                <a:cubicBezTo>
                  <a:pt x="128504" y="92883"/>
                  <a:pt x="129874" y="95040"/>
                  <a:pt x="129874" y="97425"/>
                </a:cubicBezTo>
                <a:cubicBezTo>
                  <a:pt x="129874" y="99810"/>
                  <a:pt x="128504" y="101966"/>
                  <a:pt x="126348" y="102956"/>
                </a:cubicBezTo>
                <a:lnTo>
                  <a:pt x="70887" y="128580"/>
                </a:lnTo>
                <a:cubicBezTo>
                  <a:pt x="67106" y="130331"/>
                  <a:pt x="62742" y="130331"/>
                  <a:pt x="58962" y="128580"/>
                </a:cubicBezTo>
                <a:lnTo>
                  <a:pt x="3527" y="102956"/>
                </a:lnTo>
                <a:cubicBezTo>
                  <a:pt x="1370" y="101941"/>
                  <a:pt x="0" y="99784"/>
                  <a:pt x="0" y="97425"/>
                </a:cubicBezTo>
                <a:cubicBezTo>
                  <a:pt x="0" y="95065"/>
                  <a:pt x="1370" y="92883"/>
                  <a:pt x="3527" y="91894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2" name="Google Shape;512;p12"/>
          <p:cNvSpPr/>
          <p:nvPr/>
        </p:nvSpPr>
        <p:spPr>
          <a:xfrm>
            <a:off x="988164" y="3748530"/>
            <a:ext cx="881461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Multiplexing</a:t>
            </a:r>
            <a:endParaRPr sz="1600" b="0" i="0" u="none" strike="noStrike" cap="none"/>
          </a:p>
        </p:txBody>
      </p:sp>
      <p:sp>
        <p:nvSpPr>
          <p:cNvPr id="513" name="Google Shape;513;p12"/>
          <p:cNvSpPr/>
          <p:nvPr/>
        </p:nvSpPr>
        <p:spPr>
          <a:xfrm>
            <a:off x="751562" y="4008329"/>
            <a:ext cx="2681498" cy="185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Independent streams</a:t>
            </a:r>
            <a:endParaRPr sz="1600" b="0" i="0" u="none" strike="noStrike" cap="none"/>
          </a:p>
        </p:txBody>
      </p:sp>
      <p:sp>
        <p:nvSpPr>
          <p:cNvPr id="514" name="Google Shape;514;p12"/>
          <p:cNvSpPr/>
          <p:nvPr/>
        </p:nvSpPr>
        <p:spPr>
          <a:xfrm>
            <a:off x="3608192" y="3637187"/>
            <a:ext cx="2857790" cy="668055"/>
          </a:xfrm>
          <a:custGeom>
            <a:avLst/>
            <a:gdLst/>
            <a:ahLst/>
            <a:cxnLst/>
            <a:rect l="l" t="t" r="r" b="b"/>
            <a:pathLst>
              <a:path w="2857790" h="668055" extrusionOk="0">
                <a:moveTo>
                  <a:pt x="0" y="0"/>
                </a:moveTo>
                <a:lnTo>
                  <a:pt x="2746445" y="0"/>
                </a:lnTo>
                <a:cubicBezTo>
                  <a:pt x="2807939" y="0"/>
                  <a:pt x="2857790" y="49851"/>
                  <a:pt x="2857790" y="111345"/>
                </a:cubicBezTo>
                <a:lnTo>
                  <a:pt x="2857790" y="556710"/>
                </a:lnTo>
                <a:cubicBezTo>
                  <a:pt x="2857790" y="618204"/>
                  <a:pt x="2807939" y="668055"/>
                  <a:pt x="2746445" y="668055"/>
                </a:cubicBezTo>
                <a:lnTo>
                  <a:pt x="0" y="668055"/>
                </a:lnTo>
                <a:lnTo>
                  <a:pt x="0" y="0"/>
                </a:lnTo>
                <a:close/>
              </a:path>
            </a:pathLst>
          </a:custGeom>
          <a:solidFill>
            <a:srgbClr val="B89A6B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5" name="Google Shape;515;p12"/>
          <p:cNvSpPr/>
          <p:nvPr/>
        </p:nvSpPr>
        <p:spPr>
          <a:xfrm>
            <a:off x="3608192" y="3637187"/>
            <a:ext cx="37114" cy="668055"/>
          </a:xfrm>
          <a:custGeom>
            <a:avLst/>
            <a:gdLst/>
            <a:ahLst/>
            <a:cxnLst/>
            <a:rect l="l" t="t" r="r" b="b"/>
            <a:pathLst>
              <a:path w="37114" h="668055" extrusionOk="0">
                <a:moveTo>
                  <a:pt x="0" y="0"/>
                </a:moveTo>
                <a:lnTo>
                  <a:pt x="37114" y="0"/>
                </a:lnTo>
                <a:lnTo>
                  <a:pt x="37114" y="668055"/>
                </a:lnTo>
                <a:lnTo>
                  <a:pt x="0" y="668055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6" name="Google Shape;516;p12"/>
          <p:cNvSpPr/>
          <p:nvPr/>
        </p:nvSpPr>
        <p:spPr>
          <a:xfrm>
            <a:off x="3772886" y="3794922"/>
            <a:ext cx="97425" cy="129900"/>
          </a:xfrm>
          <a:custGeom>
            <a:avLst/>
            <a:gdLst/>
            <a:ahLst/>
            <a:cxnLst/>
            <a:rect l="l" t="t" r="r" b="b"/>
            <a:pathLst>
              <a:path w="97425" h="129900" extrusionOk="0">
                <a:moveTo>
                  <a:pt x="32475" y="24356"/>
                </a:moveTo>
                <a:lnTo>
                  <a:pt x="32475" y="40594"/>
                </a:lnTo>
                <a:lnTo>
                  <a:pt x="64950" y="40594"/>
                </a:lnTo>
                <a:lnTo>
                  <a:pt x="64950" y="24356"/>
                </a:lnTo>
                <a:cubicBezTo>
                  <a:pt x="64950" y="15400"/>
                  <a:pt x="57668" y="8119"/>
                  <a:pt x="48712" y="8119"/>
                </a:cubicBezTo>
                <a:cubicBezTo>
                  <a:pt x="39756" y="8119"/>
                  <a:pt x="32475" y="15400"/>
                  <a:pt x="32475" y="24356"/>
                </a:cubicBezTo>
                <a:close/>
                <a:moveTo>
                  <a:pt x="16237" y="40594"/>
                </a:moveTo>
                <a:lnTo>
                  <a:pt x="16237" y="24356"/>
                </a:lnTo>
                <a:cubicBezTo>
                  <a:pt x="16237" y="6419"/>
                  <a:pt x="30775" y="-8119"/>
                  <a:pt x="48712" y="-8119"/>
                </a:cubicBezTo>
                <a:cubicBezTo>
                  <a:pt x="66650" y="-8119"/>
                  <a:pt x="81187" y="6419"/>
                  <a:pt x="81187" y="24356"/>
                </a:cubicBezTo>
                <a:lnTo>
                  <a:pt x="81187" y="40594"/>
                </a:lnTo>
                <a:cubicBezTo>
                  <a:pt x="90143" y="40594"/>
                  <a:pt x="97425" y="47875"/>
                  <a:pt x="97425" y="56831"/>
                </a:cubicBezTo>
                <a:lnTo>
                  <a:pt x="97425" y="113662"/>
                </a:lnTo>
                <a:cubicBezTo>
                  <a:pt x="97425" y="122618"/>
                  <a:pt x="90143" y="129900"/>
                  <a:pt x="81187" y="129900"/>
                </a:cubicBezTo>
                <a:lnTo>
                  <a:pt x="16237" y="129900"/>
                </a:lnTo>
                <a:cubicBezTo>
                  <a:pt x="7281" y="129900"/>
                  <a:pt x="0" y="122618"/>
                  <a:pt x="0" y="113662"/>
                </a:cubicBezTo>
                <a:lnTo>
                  <a:pt x="0" y="56831"/>
                </a:lnTo>
                <a:cubicBezTo>
                  <a:pt x="0" y="47875"/>
                  <a:pt x="7281" y="40594"/>
                  <a:pt x="16237" y="40594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2"/>
          <p:cNvSpPr/>
          <p:nvPr/>
        </p:nvSpPr>
        <p:spPr>
          <a:xfrm>
            <a:off x="3974694" y="3748530"/>
            <a:ext cx="835068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Built-in TLS</a:t>
            </a:r>
            <a:endParaRPr sz="1600" b="0" i="0" u="none" strike="noStrike" cap="none"/>
          </a:p>
        </p:txBody>
      </p:sp>
      <p:sp>
        <p:nvSpPr>
          <p:cNvPr id="518" name="Google Shape;518;p12"/>
          <p:cNvSpPr/>
          <p:nvPr/>
        </p:nvSpPr>
        <p:spPr>
          <a:xfrm>
            <a:off x="3738091" y="4008329"/>
            <a:ext cx="2681498" cy="185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Mandatory encryption</a:t>
            </a:r>
            <a:endParaRPr sz="1600" b="0" i="0" u="none" strike="noStrike" cap="none"/>
          </a:p>
        </p:txBody>
      </p:sp>
      <p:sp>
        <p:nvSpPr>
          <p:cNvPr id="519" name="Google Shape;519;p12"/>
          <p:cNvSpPr/>
          <p:nvPr/>
        </p:nvSpPr>
        <p:spPr>
          <a:xfrm>
            <a:off x="621662" y="4416584"/>
            <a:ext cx="2857790" cy="668055"/>
          </a:xfrm>
          <a:custGeom>
            <a:avLst/>
            <a:gdLst/>
            <a:ahLst/>
            <a:cxnLst/>
            <a:rect l="l" t="t" r="r" b="b"/>
            <a:pathLst>
              <a:path w="2857790" h="668055" extrusionOk="0">
                <a:moveTo>
                  <a:pt x="0" y="0"/>
                </a:moveTo>
                <a:lnTo>
                  <a:pt x="2746445" y="0"/>
                </a:lnTo>
                <a:cubicBezTo>
                  <a:pt x="2807939" y="0"/>
                  <a:pt x="2857790" y="49851"/>
                  <a:pt x="2857790" y="111345"/>
                </a:cubicBezTo>
                <a:lnTo>
                  <a:pt x="2857790" y="556710"/>
                </a:lnTo>
                <a:cubicBezTo>
                  <a:pt x="2857790" y="618204"/>
                  <a:pt x="2807939" y="668055"/>
                  <a:pt x="2746445" y="668055"/>
                </a:cubicBezTo>
                <a:lnTo>
                  <a:pt x="0" y="668055"/>
                </a:lnTo>
                <a:lnTo>
                  <a:pt x="0" y="0"/>
                </a:lnTo>
                <a:close/>
              </a:path>
            </a:pathLst>
          </a:custGeom>
          <a:solidFill>
            <a:srgbClr val="788A9C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0" name="Google Shape;520;p12"/>
          <p:cNvSpPr/>
          <p:nvPr/>
        </p:nvSpPr>
        <p:spPr>
          <a:xfrm>
            <a:off x="621662" y="4416584"/>
            <a:ext cx="37114" cy="668055"/>
          </a:xfrm>
          <a:custGeom>
            <a:avLst/>
            <a:gdLst/>
            <a:ahLst/>
            <a:cxnLst/>
            <a:rect l="l" t="t" r="r" b="b"/>
            <a:pathLst>
              <a:path w="37114" h="668055" extrusionOk="0">
                <a:moveTo>
                  <a:pt x="0" y="0"/>
                </a:moveTo>
                <a:lnTo>
                  <a:pt x="37114" y="0"/>
                </a:lnTo>
                <a:lnTo>
                  <a:pt x="37114" y="668055"/>
                </a:lnTo>
                <a:lnTo>
                  <a:pt x="0" y="668055"/>
                </a:lnTo>
                <a:lnTo>
                  <a:pt x="0" y="0"/>
                </a:ln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1" name="Google Shape;521;p12"/>
          <p:cNvSpPr/>
          <p:nvPr/>
        </p:nvSpPr>
        <p:spPr>
          <a:xfrm>
            <a:off x="770119" y="4574320"/>
            <a:ext cx="129900" cy="129900"/>
          </a:xfrm>
          <a:custGeom>
            <a:avLst/>
            <a:gdLst/>
            <a:ahLst/>
            <a:cxnLst/>
            <a:rect l="l" t="t" r="r" b="b"/>
            <a:pathLst>
              <a:path w="129900" h="129900" extrusionOk="0">
                <a:moveTo>
                  <a:pt x="111506" y="1776"/>
                </a:moveTo>
                <a:cubicBezTo>
                  <a:pt x="113890" y="-609"/>
                  <a:pt x="117747" y="-609"/>
                  <a:pt x="120106" y="1776"/>
                </a:cubicBezTo>
                <a:lnTo>
                  <a:pt x="128225" y="9895"/>
                </a:lnTo>
                <a:cubicBezTo>
                  <a:pt x="130610" y="12280"/>
                  <a:pt x="130610" y="16136"/>
                  <a:pt x="128225" y="18495"/>
                </a:cubicBezTo>
                <a:lnTo>
                  <a:pt x="106152" y="40568"/>
                </a:lnTo>
                <a:lnTo>
                  <a:pt x="116047" y="50463"/>
                </a:lnTo>
                <a:cubicBezTo>
                  <a:pt x="117798" y="52214"/>
                  <a:pt x="118305" y="54827"/>
                  <a:pt x="117366" y="57110"/>
                </a:cubicBezTo>
                <a:cubicBezTo>
                  <a:pt x="116428" y="59394"/>
                  <a:pt x="114220" y="60890"/>
                  <a:pt x="111759" y="60890"/>
                </a:cubicBezTo>
                <a:lnTo>
                  <a:pt x="75225" y="60890"/>
                </a:lnTo>
                <a:cubicBezTo>
                  <a:pt x="71851" y="60890"/>
                  <a:pt x="69136" y="58176"/>
                  <a:pt x="69136" y="54801"/>
                </a:cubicBezTo>
                <a:lnTo>
                  <a:pt x="69136" y="18267"/>
                </a:lnTo>
                <a:cubicBezTo>
                  <a:pt x="69136" y="15806"/>
                  <a:pt x="70608" y="13573"/>
                  <a:pt x="72891" y="12635"/>
                </a:cubicBezTo>
                <a:cubicBezTo>
                  <a:pt x="75174" y="11696"/>
                  <a:pt x="77788" y="12203"/>
                  <a:pt x="79538" y="13954"/>
                </a:cubicBezTo>
                <a:lnTo>
                  <a:pt x="89433" y="23849"/>
                </a:lnTo>
                <a:lnTo>
                  <a:pt x="111506" y="1776"/>
                </a:lnTo>
                <a:close/>
                <a:moveTo>
                  <a:pt x="18394" y="69009"/>
                </a:moveTo>
                <a:lnTo>
                  <a:pt x="54928" y="69009"/>
                </a:lnTo>
                <a:cubicBezTo>
                  <a:pt x="58303" y="69009"/>
                  <a:pt x="61017" y="71724"/>
                  <a:pt x="61017" y="75098"/>
                </a:cubicBezTo>
                <a:lnTo>
                  <a:pt x="61017" y="111632"/>
                </a:lnTo>
                <a:cubicBezTo>
                  <a:pt x="61017" y="114093"/>
                  <a:pt x="59546" y="116326"/>
                  <a:pt x="57262" y="117265"/>
                </a:cubicBezTo>
                <a:cubicBezTo>
                  <a:pt x="54979" y="118204"/>
                  <a:pt x="52366" y="117696"/>
                  <a:pt x="50615" y="115945"/>
                </a:cubicBezTo>
                <a:lnTo>
                  <a:pt x="40720" y="106051"/>
                </a:lnTo>
                <a:lnTo>
                  <a:pt x="18648" y="128124"/>
                </a:lnTo>
                <a:cubicBezTo>
                  <a:pt x="16263" y="130508"/>
                  <a:pt x="12406" y="130508"/>
                  <a:pt x="10047" y="128124"/>
                </a:cubicBezTo>
                <a:lnTo>
                  <a:pt x="1928" y="120005"/>
                </a:lnTo>
                <a:cubicBezTo>
                  <a:pt x="-457" y="117620"/>
                  <a:pt x="-457" y="113764"/>
                  <a:pt x="1928" y="111404"/>
                </a:cubicBezTo>
                <a:lnTo>
                  <a:pt x="24001" y="89331"/>
                </a:lnTo>
                <a:lnTo>
                  <a:pt x="14106" y="79437"/>
                </a:lnTo>
                <a:cubicBezTo>
                  <a:pt x="12356" y="77686"/>
                  <a:pt x="11848" y="75073"/>
                  <a:pt x="12787" y="72789"/>
                </a:cubicBezTo>
                <a:cubicBezTo>
                  <a:pt x="13726" y="70506"/>
                  <a:pt x="15933" y="69009"/>
                  <a:pt x="18394" y="69009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2"/>
          <p:cNvSpPr/>
          <p:nvPr/>
        </p:nvSpPr>
        <p:spPr>
          <a:xfrm>
            <a:off x="988164" y="4527927"/>
            <a:ext cx="1456731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Header Compression</a:t>
            </a:r>
            <a:endParaRPr sz="1600" b="0" i="0" u="none" strike="noStrike" cap="none"/>
          </a:p>
        </p:txBody>
      </p:sp>
      <p:sp>
        <p:nvSpPr>
          <p:cNvPr id="523" name="Google Shape;523;p12"/>
          <p:cNvSpPr/>
          <p:nvPr/>
        </p:nvSpPr>
        <p:spPr>
          <a:xfrm>
            <a:off x="751562" y="4787726"/>
            <a:ext cx="2681498" cy="185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QPACK algorithm</a:t>
            </a:r>
            <a:endParaRPr sz="1600" b="0" i="0" u="none" strike="noStrike" cap="none"/>
          </a:p>
        </p:txBody>
      </p:sp>
      <p:sp>
        <p:nvSpPr>
          <p:cNvPr id="524" name="Google Shape;524;p12"/>
          <p:cNvSpPr/>
          <p:nvPr/>
        </p:nvSpPr>
        <p:spPr>
          <a:xfrm>
            <a:off x="3608192" y="4416584"/>
            <a:ext cx="2857790" cy="668055"/>
          </a:xfrm>
          <a:custGeom>
            <a:avLst/>
            <a:gdLst/>
            <a:ahLst/>
            <a:cxnLst/>
            <a:rect l="l" t="t" r="r" b="b"/>
            <a:pathLst>
              <a:path w="2857790" h="668055" extrusionOk="0">
                <a:moveTo>
                  <a:pt x="0" y="0"/>
                </a:moveTo>
                <a:lnTo>
                  <a:pt x="2746445" y="0"/>
                </a:lnTo>
                <a:cubicBezTo>
                  <a:pt x="2807939" y="0"/>
                  <a:pt x="2857790" y="49851"/>
                  <a:pt x="2857790" y="111345"/>
                </a:cubicBezTo>
                <a:lnTo>
                  <a:pt x="2857790" y="556710"/>
                </a:lnTo>
                <a:cubicBezTo>
                  <a:pt x="2857790" y="618204"/>
                  <a:pt x="2807939" y="668055"/>
                  <a:pt x="2746445" y="668055"/>
                </a:cubicBezTo>
                <a:lnTo>
                  <a:pt x="0" y="668055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5" name="Google Shape;525;p12"/>
          <p:cNvSpPr/>
          <p:nvPr/>
        </p:nvSpPr>
        <p:spPr>
          <a:xfrm>
            <a:off x="3608192" y="4416584"/>
            <a:ext cx="37114" cy="668055"/>
          </a:xfrm>
          <a:custGeom>
            <a:avLst/>
            <a:gdLst/>
            <a:ahLst/>
            <a:cxnLst/>
            <a:rect l="l" t="t" r="r" b="b"/>
            <a:pathLst>
              <a:path w="37114" h="668055" extrusionOk="0">
                <a:moveTo>
                  <a:pt x="0" y="0"/>
                </a:moveTo>
                <a:lnTo>
                  <a:pt x="37114" y="0"/>
                </a:lnTo>
                <a:lnTo>
                  <a:pt x="37114" y="668055"/>
                </a:lnTo>
                <a:lnTo>
                  <a:pt x="0" y="668055"/>
                </a:lnTo>
                <a:lnTo>
                  <a:pt x="0" y="0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6" name="Google Shape;526;p12"/>
          <p:cNvSpPr/>
          <p:nvPr/>
        </p:nvSpPr>
        <p:spPr>
          <a:xfrm>
            <a:off x="3756648" y="4574320"/>
            <a:ext cx="129900" cy="129900"/>
          </a:xfrm>
          <a:custGeom>
            <a:avLst/>
            <a:gdLst/>
            <a:ahLst/>
            <a:cxnLst/>
            <a:rect l="l" t="t" r="r" b="b"/>
            <a:pathLst>
              <a:path w="129900" h="129900" extrusionOk="0">
                <a:moveTo>
                  <a:pt x="0" y="64950"/>
                </a:moveTo>
                <a:cubicBezTo>
                  <a:pt x="0" y="29103"/>
                  <a:pt x="29103" y="0"/>
                  <a:pt x="64950" y="0"/>
                </a:cubicBezTo>
                <a:cubicBezTo>
                  <a:pt x="100797" y="0"/>
                  <a:pt x="129900" y="29103"/>
                  <a:pt x="129900" y="64950"/>
                </a:cubicBezTo>
                <a:cubicBezTo>
                  <a:pt x="129900" y="100797"/>
                  <a:pt x="100797" y="129900"/>
                  <a:pt x="64950" y="129900"/>
                </a:cubicBezTo>
                <a:cubicBezTo>
                  <a:pt x="29103" y="129900"/>
                  <a:pt x="0" y="100797"/>
                  <a:pt x="0" y="64950"/>
                </a:cubicBezTo>
                <a:close/>
                <a:moveTo>
                  <a:pt x="73068" y="24356"/>
                </a:moveTo>
                <a:cubicBezTo>
                  <a:pt x="73068" y="19875"/>
                  <a:pt x="69431" y="16237"/>
                  <a:pt x="64950" y="16237"/>
                </a:cubicBezTo>
                <a:cubicBezTo>
                  <a:pt x="60469" y="16237"/>
                  <a:pt x="56831" y="19875"/>
                  <a:pt x="56831" y="24356"/>
                </a:cubicBezTo>
                <a:cubicBezTo>
                  <a:pt x="56831" y="28837"/>
                  <a:pt x="60469" y="32475"/>
                  <a:pt x="64950" y="32475"/>
                </a:cubicBezTo>
                <a:cubicBezTo>
                  <a:pt x="69431" y="32475"/>
                  <a:pt x="73068" y="28837"/>
                  <a:pt x="73068" y="24356"/>
                </a:cubicBezTo>
                <a:close/>
                <a:moveTo>
                  <a:pt x="64950" y="105543"/>
                </a:moveTo>
                <a:cubicBezTo>
                  <a:pt x="73906" y="105543"/>
                  <a:pt x="81187" y="98262"/>
                  <a:pt x="81187" y="89306"/>
                </a:cubicBezTo>
                <a:cubicBezTo>
                  <a:pt x="81187" y="85196"/>
                  <a:pt x="79665" y="81416"/>
                  <a:pt x="77128" y="78574"/>
                </a:cubicBezTo>
                <a:lnTo>
                  <a:pt x="94761" y="43334"/>
                </a:lnTo>
                <a:cubicBezTo>
                  <a:pt x="96258" y="40315"/>
                  <a:pt x="95040" y="36661"/>
                  <a:pt x="92046" y="35164"/>
                </a:cubicBezTo>
                <a:cubicBezTo>
                  <a:pt x="89052" y="33667"/>
                  <a:pt x="85373" y="34885"/>
                  <a:pt x="83877" y="37879"/>
                </a:cubicBezTo>
                <a:lnTo>
                  <a:pt x="66244" y="73119"/>
                </a:lnTo>
                <a:cubicBezTo>
                  <a:pt x="65812" y="73094"/>
                  <a:pt x="65381" y="73068"/>
                  <a:pt x="64950" y="73068"/>
                </a:cubicBezTo>
                <a:cubicBezTo>
                  <a:pt x="55994" y="73068"/>
                  <a:pt x="48712" y="80350"/>
                  <a:pt x="48712" y="89306"/>
                </a:cubicBezTo>
                <a:cubicBezTo>
                  <a:pt x="48712" y="98262"/>
                  <a:pt x="55994" y="105543"/>
                  <a:pt x="64950" y="105543"/>
                </a:cubicBezTo>
                <a:close/>
                <a:moveTo>
                  <a:pt x="44653" y="36534"/>
                </a:moveTo>
                <a:cubicBezTo>
                  <a:pt x="44653" y="32053"/>
                  <a:pt x="41015" y="28416"/>
                  <a:pt x="36534" y="28416"/>
                </a:cubicBezTo>
                <a:cubicBezTo>
                  <a:pt x="32053" y="28416"/>
                  <a:pt x="28416" y="32053"/>
                  <a:pt x="28416" y="36534"/>
                </a:cubicBezTo>
                <a:cubicBezTo>
                  <a:pt x="28416" y="41015"/>
                  <a:pt x="32053" y="44653"/>
                  <a:pt x="36534" y="44653"/>
                </a:cubicBezTo>
                <a:cubicBezTo>
                  <a:pt x="41015" y="44653"/>
                  <a:pt x="44653" y="41015"/>
                  <a:pt x="44653" y="36534"/>
                </a:cubicBezTo>
                <a:close/>
                <a:moveTo>
                  <a:pt x="24356" y="73068"/>
                </a:moveTo>
                <a:cubicBezTo>
                  <a:pt x="28837" y="73068"/>
                  <a:pt x="32475" y="69431"/>
                  <a:pt x="32475" y="64950"/>
                </a:cubicBezTo>
                <a:cubicBezTo>
                  <a:pt x="32475" y="60469"/>
                  <a:pt x="28837" y="56831"/>
                  <a:pt x="24356" y="56831"/>
                </a:cubicBezTo>
                <a:cubicBezTo>
                  <a:pt x="19875" y="56831"/>
                  <a:pt x="16237" y="60469"/>
                  <a:pt x="16237" y="64950"/>
                </a:cubicBezTo>
                <a:cubicBezTo>
                  <a:pt x="16237" y="69431"/>
                  <a:pt x="19875" y="73068"/>
                  <a:pt x="24356" y="73068"/>
                </a:cubicBezTo>
                <a:close/>
                <a:moveTo>
                  <a:pt x="113662" y="64950"/>
                </a:moveTo>
                <a:cubicBezTo>
                  <a:pt x="113662" y="60469"/>
                  <a:pt x="110024" y="56831"/>
                  <a:pt x="105543" y="56831"/>
                </a:cubicBezTo>
                <a:cubicBezTo>
                  <a:pt x="101063" y="56831"/>
                  <a:pt x="97425" y="60469"/>
                  <a:pt x="97425" y="64950"/>
                </a:cubicBezTo>
                <a:cubicBezTo>
                  <a:pt x="97425" y="69431"/>
                  <a:pt x="101063" y="73068"/>
                  <a:pt x="105543" y="73068"/>
                </a:cubicBezTo>
                <a:cubicBezTo>
                  <a:pt x="110024" y="73068"/>
                  <a:pt x="113662" y="69431"/>
                  <a:pt x="113662" y="64950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p12"/>
          <p:cNvSpPr/>
          <p:nvPr/>
        </p:nvSpPr>
        <p:spPr>
          <a:xfrm>
            <a:off x="3974694" y="4527927"/>
            <a:ext cx="491763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Faster</a:t>
            </a:r>
            <a:endParaRPr sz="1600" b="0" i="0" u="none" strike="noStrike" cap="none"/>
          </a:p>
        </p:txBody>
      </p:sp>
      <p:sp>
        <p:nvSpPr>
          <p:cNvPr id="528" name="Google Shape;528;p12"/>
          <p:cNvSpPr/>
          <p:nvPr/>
        </p:nvSpPr>
        <p:spPr>
          <a:xfrm>
            <a:off x="3738091" y="4787726"/>
            <a:ext cx="2681498" cy="185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0-RTT connections</a:t>
            </a:r>
            <a:endParaRPr sz="1600" b="0" i="0" u="none" strike="noStrike" cap="none"/>
          </a:p>
        </p:txBody>
      </p:sp>
      <p:sp>
        <p:nvSpPr>
          <p:cNvPr id="529" name="Google Shape;529;p12"/>
          <p:cNvSpPr/>
          <p:nvPr/>
        </p:nvSpPr>
        <p:spPr>
          <a:xfrm>
            <a:off x="375781" y="5506813"/>
            <a:ext cx="6318685" cy="1234046"/>
          </a:xfrm>
          <a:custGeom>
            <a:avLst/>
            <a:gdLst/>
            <a:ahLst/>
            <a:cxnLst/>
            <a:rect l="l" t="t" r="r" b="b"/>
            <a:pathLst>
              <a:path w="6318685" h="1234046" extrusionOk="0">
                <a:moveTo>
                  <a:pt x="111348" y="0"/>
                </a:moveTo>
                <a:lnTo>
                  <a:pt x="6207337" y="0"/>
                </a:lnTo>
                <a:cubicBezTo>
                  <a:pt x="6268833" y="0"/>
                  <a:pt x="6318685" y="49852"/>
                  <a:pt x="6318685" y="111348"/>
                </a:cubicBezTo>
                <a:lnTo>
                  <a:pt x="6318685" y="1122698"/>
                </a:lnTo>
                <a:cubicBezTo>
                  <a:pt x="6318685" y="1184193"/>
                  <a:pt x="6268833" y="1234046"/>
                  <a:pt x="6207337" y="1234046"/>
                </a:cubicBezTo>
                <a:lnTo>
                  <a:pt x="111348" y="1234046"/>
                </a:lnTo>
                <a:cubicBezTo>
                  <a:pt x="49852" y="1234046"/>
                  <a:pt x="0" y="1184193"/>
                  <a:pt x="0" y="1122698"/>
                </a:cubicBezTo>
                <a:lnTo>
                  <a:pt x="0" y="111348"/>
                </a:lnTo>
                <a:cubicBezTo>
                  <a:pt x="0" y="49893"/>
                  <a:pt x="49893" y="0"/>
                  <a:pt x="111348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0" name="Google Shape;530;p12"/>
          <p:cNvSpPr/>
          <p:nvPr/>
        </p:nvSpPr>
        <p:spPr>
          <a:xfrm>
            <a:off x="589187" y="5743416"/>
            <a:ext cx="167014" cy="167014"/>
          </a:xfrm>
          <a:custGeom>
            <a:avLst/>
            <a:gdLst/>
            <a:ahLst/>
            <a:cxnLst/>
            <a:rect l="l" t="t" r="r" b="b"/>
            <a:pathLst>
              <a:path w="167014" h="167014" extrusionOk="0">
                <a:moveTo>
                  <a:pt x="119780" y="134557"/>
                </a:moveTo>
                <a:lnTo>
                  <a:pt x="32457" y="47234"/>
                </a:lnTo>
                <a:cubicBezTo>
                  <a:pt x="25150" y="57476"/>
                  <a:pt x="20877" y="70002"/>
                  <a:pt x="20877" y="83507"/>
                </a:cubicBezTo>
                <a:cubicBezTo>
                  <a:pt x="20877" y="118084"/>
                  <a:pt x="48930" y="146137"/>
                  <a:pt x="83507" y="146137"/>
                </a:cubicBezTo>
                <a:cubicBezTo>
                  <a:pt x="97044" y="146137"/>
                  <a:pt x="109570" y="141864"/>
                  <a:pt x="119780" y="134557"/>
                </a:cubicBezTo>
                <a:close/>
                <a:moveTo>
                  <a:pt x="134557" y="119780"/>
                </a:moveTo>
                <a:cubicBezTo>
                  <a:pt x="141864" y="109537"/>
                  <a:pt x="146137" y="97011"/>
                  <a:pt x="146137" y="83507"/>
                </a:cubicBezTo>
                <a:cubicBezTo>
                  <a:pt x="146137" y="48930"/>
                  <a:pt x="118084" y="20877"/>
                  <a:pt x="83507" y="20877"/>
                </a:cubicBezTo>
                <a:cubicBezTo>
                  <a:pt x="69970" y="20877"/>
                  <a:pt x="57444" y="25150"/>
                  <a:pt x="47234" y="32457"/>
                </a:cubicBezTo>
                <a:lnTo>
                  <a:pt x="134557" y="119780"/>
                </a:lnTo>
                <a:close/>
                <a:moveTo>
                  <a:pt x="0" y="83507"/>
                </a:moveTo>
                <a:cubicBezTo>
                  <a:pt x="0" y="37418"/>
                  <a:pt x="37418" y="0"/>
                  <a:pt x="83507" y="0"/>
                </a:cubicBezTo>
                <a:cubicBezTo>
                  <a:pt x="129596" y="0"/>
                  <a:pt x="167014" y="37418"/>
                  <a:pt x="167014" y="83507"/>
                </a:cubicBezTo>
                <a:cubicBezTo>
                  <a:pt x="167014" y="129596"/>
                  <a:pt x="129596" y="167014"/>
                  <a:pt x="83507" y="167014"/>
                </a:cubicBezTo>
                <a:cubicBezTo>
                  <a:pt x="37418" y="167014"/>
                  <a:pt x="0" y="129596"/>
                  <a:pt x="0" y="83507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1" name="Google Shape;531;p12"/>
          <p:cNvSpPr/>
          <p:nvPr/>
        </p:nvSpPr>
        <p:spPr>
          <a:xfrm>
            <a:off x="779397" y="5697023"/>
            <a:ext cx="5808365" cy="259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15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No Head-of-Line Blocking</a:t>
            </a:r>
            <a:endParaRPr sz="1600" b="0" i="0" u="none" strike="noStrike" cap="none"/>
          </a:p>
        </p:txBody>
      </p:sp>
      <p:sp>
        <p:nvSpPr>
          <p:cNvPr id="532" name="Google Shape;532;p12"/>
          <p:cNvSpPr/>
          <p:nvPr/>
        </p:nvSpPr>
        <p:spPr>
          <a:xfrm>
            <a:off x="565991" y="6068164"/>
            <a:ext cx="6012493" cy="4824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QUIC handles packet loss per-stream independently—one delayed packet </a:t>
            </a:r>
            <a:r>
              <a:rPr lang="en-US" sz="116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doesn't block other streams</a:t>
            </a:r>
            <a:r>
              <a:rPr lang="en-US" sz="116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, solving HTTP/2's TCP limitation.</a:t>
            </a:r>
            <a:endParaRPr sz="1600" b="0" i="0" u="none" strike="noStrike" cap="none"/>
          </a:p>
        </p:txBody>
      </p:sp>
      <p:sp>
        <p:nvSpPr>
          <p:cNvPr id="533" name="Google Shape;533;p12"/>
          <p:cNvSpPr/>
          <p:nvPr/>
        </p:nvSpPr>
        <p:spPr>
          <a:xfrm>
            <a:off x="6998483" y="1312913"/>
            <a:ext cx="4815562" cy="3776365"/>
          </a:xfrm>
          <a:custGeom>
            <a:avLst/>
            <a:gdLst/>
            <a:ahLst/>
            <a:cxnLst/>
            <a:rect l="l" t="t" r="r" b="b"/>
            <a:pathLst>
              <a:path w="4815562" h="3776365" extrusionOk="0">
                <a:moveTo>
                  <a:pt x="148449" y="0"/>
                </a:moveTo>
                <a:lnTo>
                  <a:pt x="4667113" y="0"/>
                </a:lnTo>
                <a:cubicBezTo>
                  <a:pt x="4749099" y="0"/>
                  <a:pt x="4815562" y="66463"/>
                  <a:pt x="4815562" y="148449"/>
                </a:cubicBezTo>
                <a:lnTo>
                  <a:pt x="4815562" y="3627916"/>
                </a:lnTo>
                <a:cubicBezTo>
                  <a:pt x="4815562" y="3709902"/>
                  <a:pt x="4749099" y="3776365"/>
                  <a:pt x="4667113" y="3776365"/>
                </a:cubicBezTo>
                <a:lnTo>
                  <a:pt x="148449" y="3776365"/>
                </a:lnTo>
                <a:cubicBezTo>
                  <a:pt x="66463" y="3776365"/>
                  <a:pt x="0" y="3709902"/>
                  <a:pt x="0" y="3627916"/>
                </a:cubicBezTo>
                <a:lnTo>
                  <a:pt x="0" y="148449"/>
                </a:lnTo>
                <a:cubicBezTo>
                  <a:pt x="0" y="66518"/>
                  <a:pt x="66518" y="0"/>
                  <a:pt x="148449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788A9C">
                  <a:alpha val="10196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4" name="Google Shape;534;p12"/>
          <p:cNvSpPr/>
          <p:nvPr/>
        </p:nvSpPr>
        <p:spPr>
          <a:xfrm>
            <a:off x="7179414" y="1540237"/>
            <a:ext cx="4453699" cy="259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HTTP/2 vs HTTP/3 Architecture</a:t>
            </a:r>
            <a:endParaRPr sz="1600" b="0" i="0" u="none" strike="noStrike" cap="none"/>
          </a:p>
        </p:txBody>
      </p:sp>
      <p:sp>
        <p:nvSpPr>
          <p:cNvPr id="535" name="Google Shape;535;p12"/>
          <p:cNvSpPr/>
          <p:nvPr/>
        </p:nvSpPr>
        <p:spPr>
          <a:xfrm>
            <a:off x="7188693" y="1985607"/>
            <a:ext cx="2161900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HTTP/2 (TCP)</a:t>
            </a:r>
            <a:endParaRPr sz="1600" b="0" i="0" u="none" strike="noStrike" cap="none"/>
          </a:p>
        </p:txBody>
      </p:sp>
      <p:sp>
        <p:nvSpPr>
          <p:cNvPr id="536" name="Google Shape;536;p12"/>
          <p:cNvSpPr/>
          <p:nvPr/>
        </p:nvSpPr>
        <p:spPr>
          <a:xfrm>
            <a:off x="7230446" y="2324274"/>
            <a:ext cx="2078393" cy="2533041"/>
          </a:xfrm>
          <a:custGeom>
            <a:avLst/>
            <a:gdLst/>
            <a:ahLst/>
            <a:cxnLst/>
            <a:rect l="l" t="t" r="r" b="b"/>
            <a:pathLst>
              <a:path w="2078393" h="2533041" extrusionOk="0">
                <a:moveTo>
                  <a:pt x="111339" y="0"/>
                </a:moveTo>
                <a:lnTo>
                  <a:pt x="1967053" y="0"/>
                </a:lnTo>
                <a:cubicBezTo>
                  <a:pt x="2028544" y="0"/>
                  <a:pt x="2078393" y="49848"/>
                  <a:pt x="2078393" y="111339"/>
                </a:cubicBezTo>
                <a:lnTo>
                  <a:pt x="2078393" y="2421702"/>
                </a:lnTo>
                <a:cubicBezTo>
                  <a:pt x="2078393" y="2483193"/>
                  <a:pt x="2028544" y="2533041"/>
                  <a:pt x="1967053" y="2533041"/>
                </a:cubicBezTo>
                <a:lnTo>
                  <a:pt x="111339" y="2533041"/>
                </a:lnTo>
                <a:cubicBezTo>
                  <a:pt x="49848" y="2533041"/>
                  <a:pt x="0" y="2483193"/>
                  <a:pt x="0" y="2421702"/>
                </a:cubicBezTo>
                <a:lnTo>
                  <a:pt x="0" y="111339"/>
                </a:lnTo>
                <a:cubicBezTo>
                  <a:pt x="0" y="49848"/>
                  <a:pt x="49848" y="0"/>
                  <a:pt x="11133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788A9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7" name="Google Shape;537;p12"/>
          <p:cNvSpPr/>
          <p:nvPr/>
        </p:nvSpPr>
        <p:spPr>
          <a:xfrm>
            <a:off x="7604053" y="2482009"/>
            <a:ext cx="1326831" cy="380420"/>
          </a:xfrm>
          <a:custGeom>
            <a:avLst/>
            <a:gdLst/>
            <a:ahLst/>
            <a:cxnLst/>
            <a:rect l="l" t="t" r="r" b="b"/>
            <a:pathLst>
              <a:path w="1326831" h="380420" extrusionOk="0">
                <a:moveTo>
                  <a:pt x="74228" y="0"/>
                </a:moveTo>
                <a:lnTo>
                  <a:pt x="1252603" y="0"/>
                </a:lnTo>
                <a:cubicBezTo>
                  <a:pt x="1293571" y="0"/>
                  <a:pt x="1326831" y="33260"/>
                  <a:pt x="1326831" y="74228"/>
                </a:cubicBezTo>
                <a:lnTo>
                  <a:pt x="1326831" y="306193"/>
                </a:lnTo>
                <a:cubicBezTo>
                  <a:pt x="1326831" y="347160"/>
                  <a:pt x="1293571" y="380420"/>
                  <a:pt x="1252603" y="380420"/>
                </a:cubicBezTo>
                <a:lnTo>
                  <a:pt x="74228" y="380420"/>
                </a:lnTo>
                <a:cubicBezTo>
                  <a:pt x="33260" y="380420"/>
                  <a:pt x="0" y="347160"/>
                  <a:pt x="0" y="306193"/>
                </a:cubicBezTo>
                <a:lnTo>
                  <a:pt x="0" y="74228"/>
                </a:lnTo>
                <a:cubicBezTo>
                  <a:pt x="0" y="33260"/>
                  <a:pt x="33260" y="0"/>
                  <a:pt x="74228" y="0"/>
                </a:cubicBezTo>
                <a:close/>
              </a:path>
            </a:pathLst>
          </a:custGeom>
          <a:solidFill>
            <a:srgbClr val="788A9C">
              <a:alpha val="20000"/>
            </a:srgbClr>
          </a:solidFill>
          <a:ln w="12700" cap="flat" cmpd="sng">
            <a:solidFill>
              <a:srgbClr val="788A9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8" name="Google Shape;538;p12"/>
          <p:cNvSpPr/>
          <p:nvPr/>
        </p:nvSpPr>
        <p:spPr>
          <a:xfrm>
            <a:off x="7720034" y="2560877"/>
            <a:ext cx="1094868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TCP Connection</a:t>
            </a:r>
            <a:endParaRPr sz="1600" b="0" i="0" u="none" strike="noStrike" cap="none"/>
          </a:p>
        </p:txBody>
      </p:sp>
      <p:sp>
        <p:nvSpPr>
          <p:cNvPr id="539" name="Google Shape;539;p12"/>
          <p:cNvSpPr/>
          <p:nvPr/>
        </p:nvSpPr>
        <p:spPr>
          <a:xfrm>
            <a:off x="7383542" y="2978411"/>
            <a:ext cx="1772201" cy="371142"/>
          </a:xfrm>
          <a:custGeom>
            <a:avLst/>
            <a:gdLst/>
            <a:ahLst/>
            <a:cxnLst/>
            <a:rect l="l" t="t" r="r" b="b"/>
            <a:pathLst>
              <a:path w="1772201" h="371142" extrusionOk="0">
                <a:moveTo>
                  <a:pt x="37114" y="0"/>
                </a:moveTo>
                <a:lnTo>
                  <a:pt x="1735087" y="0"/>
                </a:lnTo>
                <a:cubicBezTo>
                  <a:pt x="1755584" y="0"/>
                  <a:pt x="1772201" y="16617"/>
                  <a:pt x="1772201" y="37114"/>
                </a:cubicBezTo>
                <a:lnTo>
                  <a:pt x="1772201" y="334027"/>
                </a:lnTo>
                <a:cubicBezTo>
                  <a:pt x="1772201" y="354525"/>
                  <a:pt x="1755584" y="371142"/>
                  <a:pt x="1735087" y="371142"/>
                </a:cubicBezTo>
                <a:lnTo>
                  <a:pt x="37114" y="371142"/>
                </a:lnTo>
                <a:cubicBezTo>
                  <a:pt x="16630" y="371142"/>
                  <a:pt x="0" y="354511"/>
                  <a:pt x="0" y="334027"/>
                </a:cubicBezTo>
                <a:lnTo>
                  <a:pt x="0" y="37114"/>
                </a:lnTo>
                <a:cubicBezTo>
                  <a:pt x="0" y="16630"/>
                  <a:pt x="16630" y="0"/>
                  <a:pt x="37114" y="0"/>
                </a:cubicBezTo>
                <a:close/>
              </a:path>
            </a:pathLst>
          </a:custGeom>
          <a:solidFill>
            <a:srgbClr val="B89A6B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0" name="Google Shape;540;p12"/>
          <p:cNvSpPr/>
          <p:nvPr/>
        </p:nvSpPr>
        <p:spPr>
          <a:xfrm>
            <a:off x="7351067" y="2978411"/>
            <a:ext cx="1837151" cy="371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Stream 1</a:t>
            </a:r>
            <a:endParaRPr sz="1600" b="0" i="0" u="none" strike="noStrike" cap="none"/>
          </a:p>
        </p:txBody>
      </p:sp>
      <p:sp>
        <p:nvSpPr>
          <p:cNvPr id="541" name="Google Shape;541;p12"/>
          <p:cNvSpPr/>
          <p:nvPr/>
        </p:nvSpPr>
        <p:spPr>
          <a:xfrm>
            <a:off x="7383542" y="3423781"/>
            <a:ext cx="1772201" cy="371142"/>
          </a:xfrm>
          <a:custGeom>
            <a:avLst/>
            <a:gdLst/>
            <a:ahLst/>
            <a:cxnLst/>
            <a:rect l="l" t="t" r="r" b="b"/>
            <a:pathLst>
              <a:path w="1772201" h="371142" extrusionOk="0">
                <a:moveTo>
                  <a:pt x="37114" y="0"/>
                </a:moveTo>
                <a:lnTo>
                  <a:pt x="1735087" y="0"/>
                </a:lnTo>
                <a:cubicBezTo>
                  <a:pt x="1755584" y="0"/>
                  <a:pt x="1772201" y="16617"/>
                  <a:pt x="1772201" y="37114"/>
                </a:cubicBezTo>
                <a:lnTo>
                  <a:pt x="1772201" y="334027"/>
                </a:lnTo>
                <a:cubicBezTo>
                  <a:pt x="1772201" y="354525"/>
                  <a:pt x="1755584" y="371142"/>
                  <a:pt x="1735087" y="371142"/>
                </a:cubicBezTo>
                <a:lnTo>
                  <a:pt x="37114" y="371142"/>
                </a:lnTo>
                <a:cubicBezTo>
                  <a:pt x="16630" y="371142"/>
                  <a:pt x="0" y="354511"/>
                  <a:pt x="0" y="334027"/>
                </a:cubicBezTo>
                <a:lnTo>
                  <a:pt x="0" y="37114"/>
                </a:lnTo>
                <a:cubicBezTo>
                  <a:pt x="0" y="16630"/>
                  <a:pt x="16630" y="0"/>
                  <a:pt x="37114" y="0"/>
                </a:cubicBezTo>
                <a:close/>
              </a:path>
            </a:pathLst>
          </a:custGeom>
          <a:solidFill>
            <a:srgbClr val="4A6C8C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12"/>
          <p:cNvSpPr/>
          <p:nvPr/>
        </p:nvSpPr>
        <p:spPr>
          <a:xfrm>
            <a:off x="7351067" y="3423781"/>
            <a:ext cx="1837151" cy="371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Stream 2</a:t>
            </a:r>
            <a:endParaRPr sz="1600" b="0" i="0" u="none" strike="noStrike" cap="none"/>
          </a:p>
        </p:txBody>
      </p:sp>
      <p:sp>
        <p:nvSpPr>
          <p:cNvPr id="543" name="Google Shape;543;p12"/>
          <p:cNvSpPr/>
          <p:nvPr/>
        </p:nvSpPr>
        <p:spPr>
          <a:xfrm>
            <a:off x="7383542" y="3869151"/>
            <a:ext cx="1772201" cy="371142"/>
          </a:xfrm>
          <a:custGeom>
            <a:avLst/>
            <a:gdLst/>
            <a:ahLst/>
            <a:cxnLst/>
            <a:rect l="l" t="t" r="r" b="b"/>
            <a:pathLst>
              <a:path w="1772201" h="371142" extrusionOk="0">
                <a:moveTo>
                  <a:pt x="37114" y="0"/>
                </a:moveTo>
                <a:lnTo>
                  <a:pt x="1735087" y="0"/>
                </a:lnTo>
                <a:cubicBezTo>
                  <a:pt x="1755584" y="0"/>
                  <a:pt x="1772201" y="16617"/>
                  <a:pt x="1772201" y="37114"/>
                </a:cubicBezTo>
                <a:lnTo>
                  <a:pt x="1772201" y="334027"/>
                </a:lnTo>
                <a:cubicBezTo>
                  <a:pt x="1772201" y="354525"/>
                  <a:pt x="1755584" y="371142"/>
                  <a:pt x="1735087" y="371142"/>
                </a:cubicBezTo>
                <a:lnTo>
                  <a:pt x="37114" y="371142"/>
                </a:lnTo>
                <a:cubicBezTo>
                  <a:pt x="16630" y="371142"/>
                  <a:pt x="0" y="354511"/>
                  <a:pt x="0" y="334027"/>
                </a:cubicBezTo>
                <a:lnTo>
                  <a:pt x="0" y="37114"/>
                </a:lnTo>
                <a:cubicBezTo>
                  <a:pt x="0" y="16630"/>
                  <a:pt x="16630" y="0"/>
                  <a:pt x="37114" y="0"/>
                </a:cubicBezTo>
                <a:close/>
              </a:path>
            </a:pathLst>
          </a:custGeom>
          <a:solidFill>
            <a:srgbClr val="788A9C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4" name="Google Shape;544;p12"/>
          <p:cNvSpPr/>
          <p:nvPr/>
        </p:nvSpPr>
        <p:spPr>
          <a:xfrm>
            <a:off x="7351067" y="3869151"/>
            <a:ext cx="1837151" cy="371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Stream 3</a:t>
            </a:r>
            <a:endParaRPr sz="1600" b="0" i="0" u="none" strike="noStrike" cap="none"/>
          </a:p>
        </p:txBody>
      </p:sp>
      <p:sp>
        <p:nvSpPr>
          <p:cNvPr id="545" name="Google Shape;545;p12"/>
          <p:cNvSpPr/>
          <p:nvPr/>
        </p:nvSpPr>
        <p:spPr>
          <a:xfrm>
            <a:off x="7388182" y="4356274"/>
            <a:ext cx="1762922" cy="343306"/>
          </a:xfrm>
          <a:custGeom>
            <a:avLst/>
            <a:gdLst/>
            <a:ahLst/>
            <a:cxnLst/>
            <a:rect l="l" t="t" r="r" b="b"/>
            <a:pathLst>
              <a:path w="1762922" h="343306" extrusionOk="0">
                <a:moveTo>
                  <a:pt x="74230" y="0"/>
                </a:moveTo>
                <a:lnTo>
                  <a:pt x="1688693" y="0"/>
                </a:lnTo>
                <a:cubicBezTo>
                  <a:pt x="1729661" y="0"/>
                  <a:pt x="1762922" y="33261"/>
                  <a:pt x="1762922" y="74230"/>
                </a:cubicBezTo>
                <a:lnTo>
                  <a:pt x="1762922" y="269076"/>
                </a:lnTo>
                <a:cubicBezTo>
                  <a:pt x="1762922" y="310072"/>
                  <a:pt x="1729689" y="343306"/>
                  <a:pt x="1688693" y="343306"/>
                </a:cubicBezTo>
                <a:lnTo>
                  <a:pt x="74230" y="343306"/>
                </a:lnTo>
                <a:cubicBezTo>
                  <a:pt x="33234" y="343306"/>
                  <a:pt x="0" y="310072"/>
                  <a:pt x="0" y="269076"/>
                </a:cubicBezTo>
                <a:lnTo>
                  <a:pt x="0" y="74230"/>
                </a:lnTo>
                <a:cubicBezTo>
                  <a:pt x="0" y="33261"/>
                  <a:pt x="33261" y="0"/>
                  <a:pt x="74230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6" name="Google Shape;546;p12"/>
          <p:cNvSpPr/>
          <p:nvPr/>
        </p:nvSpPr>
        <p:spPr>
          <a:xfrm>
            <a:off x="7603183" y="4462977"/>
            <a:ext cx="129900" cy="129900"/>
          </a:xfrm>
          <a:custGeom>
            <a:avLst/>
            <a:gdLst/>
            <a:ahLst/>
            <a:cxnLst/>
            <a:rect l="l" t="t" r="r" b="b"/>
            <a:pathLst>
              <a:path w="129900" h="129900" extrusionOk="0">
                <a:moveTo>
                  <a:pt x="64950" y="0"/>
                </a:moveTo>
                <a:cubicBezTo>
                  <a:pt x="68679" y="0"/>
                  <a:pt x="72104" y="2055"/>
                  <a:pt x="73880" y="5328"/>
                </a:cubicBezTo>
                <a:lnTo>
                  <a:pt x="128682" y="106812"/>
                </a:lnTo>
                <a:cubicBezTo>
                  <a:pt x="130382" y="109958"/>
                  <a:pt x="130305" y="113764"/>
                  <a:pt x="128479" y="116833"/>
                </a:cubicBezTo>
                <a:cubicBezTo>
                  <a:pt x="126652" y="119903"/>
                  <a:pt x="123328" y="121781"/>
                  <a:pt x="119751" y="121781"/>
                </a:cubicBezTo>
                <a:lnTo>
                  <a:pt x="10148" y="121781"/>
                </a:lnTo>
                <a:cubicBezTo>
                  <a:pt x="6571" y="121781"/>
                  <a:pt x="3273" y="119903"/>
                  <a:pt x="1421" y="116833"/>
                </a:cubicBezTo>
                <a:cubicBezTo>
                  <a:pt x="-431" y="113764"/>
                  <a:pt x="-482" y="109958"/>
                  <a:pt x="1218" y="106812"/>
                </a:cubicBezTo>
                <a:lnTo>
                  <a:pt x="56019" y="5328"/>
                </a:lnTo>
                <a:cubicBezTo>
                  <a:pt x="57795" y="2055"/>
                  <a:pt x="61220" y="0"/>
                  <a:pt x="64950" y="0"/>
                </a:cubicBezTo>
                <a:close/>
                <a:moveTo>
                  <a:pt x="64950" y="42623"/>
                </a:moveTo>
                <a:cubicBezTo>
                  <a:pt x="61575" y="42623"/>
                  <a:pt x="58861" y="45338"/>
                  <a:pt x="58861" y="48712"/>
                </a:cubicBezTo>
                <a:lnTo>
                  <a:pt x="58861" y="77128"/>
                </a:lnTo>
                <a:cubicBezTo>
                  <a:pt x="58861" y="80502"/>
                  <a:pt x="61575" y="83217"/>
                  <a:pt x="64950" y="83217"/>
                </a:cubicBezTo>
                <a:cubicBezTo>
                  <a:pt x="68324" y="83217"/>
                  <a:pt x="71039" y="80502"/>
                  <a:pt x="71039" y="77128"/>
                </a:cubicBezTo>
                <a:lnTo>
                  <a:pt x="71039" y="48712"/>
                </a:lnTo>
                <a:cubicBezTo>
                  <a:pt x="71039" y="45338"/>
                  <a:pt x="68324" y="42623"/>
                  <a:pt x="64950" y="42623"/>
                </a:cubicBezTo>
                <a:close/>
                <a:moveTo>
                  <a:pt x="71724" y="97425"/>
                </a:moveTo>
                <a:cubicBezTo>
                  <a:pt x="71878" y="94910"/>
                  <a:pt x="70624" y="92518"/>
                  <a:pt x="68468" y="91214"/>
                </a:cubicBezTo>
                <a:cubicBezTo>
                  <a:pt x="66313" y="89910"/>
                  <a:pt x="63612" y="89910"/>
                  <a:pt x="61456" y="91214"/>
                </a:cubicBezTo>
                <a:cubicBezTo>
                  <a:pt x="59301" y="92518"/>
                  <a:pt x="58047" y="94910"/>
                  <a:pt x="58201" y="97425"/>
                </a:cubicBezTo>
                <a:cubicBezTo>
                  <a:pt x="58047" y="99939"/>
                  <a:pt x="59301" y="102331"/>
                  <a:pt x="61456" y="103635"/>
                </a:cubicBezTo>
                <a:cubicBezTo>
                  <a:pt x="63612" y="104939"/>
                  <a:pt x="66313" y="104939"/>
                  <a:pt x="68468" y="103635"/>
                </a:cubicBezTo>
                <a:cubicBezTo>
                  <a:pt x="70624" y="102331"/>
                  <a:pt x="71878" y="99939"/>
                  <a:pt x="71724" y="97425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7" name="Google Shape;547;p12"/>
          <p:cNvSpPr/>
          <p:nvPr/>
        </p:nvSpPr>
        <p:spPr>
          <a:xfrm>
            <a:off x="7628703" y="4435142"/>
            <a:ext cx="1476008" cy="185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Packet loss blocks all</a:t>
            </a:r>
            <a:endParaRPr sz="1600" b="0" i="0" u="none" strike="noStrike" cap="none"/>
          </a:p>
        </p:txBody>
      </p:sp>
      <p:sp>
        <p:nvSpPr>
          <p:cNvPr id="548" name="Google Shape;548;p12"/>
          <p:cNvSpPr/>
          <p:nvPr/>
        </p:nvSpPr>
        <p:spPr>
          <a:xfrm>
            <a:off x="9461935" y="1985607"/>
            <a:ext cx="2161900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HTTP/3 (QUIC)</a:t>
            </a:r>
            <a:endParaRPr sz="1600" b="0" i="0" u="none" strike="noStrike" cap="none"/>
          </a:p>
        </p:txBody>
      </p:sp>
      <p:sp>
        <p:nvSpPr>
          <p:cNvPr id="549" name="Google Shape;549;p12"/>
          <p:cNvSpPr/>
          <p:nvPr/>
        </p:nvSpPr>
        <p:spPr>
          <a:xfrm>
            <a:off x="9503688" y="2324274"/>
            <a:ext cx="2078393" cy="2533041"/>
          </a:xfrm>
          <a:custGeom>
            <a:avLst/>
            <a:gdLst/>
            <a:ahLst/>
            <a:cxnLst/>
            <a:rect l="l" t="t" r="r" b="b"/>
            <a:pathLst>
              <a:path w="2078393" h="2533041" extrusionOk="0">
                <a:moveTo>
                  <a:pt x="111339" y="0"/>
                </a:moveTo>
                <a:lnTo>
                  <a:pt x="1967053" y="0"/>
                </a:lnTo>
                <a:cubicBezTo>
                  <a:pt x="2028544" y="0"/>
                  <a:pt x="2078393" y="49848"/>
                  <a:pt x="2078393" y="111339"/>
                </a:cubicBezTo>
                <a:lnTo>
                  <a:pt x="2078393" y="2421702"/>
                </a:lnTo>
                <a:cubicBezTo>
                  <a:pt x="2078393" y="2483193"/>
                  <a:pt x="2028544" y="2533041"/>
                  <a:pt x="1967053" y="2533041"/>
                </a:cubicBezTo>
                <a:lnTo>
                  <a:pt x="111339" y="2533041"/>
                </a:lnTo>
                <a:cubicBezTo>
                  <a:pt x="49848" y="2533041"/>
                  <a:pt x="0" y="2483193"/>
                  <a:pt x="0" y="2421702"/>
                </a:cubicBezTo>
                <a:lnTo>
                  <a:pt x="0" y="111339"/>
                </a:lnTo>
                <a:cubicBezTo>
                  <a:pt x="0" y="49848"/>
                  <a:pt x="49848" y="0"/>
                  <a:pt x="11133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B89A6B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0" name="Google Shape;550;p12"/>
          <p:cNvSpPr/>
          <p:nvPr/>
        </p:nvSpPr>
        <p:spPr>
          <a:xfrm>
            <a:off x="10007484" y="2482009"/>
            <a:ext cx="1067032" cy="380420"/>
          </a:xfrm>
          <a:custGeom>
            <a:avLst/>
            <a:gdLst/>
            <a:ahLst/>
            <a:cxnLst/>
            <a:rect l="l" t="t" r="r" b="b"/>
            <a:pathLst>
              <a:path w="1067032" h="380420" extrusionOk="0">
                <a:moveTo>
                  <a:pt x="74228" y="0"/>
                </a:moveTo>
                <a:lnTo>
                  <a:pt x="992804" y="0"/>
                </a:lnTo>
                <a:cubicBezTo>
                  <a:pt x="1033772" y="0"/>
                  <a:pt x="1067032" y="33260"/>
                  <a:pt x="1067032" y="74228"/>
                </a:cubicBezTo>
                <a:lnTo>
                  <a:pt x="1067032" y="306193"/>
                </a:lnTo>
                <a:cubicBezTo>
                  <a:pt x="1067032" y="347160"/>
                  <a:pt x="1033772" y="380420"/>
                  <a:pt x="992804" y="380420"/>
                </a:cubicBezTo>
                <a:lnTo>
                  <a:pt x="74228" y="380420"/>
                </a:lnTo>
                <a:cubicBezTo>
                  <a:pt x="33260" y="380420"/>
                  <a:pt x="0" y="347160"/>
                  <a:pt x="0" y="306193"/>
                </a:cubicBezTo>
                <a:lnTo>
                  <a:pt x="0" y="74228"/>
                </a:lnTo>
                <a:cubicBezTo>
                  <a:pt x="0" y="33260"/>
                  <a:pt x="33260" y="0"/>
                  <a:pt x="74228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 w="12700" cap="flat" cmpd="sng">
            <a:solidFill>
              <a:srgbClr val="B89A6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1" name="Google Shape;551;p12"/>
          <p:cNvSpPr/>
          <p:nvPr/>
        </p:nvSpPr>
        <p:spPr>
          <a:xfrm>
            <a:off x="10123466" y="2560877"/>
            <a:ext cx="835068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QUIC (UDP)</a:t>
            </a:r>
            <a:endParaRPr sz="1600" b="0" i="0" u="none" strike="noStrike" cap="none"/>
          </a:p>
        </p:txBody>
      </p:sp>
      <p:sp>
        <p:nvSpPr>
          <p:cNvPr id="552" name="Google Shape;552;p12"/>
          <p:cNvSpPr/>
          <p:nvPr/>
        </p:nvSpPr>
        <p:spPr>
          <a:xfrm>
            <a:off x="9656784" y="2978411"/>
            <a:ext cx="1772201" cy="371142"/>
          </a:xfrm>
          <a:custGeom>
            <a:avLst/>
            <a:gdLst/>
            <a:ahLst/>
            <a:cxnLst/>
            <a:rect l="l" t="t" r="r" b="b"/>
            <a:pathLst>
              <a:path w="1772201" h="371142" extrusionOk="0">
                <a:moveTo>
                  <a:pt x="37114" y="0"/>
                </a:moveTo>
                <a:lnTo>
                  <a:pt x="1735087" y="0"/>
                </a:lnTo>
                <a:cubicBezTo>
                  <a:pt x="1755584" y="0"/>
                  <a:pt x="1772201" y="16617"/>
                  <a:pt x="1772201" y="37114"/>
                </a:cubicBezTo>
                <a:lnTo>
                  <a:pt x="1772201" y="334027"/>
                </a:lnTo>
                <a:cubicBezTo>
                  <a:pt x="1772201" y="354525"/>
                  <a:pt x="1755584" y="371142"/>
                  <a:pt x="1735087" y="371142"/>
                </a:cubicBezTo>
                <a:lnTo>
                  <a:pt x="37114" y="371142"/>
                </a:lnTo>
                <a:cubicBezTo>
                  <a:pt x="16630" y="371142"/>
                  <a:pt x="0" y="354511"/>
                  <a:pt x="0" y="334027"/>
                </a:cubicBezTo>
                <a:lnTo>
                  <a:pt x="0" y="37114"/>
                </a:lnTo>
                <a:cubicBezTo>
                  <a:pt x="0" y="16630"/>
                  <a:pt x="16630" y="0"/>
                  <a:pt x="37114" y="0"/>
                </a:cubicBezTo>
                <a:close/>
              </a:path>
            </a:pathLst>
          </a:custGeom>
          <a:solidFill>
            <a:srgbClr val="B89A6B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3" name="Google Shape;553;p12"/>
          <p:cNvSpPr/>
          <p:nvPr/>
        </p:nvSpPr>
        <p:spPr>
          <a:xfrm>
            <a:off x="9624309" y="2978411"/>
            <a:ext cx="1837151" cy="371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Stream 1</a:t>
            </a:r>
            <a:endParaRPr sz="1600" b="0" i="0" u="none" strike="noStrike" cap="none"/>
          </a:p>
        </p:txBody>
      </p:sp>
      <p:sp>
        <p:nvSpPr>
          <p:cNvPr id="554" name="Google Shape;554;p12"/>
          <p:cNvSpPr/>
          <p:nvPr/>
        </p:nvSpPr>
        <p:spPr>
          <a:xfrm>
            <a:off x="9656784" y="3423781"/>
            <a:ext cx="1772201" cy="371142"/>
          </a:xfrm>
          <a:custGeom>
            <a:avLst/>
            <a:gdLst/>
            <a:ahLst/>
            <a:cxnLst/>
            <a:rect l="l" t="t" r="r" b="b"/>
            <a:pathLst>
              <a:path w="1772201" h="371142" extrusionOk="0">
                <a:moveTo>
                  <a:pt x="37114" y="0"/>
                </a:moveTo>
                <a:lnTo>
                  <a:pt x="1735087" y="0"/>
                </a:lnTo>
                <a:cubicBezTo>
                  <a:pt x="1755584" y="0"/>
                  <a:pt x="1772201" y="16617"/>
                  <a:pt x="1772201" y="37114"/>
                </a:cubicBezTo>
                <a:lnTo>
                  <a:pt x="1772201" y="334027"/>
                </a:lnTo>
                <a:cubicBezTo>
                  <a:pt x="1772201" y="354525"/>
                  <a:pt x="1755584" y="371142"/>
                  <a:pt x="1735087" y="371142"/>
                </a:cubicBezTo>
                <a:lnTo>
                  <a:pt x="37114" y="371142"/>
                </a:lnTo>
                <a:cubicBezTo>
                  <a:pt x="16630" y="371142"/>
                  <a:pt x="0" y="354511"/>
                  <a:pt x="0" y="334027"/>
                </a:cubicBezTo>
                <a:lnTo>
                  <a:pt x="0" y="37114"/>
                </a:lnTo>
                <a:cubicBezTo>
                  <a:pt x="0" y="16630"/>
                  <a:pt x="16630" y="0"/>
                  <a:pt x="37114" y="0"/>
                </a:cubicBezTo>
                <a:close/>
              </a:path>
            </a:pathLst>
          </a:custGeom>
          <a:solidFill>
            <a:srgbClr val="4A6C8C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12"/>
          <p:cNvSpPr/>
          <p:nvPr/>
        </p:nvSpPr>
        <p:spPr>
          <a:xfrm>
            <a:off x="9624309" y="3423781"/>
            <a:ext cx="1837151" cy="371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Stream 2</a:t>
            </a:r>
            <a:endParaRPr sz="1600" b="0" i="0" u="none" strike="noStrike" cap="none"/>
          </a:p>
        </p:txBody>
      </p:sp>
      <p:sp>
        <p:nvSpPr>
          <p:cNvPr id="556" name="Google Shape;556;p12"/>
          <p:cNvSpPr/>
          <p:nvPr/>
        </p:nvSpPr>
        <p:spPr>
          <a:xfrm>
            <a:off x="9656784" y="3869151"/>
            <a:ext cx="1772201" cy="371142"/>
          </a:xfrm>
          <a:custGeom>
            <a:avLst/>
            <a:gdLst/>
            <a:ahLst/>
            <a:cxnLst/>
            <a:rect l="l" t="t" r="r" b="b"/>
            <a:pathLst>
              <a:path w="1772201" h="371142" extrusionOk="0">
                <a:moveTo>
                  <a:pt x="37114" y="0"/>
                </a:moveTo>
                <a:lnTo>
                  <a:pt x="1735087" y="0"/>
                </a:lnTo>
                <a:cubicBezTo>
                  <a:pt x="1755584" y="0"/>
                  <a:pt x="1772201" y="16617"/>
                  <a:pt x="1772201" y="37114"/>
                </a:cubicBezTo>
                <a:lnTo>
                  <a:pt x="1772201" y="334027"/>
                </a:lnTo>
                <a:cubicBezTo>
                  <a:pt x="1772201" y="354525"/>
                  <a:pt x="1755584" y="371142"/>
                  <a:pt x="1735087" y="371142"/>
                </a:cubicBezTo>
                <a:lnTo>
                  <a:pt x="37114" y="371142"/>
                </a:lnTo>
                <a:cubicBezTo>
                  <a:pt x="16630" y="371142"/>
                  <a:pt x="0" y="354511"/>
                  <a:pt x="0" y="334027"/>
                </a:cubicBezTo>
                <a:lnTo>
                  <a:pt x="0" y="37114"/>
                </a:lnTo>
                <a:cubicBezTo>
                  <a:pt x="0" y="16630"/>
                  <a:pt x="16630" y="0"/>
                  <a:pt x="37114" y="0"/>
                </a:cubicBezTo>
                <a:close/>
              </a:path>
            </a:pathLst>
          </a:custGeom>
          <a:solidFill>
            <a:srgbClr val="788A9C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12"/>
          <p:cNvSpPr/>
          <p:nvPr/>
        </p:nvSpPr>
        <p:spPr>
          <a:xfrm>
            <a:off x="9624309" y="3869151"/>
            <a:ext cx="1837151" cy="371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Stream 3</a:t>
            </a:r>
            <a:endParaRPr sz="1600" b="0" i="0" u="none" strike="noStrike" cap="none"/>
          </a:p>
        </p:txBody>
      </p:sp>
      <p:sp>
        <p:nvSpPr>
          <p:cNvPr id="558" name="Google Shape;558;p12"/>
          <p:cNvSpPr/>
          <p:nvPr/>
        </p:nvSpPr>
        <p:spPr>
          <a:xfrm>
            <a:off x="9661424" y="4356274"/>
            <a:ext cx="1762922" cy="343306"/>
          </a:xfrm>
          <a:custGeom>
            <a:avLst/>
            <a:gdLst/>
            <a:ahLst/>
            <a:cxnLst/>
            <a:rect l="l" t="t" r="r" b="b"/>
            <a:pathLst>
              <a:path w="1762922" h="343306" extrusionOk="0">
                <a:moveTo>
                  <a:pt x="74230" y="0"/>
                </a:moveTo>
                <a:lnTo>
                  <a:pt x="1688693" y="0"/>
                </a:lnTo>
                <a:cubicBezTo>
                  <a:pt x="1729661" y="0"/>
                  <a:pt x="1762922" y="33261"/>
                  <a:pt x="1762922" y="74230"/>
                </a:cubicBezTo>
                <a:lnTo>
                  <a:pt x="1762922" y="269076"/>
                </a:lnTo>
                <a:cubicBezTo>
                  <a:pt x="1762922" y="310072"/>
                  <a:pt x="1729689" y="343306"/>
                  <a:pt x="1688693" y="343306"/>
                </a:cubicBezTo>
                <a:lnTo>
                  <a:pt x="74230" y="343306"/>
                </a:lnTo>
                <a:cubicBezTo>
                  <a:pt x="33234" y="343306"/>
                  <a:pt x="0" y="310072"/>
                  <a:pt x="0" y="269076"/>
                </a:cubicBezTo>
                <a:lnTo>
                  <a:pt x="0" y="74230"/>
                </a:lnTo>
                <a:cubicBezTo>
                  <a:pt x="0" y="33261"/>
                  <a:pt x="33261" y="0"/>
                  <a:pt x="74230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12"/>
          <p:cNvSpPr/>
          <p:nvPr/>
        </p:nvSpPr>
        <p:spPr>
          <a:xfrm>
            <a:off x="9874250" y="4462977"/>
            <a:ext cx="113662" cy="129900"/>
          </a:xfrm>
          <a:custGeom>
            <a:avLst/>
            <a:gdLst/>
            <a:ahLst/>
            <a:cxnLst/>
            <a:rect l="l" t="t" r="r" b="b"/>
            <a:pathLst>
              <a:path w="113662" h="129900" extrusionOk="0">
                <a:moveTo>
                  <a:pt x="110313" y="17785"/>
                </a:moveTo>
                <a:cubicBezTo>
                  <a:pt x="113941" y="20424"/>
                  <a:pt x="114753" y="25498"/>
                  <a:pt x="112114" y="29126"/>
                </a:cubicBezTo>
                <a:lnTo>
                  <a:pt x="47165" y="118432"/>
                </a:lnTo>
                <a:cubicBezTo>
                  <a:pt x="45769" y="120360"/>
                  <a:pt x="43613" y="121552"/>
                  <a:pt x="41228" y="121755"/>
                </a:cubicBezTo>
                <a:cubicBezTo>
                  <a:pt x="38843" y="121958"/>
                  <a:pt x="36534" y="121070"/>
                  <a:pt x="34860" y="119396"/>
                </a:cubicBezTo>
                <a:lnTo>
                  <a:pt x="2385" y="86921"/>
                </a:lnTo>
                <a:cubicBezTo>
                  <a:pt x="-787" y="83750"/>
                  <a:pt x="-787" y="78599"/>
                  <a:pt x="2385" y="75428"/>
                </a:cubicBezTo>
                <a:cubicBezTo>
                  <a:pt x="5556" y="72257"/>
                  <a:pt x="10707" y="72257"/>
                  <a:pt x="13878" y="75428"/>
                </a:cubicBezTo>
                <a:lnTo>
                  <a:pt x="39630" y="101180"/>
                </a:lnTo>
                <a:lnTo>
                  <a:pt x="98998" y="19561"/>
                </a:lnTo>
                <a:cubicBezTo>
                  <a:pt x="101636" y="15933"/>
                  <a:pt x="106710" y="15121"/>
                  <a:pt x="110338" y="17760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12"/>
          <p:cNvSpPr/>
          <p:nvPr/>
        </p:nvSpPr>
        <p:spPr>
          <a:xfrm>
            <a:off x="9901945" y="4435142"/>
            <a:ext cx="1476008" cy="185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4A6C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Independent streams</a:t>
            </a:r>
            <a:endParaRPr sz="1600" b="0" i="0" u="none" strike="noStrike" cap="none"/>
          </a:p>
        </p:txBody>
      </p:sp>
      <p:sp>
        <p:nvSpPr>
          <p:cNvPr id="561" name="Google Shape;561;p12"/>
          <p:cNvSpPr/>
          <p:nvPr/>
        </p:nvSpPr>
        <p:spPr>
          <a:xfrm>
            <a:off x="6998483" y="5284128"/>
            <a:ext cx="4815562" cy="1568073"/>
          </a:xfrm>
          <a:custGeom>
            <a:avLst/>
            <a:gdLst/>
            <a:ahLst/>
            <a:cxnLst/>
            <a:rect l="l" t="t" r="r" b="b"/>
            <a:pathLst>
              <a:path w="4815562" h="1568073" extrusionOk="0">
                <a:moveTo>
                  <a:pt x="111349" y="0"/>
                </a:moveTo>
                <a:lnTo>
                  <a:pt x="4704213" y="0"/>
                </a:lnTo>
                <a:cubicBezTo>
                  <a:pt x="4765709" y="0"/>
                  <a:pt x="4815562" y="49853"/>
                  <a:pt x="4815562" y="111349"/>
                </a:cubicBezTo>
                <a:lnTo>
                  <a:pt x="4815562" y="1456724"/>
                </a:lnTo>
                <a:cubicBezTo>
                  <a:pt x="4815562" y="1518220"/>
                  <a:pt x="4765709" y="1568073"/>
                  <a:pt x="4704213" y="1568073"/>
                </a:cubicBezTo>
                <a:lnTo>
                  <a:pt x="111349" y="1568073"/>
                </a:lnTo>
                <a:cubicBezTo>
                  <a:pt x="49853" y="1568073"/>
                  <a:pt x="0" y="1518220"/>
                  <a:pt x="0" y="1456724"/>
                </a:cubicBezTo>
                <a:lnTo>
                  <a:pt x="0" y="111349"/>
                </a:lnTo>
                <a:cubicBezTo>
                  <a:pt x="0" y="49894"/>
                  <a:pt x="49894" y="0"/>
                  <a:pt x="111349" y="0"/>
                </a:cubicBezTo>
                <a:close/>
              </a:path>
            </a:pathLst>
          </a:custGeom>
          <a:solidFill>
            <a:srgbClr val="788A9C">
              <a:alpha val="10196"/>
            </a:srgbClr>
          </a:solidFill>
          <a:ln w="12700" cap="flat" cmpd="sng">
            <a:solidFill>
              <a:srgbClr val="788A9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12"/>
          <p:cNvSpPr/>
          <p:nvPr/>
        </p:nvSpPr>
        <p:spPr>
          <a:xfrm>
            <a:off x="7211889" y="5520731"/>
            <a:ext cx="167014" cy="167014"/>
          </a:xfrm>
          <a:custGeom>
            <a:avLst/>
            <a:gdLst/>
            <a:ahLst/>
            <a:cxnLst/>
            <a:rect l="l" t="t" r="r" b="b"/>
            <a:pathLst>
              <a:path w="167014" h="167014" extrusionOk="0">
                <a:moveTo>
                  <a:pt x="83507" y="167014"/>
                </a:moveTo>
                <a:cubicBezTo>
                  <a:pt x="129596" y="167014"/>
                  <a:pt x="167014" y="129596"/>
                  <a:pt x="167014" y="83507"/>
                </a:cubicBezTo>
                <a:cubicBezTo>
                  <a:pt x="167014" y="37418"/>
                  <a:pt x="129596" y="0"/>
                  <a:pt x="83507" y="0"/>
                </a:cubicBezTo>
                <a:cubicBezTo>
                  <a:pt x="37418" y="0"/>
                  <a:pt x="0" y="37418"/>
                  <a:pt x="0" y="83507"/>
                </a:cubicBezTo>
                <a:cubicBezTo>
                  <a:pt x="0" y="129596"/>
                  <a:pt x="37418" y="167014"/>
                  <a:pt x="83507" y="167014"/>
                </a:cubicBezTo>
                <a:close/>
                <a:moveTo>
                  <a:pt x="83507" y="44363"/>
                </a:moveTo>
                <a:cubicBezTo>
                  <a:pt x="87845" y="44363"/>
                  <a:pt x="91336" y="47853"/>
                  <a:pt x="91336" y="52192"/>
                </a:cubicBezTo>
                <a:lnTo>
                  <a:pt x="91336" y="88726"/>
                </a:lnTo>
                <a:cubicBezTo>
                  <a:pt x="91336" y="93064"/>
                  <a:pt x="87845" y="96555"/>
                  <a:pt x="83507" y="96555"/>
                </a:cubicBezTo>
                <a:cubicBezTo>
                  <a:pt x="79168" y="96555"/>
                  <a:pt x="75678" y="93064"/>
                  <a:pt x="75678" y="88726"/>
                </a:cubicBezTo>
                <a:lnTo>
                  <a:pt x="75678" y="52192"/>
                </a:lnTo>
                <a:cubicBezTo>
                  <a:pt x="75678" y="47853"/>
                  <a:pt x="79168" y="44363"/>
                  <a:pt x="83507" y="44363"/>
                </a:cubicBezTo>
                <a:close/>
                <a:moveTo>
                  <a:pt x="74797" y="114822"/>
                </a:moveTo>
                <a:cubicBezTo>
                  <a:pt x="74599" y="111589"/>
                  <a:pt x="76211" y="108513"/>
                  <a:pt x="78983" y="106837"/>
                </a:cubicBezTo>
                <a:cubicBezTo>
                  <a:pt x="81754" y="105161"/>
                  <a:pt x="85227" y="105161"/>
                  <a:pt x="87998" y="106837"/>
                </a:cubicBezTo>
                <a:cubicBezTo>
                  <a:pt x="90770" y="108513"/>
                  <a:pt x="92382" y="111589"/>
                  <a:pt x="92184" y="114822"/>
                </a:cubicBezTo>
                <a:cubicBezTo>
                  <a:pt x="92382" y="118055"/>
                  <a:pt x="90770" y="121131"/>
                  <a:pt x="87998" y="122807"/>
                </a:cubicBezTo>
                <a:cubicBezTo>
                  <a:pt x="85227" y="124483"/>
                  <a:pt x="81754" y="124483"/>
                  <a:pt x="78983" y="122807"/>
                </a:cubicBezTo>
                <a:cubicBezTo>
                  <a:pt x="76211" y="121131"/>
                  <a:pt x="74599" y="118055"/>
                  <a:pt x="74797" y="114822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12"/>
          <p:cNvSpPr/>
          <p:nvPr/>
        </p:nvSpPr>
        <p:spPr>
          <a:xfrm>
            <a:off x="7402099" y="5474338"/>
            <a:ext cx="4305242" cy="259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15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Challenges</a:t>
            </a:r>
            <a:endParaRPr sz="1600" b="0" i="0" u="none" strike="noStrike" cap="none"/>
          </a:p>
        </p:txBody>
      </p:sp>
      <p:sp>
        <p:nvSpPr>
          <p:cNvPr id="564" name="Google Shape;564;p12"/>
          <p:cNvSpPr/>
          <p:nvPr/>
        </p:nvSpPr>
        <p:spPr>
          <a:xfrm>
            <a:off x="7202611" y="5919708"/>
            <a:ext cx="111342" cy="111342"/>
          </a:xfrm>
          <a:custGeom>
            <a:avLst/>
            <a:gdLst/>
            <a:ahLst/>
            <a:cxnLst/>
            <a:rect l="l" t="t" r="r" b="b"/>
            <a:pathLst>
              <a:path w="111342" h="111342" extrusionOk="0">
                <a:moveTo>
                  <a:pt x="0" y="55671"/>
                </a:moveTo>
                <a:cubicBezTo>
                  <a:pt x="0" y="24945"/>
                  <a:pt x="24945" y="0"/>
                  <a:pt x="55671" y="0"/>
                </a:cubicBezTo>
                <a:cubicBezTo>
                  <a:pt x="86397" y="0"/>
                  <a:pt x="111342" y="24945"/>
                  <a:pt x="111342" y="55671"/>
                </a:cubicBezTo>
                <a:cubicBezTo>
                  <a:pt x="111342" y="86397"/>
                  <a:pt x="86397" y="111342"/>
                  <a:pt x="55671" y="111342"/>
                </a:cubicBezTo>
                <a:cubicBezTo>
                  <a:pt x="24945" y="111342"/>
                  <a:pt x="0" y="86397"/>
                  <a:pt x="0" y="55671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12"/>
          <p:cNvSpPr/>
          <p:nvPr/>
        </p:nvSpPr>
        <p:spPr>
          <a:xfrm>
            <a:off x="7402099" y="5845479"/>
            <a:ext cx="2848511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Middlebox compatibility (firewalls, proxies)</a:t>
            </a:r>
            <a:endParaRPr sz="1600" b="0" i="0" u="none" strike="noStrike" cap="none"/>
          </a:p>
        </p:txBody>
      </p:sp>
      <p:sp>
        <p:nvSpPr>
          <p:cNvPr id="566" name="Google Shape;566;p12"/>
          <p:cNvSpPr/>
          <p:nvPr/>
        </p:nvSpPr>
        <p:spPr>
          <a:xfrm>
            <a:off x="7202611" y="6216621"/>
            <a:ext cx="111342" cy="111342"/>
          </a:xfrm>
          <a:custGeom>
            <a:avLst/>
            <a:gdLst/>
            <a:ahLst/>
            <a:cxnLst/>
            <a:rect l="l" t="t" r="r" b="b"/>
            <a:pathLst>
              <a:path w="111342" h="111342" extrusionOk="0">
                <a:moveTo>
                  <a:pt x="0" y="55671"/>
                </a:moveTo>
                <a:cubicBezTo>
                  <a:pt x="0" y="24945"/>
                  <a:pt x="24945" y="0"/>
                  <a:pt x="55671" y="0"/>
                </a:cubicBezTo>
                <a:cubicBezTo>
                  <a:pt x="86397" y="0"/>
                  <a:pt x="111342" y="24945"/>
                  <a:pt x="111342" y="55671"/>
                </a:cubicBezTo>
                <a:cubicBezTo>
                  <a:pt x="111342" y="86397"/>
                  <a:pt x="86397" y="111342"/>
                  <a:pt x="55671" y="111342"/>
                </a:cubicBezTo>
                <a:cubicBezTo>
                  <a:pt x="24945" y="111342"/>
                  <a:pt x="0" y="86397"/>
                  <a:pt x="0" y="55671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12"/>
          <p:cNvSpPr/>
          <p:nvPr/>
        </p:nvSpPr>
        <p:spPr>
          <a:xfrm>
            <a:off x="7402099" y="6142393"/>
            <a:ext cx="1994886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Higher resource requirements</a:t>
            </a:r>
            <a:endParaRPr sz="1600" b="0" i="0" u="none" strike="noStrike" cap="none"/>
          </a:p>
        </p:txBody>
      </p:sp>
      <p:sp>
        <p:nvSpPr>
          <p:cNvPr id="568" name="Google Shape;568;p12"/>
          <p:cNvSpPr/>
          <p:nvPr/>
        </p:nvSpPr>
        <p:spPr>
          <a:xfrm>
            <a:off x="7202611" y="6513534"/>
            <a:ext cx="111342" cy="111342"/>
          </a:xfrm>
          <a:custGeom>
            <a:avLst/>
            <a:gdLst/>
            <a:ahLst/>
            <a:cxnLst/>
            <a:rect l="l" t="t" r="r" b="b"/>
            <a:pathLst>
              <a:path w="111342" h="111342" extrusionOk="0">
                <a:moveTo>
                  <a:pt x="0" y="55671"/>
                </a:moveTo>
                <a:cubicBezTo>
                  <a:pt x="0" y="24945"/>
                  <a:pt x="24945" y="0"/>
                  <a:pt x="55671" y="0"/>
                </a:cubicBezTo>
                <a:cubicBezTo>
                  <a:pt x="86397" y="0"/>
                  <a:pt x="111342" y="24945"/>
                  <a:pt x="111342" y="55671"/>
                </a:cubicBezTo>
                <a:cubicBezTo>
                  <a:pt x="111342" y="86397"/>
                  <a:pt x="86397" y="111342"/>
                  <a:pt x="55671" y="111342"/>
                </a:cubicBezTo>
                <a:cubicBezTo>
                  <a:pt x="24945" y="111342"/>
                  <a:pt x="0" y="86397"/>
                  <a:pt x="0" y="55671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12"/>
          <p:cNvSpPr/>
          <p:nvPr/>
        </p:nvSpPr>
        <p:spPr>
          <a:xfrm>
            <a:off x="7402099" y="6439306"/>
            <a:ext cx="2004164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Older network device support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13"/>
          <p:cNvSpPr/>
          <p:nvPr/>
        </p:nvSpPr>
        <p:spPr>
          <a:xfrm>
            <a:off x="376878" y="376878"/>
            <a:ext cx="11513620" cy="226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87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Evolution</a:t>
            </a:r>
            <a:endParaRPr sz="1600" b="0" i="0" u="none" strike="noStrike" cap="none"/>
          </a:p>
        </p:txBody>
      </p:sp>
      <p:sp>
        <p:nvSpPr>
          <p:cNvPr id="576" name="Google Shape;576;p13"/>
          <p:cNvSpPr/>
          <p:nvPr/>
        </p:nvSpPr>
        <p:spPr>
          <a:xfrm>
            <a:off x="376878" y="678380"/>
            <a:ext cx="11607839" cy="423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7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 Evolution: Feature Comparison Matrix</a:t>
            </a:r>
            <a:endParaRPr sz="1600" b="0" i="0" u="none" strike="noStrike" cap="none"/>
          </a:p>
        </p:txBody>
      </p:sp>
      <p:sp>
        <p:nvSpPr>
          <p:cNvPr id="577" name="Google Shape;577;p13"/>
          <p:cNvSpPr/>
          <p:nvPr/>
        </p:nvSpPr>
        <p:spPr>
          <a:xfrm>
            <a:off x="381589" y="1333206"/>
            <a:ext cx="11428822" cy="5521261"/>
          </a:xfrm>
          <a:custGeom>
            <a:avLst/>
            <a:gdLst/>
            <a:ahLst/>
            <a:cxnLst/>
            <a:rect l="l" t="t" r="r" b="b"/>
            <a:pathLst>
              <a:path w="11428822" h="5521261" extrusionOk="0">
                <a:moveTo>
                  <a:pt x="150730" y="0"/>
                </a:moveTo>
                <a:lnTo>
                  <a:pt x="11278092" y="0"/>
                </a:lnTo>
                <a:cubicBezTo>
                  <a:pt x="11361338" y="0"/>
                  <a:pt x="11428822" y="67484"/>
                  <a:pt x="11428822" y="150730"/>
                </a:cubicBezTo>
                <a:lnTo>
                  <a:pt x="11428822" y="5370531"/>
                </a:lnTo>
                <a:cubicBezTo>
                  <a:pt x="11428822" y="5453777"/>
                  <a:pt x="11361338" y="5521261"/>
                  <a:pt x="11278092" y="5521261"/>
                </a:cubicBezTo>
                <a:lnTo>
                  <a:pt x="150730" y="5521261"/>
                </a:lnTo>
                <a:cubicBezTo>
                  <a:pt x="67484" y="5521261"/>
                  <a:pt x="0" y="5453777"/>
                  <a:pt x="0" y="5370531"/>
                </a:cubicBezTo>
                <a:lnTo>
                  <a:pt x="0" y="150730"/>
                </a:lnTo>
                <a:cubicBezTo>
                  <a:pt x="0" y="67484"/>
                  <a:pt x="67484" y="0"/>
                  <a:pt x="150730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10196"/>
                </a:srgbClr>
              </a:gs>
              <a:gs pos="100000">
                <a:srgbClr val="788A9C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578" name="Google Shape;578;p13"/>
          <p:cNvGraphicFramePr/>
          <p:nvPr/>
        </p:nvGraphicFramePr>
        <p:xfrm>
          <a:off x="612427" y="1564043"/>
          <a:ext cx="10967175" cy="4654500"/>
        </p:xfrm>
        <a:graphic>
          <a:graphicData uri="http://schemas.openxmlformats.org/drawingml/2006/table">
            <a:tbl>
              <a:tblPr>
                <a:noFill/>
                <a:tableStyleId>{636597EB-1E8D-404B-91E8-8BD160C73C9A}</a:tableStyleId>
              </a:tblPr>
              <a:tblGrid>
                <a:gridCol w="2722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8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1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57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86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597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Feature</a:t>
                      </a:r>
                      <a:endParaRPr sz="1300" u="none" strike="noStrike" cap="none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788A9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HTTP/0.9</a:t>
                      </a:r>
                      <a:endParaRPr sz="1300" u="none" strike="noStrike" cap="none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4A6C8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HTTP/1.0</a:t>
                      </a:r>
                      <a:endParaRPr sz="1300" u="none" strike="noStrike" cap="none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4A6C8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HTTP/1.1</a:t>
                      </a:r>
                      <a:endParaRPr sz="1300" u="none" strike="noStrike" cap="none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B89A6B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HTTP/2</a:t>
                      </a:r>
                      <a:endParaRPr sz="1300" u="none" strike="noStrike" cap="none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B89A6B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HTTP/3</a:t>
                      </a:r>
                      <a:endParaRPr sz="1300" u="none" strike="noStrike" cap="none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Year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788A9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1991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4A6C8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1996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4A6C8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1997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B89A6B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2015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B89A6B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2018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Transport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788A9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TCP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4A6C8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TCP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4A6C8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TCP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B89A6B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TCP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QUIC/UDP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Multiplexing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Header Compression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HPACK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QPACK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Encryption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Optional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Optional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Optional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Mandatory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HOL Blocking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788A9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N/A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788A9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Yes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788A9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Yes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788A9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TCP-level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None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Persistent Connection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Server Push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Relative Speed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Slowest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Slow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Moderate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Fast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Fastest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79" name="Google Shape;579;p13"/>
          <p:cNvSpPr/>
          <p:nvPr/>
        </p:nvSpPr>
        <p:spPr>
          <a:xfrm>
            <a:off x="612427" y="6223196"/>
            <a:ext cx="10967147" cy="9422"/>
          </a:xfrm>
          <a:custGeom>
            <a:avLst/>
            <a:gdLst/>
            <a:ahLst/>
            <a:cxnLst/>
            <a:rect l="l" t="t" r="r" b="b"/>
            <a:pathLst>
              <a:path w="10967147" h="9422" extrusionOk="0">
                <a:moveTo>
                  <a:pt x="0" y="0"/>
                </a:moveTo>
                <a:lnTo>
                  <a:pt x="10967147" y="0"/>
                </a:lnTo>
                <a:lnTo>
                  <a:pt x="10967147" y="9422"/>
                </a:lnTo>
                <a:lnTo>
                  <a:pt x="0" y="9422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30196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80" name="Google Shape;580;p13"/>
          <p:cNvSpPr/>
          <p:nvPr/>
        </p:nvSpPr>
        <p:spPr>
          <a:xfrm>
            <a:off x="824420" y="6425768"/>
            <a:ext cx="113063" cy="150751"/>
          </a:xfrm>
          <a:custGeom>
            <a:avLst/>
            <a:gdLst/>
            <a:ahLst/>
            <a:cxnLst/>
            <a:rect l="l" t="t" r="r" b="b"/>
            <a:pathLst>
              <a:path w="113063" h="150751" extrusionOk="0">
                <a:moveTo>
                  <a:pt x="86240" y="113063"/>
                </a:moveTo>
                <a:cubicBezTo>
                  <a:pt x="88390" y="106497"/>
                  <a:pt x="92688" y="100550"/>
                  <a:pt x="97547" y="95427"/>
                </a:cubicBezTo>
                <a:cubicBezTo>
                  <a:pt x="107175" y="85298"/>
                  <a:pt x="113063" y="71607"/>
                  <a:pt x="113063" y="56532"/>
                </a:cubicBezTo>
                <a:cubicBezTo>
                  <a:pt x="113063" y="25321"/>
                  <a:pt x="87742" y="0"/>
                  <a:pt x="56532" y="0"/>
                </a:cubicBezTo>
                <a:cubicBezTo>
                  <a:pt x="25321" y="0"/>
                  <a:pt x="0" y="25321"/>
                  <a:pt x="0" y="56532"/>
                </a:cubicBezTo>
                <a:cubicBezTo>
                  <a:pt x="0" y="71607"/>
                  <a:pt x="5889" y="85298"/>
                  <a:pt x="15517" y="95427"/>
                </a:cubicBezTo>
                <a:cubicBezTo>
                  <a:pt x="20375" y="100550"/>
                  <a:pt x="24703" y="106497"/>
                  <a:pt x="26823" y="113063"/>
                </a:cubicBezTo>
                <a:lnTo>
                  <a:pt x="86211" y="113063"/>
                </a:lnTo>
                <a:close/>
                <a:moveTo>
                  <a:pt x="84798" y="127196"/>
                </a:moveTo>
                <a:lnTo>
                  <a:pt x="28266" y="127196"/>
                </a:lnTo>
                <a:lnTo>
                  <a:pt x="28266" y="131907"/>
                </a:lnTo>
                <a:cubicBezTo>
                  <a:pt x="28266" y="144921"/>
                  <a:pt x="38807" y="155462"/>
                  <a:pt x="51821" y="155462"/>
                </a:cubicBezTo>
                <a:lnTo>
                  <a:pt x="61243" y="155462"/>
                </a:lnTo>
                <a:cubicBezTo>
                  <a:pt x="74257" y="155462"/>
                  <a:pt x="84798" y="144921"/>
                  <a:pt x="84798" y="131907"/>
                </a:cubicBezTo>
                <a:lnTo>
                  <a:pt x="84798" y="127196"/>
                </a:lnTo>
                <a:close/>
                <a:moveTo>
                  <a:pt x="54176" y="32977"/>
                </a:moveTo>
                <a:cubicBezTo>
                  <a:pt x="42458" y="32977"/>
                  <a:pt x="32977" y="42458"/>
                  <a:pt x="32977" y="54176"/>
                </a:cubicBezTo>
                <a:cubicBezTo>
                  <a:pt x="32977" y="58092"/>
                  <a:pt x="29826" y="61243"/>
                  <a:pt x="25910" y="61243"/>
                </a:cubicBezTo>
                <a:cubicBezTo>
                  <a:pt x="21994" y="61243"/>
                  <a:pt x="18844" y="58092"/>
                  <a:pt x="18844" y="54176"/>
                </a:cubicBezTo>
                <a:cubicBezTo>
                  <a:pt x="18844" y="34655"/>
                  <a:pt x="34655" y="18844"/>
                  <a:pt x="54176" y="18844"/>
                </a:cubicBezTo>
                <a:cubicBezTo>
                  <a:pt x="58092" y="18844"/>
                  <a:pt x="61243" y="21994"/>
                  <a:pt x="61243" y="25910"/>
                </a:cubicBezTo>
                <a:cubicBezTo>
                  <a:pt x="61243" y="29826"/>
                  <a:pt x="58092" y="32977"/>
                  <a:pt x="54176" y="32977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1" name="Google Shape;581;p13"/>
          <p:cNvSpPr/>
          <p:nvPr/>
        </p:nvSpPr>
        <p:spPr>
          <a:xfrm>
            <a:off x="819098" y="6378658"/>
            <a:ext cx="10798163" cy="2449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87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Evolution Pattern:</a:t>
            </a:r>
            <a:r>
              <a:rPr lang="en-US" sz="1187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Each version builds upon the previous, addressing performance bottlenecks and security concerns while maintaining backward compatibility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7" name="Google Shape;587;p14" descr="https://kimi-web-img.moonshot.cn/img/thumbs.dreamstime.com/2c6bfebdbaeebd1e7014968daff457c5930b5478.jpg"/>
          <p:cNvPicPr preferRelativeResize="0"/>
          <p:nvPr/>
        </p:nvPicPr>
        <p:blipFill rotWithShape="1">
          <a:blip r:embed="rId3">
            <a:alphaModFix amt="30000"/>
          </a:blip>
          <a:srcRect l="111" r="111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pic>
      <p:sp>
        <p:nvSpPr>
          <p:cNvPr id="588" name="Google Shape;588;p14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1A1D21">
                  <a:alpha val="90196"/>
                </a:srgbClr>
              </a:gs>
              <a:gs pos="50000">
                <a:srgbClr val="4A6C8C">
                  <a:alpha val="20000"/>
                </a:srgbClr>
              </a:gs>
              <a:gs pos="100000">
                <a:srgbClr val="1A1D21">
                  <a:alpha val="94901"/>
                </a:srgbClr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89" name="Google Shape;589;p14"/>
          <p:cNvSpPr/>
          <p:nvPr/>
        </p:nvSpPr>
        <p:spPr>
          <a:xfrm>
            <a:off x="5081290" y="45839"/>
            <a:ext cx="2028825" cy="504825"/>
          </a:xfrm>
          <a:custGeom>
            <a:avLst/>
            <a:gdLst/>
            <a:ahLst/>
            <a:cxnLst/>
            <a:rect l="l" t="t" r="r" b="b"/>
            <a:pathLst>
              <a:path w="2028825" h="504825" extrusionOk="0">
                <a:moveTo>
                  <a:pt x="252413" y="0"/>
                </a:moveTo>
                <a:lnTo>
                  <a:pt x="1776413" y="0"/>
                </a:lnTo>
                <a:cubicBezTo>
                  <a:pt x="1915723" y="0"/>
                  <a:pt x="2028825" y="113102"/>
                  <a:pt x="2028825" y="252413"/>
                </a:cubicBezTo>
                <a:lnTo>
                  <a:pt x="2028825" y="252413"/>
                </a:lnTo>
                <a:cubicBezTo>
                  <a:pt x="2028825" y="391723"/>
                  <a:pt x="1915723" y="504825"/>
                  <a:pt x="1776413" y="504825"/>
                </a:cubicBezTo>
                <a:lnTo>
                  <a:pt x="252413" y="504825"/>
                </a:lnTo>
                <a:cubicBezTo>
                  <a:pt x="113102" y="504825"/>
                  <a:pt x="0" y="391723"/>
                  <a:pt x="0" y="252413"/>
                </a:cubicBezTo>
                <a:lnTo>
                  <a:pt x="0" y="252413"/>
                </a:lnTo>
                <a:cubicBezTo>
                  <a:pt x="0" y="113102"/>
                  <a:pt x="113102" y="0"/>
                  <a:pt x="252412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 w="12700" cap="flat" cmpd="sng">
            <a:solidFill>
              <a:srgbClr val="B89A6B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0" name="Google Shape;590;p14"/>
          <p:cNvSpPr/>
          <p:nvPr/>
        </p:nvSpPr>
        <p:spPr>
          <a:xfrm>
            <a:off x="5267027" y="193477"/>
            <a:ext cx="1657796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Conclusion</a:t>
            </a:r>
            <a:endParaRPr sz="1600" b="0" i="0" u="none" strike="noStrike" cap="none"/>
          </a:p>
        </p:txBody>
      </p:sp>
      <p:sp>
        <p:nvSpPr>
          <p:cNvPr id="591" name="Google Shape;591;p14"/>
          <p:cNvSpPr/>
          <p:nvPr/>
        </p:nvSpPr>
        <p:spPr>
          <a:xfrm>
            <a:off x="1657350" y="860227"/>
            <a:ext cx="8877300" cy="1504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The Protocol That Powers</a:t>
            </a:r>
            <a:endParaRPr sz="1600" b="0" i="0" u="none" strike="noStrike" cap="none"/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the Modern Web</a:t>
            </a:r>
            <a:endParaRPr sz="1600" b="0" i="0" u="none" strike="noStrike" cap="none"/>
          </a:p>
        </p:txBody>
      </p:sp>
      <p:sp>
        <p:nvSpPr>
          <p:cNvPr id="592" name="Google Shape;592;p14"/>
          <p:cNvSpPr/>
          <p:nvPr/>
        </p:nvSpPr>
        <p:spPr>
          <a:xfrm>
            <a:off x="1771650" y="2673548"/>
            <a:ext cx="8648700" cy="1114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From simple text transfer to multiplexed, encrypted streams—HTTP's evolution reflects our growing demand for </a:t>
            </a:r>
            <a:r>
              <a:rPr lang="en-US" sz="18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speed</a:t>
            </a:r>
            <a:r>
              <a:rPr lang="en-US" sz="18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, </a:t>
            </a:r>
            <a:r>
              <a:rPr lang="en-US" sz="18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security</a:t>
            </a:r>
            <a:r>
              <a:rPr lang="en-US" sz="18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, and </a:t>
            </a:r>
            <a:r>
              <a:rPr lang="en-US" sz="18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efficiency</a:t>
            </a:r>
            <a:r>
              <a:rPr lang="en-US" sz="18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. Understanding these foundations empowers developers to build better web experiences.</a:t>
            </a:r>
            <a:endParaRPr sz="1600" b="0" i="0" u="none" strike="noStrike" cap="none"/>
          </a:p>
        </p:txBody>
      </p:sp>
      <p:sp>
        <p:nvSpPr>
          <p:cNvPr id="593" name="Google Shape;593;p14"/>
          <p:cNvSpPr/>
          <p:nvPr/>
        </p:nvSpPr>
        <p:spPr>
          <a:xfrm>
            <a:off x="1833563" y="4249936"/>
            <a:ext cx="2628900" cy="1838325"/>
          </a:xfrm>
          <a:custGeom>
            <a:avLst/>
            <a:gdLst/>
            <a:ahLst/>
            <a:cxnLst/>
            <a:rect l="l" t="t" r="r" b="b"/>
            <a:pathLst>
              <a:path w="2628900" h="1838325" extrusionOk="0">
                <a:moveTo>
                  <a:pt x="152397" y="0"/>
                </a:moveTo>
                <a:lnTo>
                  <a:pt x="2476503" y="0"/>
                </a:lnTo>
                <a:cubicBezTo>
                  <a:pt x="2560613" y="0"/>
                  <a:pt x="2628900" y="68287"/>
                  <a:pt x="2628900" y="152397"/>
                </a:cubicBezTo>
                <a:lnTo>
                  <a:pt x="2628900" y="1685928"/>
                </a:lnTo>
                <a:cubicBezTo>
                  <a:pt x="2628900" y="1770038"/>
                  <a:pt x="2560613" y="1838325"/>
                  <a:pt x="2476503" y="1838325"/>
                </a:cubicBezTo>
                <a:lnTo>
                  <a:pt x="152397" y="1838325"/>
                </a:lnTo>
                <a:cubicBezTo>
                  <a:pt x="68287" y="1838325"/>
                  <a:pt x="0" y="1770038"/>
                  <a:pt x="0" y="1685928"/>
                </a:cubicBezTo>
                <a:lnTo>
                  <a:pt x="0" y="152397"/>
                </a:lnTo>
                <a:cubicBezTo>
                  <a:pt x="0" y="68287"/>
                  <a:pt x="68287" y="0"/>
                  <a:pt x="152397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4" name="Google Shape;594;p14"/>
          <p:cNvSpPr/>
          <p:nvPr/>
        </p:nvSpPr>
        <p:spPr>
          <a:xfrm>
            <a:off x="2854226" y="4492823"/>
            <a:ext cx="590550" cy="590550"/>
          </a:xfrm>
          <a:custGeom>
            <a:avLst/>
            <a:gdLst/>
            <a:ahLst/>
            <a:cxnLst/>
            <a:rect l="l" t="t" r="r" b="b"/>
            <a:pathLst>
              <a:path w="590550" h="590550" extrusionOk="0">
                <a:moveTo>
                  <a:pt x="295275" y="0"/>
                </a:moveTo>
                <a:lnTo>
                  <a:pt x="295275" y="0"/>
                </a:lnTo>
                <a:cubicBezTo>
                  <a:pt x="458242" y="0"/>
                  <a:pt x="590550" y="132308"/>
                  <a:pt x="590550" y="295275"/>
                </a:cubicBezTo>
                <a:lnTo>
                  <a:pt x="590550" y="295275"/>
                </a:lnTo>
                <a:cubicBezTo>
                  <a:pt x="590550" y="458242"/>
                  <a:pt x="458242" y="590550"/>
                  <a:pt x="295275" y="590550"/>
                </a:cubicBezTo>
                <a:lnTo>
                  <a:pt x="295275" y="590550"/>
                </a:lnTo>
                <a:cubicBezTo>
                  <a:pt x="132308" y="590550"/>
                  <a:pt x="0" y="458242"/>
                  <a:pt x="0" y="295275"/>
                </a:cubicBezTo>
                <a:lnTo>
                  <a:pt x="0" y="295275"/>
                </a:lnTo>
                <a:cubicBezTo>
                  <a:pt x="0" y="132308"/>
                  <a:pt x="132308" y="0"/>
                  <a:pt x="295275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 w="25400" cap="flat" cmpd="sng">
            <a:solidFill>
              <a:srgbClr val="B89A6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5" name="Google Shape;595;p14"/>
          <p:cNvSpPr/>
          <p:nvPr/>
        </p:nvSpPr>
        <p:spPr>
          <a:xfrm>
            <a:off x="2991148" y="4645223"/>
            <a:ext cx="321469" cy="285750"/>
          </a:xfrm>
          <a:custGeom>
            <a:avLst/>
            <a:gdLst/>
            <a:ahLst/>
            <a:cxnLst/>
            <a:rect l="l" t="t" r="r" b="b"/>
            <a:pathLst>
              <a:path w="321469" h="285750" extrusionOk="0">
                <a:moveTo>
                  <a:pt x="160734" y="35719"/>
                </a:moveTo>
                <a:cubicBezTo>
                  <a:pt x="219894" y="35719"/>
                  <a:pt x="267891" y="83716"/>
                  <a:pt x="267891" y="142875"/>
                </a:cubicBezTo>
                <a:cubicBezTo>
                  <a:pt x="267891" y="202034"/>
                  <a:pt x="219894" y="250031"/>
                  <a:pt x="160734" y="250031"/>
                </a:cubicBezTo>
                <a:cubicBezTo>
                  <a:pt x="124346" y="250031"/>
                  <a:pt x="92143" y="231893"/>
                  <a:pt x="72777" y="204099"/>
                </a:cubicBezTo>
                <a:cubicBezTo>
                  <a:pt x="67140" y="196007"/>
                  <a:pt x="55978" y="194053"/>
                  <a:pt x="47885" y="199690"/>
                </a:cubicBezTo>
                <a:cubicBezTo>
                  <a:pt x="39793" y="205327"/>
                  <a:pt x="37840" y="216489"/>
                  <a:pt x="43476" y="224582"/>
                </a:cubicBezTo>
                <a:cubicBezTo>
                  <a:pt x="69261" y="261528"/>
                  <a:pt x="112179" y="285750"/>
                  <a:pt x="160734" y="285750"/>
                </a:cubicBezTo>
                <a:cubicBezTo>
                  <a:pt x="239650" y="285750"/>
                  <a:pt x="303609" y="221791"/>
                  <a:pt x="303609" y="142875"/>
                </a:cubicBezTo>
                <a:cubicBezTo>
                  <a:pt x="303609" y="63959"/>
                  <a:pt x="239650" y="0"/>
                  <a:pt x="160734" y="0"/>
                </a:cubicBezTo>
                <a:cubicBezTo>
                  <a:pt x="112905" y="0"/>
                  <a:pt x="70600" y="23496"/>
                  <a:pt x="44648" y="59550"/>
                </a:cubicBezTo>
                <a:lnTo>
                  <a:pt x="44648" y="44648"/>
                </a:lnTo>
                <a:cubicBezTo>
                  <a:pt x="44648" y="34770"/>
                  <a:pt x="36668" y="26789"/>
                  <a:pt x="26789" y="26789"/>
                </a:cubicBezTo>
                <a:cubicBezTo>
                  <a:pt x="16911" y="26789"/>
                  <a:pt x="8930" y="34770"/>
                  <a:pt x="8930" y="44648"/>
                </a:cubicBezTo>
                <a:lnTo>
                  <a:pt x="8930" y="107156"/>
                </a:lnTo>
                <a:cubicBezTo>
                  <a:pt x="8930" y="117035"/>
                  <a:pt x="16911" y="125016"/>
                  <a:pt x="26789" y="125016"/>
                </a:cubicBezTo>
                <a:lnTo>
                  <a:pt x="40518" y="125016"/>
                </a:lnTo>
                <a:cubicBezTo>
                  <a:pt x="40798" y="125016"/>
                  <a:pt x="41077" y="125016"/>
                  <a:pt x="41356" y="125016"/>
                </a:cubicBezTo>
                <a:lnTo>
                  <a:pt x="89353" y="125016"/>
                </a:lnTo>
                <a:cubicBezTo>
                  <a:pt x="99231" y="125016"/>
                  <a:pt x="107212" y="117035"/>
                  <a:pt x="107212" y="107156"/>
                </a:cubicBezTo>
                <a:cubicBezTo>
                  <a:pt x="107212" y="97278"/>
                  <a:pt x="99231" y="89297"/>
                  <a:pt x="89353" y="89297"/>
                </a:cubicBezTo>
                <a:lnTo>
                  <a:pt x="67977" y="89297"/>
                </a:lnTo>
                <a:cubicBezTo>
                  <a:pt x="86451" y="57262"/>
                  <a:pt x="121109" y="35719"/>
                  <a:pt x="160734" y="35719"/>
                </a:cubicBezTo>
                <a:close/>
                <a:moveTo>
                  <a:pt x="174129" y="84832"/>
                </a:moveTo>
                <a:cubicBezTo>
                  <a:pt x="174129" y="77409"/>
                  <a:pt x="168157" y="71438"/>
                  <a:pt x="160734" y="71438"/>
                </a:cubicBezTo>
                <a:cubicBezTo>
                  <a:pt x="153312" y="71438"/>
                  <a:pt x="147340" y="77409"/>
                  <a:pt x="147340" y="84832"/>
                </a:cubicBezTo>
                <a:lnTo>
                  <a:pt x="147340" y="142875"/>
                </a:lnTo>
                <a:cubicBezTo>
                  <a:pt x="147340" y="146447"/>
                  <a:pt x="148735" y="149851"/>
                  <a:pt x="151247" y="152363"/>
                </a:cubicBezTo>
                <a:lnTo>
                  <a:pt x="191430" y="192546"/>
                </a:lnTo>
                <a:cubicBezTo>
                  <a:pt x="196676" y="197793"/>
                  <a:pt x="205160" y="197793"/>
                  <a:pt x="210350" y="192546"/>
                </a:cubicBezTo>
                <a:cubicBezTo>
                  <a:pt x="215540" y="187300"/>
                  <a:pt x="215596" y="178817"/>
                  <a:pt x="210350" y="173627"/>
                </a:cubicBezTo>
                <a:lnTo>
                  <a:pt x="174073" y="137350"/>
                </a:lnTo>
                <a:lnTo>
                  <a:pt x="174073" y="84832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6" name="Google Shape;596;p14"/>
          <p:cNvSpPr/>
          <p:nvPr/>
        </p:nvSpPr>
        <p:spPr>
          <a:xfrm>
            <a:off x="2009775" y="5245298"/>
            <a:ext cx="22764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30+ Years</a:t>
            </a:r>
            <a:endParaRPr sz="1600" b="0" i="0" u="none" strike="noStrike" cap="none"/>
          </a:p>
        </p:txBody>
      </p:sp>
      <p:sp>
        <p:nvSpPr>
          <p:cNvPr id="597" name="Google Shape;597;p14"/>
          <p:cNvSpPr/>
          <p:nvPr/>
        </p:nvSpPr>
        <p:spPr>
          <a:xfrm>
            <a:off x="2028825" y="5626298"/>
            <a:ext cx="22383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Of Continuous Innovation</a:t>
            </a:r>
            <a:endParaRPr sz="1600" b="0" i="0" u="none" strike="noStrike" cap="none"/>
          </a:p>
        </p:txBody>
      </p:sp>
      <p:sp>
        <p:nvSpPr>
          <p:cNvPr id="598" name="Google Shape;598;p14"/>
          <p:cNvSpPr/>
          <p:nvPr/>
        </p:nvSpPr>
        <p:spPr>
          <a:xfrm>
            <a:off x="4779913" y="4249936"/>
            <a:ext cx="2628900" cy="1838325"/>
          </a:xfrm>
          <a:custGeom>
            <a:avLst/>
            <a:gdLst/>
            <a:ahLst/>
            <a:cxnLst/>
            <a:rect l="l" t="t" r="r" b="b"/>
            <a:pathLst>
              <a:path w="2628900" h="1838325" extrusionOk="0">
                <a:moveTo>
                  <a:pt x="152397" y="0"/>
                </a:moveTo>
                <a:lnTo>
                  <a:pt x="2476503" y="0"/>
                </a:lnTo>
                <a:cubicBezTo>
                  <a:pt x="2560613" y="0"/>
                  <a:pt x="2628900" y="68287"/>
                  <a:pt x="2628900" y="152397"/>
                </a:cubicBezTo>
                <a:lnTo>
                  <a:pt x="2628900" y="1685928"/>
                </a:lnTo>
                <a:cubicBezTo>
                  <a:pt x="2628900" y="1770038"/>
                  <a:pt x="2560613" y="1838325"/>
                  <a:pt x="2476503" y="1838325"/>
                </a:cubicBezTo>
                <a:lnTo>
                  <a:pt x="152397" y="1838325"/>
                </a:lnTo>
                <a:cubicBezTo>
                  <a:pt x="68287" y="1838325"/>
                  <a:pt x="0" y="1770038"/>
                  <a:pt x="0" y="1685928"/>
                </a:cubicBezTo>
                <a:lnTo>
                  <a:pt x="0" y="152397"/>
                </a:lnTo>
                <a:cubicBezTo>
                  <a:pt x="0" y="68287"/>
                  <a:pt x="68287" y="0"/>
                  <a:pt x="152397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9" name="Google Shape;599;p14"/>
          <p:cNvSpPr/>
          <p:nvPr/>
        </p:nvSpPr>
        <p:spPr>
          <a:xfrm>
            <a:off x="5800576" y="4492823"/>
            <a:ext cx="590550" cy="590550"/>
          </a:xfrm>
          <a:custGeom>
            <a:avLst/>
            <a:gdLst/>
            <a:ahLst/>
            <a:cxnLst/>
            <a:rect l="l" t="t" r="r" b="b"/>
            <a:pathLst>
              <a:path w="590550" h="590550" extrusionOk="0">
                <a:moveTo>
                  <a:pt x="295275" y="0"/>
                </a:moveTo>
                <a:lnTo>
                  <a:pt x="295275" y="0"/>
                </a:lnTo>
                <a:cubicBezTo>
                  <a:pt x="458242" y="0"/>
                  <a:pt x="590550" y="132308"/>
                  <a:pt x="590550" y="295275"/>
                </a:cubicBezTo>
                <a:lnTo>
                  <a:pt x="590550" y="295275"/>
                </a:lnTo>
                <a:cubicBezTo>
                  <a:pt x="590550" y="458242"/>
                  <a:pt x="458242" y="590550"/>
                  <a:pt x="295275" y="590550"/>
                </a:cubicBezTo>
                <a:lnTo>
                  <a:pt x="295275" y="590550"/>
                </a:lnTo>
                <a:cubicBezTo>
                  <a:pt x="132308" y="590550"/>
                  <a:pt x="0" y="458242"/>
                  <a:pt x="0" y="295275"/>
                </a:cubicBezTo>
                <a:lnTo>
                  <a:pt x="0" y="295275"/>
                </a:lnTo>
                <a:cubicBezTo>
                  <a:pt x="0" y="132308"/>
                  <a:pt x="132308" y="0"/>
                  <a:pt x="295275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 w="25400" cap="flat" cmpd="sng">
            <a:solidFill>
              <a:srgbClr val="B89A6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0" name="Google Shape;600;p14"/>
          <p:cNvSpPr/>
          <p:nvPr/>
        </p:nvSpPr>
        <p:spPr>
          <a:xfrm>
            <a:off x="5955357" y="4645223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 extrusionOk="0">
                <a:moveTo>
                  <a:pt x="196397" y="156270"/>
                </a:moveTo>
                <a:lnTo>
                  <a:pt x="89855" y="156270"/>
                </a:lnTo>
                <a:cubicBezTo>
                  <a:pt x="91473" y="192267"/>
                  <a:pt x="99454" y="225419"/>
                  <a:pt x="110784" y="249696"/>
                </a:cubicBezTo>
                <a:cubicBezTo>
                  <a:pt x="117146" y="263370"/>
                  <a:pt x="124011" y="273025"/>
                  <a:pt x="130373" y="278941"/>
                </a:cubicBezTo>
                <a:cubicBezTo>
                  <a:pt x="136624" y="284801"/>
                  <a:pt x="140922" y="285750"/>
                  <a:pt x="143154" y="285750"/>
                </a:cubicBezTo>
                <a:cubicBezTo>
                  <a:pt x="145386" y="285750"/>
                  <a:pt x="149684" y="284801"/>
                  <a:pt x="155935" y="278941"/>
                </a:cubicBezTo>
                <a:cubicBezTo>
                  <a:pt x="162297" y="273025"/>
                  <a:pt x="169162" y="263314"/>
                  <a:pt x="175524" y="249696"/>
                </a:cubicBezTo>
                <a:cubicBezTo>
                  <a:pt x="186854" y="225419"/>
                  <a:pt x="194835" y="192267"/>
                  <a:pt x="196453" y="156270"/>
                </a:cubicBezTo>
                <a:close/>
                <a:moveTo>
                  <a:pt x="89799" y="129480"/>
                </a:moveTo>
                <a:lnTo>
                  <a:pt x="196342" y="129480"/>
                </a:lnTo>
                <a:cubicBezTo>
                  <a:pt x="194779" y="93483"/>
                  <a:pt x="186798" y="60331"/>
                  <a:pt x="175468" y="36054"/>
                </a:cubicBezTo>
                <a:cubicBezTo>
                  <a:pt x="169106" y="22436"/>
                  <a:pt x="162241" y="12725"/>
                  <a:pt x="155879" y="6809"/>
                </a:cubicBezTo>
                <a:cubicBezTo>
                  <a:pt x="149628" y="949"/>
                  <a:pt x="145331" y="0"/>
                  <a:pt x="143098" y="0"/>
                </a:cubicBezTo>
                <a:cubicBezTo>
                  <a:pt x="140866" y="0"/>
                  <a:pt x="136568" y="949"/>
                  <a:pt x="130318" y="6809"/>
                </a:cubicBezTo>
                <a:cubicBezTo>
                  <a:pt x="123955" y="12725"/>
                  <a:pt x="117091" y="22436"/>
                  <a:pt x="110728" y="36054"/>
                </a:cubicBezTo>
                <a:cubicBezTo>
                  <a:pt x="99399" y="60331"/>
                  <a:pt x="91418" y="93483"/>
                  <a:pt x="89799" y="129480"/>
                </a:cubicBezTo>
                <a:close/>
                <a:moveTo>
                  <a:pt x="63010" y="129480"/>
                </a:moveTo>
                <a:cubicBezTo>
                  <a:pt x="64963" y="81707"/>
                  <a:pt x="77298" y="37337"/>
                  <a:pt x="95324" y="8204"/>
                </a:cubicBezTo>
                <a:cubicBezTo>
                  <a:pt x="43923" y="26398"/>
                  <a:pt x="6083" y="73223"/>
                  <a:pt x="837" y="129480"/>
                </a:cubicBezTo>
                <a:lnTo>
                  <a:pt x="63010" y="129480"/>
                </a:lnTo>
                <a:close/>
                <a:moveTo>
                  <a:pt x="837" y="156270"/>
                </a:moveTo>
                <a:cubicBezTo>
                  <a:pt x="6083" y="212527"/>
                  <a:pt x="43923" y="259352"/>
                  <a:pt x="95324" y="277546"/>
                </a:cubicBezTo>
                <a:cubicBezTo>
                  <a:pt x="77298" y="248413"/>
                  <a:pt x="64963" y="204043"/>
                  <a:pt x="63010" y="156270"/>
                </a:cubicBezTo>
                <a:lnTo>
                  <a:pt x="837" y="156270"/>
                </a:lnTo>
                <a:close/>
                <a:moveTo>
                  <a:pt x="223186" y="156270"/>
                </a:moveTo>
                <a:cubicBezTo>
                  <a:pt x="221233" y="204043"/>
                  <a:pt x="208899" y="248413"/>
                  <a:pt x="190872" y="277546"/>
                </a:cubicBezTo>
                <a:cubicBezTo>
                  <a:pt x="242274" y="259296"/>
                  <a:pt x="280113" y="212527"/>
                  <a:pt x="285359" y="156270"/>
                </a:cubicBezTo>
                <a:lnTo>
                  <a:pt x="223186" y="156270"/>
                </a:lnTo>
                <a:close/>
                <a:moveTo>
                  <a:pt x="285359" y="129480"/>
                </a:moveTo>
                <a:cubicBezTo>
                  <a:pt x="280113" y="73223"/>
                  <a:pt x="242274" y="26398"/>
                  <a:pt x="190872" y="8204"/>
                </a:cubicBezTo>
                <a:cubicBezTo>
                  <a:pt x="208899" y="37337"/>
                  <a:pt x="221233" y="81707"/>
                  <a:pt x="223186" y="129480"/>
                </a:cubicBezTo>
                <a:lnTo>
                  <a:pt x="285359" y="12948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1" name="Google Shape;601;p14"/>
          <p:cNvSpPr/>
          <p:nvPr/>
        </p:nvSpPr>
        <p:spPr>
          <a:xfrm>
            <a:off x="4956125" y="5245298"/>
            <a:ext cx="22764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Billions</a:t>
            </a:r>
            <a:endParaRPr sz="1600" b="0" i="0" u="none" strike="noStrike" cap="none"/>
          </a:p>
        </p:txBody>
      </p:sp>
      <p:sp>
        <p:nvSpPr>
          <p:cNvPr id="602" name="Google Shape;602;p14"/>
          <p:cNvSpPr/>
          <p:nvPr/>
        </p:nvSpPr>
        <p:spPr>
          <a:xfrm>
            <a:off x="4975175" y="5626298"/>
            <a:ext cx="22383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Of Daily Requests</a:t>
            </a:r>
            <a:endParaRPr sz="1600" b="0" i="0" u="none" strike="noStrike" cap="none"/>
          </a:p>
        </p:txBody>
      </p:sp>
      <p:sp>
        <p:nvSpPr>
          <p:cNvPr id="603" name="Google Shape;603;p14"/>
          <p:cNvSpPr/>
          <p:nvPr/>
        </p:nvSpPr>
        <p:spPr>
          <a:xfrm>
            <a:off x="7726263" y="4249936"/>
            <a:ext cx="2628900" cy="1838325"/>
          </a:xfrm>
          <a:custGeom>
            <a:avLst/>
            <a:gdLst/>
            <a:ahLst/>
            <a:cxnLst/>
            <a:rect l="l" t="t" r="r" b="b"/>
            <a:pathLst>
              <a:path w="2628900" h="1838325" extrusionOk="0">
                <a:moveTo>
                  <a:pt x="152397" y="0"/>
                </a:moveTo>
                <a:lnTo>
                  <a:pt x="2476503" y="0"/>
                </a:lnTo>
                <a:cubicBezTo>
                  <a:pt x="2560613" y="0"/>
                  <a:pt x="2628900" y="68287"/>
                  <a:pt x="2628900" y="152397"/>
                </a:cubicBezTo>
                <a:lnTo>
                  <a:pt x="2628900" y="1685928"/>
                </a:lnTo>
                <a:cubicBezTo>
                  <a:pt x="2628900" y="1770038"/>
                  <a:pt x="2560613" y="1838325"/>
                  <a:pt x="2476503" y="1838325"/>
                </a:cubicBezTo>
                <a:lnTo>
                  <a:pt x="152397" y="1838325"/>
                </a:lnTo>
                <a:cubicBezTo>
                  <a:pt x="68287" y="1838325"/>
                  <a:pt x="0" y="1770038"/>
                  <a:pt x="0" y="1685928"/>
                </a:cubicBezTo>
                <a:lnTo>
                  <a:pt x="0" y="152397"/>
                </a:lnTo>
                <a:cubicBezTo>
                  <a:pt x="0" y="68287"/>
                  <a:pt x="68287" y="0"/>
                  <a:pt x="152397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4" name="Google Shape;604;p14"/>
          <p:cNvSpPr/>
          <p:nvPr/>
        </p:nvSpPr>
        <p:spPr>
          <a:xfrm>
            <a:off x="8747075" y="4492823"/>
            <a:ext cx="590550" cy="590550"/>
          </a:xfrm>
          <a:custGeom>
            <a:avLst/>
            <a:gdLst/>
            <a:ahLst/>
            <a:cxnLst/>
            <a:rect l="l" t="t" r="r" b="b"/>
            <a:pathLst>
              <a:path w="590550" h="590550" extrusionOk="0">
                <a:moveTo>
                  <a:pt x="295275" y="0"/>
                </a:moveTo>
                <a:lnTo>
                  <a:pt x="295275" y="0"/>
                </a:lnTo>
                <a:cubicBezTo>
                  <a:pt x="458242" y="0"/>
                  <a:pt x="590550" y="132308"/>
                  <a:pt x="590550" y="295275"/>
                </a:cubicBezTo>
                <a:lnTo>
                  <a:pt x="590550" y="295275"/>
                </a:lnTo>
                <a:cubicBezTo>
                  <a:pt x="590550" y="458242"/>
                  <a:pt x="458242" y="590550"/>
                  <a:pt x="295275" y="590550"/>
                </a:cubicBezTo>
                <a:lnTo>
                  <a:pt x="295275" y="590550"/>
                </a:lnTo>
                <a:cubicBezTo>
                  <a:pt x="132308" y="590550"/>
                  <a:pt x="0" y="458242"/>
                  <a:pt x="0" y="295275"/>
                </a:cubicBezTo>
                <a:lnTo>
                  <a:pt x="0" y="295275"/>
                </a:lnTo>
                <a:cubicBezTo>
                  <a:pt x="0" y="132308"/>
                  <a:pt x="132308" y="0"/>
                  <a:pt x="295275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 w="25400" cap="flat" cmpd="sng">
            <a:solidFill>
              <a:srgbClr val="B89A6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p14"/>
          <p:cNvSpPr/>
          <p:nvPr/>
        </p:nvSpPr>
        <p:spPr>
          <a:xfrm>
            <a:off x="8901857" y="4645223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 extrusionOk="0">
                <a:moveTo>
                  <a:pt x="71438" y="178594"/>
                </a:moveTo>
                <a:lnTo>
                  <a:pt x="13674" y="178594"/>
                </a:lnTo>
                <a:cubicBezTo>
                  <a:pt x="-223" y="178594"/>
                  <a:pt x="-8762" y="163469"/>
                  <a:pt x="-1619" y="151526"/>
                </a:cubicBezTo>
                <a:lnTo>
                  <a:pt x="27905" y="102301"/>
                </a:lnTo>
                <a:cubicBezTo>
                  <a:pt x="32761" y="94208"/>
                  <a:pt x="41467" y="89297"/>
                  <a:pt x="50899" y="89297"/>
                </a:cubicBezTo>
                <a:lnTo>
                  <a:pt x="103919" y="89297"/>
                </a:lnTo>
                <a:cubicBezTo>
                  <a:pt x="146391" y="17357"/>
                  <a:pt x="209736" y="13729"/>
                  <a:pt x="252096" y="19924"/>
                </a:cubicBezTo>
                <a:cubicBezTo>
                  <a:pt x="259240" y="20985"/>
                  <a:pt x="264821" y="26566"/>
                  <a:pt x="265826" y="33654"/>
                </a:cubicBezTo>
                <a:cubicBezTo>
                  <a:pt x="272021" y="76014"/>
                  <a:pt x="268393" y="139359"/>
                  <a:pt x="196453" y="181831"/>
                </a:cubicBezTo>
                <a:lnTo>
                  <a:pt x="196453" y="234851"/>
                </a:lnTo>
                <a:cubicBezTo>
                  <a:pt x="196453" y="244283"/>
                  <a:pt x="191542" y="252989"/>
                  <a:pt x="183449" y="257845"/>
                </a:cubicBezTo>
                <a:lnTo>
                  <a:pt x="134224" y="287369"/>
                </a:lnTo>
                <a:cubicBezTo>
                  <a:pt x="122337" y="294512"/>
                  <a:pt x="107156" y="285917"/>
                  <a:pt x="107156" y="272076"/>
                </a:cubicBezTo>
                <a:lnTo>
                  <a:pt x="107156" y="214313"/>
                </a:lnTo>
                <a:cubicBezTo>
                  <a:pt x="107156" y="194611"/>
                  <a:pt x="91139" y="178594"/>
                  <a:pt x="71438" y="178594"/>
                </a:cubicBezTo>
                <a:lnTo>
                  <a:pt x="71382" y="178594"/>
                </a:lnTo>
                <a:close/>
                <a:moveTo>
                  <a:pt x="223242" y="89297"/>
                </a:moveTo>
                <a:cubicBezTo>
                  <a:pt x="223242" y="74512"/>
                  <a:pt x="211238" y="62508"/>
                  <a:pt x="196453" y="62508"/>
                </a:cubicBezTo>
                <a:cubicBezTo>
                  <a:pt x="181668" y="62508"/>
                  <a:pt x="169664" y="74512"/>
                  <a:pt x="169664" y="89297"/>
                </a:cubicBezTo>
                <a:cubicBezTo>
                  <a:pt x="169664" y="104082"/>
                  <a:pt x="181668" y="116086"/>
                  <a:pt x="196453" y="116086"/>
                </a:cubicBezTo>
                <a:cubicBezTo>
                  <a:pt x="211238" y="116086"/>
                  <a:pt x="223242" y="104082"/>
                  <a:pt x="223242" y="89297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6" name="Google Shape;606;p14"/>
          <p:cNvSpPr/>
          <p:nvPr/>
        </p:nvSpPr>
        <p:spPr>
          <a:xfrm>
            <a:off x="7902476" y="5245298"/>
            <a:ext cx="22764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HTTP/3</a:t>
            </a:r>
            <a:endParaRPr sz="1600" b="0" i="0" u="none" strike="noStrike" cap="none"/>
          </a:p>
        </p:txBody>
      </p:sp>
      <p:sp>
        <p:nvSpPr>
          <p:cNvPr id="607" name="Google Shape;607;p14"/>
          <p:cNvSpPr/>
          <p:nvPr/>
        </p:nvSpPr>
        <p:spPr>
          <a:xfrm>
            <a:off x="7921526" y="5626298"/>
            <a:ext cx="22383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Future is Here</a:t>
            </a:r>
            <a:endParaRPr sz="1600" b="0" i="0" u="none" strike="noStrike" cap="none"/>
          </a:p>
        </p:txBody>
      </p:sp>
      <p:sp>
        <p:nvSpPr>
          <p:cNvPr id="608" name="Google Shape;608;p14"/>
          <p:cNvSpPr/>
          <p:nvPr/>
        </p:nvSpPr>
        <p:spPr>
          <a:xfrm>
            <a:off x="3477220" y="6588323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 extrusionOk="0">
                <a:moveTo>
                  <a:pt x="134243" y="446"/>
                </a:moveTo>
                <a:cubicBezTo>
                  <a:pt x="127918" y="-1377"/>
                  <a:pt x="121332" y="2307"/>
                  <a:pt x="119509" y="8632"/>
                </a:cubicBezTo>
                <a:lnTo>
                  <a:pt x="71884" y="175320"/>
                </a:lnTo>
                <a:cubicBezTo>
                  <a:pt x="70061" y="181645"/>
                  <a:pt x="73744" y="188230"/>
                  <a:pt x="80070" y="190054"/>
                </a:cubicBezTo>
                <a:cubicBezTo>
                  <a:pt x="86395" y="191877"/>
                  <a:pt x="92980" y="188193"/>
                  <a:pt x="94804" y="181868"/>
                </a:cubicBezTo>
                <a:lnTo>
                  <a:pt x="142429" y="15180"/>
                </a:lnTo>
                <a:cubicBezTo>
                  <a:pt x="144252" y="8855"/>
                  <a:pt x="140568" y="2270"/>
                  <a:pt x="134243" y="446"/>
                </a:cubicBezTo>
                <a:close/>
                <a:moveTo>
                  <a:pt x="158279" y="51085"/>
                </a:moveTo>
                <a:cubicBezTo>
                  <a:pt x="153628" y="55736"/>
                  <a:pt x="153628" y="63289"/>
                  <a:pt x="158279" y="67940"/>
                </a:cubicBezTo>
                <a:lnTo>
                  <a:pt x="185589" y="95250"/>
                </a:lnTo>
                <a:lnTo>
                  <a:pt x="158279" y="122560"/>
                </a:lnTo>
                <a:cubicBezTo>
                  <a:pt x="153628" y="127211"/>
                  <a:pt x="153628" y="134764"/>
                  <a:pt x="158279" y="139415"/>
                </a:cubicBezTo>
                <a:cubicBezTo>
                  <a:pt x="162930" y="144066"/>
                  <a:pt x="170483" y="144066"/>
                  <a:pt x="175133" y="139415"/>
                </a:cubicBezTo>
                <a:lnTo>
                  <a:pt x="210852" y="103696"/>
                </a:lnTo>
                <a:cubicBezTo>
                  <a:pt x="215503" y="99045"/>
                  <a:pt x="215503" y="91492"/>
                  <a:pt x="210852" y="86841"/>
                </a:cubicBezTo>
                <a:lnTo>
                  <a:pt x="175133" y="51122"/>
                </a:lnTo>
                <a:cubicBezTo>
                  <a:pt x="170483" y="46472"/>
                  <a:pt x="162930" y="46472"/>
                  <a:pt x="158279" y="51122"/>
                </a:cubicBezTo>
                <a:close/>
                <a:moveTo>
                  <a:pt x="56071" y="51085"/>
                </a:moveTo>
                <a:cubicBezTo>
                  <a:pt x="51420" y="46434"/>
                  <a:pt x="43867" y="46434"/>
                  <a:pt x="39216" y="51085"/>
                </a:cubicBezTo>
                <a:lnTo>
                  <a:pt x="3497" y="86804"/>
                </a:lnTo>
                <a:cubicBezTo>
                  <a:pt x="-1153" y="91455"/>
                  <a:pt x="-1153" y="99008"/>
                  <a:pt x="3497" y="103659"/>
                </a:cubicBezTo>
                <a:lnTo>
                  <a:pt x="39216" y="139378"/>
                </a:lnTo>
                <a:cubicBezTo>
                  <a:pt x="43867" y="144028"/>
                  <a:pt x="51420" y="144028"/>
                  <a:pt x="56071" y="139378"/>
                </a:cubicBezTo>
                <a:cubicBezTo>
                  <a:pt x="60722" y="134727"/>
                  <a:pt x="60722" y="127174"/>
                  <a:pt x="56071" y="122523"/>
                </a:cubicBezTo>
                <a:lnTo>
                  <a:pt x="28761" y="95250"/>
                </a:lnTo>
                <a:lnTo>
                  <a:pt x="56034" y="67940"/>
                </a:lnTo>
                <a:cubicBezTo>
                  <a:pt x="60685" y="63289"/>
                  <a:pt x="60685" y="55736"/>
                  <a:pt x="56034" y="51085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9" name="Google Shape;609;p14"/>
          <p:cNvSpPr/>
          <p:nvPr/>
        </p:nvSpPr>
        <p:spPr>
          <a:xfrm>
            <a:off x="3774877" y="6550223"/>
            <a:ext cx="9334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Build Better</a:t>
            </a:r>
            <a:endParaRPr sz="1600" b="0" i="0" u="none" strike="noStrike" cap="none"/>
          </a:p>
        </p:txBody>
      </p:sp>
      <p:sp>
        <p:nvSpPr>
          <p:cNvPr id="610" name="Google Shape;610;p14"/>
          <p:cNvSpPr/>
          <p:nvPr/>
        </p:nvSpPr>
        <p:spPr>
          <a:xfrm>
            <a:off x="5073551" y="6588323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 extrusionOk="0">
                <a:moveTo>
                  <a:pt x="95250" y="0"/>
                </a:moveTo>
                <a:cubicBezTo>
                  <a:pt x="96962" y="0"/>
                  <a:pt x="98673" y="372"/>
                  <a:pt x="100236" y="1079"/>
                </a:cubicBezTo>
                <a:lnTo>
                  <a:pt x="170334" y="30807"/>
                </a:lnTo>
                <a:cubicBezTo>
                  <a:pt x="178519" y="34268"/>
                  <a:pt x="184621" y="42342"/>
                  <a:pt x="184584" y="52090"/>
                </a:cubicBezTo>
                <a:cubicBezTo>
                  <a:pt x="184398" y="88999"/>
                  <a:pt x="169218" y="156530"/>
                  <a:pt x="105110" y="187226"/>
                </a:cubicBezTo>
                <a:cubicBezTo>
                  <a:pt x="98896" y="190202"/>
                  <a:pt x="91678" y="190202"/>
                  <a:pt x="85465" y="187226"/>
                </a:cubicBezTo>
                <a:cubicBezTo>
                  <a:pt x="21320" y="156530"/>
                  <a:pt x="6176" y="88999"/>
                  <a:pt x="5990" y="52090"/>
                </a:cubicBezTo>
                <a:cubicBezTo>
                  <a:pt x="5953" y="42342"/>
                  <a:pt x="12055" y="34268"/>
                  <a:pt x="20241" y="30807"/>
                </a:cubicBezTo>
                <a:lnTo>
                  <a:pt x="90301" y="1079"/>
                </a:lnTo>
                <a:cubicBezTo>
                  <a:pt x="91864" y="372"/>
                  <a:pt x="93538" y="0"/>
                  <a:pt x="95250" y="0"/>
                </a:cubicBezTo>
                <a:close/>
                <a:moveTo>
                  <a:pt x="95250" y="24854"/>
                </a:moveTo>
                <a:lnTo>
                  <a:pt x="95250" y="165534"/>
                </a:lnTo>
                <a:cubicBezTo>
                  <a:pt x="146596" y="140680"/>
                  <a:pt x="160400" y="85613"/>
                  <a:pt x="160734" y="52648"/>
                </a:cubicBezTo>
                <a:lnTo>
                  <a:pt x="95250" y="24892"/>
                </a:lnTo>
                <a:lnTo>
                  <a:pt x="95250" y="24892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1" name="Google Shape;611;p14"/>
          <p:cNvSpPr/>
          <p:nvPr/>
        </p:nvSpPr>
        <p:spPr>
          <a:xfrm>
            <a:off x="5359301" y="6550223"/>
            <a:ext cx="13716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Secure by Design</a:t>
            </a:r>
            <a:endParaRPr sz="1600" b="0" i="0" u="none" strike="noStrike" cap="none"/>
          </a:p>
        </p:txBody>
      </p:sp>
      <p:sp>
        <p:nvSpPr>
          <p:cNvPr id="612" name="Google Shape;612;p14"/>
          <p:cNvSpPr/>
          <p:nvPr/>
        </p:nvSpPr>
        <p:spPr>
          <a:xfrm>
            <a:off x="7106692" y="6588323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 extrusionOk="0">
                <a:moveTo>
                  <a:pt x="126057" y="-3683"/>
                </a:moveTo>
                <a:cubicBezTo>
                  <a:pt x="130485" y="-484"/>
                  <a:pt x="132122" y="5321"/>
                  <a:pt x="130113" y="10381"/>
                </a:cubicBezTo>
                <a:lnTo>
                  <a:pt x="100943" y="83344"/>
                </a:lnTo>
                <a:lnTo>
                  <a:pt x="154781" y="83344"/>
                </a:lnTo>
                <a:cubicBezTo>
                  <a:pt x="159804" y="83344"/>
                  <a:pt x="164269" y="86469"/>
                  <a:pt x="165981" y="91194"/>
                </a:cubicBezTo>
                <a:cubicBezTo>
                  <a:pt x="167692" y="95920"/>
                  <a:pt x="166241" y="101203"/>
                  <a:pt x="162409" y="104403"/>
                </a:cubicBezTo>
                <a:lnTo>
                  <a:pt x="55252" y="193700"/>
                </a:lnTo>
                <a:cubicBezTo>
                  <a:pt x="51048" y="197197"/>
                  <a:pt x="45058" y="197383"/>
                  <a:pt x="40630" y="194183"/>
                </a:cubicBezTo>
                <a:cubicBezTo>
                  <a:pt x="36202" y="190984"/>
                  <a:pt x="34565" y="185179"/>
                  <a:pt x="36575" y="180119"/>
                </a:cubicBezTo>
                <a:lnTo>
                  <a:pt x="65745" y="107156"/>
                </a:lnTo>
                <a:lnTo>
                  <a:pt x="11906" y="107156"/>
                </a:lnTo>
                <a:cubicBezTo>
                  <a:pt x="6883" y="107156"/>
                  <a:pt x="2418" y="104031"/>
                  <a:pt x="707" y="99306"/>
                </a:cubicBezTo>
                <a:cubicBezTo>
                  <a:pt x="-1005" y="94580"/>
                  <a:pt x="446" y="89297"/>
                  <a:pt x="4279" y="86097"/>
                </a:cubicBezTo>
                <a:lnTo>
                  <a:pt x="111435" y="-3200"/>
                </a:lnTo>
                <a:cubicBezTo>
                  <a:pt x="115639" y="-6697"/>
                  <a:pt x="121630" y="-6883"/>
                  <a:pt x="126057" y="-3683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4"/>
          <p:cNvSpPr/>
          <p:nvPr/>
        </p:nvSpPr>
        <p:spPr>
          <a:xfrm>
            <a:off x="7380536" y="6550223"/>
            <a:ext cx="13906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Performance First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1422</Words>
  <Application>Microsoft Office PowerPoint</Application>
  <PresentationFormat>Widescreen</PresentationFormat>
  <Paragraphs>332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Calibri</vt:lpstr>
      <vt:lpstr>Hedvig Letters Sans</vt:lpstr>
      <vt:lpstr>Microsoft Yahei</vt:lpstr>
      <vt:lpstr>Liter</vt:lpstr>
      <vt:lpstr>Arial</vt:lpstr>
      <vt:lpstr>Quattrocento Sans</vt:lpstr>
      <vt:lpstr>Custom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Kimi</dc:creator>
  <cp:lastModifiedBy>Nabila Nuzhat Moin</cp:lastModifiedBy>
  <cp:revision>16</cp:revision>
  <dcterms:created xsi:type="dcterms:W3CDTF">2026-02-24T19:04:57Z</dcterms:created>
  <dcterms:modified xsi:type="dcterms:W3CDTF">2026-06-17T05:43:10Z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{"Label":"HTTP Protocol: From Fundamentals to Modern Evolution","ContentProducer":"001191110108MACG2KBH8F10000","ProduceID":"19c91057-d492-8f23-8000-0000554ddbc0","ReservedCode1":"","ContentPropagator":"001191110108MACG2KBH8F20000","PropagateID":"19c91057-d492-8f23-8000-0000554ddbc0","ReservedCode2":""}</vt:lpwstr>
  </property>
</Properties>
</file>
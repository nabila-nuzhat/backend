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D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E2EAE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4F6B5C"/>
                </a:solidFill>
              </a:rPr>
              <a:t>TECHNICAL EDUCATION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D5347"/>
                </a:solidFill>
              </a:rPr>
              <a:t>From ARPANET to Modern Internet Architecture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DCE8E0"/>
          </a:solidFill>
          <a:ln w="12700">
            <a:solidFill>
              <a:srgbClr val="4F6B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490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D24"/>
                </a:solidFill>
              </a:rPr>
              <a:t>Protocol Stack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374904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DCE8E0"/>
          </a:solidFill>
          <a:ln w="12700">
            <a:solidFill>
              <a:srgbClr val="4F6B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37490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D24"/>
                </a:solidFill>
              </a:rPr>
              <a:t>TCP/IP &amp; OSI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0" y="374904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DCE8E0"/>
          </a:solidFill>
          <a:ln w="12700">
            <a:solidFill>
              <a:srgbClr val="4F6B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37490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D24"/>
                </a:solidFill>
              </a:rPr>
              <a:t>Evolution  1957–Present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731520"/>
            <a:ext cx="2560320" cy="2560320"/>
          </a:xfrm>
          <a:prstGeom prst="ellipse">
            <a:avLst/>
          </a:prstGeom>
          <a:solidFill>
            <a:srgbClr val="4F6B5C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0" y="3017520"/>
            <a:ext cx="1463040" cy="1463040"/>
          </a:xfrm>
          <a:prstGeom prst="ellipse">
            <a:avLst/>
          </a:prstGeom>
          <a:solidFill>
            <a:srgbClr val="0097A7">
              <a:alpha val="2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7548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E9389"/>
                </a:solidFill>
              </a:rPr>
              <a:t>Session 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2EAE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D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D24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Internet?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D5347"/>
                </a:solidFill>
              </a:rPr>
              <a:t>A global network of interconnected computers communicating via standardized protocols like TCP/IP.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53312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17904"/>
            <a:ext cx="365760" cy="365760"/>
          </a:xfrm>
          <a:prstGeom prst="ellipse">
            <a:avLst/>
          </a:prstGeom>
          <a:solidFill>
            <a:srgbClr val="DCE8E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5179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D24"/>
                </a:solidFill>
              </a:rPr>
              <a:t>Standardized Protocols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956816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TCP/IP ensures universal communication across all connected devices worldwide.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53712" y="1353312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90872" y="1517904"/>
            <a:ext cx="365760" cy="365760"/>
          </a:xfrm>
          <a:prstGeom prst="ellipse">
            <a:avLst/>
          </a:prstGeom>
          <a:solidFill>
            <a:srgbClr val="DCE8E0"/>
          </a:solidFill>
          <a:ln/>
        </p:spPr>
      </p:sp>
      <p:sp>
        <p:nvSpPr>
          <p:cNvPr id="15" name="Text 13"/>
          <p:cNvSpPr/>
          <p:nvPr/>
        </p:nvSpPr>
        <p:spPr>
          <a:xfrm>
            <a:off x="4690872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⟳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48072" y="15179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D24"/>
                </a:solidFill>
              </a:rPr>
              <a:t>Resource Sharing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90872" y="1956816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Data, files, and services distributed globally across billions of devices.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209544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374136"/>
            <a:ext cx="365760" cy="365760"/>
          </a:xfrm>
          <a:prstGeom prst="ellipse">
            <a:avLst/>
          </a:prstGeom>
          <a:solidFill>
            <a:srgbClr val="DCE8E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74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37413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D24"/>
                </a:solidFill>
              </a:rPr>
              <a:t>Decentralized Structure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81304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No single point of control or failure — resilient by design.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53712" y="3209544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90872" y="3374136"/>
            <a:ext cx="365760" cy="365760"/>
          </a:xfrm>
          <a:prstGeom prst="ellipse">
            <a:avLst/>
          </a:prstGeom>
          <a:solidFill>
            <a:srgbClr val="DCE8E0"/>
          </a:solidFill>
          <a:ln/>
        </p:spPr>
      </p:sp>
      <p:sp>
        <p:nvSpPr>
          <p:cNvPr id="25" name="Text 23"/>
          <p:cNvSpPr/>
          <p:nvPr/>
        </p:nvSpPr>
        <p:spPr>
          <a:xfrm>
            <a:off x="4690872" y="3374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↑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48072" y="337413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D24"/>
                </a:solidFill>
              </a:rPr>
              <a:t>Scalable Architecture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90872" y="381304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Billions of devices can connect simultaneously through layered protocol design.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2EAE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D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D24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Beginning: Cold War &amp; Sputnik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5347"/>
                </a:solidFill>
              </a:rPr>
              <a:t>Historical events that triggered the creation of the Internet.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59408"/>
            <a:ext cx="877824" cy="877824"/>
          </a:xfrm>
          <a:prstGeom prst="ellipse">
            <a:avLst/>
          </a:prstGeom>
          <a:solidFill>
            <a:srgbClr val="1E2D24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35940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1708" y="2298192"/>
            <a:ext cx="45720" cy="280416"/>
          </a:xfrm>
          <a:prstGeom prst="rect">
            <a:avLst/>
          </a:prstGeom>
          <a:solidFill>
            <a:srgbClr val="D2DED5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1344168"/>
            <a:ext cx="8001000" cy="112776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140817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24"/>
                </a:solidFill>
              </a:rPr>
              <a:t>Oct 4, 1957 · Sputnik Shock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1700784"/>
            <a:ext cx="7726680" cy="652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D24"/>
                </a:solidFill>
              </a:rPr>
              <a:t>The Soviet Union launched Sputnik, the world's first artificial satellite — triggering a massive U.S. push in science and technology.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578608"/>
            <a:ext cx="877824" cy="877824"/>
          </a:xfrm>
          <a:prstGeom prst="ellipse">
            <a:avLst/>
          </a:prstGeom>
          <a:solidFill>
            <a:srgbClr val="1E2D24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57860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1708" y="3517392"/>
            <a:ext cx="45720" cy="280416"/>
          </a:xfrm>
          <a:prstGeom prst="rect">
            <a:avLst/>
          </a:prstGeom>
          <a:solidFill>
            <a:srgbClr val="D2DED5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563368"/>
            <a:ext cx="8001000" cy="1127760"/>
          </a:xfrm>
          <a:prstGeom prst="roundRect">
            <a:avLst>
              <a:gd name="adj" fmla="val 4865"/>
            </a:avLst>
          </a:prstGeom>
          <a:solidFill>
            <a:srgbClr val="F4F8F4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262737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24"/>
                </a:solidFill>
              </a:rPr>
              <a:t>Feb 7, 1958 · ARPA Formation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19984"/>
            <a:ext cx="7726680" cy="652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D24"/>
                </a:solidFill>
              </a:rPr>
              <a:t>The U.S. formed ARPA (Advanced Research Projects Agency) to fund high-risk, transformative research.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797808"/>
            <a:ext cx="877824" cy="877824"/>
          </a:xfrm>
          <a:prstGeom prst="ellipse">
            <a:avLst/>
          </a:prstGeom>
          <a:solidFill>
            <a:srgbClr val="1E2D24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79780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3782568"/>
            <a:ext cx="8001000" cy="112776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384657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24"/>
                </a:solidFill>
              </a:rPr>
              <a:t>The Driving Force: Resilient Communications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4139184"/>
            <a:ext cx="7726680" cy="652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D24"/>
                </a:solidFill>
              </a:rPr>
              <a:t>Military necessity: create a communication network that wouldn't collapse if parts were destroyed in a nuclear attack. Decentralization was the key goal.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2EAE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D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D24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Challenges: Centralized Systems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114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51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24"/>
                </a:solidFill>
              </a:rPr>
              <a:t>Single Mainframe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Most institutions had one large mainframe — massive, expensive machines filling entire rooms.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• Resource Bottleneck: users queued to access the computer directly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• Batch Processing: jobs submitted via punch cards with long wait times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• High Cost: limited access due to expensive hardware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114800" cy="3931920"/>
          </a:xfrm>
          <a:prstGeom prst="roundRect">
            <a:avLst>
              <a:gd name="adj" fmla="val 1860"/>
            </a:avLst>
          </a:prstGeom>
          <a:solidFill>
            <a:srgbClr val="F4F8F4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051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24"/>
                </a:solidFill>
              </a:rPr>
              <a:t>The Critical Need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481328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Communication systems were centralized — a single point of failure could bring down the entire network.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Strategic Requirement: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• Decentralized architecture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• Multiple redundant paths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• Self-healing network topology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Scientists needed to share resources across institutions without physically transporting data.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2EAE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D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D24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Visionaries: Licklider, Baran &amp; Davies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D5347"/>
                </a:solidFill>
              </a:rPr>
              <a:t>Three pioneers who shaped the theoretical foundation of modern networking.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53312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17904"/>
            <a:ext cx="365760" cy="365760"/>
          </a:xfrm>
          <a:prstGeom prst="ellipse">
            <a:avLst/>
          </a:prstGeom>
          <a:solidFill>
            <a:srgbClr val="DCE8E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J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51790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D24"/>
                </a:solidFill>
              </a:rPr>
              <a:t>J.C.R. Licklider · ARPA Visionary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956816"/>
            <a:ext cx="23774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Daydreamed about a global network — the 'Intergalactic Computer Network' — where people could log in remotely to any computer.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36392" y="1353312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73552" y="1517904"/>
            <a:ext cx="365760" cy="365760"/>
          </a:xfrm>
          <a:prstGeom prst="ellipse">
            <a:avLst/>
          </a:prstGeom>
          <a:solidFill>
            <a:srgbClr val="DCE8E0"/>
          </a:solidFill>
          <a:ln/>
        </p:spPr>
      </p:sp>
      <p:sp>
        <p:nvSpPr>
          <p:cNvPr id="15" name="Text 13"/>
          <p:cNvSpPr/>
          <p:nvPr/>
        </p:nvSpPr>
        <p:spPr>
          <a:xfrm>
            <a:off x="3273552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30752" y="151790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D24"/>
                </a:solidFill>
              </a:rPr>
              <a:t>Paul Baran · U.S. Researcher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73552" y="1956816"/>
            <a:ext cx="23774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Pioneered packet switching at RAND Corporation, developing theoretical foundations for resilient distributed networks.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52744" y="1353312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9904" y="1517904"/>
            <a:ext cx="365760" cy="365760"/>
          </a:xfrm>
          <a:prstGeom prst="ellipse">
            <a:avLst/>
          </a:prstGeom>
          <a:solidFill>
            <a:srgbClr val="DCE8E0"/>
          </a:solidFill>
          <a:ln/>
        </p:spPr>
      </p:sp>
      <p:sp>
        <p:nvSpPr>
          <p:cNvPr id="20" name="Text 18"/>
          <p:cNvSpPr/>
          <p:nvPr/>
        </p:nvSpPr>
        <p:spPr>
          <a:xfrm>
            <a:off x="6089904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47104" y="151790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D24"/>
                </a:solidFill>
              </a:rPr>
              <a:t>Donald Davies · UK Researcher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9904" y="1956816"/>
            <a:ext cx="23774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Independently developed packet switching at the National Physical Laboratory. Coined the term 'packet' and built one of the first packet-switched networks.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2EAE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D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D24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ARPANET: The First Experiment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5347"/>
                </a:solidFill>
              </a:rPr>
              <a:t>1969: ARPA funded a groundbreaking project connecting four universities.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59408"/>
            <a:ext cx="877824" cy="877824"/>
          </a:xfrm>
          <a:prstGeom prst="ellipse">
            <a:avLst/>
          </a:prstGeom>
          <a:solidFill>
            <a:srgbClr val="1E2D24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35940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1708" y="2298192"/>
            <a:ext cx="45720" cy="280416"/>
          </a:xfrm>
          <a:prstGeom prst="rect">
            <a:avLst/>
          </a:prstGeom>
          <a:solidFill>
            <a:srgbClr val="D2DED5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1344168"/>
            <a:ext cx="8001000" cy="112776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140817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24"/>
                </a:solidFill>
              </a:rPr>
              <a:t>Four Universities Connected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1700784"/>
            <a:ext cx="7726680" cy="652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D24"/>
                </a:solidFill>
              </a:rPr>
              <a:t>UCLA · Stanford Research Institute (SRI) · UC Santa Barbara (UCSB) · University of Utah — the first packet-switched network.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578608"/>
            <a:ext cx="877824" cy="877824"/>
          </a:xfrm>
          <a:prstGeom prst="ellipse">
            <a:avLst/>
          </a:prstGeom>
          <a:solidFill>
            <a:srgbClr val="1E2D24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57860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1708" y="3517392"/>
            <a:ext cx="45720" cy="280416"/>
          </a:xfrm>
          <a:prstGeom prst="rect">
            <a:avLst/>
          </a:prstGeom>
          <a:solidFill>
            <a:srgbClr val="D2DED5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563368"/>
            <a:ext cx="8001000" cy="1127760"/>
          </a:xfrm>
          <a:prstGeom prst="roundRect">
            <a:avLst>
              <a:gd name="adj" fmla="val 4865"/>
            </a:avLst>
          </a:prstGeom>
          <a:solidFill>
            <a:srgbClr val="F4F8F4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262737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24"/>
                </a:solidFill>
              </a:rPr>
              <a:t>October 29, 1969 · The First Message: "lo"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19984"/>
            <a:ext cx="7726680" cy="652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D24"/>
                </a:solidFill>
              </a:rPr>
              <a:t>First message sent from UCLA to SRI. They tried to type 'login,' but the system crashed after 'lo' — so the first internet message was a happy accident.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797808"/>
            <a:ext cx="877824" cy="877824"/>
          </a:xfrm>
          <a:prstGeom prst="ellipse">
            <a:avLst/>
          </a:prstGeom>
          <a:solidFill>
            <a:srgbClr val="1E2D24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79780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3782568"/>
            <a:ext cx="8001000" cy="112776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384657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24"/>
                </a:solidFill>
              </a:rPr>
              <a:t>What Was Tested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4139184"/>
            <a:ext cx="7726680" cy="652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D24"/>
                </a:solidFill>
              </a:rPr>
              <a:t>Packet Switching: data broken into packets traveling different routes  ·  Host-to-Host Protocol: NCP communication  ·  Remote Access: computers communicating over distance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2EAE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D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D24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TCP/IP: The Universal Language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114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51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24"/>
                </a:solidFill>
              </a:rPr>
              <a:t>IP — Internet Protocol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Gives an 'address' to every device and decides where packets should go.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• Addressing: unique IP addresses for every device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• Routing: determines packet paths across networks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Developed by Vint Cerf &amp; Bob Kahn in the early 1970s — the 'Fathers of the Internet.'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114800" cy="3931920"/>
          </a:xfrm>
          <a:prstGeom prst="roundRect">
            <a:avLst>
              <a:gd name="adj" fmla="val 1860"/>
            </a:avLst>
          </a:prstGeom>
          <a:solidFill>
            <a:srgbClr val="F4F8F4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051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24"/>
                </a:solidFill>
              </a:rPr>
              <a:t>TCP — Transmission Control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481328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Makes sure data arrives correctly and in the right order.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• Reliability: ensures complete, accurate delivery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• Ordering: reassembles packets in correct sequence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January 1, 1983 — 'Flag Day': ARPANET officially switched from NCP to TCP/IP — the birthday of the modern Internet.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2EAE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D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D24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Wide Web Revolution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D5347"/>
                </a:solidFill>
              </a:rPr>
              <a:t>1989–1990: Tim Berners-Lee at CERN invented the Web to simplify document sharing across the Internet.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53312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17904"/>
            <a:ext cx="365760" cy="365760"/>
          </a:xfrm>
          <a:prstGeom prst="ellipse">
            <a:avLst/>
          </a:prstGeom>
          <a:solidFill>
            <a:srgbClr val="DCE8E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5179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D24"/>
                </a:solidFill>
              </a:rPr>
              <a:t>HTML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956816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HyperText Markup Language — the language for creating web pages and structuring content.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53712" y="1353312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90872" y="1517904"/>
            <a:ext cx="365760" cy="365760"/>
          </a:xfrm>
          <a:prstGeom prst="ellipse">
            <a:avLst/>
          </a:prstGeom>
          <a:solidFill>
            <a:srgbClr val="DCE8E0"/>
          </a:solidFill>
          <a:ln/>
        </p:spPr>
      </p:sp>
      <p:sp>
        <p:nvSpPr>
          <p:cNvPr id="15" name="Text 13"/>
          <p:cNvSpPr/>
          <p:nvPr/>
        </p:nvSpPr>
        <p:spPr>
          <a:xfrm>
            <a:off x="4690872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48072" y="15179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D24"/>
                </a:solidFill>
              </a:rPr>
              <a:t>HTTP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90872" y="1956816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HyperText Transfer Protocol — the protocol for transferring web pages between servers and browsers.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209544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374136"/>
            <a:ext cx="365760" cy="365760"/>
          </a:xfrm>
          <a:prstGeom prst="ellipse">
            <a:avLst/>
          </a:prstGeom>
          <a:solidFill>
            <a:srgbClr val="DCE8E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74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37413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D24"/>
                </a:solidFill>
              </a:rPr>
              <a:t>Hyperlinks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81304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Clickable text connecting pages — invented 'surfing' the Web.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53712" y="3209544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90872" y="3374136"/>
            <a:ext cx="365760" cy="365760"/>
          </a:xfrm>
          <a:prstGeom prst="ellipse">
            <a:avLst/>
          </a:prstGeom>
          <a:solidFill>
            <a:srgbClr val="DCE8E0"/>
          </a:solidFill>
          <a:ln/>
        </p:spPr>
      </p:sp>
      <p:sp>
        <p:nvSpPr>
          <p:cNvPr id="25" name="Text 23"/>
          <p:cNvSpPr/>
          <p:nvPr/>
        </p:nvSpPr>
        <p:spPr>
          <a:xfrm>
            <a:off x="4690872" y="3374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D24"/>
                </a:solidFill>
              </a:rPr>
              <a:t>⊞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48072" y="337413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D24"/>
                </a:solidFill>
              </a:rPr>
              <a:t>Mosaic Browser (1993)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90872" y="381304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First graphical web browser, making the Web accessible to non-technical users with images and a visual interface.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2EAE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D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D24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Evolution Timeline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978408"/>
            <a:ext cx="658368" cy="658368"/>
          </a:xfrm>
          <a:prstGeom prst="ellipse">
            <a:avLst/>
          </a:prstGeom>
          <a:solidFill>
            <a:srgbClr val="1E2D24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9784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" y="1682496"/>
            <a:ext cx="45720" cy="210312"/>
          </a:xfrm>
          <a:prstGeom prst="rect">
            <a:avLst/>
          </a:prstGeom>
          <a:solidFill>
            <a:srgbClr val="D2DED5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978408"/>
            <a:ext cx="80010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10424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24"/>
                </a:solidFill>
              </a:rPr>
              <a:t>1957–1969 · ARPANET Era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335024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D24"/>
                </a:solidFill>
              </a:rPr>
              <a:t>Sputnik shock → ARPA formation → ARPANET launch with 4 nodes → first message 'lo'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892808"/>
            <a:ext cx="658368" cy="658368"/>
          </a:xfrm>
          <a:prstGeom prst="ellipse">
            <a:avLst/>
          </a:prstGeom>
          <a:solidFill>
            <a:srgbClr val="1E2D24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928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8076" y="2596896"/>
            <a:ext cx="45720" cy="210312"/>
          </a:xfrm>
          <a:prstGeom prst="rect">
            <a:avLst/>
          </a:prstGeom>
          <a:solidFill>
            <a:srgbClr val="D2DED5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1892808"/>
            <a:ext cx="8001000" cy="822960"/>
          </a:xfrm>
          <a:prstGeom prst="roundRect">
            <a:avLst>
              <a:gd name="adj" fmla="val 6667"/>
            </a:avLst>
          </a:prstGeom>
          <a:solidFill>
            <a:srgbClr val="F4F8F4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19568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24"/>
                </a:solidFill>
              </a:rPr>
              <a:t>1970s–1983 · Protocol Revolution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249424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D24"/>
                </a:solidFill>
              </a:rPr>
              <a:t>TCP/IP developed by Cerf &amp; Kahn → Flag Day: universal protocol adoption across all networks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807208"/>
            <a:ext cx="658368" cy="658368"/>
          </a:xfrm>
          <a:prstGeom prst="ellipse">
            <a:avLst/>
          </a:prstGeom>
          <a:solidFill>
            <a:srgbClr val="1E2D24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807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8076" y="3511296"/>
            <a:ext cx="45720" cy="210312"/>
          </a:xfrm>
          <a:prstGeom prst="rect">
            <a:avLst/>
          </a:prstGeom>
          <a:solidFill>
            <a:srgbClr val="D2DED5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2807208"/>
            <a:ext cx="80010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28712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24"/>
                </a:solidFill>
              </a:rPr>
              <a:t>1989–1993 · Web Invention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163824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D24"/>
                </a:solidFill>
              </a:rPr>
              <a:t>Berners-Lee invents the Web at CERN → Mosaic browser makes it accessible to everyone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721608"/>
            <a:ext cx="658368" cy="658368"/>
          </a:xfrm>
          <a:prstGeom prst="ellipse">
            <a:avLst/>
          </a:prstGeom>
          <a:solidFill>
            <a:srgbClr val="1E2D24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3721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22960" y="3721608"/>
            <a:ext cx="8001000" cy="822960"/>
          </a:xfrm>
          <a:prstGeom prst="roundRect">
            <a:avLst>
              <a:gd name="adj" fmla="val 6667"/>
            </a:avLst>
          </a:prstGeom>
          <a:solidFill>
            <a:srgbClr val="F4F8F4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60120" y="37856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24"/>
                </a:solidFill>
              </a:rPr>
              <a:t>1990s–Present · Mass Adoption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4078224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D24"/>
                </a:solidFill>
              </a:rPr>
              <a:t>ISPs emerge → Dot-com boom → Mobile internet → Billions of connected devices globally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2EAE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D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D24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Internet Works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5347"/>
                </a:solidFill>
              </a:rPr>
              <a:t>Think of the Internet like a giant postal system — every device has an address, data travels in labeled packets.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35024"/>
            <a:ext cx="526694" cy="526694"/>
          </a:xfrm>
          <a:prstGeom prst="ellipse">
            <a:avLst/>
          </a:prstGeom>
          <a:solidFill>
            <a:srgbClr val="1E2D24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335024"/>
            <a:ext cx="526694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5897" y="1898294"/>
            <a:ext cx="45720" cy="168250"/>
          </a:xfrm>
          <a:prstGeom prst="rect">
            <a:avLst/>
          </a:prstGeom>
          <a:solidFill>
            <a:srgbClr val="D2DED5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1344168"/>
            <a:ext cx="8001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140817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24"/>
                </a:solidFill>
              </a:rPr>
              <a:t>Request Initiated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1700784"/>
            <a:ext cx="7726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D24"/>
                </a:solidFill>
              </a:rPr>
              <a:t>You type a web address or send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066544"/>
            <a:ext cx="526694" cy="526694"/>
          </a:xfrm>
          <a:prstGeom prst="ellipse">
            <a:avLst/>
          </a:prstGeom>
          <a:solidFill>
            <a:srgbClr val="1E2D24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066544"/>
            <a:ext cx="526694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5897" y="2629814"/>
            <a:ext cx="45720" cy="168250"/>
          </a:xfrm>
          <a:prstGeom prst="rect">
            <a:avLst/>
          </a:prstGeom>
          <a:solidFill>
            <a:srgbClr val="D2DED5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075688"/>
            <a:ext cx="8001000" cy="640080"/>
          </a:xfrm>
          <a:prstGeom prst="roundRect">
            <a:avLst>
              <a:gd name="adj" fmla="val 8571"/>
            </a:avLst>
          </a:prstGeom>
          <a:solidFill>
            <a:srgbClr val="F4F8F4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213969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24"/>
                </a:solidFill>
              </a:rPr>
              <a:t>DNS Translation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432304"/>
            <a:ext cx="7726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D24"/>
                </a:solidFill>
              </a:rPr>
              <a:t>Domain name converted to IP address — 'google.com' → '142.250.80.46'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798064"/>
            <a:ext cx="526694" cy="526694"/>
          </a:xfrm>
          <a:prstGeom prst="ellipse">
            <a:avLst/>
          </a:prstGeom>
          <a:solidFill>
            <a:srgbClr val="1E2D24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798064"/>
            <a:ext cx="526694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5897" y="3361334"/>
            <a:ext cx="45720" cy="168250"/>
          </a:xfrm>
          <a:prstGeom prst="rect">
            <a:avLst/>
          </a:prstGeom>
          <a:solidFill>
            <a:srgbClr val="D2DED5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2807208"/>
            <a:ext cx="8001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0120" y="28712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24"/>
                </a:solidFill>
              </a:rPr>
              <a:t>Packet Creation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3163824"/>
            <a:ext cx="7726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D24"/>
                </a:solidFill>
              </a:rPr>
              <a:t>Data split into small packets, each labeled with source and destination IP addresses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529584"/>
            <a:ext cx="526694" cy="526694"/>
          </a:xfrm>
          <a:prstGeom prst="ellipse">
            <a:avLst/>
          </a:prstGeom>
          <a:solidFill>
            <a:srgbClr val="1E2D24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529584"/>
            <a:ext cx="526694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5897" y="4092854"/>
            <a:ext cx="45720" cy="168250"/>
          </a:xfrm>
          <a:prstGeom prst="rect">
            <a:avLst/>
          </a:prstGeom>
          <a:solidFill>
            <a:srgbClr val="D2DED5"/>
          </a:solidFill>
          <a:ln/>
        </p:spPr>
      </p:sp>
      <p:sp>
        <p:nvSpPr>
          <p:cNvPr id="29" name="Shape 27"/>
          <p:cNvSpPr/>
          <p:nvPr/>
        </p:nvSpPr>
        <p:spPr>
          <a:xfrm>
            <a:off x="822960" y="3538728"/>
            <a:ext cx="8001000" cy="640080"/>
          </a:xfrm>
          <a:prstGeom prst="roundRect">
            <a:avLst>
              <a:gd name="adj" fmla="val 8571"/>
            </a:avLst>
          </a:prstGeom>
          <a:solidFill>
            <a:srgbClr val="F4F8F4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60120" y="360273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24"/>
                </a:solidFill>
              </a:rPr>
              <a:t>Router Navigation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" y="3895344"/>
            <a:ext cx="7726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D24"/>
                </a:solidFill>
              </a:rPr>
              <a:t>Packets travel through multiple routers choosing optimal paths dynamically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261104"/>
            <a:ext cx="526694" cy="526694"/>
          </a:xfrm>
          <a:prstGeom prst="ellipse">
            <a:avLst/>
          </a:prstGeom>
          <a:solidFill>
            <a:srgbClr val="1E2D24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4261104"/>
            <a:ext cx="526694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22960" y="4270248"/>
            <a:ext cx="8001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60120" y="433425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24"/>
                </a:solidFill>
              </a:rPr>
              <a:t>Reassembly &amp; Delivery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0120" y="4626864"/>
            <a:ext cx="7726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D24"/>
                </a:solidFill>
              </a:rPr>
              <a:t>TCP reassembles packets in correct order at the destination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2EAE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D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D24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 Model: 7-Layer Architecture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5039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5347"/>
                </a:solidFill>
              </a:rPr>
              <a:t>Conceptual framework organizing network functions into 7 distinct layers (ISO 7498, 1984).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7955280" cy="525780"/>
          </a:xfrm>
          <a:prstGeom prst="roundRect">
            <a:avLst>
              <a:gd name="adj" fmla="val 10435"/>
            </a:avLst>
          </a:prstGeom>
          <a:solidFill>
            <a:srgbClr val="16241C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280160"/>
            <a:ext cx="47548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</a:rPr>
              <a:t>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280160"/>
            <a:ext cx="20116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Application (7)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1280160"/>
            <a:ext cx="52120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90000"/>
                  </a:srgbClr>
                </a:solidFill>
              </a:rPr>
              <a:t>HTTP, FTP, SMTP, DNS — User interfaces and network services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842516"/>
            <a:ext cx="7955280" cy="525780"/>
          </a:xfrm>
          <a:prstGeom prst="roundRect">
            <a:avLst/>
          </a:prstGeom>
          <a:solidFill>
            <a:srgbClr val="1E2D24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842516"/>
            <a:ext cx="47548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</a:rPr>
              <a:t>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1842516"/>
            <a:ext cx="20116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Presentation (6)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1842516"/>
            <a:ext cx="52120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90000"/>
                  </a:srgbClr>
                </a:solidFill>
              </a:rPr>
              <a:t>SSL/TLS, MIME — Data formatting, encryption, compression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404872"/>
            <a:ext cx="7955280" cy="525780"/>
          </a:xfrm>
          <a:prstGeom prst="roundRect">
            <a:avLst/>
          </a:prstGeom>
          <a:solidFill>
            <a:srgbClr val="32453A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404872"/>
            <a:ext cx="47548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404872"/>
            <a:ext cx="20116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Session (5)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2404872"/>
            <a:ext cx="52120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90000"/>
                  </a:srgbClr>
                </a:solidFill>
              </a:rPr>
              <a:t>NetBIOS, RPC — Session management and control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967228"/>
            <a:ext cx="7955280" cy="525780"/>
          </a:xfrm>
          <a:prstGeom prst="roundRect">
            <a:avLst/>
          </a:prstGeom>
          <a:solidFill>
            <a:srgbClr val="476153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967228"/>
            <a:ext cx="47548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2967228"/>
            <a:ext cx="20116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Transport (4)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2967228"/>
            <a:ext cx="52120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90000"/>
                  </a:srgbClr>
                </a:solidFill>
              </a:rPr>
              <a:t>TCP, UDP — End-to-end communication and reliability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529584"/>
            <a:ext cx="7955280" cy="525780"/>
          </a:xfrm>
          <a:prstGeom prst="roundRect">
            <a:avLst/>
          </a:prstGeom>
          <a:solidFill>
            <a:srgbClr val="5E7C6C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529584"/>
            <a:ext cx="47548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3529584"/>
            <a:ext cx="20116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Network (3)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26080" y="3529584"/>
            <a:ext cx="52120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90000"/>
                  </a:srgbClr>
                </a:solidFill>
              </a:rPr>
              <a:t>IP, ICMP, Routing — Logical addressing and path determination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4091940"/>
            <a:ext cx="7955280" cy="525780"/>
          </a:xfrm>
          <a:prstGeom prst="roundRect">
            <a:avLst/>
          </a:prstGeom>
          <a:solidFill>
            <a:srgbClr val="7CA08A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4091940"/>
            <a:ext cx="47548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</a:rPr>
              <a:t>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" y="4091940"/>
            <a:ext cx="20116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Link (2)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926080" y="4091940"/>
            <a:ext cx="52120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90000"/>
                  </a:srgbClr>
                </a:solidFill>
              </a:rPr>
              <a:t>Ethernet, Wi-Fi, PPP — Node-to-node data transfer, MAC addressing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4654296"/>
            <a:ext cx="7955280" cy="525780"/>
          </a:xfrm>
          <a:prstGeom prst="roundRect">
            <a:avLst>
              <a:gd name="adj" fmla="val 10435"/>
            </a:avLst>
          </a:prstGeom>
          <a:solidFill>
            <a:srgbClr val="9DC1AB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4654296"/>
            <a:ext cx="47548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</a:rPr>
              <a:t>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8680" y="4654296"/>
            <a:ext cx="20116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Physical (1)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26080" y="4654296"/>
            <a:ext cx="52120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90000"/>
                  </a:srgbClr>
                </a:solidFill>
              </a:rPr>
              <a:t>Cables, radio signals — Physical transmission of raw bits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2EAE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D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D24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 Layers Deep Dive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114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51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24"/>
                </a:solidFill>
              </a:rPr>
              <a:t>Upper Layers (5–7): Software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Application (7): HTTP, FTP, SMTP, DNS — closest to end users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Presentation (6): SSL/TLS, MIME — data formatting and encryption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Session (5): NetBIOS, RPC — manages sessions between apps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Transport (4): TCP (reliable, ordered) / UDP (fast, no guarantee)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114800" cy="3931920"/>
          </a:xfrm>
          <a:prstGeom prst="roundRect">
            <a:avLst>
              <a:gd name="adj" fmla="val 1860"/>
            </a:avLst>
          </a:prstGeom>
          <a:solidFill>
            <a:srgbClr val="F4F8F4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051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24"/>
                </a:solidFill>
              </a:rPr>
              <a:t>Lower Layers (1–3): Hardware &amp; Routing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481328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Network (3): IP, ICMP, OSPF, BGP — routing and logical addressing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Data Link (2): Ethernet, Wi-Fi, VLANs — node-to-node transfer, MAC addressing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Physical (1): Fiber, twisted pair, Wi-Fi signals — raw bit transmission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Data Encapsulation: each layer adds its own header as data moves down the stack.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2EAE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D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D24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TCP/IP Model Comparison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1E2D24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868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OSI Model (7 Layers)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0097A7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868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TCP/IP Model (4 Layers)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325880"/>
            <a:ext cx="41148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146304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7 · Application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6 · Presentation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5 · Session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──────────────────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4 · Transport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──────────────────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3 · Network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──────────────────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2 · Data Link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1 · Physical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Published 1984 by ISO as the reference standard for teaching and conceptual clarity.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325880"/>
            <a:ext cx="4114800" cy="3429000"/>
          </a:xfrm>
          <a:prstGeom prst="roundRect">
            <a:avLst>
              <a:gd name="adj" fmla="val 2133"/>
            </a:avLst>
          </a:prstGeom>
          <a:solidFill>
            <a:srgbClr val="F4F8F4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46304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4 · Application (maps to OSI 5–7)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3 · Transport (maps to OSI 4)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2 · Internet (maps to OSI 3)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1 · Network Access (maps to OSI 1–2)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Created by DARPA, adopted Jan 1, 1983 — the practical standard that powers the Internet.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4800600"/>
            <a:ext cx="8503920" cy="256032"/>
          </a:xfrm>
          <a:prstGeom prst="roundRect">
            <a:avLst>
              <a:gd name="adj" fmla="val 14286"/>
            </a:avLst>
          </a:prstGeom>
          <a:solidFill>
            <a:srgbClr val="DCE8E0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480060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D5347"/>
                </a:solidFill>
              </a:rPr>
              <a:t>💡 While TCP/IP is the practical standard in use today, the OSI Model remains essential for teaching, troubleshooting, and conceptual understanding.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E2EAE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D2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4F6B5C"/>
                </a:solidFill>
              </a:rPr>
              <a:t>JOURNEY COMPLETE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"lo" to Global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5347"/>
                </a:solidFill>
              </a:rPr>
              <a:t>What began as a defense project with a crashed 'login' attempt has evolved into the backbone of global communication.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578608"/>
            <a:ext cx="27432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715768"/>
            <a:ext cx="420624" cy="420624"/>
          </a:xfrm>
          <a:prstGeom prst="ellipse">
            <a:avLst/>
          </a:prstGeom>
          <a:solidFill>
            <a:srgbClr val="DCE8E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D24"/>
                </a:solidFill>
              </a:rPr>
              <a:t>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8408" y="2715768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D24"/>
                </a:solidFill>
              </a:rPr>
              <a:t>Layered Architecture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24231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D24"/>
                </a:solidFill>
              </a:rPr>
              <a:t>OSI and TCP/IP models provide structured frameworks for understanding complex network interactions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2578608"/>
            <a:ext cx="27432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2715768"/>
            <a:ext cx="420624" cy="420624"/>
          </a:xfrm>
          <a:prstGeom prst="ellipse">
            <a:avLst/>
          </a:prstGeom>
          <a:solidFill>
            <a:srgbClr val="DCE8E0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D24"/>
                </a:solidFill>
              </a:rPr>
              <a:t>⟳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58768" y="2715768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D24"/>
                </a:solidFill>
              </a:rPr>
              <a:t>Packet Switching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83280" y="3200400"/>
            <a:ext cx="24231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D24"/>
                </a:solidFill>
              </a:rPr>
              <a:t>The revolutionary concept enabling resilient, decentralized communication across global networks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578608"/>
            <a:ext cx="27432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D24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2715768"/>
            <a:ext cx="420624" cy="420624"/>
          </a:xfrm>
          <a:prstGeom prst="ellipse">
            <a:avLst/>
          </a:prstGeom>
          <a:solidFill>
            <a:srgbClr val="DCE8E0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D24"/>
                </a:solidFill>
              </a:rPr>
              <a:t>∞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39128" y="2715768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D24"/>
                </a:solidFill>
              </a:rPr>
              <a:t>Standardized Protocols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63640" y="3200400"/>
            <a:ext cx="24231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D24"/>
                </a:solidFill>
              </a:rPr>
              <a:t>TCP/IP provides the universal language enabling billions of devices to communicate seamlessly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E9389"/>
                </a:solidFill>
              </a:rPr>
              <a:t>1957 – 2025 · 68 Years of Innovation · Session 2: Networking Fundamentals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Networking Fundamentals – Sage Mist Theme</dc:title>
  <dc:subject>PptxGenJS Presentation</dc:subject>
  <dc:creator>Technical Education</dc:creator>
  <cp:lastModifiedBy>Technical Education</cp:lastModifiedBy>
  <cp:revision>1</cp:revision>
  <dcterms:created xsi:type="dcterms:W3CDTF">2026-06-12T15:15:31Z</dcterms:created>
  <dcterms:modified xsi:type="dcterms:W3CDTF">2026-06-12T15:15:31Z</dcterms:modified>
</cp:coreProperties>
</file>
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embeddedFontLst>
    <p:embeddedFont>
      <p:font typeface="Hedvig Letters Sans" panose="020B0604020202020204" charset="0"/>
      <p:regular r:id="rId18"/>
    </p:embeddedFont>
    <p:embeddedFont>
      <p:font typeface="Liter" panose="020B0604020202020204" charset="0"/>
      <p:regular r:id="rId19"/>
    </p:embeddedFont>
    <p:embeddedFont>
      <p:font typeface="Quattrocento Sans" panose="020B0502050000020003" pitchFamily="34" charset="0"/>
      <p:regular r:id="rId2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4277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5" y="-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3503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c6bfebdbaeebd1e7014968daff457c5930b5478.jpg"/>
          <p:cNvPicPr>
            <a:picLocks noChangeAspect="1"/>
          </p:cNvPicPr>
          <p:nvPr/>
        </p:nvPicPr>
        <p:blipFill>
          <a:blip r:embed="rId3">
            <a:alphaModFix amt="15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5EFE4">
                  <a:alpha val="90000"/>
                </a:srgbClr>
              </a:gs>
              <a:gs pos="50000">
                <a:srgbClr val="F5EFE4">
                  <a:alpha val="80000"/>
                </a:srgbClr>
              </a:gs>
              <a:gs pos="100000">
                <a:srgbClr val="F5EFE4">
                  <a:alpha val="6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204913"/>
            <a:ext cx="1838325" cy="390525"/>
          </a:xfrm>
          <a:custGeom>
            <a:avLst/>
            <a:gdLst/>
            <a:ahLst/>
            <a:cxnLst/>
            <a:rect l="l" t="t" r="r" b="b"/>
            <a:pathLst>
              <a:path w="1838325" h="390525">
                <a:moveTo>
                  <a:pt x="195263" y="0"/>
                </a:moveTo>
                <a:lnTo>
                  <a:pt x="1643063" y="0"/>
                </a:lnTo>
                <a:cubicBezTo>
                  <a:pt x="1750831" y="0"/>
                  <a:pt x="1838325" y="87494"/>
                  <a:pt x="1838325" y="195263"/>
                </a:cubicBezTo>
                <a:lnTo>
                  <a:pt x="1838325" y="195263"/>
                </a:lnTo>
                <a:cubicBezTo>
                  <a:pt x="1838325" y="303031"/>
                  <a:pt x="1750831" y="390525"/>
                  <a:pt x="1643063" y="390525"/>
                </a:cubicBezTo>
                <a:lnTo>
                  <a:pt x="195263" y="390525"/>
                </a:lnTo>
                <a:cubicBezTo>
                  <a:pt x="87494" y="390525"/>
                  <a:pt x="0" y="303031"/>
                  <a:pt x="0" y="195263"/>
                </a:cubicBezTo>
                <a:lnTo>
                  <a:pt x="0" y="195263"/>
                </a:lnTo>
                <a:cubicBezTo>
                  <a:pt x="0" y="87494"/>
                  <a:pt x="87494" y="0"/>
                  <a:pt x="19526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 w="12700">
            <a:solidFill>
              <a:srgbClr val="9C846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314450"/>
            <a:ext cx="15238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 3 Notes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133600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Networking Protocols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Deep Dive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076700"/>
            <a:ext cx="74295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DNS, TCP, and UDP - The Foundation of Internet Communication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27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85775" y="53911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76300" y="5353050"/>
            <a:ext cx="122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Architecture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329458" y="527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443758" y="53911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824758" y="5353050"/>
            <a:ext cx="92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Protocol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978325" y="527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102150" y="53911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473625" y="5353050"/>
            <a:ext cx="962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UDP Protocol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Contents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452563"/>
            <a:ext cx="5591175" cy="2390775"/>
          </a:xfrm>
          <a:custGeom>
            <a:avLst/>
            <a:gdLst/>
            <a:ahLst/>
            <a:cxnLst/>
            <a:rect l="l" t="t" r="r" b="b"/>
            <a:pathLst>
              <a:path w="5591175" h="2390775">
                <a:moveTo>
                  <a:pt x="152412" y="0"/>
                </a:moveTo>
                <a:lnTo>
                  <a:pt x="5438763" y="0"/>
                </a:lnTo>
                <a:cubicBezTo>
                  <a:pt x="5522938" y="0"/>
                  <a:pt x="5591175" y="68237"/>
                  <a:pt x="5591175" y="152412"/>
                </a:cubicBezTo>
                <a:lnTo>
                  <a:pt x="5591175" y="2238363"/>
                </a:lnTo>
                <a:cubicBezTo>
                  <a:pt x="5591175" y="2322538"/>
                  <a:pt x="5522938" y="2390775"/>
                  <a:pt x="5438763" y="2390775"/>
                </a:cubicBezTo>
                <a:lnTo>
                  <a:pt x="152412" y="2390775"/>
                </a:lnTo>
                <a:cubicBezTo>
                  <a:pt x="68237" y="2390775"/>
                  <a:pt x="0" y="2322538"/>
                  <a:pt x="0" y="2238363"/>
                </a:cubicBezTo>
                <a:lnTo>
                  <a:pt x="0" y="152412"/>
                </a:lnTo>
                <a:cubicBezTo>
                  <a:pt x="0" y="68237"/>
                  <a:pt x="68237" y="0"/>
                  <a:pt x="152412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95325" y="1981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6506" y="2114550"/>
            <a:ext cx="428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95425" y="1981200"/>
            <a:ext cx="4286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Domain Name System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5425" y="2400300"/>
            <a:ext cx="4248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Internet's phonebook translating domain names to IP addresses through hierarchical resolution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95425" y="3048000"/>
            <a:ext cx="1123950" cy="266700"/>
          </a:xfrm>
          <a:custGeom>
            <a:avLst/>
            <a:gdLst/>
            <a:ahLst/>
            <a:cxnLst/>
            <a:rect l="l" t="t" r="r" b="b"/>
            <a:pathLst>
              <a:path w="1123950" h="266700">
                <a:moveTo>
                  <a:pt x="133350" y="0"/>
                </a:moveTo>
                <a:lnTo>
                  <a:pt x="990600" y="0"/>
                </a:lnTo>
                <a:cubicBezTo>
                  <a:pt x="1064198" y="0"/>
                  <a:pt x="1123950" y="59752"/>
                  <a:pt x="1123950" y="133350"/>
                </a:cubicBezTo>
                <a:lnTo>
                  <a:pt x="1123950" y="133350"/>
                </a:lnTo>
                <a:cubicBezTo>
                  <a:pt x="1123950" y="206948"/>
                  <a:pt x="1064198" y="266700"/>
                  <a:pt x="99060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495425" y="3048000"/>
            <a:ext cx="119062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Resolution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99742" y="3048000"/>
            <a:ext cx="695325" cy="266700"/>
          </a:xfrm>
          <a:custGeom>
            <a:avLst/>
            <a:gdLst/>
            <a:ahLst/>
            <a:cxnLst/>
            <a:rect l="l" t="t" r="r" b="b"/>
            <a:pathLst>
              <a:path w="695325" h="266700">
                <a:moveTo>
                  <a:pt x="133350" y="0"/>
                </a:moveTo>
                <a:lnTo>
                  <a:pt x="561975" y="0"/>
                </a:lnTo>
                <a:cubicBezTo>
                  <a:pt x="635573" y="0"/>
                  <a:pt x="695325" y="59752"/>
                  <a:pt x="695325" y="133350"/>
                </a:cubicBezTo>
                <a:lnTo>
                  <a:pt x="695325" y="133350"/>
                </a:lnTo>
                <a:cubicBezTo>
                  <a:pt x="695325" y="206948"/>
                  <a:pt x="635573" y="266700"/>
                  <a:pt x="561975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9742" y="3048000"/>
            <a:ext cx="76200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Caching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5063" y="1452563"/>
            <a:ext cx="5591175" cy="2390775"/>
          </a:xfrm>
          <a:custGeom>
            <a:avLst/>
            <a:gdLst/>
            <a:ahLst/>
            <a:cxnLst/>
            <a:rect l="l" t="t" r="r" b="b"/>
            <a:pathLst>
              <a:path w="5591175" h="2390775">
                <a:moveTo>
                  <a:pt x="152412" y="0"/>
                </a:moveTo>
                <a:lnTo>
                  <a:pt x="5438763" y="0"/>
                </a:lnTo>
                <a:cubicBezTo>
                  <a:pt x="5522938" y="0"/>
                  <a:pt x="5591175" y="68237"/>
                  <a:pt x="5591175" y="152412"/>
                </a:cubicBezTo>
                <a:lnTo>
                  <a:pt x="5591175" y="2238363"/>
                </a:lnTo>
                <a:cubicBezTo>
                  <a:pt x="5591175" y="2322538"/>
                  <a:pt x="5522938" y="2390775"/>
                  <a:pt x="5438763" y="2390775"/>
                </a:cubicBezTo>
                <a:lnTo>
                  <a:pt x="152412" y="2390775"/>
                </a:lnTo>
                <a:cubicBezTo>
                  <a:pt x="68237" y="2390775"/>
                  <a:pt x="0" y="2322538"/>
                  <a:pt x="0" y="2238363"/>
                </a:cubicBezTo>
                <a:lnTo>
                  <a:pt x="0" y="152412"/>
                </a:lnTo>
                <a:cubicBezTo>
                  <a:pt x="0" y="68237"/>
                  <a:pt x="68237" y="0"/>
                  <a:pt x="152412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24625" y="1981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65268" y="2114550"/>
            <a:ext cx="466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24725" y="1981200"/>
            <a:ext cx="4286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Protocol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24725" y="2400300"/>
            <a:ext cx="4248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Reliable, connection-oriented protocol ensuring ordered data delivery with error handling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324725" y="3048000"/>
            <a:ext cx="1314450" cy="266700"/>
          </a:xfrm>
          <a:custGeom>
            <a:avLst/>
            <a:gdLst/>
            <a:ahLst/>
            <a:cxnLst/>
            <a:rect l="l" t="t" r="r" b="b"/>
            <a:pathLst>
              <a:path w="1314450" h="266700">
                <a:moveTo>
                  <a:pt x="133350" y="0"/>
                </a:moveTo>
                <a:lnTo>
                  <a:pt x="1181100" y="0"/>
                </a:lnTo>
                <a:cubicBezTo>
                  <a:pt x="1254698" y="0"/>
                  <a:pt x="1314450" y="59752"/>
                  <a:pt x="1314450" y="133350"/>
                </a:cubicBezTo>
                <a:lnTo>
                  <a:pt x="1314450" y="133350"/>
                </a:lnTo>
                <a:cubicBezTo>
                  <a:pt x="1314450" y="206948"/>
                  <a:pt x="1254698" y="266700"/>
                  <a:pt x="118110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24725" y="3048000"/>
            <a:ext cx="138112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3-Way Handshake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717905" y="3048000"/>
            <a:ext cx="1104900" cy="266700"/>
          </a:xfrm>
          <a:custGeom>
            <a:avLst/>
            <a:gdLst/>
            <a:ahLst/>
            <a:cxnLst/>
            <a:rect l="l" t="t" r="r" b="b"/>
            <a:pathLst>
              <a:path w="1104900" h="266700">
                <a:moveTo>
                  <a:pt x="133350" y="0"/>
                </a:moveTo>
                <a:lnTo>
                  <a:pt x="971550" y="0"/>
                </a:lnTo>
                <a:cubicBezTo>
                  <a:pt x="1045148" y="0"/>
                  <a:pt x="1104900" y="59752"/>
                  <a:pt x="1104900" y="133350"/>
                </a:cubicBezTo>
                <a:lnTo>
                  <a:pt x="1104900" y="133350"/>
                </a:lnTo>
                <a:cubicBezTo>
                  <a:pt x="1104900" y="206948"/>
                  <a:pt x="1045148" y="266700"/>
                  <a:pt x="97155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17905" y="3048000"/>
            <a:ext cx="117157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Retransmission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85763" y="4081463"/>
            <a:ext cx="5591175" cy="2390775"/>
          </a:xfrm>
          <a:custGeom>
            <a:avLst/>
            <a:gdLst/>
            <a:ahLst/>
            <a:cxnLst/>
            <a:rect l="l" t="t" r="r" b="b"/>
            <a:pathLst>
              <a:path w="5591175" h="2390775">
                <a:moveTo>
                  <a:pt x="152412" y="0"/>
                </a:moveTo>
                <a:lnTo>
                  <a:pt x="5438763" y="0"/>
                </a:lnTo>
                <a:cubicBezTo>
                  <a:pt x="5522938" y="0"/>
                  <a:pt x="5591175" y="68237"/>
                  <a:pt x="5591175" y="152412"/>
                </a:cubicBezTo>
                <a:lnTo>
                  <a:pt x="5591175" y="2238363"/>
                </a:lnTo>
                <a:cubicBezTo>
                  <a:pt x="5591175" y="2322538"/>
                  <a:pt x="5522938" y="2390775"/>
                  <a:pt x="5438763" y="2390775"/>
                </a:cubicBezTo>
                <a:lnTo>
                  <a:pt x="152412" y="2390775"/>
                </a:lnTo>
                <a:cubicBezTo>
                  <a:pt x="68237" y="2390775"/>
                  <a:pt x="0" y="2322538"/>
                  <a:pt x="0" y="2238363"/>
                </a:cubicBezTo>
                <a:lnTo>
                  <a:pt x="0" y="152412"/>
                </a:lnTo>
                <a:cubicBezTo>
                  <a:pt x="0" y="68237"/>
                  <a:pt x="68237" y="0"/>
                  <a:pt x="152412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5325" y="46101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31800" y="4743450"/>
            <a:ext cx="47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95425" y="4610100"/>
            <a:ext cx="4286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UDP Protocol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95425" y="5029200"/>
            <a:ext cx="4248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Fast, connectionless protocol for real-time applications without delivery guarantees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495425" y="5676900"/>
            <a:ext cx="962025" cy="266700"/>
          </a:xfrm>
          <a:custGeom>
            <a:avLst/>
            <a:gdLst/>
            <a:ahLst/>
            <a:cxnLst/>
            <a:rect l="l" t="t" r="r" b="b"/>
            <a:pathLst>
              <a:path w="962025" h="266700">
                <a:moveTo>
                  <a:pt x="133350" y="0"/>
                </a:moveTo>
                <a:lnTo>
                  <a:pt x="828675" y="0"/>
                </a:lnTo>
                <a:cubicBezTo>
                  <a:pt x="902273" y="0"/>
                  <a:pt x="962025" y="59752"/>
                  <a:pt x="962025" y="133350"/>
                </a:cubicBezTo>
                <a:lnTo>
                  <a:pt x="962025" y="133350"/>
                </a:lnTo>
                <a:cubicBezTo>
                  <a:pt x="962025" y="206948"/>
                  <a:pt x="902273" y="266700"/>
                  <a:pt x="828675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495425" y="5676900"/>
            <a:ext cx="102870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Latency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532608" y="5676900"/>
            <a:ext cx="809625" cy="266700"/>
          </a:xfrm>
          <a:custGeom>
            <a:avLst/>
            <a:gdLst/>
            <a:ahLst/>
            <a:cxnLst/>
            <a:rect l="l" t="t" r="r" b="b"/>
            <a:pathLst>
              <a:path w="809625" h="266700">
                <a:moveTo>
                  <a:pt x="133350" y="0"/>
                </a:moveTo>
                <a:lnTo>
                  <a:pt x="676275" y="0"/>
                </a:lnTo>
                <a:cubicBezTo>
                  <a:pt x="749873" y="0"/>
                  <a:pt x="809625" y="59752"/>
                  <a:pt x="809625" y="133350"/>
                </a:cubicBezTo>
                <a:lnTo>
                  <a:pt x="809625" y="133350"/>
                </a:lnTo>
                <a:cubicBezTo>
                  <a:pt x="809625" y="206948"/>
                  <a:pt x="749873" y="266700"/>
                  <a:pt x="676275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532608" y="5676900"/>
            <a:ext cx="87630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Streaming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5063" y="4081463"/>
            <a:ext cx="5591175" cy="2390775"/>
          </a:xfrm>
          <a:custGeom>
            <a:avLst/>
            <a:gdLst/>
            <a:ahLst/>
            <a:cxnLst/>
            <a:rect l="l" t="t" r="r" b="b"/>
            <a:pathLst>
              <a:path w="5591175" h="2390775">
                <a:moveTo>
                  <a:pt x="152412" y="0"/>
                </a:moveTo>
                <a:lnTo>
                  <a:pt x="5438763" y="0"/>
                </a:lnTo>
                <a:cubicBezTo>
                  <a:pt x="5522938" y="0"/>
                  <a:pt x="5591175" y="68237"/>
                  <a:pt x="5591175" y="152412"/>
                </a:cubicBezTo>
                <a:lnTo>
                  <a:pt x="5591175" y="2238363"/>
                </a:lnTo>
                <a:cubicBezTo>
                  <a:pt x="5591175" y="2322538"/>
                  <a:pt x="5522938" y="2390775"/>
                  <a:pt x="5438763" y="2390775"/>
                </a:cubicBezTo>
                <a:lnTo>
                  <a:pt x="152412" y="2390775"/>
                </a:lnTo>
                <a:cubicBezTo>
                  <a:pt x="68237" y="2390775"/>
                  <a:pt x="0" y="2322538"/>
                  <a:pt x="0" y="2238363"/>
                </a:cubicBezTo>
                <a:lnTo>
                  <a:pt x="0" y="152412"/>
                </a:lnTo>
                <a:cubicBezTo>
                  <a:pt x="0" y="68237"/>
                  <a:pt x="68237" y="0"/>
                  <a:pt x="152412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524625" y="46101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57231" y="4743450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24725" y="4610100"/>
            <a:ext cx="4286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Protocol Comparison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324725" y="5029200"/>
            <a:ext cx="4248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Side-by-side analysis of TCP vs UDP characteristics, use cases, and performance trade-offs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324725" y="5676900"/>
            <a:ext cx="838200" cy="266700"/>
          </a:xfrm>
          <a:custGeom>
            <a:avLst/>
            <a:gdLst/>
            <a:ahLst/>
            <a:cxnLst/>
            <a:rect l="l" t="t" r="r" b="b"/>
            <a:pathLst>
              <a:path w="838200" h="266700">
                <a:moveTo>
                  <a:pt x="133350" y="0"/>
                </a:moveTo>
                <a:lnTo>
                  <a:pt x="704850" y="0"/>
                </a:lnTo>
                <a:cubicBezTo>
                  <a:pt x="778448" y="0"/>
                  <a:pt x="838200" y="59752"/>
                  <a:pt x="838200" y="133350"/>
                </a:cubicBezTo>
                <a:lnTo>
                  <a:pt x="838200" y="133350"/>
                </a:lnTo>
                <a:cubicBezTo>
                  <a:pt x="838200" y="206948"/>
                  <a:pt x="778448" y="266700"/>
                  <a:pt x="70485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324725" y="5676900"/>
            <a:ext cx="90487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Trade-offs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238232" y="5676900"/>
            <a:ext cx="819150" cy="266700"/>
          </a:xfrm>
          <a:custGeom>
            <a:avLst/>
            <a:gdLst/>
            <a:ahLst/>
            <a:cxnLst/>
            <a:rect l="l" t="t" r="r" b="b"/>
            <a:pathLst>
              <a:path w="819150" h="266700">
                <a:moveTo>
                  <a:pt x="133350" y="0"/>
                </a:moveTo>
                <a:lnTo>
                  <a:pt x="685800" y="0"/>
                </a:lnTo>
                <a:cubicBezTo>
                  <a:pt x="759398" y="0"/>
                  <a:pt x="819150" y="59752"/>
                  <a:pt x="819150" y="133350"/>
                </a:cubicBezTo>
                <a:lnTo>
                  <a:pt x="819150" y="133350"/>
                </a:lnTo>
                <a:cubicBezTo>
                  <a:pt x="819150" y="206948"/>
                  <a:pt x="759398" y="266700"/>
                  <a:pt x="68580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238232" y="5676900"/>
            <a:ext cx="88582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Cases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cloudns.net/12ca3ccb2ff035209689ac99755f19613dc64f92.png"/>
          <p:cNvPicPr>
            <a:picLocks noChangeAspect="1"/>
          </p:cNvPicPr>
          <p:nvPr/>
        </p:nvPicPr>
        <p:blipFill>
          <a:blip r:embed="rId3">
            <a:alphaModFix amt="2000"/>
          </a:blip>
          <a:srcRect t="30078" b="3007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5EFE4"/>
              </a:gs>
              <a:gs pos="50000">
                <a:srgbClr val="F5EFE4">
                  <a:alpha val="95000"/>
                </a:srgbClr>
              </a:gs>
              <a:gs pos="100000">
                <a:srgbClr val="F5EFE4">
                  <a:alpha val="7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657350"/>
            <a:ext cx="1362075" cy="390525"/>
          </a:xfrm>
          <a:custGeom>
            <a:avLst/>
            <a:gdLst/>
            <a:ahLst/>
            <a:cxnLst/>
            <a:rect l="l" t="t" r="r" b="b"/>
            <a:pathLst>
              <a:path w="1362075" h="390525">
                <a:moveTo>
                  <a:pt x="195263" y="0"/>
                </a:moveTo>
                <a:lnTo>
                  <a:pt x="1166813" y="0"/>
                </a:lnTo>
                <a:cubicBezTo>
                  <a:pt x="1274581" y="0"/>
                  <a:pt x="1362075" y="87494"/>
                  <a:pt x="1362075" y="195263"/>
                </a:cubicBezTo>
                <a:lnTo>
                  <a:pt x="1362075" y="195263"/>
                </a:lnTo>
                <a:cubicBezTo>
                  <a:pt x="1362075" y="303031"/>
                  <a:pt x="1274581" y="390525"/>
                  <a:pt x="1166813" y="390525"/>
                </a:cubicBezTo>
                <a:lnTo>
                  <a:pt x="195263" y="390525"/>
                </a:lnTo>
                <a:cubicBezTo>
                  <a:pt x="87494" y="390525"/>
                  <a:pt x="0" y="303031"/>
                  <a:pt x="0" y="195263"/>
                </a:cubicBezTo>
                <a:lnTo>
                  <a:pt x="0" y="195263"/>
                </a:lnTo>
                <a:cubicBezTo>
                  <a:pt x="0" y="87494"/>
                  <a:pt x="87494" y="0"/>
                  <a:pt x="19526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 w="12700">
            <a:solidFill>
              <a:srgbClr val="9C846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766888"/>
            <a:ext cx="10483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Chapter 01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281238"/>
            <a:ext cx="7200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Domain Name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System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224338"/>
            <a:ext cx="69723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Internet's Phonebook - How Domain Names Map to IP Addresses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16719" y="49958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3425" y="4976813"/>
            <a:ext cx="1590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Hierarchical Resolution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502545" y="499586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0932" y="104180"/>
                </a:moveTo>
                <a:lnTo>
                  <a:pt x="59903" y="104180"/>
                </a:lnTo>
                <a:cubicBezTo>
                  <a:pt x="60982" y="128178"/>
                  <a:pt x="66303" y="150279"/>
                  <a:pt x="73856" y="166464"/>
                </a:cubicBezTo>
                <a:cubicBezTo>
                  <a:pt x="78098" y="175580"/>
                  <a:pt x="82674" y="182017"/>
                  <a:pt x="86916" y="185961"/>
                </a:cubicBezTo>
                <a:cubicBezTo>
                  <a:pt x="91083" y="189867"/>
                  <a:pt x="93948" y="190500"/>
                  <a:pt x="95436" y="190500"/>
                </a:cubicBezTo>
                <a:cubicBezTo>
                  <a:pt x="96924" y="190500"/>
                  <a:pt x="99789" y="189867"/>
                  <a:pt x="103956" y="185961"/>
                </a:cubicBezTo>
                <a:cubicBezTo>
                  <a:pt x="108198" y="182017"/>
                  <a:pt x="112775" y="175543"/>
                  <a:pt x="117016" y="166464"/>
                </a:cubicBezTo>
                <a:cubicBezTo>
                  <a:pt x="124569" y="150279"/>
                  <a:pt x="129890" y="128178"/>
                  <a:pt x="130969" y="104180"/>
                </a:cubicBezTo>
                <a:close/>
                <a:moveTo>
                  <a:pt x="59866" y="86320"/>
                </a:moveTo>
                <a:lnTo>
                  <a:pt x="130894" y="86320"/>
                </a:lnTo>
                <a:cubicBezTo>
                  <a:pt x="129853" y="62322"/>
                  <a:pt x="124532" y="40221"/>
                  <a:pt x="116979" y="24036"/>
                </a:cubicBezTo>
                <a:cubicBezTo>
                  <a:pt x="112737" y="14957"/>
                  <a:pt x="108161" y="8483"/>
                  <a:pt x="103919" y="4539"/>
                </a:cubicBezTo>
                <a:cubicBezTo>
                  <a:pt x="99752" y="633"/>
                  <a:pt x="96887" y="0"/>
                  <a:pt x="95399" y="0"/>
                </a:cubicBezTo>
                <a:cubicBezTo>
                  <a:pt x="93911" y="0"/>
                  <a:pt x="91046" y="633"/>
                  <a:pt x="86878" y="4539"/>
                </a:cubicBezTo>
                <a:cubicBezTo>
                  <a:pt x="82637" y="8483"/>
                  <a:pt x="78060" y="14957"/>
                  <a:pt x="73819" y="24036"/>
                </a:cubicBezTo>
                <a:cubicBezTo>
                  <a:pt x="66266" y="40221"/>
                  <a:pt x="60945" y="62322"/>
                  <a:pt x="59866" y="86320"/>
                </a:cubicBezTo>
                <a:close/>
                <a:moveTo>
                  <a:pt x="42007" y="86320"/>
                </a:moveTo>
                <a:cubicBezTo>
                  <a:pt x="43309" y="54471"/>
                  <a:pt x="51532" y="24892"/>
                  <a:pt x="63550" y="5469"/>
                </a:cubicBezTo>
                <a:cubicBezTo>
                  <a:pt x="29282" y="17599"/>
                  <a:pt x="4056" y="48816"/>
                  <a:pt x="558" y="86320"/>
                </a:cubicBezTo>
                <a:lnTo>
                  <a:pt x="42007" y="86320"/>
                </a:lnTo>
                <a:close/>
                <a:moveTo>
                  <a:pt x="558" y="104180"/>
                </a:moveTo>
                <a:cubicBezTo>
                  <a:pt x="4056" y="141684"/>
                  <a:pt x="29282" y="172901"/>
                  <a:pt x="63550" y="185031"/>
                </a:cubicBezTo>
                <a:cubicBezTo>
                  <a:pt x="51532" y="165608"/>
                  <a:pt x="43309" y="136029"/>
                  <a:pt x="42007" y="104180"/>
                </a:cubicBezTo>
                <a:lnTo>
                  <a:pt x="558" y="104180"/>
                </a:lnTo>
                <a:close/>
                <a:moveTo>
                  <a:pt x="148791" y="104180"/>
                </a:moveTo>
                <a:cubicBezTo>
                  <a:pt x="147489" y="136029"/>
                  <a:pt x="139266" y="165608"/>
                  <a:pt x="127248" y="185031"/>
                </a:cubicBezTo>
                <a:cubicBezTo>
                  <a:pt x="161516" y="172864"/>
                  <a:pt x="186742" y="141684"/>
                  <a:pt x="190240" y="104180"/>
                </a:cubicBezTo>
                <a:lnTo>
                  <a:pt x="148791" y="104180"/>
                </a:lnTo>
                <a:close/>
                <a:moveTo>
                  <a:pt x="190240" y="86320"/>
                </a:moveTo>
                <a:cubicBezTo>
                  <a:pt x="186742" y="48816"/>
                  <a:pt x="161516" y="17599"/>
                  <a:pt x="127248" y="5469"/>
                </a:cubicBezTo>
                <a:cubicBezTo>
                  <a:pt x="139266" y="24892"/>
                  <a:pt x="147489" y="54471"/>
                  <a:pt x="148791" y="86320"/>
                </a:cubicBezTo>
                <a:lnTo>
                  <a:pt x="190240" y="86320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831157" y="4976813"/>
            <a:ext cx="1304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Distribution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10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Fundamentals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What is DNS?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257300"/>
            <a:ext cx="5876925" cy="1466850"/>
          </a:xfrm>
          <a:custGeom>
            <a:avLst/>
            <a:gdLst/>
            <a:ahLst/>
            <a:cxnLst/>
            <a:rect l="l" t="t" r="r" b="b"/>
            <a:pathLst>
              <a:path w="5876925" h="1466850">
                <a:moveTo>
                  <a:pt x="0" y="0"/>
                </a:moveTo>
                <a:lnTo>
                  <a:pt x="5762628" y="0"/>
                </a:lnTo>
                <a:cubicBezTo>
                  <a:pt x="5825753" y="0"/>
                  <a:pt x="5876925" y="51172"/>
                  <a:pt x="5876925" y="114297"/>
                </a:cubicBezTo>
                <a:lnTo>
                  <a:pt x="5876925" y="1352553"/>
                </a:lnTo>
                <a:cubicBezTo>
                  <a:pt x="5876925" y="1415678"/>
                  <a:pt x="5825753" y="1466850"/>
                  <a:pt x="5762628" y="1466850"/>
                </a:cubicBezTo>
                <a:lnTo>
                  <a:pt x="0" y="1466850"/>
                </a:lnTo>
                <a:lnTo>
                  <a:pt x="0" y="0"/>
                </a:lnTo>
                <a:close/>
              </a:path>
            </a:pathLst>
          </a:custGeom>
          <a:solidFill>
            <a:srgbClr val="9C8460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0050" y="1257300"/>
            <a:ext cx="38100" cy="1466850"/>
          </a:xfrm>
          <a:custGeom>
            <a:avLst/>
            <a:gdLst/>
            <a:ahLst/>
            <a:cxnLst/>
            <a:rect l="l" t="t" r="r" b="b"/>
            <a:pathLst>
              <a:path w="38100" h="1466850">
                <a:moveTo>
                  <a:pt x="0" y="0"/>
                </a:moveTo>
                <a:lnTo>
                  <a:pt x="38100" y="0"/>
                </a:lnTo>
                <a:lnTo>
                  <a:pt x="38100" y="1466850"/>
                </a:lnTo>
                <a:lnTo>
                  <a:pt x="0" y="1466850"/>
                </a:lnTo>
                <a:lnTo>
                  <a:pt x="0" y="0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09600" y="1447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54856" y="1581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42875" y="190500"/>
                </a:moveTo>
                <a:lnTo>
                  <a:pt x="35719" y="190500"/>
                </a:lnTo>
                <a:cubicBezTo>
                  <a:pt x="15999" y="190500"/>
                  <a:pt x="0" y="174501"/>
                  <a:pt x="0" y="154781"/>
                </a:cubicBezTo>
                <a:lnTo>
                  <a:pt x="0" y="35719"/>
                </a:lnTo>
                <a:cubicBezTo>
                  <a:pt x="0" y="15999"/>
                  <a:pt x="15999" y="0"/>
                  <a:pt x="35719" y="0"/>
                </a:cubicBezTo>
                <a:lnTo>
                  <a:pt x="148828" y="0"/>
                </a:lnTo>
                <a:cubicBezTo>
                  <a:pt x="158688" y="0"/>
                  <a:pt x="166688" y="8000"/>
                  <a:pt x="166688" y="17859"/>
                </a:cubicBezTo>
                <a:lnTo>
                  <a:pt x="166688" y="125016"/>
                </a:lnTo>
                <a:cubicBezTo>
                  <a:pt x="166688" y="132792"/>
                  <a:pt x="161702" y="139415"/>
                  <a:pt x="154781" y="141870"/>
                </a:cubicBezTo>
                <a:lnTo>
                  <a:pt x="154781" y="166688"/>
                </a:lnTo>
                <a:cubicBezTo>
                  <a:pt x="161367" y="166688"/>
                  <a:pt x="166688" y="172008"/>
                  <a:pt x="166688" y="178594"/>
                </a:cubicBezTo>
                <a:cubicBezTo>
                  <a:pt x="166688" y="185179"/>
                  <a:pt x="161367" y="190500"/>
                  <a:pt x="154781" y="190500"/>
                </a:cubicBezTo>
                <a:lnTo>
                  <a:pt x="142875" y="190500"/>
                </a:lnTo>
                <a:close/>
                <a:moveTo>
                  <a:pt x="35719" y="142875"/>
                </a:moveTo>
                <a:cubicBezTo>
                  <a:pt x="29133" y="142875"/>
                  <a:pt x="23812" y="148196"/>
                  <a:pt x="23812" y="154781"/>
                </a:cubicBezTo>
                <a:cubicBezTo>
                  <a:pt x="23812" y="161367"/>
                  <a:pt x="29133" y="166688"/>
                  <a:pt x="35719" y="166688"/>
                </a:cubicBezTo>
                <a:lnTo>
                  <a:pt x="130969" y="166688"/>
                </a:lnTo>
                <a:lnTo>
                  <a:pt x="130969" y="142875"/>
                </a:lnTo>
                <a:lnTo>
                  <a:pt x="35719" y="142875"/>
                </a:lnTo>
                <a:close/>
                <a:moveTo>
                  <a:pt x="47625" y="56555"/>
                </a:moveTo>
                <a:cubicBezTo>
                  <a:pt x="47625" y="61503"/>
                  <a:pt x="51606" y="65484"/>
                  <a:pt x="56555" y="65484"/>
                </a:cubicBezTo>
                <a:lnTo>
                  <a:pt x="122039" y="65484"/>
                </a:lnTo>
                <a:cubicBezTo>
                  <a:pt x="126988" y="65484"/>
                  <a:pt x="130969" y="61503"/>
                  <a:pt x="130969" y="56555"/>
                </a:cubicBezTo>
                <a:cubicBezTo>
                  <a:pt x="130969" y="51606"/>
                  <a:pt x="126988" y="47625"/>
                  <a:pt x="122039" y="47625"/>
                </a:cubicBezTo>
                <a:lnTo>
                  <a:pt x="56555" y="47625"/>
                </a:lnTo>
                <a:cubicBezTo>
                  <a:pt x="51606" y="47625"/>
                  <a:pt x="47625" y="51606"/>
                  <a:pt x="47625" y="56555"/>
                </a:cubicBezTo>
                <a:close/>
                <a:moveTo>
                  <a:pt x="56555" y="83344"/>
                </a:moveTo>
                <a:cubicBezTo>
                  <a:pt x="51606" y="83344"/>
                  <a:pt x="47625" y="87325"/>
                  <a:pt x="47625" y="92273"/>
                </a:cubicBezTo>
                <a:cubicBezTo>
                  <a:pt x="47625" y="97222"/>
                  <a:pt x="51606" y="101203"/>
                  <a:pt x="56555" y="101203"/>
                </a:cubicBezTo>
                <a:lnTo>
                  <a:pt x="122039" y="101203"/>
                </a:lnTo>
                <a:cubicBezTo>
                  <a:pt x="126988" y="101203"/>
                  <a:pt x="130969" y="97222"/>
                  <a:pt x="130969" y="92273"/>
                </a:cubicBezTo>
                <a:cubicBezTo>
                  <a:pt x="130969" y="87325"/>
                  <a:pt x="126988" y="83344"/>
                  <a:pt x="122039" y="83344"/>
                </a:cubicBezTo>
                <a:lnTo>
                  <a:pt x="56555" y="83344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19200" y="1447800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Definition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19200" y="1790700"/>
            <a:ext cx="49434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= Domain Name System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phonebook of the internet. It translates human-readable domain names (like www.codersgyan.com) into machine-readable IP addresses (like 104.21.16.1).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0050" y="2876550"/>
            <a:ext cx="5876925" cy="1466850"/>
          </a:xfrm>
          <a:custGeom>
            <a:avLst/>
            <a:gdLst/>
            <a:ahLst/>
            <a:cxnLst/>
            <a:rect l="l" t="t" r="r" b="b"/>
            <a:pathLst>
              <a:path w="5876925" h="1466850">
                <a:moveTo>
                  <a:pt x="0" y="0"/>
                </a:moveTo>
                <a:lnTo>
                  <a:pt x="5762628" y="0"/>
                </a:lnTo>
                <a:cubicBezTo>
                  <a:pt x="5825753" y="0"/>
                  <a:pt x="5876925" y="51172"/>
                  <a:pt x="5876925" y="114297"/>
                </a:cubicBezTo>
                <a:lnTo>
                  <a:pt x="5876925" y="1352553"/>
                </a:lnTo>
                <a:cubicBezTo>
                  <a:pt x="5876925" y="1415678"/>
                  <a:pt x="5825753" y="1466850"/>
                  <a:pt x="5762628" y="1466850"/>
                </a:cubicBezTo>
                <a:lnTo>
                  <a:pt x="0" y="1466850"/>
                </a:lnTo>
                <a:lnTo>
                  <a:pt x="0" y="0"/>
                </a:lnTo>
                <a:close/>
              </a:path>
            </a:pathLst>
          </a:custGeom>
          <a:solidFill>
            <a:srgbClr val="9C8C7A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00050" y="2876550"/>
            <a:ext cx="38100" cy="1466850"/>
          </a:xfrm>
          <a:custGeom>
            <a:avLst/>
            <a:gdLst/>
            <a:ahLst/>
            <a:cxnLst/>
            <a:rect l="l" t="t" r="r" b="b"/>
            <a:pathLst>
              <a:path w="38100" h="1466850">
                <a:moveTo>
                  <a:pt x="0" y="0"/>
                </a:moveTo>
                <a:lnTo>
                  <a:pt x="38100" y="0"/>
                </a:lnTo>
                <a:lnTo>
                  <a:pt x="38100" y="1466850"/>
                </a:lnTo>
                <a:lnTo>
                  <a:pt x="0" y="1466850"/>
                </a:lnTo>
                <a:lnTo>
                  <a:pt x="0" y="0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09600" y="30670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66763" y="320040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65484" y="130969"/>
                </a:moveTo>
                <a:lnTo>
                  <a:pt x="77391" y="130969"/>
                </a:lnTo>
                <a:cubicBezTo>
                  <a:pt x="83976" y="130969"/>
                  <a:pt x="89297" y="136289"/>
                  <a:pt x="89297" y="142875"/>
                </a:cubicBezTo>
                <a:lnTo>
                  <a:pt x="89297" y="172641"/>
                </a:lnTo>
                <a:lnTo>
                  <a:pt x="53578" y="172641"/>
                </a:lnTo>
                <a:lnTo>
                  <a:pt x="53578" y="142875"/>
                </a:lnTo>
                <a:cubicBezTo>
                  <a:pt x="53578" y="136289"/>
                  <a:pt x="58899" y="130969"/>
                  <a:pt x="65484" y="130969"/>
                </a:cubicBezTo>
                <a:close/>
                <a:moveTo>
                  <a:pt x="35719" y="41672"/>
                </a:moveTo>
                <a:cubicBezTo>
                  <a:pt x="35719" y="38398"/>
                  <a:pt x="38398" y="35719"/>
                  <a:pt x="41672" y="35719"/>
                </a:cubicBezTo>
                <a:lnTo>
                  <a:pt x="53578" y="35719"/>
                </a:lnTo>
                <a:cubicBezTo>
                  <a:pt x="56852" y="35719"/>
                  <a:pt x="59531" y="38398"/>
                  <a:pt x="59531" y="41672"/>
                </a:cubicBezTo>
                <a:lnTo>
                  <a:pt x="59531" y="53578"/>
                </a:lnTo>
                <a:cubicBezTo>
                  <a:pt x="59531" y="56852"/>
                  <a:pt x="56852" y="59531"/>
                  <a:pt x="53578" y="59531"/>
                </a:cubicBezTo>
                <a:lnTo>
                  <a:pt x="41672" y="59531"/>
                </a:lnTo>
                <a:cubicBezTo>
                  <a:pt x="38398" y="59531"/>
                  <a:pt x="35719" y="56852"/>
                  <a:pt x="35719" y="53578"/>
                </a:cubicBezTo>
                <a:lnTo>
                  <a:pt x="35719" y="41672"/>
                </a:lnTo>
                <a:close/>
                <a:moveTo>
                  <a:pt x="89297" y="35719"/>
                </a:moveTo>
                <a:lnTo>
                  <a:pt x="101203" y="35719"/>
                </a:lnTo>
                <a:cubicBezTo>
                  <a:pt x="104477" y="35719"/>
                  <a:pt x="107156" y="38398"/>
                  <a:pt x="107156" y="41672"/>
                </a:cubicBezTo>
                <a:lnTo>
                  <a:pt x="107156" y="53578"/>
                </a:lnTo>
                <a:cubicBezTo>
                  <a:pt x="107156" y="56852"/>
                  <a:pt x="104477" y="59531"/>
                  <a:pt x="101203" y="59531"/>
                </a:cubicBezTo>
                <a:lnTo>
                  <a:pt x="89297" y="59531"/>
                </a:lnTo>
                <a:cubicBezTo>
                  <a:pt x="86023" y="59531"/>
                  <a:pt x="83344" y="56852"/>
                  <a:pt x="83344" y="53578"/>
                </a:cubicBezTo>
                <a:lnTo>
                  <a:pt x="83344" y="41672"/>
                </a:lnTo>
                <a:cubicBezTo>
                  <a:pt x="83344" y="38398"/>
                  <a:pt x="86023" y="35719"/>
                  <a:pt x="89297" y="35719"/>
                </a:cubicBezTo>
                <a:close/>
                <a:moveTo>
                  <a:pt x="35719" y="89297"/>
                </a:moveTo>
                <a:cubicBezTo>
                  <a:pt x="35719" y="86023"/>
                  <a:pt x="38398" y="83344"/>
                  <a:pt x="41672" y="83344"/>
                </a:cubicBezTo>
                <a:lnTo>
                  <a:pt x="53578" y="83344"/>
                </a:lnTo>
                <a:cubicBezTo>
                  <a:pt x="56852" y="83344"/>
                  <a:pt x="59531" y="86023"/>
                  <a:pt x="59531" y="89297"/>
                </a:cubicBezTo>
                <a:lnTo>
                  <a:pt x="59531" y="101203"/>
                </a:lnTo>
                <a:cubicBezTo>
                  <a:pt x="59531" y="104477"/>
                  <a:pt x="56852" y="107156"/>
                  <a:pt x="53578" y="107156"/>
                </a:cubicBezTo>
                <a:lnTo>
                  <a:pt x="41672" y="107156"/>
                </a:lnTo>
                <a:cubicBezTo>
                  <a:pt x="38398" y="107156"/>
                  <a:pt x="35719" y="104477"/>
                  <a:pt x="35719" y="101203"/>
                </a:cubicBezTo>
                <a:lnTo>
                  <a:pt x="35719" y="89297"/>
                </a:lnTo>
                <a:close/>
                <a:moveTo>
                  <a:pt x="89297" y="83344"/>
                </a:moveTo>
                <a:lnTo>
                  <a:pt x="101203" y="83344"/>
                </a:lnTo>
                <a:cubicBezTo>
                  <a:pt x="104477" y="83344"/>
                  <a:pt x="107156" y="86023"/>
                  <a:pt x="107156" y="89297"/>
                </a:cubicBezTo>
                <a:lnTo>
                  <a:pt x="107156" y="101203"/>
                </a:lnTo>
                <a:cubicBezTo>
                  <a:pt x="107156" y="104477"/>
                  <a:pt x="104477" y="107156"/>
                  <a:pt x="101203" y="107156"/>
                </a:cubicBezTo>
                <a:lnTo>
                  <a:pt x="89297" y="107156"/>
                </a:lnTo>
                <a:cubicBezTo>
                  <a:pt x="86023" y="107156"/>
                  <a:pt x="83344" y="104477"/>
                  <a:pt x="83344" y="101203"/>
                </a:cubicBezTo>
                <a:lnTo>
                  <a:pt x="83344" y="89297"/>
                </a:lnTo>
                <a:cubicBezTo>
                  <a:pt x="83344" y="86023"/>
                  <a:pt x="86023" y="83344"/>
                  <a:pt x="89297" y="83344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3067050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Management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19200" y="3409950"/>
            <a:ext cx="49434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Managed by </a:t>
            </a:r>
            <a:r>
              <a:rPr lang="en-US" sz="120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ICANN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(Internet Corporation for Assigned Names and Numbers), a non-profit organization responsible for coordinating the global internet's systems of unique identifiers.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00050" y="4495800"/>
            <a:ext cx="5876925" cy="1219200"/>
          </a:xfrm>
          <a:custGeom>
            <a:avLst/>
            <a:gdLst/>
            <a:ahLst/>
            <a:cxnLst/>
            <a:rect l="l" t="t" r="r" b="b"/>
            <a:pathLst>
              <a:path w="5876925" h="1219200">
                <a:moveTo>
                  <a:pt x="0" y="0"/>
                </a:moveTo>
                <a:lnTo>
                  <a:pt x="5762625" y="0"/>
                </a:lnTo>
                <a:cubicBezTo>
                  <a:pt x="5825709" y="0"/>
                  <a:pt x="5876925" y="51216"/>
                  <a:pt x="5876925" y="114300"/>
                </a:cubicBezTo>
                <a:lnTo>
                  <a:pt x="5876925" y="1104900"/>
                </a:lnTo>
                <a:cubicBezTo>
                  <a:pt x="5876925" y="1167984"/>
                  <a:pt x="5825709" y="1219200"/>
                  <a:pt x="5762625" y="1219200"/>
                </a:cubicBez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BD6B4F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00050" y="4495800"/>
            <a:ext cx="38100" cy="1219200"/>
          </a:xfrm>
          <a:custGeom>
            <a:avLst/>
            <a:gdLst/>
            <a:ahLst/>
            <a:cxnLst/>
            <a:rect l="l" t="t" r="r" b="b"/>
            <a:pathLst>
              <a:path w="38100" h="1219200">
                <a:moveTo>
                  <a:pt x="0" y="0"/>
                </a:moveTo>
                <a:lnTo>
                  <a:pt x="38100" y="0"/>
                </a:lnTo>
                <a:lnTo>
                  <a:pt x="381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9600" y="4686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42950" y="48196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65484"/>
                </a:moveTo>
                <a:cubicBezTo>
                  <a:pt x="88664" y="65484"/>
                  <a:pt x="83344" y="70805"/>
                  <a:pt x="83344" y="77391"/>
                </a:cubicBezTo>
                <a:cubicBezTo>
                  <a:pt x="83344" y="82339"/>
                  <a:pt x="79363" y="86320"/>
                  <a:pt x="74414" y="86320"/>
                </a:cubicBezTo>
                <a:cubicBezTo>
                  <a:pt x="69466" y="86320"/>
                  <a:pt x="65484" y="82339"/>
                  <a:pt x="65484" y="77391"/>
                </a:cubicBezTo>
                <a:cubicBezTo>
                  <a:pt x="65484" y="60945"/>
                  <a:pt x="78804" y="47625"/>
                  <a:pt x="95250" y="47625"/>
                </a:cubicBezTo>
                <a:cubicBezTo>
                  <a:pt x="111696" y="47625"/>
                  <a:pt x="125016" y="60945"/>
                  <a:pt x="125016" y="77391"/>
                </a:cubicBezTo>
                <a:cubicBezTo>
                  <a:pt x="125016" y="94952"/>
                  <a:pt x="111621" y="102394"/>
                  <a:pt x="104180" y="105110"/>
                </a:cubicBezTo>
                <a:lnTo>
                  <a:pt x="104180" y="106524"/>
                </a:lnTo>
                <a:cubicBezTo>
                  <a:pt x="104180" y="111472"/>
                  <a:pt x="100199" y="115453"/>
                  <a:pt x="95250" y="115453"/>
                </a:cubicBezTo>
                <a:cubicBezTo>
                  <a:pt x="90301" y="115453"/>
                  <a:pt x="86320" y="111472"/>
                  <a:pt x="86320" y="106524"/>
                </a:cubicBezTo>
                <a:lnTo>
                  <a:pt x="86320" y="103510"/>
                </a:lnTo>
                <a:cubicBezTo>
                  <a:pt x="86320" y="95883"/>
                  <a:pt x="91827" y="90413"/>
                  <a:pt x="97520" y="88553"/>
                </a:cubicBezTo>
                <a:cubicBezTo>
                  <a:pt x="99901" y="87771"/>
                  <a:pt x="102431" y="86506"/>
                  <a:pt x="104291" y="84720"/>
                </a:cubicBezTo>
                <a:cubicBezTo>
                  <a:pt x="105891" y="83158"/>
                  <a:pt x="107156" y="81000"/>
                  <a:pt x="107156" y="77428"/>
                </a:cubicBezTo>
                <a:cubicBezTo>
                  <a:pt x="107156" y="70842"/>
                  <a:pt x="101836" y="65522"/>
                  <a:pt x="95250" y="65522"/>
                </a:cubicBezTo>
                <a:close/>
                <a:moveTo>
                  <a:pt x="83344" y="136922"/>
                </a:moveTo>
                <a:cubicBezTo>
                  <a:pt x="83344" y="130351"/>
                  <a:pt x="88679" y="125016"/>
                  <a:pt x="95250" y="125016"/>
                </a:cubicBezTo>
                <a:cubicBezTo>
                  <a:pt x="101821" y="125016"/>
                  <a:pt x="107156" y="130351"/>
                  <a:pt x="107156" y="136922"/>
                </a:cubicBezTo>
                <a:cubicBezTo>
                  <a:pt x="107156" y="143493"/>
                  <a:pt x="101821" y="148828"/>
                  <a:pt x="95250" y="148828"/>
                </a:cubicBezTo>
                <a:cubicBezTo>
                  <a:pt x="88679" y="148828"/>
                  <a:pt x="83344" y="143493"/>
                  <a:pt x="83344" y="136922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" y="4686300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Why Domain Names?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19200" y="5029200"/>
            <a:ext cx="49434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Humans are better at remembering </a:t>
            </a:r>
            <a:r>
              <a:rPr lang="en-US" sz="1200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names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</a:t>
            </a:r>
            <a:r>
              <a:rPr lang="en-US" sz="1200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numbers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Remembering "google.com" is infinitely easier than memorizing "142.250.80.46".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513165" y="1262063"/>
            <a:ext cx="5295900" cy="5210175"/>
          </a:xfrm>
          <a:custGeom>
            <a:avLst/>
            <a:gdLst/>
            <a:ahLst/>
            <a:cxnLst/>
            <a:rect l="l" t="t" r="r" b="b"/>
            <a:pathLst>
              <a:path w="5295900" h="5210175">
                <a:moveTo>
                  <a:pt x="152398" y="0"/>
                </a:moveTo>
                <a:lnTo>
                  <a:pt x="5143502" y="0"/>
                </a:lnTo>
                <a:cubicBezTo>
                  <a:pt x="5227669" y="0"/>
                  <a:pt x="5295900" y="68231"/>
                  <a:pt x="5295900" y="152398"/>
                </a:cubicBezTo>
                <a:lnTo>
                  <a:pt x="5295900" y="5057777"/>
                </a:lnTo>
                <a:cubicBezTo>
                  <a:pt x="5295900" y="5141944"/>
                  <a:pt x="5227669" y="5210175"/>
                  <a:pt x="5143502" y="5210175"/>
                </a:cubicBezTo>
                <a:lnTo>
                  <a:pt x="152398" y="5210175"/>
                </a:lnTo>
                <a:cubicBezTo>
                  <a:pt x="68231" y="5210175"/>
                  <a:pt x="0" y="5141944"/>
                  <a:pt x="0" y="50577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5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98903" y="1495425"/>
            <a:ext cx="4924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Library Analogy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746528" y="2221706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929884" y="2393156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83344" y="92273"/>
                </a:moveTo>
                <a:cubicBezTo>
                  <a:pt x="107986" y="92273"/>
                  <a:pt x="127992" y="72267"/>
                  <a:pt x="127992" y="47625"/>
                </a:cubicBezTo>
                <a:cubicBezTo>
                  <a:pt x="127992" y="22983"/>
                  <a:pt x="107986" y="2977"/>
                  <a:pt x="83344" y="2977"/>
                </a:cubicBezTo>
                <a:cubicBezTo>
                  <a:pt x="58702" y="2977"/>
                  <a:pt x="38695" y="22983"/>
                  <a:pt x="38695" y="47625"/>
                </a:cubicBezTo>
                <a:cubicBezTo>
                  <a:pt x="38695" y="72267"/>
                  <a:pt x="58702" y="92273"/>
                  <a:pt x="83344" y="92273"/>
                </a:cubicBezTo>
                <a:close/>
                <a:moveTo>
                  <a:pt x="72293" y="113109"/>
                </a:moveTo>
                <a:cubicBezTo>
                  <a:pt x="35644" y="113109"/>
                  <a:pt x="5953" y="142801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49684" y="190500"/>
                </a:lnTo>
                <a:cubicBezTo>
                  <a:pt x="155786" y="190500"/>
                  <a:pt x="160734" y="185551"/>
                  <a:pt x="160734" y="179450"/>
                </a:cubicBezTo>
                <a:cubicBezTo>
                  <a:pt x="160734" y="142801"/>
                  <a:pt x="131043" y="113109"/>
                  <a:pt x="94394" y="113109"/>
                </a:cubicBezTo>
                <a:lnTo>
                  <a:pt x="72293" y="113109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432328" y="2240756"/>
            <a:ext cx="1400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You (User)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32328" y="2507456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Want to find a book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746528" y="3293269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917978" y="346471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56555"/>
                </a:moveTo>
                <a:cubicBezTo>
                  <a:pt x="113321" y="56555"/>
                  <a:pt x="127992" y="41883"/>
                  <a:pt x="127992" y="23812"/>
                </a:cubicBezTo>
                <a:cubicBezTo>
                  <a:pt x="127992" y="5742"/>
                  <a:pt x="113321" y="-8930"/>
                  <a:pt x="95250" y="-8930"/>
                </a:cubicBezTo>
                <a:cubicBezTo>
                  <a:pt x="77179" y="-8930"/>
                  <a:pt x="62508" y="5742"/>
                  <a:pt x="62508" y="23812"/>
                </a:cubicBezTo>
                <a:cubicBezTo>
                  <a:pt x="62508" y="41883"/>
                  <a:pt x="77179" y="56555"/>
                  <a:pt x="95250" y="56555"/>
                </a:cubicBezTo>
                <a:close/>
                <a:moveTo>
                  <a:pt x="95250" y="167692"/>
                </a:moveTo>
                <a:lnTo>
                  <a:pt x="95250" y="112142"/>
                </a:lnTo>
                <a:cubicBezTo>
                  <a:pt x="101315" y="109612"/>
                  <a:pt x="107491" y="107045"/>
                  <a:pt x="113742" y="104440"/>
                </a:cubicBezTo>
                <a:cubicBezTo>
                  <a:pt x="128253" y="98413"/>
                  <a:pt x="143805" y="95287"/>
                  <a:pt x="159544" y="95287"/>
                </a:cubicBezTo>
                <a:lnTo>
                  <a:pt x="166687" y="95287"/>
                </a:lnTo>
                <a:lnTo>
                  <a:pt x="166687" y="154818"/>
                </a:lnTo>
                <a:lnTo>
                  <a:pt x="159544" y="154818"/>
                </a:lnTo>
                <a:cubicBezTo>
                  <a:pt x="137554" y="154818"/>
                  <a:pt x="115751" y="159172"/>
                  <a:pt x="95436" y="167655"/>
                </a:cubicBezTo>
                <a:lnTo>
                  <a:pt x="95250" y="167729"/>
                </a:lnTo>
                <a:close/>
                <a:moveTo>
                  <a:pt x="95250" y="86320"/>
                </a:moveTo>
                <a:lnTo>
                  <a:pt x="85911" y="82414"/>
                </a:lnTo>
                <a:cubicBezTo>
                  <a:pt x="68498" y="75158"/>
                  <a:pt x="49820" y="71438"/>
                  <a:pt x="30956" y="71438"/>
                </a:cubicBezTo>
                <a:lnTo>
                  <a:pt x="17859" y="71438"/>
                </a:lnTo>
                <a:cubicBezTo>
                  <a:pt x="8000" y="71438"/>
                  <a:pt x="0" y="79437"/>
                  <a:pt x="0" y="89297"/>
                </a:cubicBezTo>
                <a:lnTo>
                  <a:pt x="0" y="160734"/>
                </a:lnTo>
                <a:cubicBezTo>
                  <a:pt x="0" y="170594"/>
                  <a:pt x="8000" y="178594"/>
                  <a:pt x="17859" y="178594"/>
                </a:cubicBezTo>
                <a:lnTo>
                  <a:pt x="30956" y="178594"/>
                </a:lnTo>
                <a:cubicBezTo>
                  <a:pt x="49820" y="178594"/>
                  <a:pt x="68498" y="182314"/>
                  <a:pt x="85911" y="189570"/>
                </a:cubicBezTo>
                <a:lnTo>
                  <a:pt x="90674" y="191542"/>
                </a:lnTo>
                <a:cubicBezTo>
                  <a:pt x="93613" y="192770"/>
                  <a:pt x="96887" y="192770"/>
                  <a:pt x="99826" y="191542"/>
                </a:cubicBezTo>
                <a:lnTo>
                  <a:pt x="104589" y="189570"/>
                </a:lnTo>
                <a:cubicBezTo>
                  <a:pt x="122002" y="182314"/>
                  <a:pt x="140680" y="178594"/>
                  <a:pt x="159544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89297"/>
                </a:lnTo>
                <a:cubicBezTo>
                  <a:pt x="190500" y="79437"/>
                  <a:pt x="182500" y="71437"/>
                  <a:pt x="172641" y="71437"/>
                </a:cubicBezTo>
                <a:lnTo>
                  <a:pt x="159544" y="71437"/>
                </a:lnTo>
                <a:cubicBezTo>
                  <a:pt x="140680" y="71437"/>
                  <a:pt x="122002" y="75158"/>
                  <a:pt x="104589" y="82414"/>
                </a:cubicBezTo>
                <a:lnTo>
                  <a:pt x="95250" y="86320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32328" y="3312319"/>
            <a:ext cx="1514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Librarian (DNS)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432328" y="3579019"/>
            <a:ext cx="150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Helps locate the book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746528" y="4364831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94165" y="4536281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214313" y="17859"/>
                </a:moveTo>
                <a:cubicBezTo>
                  <a:pt x="214313" y="13729"/>
                  <a:pt x="212192" y="9897"/>
                  <a:pt x="208657" y="7739"/>
                </a:cubicBezTo>
                <a:cubicBezTo>
                  <a:pt x="205122" y="5581"/>
                  <a:pt x="200769" y="5358"/>
                  <a:pt x="197086" y="7218"/>
                </a:cubicBezTo>
                <a:lnTo>
                  <a:pt x="153851" y="28835"/>
                </a:lnTo>
                <a:lnTo>
                  <a:pt x="87102" y="6548"/>
                </a:lnTo>
                <a:cubicBezTo>
                  <a:pt x="84088" y="5544"/>
                  <a:pt x="80851" y="5767"/>
                  <a:pt x="78023" y="7181"/>
                </a:cubicBezTo>
                <a:lnTo>
                  <a:pt x="30398" y="30993"/>
                </a:lnTo>
                <a:cubicBezTo>
                  <a:pt x="26343" y="33040"/>
                  <a:pt x="23812" y="37170"/>
                  <a:pt x="23812" y="41672"/>
                </a:cubicBezTo>
                <a:lnTo>
                  <a:pt x="23812" y="172641"/>
                </a:lnTo>
                <a:cubicBezTo>
                  <a:pt x="23812" y="176771"/>
                  <a:pt x="25933" y="180603"/>
                  <a:pt x="29468" y="182761"/>
                </a:cubicBezTo>
                <a:cubicBezTo>
                  <a:pt x="33003" y="184919"/>
                  <a:pt x="37356" y="185142"/>
                  <a:pt x="41039" y="183282"/>
                </a:cubicBezTo>
                <a:lnTo>
                  <a:pt x="84237" y="161665"/>
                </a:lnTo>
                <a:lnTo>
                  <a:pt x="148717" y="183170"/>
                </a:lnTo>
                <a:cubicBezTo>
                  <a:pt x="147117" y="180789"/>
                  <a:pt x="145554" y="178296"/>
                  <a:pt x="144028" y="175766"/>
                </a:cubicBezTo>
                <a:cubicBezTo>
                  <a:pt x="139936" y="168957"/>
                  <a:pt x="135880" y="161144"/>
                  <a:pt x="132866" y="152772"/>
                </a:cubicBezTo>
                <a:lnTo>
                  <a:pt x="95213" y="140233"/>
                </a:lnTo>
                <a:lnTo>
                  <a:pt x="95213" y="34379"/>
                </a:lnTo>
                <a:lnTo>
                  <a:pt x="142838" y="50267"/>
                </a:lnTo>
                <a:lnTo>
                  <a:pt x="142838" y="87213"/>
                </a:lnTo>
                <a:cubicBezTo>
                  <a:pt x="154372" y="73893"/>
                  <a:pt x="171487" y="65484"/>
                  <a:pt x="190463" y="65484"/>
                </a:cubicBezTo>
                <a:cubicBezTo>
                  <a:pt x="198872" y="65484"/>
                  <a:pt x="206908" y="67121"/>
                  <a:pt x="214275" y="70135"/>
                </a:cubicBezTo>
                <a:lnTo>
                  <a:pt x="214313" y="17859"/>
                </a:lnTo>
                <a:close/>
                <a:moveTo>
                  <a:pt x="190500" y="83344"/>
                </a:moveTo>
                <a:cubicBezTo>
                  <a:pt x="165832" y="83344"/>
                  <a:pt x="145852" y="102989"/>
                  <a:pt x="145852" y="127211"/>
                </a:cubicBezTo>
                <a:cubicBezTo>
                  <a:pt x="145852" y="152846"/>
                  <a:pt x="169701" y="183170"/>
                  <a:pt x="182538" y="197644"/>
                </a:cubicBezTo>
                <a:cubicBezTo>
                  <a:pt x="186854" y="202481"/>
                  <a:pt x="194183" y="202481"/>
                  <a:pt x="198500" y="197644"/>
                </a:cubicBezTo>
                <a:cubicBezTo>
                  <a:pt x="211336" y="183170"/>
                  <a:pt x="235186" y="152846"/>
                  <a:pt x="235186" y="127211"/>
                </a:cubicBezTo>
                <a:cubicBezTo>
                  <a:pt x="235186" y="102989"/>
                  <a:pt x="215205" y="83344"/>
                  <a:pt x="190537" y="83344"/>
                </a:cubicBezTo>
                <a:close/>
                <a:moveTo>
                  <a:pt x="175617" y="127992"/>
                </a:moveTo>
                <a:cubicBezTo>
                  <a:pt x="175617" y="119778"/>
                  <a:pt x="182286" y="113109"/>
                  <a:pt x="190500" y="113109"/>
                </a:cubicBezTo>
                <a:cubicBezTo>
                  <a:pt x="198714" y="113109"/>
                  <a:pt x="205383" y="119778"/>
                  <a:pt x="205383" y="127992"/>
                </a:cubicBezTo>
                <a:cubicBezTo>
                  <a:pt x="205383" y="136206"/>
                  <a:pt x="198714" y="142875"/>
                  <a:pt x="190500" y="142875"/>
                </a:cubicBezTo>
                <a:cubicBezTo>
                  <a:pt x="182286" y="142875"/>
                  <a:pt x="175617" y="136206"/>
                  <a:pt x="175617" y="127992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432328" y="4383881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Index System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432328" y="4650581"/>
            <a:ext cx="1581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Maps titles to locations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746528" y="5436394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929884" y="5607844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42875" y="190500"/>
                </a:moveTo>
                <a:lnTo>
                  <a:pt x="35719" y="190500"/>
                </a:lnTo>
                <a:cubicBezTo>
                  <a:pt x="15999" y="190500"/>
                  <a:pt x="0" y="174501"/>
                  <a:pt x="0" y="154781"/>
                </a:cubicBezTo>
                <a:lnTo>
                  <a:pt x="0" y="35719"/>
                </a:lnTo>
                <a:cubicBezTo>
                  <a:pt x="0" y="15999"/>
                  <a:pt x="15999" y="0"/>
                  <a:pt x="35719" y="0"/>
                </a:cubicBezTo>
                <a:lnTo>
                  <a:pt x="148828" y="0"/>
                </a:lnTo>
                <a:cubicBezTo>
                  <a:pt x="158688" y="0"/>
                  <a:pt x="166688" y="8000"/>
                  <a:pt x="166688" y="17859"/>
                </a:cubicBezTo>
                <a:lnTo>
                  <a:pt x="166688" y="125016"/>
                </a:lnTo>
                <a:cubicBezTo>
                  <a:pt x="166688" y="132792"/>
                  <a:pt x="161702" y="139415"/>
                  <a:pt x="154781" y="141870"/>
                </a:cubicBezTo>
                <a:lnTo>
                  <a:pt x="154781" y="166688"/>
                </a:lnTo>
                <a:cubicBezTo>
                  <a:pt x="161367" y="166688"/>
                  <a:pt x="166688" y="172008"/>
                  <a:pt x="166688" y="178594"/>
                </a:cubicBezTo>
                <a:cubicBezTo>
                  <a:pt x="166688" y="185179"/>
                  <a:pt x="161367" y="190500"/>
                  <a:pt x="154781" y="190500"/>
                </a:cubicBezTo>
                <a:lnTo>
                  <a:pt x="142875" y="190500"/>
                </a:lnTo>
                <a:close/>
                <a:moveTo>
                  <a:pt x="35719" y="142875"/>
                </a:moveTo>
                <a:cubicBezTo>
                  <a:pt x="29133" y="142875"/>
                  <a:pt x="23812" y="148196"/>
                  <a:pt x="23812" y="154781"/>
                </a:cubicBezTo>
                <a:cubicBezTo>
                  <a:pt x="23812" y="161367"/>
                  <a:pt x="29133" y="166688"/>
                  <a:pt x="35719" y="166688"/>
                </a:cubicBezTo>
                <a:lnTo>
                  <a:pt x="130969" y="166688"/>
                </a:lnTo>
                <a:lnTo>
                  <a:pt x="130969" y="142875"/>
                </a:lnTo>
                <a:lnTo>
                  <a:pt x="35719" y="142875"/>
                </a:lnTo>
                <a:close/>
                <a:moveTo>
                  <a:pt x="47625" y="56555"/>
                </a:moveTo>
                <a:cubicBezTo>
                  <a:pt x="47625" y="61503"/>
                  <a:pt x="51606" y="65484"/>
                  <a:pt x="56555" y="65484"/>
                </a:cubicBezTo>
                <a:lnTo>
                  <a:pt x="122039" y="65484"/>
                </a:lnTo>
                <a:cubicBezTo>
                  <a:pt x="126988" y="65484"/>
                  <a:pt x="130969" y="61503"/>
                  <a:pt x="130969" y="56555"/>
                </a:cubicBezTo>
                <a:cubicBezTo>
                  <a:pt x="130969" y="51606"/>
                  <a:pt x="126988" y="47625"/>
                  <a:pt x="122039" y="47625"/>
                </a:cubicBezTo>
                <a:lnTo>
                  <a:pt x="56555" y="47625"/>
                </a:lnTo>
                <a:cubicBezTo>
                  <a:pt x="51606" y="47625"/>
                  <a:pt x="47625" y="51606"/>
                  <a:pt x="47625" y="56555"/>
                </a:cubicBezTo>
                <a:close/>
                <a:moveTo>
                  <a:pt x="56555" y="83344"/>
                </a:moveTo>
                <a:cubicBezTo>
                  <a:pt x="51606" y="83344"/>
                  <a:pt x="47625" y="87325"/>
                  <a:pt x="47625" y="92273"/>
                </a:cubicBezTo>
                <a:cubicBezTo>
                  <a:pt x="47625" y="97222"/>
                  <a:pt x="51606" y="101203"/>
                  <a:pt x="56555" y="101203"/>
                </a:cubicBezTo>
                <a:lnTo>
                  <a:pt x="122039" y="101203"/>
                </a:lnTo>
                <a:cubicBezTo>
                  <a:pt x="126988" y="101203"/>
                  <a:pt x="130969" y="97222"/>
                  <a:pt x="130969" y="92273"/>
                </a:cubicBezTo>
                <a:cubicBezTo>
                  <a:pt x="130969" y="87325"/>
                  <a:pt x="126988" y="83344"/>
                  <a:pt x="122039" y="83344"/>
                </a:cubicBezTo>
                <a:lnTo>
                  <a:pt x="56555" y="83344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432328" y="5455444"/>
            <a:ext cx="1571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Book (Website)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432328" y="5722144"/>
            <a:ext cx="156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Final destination found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5716" y="375716"/>
            <a:ext cx="11506317" cy="187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5" b="1" kern="0" spc="104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Workflow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75716" y="601146"/>
            <a:ext cx="11609639" cy="375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663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DNS Resolution Process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75716" y="1014435"/>
            <a:ext cx="11515710" cy="22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83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Step-by-step journey from domain name to IP address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5716" y="1427723"/>
            <a:ext cx="375716" cy="375716"/>
          </a:xfrm>
          <a:custGeom>
            <a:avLst/>
            <a:gdLst/>
            <a:ahLst/>
            <a:cxnLst/>
            <a:rect l="l" t="t" r="r" b="b"/>
            <a:pathLst>
              <a:path w="375716" h="375716">
                <a:moveTo>
                  <a:pt x="75143" y="0"/>
                </a:moveTo>
                <a:lnTo>
                  <a:pt x="300573" y="0"/>
                </a:lnTo>
                <a:cubicBezTo>
                  <a:pt x="342074" y="0"/>
                  <a:pt x="375716" y="33643"/>
                  <a:pt x="375716" y="75143"/>
                </a:cubicBezTo>
                <a:lnTo>
                  <a:pt x="375716" y="300573"/>
                </a:lnTo>
                <a:cubicBezTo>
                  <a:pt x="375716" y="342074"/>
                  <a:pt x="342074" y="375716"/>
                  <a:pt x="300573" y="375716"/>
                </a:cubicBezTo>
                <a:lnTo>
                  <a:pt x="75143" y="375716"/>
                </a:lnTo>
                <a:cubicBezTo>
                  <a:pt x="33643" y="375716"/>
                  <a:pt x="0" y="342074"/>
                  <a:pt x="0" y="300573"/>
                </a:cubicBezTo>
                <a:lnTo>
                  <a:pt x="0" y="75143"/>
                </a:lnTo>
                <a:cubicBezTo>
                  <a:pt x="0" y="33643"/>
                  <a:pt x="33643" y="0"/>
                  <a:pt x="75143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6717" y="1484080"/>
            <a:ext cx="140894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F5EFE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844" y="1394847"/>
            <a:ext cx="6086607" cy="1286829"/>
          </a:xfrm>
          <a:custGeom>
            <a:avLst/>
            <a:gdLst/>
            <a:ahLst/>
            <a:cxnLst/>
            <a:rect l="l" t="t" r="r" b="b"/>
            <a:pathLst>
              <a:path w="6086607" h="1286829">
                <a:moveTo>
                  <a:pt x="112713" y="0"/>
                </a:moveTo>
                <a:lnTo>
                  <a:pt x="5973894" y="0"/>
                </a:lnTo>
                <a:cubicBezTo>
                  <a:pt x="6036144" y="0"/>
                  <a:pt x="6086607" y="50463"/>
                  <a:pt x="6086607" y="112713"/>
                </a:cubicBezTo>
                <a:lnTo>
                  <a:pt x="6086607" y="1174116"/>
                </a:lnTo>
                <a:cubicBezTo>
                  <a:pt x="6086607" y="1236365"/>
                  <a:pt x="6036144" y="1286829"/>
                  <a:pt x="5973894" y="1286829"/>
                </a:cubicBezTo>
                <a:lnTo>
                  <a:pt x="112713" y="1286829"/>
                </a:lnTo>
                <a:cubicBezTo>
                  <a:pt x="50463" y="1286829"/>
                  <a:pt x="0" y="1236365"/>
                  <a:pt x="0" y="1174116"/>
                </a:cubicBezTo>
                <a:lnTo>
                  <a:pt x="0" y="112713"/>
                </a:lnTo>
                <a:cubicBezTo>
                  <a:pt x="0" y="50463"/>
                  <a:pt x="50463" y="0"/>
                  <a:pt x="112713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6256" y="1512259"/>
            <a:ext cx="5936320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Checking Local Cache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6256" y="1812832"/>
            <a:ext cx="5926928" cy="41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8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Before making external requests, your system checks local storage for previously resolved domains.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86256" y="2301263"/>
            <a:ext cx="1014435" cy="263002"/>
          </a:xfrm>
          <a:custGeom>
            <a:avLst/>
            <a:gdLst/>
            <a:ahLst/>
            <a:cxnLst/>
            <a:rect l="l" t="t" r="r" b="b"/>
            <a:pathLst>
              <a:path w="1014435" h="263002">
                <a:moveTo>
                  <a:pt x="37572" y="0"/>
                </a:moveTo>
                <a:lnTo>
                  <a:pt x="976862" y="0"/>
                </a:lnTo>
                <a:cubicBezTo>
                  <a:pt x="997599" y="0"/>
                  <a:pt x="1014435" y="16836"/>
                  <a:pt x="1014435" y="37572"/>
                </a:cubicBezTo>
                <a:lnTo>
                  <a:pt x="1014435" y="225429"/>
                </a:lnTo>
                <a:cubicBezTo>
                  <a:pt x="1014435" y="246180"/>
                  <a:pt x="997613" y="263002"/>
                  <a:pt x="976862" y="263002"/>
                </a:cubicBezTo>
                <a:lnTo>
                  <a:pt x="37572" y="263002"/>
                </a:lnTo>
                <a:cubicBezTo>
                  <a:pt x="16836" y="263002"/>
                  <a:pt x="0" y="246166"/>
                  <a:pt x="0" y="225429"/>
                </a:cubicBezTo>
                <a:lnTo>
                  <a:pt x="0" y="37572"/>
                </a:lnTo>
                <a:cubicBezTo>
                  <a:pt x="0" y="16836"/>
                  <a:pt x="16836" y="0"/>
                  <a:pt x="3757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86256" y="2301263"/>
            <a:ext cx="1080185" cy="263002"/>
          </a:xfrm>
          <a:prstGeom prst="rect">
            <a:avLst/>
          </a:prstGeom>
          <a:noFill/>
          <a:ln/>
        </p:spPr>
        <p:txBody>
          <a:bodyPr wrap="square" lIns="75143" tIns="37572" rIns="75143" bIns="37572" rtlCol="0" anchor="ctr"/>
          <a:lstStyle/>
          <a:p>
            <a:pPr>
              <a:lnSpc>
                <a:spcPct val="120000"/>
              </a:lnSpc>
            </a:pPr>
            <a:r>
              <a:rPr lang="en-US" sz="103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Cache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74513" y="2301263"/>
            <a:ext cx="1070792" cy="263002"/>
          </a:xfrm>
          <a:custGeom>
            <a:avLst/>
            <a:gdLst/>
            <a:ahLst/>
            <a:cxnLst/>
            <a:rect l="l" t="t" r="r" b="b"/>
            <a:pathLst>
              <a:path w="1070792" h="263002">
                <a:moveTo>
                  <a:pt x="37572" y="0"/>
                </a:moveTo>
                <a:lnTo>
                  <a:pt x="1033220" y="0"/>
                </a:lnTo>
                <a:cubicBezTo>
                  <a:pt x="1053956" y="0"/>
                  <a:pt x="1070792" y="16836"/>
                  <a:pt x="1070792" y="37572"/>
                </a:cubicBezTo>
                <a:lnTo>
                  <a:pt x="1070792" y="225429"/>
                </a:lnTo>
                <a:cubicBezTo>
                  <a:pt x="1070792" y="246180"/>
                  <a:pt x="1053970" y="263002"/>
                  <a:pt x="1033220" y="263002"/>
                </a:cubicBezTo>
                <a:lnTo>
                  <a:pt x="37572" y="263002"/>
                </a:lnTo>
                <a:cubicBezTo>
                  <a:pt x="16836" y="263002"/>
                  <a:pt x="0" y="246166"/>
                  <a:pt x="0" y="225429"/>
                </a:cubicBezTo>
                <a:lnTo>
                  <a:pt x="0" y="37572"/>
                </a:lnTo>
                <a:cubicBezTo>
                  <a:pt x="0" y="16836"/>
                  <a:pt x="16836" y="0"/>
                  <a:pt x="3757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74513" y="2301263"/>
            <a:ext cx="1136542" cy="263002"/>
          </a:xfrm>
          <a:prstGeom prst="rect">
            <a:avLst/>
          </a:prstGeom>
          <a:noFill/>
          <a:ln/>
        </p:spPr>
        <p:txBody>
          <a:bodyPr wrap="square" lIns="75143" tIns="37572" rIns="75143" bIns="37572" rtlCol="0" anchor="ctr"/>
          <a:lstStyle/>
          <a:p>
            <a:pPr>
              <a:lnSpc>
                <a:spcPct val="120000"/>
              </a:lnSpc>
            </a:pPr>
            <a:r>
              <a:rPr lang="en-US" sz="103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OS-Level Cache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5716" y="2723945"/>
            <a:ext cx="375716" cy="375716"/>
          </a:xfrm>
          <a:custGeom>
            <a:avLst/>
            <a:gdLst/>
            <a:ahLst/>
            <a:cxnLst/>
            <a:rect l="l" t="t" r="r" b="b"/>
            <a:pathLst>
              <a:path w="375716" h="375716">
                <a:moveTo>
                  <a:pt x="75143" y="0"/>
                </a:moveTo>
                <a:lnTo>
                  <a:pt x="300573" y="0"/>
                </a:lnTo>
                <a:cubicBezTo>
                  <a:pt x="342074" y="0"/>
                  <a:pt x="375716" y="33643"/>
                  <a:pt x="375716" y="75143"/>
                </a:cubicBezTo>
                <a:lnTo>
                  <a:pt x="375716" y="300573"/>
                </a:lnTo>
                <a:cubicBezTo>
                  <a:pt x="375716" y="342074"/>
                  <a:pt x="342074" y="375716"/>
                  <a:pt x="300573" y="375716"/>
                </a:cubicBezTo>
                <a:lnTo>
                  <a:pt x="75143" y="375716"/>
                </a:lnTo>
                <a:cubicBezTo>
                  <a:pt x="33643" y="375716"/>
                  <a:pt x="0" y="342074"/>
                  <a:pt x="0" y="300573"/>
                </a:cubicBezTo>
                <a:lnTo>
                  <a:pt x="0" y="75143"/>
                </a:lnTo>
                <a:cubicBezTo>
                  <a:pt x="0" y="33643"/>
                  <a:pt x="33643" y="0"/>
                  <a:pt x="75143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20426" y="2780302"/>
            <a:ext cx="169072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68844" y="2691069"/>
            <a:ext cx="6086607" cy="1286829"/>
          </a:xfrm>
          <a:custGeom>
            <a:avLst/>
            <a:gdLst/>
            <a:ahLst/>
            <a:cxnLst/>
            <a:rect l="l" t="t" r="r" b="b"/>
            <a:pathLst>
              <a:path w="6086607" h="1286829">
                <a:moveTo>
                  <a:pt x="112713" y="0"/>
                </a:moveTo>
                <a:lnTo>
                  <a:pt x="5973894" y="0"/>
                </a:lnTo>
                <a:cubicBezTo>
                  <a:pt x="6036144" y="0"/>
                  <a:pt x="6086607" y="50463"/>
                  <a:pt x="6086607" y="112713"/>
                </a:cubicBezTo>
                <a:lnTo>
                  <a:pt x="6086607" y="1174116"/>
                </a:lnTo>
                <a:cubicBezTo>
                  <a:pt x="6086607" y="1236365"/>
                  <a:pt x="6036144" y="1286829"/>
                  <a:pt x="5973894" y="1286829"/>
                </a:cubicBezTo>
                <a:lnTo>
                  <a:pt x="112713" y="1286829"/>
                </a:lnTo>
                <a:cubicBezTo>
                  <a:pt x="50463" y="1286829"/>
                  <a:pt x="0" y="1236365"/>
                  <a:pt x="0" y="1174116"/>
                </a:cubicBezTo>
                <a:lnTo>
                  <a:pt x="0" y="112713"/>
                </a:lnTo>
                <a:cubicBezTo>
                  <a:pt x="0" y="50463"/>
                  <a:pt x="50463" y="0"/>
                  <a:pt x="112713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86256" y="2808481"/>
            <a:ext cx="5936320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DNS Resolver / Recursor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86256" y="3109054"/>
            <a:ext cx="5926928" cy="41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8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local cache misses, request goes to a DNS Resolver — like a librarian who helps find the right section.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6256" y="3597485"/>
            <a:ext cx="770219" cy="263002"/>
          </a:xfrm>
          <a:custGeom>
            <a:avLst/>
            <a:gdLst/>
            <a:ahLst/>
            <a:cxnLst/>
            <a:rect l="l" t="t" r="r" b="b"/>
            <a:pathLst>
              <a:path w="770219" h="263002">
                <a:moveTo>
                  <a:pt x="37572" y="0"/>
                </a:moveTo>
                <a:lnTo>
                  <a:pt x="732646" y="0"/>
                </a:lnTo>
                <a:cubicBezTo>
                  <a:pt x="753383" y="0"/>
                  <a:pt x="770219" y="16836"/>
                  <a:pt x="770219" y="37572"/>
                </a:cubicBezTo>
                <a:lnTo>
                  <a:pt x="770219" y="225429"/>
                </a:lnTo>
                <a:cubicBezTo>
                  <a:pt x="770219" y="246180"/>
                  <a:pt x="753397" y="263002"/>
                  <a:pt x="732646" y="263002"/>
                </a:cubicBezTo>
                <a:lnTo>
                  <a:pt x="37572" y="263002"/>
                </a:lnTo>
                <a:cubicBezTo>
                  <a:pt x="16836" y="263002"/>
                  <a:pt x="0" y="246166"/>
                  <a:pt x="0" y="225429"/>
                </a:cubicBezTo>
                <a:lnTo>
                  <a:pt x="0" y="37572"/>
                </a:lnTo>
                <a:cubicBezTo>
                  <a:pt x="0" y="16836"/>
                  <a:pt x="16836" y="0"/>
                  <a:pt x="37572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86256" y="3597485"/>
            <a:ext cx="835969" cy="263002"/>
          </a:xfrm>
          <a:prstGeom prst="rect">
            <a:avLst/>
          </a:prstGeom>
          <a:noFill/>
          <a:ln/>
        </p:spPr>
        <p:txBody>
          <a:bodyPr wrap="square" lIns="75143" tIns="37572" rIns="75143" bIns="37572" rtlCol="0" anchor="ctr"/>
          <a:lstStyle/>
          <a:p>
            <a:pPr>
              <a:lnSpc>
                <a:spcPct val="120000"/>
              </a:lnSpc>
            </a:pPr>
            <a:r>
              <a:rPr lang="en-US" sz="1035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ISP Default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31178" y="3597485"/>
            <a:ext cx="967470" cy="263002"/>
          </a:xfrm>
          <a:custGeom>
            <a:avLst/>
            <a:gdLst/>
            <a:ahLst/>
            <a:cxnLst/>
            <a:rect l="l" t="t" r="r" b="b"/>
            <a:pathLst>
              <a:path w="967470" h="263002">
                <a:moveTo>
                  <a:pt x="37572" y="0"/>
                </a:moveTo>
                <a:lnTo>
                  <a:pt x="929898" y="0"/>
                </a:lnTo>
                <a:cubicBezTo>
                  <a:pt x="950634" y="0"/>
                  <a:pt x="967470" y="16836"/>
                  <a:pt x="967470" y="37572"/>
                </a:cubicBezTo>
                <a:lnTo>
                  <a:pt x="967470" y="225429"/>
                </a:lnTo>
                <a:cubicBezTo>
                  <a:pt x="967470" y="246180"/>
                  <a:pt x="950648" y="263002"/>
                  <a:pt x="929898" y="263002"/>
                </a:cubicBezTo>
                <a:lnTo>
                  <a:pt x="37572" y="263002"/>
                </a:lnTo>
                <a:cubicBezTo>
                  <a:pt x="16836" y="263002"/>
                  <a:pt x="0" y="246166"/>
                  <a:pt x="0" y="225429"/>
                </a:cubicBezTo>
                <a:lnTo>
                  <a:pt x="0" y="37572"/>
                </a:lnTo>
                <a:cubicBezTo>
                  <a:pt x="0" y="16836"/>
                  <a:pt x="16836" y="0"/>
                  <a:pt x="37572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31178" y="3597485"/>
            <a:ext cx="1033220" cy="263002"/>
          </a:xfrm>
          <a:prstGeom prst="rect">
            <a:avLst/>
          </a:prstGeom>
          <a:noFill/>
          <a:ln/>
        </p:spPr>
        <p:txBody>
          <a:bodyPr wrap="square" lIns="75143" tIns="37572" rIns="75143" bIns="37572" rtlCol="0" anchor="ctr"/>
          <a:lstStyle/>
          <a:p>
            <a:pPr>
              <a:lnSpc>
                <a:spcPct val="120000"/>
              </a:lnSpc>
            </a:pPr>
            <a:r>
              <a:rPr lang="en-US" sz="1035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 8.8.8.8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877166" y="3597485"/>
            <a:ext cx="1033220" cy="263002"/>
          </a:xfrm>
          <a:custGeom>
            <a:avLst/>
            <a:gdLst/>
            <a:ahLst/>
            <a:cxnLst/>
            <a:rect l="l" t="t" r="r" b="b"/>
            <a:pathLst>
              <a:path w="1033220" h="263002">
                <a:moveTo>
                  <a:pt x="37572" y="0"/>
                </a:moveTo>
                <a:lnTo>
                  <a:pt x="995648" y="0"/>
                </a:lnTo>
                <a:cubicBezTo>
                  <a:pt x="1016385" y="0"/>
                  <a:pt x="1033220" y="16836"/>
                  <a:pt x="1033220" y="37572"/>
                </a:cubicBezTo>
                <a:lnTo>
                  <a:pt x="1033220" y="225429"/>
                </a:lnTo>
                <a:cubicBezTo>
                  <a:pt x="1033220" y="246180"/>
                  <a:pt x="1016399" y="263002"/>
                  <a:pt x="995648" y="263002"/>
                </a:cubicBezTo>
                <a:lnTo>
                  <a:pt x="37572" y="263002"/>
                </a:lnTo>
                <a:cubicBezTo>
                  <a:pt x="16836" y="263002"/>
                  <a:pt x="0" y="246166"/>
                  <a:pt x="0" y="225429"/>
                </a:cubicBezTo>
                <a:lnTo>
                  <a:pt x="0" y="37572"/>
                </a:lnTo>
                <a:cubicBezTo>
                  <a:pt x="0" y="16836"/>
                  <a:pt x="16836" y="0"/>
                  <a:pt x="37572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77166" y="3597485"/>
            <a:ext cx="1098971" cy="263002"/>
          </a:xfrm>
          <a:prstGeom prst="rect">
            <a:avLst/>
          </a:prstGeom>
          <a:noFill/>
          <a:ln/>
        </p:spPr>
        <p:txBody>
          <a:bodyPr wrap="square" lIns="75143" tIns="37572" rIns="75143" bIns="37572" rtlCol="0" anchor="ctr"/>
          <a:lstStyle/>
          <a:p>
            <a:pPr>
              <a:lnSpc>
                <a:spcPct val="120000"/>
              </a:lnSpc>
            </a:pPr>
            <a:r>
              <a:rPr lang="en-US" sz="1035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Cloudflare 1.1.1.1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75716" y="4020166"/>
            <a:ext cx="375716" cy="375716"/>
          </a:xfrm>
          <a:custGeom>
            <a:avLst/>
            <a:gdLst/>
            <a:ahLst/>
            <a:cxnLst/>
            <a:rect l="l" t="t" r="r" b="b"/>
            <a:pathLst>
              <a:path w="375716" h="375716">
                <a:moveTo>
                  <a:pt x="75143" y="0"/>
                </a:moveTo>
                <a:lnTo>
                  <a:pt x="300573" y="0"/>
                </a:lnTo>
                <a:cubicBezTo>
                  <a:pt x="342074" y="0"/>
                  <a:pt x="375716" y="33643"/>
                  <a:pt x="375716" y="75143"/>
                </a:cubicBezTo>
                <a:lnTo>
                  <a:pt x="375716" y="300573"/>
                </a:lnTo>
                <a:cubicBezTo>
                  <a:pt x="375716" y="342074"/>
                  <a:pt x="342074" y="375716"/>
                  <a:pt x="300573" y="375716"/>
                </a:cubicBezTo>
                <a:lnTo>
                  <a:pt x="75143" y="375716"/>
                </a:lnTo>
                <a:cubicBezTo>
                  <a:pt x="33643" y="375716"/>
                  <a:pt x="0" y="342074"/>
                  <a:pt x="0" y="300573"/>
                </a:cubicBezTo>
                <a:lnTo>
                  <a:pt x="0" y="75143"/>
                </a:lnTo>
                <a:cubicBezTo>
                  <a:pt x="0" y="33643"/>
                  <a:pt x="33643" y="0"/>
                  <a:pt x="75143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8225" y="4076524"/>
            <a:ext cx="178465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68844" y="3987291"/>
            <a:ext cx="6086607" cy="948684"/>
          </a:xfrm>
          <a:custGeom>
            <a:avLst/>
            <a:gdLst/>
            <a:ahLst/>
            <a:cxnLst/>
            <a:rect l="l" t="t" r="r" b="b"/>
            <a:pathLst>
              <a:path w="6086607" h="948684">
                <a:moveTo>
                  <a:pt x="112713" y="0"/>
                </a:moveTo>
                <a:lnTo>
                  <a:pt x="5973894" y="0"/>
                </a:lnTo>
                <a:cubicBezTo>
                  <a:pt x="6036144" y="0"/>
                  <a:pt x="6086607" y="50463"/>
                  <a:pt x="6086607" y="112713"/>
                </a:cubicBezTo>
                <a:lnTo>
                  <a:pt x="6086607" y="835971"/>
                </a:lnTo>
                <a:cubicBezTo>
                  <a:pt x="6086607" y="898221"/>
                  <a:pt x="6036144" y="948684"/>
                  <a:pt x="5973894" y="948684"/>
                </a:cubicBezTo>
                <a:lnTo>
                  <a:pt x="112713" y="948684"/>
                </a:lnTo>
                <a:cubicBezTo>
                  <a:pt x="50463" y="948684"/>
                  <a:pt x="0" y="898221"/>
                  <a:pt x="0" y="835971"/>
                </a:cubicBezTo>
                <a:lnTo>
                  <a:pt x="0" y="112713"/>
                </a:lnTo>
                <a:cubicBezTo>
                  <a:pt x="0" y="50463"/>
                  <a:pt x="50463" y="0"/>
                  <a:pt x="112713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86256" y="4104703"/>
            <a:ext cx="5936320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Root Nameservers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86256" y="4405276"/>
            <a:ext cx="5926928" cy="41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8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resolver asks Root Nameserver — acts like an index in a library. It directs to the correct TLD server based on domain extension (e.g., .com).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75716" y="4978243"/>
            <a:ext cx="375716" cy="375716"/>
          </a:xfrm>
          <a:custGeom>
            <a:avLst/>
            <a:gdLst/>
            <a:ahLst/>
            <a:cxnLst/>
            <a:rect l="l" t="t" r="r" b="b"/>
            <a:pathLst>
              <a:path w="375716" h="375716">
                <a:moveTo>
                  <a:pt x="75143" y="0"/>
                </a:moveTo>
                <a:lnTo>
                  <a:pt x="300573" y="0"/>
                </a:lnTo>
                <a:cubicBezTo>
                  <a:pt x="342074" y="0"/>
                  <a:pt x="375716" y="33643"/>
                  <a:pt x="375716" y="75143"/>
                </a:cubicBezTo>
                <a:lnTo>
                  <a:pt x="375716" y="300573"/>
                </a:lnTo>
                <a:cubicBezTo>
                  <a:pt x="375716" y="342074"/>
                  <a:pt x="342074" y="375716"/>
                  <a:pt x="300573" y="375716"/>
                </a:cubicBezTo>
                <a:lnTo>
                  <a:pt x="75143" y="375716"/>
                </a:lnTo>
                <a:cubicBezTo>
                  <a:pt x="33643" y="375716"/>
                  <a:pt x="0" y="342074"/>
                  <a:pt x="0" y="300573"/>
                </a:cubicBezTo>
                <a:lnTo>
                  <a:pt x="0" y="75143"/>
                </a:lnTo>
                <a:cubicBezTo>
                  <a:pt x="0" y="33643"/>
                  <a:pt x="33643" y="0"/>
                  <a:pt x="75143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20573" y="5034601"/>
            <a:ext cx="169072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F5EFE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68844" y="4945368"/>
            <a:ext cx="6086607" cy="948684"/>
          </a:xfrm>
          <a:custGeom>
            <a:avLst/>
            <a:gdLst/>
            <a:ahLst/>
            <a:cxnLst/>
            <a:rect l="l" t="t" r="r" b="b"/>
            <a:pathLst>
              <a:path w="6086607" h="948684">
                <a:moveTo>
                  <a:pt x="112713" y="0"/>
                </a:moveTo>
                <a:lnTo>
                  <a:pt x="5973894" y="0"/>
                </a:lnTo>
                <a:cubicBezTo>
                  <a:pt x="6036144" y="0"/>
                  <a:pt x="6086607" y="50463"/>
                  <a:pt x="6086607" y="112713"/>
                </a:cubicBezTo>
                <a:lnTo>
                  <a:pt x="6086607" y="835971"/>
                </a:lnTo>
                <a:cubicBezTo>
                  <a:pt x="6086607" y="898221"/>
                  <a:pt x="6036144" y="948684"/>
                  <a:pt x="5973894" y="948684"/>
                </a:cubicBezTo>
                <a:lnTo>
                  <a:pt x="112713" y="948684"/>
                </a:lnTo>
                <a:cubicBezTo>
                  <a:pt x="50463" y="948684"/>
                  <a:pt x="0" y="898221"/>
                  <a:pt x="0" y="835971"/>
                </a:cubicBezTo>
                <a:lnTo>
                  <a:pt x="0" y="112713"/>
                </a:lnTo>
                <a:cubicBezTo>
                  <a:pt x="0" y="50463"/>
                  <a:pt x="50463" y="0"/>
                  <a:pt x="112713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86256" y="5062780"/>
            <a:ext cx="5936320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TLD Nameserver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6256" y="5363353"/>
            <a:ext cx="5926928" cy="41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8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.com TLD nameserver acts like a section dedicated to .com domains. It knows where to find codersgyan.com and directs to the Authoritative Nameserver.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75716" y="5936320"/>
            <a:ext cx="375716" cy="375716"/>
          </a:xfrm>
          <a:custGeom>
            <a:avLst/>
            <a:gdLst/>
            <a:ahLst/>
            <a:cxnLst/>
            <a:rect l="l" t="t" r="r" b="b"/>
            <a:pathLst>
              <a:path w="375716" h="375716">
                <a:moveTo>
                  <a:pt x="75143" y="0"/>
                </a:moveTo>
                <a:lnTo>
                  <a:pt x="300573" y="0"/>
                </a:lnTo>
                <a:cubicBezTo>
                  <a:pt x="342074" y="0"/>
                  <a:pt x="375716" y="33643"/>
                  <a:pt x="375716" y="75143"/>
                </a:cubicBezTo>
                <a:lnTo>
                  <a:pt x="375716" y="300573"/>
                </a:lnTo>
                <a:cubicBezTo>
                  <a:pt x="375716" y="342074"/>
                  <a:pt x="342074" y="375716"/>
                  <a:pt x="300573" y="375716"/>
                </a:cubicBezTo>
                <a:lnTo>
                  <a:pt x="75143" y="375716"/>
                </a:lnTo>
                <a:cubicBezTo>
                  <a:pt x="33643" y="375716"/>
                  <a:pt x="0" y="342074"/>
                  <a:pt x="0" y="300573"/>
                </a:cubicBezTo>
                <a:lnTo>
                  <a:pt x="0" y="75143"/>
                </a:lnTo>
                <a:cubicBezTo>
                  <a:pt x="0" y="33643"/>
                  <a:pt x="33643" y="0"/>
                  <a:pt x="75143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18078" y="5992678"/>
            <a:ext cx="178465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68844" y="5903445"/>
            <a:ext cx="6086607" cy="948684"/>
          </a:xfrm>
          <a:custGeom>
            <a:avLst/>
            <a:gdLst/>
            <a:ahLst/>
            <a:cxnLst/>
            <a:rect l="l" t="t" r="r" b="b"/>
            <a:pathLst>
              <a:path w="6086607" h="948684">
                <a:moveTo>
                  <a:pt x="112713" y="0"/>
                </a:moveTo>
                <a:lnTo>
                  <a:pt x="5973894" y="0"/>
                </a:lnTo>
                <a:cubicBezTo>
                  <a:pt x="6036144" y="0"/>
                  <a:pt x="6086607" y="50463"/>
                  <a:pt x="6086607" y="112713"/>
                </a:cubicBezTo>
                <a:lnTo>
                  <a:pt x="6086607" y="835971"/>
                </a:lnTo>
                <a:cubicBezTo>
                  <a:pt x="6086607" y="898221"/>
                  <a:pt x="6036144" y="948684"/>
                  <a:pt x="5973894" y="948684"/>
                </a:cubicBezTo>
                <a:lnTo>
                  <a:pt x="112713" y="948684"/>
                </a:lnTo>
                <a:cubicBezTo>
                  <a:pt x="50463" y="948684"/>
                  <a:pt x="0" y="898221"/>
                  <a:pt x="0" y="835971"/>
                </a:cubicBezTo>
                <a:lnTo>
                  <a:pt x="0" y="112713"/>
                </a:lnTo>
                <a:cubicBezTo>
                  <a:pt x="0" y="50463"/>
                  <a:pt x="50463" y="0"/>
                  <a:pt x="112713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86256" y="6020857"/>
            <a:ext cx="5936320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1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Authoritative Nameserver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86256" y="6321430"/>
            <a:ext cx="5926928" cy="41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18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Holds the final answer — provides the exact IP address (e.g., 104.21.16.1). The resolver sends it back to your browser to load the website.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11902" y="1394847"/>
            <a:ext cx="4696456" cy="5457282"/>
          </a:xfrm>
          <a:custGeom>
            <a:avLst/>
            <a:gdLst/>
            <a:ahLst/>
            <a:cxnLst/>
            <a:rect l="l" t="t" r="r" b="b"/>
            <a:pathLst>
              <a:path w="4696456" h="5457282">
                <a:moveTo>
                  <a:pt x="112715" y="0"/>
                </a:moveTo>
                <a:lnTo>
                  <a:pt x="4583741" y="0"/>
                </a:lnTo>
                <a:cubicBezTo>
                  <a:pt x="4645992" y="0"/>
                  <a:pt x="4696456" y="50464"/>
                  <a:pt x="4696456" y="112715"/>
                </a:cubicBezTo>
                <a:lnTo>
                  <a:pt x="4696456" y="5344567"/>
                </a:lnTo>
                <a:cubicBezTo>
                  <a:pt x="4696456" y="5406818"/>
                  <a:pt x="4645992" y="5457282"/>
                  <a:pt x="4583741" y="5457282"/>
                </a:cubicBezTo>
                <a:lnTo>
                  <a:pt x="112715" y="5457282"/>
                </a:lnTo>
                <a:cubicBezTo>
                  <a:pt x="50464" y="5457282"/>
                  <a:pt x="0" y="5406818"/>
                  <a:pt x="0" y="5344567"/>
                </a:cubicBezTo>
                <a:lnTo>
                  <a:pt x="0" y="112715"/>
                </a:lnTo>
                <a:cubicBezTo>
                  <a:pt x="0" y="50506"/>
                  <a:pt x="50506" y="0"/>
                  <a:pt x="112715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24617" y="1549831"/>
            <a:ext cx="4471026" cy="26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31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DNS Resolution Flow</a:t>
            </a:r>
            <a:endParaRPr lang="en-US" sz="1600" dirty="0"/>
          </a:p>
        </p:txBody>
      </p:sp>
      <p:pic>
        <p:nvPicPr>
          <p:cNvPr id="42" name="Image 0" descr="https://kimi-img.moonshot.cn/pub/slides/26-02-15-23:01:47-d68tvmoonf4jfte20h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885" y="1925547"/>
            <a:ext cx="4320740" cy="4771599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10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Performance Optimization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096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DNS Caching &amp; Propagation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147763"/>
            <a:ext cx="5629275" cy="2028825"/>
          </a:xfrm>
          <a:custGeom>
            <a:avLst/>
            <a:gdLst/>
            <a:ahLst/>
            <a:cxnLst/>
            <a:rect l="l" t="t" r="r" b="b"/>
            <a:pathLst>
              <a:path w="5629275" h="2028825">
                <a:moveTo>
                  <a:pt x="114304" y="0"/>
                </a:moveTo>
                <a:lnTo>
                  <a:pt x="5514971" y="0"/>
                </a:lnTo>
                <a:cubicBezTo>
                  <a:pt x="5578099" y="0"/>
                  <a:pt x="5629275" y="51176"/>
                  <a:pt x="5629275" y="114304"/>
                </a:cubicBezTo>
                <a:lnTo>
                  <a:pt x="5629275" y="1914521"/>
                </a:lnTo>
                <a:cubicBezTo>
                  <a:pt x="5629275" y="1977649"/>
                  <a:pt x="5578099" y="2028825"/>
                  <a:pt x="5514971" y="2028825"/>
                </a:cubicBezTo>
                <a:lnTo>
                  <a:pt x="114304" y="2028825"/>
                </a:lnTo>
                <a:cubicBezTo>
                  <a:pt x="51176" y="2028825"/>
                  <a:pt x="0" y="1977649"/>
                  <a:pt x="0" y="19145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gradFill flip="none" rotWithShape="1">
            <a:gsLst>
              <a:gs pos="0">
                <a:srgbClr val="BD6B4F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2925" y="1304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0081" y="140970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ubicBezTo>
                  <a:pt x="0" y="38412"/>
                  <a:pt x="38412" y="0"/>
                  <a:pt x="85725" y="0"/>
                </a:cubicBezTo>
                <a:close/>
                <a:moveTo>
                  <a:pt x="77688" y="40184"/>
                </a:moveTo>
                <a:lnTo>
                  <a:pt x="77688" y="85725"/>
                </a:lnTo>
                <a:cubicBezTo>
                  <a:pt x="77688" y="88404"/>
                  <a:pt x="79028" y="90915"/>
                  <a:pt x="81271" y="92422"/>
                </a:cubicBezTo>
                <a:lnTo>
                  <a:pt x="113418" y="113854"/>
                </a:lnTo>
                <a:cubicBezTo>
                  <a:pt x="117102" y="116332"/>
                  <a:pt x="122091" y="115327"/>
                  <a:pt x="124569" y="111610"/>
                </a:cubicBezTo>
                <a:cubicBezTo>
                  <a:pt x="127047" y="107893"/>
                  <a:pt x="126043" y="102937"/>
                  <a:pt x="122326" y="100459"/>
                </a:cubicBezTo>
                <a:lnTo>
                  <a:pt x="93762" y="81439"/>
                </a:lnTo>
                <a:lnTo>
                  <a:pt x="93762" y="40184"/>
                </a:lnTo>
                <a:cubicBezTo>
                  <a:pt x="93762" y="35730"/>
                  <a:pt x="90179" y="32147"/>
                  <a:pt x="85725" y="32147"/>
                </a:cubicBezTo>
                <a:cubicBezTo>
                  <a:pt x="81271" y="32147"/>
                  <a:pt x="77688" y="35730"/>
                  <a:pt x="77688" y="40184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8225" y="1362075"/>
            <a:ext cx="2276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Why Updates Take Time?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2925" y="17621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changes take time to propagate globally because Root, TLD, and Authoritative Nameservers worldwide need to update their records.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2925" y="2333625"/>
            <a:ext cx="5314950" cy="685800"/>
          </a:xfrm>
          <a:custGeom>
            <a:avLst/>
            <a:gdLst/>
            <a:ahLst/>
            <a:cxnLst/>
            <a:rect l="l" t="t" r="r" b="b"/>
            <a:pathLst>
              <a:path w="5314950" h="685800">
                <a:moveTo>
                  <a:pt x="76199" y="0"/>
                </a:moveTo>
                <a:lnTo>
                  <a:pt x="5238751" y="0"/>
                </a:lnTo>
                <a:cubicBezTo>
                  <a:pt x="5280834" y="0"/>
                  <a:pt x="5314950" y="34116"/>
                  <a:pt x="5314950" y="76199"/>
                </a:cubicBezTo>
                <a:lnTo>
                  <a:pt x="5314950" y="609601"/>
                </a:lnTo>
                <a:cubicBezTo>
                  <a:pt x="5314950" y="651684"/>
                  <a:pt x="5280834" y="685800"/>
                  <a:pt x="523875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7225" y="2447925"/>
            <a:ext cx="5162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TTL (Time-to-Live):</a:t>
            </a:r>
            <a:r>
              <a:rPr lang="en-US" sz="1200" dirty="0">
                <a:solidFill>
                  <a:srgbClr val="4A3F35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Determines how long DNS records are cached before refreshing. Lower TTL = faster updates but more queries.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85763" y="3300413"/>
            <a:ext cx="5629275" cy="3171825"/>
          </a:xfrm>
          <a:custGeom>
            <a:avLst/>
            <a:gdLst/>
            <a:ahLst/>
            <a:cxnLst/>
            <a:rect l="l" t="t" r="r" b="b"/>
            <a:pathLst>
              <a:path w="5629275" h="3171825">
                <a:moveTo>
                  <a:pt x="114313" y="0"/>
                </a:moveTo>
                <a:lnTo>
                  <a:pt x="5514962" y="0"/>
                </a:lnTo>
                <a:cubicBezTo>
                  <a:pt x="5578096" y="0"/>
                  <a:pt x="5629275" y="51179"/>
                  <a:pt x="5629275" y="114313"/>
                </a:cubicBezTo>
                <a:lnTo>
                  <a:pt x="5629275" y="3057512"/>
                </a:lnTo>
                <a:cubicBezTo>
                  <a:pt x="5629275" y="3120646"/>
                  <a:pt x="5578096" y="3171825"/>
                  <a:pt x="5514962" y="3171825"/>
                </a:cubicBezTo>
                <a:lnTo>
                  <a:pt x="114313" y="3171825"/>
                </a:lnTo>
                <a:cubicBezTo>
                  <a:pt x="51179" y="3171825"/>
                  <a:pt x="0" y="3120646"/>
                  <a:pt x="0" y="3057512"/>
                </a:cubicBezTo>
                <a:lnTo>
                  <a:pt x="0" y="114313"/>
                </a:lnTo>
                <a:cubicBezTo>
                  <a:pt x="0" y="51179"/>
                  <a:pt x="51179" y="0"/>
                  <a:pt x="114313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2925" y="3457575"/>
            <a:ext cx="541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Three Levels of Caching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2925" y="383857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1031" y="39243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2025" y="3838575"/>
            <a:ext cx="4514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Cache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2025" y="4067175"/>
            <a:ext cx="4514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Stores previously visited domain records to avoid repeated lookups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2925" y="441007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31031" y="44958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6669" y="8334"/>
                </a:moveTo>
                <a:cubicBezTo>
                  <a:pt x="7475" y="8334"/>
                  <a:pt x="0" y="15809"/>
                  <a:pt x="0" y="25003"/>
                </a:cubicBezTo>
                <a:lnTo>
                  <a:pt x="0" y="91678"/>
                </a:lnTo>
                <a:cubicBezTo>
                  <a:pt x="0" y="100872"/>
                  <a:pt x="7475" y="108347"/>
                  <a:pt x="16669" y="108347"/>
                </a:cubicBezTo>
                <a:lnTo>
                  <a:pt x="54173" y="108347"/>
                </a:lnTo>
                <a:lnTo>
                  <a:pt x="50006" y="120848"/>
                </a:lnTo>
                <a:lnTo>
                  <a:pt x="31254" y="120848"/>
                </a:lnTo>
                <a:cubicBezTo>
                  <a:pt x="27790" y="120848"/>
                  <a:pt x="25003" y="123635"/>
                  <a:pt x="25003" y="127099"/>
                </a:cubicBezTo>
                <a:cubicBezTo>
                  <a:pt x="25003" y="130563"/>
                  <a:pt x="27790" y="133350"/>
                  <a:pt x="31254" y="133350"/>
                </a:cubicBezTo>
                <a:lnTo>
                  <a:pt x="102096" y="133350"/>
                </a:lnTo>
                <a:cubicBezTo>
                  <a:pt x="105560" y="133350"/>
                  <a:pt x="108347" y="130563"/>
                  <a:pt x="108347" y="127099"/>
                </a:cubicBezTo>
                <a:cubicBezTo>
                  <a:pt x="108347" y="123635"/>
                  <a:pt x="105560" y="120848"/>
                  <a:pt x="102096" y="120848"/>
                </a:cubicBezTo>
                <a:lnTo>
                  <a:pt x="83344" y="120848"/>
                </a:lnTo>
                <a:lnTo>
                  <a:pt x="79177" y="108347"/>
                </a:lnTo>
                <a:lnTo>
                  <a:pt x="116681" y="108347"/>
                </a:lnTo>
                <a:cubicBezTo>
                  <a:pt x="125875" y="108347"/>
                  <a:pt x="133350" y="100872"/>
                  <a:pt x="133350" y="91678"/>
                </a:cubicBezTo>
                <a:lnTo>
                  <a:pt x="133350" y="25003"/>
                </a:lnTo>
                <a:cubicBezTo>
                  <a:pt x="133350" y="15809"/>
                  <a:pt x="125875" y="8334"/>
                  <a:pt x="116681" y="8334"/>
                </a:cubicBezTo>
                <a:lnTo>
                  <a:pt x="16669" y="8334"/>
                </a:lnTo>
                <a:close/>
                <a:moveTo>
                  <a:pt x="25003" y="25003"/>
                </a:moveTo>
                <a:lnTo>
                  <a:pt x="108347" y="25003"/>
                </a:lnTo>
                <a:cubicBezTo>
                  <a:pt x="112957" y="25003"/>
                  <a:pt x="116681" y="28728"/>
                  <a:pt x="116681" y="33337"/>
                </a:cubicBezTo>
                <a:lnTo>
                  <a:pt x="116681" y="75009"/>
                </a:lnTo>
                <a:cubicBezTo>
                  <a:pt x="116681" y="79619"/>
                  <a:pt x="112957" y="83344"/>
                  <a:pt x="108347" y="83344"/>
                </a:cubicBezTo>
                <a:lnTo>
                  <a:pt x="25003" y="83344"/>
                </a:lnTo>
                <a:cubicBezTo>
                  <a:pt x="20393" y="83344"/>
                  <a:pt x="16669" y="79619"/>
                  <a:pt x="16669" y="75009"/>
                </a:cubicBezTo>
                <a:lnTo>
                  <a:pt x="16669" y="33337"/>
                </a:lnTo>
                <a:cubicBezTo>
                  <a:pt x="16669" y="28728"/>
                  <a:pt x="20393" y="25003"/>
                  <a:pt x="25003" y="25003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2025" y="4410075"/>
            <a:ext cx="4752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OS-Level Cache (DNS Client)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2025" y="4638675"/>
            <a:ext cx="4752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Operating system maintains a temporary DNS cache for all applications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2925" y="498157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39366" y="5067300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6669" y="8334"/>
                </a:moveTo>
                <a:cubicBezTo>
                  <a:pt x="7475" y="8334"/>
                  <a:pt x="0" y="15809"/>
                  <a:pt x="0" y="25003"/>
                </a:cubicBezTo>
                <a:lnTo>
                  <a:pt x="0" y="41672"/>
                </a:lnTo>
                <a:cubicBezTo>
                  <a:pt x="0" y="50866"/>
                  <a:pt x="7475" y="58341"/>
                  <a:pt x="16669" y="58341"/>
                </a:cubicBezTo>
                <a:lnTo>
                  <a:pt x="100013" y="58341"/>
                </a:lnTo>
                <a:cubicBezTo>
                  <a:pt x="109206" y="58341"/>
                  <a:pt x="116681" y="50866"/>
                  <a:pt x="116681" y="41672"/>
                </a:cubicBezTo>
                <a:lnTo>
                  <a:pt x="116681" y="25003"/>
                </a:lnTo>
                <a:cubicBezTo>
                  <a:pt x="116681" y="15809"/>
                  <a:pt x="109206" y="8334"/>
                  <a:pt x="100013" y="8334"/>
                </a:cubicBezTo>
                <a:lnTo>
                  <a:pt x="16669" y="8334"/>
                </a:lnTo>
                <a:close/>
                <a:moveTo>
                  <a:pt x="72926" y="27087"/>
                </a:moveTo>
                <a:cubicBezTo>
                  <a:pt x="76376" y="27087"/>
                  <a:pt x="79177" y="29888"/>
                  <a:pt x="79177" y="33337"/>
                </a:cubicBezTo>
                <a:cubicBezTo>
                  <a:pt x="79177" y="36787"/>
                  <a:pt x="76376" y="39588"/>
                  <a:pt x="72926" y="39588"/>
                </a:cubicBezTo>
                <a:cubicBezTo>
                  <a:pt x="69476" y="39588"/>
                  <a:pt x="66675" y="36787"/>
                  <a:pt x="66675" y="33337"/>
                </a:cubicBezTo>
                <a:cubicBezTo>
                  <a:pt x="66675" y="29888"/>
                  <a:pt x="69476" y="27087"/>
                  <a:pt x="72926" y="27087"/>
                </a:cubicBezTo>
                <a:close/>
                <a:moveTo>
                  <a:pt x="87511" y="33337"/>
                </a:moveTo>
                <a:cubicBezTo>
                  <a:pt x="87511" y="29888"/>
                  <a:pt x="90312" y="27087"/>
                  <a:pt x="93762" y="27087"/>
                </a:cubicBezTo>
                <a:cubicBezTo>
                  <a:pt x="97212" y="27087"/>
                  <a:pt x="100013" y="29888"/>
                  <a:pt x="100013" y="33337"/>
                </a:cubicBezTo>
                <a:cubicBezTo>
                  <a:pt x="100013" y="36787"/>
                  <a:pt x="97212" y="39588"/>
                  <a:pt x="93762" y="39588"/>
                </a:cubicBezTo>
                <a:cubicBezTo>
                  <a:pt x="90312" y="39588"/>
                  <a:pt x="87511" y="36787"/>
                  <a:pt x="87511" y="33337"/>
                </a:cubicBezTo>
                <a:close/>
                <a:moveTo>
                  <a:pt x="16669" y="75009"/>
                </a:moveTo>
                <a:cubicBezTo>
                  <a:pt x="7475" y="75009"/>
                  <a:pt x="0" y="82484"/>
                  <a:pt x="0" y="91678"/>
                </a:cubicBezTo>
                <a:lnTo>
                  <a:pt x="0" y="108347"/>
                </a:lnTo>
                <a:cubicBezTo>
                  <a:pt x="0" y="117541"/>
                  <a:pt x="7475" y="125016"/>
                  <a:pt x="16669" y="125016"/>
                </a:cubicBezTo>
                <a:lnTo>
                  <a:pt x="100013" y="125016"/>
                </a:lnTo>
                <a:cubicBezTo>
                  <a:pt x="109206" y="125016"/>
                  <a:pt x="116681" y="117541"/>
                  <a:pt x="116681" y="108347"/>
                </a:cubicBezTo>
                <a:lnTo>
                  <a:pt x="116681" y="91678"/>
                </a:lnTo>
                <a:cubicBezTo>
                  <a:pt x="116681" y="82484"/>
                  <a:pt x="109206" y="75009"/>
                  <a:pt x="100013" y="75009"/>
                </a:cubicBezTo>
                <a:lnTo>
                  <a:pt x="16669" y="75009"/>
                </a:lnTo>
                <a:close/>
                <a:moveTo>
                  <a:pt x="72926" y="93762"/>
                </a:moveTo>
                <a:cubicBezTo>
                  <a:pt x="76376" y="93762"/>
                  <a:pt x="79177" y="96563"/>
                  <a:pt x="79177" y="100013"/>
                </a:cubicBezTo>
                <a:cubicBezTo>
                  <a:pt x="79177" y="103462"/>
                  <a:pt x="76376" y="106263"/>
                  <a:pt x="72926" y="106263"/>
                </a:cubicBezTo>
                <a:cubicBezTo>
                  <a:pt x="69476" y="106263"/>
                  <a:pt x="66675" y="103462"/>
                  <a:pt x="66675" y="100013"/>
                </a:cubicBezTo>
                <a:cubicBezTo>
                  <a:pt x="66675" y="96563"/>
                  <a:pt x="69476" y="93762"/>
                  <a:pt x="72926" y="93762"/>
                </a:cubicBezTo>
                <a:close/>
                <a:moveTo>
                  <a:pt x="87511" y="100013"/>
                </a:moveTo>
                <a:cubicBezTo>
                  <a:pt x="87511" y="96563"/>
                  <a:pt x="90312" y="93762"/>
                  <a:pt x="93762" y="93762"/>
                </a:cubicBezTo>
                <a:cubicBezTo>
                  <a:pt x="97212" y="93762"/>
                  <a:pt x="100013" y="96563"/>
                  <a:pt x="100013" y="100013"/>
                </a:cubicBezTo>
                <a:cubicBezTo>
                  <a:pt x="100013" y="103462"/>
                  <a:pt x="97212" y="106263"/>
                  <a:pt x="93762" y="106263"/>
                </a:cubicBezTo>
                <a:cubicBezTo>
                  <a:pt x="90312" y="106263"/>
                  <a:pt x="87511" y="103462"/>
                  <a:pt x="87511" y="100013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2025" y="4981575"/>
            <a:ext cx="493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Resolver Cache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2025" y="5210175"/>
            <a:ext cx="493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ISPs and providers (Google 8.8.8.8, Cloudflare 1.1.1.1) maintain large caches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76963" y="1147763"/>
            <a:ext cx="5629275" cy="3800475"/>
          </a:xfrm>
          <a:custGeom>
            <a:avLst/>
            <a:gdLst/>
            <a:ahLst/>
            <a:cxnLst/>
            <a:rect l="l" t="t" r="r" b="b"/>
            <a:pathLst>
              <a:path w="5629275" h="3800475">
                <a:moveTo>
                  <a:pt x="114318" y="0"/>
                </a:moveTo>
                <a:lnTo>
                  <a:pt x="5514957" y="0"/>
                </a:lnTo>
                <a:cubicBezTo>
                  <a:pt x="5578093" y="0"/>
                  <a:pt x="5629275" y="51182"/>
                  <a:pt x="5629275" y="114318"/>
                </a:cubicBezTo>
                <a:lnTo>
                  <a:pt x="5629275" y="3686157"/>
                </a:lnTo>
                <a:cubicBezTo>
                  <a:pt x="5629275" y="3749293"/>
                  <a:pt x="5578093" y="3800475"/>
                  <a:pt x="5514957" y="3800475"/>
                </a:cubicBezTo>
                <a:lnTo>
                  <a:pt x="114318" y="3800475"/>
                </a:lnTo>
                <a:cubicBezTo>
                  <a:pt x="51182" y="3800475"/>
                  <a:pt x="0" y="3749293"/>
                  <a:pt x="0" y="3686157"/>
                </a:cubicBezTo>
                <a:lnTo>
                  <a:pt x="0" y="114318"/>
                </a:lnTo>
                <a:cubicBezTo>
                  <a:pt x="0" y="51224"/>
                  <a:pt x="51224" y="0"/>
                  <a:pt x="114318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91263" y="1304925"/>
            <a:ext cx="5400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Caching Benefits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53175" y="1647825"/>
            <a:ext cx="5295900" cy="952500"/>
          </a:xfrm>
          <a:custGeom>
            <a:avLst/>
            <a:gdLst/>
            <a:ahLst/>
            <a:cxnLst/>
            <a:rect l="l" t="t" r="r" b="b"/>
            <a:pathLst>
              <a:path w="5295900" h="952500">
                <a:moveTo>
                  <a:pt x="38100" y="0"/>
                </a:moveTo>
                <a:lnTo>
                  <a:pt x="5219700" y="0"/>
                </a:lnTo>
                <a:cubicBezTo>
                  <a:pt x="5261756" y="0"/>
                  <a:pt x="5295900" y="34144"/>
                  <a:pt x="5295900" y="76200"/>
                </a:cubicBezTo>
                <a:lnTo>
                  <a:pt x="5295900" y="876300"/>
                </a:lnTo>
                <a:cubicBezTo>
                  <a:pt x="5295900" y="918356"/>
                  <a:pt x="5261756" y="952500"/>
                  <a:pt x="5219700" y="952500"/>
                </a:cubicBezTo>
                <a:lnTo>
                  <a:pt x="38100" y="952500"/>
                </a:lnTo>
                <a:cubicBezTo>
                  <a:pt x="17072" y="952500"/>
                  <a:pt x="0" y="935428"/>
                  <a:pt x="0" y="914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353175" y="1647825"/>
            <a:ext cx="38100" cy="952500"/>
          </a:xfrm>
          <a:custGeom>
            <a:avLst/>
            <a:gdLst/>
            <a:ahLst/>
            <a:cxnLst/>
            <a:rect l="l" t="t" r="r" b="b"/>
            <a:pathLst>
              <a:path w="38100" h="952500">
                <a:moveTo>
                  <a:pt x="38100" y="0"/>
                </a:moveTo>
                <a:lnTo>
                  <a:pt x="38100" y="0"/>
                </a:lnTo>
                <a:lnTo>
                  <a:pt x="38100" y="952500"/>
                </a:lnTo>
                <a:lnTo>
                  <a:pt x="38100" y="952500"/>
                </a:lnTo>
                <a:cubicBezTo>
                  <a:pt x="17072" y="952500"/>
                  <a:pt x="0" y="935428"/>
                  <a:pt x="0" y="914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505575" y="18002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76200"/>
                </a:moveTo>
                <a:cubicBezTo>
                  <a:pt x="0" y="34144"/>
                  <a:pt x="34144" y="0"/>
                  <a:pt x="76200" y="0"/>
                </a:cubicBez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76200" y="123825"/>
                </a:moveTo>
                <a:cubicBezTo>
                  <a:pt x="86707" y="123825"/>
                  <a:pt x="95250" y="115282"/>
                  <a:pt x="95250" y="104775"/>
                </a:cubicBezTo>
                <a:cubicBezTo>
                  <a:pt x="95250" y="99953"/>
                  <a:pt x="93464" y="95518"/>
                  <a:pt x="90488" y="92184"/>
                </a:cubicBezTo>
                <a:lnTo>
                  <a:pt x="111175" y="50840"/>
                </a:lnTo>
                <a:cubicBezTo>
                  <a:pt x="112931" y="47298"/>
                  <a:pt x="111502" y="43011"/>
                  <a:pt x="107990" y="41255"/>
                </a:cubicBezTo>
                <a:cubicBezTo>
                  <a:pt x="104477" y="39499"/>
                  <a:pt x="100161" y="40928"/>
                  <a:pt x="98405" y="44440"/>
                </a:cubicBezTo>
                <a:lnTo>
                  <a:pt x="77718" y="85785"/>
                </a:lnTo>
                <a:cubicBezTo>
                  <a:pt x="77212" y="85755"/>
                  <a:pt x="76706" y="85725"/>
                  <a:pt x="76200" y="85725"/>
                </a:cubicBezTo>
                <a:cubicBezTo>
                  <a:pt x="65693" y="85725"/>
                  <a:pt x="57150" y="94268"/>
                  <a:pt x="57150" y="104775"/>
                </a:cubicBezTo>
                <a:cubicBezTo>
                  <a:pt x="57150" y="115282"/>
                  <a:pt x="65693" y="123825"/>
                  <a:pt x="76200" y="123825"/>
                </a:cubicBezTo>
                <a:close/>
                <a:moveTo>
                  <a:pt x="52388" y="42863"/>
                </a:moveTo>
                <a:cubicBezTo>
                  <a:pt x="52388" y="37606"/>
                  <a:pt x="48119" y="33338"/>
                  <a:pt x="42863" y="33338"/>
                </a:cubicBezTo>
                <a:cubicBezTo>
                  <a:pt x="37606" y="33338"/>
                  <a:pt x="33338" y="37606"/>
                  <a:pt x="33338" y="42863"/>
                </a:cubicBezTo>
                <a:cubicBezTo>
                  <a:pt x="33338" y="48119"/>
                  <a:pt x="37606" y="52388"/>
                  <a:pt x="42863" y="52388"/>
                </a:cubicBezTo>
                <a:cubicBezTo>
                  <a:pt x="48119" y="52388"/>
                  <a:pt x="52388" y="48119"/>
                  <a:pt x="52388" y="42863"/>
                </a:cubicBezTo>
                <a:close/>
                <a:moveTo>
                  <a:pt x="28575" y="85725"/>
                </a:moveTo>
                <a:cubicBezTo>
                  <a:pt x="33832" y="85725"/>
                  <a:pt x="38100" y="81457"/>
                  <a:pt x="38100" y="76200"/>
                </a:cubicBezTo>
                <a:cubicBezTo>
                  <a:pt x="38100" y="70943"/>
                  <a:pt x="33832" y="66675"/>
                  <a:pt x="28575" y="66675"/>
                </a:cubicBezTo>
                <a:cubicBezTo>
                  <a:pt x="23318" y="66675"/>
                  <a:pt x="19050" y="70943"/>
                  <a:pt x="19050" y="76200"/>
                </a:cubicBezTo>
                <a:cubicBezTo>
                  <a:pt x="19050" y="81457"/>
                  <a:pt x="23318" y="85725"/>
                  <a:pt x="28575" y="85725"/>
                </a:cubicBezTo>
                <a:close/>
                <a:moveTo>
                  <a:pt x="133350" y="76200"/>
                </a:moveTo>
                <a:cubicBezTo>
                  <a:pt x="133350" y="70943"/>
                  <a:pt x="129082" y="66675"/>
                  <a:pt x="123825" y="66675"/>
                </a:cubicBezTo>
                <a:cubicBezTo>
                  <a:pt x="118568" y="66675"/>
                  <a:pt x="114300" y="70943"/>
                  <a:pt x="114300" y="76200"/>
                </a:cubicBezTo>
                <a:cubicBezTo>
                  <a:pt x="114300" y="81457"/>
                  <a:pt x="118568" y="85725"/>
                  <a:pt x="123825" y="85725"/>
                </a:cubicBezTo>
                <a:cubicBezTo>
                  <a:pt x="129082" y="85725"/>
                  <a:pt x="133350" y="81457"/>
                  <a:pt x="133350" y="7620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753225" y="1762125"/>
            <a:ext cx="1076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Faster Loading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86525" y="2028825"/>
            <a:ext cx="5124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Websites load faster by avoiding repeated DNS lookups for frequently visited sites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53175" y="2676525"/>
            <a:ext cx="5295900" cy="723900"/>
          </a:xfrm>
          <a:custGeom>
            <a:avLst/>
            <a:gdLst/>
            <a:ahLst/>
            <a:cxnLst/>
            <a:rect l="l" t="t" r="r" b="b"/>
            <a:pathLst>
              <a:path w="5295900" h="723900">
                <a:moveTo>
                  <a:pt x="38100" y="0"/>
                </a:moveTo>
                <a:lnTo>
                  <a:pt x="5219702" y="0"/>
                </a:lnTo>
                <a:cubicBezTo>
                  <a:pt x="5261757" y="0"/>
                  <a:pt x="5295900" y="34143"/>
                  <a:pt x="5295900" y="76198"/>
                </a:cubicBezTo>
                <a:lnTo>
                  <a:pt x="5295900" y="647702"/>
                </a:lnTo>
                <a:cubicBezTo>
                  <a:pt x="5295900" y="689757"/>
                  <a:pt x="5261757" y="723900"/>
                  <a:pt x="5219702" y="723900"/>
                </a:cubicBezTo>
                <a:lnTo>
                  <a:pt x="38100" y="723900"/>
                </a:lnTo>
                <a:cubicBezTo>
                  <a:pt x="17072" y="723900"/>
                  <a:pt x="0" y="706828"/>
                  <a:pt x="0" y="685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53175" y="2676525"/>
            <a:ext cx="38100" cy="723900"/>
          </a:xfrm>
          <a:custGeom>
            <a:avLst/>
            <a:gdLst/>
            <a:ahLst/>
            <a:cxnLst/>
            <a:rect l="l" t="t" r="r" b="b"/>
            <a:pathLst>
              <a:path w="38100" h="723900">
                <a:moveTo>
                  <a:pt x="38100" y="0"/>
                </a:moveTo>
                <a:lnTo>
                  <a:pt x="38100" y="0"/>
                </a:lnTo>
                <a:lnTo>
                  <a:pt x="38100" y="723900"/>
                </a:lnTo>
                <a:lnTo>
                  <a:pt x="38100" y="723900"/>
                </a:lnTo>
                <a:cubicBezTo>
                  <a:pt x="17072" y="723900"/>
                  <a:pt x="0" y="706828"/>
                  <a:pt x="0" y="685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96050" y="28289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753225" y="2790825"/>
            <a:ext cx="1152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Reduced Traffic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86525" y="3057525"/>
            <a:ext cx="5124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Lessens the overall burden on DNS infrastructure and network bandwidth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3175" y="3476625"/>
            <a:ext cx="5295900" cy="723900"/>
          </a:xfrm>
          <a:custGeom>
            <a:avLst/>
            <a:gdLst/>
            <a:ahLst/>
            <a:cxnLst/>
            <a:rect l="l" t="t" r="r" b="b"/>
            <a:pathLst>
              <a:path w="5295900" h="723900">
                <a:moveTo>
                  <a:pt x="38100" y="0"/>
                </a:moveTo>
                <a:lnTo>
                  <a:pt x="5219702" y="0"/>
                </a:lnTo>
                <a:cubicBezTo>
                  <a:pt x="5261757" y="0"/>
                  <a:pt x="5295900" y="34143"/>
                  <a:pt x="5295900" y="76198"/>
                </a:cubicBezTo>
                <a:lnTo>
                  <a:pt x="5295900" y="647702"/>
                </a:lnTo>
                <a:cubicBezTo>
                  <a:pt x="5295900" y="689757"/>
                  <a:pt x="5261757" y="723900"/>
                  <a:pt x="5219702" y="723900"/>
                </a:cubicBezTo>
                <a:lnTo>
                  <a:pt x="38100" y="723900"/>
                </a:lnTo>
                <a:cubicBezTo>
                  <a:pt x="17072" y="723900"/>
                  <a:pt x="0" y="706828"/>
                  <a:pt x="0" y="685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53175" y="3476625"/>
            <a:ext cx="38100" cy="723900"/>
          </a:xfrm>
          <a:custGeom>
            <a:avLst/>
            <a:gdLst/>
            <a:ahLst/>
            <a:cxnLst/>
            <a:rect l="l" t="t" r="r" b="b"/>
            <a:pathLst>
              <a:path w="38100" h="723900">
                <a:moveTo>
                  <a:pt x="38100" y="0"/>
                </a:moveTo>
                <a:lnTo>
                  <a:pt x="38100" y="0"/>
                </a:lnTo>
                <a:lnTo>
                  <a:pt x="38100" y="723900"/>
                </a:lnTo>
                <a:lnTo>
                  <a:pt x="38100" y="723900"/>
                </a:lnTo>
                <a:cubicBezTo>
                  <a:pt x="17072" y="723900"/>
                  <a:pt x="0" y="706828"/>
                  <a:pt x="0" y="685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505575" y="3629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753225" y="3590925"/>
            <a:ext cx="1400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Improved Reliability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486525" y="3857625"/>
            <a:ext cx="5124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caching provides fallback if DNS servers are temporarily unavailable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176963" y="5072063"/>
            <a:ext cx="5629275" cy="1400175"/>
          </a:xfrm>
          <a:custGeom>
            <a:avLst/>
            <a:gdLst/>
            <a:ahLst/>
            <a:cxnLst/>
            <a:rect l="l" t="t" r="r" b="b"/>
            <a:pathLst>
              <a:path w="5629275" h="1400175">
                <a:moveTo>
                  <a:pt x="114296" y="0"/>
                </a:moveTo>
                <a:lnTo>
                  <a:pt x="5514979" y="0"/>
                </a:lnTo>
                <a:cubicBezTo>
                  <a:pt x="5578061" y="0"/>
                  <a:pt x="5629275" y="51214"/>
                  <a:pt x="5629275" y="114296"/>
                </a:cubicBezTo>
                <a:lnTo>
                  <a:pt x="5629275" y="1285879"/>
                </a:lnTo>
                <a:cubicBezTo>
                  <a:pt x="5629275" y="1348961"/>
                  <a:pt x="5578061" y="1400175"/>
                  <a:pt x="5514979" y="1400175"/>
                </a:cubicBezTo>
                <a:lnTo>
                  <a:pt x="114296" y="1400175"/>
                </a:lnTo>
                <a:cubicBezTo>
                  <a:pt x="51214" y="1400175"/>
                  <a:pt x="0" y="1348961"/>
                  <a:pt x="0" y="128587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334125" y="5229225"/>
            <a:ext cx="5400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Why Not Direct ICANN Communication?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334125" y="5572125"/>
            <a:ext cx="53911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Our request doesn't go directly to ICANN. Instead, it interacts with </a:t>
            </a:r>
            <a:r>
              <a:rPr lang="en-US" sz="120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Resolvers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, which handle communication with Root, TLD, and Authoritative Nameservers. This </a:t>
            </a:r>
            <a:r>
              <a:rPr lang="en-US" sz="120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distributed system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makes the process efficient and scalable.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dnsstuff.com/9269d5752a348b7be7328ca7d935b2d9d34819dd.png"/>
          <p:cNvPicPr>
            <a:picLocks noChangeAspect="1"/>
          </p:cNvPicPr>
          <p:nvPr/>
        </p:nvPicPr>
        <p:blipFill>
          <a:blip r:embed="rId3">
            <a:alphaModFix amt="2000"/>
          </a:blip>
          <a:srcRect l="3485" r="348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5EFE4"/>
              </a:gs>
              <a:gs pos="50000">
                <a:srgbClr val="F5EFE4">
                  <a:alpha val="95000"/>
                </a:srgbClr>
              </a:gs>
              <a:gs pos="100000">
                <a:srgbClr val="F5EFE4">
                  <a:alpha val="7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0414397" y="1471613"/>
            <a:ext cx="1390650" cy="390525"/>
          </a:xfrm>
          <a:custGeom>
            <a:avLst/>
            <a:gdLst/>
            <a:ahLst/>
            <a:cxnLst/>
            <a:rect l="l" t="t" r="r" b="b"/>
            <a:pathLst>
              <a:path w="1390650" h="390525">
                <a:moveTo>
                  <a:pt x="195263" y="0"/>
                </a:moveTo>
                <a:lnTo>
                  <a:pt x="1195388" y="0"/>
                </a:lnTo>
                <a:cubicBezTo>
                  <a:pt x="1303156" y="0"/>
                  <a:pt x="1390650" y="87494"/>
                  <a:pt x="1390650" y="195263"/>
                </a:cubicBezTo>
                <a:lnTo>
                  <a:pt x="1390650" y="195263"/>
                </a:lnTo>
                <a:cubicBezTo>
                  <a:pt x="1390650" y="303031"/>
                  <a:pt x="1303156" y="390525"/>
                  <a:pt x="1195388" y="390525"/>
                </a:cubicBezTo>
                <a:lnTo>
                  <a:pt x="195263" y="390525"/>
                </a:lnTo>
                <a:cubicBezTo>
                  <a:pt x="87494" y="390525"/>
                  <a:pt x="0" y="303031"/>
                  <a:pt x="0" y="195263"/>
                </a:cubicBezTo>
                <a:lnTo>
                  <a:pt x="0" y="195263"/>
                </a:lnTo>
                <a:cubicBezTo>
                  <a:pt x="0" y="87494"/>
                  <a:pt x="87494" y="0"/>
                  <a:pt x="19526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 w="12700">
            <a:solidFill>
              <a:srgbClr val="9C846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33459" y="1581150"/>
            <a:ext cx="10775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b="1" kern="0" spc="12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Chapter 02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52900" y="2095500"/>
            <a:ext cx="76581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</a:t>
            </a:r>
            <a:endParaRPr lang="en-US" sz="1600" dirty="0"/>
          </a:p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Protocol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1500" y="4038600"/>
            <a:ext cx="74295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Transmission Control Protocol - Reliable, Connection-Oriented Communication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46902" y="5162550"/>
            <a:ext cx="142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Guaranteed Delivery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38470" y="518160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92980" y="24854"/>
                </a:moveTo>
                <a:cubicBezTo>
                  <a:pt x="96850" y="19534"/>
                  <a:pt x="95659" y="12092"/>
                  <a:pt x="90339" y="8223"/>
                </a:cubicBezTo>
                <a:cubicBezTo>
                  <a:pt x="85018" y="4353"/>
                  <a:pt x="77577" y="5544"/>
                  <a:pt x="73707" y="10864"/>
                </a:cubicBezTo>
                <a:lnTo>
                  <a:pt x="34268" y="65075"/>
                </a:lnTo>
                <a:lnTo>
                  <a:pt x="20315" y="51122"/>
                </a:lnTo>
                <a:cubicBezTo>
                  <a:pt x="15664" y="46472"/>
                  <a:pt x="8111" y="46472"/>
                  <a:pt x="3460" y="51122"/>
                </a:cubicBezTo>
                <a:cubicBezTo>
                  <a:pt x="-1191" y="55773"/>
                  <a:pt x="-1191" y="63326"/>
                  <a:pt x="3460" y="67977"/>
                </a:cubicBezTo>
                <a:lnTo>
                  <a:pt x="27273" y="91790"/>
                </a:lnTo>
                <a:cubicBezTo>
                  <a:pt x="29728" y="94245"/>
                  <a:pt x="33151" y="95510"/>
                  <a:pt x="36612" y="95250"/>
                </a:cubicBezTo>
                <a:cubicBezTo>
                  <a:pt x="40072" y="94990"/>
                  <a:pt x="43272" y="93204"/>
                  <a:pt x="45318" y="90376"/>
                </a:cubicBezTo>
                <a:lnTo>
                  <a:pt x="92943" y="24892"/>
                </a:lnTo>
                <a:close/>
                <a:moveTo>
                  <a:pt x="140605" y="75456"/>
                </a:moveTo>
                <a:cubicBezTo>
                  <a:pt x="144475" y="70135"/>
                  <a:pt x="143284" y="62694"/>
                  <a:pt x="137964" y="58824"/>
                </a:cubicBezTo>
                <a:cubicBezTo>
                  <a:pt x="132643" y="54955"/>
                  <a:pt x="125202" y="56145"/>
                  <a:pt x="121332" y="61466"/>
                </a:cubicBezTo>
                <a:lnTo>
                  <a:pt x="58080" y="148419"/>
                </a:lnTo>
                <a:lnTo>
                  <a:pt x="32221" y="122560"/>
                </a:lnTo>
                <a:cubicBezTo>
                  <a:pt x="27570" y="117909"/>
                  <a:pt x="20017" y="117909"/>
                  <a:pt x="15367" y="122560"/>
                </a:cubicBezTo>
                <a:cubicBezTo>
                  <a:pt x="10716" y="127211"/>
                  <a:pt x="10716" y="134764"/>
                  <a:pt x="15367" y="139415"/>
                </a:cubicBezTo>
                <a:lnTo>
                  <a:pt x="51085" y="175133"/>
                </a:lnTo>
                <a:cubicBezTo>
                  <a:pt x="53541" y="177589"/>
                  <a:pt x="56964" y="178854"/>
                  <a:pt x="60424" y="178594"/>
                </a:cubicBezTo>
                <a:cubicBezTo>
                  <a:pt x="63884" y="178333"/>
                  <a:pt x="67084" y="176547"/>
                  <a:pt x="69131" y="173720"/>
                </a:cubicBezTo>
                <a:lnTo>
                  <a:pt x="140568" y="75493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481370" y="5162550"/>
            <a:ext cx="981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Ordered Data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1596688" y="51816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5786" y="14139"/>
                </a:moveTo>
                <a:cubicBezTo>
                  <a:pt x="158874" y="16371"/>
                  <a:pt x="160734" y="19980"/>
                  <a:pt x="160734" y="23812"/>
                </a:cubicBezTo>
                <a:lnTo>
                  <a:pt x="160734" y="59531"/>
                </a:lnTo>
                <a:lnTo>
                  <a:pt x="166688" y="59531"/>
                </a:lnTo>
                <a:cubicBezTo>
                  <a:pt x="173273" y="59531"/>
                  <a:pt x="178594" y="64852"/>
                  <a:pt x="178594" y="71438"/>
                </a:cubicBezTo>
                <a:cubicBezTo>
                  <a:pt x="178594" y="78023"/>
                  <a:pt x="173273" y="83344"/>
                  <a:pt x="166688" y="83344"/>
                </a:cubicBezTo>
                <a:lnTo>
                  <a:pt x="130969" y="83344"/>
                </a:lnTo>
                <a:cubicBezTo>
                  <a:pt x="124383" y="83344"/>
                  <a:pt x="119063" y="78023"/>
                  <a:pt x="119063" y="71438"/>
                </a:cubicBezTo>
                <a:cubicBezTo>
                  <a:pt x="119063" y="64852"/>
                  <a:pt x="124383" y="59531"/>
                  <a:pt x="130969" y="59531"/>
                </a:cubicBezTo>
                <a:lnTo>
                  <a:pt x="136922" y="59531"/>
                </a:lnTo>
                <a:lnTo>
                  <a:pt x="136922" y="40332"/>
                </a:lnTo>
                <a:lnTo>
                  <a:pt x="134727" y="41077"/>
                </a:lnTo>
                <a:cubicBezTo>
                  <a:pt x="128476" y="43160"/>
                  <a:pt x="121741" y="39774"/>
                  <a:pt x="119658" y="33561"/>
                </a:cubicBezTo>
                <a:cubicBezTo>
                  <a:pt x="117574" y="27347"/>
                  <a:pt x="120960" y="20575"/>
                  <a:pt x="127174" y="18492"/>
                </a:cubicBezTo>
                <a:lnTo>
                  <a:pt x="145033" y="12539"/>
                </a:lnTo>
                <a:cubicBezTo>
                  <a:pt x="148679" y="11311"/>
                  <a:pt x="152660" y="11943"/>
                  <a:pt x="155749" y="14176"/>
                </a:cubicBezTo>
                <a:close/>
                <a:moveTo>
                  <a:pt x="135843" y="160213"/>
                </a:moveTo>
                <a:lnTo>
                  <a:pt x="140196" y="153516"/>
                </a:lnTo>
                <a:cubicBezTo>
                  <a:pt x="127955" y="149833"/>
                  <a:pt x="119063" y="138447"/>
                  <a:pt x="119063" y="125016"/>
                </a:cubicBezTo>
                <a:cubicBezTo>
                  <a:pt x="119063" y="108570"/>
                  <a:pt x="132383" y="95250"/>
                  <a:pt x="148828" y="95250"/>
                </a:cubicBezTo>
                <a:cubicBezTo>
                  <a:pt x="165274" y="95250"/>
                  <a:pt x="178594" y="108570"/>
                  <a:pt x="178594" y="125016"/>
                </a:cubicBezTo>
                <a:cubicBezTo>
                  <a:pt x="178594" y="133536"/>
                  <a:pt x="176138" y="141870"/>
                  <a:pt x="171487" y="149014"/>
                </a:cubicBezTo>
                <a:lnTo>
                  <a:pt x="155823" y="173162"/>
                </a:lnTo>
                <a:cubicBezTo>
                  <a:pt x="152251" y="178668"/>
                  <a:pt x="144884" y="180268"/>
                  <a:pt x="139340" y="176659"/>
                </a:cubicBezTo>
                <a:cubicBezTo>
                  <a:pt x="133796" y="173050"/>
                  <a:pt x="132234" y="165720"/>
                  <a:pt x="135843" y="160176"/>
                </a:cubicBezTo>
                <a:close/>
                <a:moveTo>
                  <a:pt x="157758" y="125016"/>
                </a:moveTo>
                <a:cubicBezTo>
                  <a:pt x="157758" y="120087"/>
                  <a:pt x="153757" y="116086"/>
                  <a:pt x="148828" y="116086"/>
                </a:cubicBezTo>
                <a:cubicBezTo>
                  <a:pt x="143900" y="116086"/>
                  <a:pt x="139898" y="120087"/>
                  <a:pt x="139898" y="125016"/>
                </a:cubicBezTo>
                <a:cubicBezTo>
                  <a:pt x="139898" y="129944"/>
                  <a:pt x="143900" y="133945"/>
                  <a:pt x="148828" y="133945"/>
                </a:cubicBezTo>
                <a:cubicBezTo>
                  <a:pt x="153757" y="133945"/>
                  <a:pt x="157758" y="129944"/>
                  <a:pt x="157758" y="125016"/>
                </a:cubicBezTo>
                <a:close/>
                <a:moveTo>
                  <a:pt x="56034" y="175096"/>
                </a:moveTo>
                <a:cubicBezTo>
                  <a:pt x="51383" y="179747"/>
                  <a:pt x="43830" y="179747"/>
                  <a:pt x="39179" y="175096"/>
                </a:cubicBezTo>
                <a:lnTo>
                  <a:pt x="3460" y="139378"/>
                </a:lnTo>
                <a:cubicBezTo>
                  <a:pt x="-1191" y="134727"/>
                  <a:pt x="-1191" y="127174"/>
                  <a:pt x="3460" y="122523"/>
                </a:cubicBezTo>
                <a:cubicBezTo>
                  <a:pt x="8111" y="117872"/>
                  <a:pt x="15664" y="117872"/>
                  <a:pt x="20315" y="122523"/>
                </a:cubicBezTo>
                <a:lnTo>
                  <a:pt x="35719" y="137926"/>
                </a:lnTo>
                <a:lnTo>
                  <a:pt x="35719" y="23812"/>
                </a:lnTo>
                <a:cubicBezTo>
                  <a:pt x="35719" y="17227"/>
                  <a:pt x="41039" y="11906"/>
                  <a:pt x="47625" y="11906"/>
                </a:cubicBezTo>
                <a:cubicBezTo>
                  <a:pt x="54211" y="11906"/>
                  <a:pt x="59531" y="17227"/>
                  <a:pt x="59531" y="23812"/>
                </a:cubicBezTo>
                <a:lnTo>
                  <a:pt x="59531" y="137926"/>
                </a:lnTo>
                <a:lnTo>
                  <a:pt x="74935" y="122523"/>
                </a:lnTo>
                <a:cubicBezTo>
                  <a:pt x="79586" y="117872"/>
                  <a:pt x="87139" y="117872"/>
                  <a:pt x="91790" y="122523"/>
                </a:cubicBezTo>
                <a:cubicBezTo>
                  <a:pt x="96441" y="127174"/>
                  <a:pt x="96441" y="134727"/>
                  <a:pt x="91790" y="139378"/>
                </a:cubicBezTo>
                <a:lnTo>
                  <a:pt x="56071" y="175096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10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096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Fundamentals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143000"/>
            <a:ext cx="4914900" cy="2247900"/>
          </a:xfrm>
          <a:custGeom>
            <a:avLst/>
            <a:gdLst/>
            <a:ahLst/>
            <a:cxnLst/>
            <a:rect l="l" t="t" r="r" b="b"/>
            <a:pathLst>
              <a:path w="4914900" h="2247900">
                <a:moveTo>
                  <a:pt x="0" y="0"/>
                </a:moveTo>
                <a:lnTo>
                  <a:pt x="4800594" y="0"/>
                </a:lnTo>
                <a:cubicBezTo>
                  <a:pt x="4863724" y="0"/>
                  <a:pt x="4914900" y="51176"/>
                  <a:pt x="4914900" y="114306"/>
                </a:cubicBezTo>
                <a:lnTo>
                  <a:pt x="4914900" y="2133594"/>
                </a:lnTo>
                <a:cubicBezTo>
                  <a:pt x="4914900" y="2196724"/>
                  <a:pt x="4863724" y="2247900"/>
                  <a:pt x="4800594" y="2247900"/>
                </a:cubicBezTo>
                <a:lnTo>
                  <a:pt x="0" y="2247900"/>
                </a:lnTo>
                <a:lnTo>
                  <a:pt x="0" y="0"/>
                </a:lnTo>
                <a:close/>
              </a:path>
            </a:pathLst>
          </a:custGeom>
          <a:solidFill>
            <a:srgbClr val="9C8460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0050" y="1143000"/>
            <a:ext cx="38100" cy="2247900"/>
          </a:xfrm>
          <a:custGeom>
            <a:avLst/>
            <a:gdLst/>
            <a:ahLst/>
            <a:cxnLst/>
            <a:rect l="l" t="t" r="r" b="b"/>
            <a:pathLst>
              <a:path w="38100" h="2247900">
                <a:moveTo>
                  <a:pt x="0" y="0"/>
                </a:moveTo>
                <a:lnTo>
                  <a:pt x="38100" y="0"/>
                </a:lnTo>
                <a:lnTo>
                  <a:pt x="38100" y="2247900"/>
                </a:lnTo>
                <a:lnTo>
                  <a:pt x="0" y="2247900"/>
                </a:lnTo>
                <a:lnTo>
                  <a:pt x="0" y="0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1500" y="1295400"/>
            <a:ext cx="4676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What is TCP?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1500" y="1638300"/>
            <a:ext cx="4667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(Transmission Control Protocol)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one of the main protocols of the TCP/IP suite, lying between the Application and Network Layers.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0550" y="22574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4388" y="2209800"/>
            <a:ext cx="2047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Connection-oriented protocol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0550" y="2524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388" y="2476500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Breaks data into segments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0550" y="27908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4388" y="2743200"/>
            <a:ext cx="1857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Reassembles at destination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0550" y="30575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4388" y="3009900"/>
            <a:ext cx="1666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route capability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5763" y="3509963"/>
            <a:ext cx="4924425" cy="3095625"/>
          </a:xfrm>
          <a:custGeom>
            <a:avLst/>
            <a:gdLst/>
            <a:ahLst/>
            <a:cxnLst/>
            <a:rect l="l" t="t" r="r" b="b"/>
            <a:pathLst>
              <a:path w="4924425" h="3095625">
                <a:moveTo>
                  <a:pt x="114290" y="0"/>
                </a:moveTo>
                <a:lnTo>
                  <a:pt x="4810135" y="0"/>
                </a:lnTo>
                <a:cubicBezTo>
                  <a:pt x="4873255" y="0"/>
                  <a:pt x="4924425" y="51170"/>
                  <a:pt x="4924425" y="114290"/>
                </a:cubicBezTo>
                <a:lnTo>
                  <a:pt x="4924425" y="2981335"/>
                </a:lnTo>
                <a:cubicBezTo>
                  <a:pt x="4924425" y="3044455"/>
                  <a:pt x="4873255" y="3095625"/>
                  <a:pt x="4810135" y="3095625"/>
                </a:cubicBezTo>
                <a:lnTo>
                  <a:pt x="114290" y="3095625"/>
                </a:lnTo>
                <a:cubicBezTo>
                  <a:pt x="51170" y="3095625"/>
                  <a:pt x="0" y="3044455"/>
                  <a:pt x="0" y="2981335"/>
                </a:cubicBezTo>
                <a:lnTo>
                  <a:pt x="0" y="114290"/>
                </a:lnTo>
                <a:cubicBezTo>
                  <a:pt x="0" y="51212"/>
                  <a:pt x="51212" y="0"/>
                  <a:pt x="114290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0063" y="3667125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TCP/IP Protocol Stack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1975" y="4095750"/>
            <a:ext cx="4591050" cy="571500"/>
          </a:xfrm>
          <a:custGeom>
            <a:avLst/>
            <a:gdLst/>
            <a:ahLst/>
            <a:cxnLst/>
            <a:rect l="l" t="t" r="r" b="b"/>
            <a:pathLst>
              <a:path w="4591050" h="571500">
                <a:moveTo>
                  <a:pt x="38100" y="0"/>
                </a:moveTo>
                <a:lnTo>
                  <a:pt x="4514852" y="0"/>
                </a:lnTo>
                <a:cubicBezTo>
                  <a:pt x="4556935" y="0"/>
                  <a:pt x="4591050" y="34115"/>
                  <a:pt x="4591050" y="76198"/>
                </a:cubicBezTo>
                <a:lnTo>
                  <a:pt x="4591050" y="495302"/>
                </a:lnTo>
                <a:cubicBezTo>
                  <a:pt x="4591050" y="537385"/>
                  <a:pt x="4556935" y="571500"/>
                  <a:pt x="4514852" y="571500"/>
                </a:cubicBez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1975" y="4095750"/>
            <a:ext cx="38100" cy="571500"/>
          </a:xfrm>
          <a:custGeom>
            <a:avLst/>
            <a:gdLst/>
            <a:ahLst/>
            <a:cxnLst/>
            <a:rect l="l" t="t" r="r" b="b"/>
            <a:pathLst>
              <a:path w="38100" h="571500">
                <a:moveTo>
                  <a:pt x="38100" y="0"/>
                </a:moveTo>
                <a:lnTo>
                  <a:pt x="38100" y="0"/>
                </a:lnTo>
                <a:lnTo>
                  <a:pt x="38100" y="571500"/>
                </a:ln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7225" y="417195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Layer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7225" y="4400550"/>
            <a:ext cx="4486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HTTP, SMTP, FTP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1975" y="4800600"/>
            <a:ext cx="4591050" cy="571500"/>
          </a:xfrm>
          <a:custGeom>
            <a:avLst/>
            <a:gdLst/>
            <a:ahLst/>
            <a:cxnLst/>
            <a:rect l="l" t="t" r="r" b="b"/>
            <a:pathLst>
              <a:path w="4591050" h="571500">
                <a:moveTo>
                  <a:pt x="38100" y="0"/>
                </a:moveTo>
                <a:lnTo>
                  <a:pt x="4514852" y="0"/>
                </a:lnTo>
                <a:cubicBezTo>
                  <a:pt x="4556935" y="0"/>
                  <a:pt x="4591050" y="34115"/>
                  <a:pt x="4591050" y="76198"/>
                </a:cubicBezTo>
                <a:lnTo>
                  <a:pt x="4591050" y="495302"/>
                </a:lnTo>
                <a:cubicBezTo>
                  <a:pt x="4591050" y="537385"/>
                  <a:pt x="4556935" y="571500"/>
                  <a:pt x="4514852" y="571500"/>
                </a:cubicBez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61975" y="4800600"/>
            <a:ext cx="38100" cy="571500"/>
          </a:xfrm>
          <a:custGeom>
            <a:avLst/>
            <a:gdLst/>
            <a:ahLst/>
            <a:cxnLst/>
            <a:rect l="l" t="t" r="r" b="b"/>
            <a:pathLst>
              <a:path w="38100" h="571500">
                <a:moveTo>
                  <a:pt x="38100" y="0"/>
                </a:moveTo>
                <a:lnTo>
                  <a:pt x="38100" y="0"/>
                </a:lnTo>
                <a:lnTo>
                  <a:pt x="38100" y="571500"/>
                </a:ln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7225" y="48768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Transport Layer ← TCP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7225" y="5105400"/>
            <a:ext cx="4486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Reliable data transfer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61975" y="5505450"/>
            <a:ext cx="4591050" cy="571500"/>
          </a:xfrm>
          <a:custGeom>
            <a:avLst/>
            <a:gdLst/>
            <a:ahLst/>
            <a:cxnLst/>
            <a:rect l="l" t="t" r="r" b="b"/>
            <a:pathLst>
              <a:path w="4591050" h="571500">
                <a:moveTo>
                  <a:pt x="38100" y="0"/>
                </a:moveTo>
                <a:lnTo>
                  <a:pt x="4514852" y="0"/>
                </a:lnTo>
                <a:cubicBezTo>
                  <a:pt x="4556935" y="0"/>
                  <a:pt x="4591050" y="34115"/>
                  <a:pt x="4591050" y="76198"/>
                </a:cubicBezTo>
                <a:lnTo>
                  <a:pt x="4591050" y="495302"/>
                </a:lnTo>
                <a:cubicBezTo>
                  <a:pt x="4591050" y="537385"/>
                  <a:pt x="4556935" y="571500"/>
                  <a:pt x="4514852" y="571500"/>
                </a:cubicBez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1975" y="5505450"/>
            <a:ext cx="38100" cy="571500"/>
          </a:xfrm>
          <a:custGeom>
            <a:avLst/>
            <a:gdLst/>
            <a:ahLst/>
            <a:cxnLst/>
            <a:rect l="l" t="t" r="r" b="b"/>
            <a:pathLst>
              <a:path w="38100" h="571500">
                <a:moveTo>
                  <a:pt x="38100" y="0"/>
                </a:moveTo>
                <a:lnTo>
                  <a:pt x="38100" y="0"/>
                </a:lnTo>
                <a:lnTo>
                  <a:pt x="38100" y="571500"/>
                </a:ln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7225" y="558165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Layer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7225" y="5810250"/>
            <a:ext cx="4486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IP, routing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61975" y="6210300"/>
            <a:ext cx="4591050" cy="571500"/>
          </a:xfrm>
          <a:custGeom>
            <a:avLst/>
            <a:gdLst/>
            <a:ahLst/>
            <a:cxnLst/>
            <a:rect l="l" t="t" r="r" b="b"/>
            <a:pathLst>
              <a:path w="4591050" h="571500">
                <a:moveTo>
                  <a:pt x="38100" y="0"/>
                </a:moveTo>
                <a:lnTo>
                  <a:pt x="4514852" y="0"/>
                </a:lnTo>
                <a:cubicBezTo>
                  <a:pt x="4556935" y="0"/>
                  <a:pt x="4591050" y="34115"/>
                  <a:pt x="4591050" y="76198"/>
                </a:cubicBezTo>
                <a:lnTo>
                  <a:pt x="4591050" y="495302"/>
                </a:lnTo>
                <a:cubicBezTo>
                  <a:pt x="4591050" y="537385"/>
                  <a:pt x="4556935" y="571500"/>
                  <a:pt x="4514852" y="571500"/>
                </a:cubicBez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1975" y="6210300"/>
            <a:ext cx="38100" cy="571500"/>
          </a:xfrm>
          <a:custGeom>
            <a:avLst/>
            <a:gdLst/>
            <a:ahLst/>
            <a:cxnLst/>
            <a:rect l="l" t="t" r="r" b="b"/>
            <a:pathLst>
              <a:path w="38100" h="571500">
                <a:moveTo>
                  <a:pt x="38100" y="0"/>
                </a:moveTo>
                <a:lnTo>
                  <a:pt x="38100" y="0"/>
                </a:lnTo>
                <a:lnTo>
                  <a:pt x="38100" y="571500"/>
                </a:lnTo>
                <a:lnTo>
                  <a:pt x="38100" y="571500"/>
                </a:lnTo>
                <a:cubicBezTo>
                  <a:pt x="17072" y="571500"/>
                  <a:pt x="0" y="554428"/>
                  <a:pt x="0" y="5334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7225" y="62865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Physical Layer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57225" y="6515100"/>
            <a:ext cx="4486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Hardware, cables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67350" y="1147763"/>
            <a:ext cx="6343650" cy="5457825"/>
          </a:xfrm>
          <a:custGeom>
            <a:avLst/>
            <a:gdLst/>
            <a:ahLst/>
            <a:cxnLst/>
            <a:rect l="l" t="t" r="r" b="b"/>
            <a:pathLst>
              <a:path w="6343650" h="5457825">
                <a:moveTo>
                  <a:pt x="114287" y="0"/>
                </a:moveTo>
                <a:lnTo>
                  <a:pt x="6229363" y="0"/>
                </a:lnTo>
                <a:cubicBezTo>
                  <a:pt x="6292482" y="0"/>
                  <a:pt x="6343650" y="51168"/>
                  <a:pt x="6343650" y="114287"/>
                </a:cubicBezTo>
                <a:lnTo>
                  <a:pt x="6343650" y="5343538"/>
                </a:lnTo>
                <a:cubicBezTo>
                  <a:pt x="6343650" y="5406657"/>
                  <a:pt x="6292482" y="5457825"/>
                  <a:pt x="6229363" y="5457825"/>
                </a:cubicBezTo>
                <a:lnTo>
                  <a:pt x="114287" y="5457825"/>
                </a:lnTo>
                <a:cubicBezTo>
                  <a:pt x="51210" y="5457825"/>
                  <a:pt x="0" y="5406615"/>
                  <a:pt x="0" y="5343538"/>
                </a:cubicBezTo>
                <a:lnTo>
                  <a:pt x="0" y="114287"/>
                </a:lnTo>
                <a:cubicBezTo>
                  <a:pt x="0" y="51210"/>
                  <a:pt x="51210" y="0"/>
                  <a:pt x="114287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5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24513" y="1304925"/>
            <a:ext cx="6124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Why Use TCP?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29275" y="1690688"/>
            <a:ext cx="6019800" cy="923925"/>
          </a:xfrm>
          <a:custGeom>
            <a:avLst/>
            <a:gdLst/>
            <a:ahLst/>
            <a:cxnLst/>
            <a:rect l="l" t="t" r="r" b="b"/>
            <a:pathLst>
              <a:path w="6019800" h="923925">
                <a:moveTo>
                  <a:pt x="76196" y="0"/>
                </a:moveTo>
                <a:lnTo>
                  <a:pt x="5943604" y="0"/>
                </a:lnTo>
                <a:cubicBezTo>
                  <a:pt x="5985686" y="0"/>
                  <a:pt x="6019800" y="34114"/>
                  <a:pt x="6019800" y="76196"/>
                </a:cubicBezTo>
                <a:lnTo>
                  <a:pt x="6019800" y="847729"/>
                </a:lnTo>
                <a:cubicBezTo>
                  <a:pt x="6019800" y="889811"/>
                  <a:pt x="5985686" y="923925"/>
                  <a:pt x="594360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748338" y="1809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62638" y="1924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43638" y="1809750"/>
            <a:ext cx="536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243638" y="2076450"/>
            <a:ext cx="53625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Acknowledgment and retransmission mechanism ensures lost or corrupted segments are resent. Critical for file transfers, emails.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629275" y="2700338"/>
            <a:ext cx="6019800" cy="923925"/>
          </a:xfrm>
          <a:custGeom>
            <a:avLst/>
            <a:gdLst/>
            <a:ahLst/>
            <a:cxnLst/>
            <a:rect l="l" t="t" r="r" b="b"/>
            <a:pathLst>
              <a:path w="6019800" h="923925">
                <a:moveTo>
                  <a:pt x="76196" y="0"/>
                </a:moveTo>
                <a:lnTo>
                  <a:pt x="5943604" y="0"/>
                </a:lnTo>
                <a:cubicBezTo>
                  <a:pt x="5985686" y="0"/>
                  <a:pt x="6019800" y="34114"/>
                  <a:pt x="6019800" y="76196"/>
                </a:cubicBezTo>
                <a:lnTo>
                  <a:pt x="6019800" y="847729"/>
                </a:lnTo>
                <a:cubicBezTo>
                  <a:pt x="6019800" y="889811"/>
                  <a:pt x="5985686" y="923925"/>
                  <a:pt x="594360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C7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748338" y="2819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853113" y="293370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402" y="111502"/>
                </a:moveTo>
                <a:lnTo>
                  <a:pt x="44827" y="140077"/>
                </a:lnTo>
                <a:cubicBezTo>
                  <a:pt x="41106" y="143798"/>
                  <a:pt x="35064" y="143798"/>
                  <a:pt x="31343" y="140077"/>
                </a:cubicBezTo>
                <a:lnTo>
                  <a:pt x="2768" y="111502"/>
                </a:lnTo>
                <a:cubicBezTo>
                  <a:pt x="-953" y="107781"/>
                  <a:pt x="-953" y="101739"/>
                  <a:pt x="2768" y="98018"/>
                </a:cubicBezTo>
                <a:cubicBezTo>
                  <a:pt x="6489" y="94298"/>
                  <a:pt x="12531" y="94298"/>
                  <a:pt x="16252" y="98018"/>
                </a:cubicBezTo>
                <a:lnTo>
                  <a:pt x="28575" y="110341"/>
                </a:lnTo>
                <a:lnTo>
                  <a:pt x="28575" y="19050"/>
                </a:lnTo>
                <a:cubicBezTo>
                  <a:pt x="28575" y="13781"/>
                  <a:pt x="32831" y="9525"/>
                  <a:pt x="38100" y="9525"/>
                </a:cubicBezTo>
                <a:cubicBezTo>
                  <a:pt x="43369" y="9525"/>
                  <a:pt x="47625" y="13781"/>
                  <a:pt x="47625" y="19050"/>
                </a:cubicBezTo>
                <a:lnTo>
                  <a:pt x="47625" y="110341"/>
                </a:lnTo>
                <a:lnTo>
                  <a:pt x="59948" y="98018"/>
                </a:lnTo>
                <a:cubicBezTo>
                  <a:pt x="63669" y="94298"/>
                  <a:pt x="69711" y="94298"/>
                  <a:pt x="73432" y="98018"/>
                </a:cubicBezTo>
                <a:cubicBezTo>
                  <a:pt x="77152" y="101739"/>
                  <a:pt x="77152" y="107781"/>
                  <a:pt x="73432" y="111502"/>
                </a:cubicBezTo>
                <a:close/>
                <a:moveTo>
                  <a:pt x="95250" y="142875"/>
                </a:moveTo>
                <a:cubicBezTo>
                  <a:pt x="89981" y="142875"/>
                  <a:pt x="85725" y="138619"/>
                  <a:pt x="85725" y="133350"/>
                </a:cubicBezTo>
                <a:cubicBezTo>
                  <a:pt x="85725" y="128081"/>
                  <a:pt x="89981" y="123825"/>
                  <a:pt x="95250" y="123825"/>
                </a:cubicBezTo>
                <a:lnTo>
                  <a:pt x="104775" y="123825"/>
                </a:lnTo>
                <a:cubicBezTo>
                  <a:pt x="110044" y="123825"/>
                  <a:pt x="114300" y="128081"/>
                  <a:pt x="114300" y="133350"/>
                </a:cubicBezTo>
                <a:cubicBezTo>
                  <a:pt x="114300" y="138619"/>
                  <a:pt x="110044" y="142875"/>
                  <a:pt x="104775" y="142875"/>
                </a:cubicBezTo>
                <a:lnTo>
                  <a:pt x="95250" y="142875"/>
                </a:lnTo>
                <a:close/>
                <a:moveTo>
                  <a:pt x="95250" y="104775"/>
                </a:moveTo>
                <a:cubicBezTo>
                  <a:pt x="89981" y="104775"/>
                  <a:pt x="85725" y="100519"/>
                  <a:pt x="85725" y="95250"/>
                </a:cubicBezTo>
                <a:cubicBezTo>
                  <a:pt x="85725" y="89981"/>
                  <a:pt x="89981" y="85725"/>
                  <a:pt x="95250" y="85725"/>
                </a:cubicBezTo>
                <a:lnTo>
                  <a:pt x="123825" y="85725"/>
                </a:lnTo>
                <a:cubicBezTo>
                  <a:pt x="129094" y="85725"/>
                  <a:pt x="133350" y="89981"/>
                  <a:pt x="133350" y="95250"/>
                </a:cubicBezTo>
                <a:cubicBezTo>
                  <a:pt x="133350" y="100519"/>
                  <a:pt x="129094" y="104775"/>
                  <a:pt x="123825" y="104775"/>
                </a:cubicBezTo>
                <a:lnTo>
                  <a:pt x="95250" y="104775"/>
                </a:lnTo>
                <a:close/>
                <a:moveTo>
                  <a:pt x="95250" y="66675"/>
                </a:moveTo>
                <a:cubicBezTo>
                  <a:pt x="89981" y="66675"/>
                  <a:pt x="85725" y="62419"/>
                  <a:pt x="85725" y="57150"/>
                </a:cubicBezTo>
                <a:cubicBezTo>
                  <a:pt x="85725" y="51881"/>
                  <a:pt x="89981" y="47625"/>
                  <a:pt x="95250" y="47625"/>
                </a:cubicBezTo>
                <a:lnTo>
                  <a:pt x="142875" y="47625"/>
                </a:lnTo>
                <a:cubicBezTo>
                  <a:pt x="148144" y="47625"/>
                  <a:pt x="152400" y="51881"/>
                  <a:pt x="152400" y="57150"/>
                </a:cubicBezTo>
                <a:cubicBezTo>
                  <a:pt x="152400" y="62419"/>
                  <a:pt x="148144" y="66675"/>
                  <a:pt x="142875" y="66675"/>
                </a:cubicBezTo>
                <a:lnTo>
                  <a:pt x="95250" y="66675"/>
                </a:lnTo>
                <a:close/>
                <a:moveTo>
                  <a:pt x="95250" y="28575"/>
                </a:moveTo>
                <a:cubicBezTo>
                  <a:pt x="89981" y="28575"/>
                  <a:pt x="85725" y="24319"/>
                  <a:pt x="85725" y="19050"/>
                </a:cubicBezTo>
                <a:cubicBezTo>
                  <a:pt x="85725" y="13781"/>
                  <a:pt x="89981" y="9525"/>
                  <a:pt x="95250" y="9525"/>
                </a:cubicBezTo>
                <a:lnTo>
                  <a:pt x="161925" y="9525"/>
                </a:lnTo>
                <a:cubicBezTo>
                  <a:pt x="167194" y="9525"/>
                  <a:pt x="171450" y="13781"/>
                  <a:pt x="171450" y="19050"/>
                </a:cubicBezTo>
                <a:cubicBezTo>
                  <a:pt x="171450" y="24319"/>
                  <a:pt x="167194" y="28575"/>
                  <a:pt x="161925" y="28575"/>
                </a:cubicBezTo>
                <a:lnTo>
                  <a:pt x="95250" y="28575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243638" y="2819400"/>
            <a:ext cx="536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Ordered Data Delivery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243638" y="3086100"/>
            <a:ext cx="53625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Guarantees data is received in the same sequence it was sent, preventing misordered data issues.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629275" y="3709988"/>
            <a:ext cx="6019800" cy="923925"/>
          </a:xfrm>
          <a:custGeom>
            <a:avLst/>
            <a:gdLst/>
            <a:ahLst/>
            <a:cxnLst/>
            <a:rect l="l" t="t" r="r" b="b"/>
            <a:pathLst>
              <a:path w="6019800" h="923925">
                <a:moveTo>
                  <a:pt x="76196" y="0"/>
                </a:moveTo>
                <a:lnTo>
                  <a:pt x="5943604" y="0"/>
                </a:lnTo>
                <a:cubicBezTo>
                  <a:pt x="5985686" y="0"/>
                  <a:pt x="6019800" y="34114"/>
                  <a:pt x="6019800" y="76196"/>
                </a:cubicBezTo>
                <a:lnTo>
                  <a:pt x="6019800" y="847729"/>
                </a:lnTo>
                <a:cubicBezTo>
                  <a:pt x="6019800" y="889811"/>
                  <a:pt x="5985686" y="923925"/>
                  <a:pt x="594360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BD6B4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748338" y="38290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862638" y="39433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76200"/>
                </a:moveTo>
                <a:cubicBezTo>
                  <a:pt x="0" y="34144"/>
                  <a:pt x="34144" y="0"/>
                  <a:pt x="76200" y="0"/>
                </a:cubicBez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76200" y="123825"/>
                </a:moveTo>
                <a:cubicBezTo>
                  <a:pt x="86707" y="123825"/>
                  <a:pt x="95250" y="115282"/>
                  <a:pt x="95250" y="104775"/>
                </a:cubicBezTo>
                <a:cubicBezTo>
                  <a:pt x="95250" y="99953"/>
                  <a:pt x="93464" y="95518"/>
                  <a:pt x="90488" y="92184"/>
                </a:cubicBezTo>
                <a:lnTo>
                  <a:pt x="111175" y="50840"/>
                </a:lnTo>
                <a:cubicBezTo>
                  <a:pt x="112931" y="47298"/>
                  <a:pt x="111502" y="43011"/>
                  <a:pt x="107990" y="41255"/>
                </a:cubicBezTo>
                <a:cubicBezTo>
                  <a:pt x="104477" y="39499"/>
                  <a:pt x="100161" y="40928"/>
                  <a:pt x="98405" y="44440"/>
                </a:cubicBezTo>
                <a:lnTo>
                  <a:pt x="77718" y="85785"/>
                </a:lnTo>
                <a:cubicBezTo>
                  <a:pt x="77212" y="85755"/>
                  <a:pt x="76706" y="85725"/>
                  <a:pt x="76200" y="85725"/>
                </a:cubicBezTo>
                <a:cubicBezTo>
                  <a:pt x="65693" y="85725"/>
                  <a:pt x="57150" y="94268"/>
                  <a:pt x="57150" y="104775"/>
                </a:cubicBezTo>
                <a:cubicBezTo>
                  <a:pt x="57150" y="115282"/>
                  <a:pt x="65693" y="123825"/>
                  <a:pt x="76200" y="123825"/>
                </a:cubicBezTo>
                <a:close/>
                <a:moveTo>
                  <a:pt x="52388" y="42863"/>
                </a:moveTo>
                <a:cubicBezTo>
                  <a:pt x="52388" y="37606"/>
                  <a:pt x="48119" y="33338"/>
                  <a:pt x="42863" y="33338"/>
                </a:cubicBezTo>
                <a:cubicBezTo>
                  <a:pt x="37606" y="33338"/>
                  <a:pt x="33338" y="37606"/>
                  <a:pt x="33338" y="42863"/>
                </a:cubicBezTo>
                <a:cubicBezTo>
                  <a:pt x="33338" y="48119"/>
                  <a:pt x="37606" y="52388"/>
                  <a:pt x="42863" y="52388"/>
                </a:cubicBezTo>
                <a:cubicBezTo>
                  <a:pt x="48119" y="52388"/>
                  <a:pt x="52388" y="48119"/>
                  <a:pt x="52388" y="42863"/>
                </a:cubicBezTo>
                <a:close/>
                <a:moveTo>
                  <a:pt x="28575" y="85725"/>
                </a:moveTo>
                <a:cubicBezTo>
                  <a:pt x="33832" y="85725"/>
                  <a:pt x="38100" y="81457"/>
                  <a:pt x="38100" y="76200"/>
                </a:cubicBezTo>
                <a:cubicBezTo>
                  <a:pt x="38100" y="70943"/>
                  <a:pt x="33832" y="66675"/>
                  <a:pt x="28575" y="66675"/>
                </a:cubicBezTo>
                <a:cubicBezTo>
                  <a:pt x="23318" y="66675"/>
                  <a:pt x="19050" y="70943"/>
                  <a:pt x="19050" y="76200"/>
                </a:cubicBezTo>
                <a:cubicBezTo>
                  <a:pt x="19050" y="81457"/>
                  <a:pt x="23318" y="85725"/>
                  <a:pt x="28575" y="85725"/>
                </a:cubicBezTo>
                <a:close/>
                <a:moveTo>
                  <a:pt x="133350" y="76200"/>
                </a:moveTo>
                <a:cubicBezTo>
                  <a:pt x="133350" y="70943"/>
                  <a:pt x="129082" y="66675"/>
                  <a:pt x="123825" y="66675"/>
                </a:cubicBezTo>
                <a:cubicBezTo>
                  <a:pt x="118568" y="66675"/>
                  <a:pt x="114300" y="70943"/>
                  <a:pt x="114300" y="76200"/>
                </a:cubicBezTo>
                <a:cubicBezTo>
                  <a:pt x="114300" y="81457"/>
                  <a:pt x="118568" y="85725"/>
                  <a:pt x="123825" y="85725"/>
                </a:cubicBezTo>
                <a:cubicBezTo>
                  <a:pt x="129082" y="85725"/>
                  <a:pt x="133350" y="81457"/>
                  <a:pt x="133350" y="7620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243638" y="3829050"/>
            <a:ext cx="536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Congestion &amp; Flow Control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243638" y="4095750"/>
            <a:ext cx="53625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Adjusts transmission rate based on network conditions and receiver capacity to optimize throughput.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629275" y="4719638"/>
            <a:ext cx="6019800" cy="923925"/>
          </a:xfrm>
          <a:custGeom>
            <a:avLst/>
            <a:gdLst/>
            <a:ahLst/>
            <a:cxnLst/>
            <a:rect l="l" t="t" r="r" b="b"/>
            <a:pathLst>
              <a:path w="6019800" h="923925">
                <a:moveTo>
                  <a:pt x="76196" y="0"/>
                </a:moveTo>
                <a:lnTo>
                  <a:pt x="5943604" y="0"/>
                </a:lnTo>
                <a:cubicBezTo>
                  <a:pt x="5985686" y="0"/>
                  <a:pt x="6019800" y="34114"/>
                  <a:pt x="6019800" y="76196"/>
                </a:cubicBezTo>
                <a:lnTo>
                  <a:pt x="6019800" y="847729"/>
                </a:lnTo>
                <a:cubicBezTo>
                  <a:pt x="6019800" y="889811"/>
                  <a:pt x="5985686" y="923925"/>
                  <a:pt x="594360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748338" y="48387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862638" y="4953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243638" y="4838700"/>
            <a:ext cx="536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Universality &amp; Error Detection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243638" y="5105400"/>
            <a:ext cx="53625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Used by HTTP, SMTP, FTP. Every segment has a checksum for error detection and correction.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8094" y="348094"/>
            <a:ext cx="11556728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b="1" kern="0" spc="96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Structure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48094" y="556951"/>
            <a:ext cx="11652454" cy="348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67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Headers Structure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48094" y="939854"/>
            <a:ext cx="11565430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TCP segment contains a </a:t>
            </a:r>
            <a:r>
              <a:rPr lang="en-US" sz="1096" b="1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header (20-60 bytes) with control information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352445" y="1292300"/>
            <a:ext cx="6370124" cy="5560805"/>
          </a:xfrm>
          <a:custGeom>
            <a:avLst/>
            <a:gdLst/>
            <a:ahLst/>
            <a:cxnLst/>
            <a:rect l="l" t="t" r="r" b="b"/>
            <a:pathLst>
              <a:path w="6370124" h="5560805">
                <a:moveTo>
                  <a:pt x="104432" y="0"/>
                </a:moveTo>
                <a:lnTo>
                  <a:pt x="6265692" y="0"/>
                </a:lnTo>
                <a:cubicBezTo>
                  <a:pt x="6323368" y="0"/>
                  <a:pt x="6370124" y="46756"/>
                  <a:pt x="6370124" y="104432"/>
                </a:cubicBezTo>
                <a:lnTo>
                  <a:pt x="6370124" y="5456373"/>
                </a:lnTo>
                <a:cubicBezTo>
                  <a:pt x="6370124" y="5514049"/>
                  <a:pt x="6323368" y="5560805"/>
                  <a:pt x="6265692" y="5560805"/>
                </a:cubicBezTo>
                <a:lnTo>
                  <a:pt x="104432" y="5560805"/>
                </a:lnTo>
                <a:cubicBezTo>
                  <a:pt x="46756" y="5560805"/>
                  <a:pt x="0" y="5514049"/>
                  <a:pt x="0" y="5456373"/>
                </a:cubicBezTo>
                <a:lnTo>
                  <a:pt x="0" y="104432"/>
                </a:lnTo>
                <a:cubicBezTo>
                  <a:pt x="0" y="46794"/>
                  <a:pt x="46794" y="0"/>
                  <a:pt x="104432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6874" y="1435889"/>
            <a:ext cx="6161268" cy="243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33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Header Format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0385" y="1788334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4355" y="1879709"/>
            <a:ext cx="774510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Source Port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6171" y="1862304"/>
            <a:ext cx="461225" cy="243666"/>
          </a:xfrm>
          <a:custGeom>
            <a:avLst/>
            <a:gdLst/>
            <a:ahLst/>
            <a:cxnLst/>
            <a:rect l="l" t="t" r="r" b="b"/>
            <a:pathLst>
              <a:path w="461225" h="243666">
                <a:moveTo>
                  <a:pt x="34810" y="0"/>
                </a:moveTo>
                <a:lnTo>
                  <a:pt x="426415" y="0"/>
                </a:lnTo>
                <a:cubicBezTo>
                  <a:pt x="445640" y="0"/>
                  <a:pt x="461225" y="15585"/>
                  <a:pt x="461225" y="34810"/>
                </a:cubicBezTo>
                <a:lnTo>
                  <a:pt x="461225" y="208856"/>
                </a:lnTo>
                <a:cubicBezTo>
                  <a:pt x="461225" y="228081"/>
                  <a:pt x="445640" y="243666"/>
                  <a:pt x="426415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36171" y="1862304"/>
            <a:ext cx="522141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74355" y="2140779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number of the sending application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0385" y="2432308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4355" y="2523683"/>
            <a:ext cx="1026878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Port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36171" y="2506278"/>
            <a:ext cx="461225" cy="243666"/>
          </a:xfrm>
          <a:custGeom>
            <a:avLst/>
            <a:gdLst/>
            <a:ahLst/>
            <a:cxnLst/>
            <a:rect l="l" t="t" r="r" b="b"/>
            <a:pathLst>
              <a:path w="461225" h="243666">
                <a:moveTo>
                  <a:pt x="34810" y="0"/>
                </a:moveTo>
                <a:lnTo>
                  <a:pt x="426415" y="0"/>
                </a:lnTo>
                <a:cubicBezTo>
                  <a:pt x="445640" y="0"/>
                  <a:pt x="461225" y="15585"/>
                  <a:pt x="461225" y="34810"/>
                </a:cubicBezTo>
                <a:lnTo>
                  <a:pt x="461225" y="208856"/>
                </a:lnTo>
                <a:cubicBezTo>
                  <a:pt x="461225" y="228081"/>
                  <a:pt x="445640" y="243666"/>
                  <a:pt x="426415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36171" y="2506278"/>
            <a:ext cx="522141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4355" y="2784754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number of the receiving application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0385" y="3076283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4355" y="3167657"/>
            <a:ext cx="1192223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Sequence Number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14687" y="3150253"/>
            <a:ext cx="487332" cy="243666"/>
          </a:xfrm>
          <a:custGeom>
            <a:avLst/>
            <a:gdLst/>
            <a:ahLst/>
            <a:cxnLst/>
            <a:rect l="l" t="t" r="r" b="b"/>
            <a:pathLst>
              <a:path w="487332" h="243666">
                <a:moveTo>
                  <a:pt x="34810" y="0"/>
                </a:moveTo>
                <a:lnTo>
                  <a:pt x="452522" y="0"/>
                </a:lnTo>
                <a:cubicBezTo>
                  <a:pt x="471747" y="0"/>
                  <a:pt x="487332" y="15585"/>
                  <a:pt x="487332" y="34810"/>
                </a:cubicBezTo>
                <a:lnTo>
                  <a:pt x="487332" y="208856"/>
                </a:lnTo>
                <a:cubicBezTo>
                  <a:pt x="487332" y="228081"/>
                  <a:pt x="471747" y="243666"/>
                  <a:pt x="452522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14687" y="3150253"/>
            <a:ext cx="548248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 bits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4355" y="3428728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Byte position of the first data byte in current segment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0385" y="3720257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74355" y="3811632"/>
            <a:ext cx="1662150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Acknowledgment Number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14687" y="3794227"/>
            <a:ext cx="487332" cy="243666"/>
          </a:xfrm>
          <a:custGeom>
            <a:avLst/>
            <a:gdLst/>
            <a:ahLst/>
            <a:cxnLst/>
            <a:rect l="l" t="t" r="r" b="b"/>
            <a:pathLst>
              <a:path w="487332" h="243666">
                <a:moveTo>
                  <a:pt x="34810" y="0"/>
                </a:moveTo>
                <a:lnTo>
                  <a:pt x="452522" y="0"/>
                </a:lnTo>
                <a:cubicBezTo>
                  <a:pt x="471747" y="0"/>
                  <a:pt x="487332" y="15585"/>
                  <a:pt x="487332" y="34810"/>
                </a:cubicBezTo>
                <a:lnTo>
                  <a:pt x="487332" y="208856"/>
                </a:lnTo>
                <a:cubicBezTo>
                  <a:pt x="487332" y="228081"/>
                  <a:pt x="471747" y="243666"/>
                  <a:pt x="452522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14687" y="3794227"/>
            <a:ext cx="548248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 bits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74355" y="4072702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Sequence number of next byte expected by receiver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00385" y="4364231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74355" y="4455606"/>
            <a:ext cx="1888411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Offset + Reserved + Flags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36171" y="4438201"/>
            <a:ext cx="461225" cy="243666"/>
          </a:xfrm>
          <a:custGeom>
            <a:avLst/>
            <a:gdLst/>
            <a:ahLst/>
            <a:cxnLst/>
            <a:rect l="l" t="t" r="r" b="b"/>
            <a:pathLst>
              <a:path w="461225" h="243666">
                <a:moveTo>
                  <a:pt x="34810" y="0"/>
                </a:moveTo>
                <a:lnTo>
                  <a:pt x="426415" y="0"/>
                </a:lnTo>
                <a:cubicBezTo>
                  <a:pt x="445640" y="0"/>
                  <a:pt x="461225" y="15585"/>
                  <a:pt x="461225" y="34810"/>
                </a:cubicBezTo>
                <a:lnTo>
                  <a:pt x="461225" y="208856"/>
                </a:lnTo>
                <a:cubicBezTo>
                  <a:pt x="461225" y="228081"/>
                  <a:pt x="445640" y="243666"/>
                  <a:pt x="426415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036171" y="4438201"/>
            <a:ext cx="522141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74355" y="4716677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Header length, reserved bits, control flags (SYN, ACK, FIN, etc.)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00385" y="5008206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74355" y="5099580"/>
            <a:ext cx="2184291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Window Size + Checksum + Urgent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012104" y="5082176"/>
            <a:ext cx="487332" cy="243666"/>
          </a:xfrm>
          <a:custGeom>
            <a:avLst/>
            <a:gdLst/>
            <a:ahLst/>
            <a:cxnLst/>
            <a:rect l="l" t="t" r="r" b="b"/>
            <a:pathLst>
              <a:path w="487332" h="243666">
                <a:moveTo>
                  <a:pt x="34810" y="0"/>
                </a:moveTo>
                <a:lnTo>
                  <a:pt x="452522" y="0"/>
                </a:lnTo>
                <a:cubicBezTo>
                  <a:pt x="471747" y="0"/>
                  <a:pt x="487332" y="15585"/>
                  <a:pt x="487332" y="34810"/>
                </a:cubicBezTo>
                <a:lnTo>
                  <a:pt x="487332" y="208856"/>
                </a:lnTo>
                <a:cubicBezTo>
                  <a:pt x="487332" y="228081"/>
                  <a:pt x="471747" y="243666"/>
                  <a:pt x="452522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012104" y="5082176"/>
            <a:ext cx="548248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48 bits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74355" y="5360651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Flow control window, error detection checksum, urgent pointer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0385" y="5652180"/>
            <a:ext cx="6074244" cy="600463"/>
          </a:xfrm>
          <a:custGeom>
            <a:avLst/>
            <a:gdLst/>
            <a:ahLst/>
            <a:cxnLst/>
            <a:rect l="l" t="t" r="r" b="b"/>
            <a:pathLst>
              <a:path w="6074244" h="600463">
                <a:moveTo>
                  <a:pt x="69618" y="0"/>
                </a:moveTo>
                <a:lnTo>
                  <a:pt x="6004626" y="0"/>
                </a:lnTo>
                <a:cubicBezTo>
                  <a:pt x="6043075" y="0"/>
                  <a:pt x="6074244" y="31169"/>
                  <a:pt x="6074244" y="69618"/>
                </a:cubicBezTo>
                <a:lnTo>
                  <a:pt x="6074244" y="530845"/>
                </a:lnTo>
                <a:cubicBezTo>
                  <a:pt x="6074244" y="569294"/>
                  <a:pt x="6043075" y="600463"/>
                  <a:pt x="6004626" y="600463"/>
                </a:cubicBezTo>
                <a:lnTo>
                  <a:pt x="69618" y="600463"/>
                </a:lnTo>
                <a:cubicBezTo>
                  <a:pt x="31169" y="600463"/>
                  <a:pt x="0" y="569294"/>
                  <a:pt x="0" y="530845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74355" y="5743555"/>
            <a:ext cx="1166116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Options + Padding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928344" y="5726150"/>
            <a:ext cx="574355" cy="243666"/>
          </a:xfrm>
          <a:custGeom>
            <a:avLst/>
            <a:gdLst/>
            <a:ahLst/>
            <a:cxnLst/>
            <a:rect l="l" t="t" r="r" b="b"/>
            <a:pathLst>
              <a:path w="574355" h="243666">
                <a:moveTo>
                  <a:pt x="34810" y="0"/>
                </a:moveTo>
                <a:lnTo>
                  <a:pt x="539545" y="0"/>
                </a:lnTo>
                <a:cubicBezTo>
                  <a:pt x="558770" y="0"/>
                  <a:pt x="574355" y="15585"/>
                  <a:pt x="574355" y="34810"/>
                </a:cubicBezTo>
                <a:lnTo>
                  <a:pt x="574355" y="208856"/>
                </a:lnTo>
                <a:cubicBezTo>
                  <a:pt x="574355" y="228081"/>
                  <a:pt x="558770" y="243666"/>
                  <a:pt x="539545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28344" y="5726150"/>
            <a:ext cx="635272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Variable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74355" y="6004625"/>
            <a:ext cx="598722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Optional fields for additional functionality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04737" y="6300505"/>
            <a:ext cx="6065542" cy="400308"/>
          </a:xfrm>
          <a:custGeom>
            <a:avLst/>
            <a:gdLst/>
            <a:ahLst/>
            <a:cxnLst/>
            <a:rect l="l" t="t" r="r" b="b"/>
            <a:pathLst>
              <a:path w="6065542" h="400308">
                <a:moveTo>
                  <a:pt x="69618" y="0"/>
                </a:moveTo>
                <a:lnTo>
                  <a:pt x="5995924" y="0"/>
                </a:lnTo>
                <a:cubicBezTo>
                  <a:pt x="6034373" y="0"/>
                  <a:pt x="6065542" y="31169"/>
                  <a:pt x="6065542" y="69618"/>
                </a:cubicBezTo>
                <a:lnTo>
                  <a:pt x="6065542" y="330691"/>
                </a:lnTo>
                <a:cubicBezTo>
                  <a:pt x="6065542" y="369139"/>
                  <a:pt x="6034373" y="400308"/>
                  <a:pt x="5995924" y="400308"/>
                </a:cubicBezTo>
                <a:lnTo>
                  <a:pt x="69618" y="400308"/>
                </a:lnTo>
                <a:cubicBezTo>
                  <a:pt x="31169" y="400308"/>
                  <a:pt x="0" y="369139"/>
                  <a:pt x="0" y="330691"/>
                </a:cubicBezTo>
                <a:lnTo>
                  <a:pt x="0" y="69618"/>
                </a:lnTo>
                <a:cubicBezTo>
                  <a:pt x="0" y="31169"/>
                  <a:pt x="31169" y="0"/>
                  <a:pt x="69618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 w="25400">
            <a:solidFill>
              <a:srgbClr val="9C8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3058" y="6396231"/>
            <a:ext cx="417713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919641" y="6378827"/>
            <a:ext cx="574355" cy="243666"/>
          </a:xfrm>
          <a:custGeom>
            <a:avLst/>
            <a:gdLst/>
            <a:ahLst/>
            <a:cxnLst/>
            <a:rect l="l" t="t" r="r" b="b"/>
            <a:pathLst>
              <a:path w="574355" h="243666">
                <a:moveTo>
                  <a:pt x="34810" y="0"/>
                </a:moveTo>
                <a:lnTo>
                  <a:pt x="539545" y="0"/>
                </a:lnTo>
                <a:cubicBezTo>
                  <a:pt x="558770" y="0"/>
                  <a:pt x="574355" y="15585"/>
                  <a:pt x="574355" y="34810"/>
                </a:cubicBezTo>
                <a:lnTo>
                  <a:pt x="574355" y="208856"/>
                </a:lnTo>
                <a:cubicBezTo>
                  <a:pt x="574355" y="228081"/>
                  <a:pt x="558770" y="243666"/>
                  <a:pt x="539545" y="243666"/>
                </a:cubicBezTo>
                <a:lnTo>
                  <a:pt x="34810" y="243666"/>
                </a:lnTo>
                <a:cubicBezTo>
                  <a:pt x="15598" y="243666"/>
                  <a:pt x="0" y="228068"/>
                  <a:pt x="0" y="208856"/>
                </a:cubicBezTo>
                <a:lnTo>
                  <a:pt x="0" y="34810"/>
                </a:lnTo>
                <a:cubicBezTo>
                  <a:pt x="0" y="15598"/>
                  <a:pt x="15598" y="0"/>
                  <a:pt x="34810" y="0"/>
                </a:cubicBezTo>
                <a:close/>
              </a:path>
            </a:pathLst>
          </a:custGeom>
          <a:solidFill>
            <a:srgbClr val="9C8C7A">
              <a:alpha val="3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919641" y="6378827"/>
            <a:ext cx="635272" cy="243666"/>
          </a:xfrm>
          <a:prstGeom prst="rect">
            <a:avLst/>
          </a:prstGeom>
          <a:noFill/>
          <a:ln/>
        </p:spPr>
        <p:txBody>
          <a:bodyPr wrap="square" lIns="69619" tIns="34809" rIns="69619" bIns="34809" rtlCol="0" anchor="ctr"/>
          <a:lstStyle/>
          <a:p>
            <a:pPr>
              <a:lnSpc>
                <a:spcPct val="120000"/>
              </a:lnSpc>
            </a:pPr>
            <a:r>
              <a:rPr lang="en-US" sz="959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Variable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870374" y="1292300"/>
            <a:ext cx="4969045" cy="2828266"/>
          </a:xfrm>
          <a:custGeom>
            <a:avLst/>
            <a:gdLst/>
            <a:ahLst/>
            <a:cxnLst/>
            <a:rect l="l" t="t" r="r" b="b"/>
            <a:pathLst>
              <a:path w="4969045" h="2828266">
                <a:moveTo>
                  <a:pt x="104420" y="0"/>
                </a:moveTo>
                <a:lnTo>
                  <a:pt x="4864625" y="0"/>
                </a:lnTo>
                <a:cubicBezTo>
                  <a:pt x="4922295" y="0"/>
                  <a:pt x="4969045" y="46750"/>
                  <a:pt x="4969045" y="104420"/>
                </a:cubicBezTo>
                <a:lnTo>
                  <a:pt x="4969045" y="2723846"/>
                </a:lnTo>
                <a:cubicBezTo>
                  <a:pt x="4969045" y="2781515"/>
                  <a:pt x="4922295" y="2828266"/>
                  <a:pt x="4864625" y="2828266"/>
                </a:cubicBezTo>
                <a:lnTo>
                  <a:pt x="104420" y="2828266"/>
                </a:lnTo>
                <a:cubicBezTo>
                  <a:pt x="46750" y="2828266"/>
                  <a:pt x="0" y="2781515"/>
                  <a:pt x="0" y="2723846"/>
                </a:cubicBezTo>
                <a:lnTo>
                  <a:pt x="0" y="104420"/>
                </a:lnTo>
                <a:cubicBezTo>
                  <a:pt x="0" y="46750"/>
                  <a:pt x="46750" y="0"/>
                  <a:pt x="104420" y="0"/>
                </a:cubicBez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013963" y="1435889"/>
            <a:ext cx="4760188" cy="243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3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Key Header Fields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013963" y="1783983"/>
            <a:ext cx="278475" cy="278475"/>
          </a:xfrm>
          <a:custGeom>
            <a:avLst/>
            <a:gdLst/>
            <a:ahLst/>
            <a:cxnLst/>
            <a:rect l="l" t="t" r="r" b="b"/>
            <a:pathLst>
              <a:path w="278475" h="278475">
                <a:moveTo>
                  <a:pt x="69619" y="0"/>
                </a:moveTo>
                <a:lnTo>
                  <a:pt x="208857" y="0"/>
                </a:lnTo>
                <a:cubicBezTo>
                  <a:pt x="247280" y="0"/>
                  <a:pt x="278475" y="31195"/>
                  <a:pt x="278475" y="69619"/>
                </a:cubicBezTo>
                <a:lnTo>
                  <a:pt x="278475" y="208857"/>
                </a:lnTo>
                <a:cubicBezTo>
                  <a:pt x="278475" y="247280"/>
                  <a:pt x="247280" y="278475"/>
                  <a:pt x="208857" y="278475"/>
                </a:cubicBezTo>
                <a:lnTo>
                  <a:pt x="69619" y="278475"/>
                </a:lnTo>
                <a:cubicBezTo>
                  <a:pt x="31195" y="278475"/>
                  <a:pt x="0" y="247280"/>
                  <a:pt x="0" y="208857"/>
                </a:cubicBezTo>
                <a:lnTo>
                  <a:pt x="0" y="69619"/>
                </a:lnTo>
                <a:cubicBezTo>
                  <a:pt x="0" y="31195"/>
                  <a:pt x="31195" y="0"/>
                  <a:pt x="69619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094323" y="1836197"/>
            <a:ext cx="182749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396866" y="1783983"/>
            <a:ext cx="3028420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Source Port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396866" y="1992839"/>
            <a:ext cx="3019717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Identifies the sending application (e.g., port 80 for HTTP)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013963" y="2236505"/>
            <a:ext cx="278475" cy="278475"/>
          </a:xfrm>
          <a:custGeom>
            <a:avLst/>
            <a:gdLst/>
            <a:ahLst/>
            <a:cxnLst/>
            <a:rect l="l" t="t" r="r" b="b"/>
            <a:pathLst>
              <a:path w="278475" h="278475">
                <a:moveTo>
                  <a:pt x="69619" y="0"/>
                </a:moveTo>
                <a:lnTo>
                  <a:pt x="208857" y="0"/>
                </a:lnTo>
                <a:cubicBezTo>
                  <a:pt x="247280" y="0"/>
                  <a:pt x="278475" y="31195"/>
                  <a:pt x="278475" y="69619"/>
                </a:cubicBezTo>
                <a:lnTo>
                  <a:pt x="278475" y="208857"/>
                </a:lnTo>
                <a:cubicBezTo>
                  <a:pt x="278475" y="247280"/>
                  <a:pt x="247280" y="278475"/>
                  <a:pt x="208857" y="278475"/>
                </a:cubicBezTo>
                <a:lnTo>
                  <a:pt x="69619" y="278475"/>
                </a:lnTo>
                <a:cubicBezTo>
                  <a:pt x="31195" y="278475"/>
                  <a:pt x="0" y="247280"/>
                  <a:pt x="0" y="208857"/>
                </a:cubicBezTo>
                <a:lnTo>
                  <a:pt x="0" y="69619"/>
                </a:lnTo>
                <a:cubicBezTo>
                  <a:pt x="0" y="31195"/>
                  <a:pt x="31195" y="0"/>
                  <a:pt x="69619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082630" y="2288719"/>
            <a:ext cx="200154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396866" y="2236505"/>
            <a:ext cx="2819563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Port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396866" y="2445362"/>
            <a:ext cx="2810861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Identifies the receiving application on the target host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7013963" y="2689028"/>
            <a:ext cx="278475" cy="278475"/>
          </a:xfrm>
          <a:custGeom>
            <a:avLst/>
            <a:gdLst/>
            <a:ahLst/>
            <a:cxnLst/>
            <a:rect l="l" t="t" r="r" b="b"/>
            <a:pathLst>
              <a:path w="278475" h="278475">
                <a:moveTo>
                  <a:pt x="69619" y="0"/>
                </a:moveTo>
                <a:lnTo>
                  <a:pt x="208857" y="0"/>
                </a:lnTo>
                <a:cubicBezTo>
                  <a:pt x="247280" y="0"/>
                  <a:pt x="278475" y="31195"/>
                  <a:pt x="278475" y="69619"/>
                </a:cubicBezTo>
                <a:lnTo>
                  <a:pt x="278475" y="208857"/>
                </a:lnTo>
                <a:cubicBezTo>
                  <a:pt x="278475" y="247280"/>
                  <a:pt x="247280" y="278475"/>
                  <a:pt x="208857" y="278475"/>
                </a:cubicBezTo>
                <a:lnTo>
                  <a:pt x="69619" y="278475"/>
                </a:lnTo>
                <a:cubicBezTo>
                  <a:pt x="31195" y="278475"/>
                  <a:pt x="0" y="247280"/>
                  <a:pt x="0" y="208857"/>
                </a:cubicBezTo>
                <a:lnTo>
                  <a:pt x="0" y="69619"/>
                </a:lnTo>
                <a:cubicBezTo>
                  <a:pt x="0" y="31195"/>
                  <a:pt x="31195" y="0"/>
                  <a:pt x="69619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7080998" y="2741242"/>
            <a:ext cx="208857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396866" y="2689028"/>
            <a:ext cx="2393148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Sequence Number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7396866" y="2897884"/>
            <a:ext cx="2384445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Tracks byte position for ordered reassembly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013963" y="3141550"/>
            <a:ext cx="278475" cy="278475"/>
          </a:xfrm>
          <a:custGeom>
            <a:avLst/>
            <a:gdLst/>
            <a:ahLst/>
            <a:cxnLst/>
            <a:rect l="l" t="t" r="r" b="b"/>
            <a:pathLst>
              <a:path w="278475" h="278475">
                <a:moveTo>
                  <a:pt x="69619" y="0"/>
                </a:moveTo>
                <a:lnTo>
                  <a:pt x="208857" y="0"/>
                </a:lnTo>
                <a:cubicBezTo>
                  <a:pt x="247280" y="0"/>
                  <a:pt x="278475" y="31195"/>
                  <a:pt x="278475" y="69619"/>
                </a:cubicBezTo>
                <a:lnTo>
                  <a:pt x="278475" y="208857"/>
                </a:lnTo>
                <a:cubicBezTo>
                  <a:pt x="278475" y="247280"/>
                  <a:pt x="247280" y="278475"/>
                  <a:pt x="208857" y="278475"/>
                </a:cubicBezTo>
                <a:lnTo>
                  <a:pt x="69619" y="278475"/>
                </a:lnTo>
                <a:cubicBezTo>
                  <a:pt x="31195" y="278475"/>
                  <a:pt x="0" y="247280"/>
                  <a:pt x="0" y="208857"/>
                </a:cubicBezTo>
                <a:lnTo>
                  <a:pt x="0" y="69619"/>
                </a:lnTo>
                <a:cubicBezTo>
                  <a:pt x="0" y="31195"/>
                  <a:pt x="31195" y="0"/>
                  <a:pt x="69619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7082630" y="3193764"/>
            <a:ext cx="200154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396866" y="3141550"/>
            <a:ext cx="2715135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Acknowledgment Number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396866" y="3350407"/>
            <a:ext cx="2706433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Confirms receipt and indicates next expected byte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013963" y="3594073"/>
            <a:ext cx="278475" cy="278475"/>
          </a:xfrm>
          <a:custGeom>
            <a:avLst/>
            <a:gdLst/>
            <a:ahLst/>
            <a:cxnLst/>
            <a:rect l="l" t="t" r="r" b="b"/>
            <a:pathLst>
              <a:path w="278475" h="278475">
                <a:moveTo>
                  <a:pt x="69619" y="0"/>
                </a:moveTo>
                <a:lnTo>
                  <a:pt x="208857" y="0"/>
                </a:lnTo>
                <a:cubicBezTo>
                  <a:pt x="247280" y="0"/>
                  <a:pt x="278475" y="31195"/>
                  <a:pt x="278475" y="69619"/>
                </a:cubicBezTo>
                <a:lnTo>
                  <a:pt x="278475" y="208857"/>
                </a:lnTo>
                <a:cubicBezTo>
                  <a:pt x="278475" y="247280"/>
                  <a:pt x="247280" y="278475"/>
                  <a:pt x="208857" y="278475"/>
                </a:cubicBezTo>
                <a:lnTo>
                  <a:pt x="69619" y="278475"/>
                </a:lnTo>
                <a:cubicBezTo>
                  <a:pt x="31195" y="278475"/>
                  <a:pt x="0" y="247280"/>
                  <a:pt x="0" y="208857"/>
                </a:cubicBezTo>
                <a:lnTo>
                  <a:pt x="0" y="69619"/>
                </a:lnTo>
                <a:cubicBezTo>
                  <a:pt x="0" y="31195"/>
                  <a:pt x="31195" y="0"/>
                  <a:pt x="69619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7080862" y="3646287"/>
            <a:ext cx="208857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7396866" y="3594073"/>
            <a:ext cx="2410552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6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Checksum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7396866" y="3802929"/>
            <a:ext cx="2401850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9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Error detection value to ensure data integrity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870374" y="4233696"/>
            <a:ext cx="4969045" cy="1074741"/>
          </a:xfrm>
          <a:custGeom>
            <a:avLst/>
            <a:gdLst/>
            <a:ahLst/>
            <a:cxnLst/>
            <a:rect l="l" t="t" r="r" b="b"/>
            <a:pathLst>
              <a:path w="4969045" h="670081">
                <a:moveTo>
                  <a:pt x="104425" y="0"/>
                </a:moveTo>
                <a:lnTo>
                  <a:pt x="4864619" y="0"/>
                </a:lnTo>
                <a:cubicBezTo>
                  <a:pt x="4922292" y="0"/>
                  <a:pt x="4969045" y="46753"/>
                  <a:pt x="4969045" y="104425"/>
                </a:cubicBezTo>
                <a:lnTo>
                  <a:pt x="4969045" y="565656"/>
                </a:lnTo>
                <a:cubicBezTo>
                  <a:pt x="4969045" y="623328"/>
                  <a:pt x="4922292" y="670081"/>
                  <a:pt x="4864619" y="670081"/>
                </a:cubicBezTo>
                <a:lnTo>
                  <a:pt x="104425" y="670081"/>
                </a:lnTo>
                <a:cubicBezTo>
                  <a:pt x="46753" y="670081"/>
                  <a:pt x="0" y="623328"/>
                  <a:pt x="0" y="565656"/>
                </a:cubicBezTo>
                <a:lnTo>
                  <a:pt x="0" y="104425"/>
                </a:lnTo>
                <a:cubicBezTo>
                  <a:pt x="0" y="46791"/>
                  <a:pt x="46791" y="0"/>
                  <a:pt x="104425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035718" y="4481713"/>
            <a:ext cx="174047" cy="174047"/>
          </a:xfrm>
          <a:custGeom>
            <a:avLst/>
            <a:gdLst/>
            <a:ahLst/>
            <a:cxnLst/>
            <a:rect l="l" t="t" r="r" b="b"/>
            <a:pathLst>
              <a:path w="174047" h="174047">
                <a:moveTo>
                  <a:pt x="87024" y="174047"/>
                </a:moveTo>
                <a:cubicBezTo>
                  <a:pt x="135053" y="174047"/>
                  <a:pt x="174047" y="135053"/>
                  <a:pt x="174047" y="87024"/>
                </a:cubicBezTo>
                <a:cubicBezTo>
                  <a:pt x="174047" y="38994"/>
                  <a:pt x="135053" y="0"/>
                  <a:pt x="87024" y="0"/>
                </a:cubicBezTo>
                <a:cubicBezTo>
                  <a:pt x="38994" y="0"/>
                  <a:pt x="0" y="38994"/>
                  <a:pt x="0" y="87024"/>
                </a:cubicBezTo>
                <a:cubicBezTo>
                  <a:pt x="0" y="135053"/>
                  <a:pt x="38994" y="174047"/>
                  <a:pt x="87024" y="174047"/>
                </a:cubicBezTo>
                <a:close/>
                <a:moveTo>
                  <a:pt x="76146" y="54390"/>
                </a:moveTo>
                <a:cubicBezTo>
                  <a:pt x="76146" y="48386"/>
                  <a:pt x="81020" y="43512"/>
                  <a:pt x="87024" y="43512"/>
                </a:cubicBezTo>
                <a:cubicBezTo>
                  <a:pt x="93027" y="43512"/>
                  <a:pt x="97901" y="48386"/>
                  <a:pt x="97901" y="54390"/>
                </a:cubicBezTo>
                <a:cubicBezTo>
                  <a:pt x="97901" y="60393"/>
                  <a:pt x="93027" y="65268"/>
                  <a:pt x="87024" y="65268"/>
                </a:cubicBezTo>
                <a:cubicBezTo>
                  <a:pt x="81020" y="65268"/>
                  <a:pt x="76146" y="60393"/>
                  <a:pt x="76146" y="54390"/>
                </a:cubicBezTo>
                <a:close/>
                <a:moveTo>
                  <a:pt x="73426" y="76146"/>
                </a:moveTo>
                <a:lnTo>
                  <a:pt x="89743" y="76146"/>
                </a:lnTo>
                <a:cubicBezTo>
                  <a:pt x="94264" y="76146"/>
                  <a:pt x="97901" y="79783"/>
                  <a:pt x="97901" y="84304"/>
                </a:cubicBezTo>
                <a:lnTo>
                  <a:pt x="97901" y="114218"/>
                </a:lnTo>
                <a:lnTo>
                  <a:pt x="100621" y="114218"/>
                </a:lnTo>
                <a:cubicBezTo>
                  <a:pt x="105142" y="114218"/>
                  <a:pt x="108779" y="117856"/>
                  <a:pt x="108779" y="122377"/>
                </a:cubicBezTo>
                <a:cubicBezTo>
                  <a:pt x="108779" y="126898"/>
                  <a:pt x="105142" y="130535"/>
                  <a:pt x="100621" y="130535"/>
                </a:cubicBezTo>
                <a:lnTo>
                  <a:pt x="73426" y="130535"/>
                </a:lnTo>
                <a:cubicBezTo>
                  <a:pt x="68905" y="130535"/>
                  <a:pt x="65268" y="126898"/>
                  <a:pt x="65268" y="122377"/>
                </a:cubicBezTo>
                <a:cubicBezTo>
                  <a:pt x="65268" y="117856"/>
                  <a:pt x="68905" y="114218"/>
                  <a:pt x="73426" y="114218"/>
                </a:cubicBezTo>
                <a:lnTo>
                  <a:pt x="81585" y="114218"/>
                </a:lnTo>
                <a:lnTo>
                  <a:pt x="81585" y="92463"/>
                </a:lnTo>
                <a:lnTo>
                  <a:pt x="73426" y="92463"/>
                </a:lnTo>
                <a:cubicBezTo>
                  <a:pt x="68905" y="92463"/>
                  <a:pt x="65268" y="88825"/>
                  <a:pt x="65268" y="84304"/>
                </a:cubicBezTo>
                <a:cubicBezTo>
                  <a:pt x="65268" y="79783"/>
                  <a:pt x="68905" y="76146"/>
                  <a:pt x="73426" y="76146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7335950" y="4377285"/>
            <a:ext cx="3167657" cy="208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Header Size</a:t>
            </a:r>
            <a:endParaRPr lang="en-US" sz="3200" dirty="0"/>
          </a:p>
        </p:txBody>
      </p:sp>
      <p:sp>
        <p:nvSpPr>
          <p:cNvPr id="71" name="Text 69"/>
          <p:cNvSpPr/>
          <p:nvPr/>
        </p:nvSpPr>
        <p:spPr>
          <a:xfrm>
            <a:off x="7344652" y="4784121"/>
            <a:ext cx="3158955" cy="174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Varies from </a:t>
            </a:r>
            <a:r>
              <a:rPr lang="en-US" sz="1400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 bytes</a:t>
            </a:r>
            <a:r>
              <a:rPr lang="en-US" sz="14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(minimum) to </a:t>
            </a:r>
            <a:r>
              <a:rPr lang="en-US" sz="1400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60 bytes</a:t>
            </a:r>
            <a:r>
              <a:rPr lang="en-US" sz="14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(with options)</a:t>
            </a:r>
            <a:endParaRPr lang="en-US" sz="32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8329" y="318329"/>
            <a:ext cx="11611050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7" b="1" kern="0" spc="88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 Establishment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18329" y="509326"/>
            <a:ext cx="11698590" cy="318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6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3-Way Handshake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8329" y="859488"/>
            <a:ext cx="11619008" cy="19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3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process to </a:t>
            </a:r>
            <a:r>
              <a:rPr lang="en-US" sz="1003" b="1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establish</a:t>
            </a:r>
            <a:r>
              <a:rPr lang="en-US" sz="1003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</a:t>
            </a:r>
            <a:r>
              <a:rPr lang="en-US" sz="1003" b="1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reliable connection before data transfer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334245" y="1177817"/>
            <a:ext cx="6676950" cy="1623478"/>
          </a:xfrm>
          <a:custGeom>
            <a:avLst/>
            <a:gdLst/>
            <a:ahLst/>
            <a:cxnLst/>
            <a:rect l="l" t="t" r="r" b="b"/>
            <a:pathLst>
              <a:path w="6676950" h="1623478">
                <a:moveTo>
                  <a:pt x="0" y="0"/>
                </a:moveTo>
                <a:lnTo>
                  <a:pt x="6581457" y="0"/>
                </a:lnTo>
                <a:cubicBezTo>
                  <a:pt x="6634197" y="0"/>
                  <a:pt x="6676950" y="42754"/>
                  <a:pt x="6676950" y="95493"/>
                </a:cubicBezTo>
                <a:lnTo>
                  <a:pt x="6676950" y="1527985"/>
                </a:lnTo>
                <a:cubicBezTo>
                  <a:pt x="6676950" y="1580724"/>
                  <a:pt x="6634197" y="1623478"/>
                  <a:pt x="6581457" y="1623478"/>
                </a:cubicBezTo>
                <a:lnTo>
                  <a:pt x="0" y="1623478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9C8460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34245" y="1177817"/>
            <a:ext cx="31833" cy="1623478"/>
          </a:xfrm>
          <a:custGeom>
            <a:avLst/>
            <a:gdLst/>
            <a:ahLst/>
            <a:cxnLst/>
            <a:rect l="l" t="t" r="r" b="b"/>
            <a:pathLst>
              <a:path w="31833" h="1623478">
                <a:moveTo>
                  <a:pt x="0" y="0"/>
                </a:moveTo>
                <a:lnTo>
                  <a:pt x="31833" y="0"/>
                </a:lnTo>
                <a:lnTo>
                  <a:pt x="31833" y="1623478"/>
                </a:lnTo>
                <a:lnTo>
                  <a:pt x="0" y="1623478"/>
                </a:lnTo>
                <a:lnTo>
                  <a:pt x="0" y="0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77493" y="1305149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95501" y="0"/>
                </a:moveTo>
                <a:lnTo>
                  <a:pt x="350160" y="0"/>
                </a:lnTo>
                <a:cubicBezTo>
                  <a:pt x="402903" y="0"/>
                  <a:pt x="445661" y="42757"/>
                  <a:pt x="445661" y="95501"/>
                </a:cubicBezTo>
                <a:lnTo>
                  <a:pt x="445661" y="350160"/>
                </a:lnTo>
                <a:cubicBezTo>
                  <a:pt x="445661" y="402903"/>
                  <a:pt x="402903" y="445661"/>
                  <a:pt x="350160" y="445661"/>
                </a:cubicBezTo>
                <a:lnTo>
                  <a:pt x="95501" y="445661"/>
                </a:lnTo>
                <a:cubicBezTo>
                  <a:pt x="42757" y="445661"/>
                  <a:pt x="0" y="402903"/>
                  <a:pt x="0" y="350160"/>
                </a:cubicBezTo>
                <a:lnTo>
                  <a:pt x="0" y="95501"/>
                </a:lnTo>
                <a:cubicBezTo>
                  <a:pt x="0" y="42757"/>
                  <a:pt x="42757" y="0"/>
                  <a:pt x="95501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9983" y="1400648"/>
            <a:ext cx="159164" cy="254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4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0486" y="1305149"/>
            <a:ext cx="5912961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Client Sends SYN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0486" y="1591645"/>
            <a:ext cx="5897044" cy="206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client wants to start a TCP connection and sends a </a:t>
            </a:r>
            <a:r>
              <a:rPr lang="en-US" sz="1003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 (Synchronize)</a:t>
            </a:r>
            <a:r>
              <a:rPr lang="en-US" sz="100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packet to the server.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54465" y="1866204"/>
            <a:ext cx="5825420" cy="580950"/>
          </a:xfrm>
          <a:custGeom>
            <a:avLst/>
            <a:gdLst/>
            <a:ahLst/>
            <a:cxnLst/>
            <a:rect l="l" t="t" r="r" b="b"/>
            <a:pathLst>
              <a:path w="5825420" h="580950">
                <a:moveTo>
                  <a:pt x="63666" y="0"/>
                </a:moveTo>
                <a:lnTo>
                  <a:pt x="5761754" y="0"/>
                </a:lnTo>
                <a:cubicBezTo>
                  <a:pt x="5796916" y="0"/>
                  <a:pt x="5825420" y="28504"/>
                  <a:pt x="5825420" y="63666"/>
                </a:cubicBezTo>
                <a:lnTo>
                  <a:pt x="5825420" y="517284"/>
                </a:lnTo>
                <a:cubicBezTo>
                  <a:pt x="5825420" y="552446"/>
                  <a:pt x="5796916" y="580950"/>
                  <a:pt x="5761754" y="580950"/>
                </a:cubicBezTo>
                <a:lnTo>
                  <a:pt x="63666" y="580950"/>
                </a:lnTo>
                <a:cubicBezTo>
                  <a:pt x="28504" y="580950"/>
                  <a:pt x="0" y="552446"/>
                  <a:pt x="0" y="517284"/>
                </a:cubicBezTo>
                <a:lnTo>
                  <a:pt x="0" y="63666"/>
                </a:lnTo>
                <a:cubicBezTo>
                  <a:pt x="0" y="28528"/>
                  <a:pt x="28528" y="0"/>
                  <a:pt x="6366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26089" y="1965681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9492" y="1965681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 No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73019" y="1965681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 No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96422" y="1965681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Flags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26089" y="2188512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49492" y="2188512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73019" y="2188512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6422" y="2188512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0486" y="2514799"/>
            <a:ext cx="5889086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7" b="1" dirty="0">
                <a:solidFill>
                  <a:srgbClr val="4A3F35">
                    <a:alpha val="60000"/>
                  </a:srgbClr>
                </a:solidFill>
                <a:highlight>
                  <a:srgbClr val="00FF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ISN (Initial Sequence Number) = 1000, randomly chosen for security</a:t>
            </a:r>
            <a:endParaRPr lang="en-US" sz="1600" b="1" dirty="0">
              <a:highlight>
                <a:srgbClr val="00FF00"/>
              </a:highlight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34245" y="2896794"/>
            <a:ext cx="6676950" cy="1623478"/>
          </a:xfrm>
          <a:custGeom>
            <a:avLst/>
            <a:gdLst/>
            <a:ahLst/>
            <a:cxnLst/>
            <a:rect l="l" t="t" r="r" b="b"/>
            <a:pathLst>
              <a:path w="6676950" h="1623478">
                <a:moveTo>
                  <a:pt x="0" y="0"/>
                </a:moveTo>
                <a:lnTo>
                  <a:pt x="6581457" y="0"/>
                </a:lnTo>
                <a:cubicBezTo>
                  <a:pt x="6634197" y="0"/>
                  <a:pt x="6676950" y="42754"/>
                  <a:pt x="6676950" y="95493"/>
                </a:cubicBezTo>
                <a:lnTo>
                  <a:pt x="6676950" y="1527985"/>
                </a:lnTo>
                <a:cubicBezTo>
                  <a:pt x="6676950" y="1580724"/>
                  <a:pt x="6634197" y="1623478"/>
                  <a:pt x="6581457" y="1623478"/>
                </a:cubicBezTo>
                <a:lnTo>
                  <a:pt x="0" y="1623478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9C8C7A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4245" y="2896794"/>
            <a:ext cx="31833" cy="1623478"/>
          </a:xfrm>
          <a:custGeom>
            <a:avLst/>
            <a:gdLst/>
            <a:ahLst/>
            <a:cxnLst/>
            <a:rect l="l" t="t" r="r" b="b"/>
            <a:pathLst>
              <a:path w="31833" h="1623478">
                <a:moveTo>
                  <a:pt x="0" y="0"/>
                </a:moveTo>
                <a:lnTo>
                  <a:pt x="31833" y="0"/>
                </a:lnTo>
                <a:lnTo>
                  <a:pt x="31833" y="1623478"/>
                </a:lnTo>
                <a:lnTo>
                  <a:pt x="0" y="1623478"/>
                </a:lnTo>
                <a:lnTo>
                  <a:pt x="0" y="0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7493" y="3024125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95501" y="0"/>
                </a:moveTo>
                <a:lnTo>
                  <a:pt x="350160" y="0"/>
                </a:lnTo>
                <a:cubicBezTo>
                  <a:pt x="402903" y="0"/>
                  <a:pt x="445661" y="42757"/>
                  <a:pt x="445661" y="95501"/>
                </a:cubicBezTo>
                <a:lnTo>
                  <a:pt x="445661" y="350160"/>
                </a:lnTo>
                <a:cubicBezTo>
                  <a:pt x="445661" y="402903"/>
                  <a:pt x="402903" y="445661"/>
                  <a:pt x="350160" y="445661"/>
                </a:cubicBezTo>
                <a:lnTo>
                  <a:pt x="95501" y="445661"/>
                </a:lnTo>
                <a:cubicBezTo>
                  <a:pt x="42757" y="445661"/>
                  <a:pt x="0" y="402903"/>
                  <a:pt x="0" y="350160"/>
                </a:cubicBezTo>
                <a:lnTo>
                  <a:pt x="0" y="95501"/>
                </a:lnTo>
                <a:cubicBezTo>
                  <a:pt x="0" y="42757"/>
                  <a:pt x="42757" y="0"/>
                  <a:pt x="95501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1704" y="3119624"/>
            <a:ext cx="190997" cy="254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4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0486" y="3024125"/>
            <a:ext cx="5912961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Server Sends SYN-ACK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50486" y="3310621"/>
            <a:ext cx="5897044" cy="206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server receives SYN and responds with </a:t>
            </a:r>
            <a:r>
              <a:rPr lang="en-US" sz="1003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SYN-ACK</a:t>
            </a:r>
            <a:r>
              <a:rPr lang="en-US" sz="100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(Synchronize + Acknowledgment).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54465" y="3585180"/>
            <a:ext cx="5825420" cy="580950"/>
          </a:xfrm>
          <a:custGeom>
            <a:avLst/>
            <a:gdLst/>
            <a:ahLst/>
            <a:cxnLst/>
            <a:rect l="l" t="t" r="r" b="b"/>
            <a:pathLst>
              <a:path w="5825420" h="580950">
                <a:moveTo>
                  <a:pt x="63666" y="0"/>
                </a:moveTo>
                <a:lnTo>
                  <a:pt x="5761754" y="0"/>
                </a:lnTo>
                <a:cubicBezTo>
                  <a:pt x="5796916" y="0"/>
                  <a:pt x="5825420" y="28504"/>
                  <a:pt x="5825420" y="63666"/>
                </a:cubicBezTo>
                <a:lnTo>
                  <a:pt x="5825420" y="517284"/>
                </a:lnTo>
                <a:cubicBezTo>
                  <a:pt x="5825420" y="552446"/>
                  <a:pt x="5796916" y="580950"/>
                  <a:pt x="5761754" y="580950"/>
                </a:cubicBezTo>
                <a:lnTo>
                  <a:pt x="63666" y="580950"/>
                </a:lnTo>
                <a:cubicBezTo>
                  <a:pt x="28504" y="580950"/>
                  <a:pt x="0" y="552446"/>
                  <a:pt x="0" y="517284"/>
                </a:cubicBezTo>
                <a:lnTo>
                  <a:pt x="0" y="63666"/>
                </a:lnTo>
                <a:cubicBezTo>
                  <a:pt x="0" y="28528"/>
                  <a:pt x="28528" y="0"/>
                  <a:pt x="6366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C7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126089" y="368465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549492" y="368465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 No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973019" y="368465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 No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96422" y="368465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Flags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26089" y="390748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→ Client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549492" y="390748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973019" y="390748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96422" y="3907488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SYN-ACK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50486" y="4233775"/>
            <a:ext cx="5889086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7" b="1" dirty="0">
                <a:solidFill>
                  <a:srgbClr val="4A3F35">
                    <a:alpha val="60000"/>
                  </a:srgbClr>
                </a:solidFill>
                <a:highlight>
                  <a:srgbClr val="00FF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ISN = 5000, Ack = Client ISN + 1 (1001)</a:t>
            </a:r>
            <a:endParaRPr lang="en-US" sz="1600" b="1" dirty="0">
              <a:highlight>
                <a:srgbClr val="00FF00"/>
              </a:highlight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4245" y="4615770"/>
            <a:ext cx="6676950" cy="1623478"/>
          </a:xfrm>
          <a:custGeom>
            <a:avLst/>
            <a:gdLst/>
            <a:ahLst/>
            <a:cxnLst/>
            <a:rect l="l" t="t" r="r" b="b"/>
            <a:pathLst>
              <a:path w="6676950" h="1623478">
                <a:moveTo>
                  <a:pt x="0" y="0"/>
                </a:moveTo>
                <a:lnTo>
                  <a:pt x="6581457" y="0"/>
                </a:lnTo>
                <a:cubicBezTo>
                  <a:pt x="6634197" y="0"/>
                  <a:pt x="6676950" y="42754"/>
                  <a:pt x="6676950" y="95493"/>
                </a:cubicBezTo>
                <a:lnTo>
                  <a:pt x="6676950" y="1527985"/>
                </a:lnTo>
                <a:cubicBezTo>
                  <a:pt x="6676950" y="1580724"/>
                  <a:pt x="6634197" y="1623478"/>
                  <a:pt x="6581457" y="1623478"/>
                </a:cubicBezTo>
                <a:lnTo>
                  <a:pt x="0" y="1623478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BD6B4F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34245" y="4615770"/>
            <a:ext cx="31833" cy="1623478"/>
          </a:xfrm>
          <a:custGeom>
            <a:avLst/>
            <a:gdLst/>
            <a:ahLst/>
            <a:cxnLst/>
            <a:rect l="l" t="t" r="r" b="b"/>
            <a:pathLst>
              <a:path w="31833" h="1623478">
                <a:moveTo>
                  <a:pt x="0" y="0"/>
                </a:moveTo>
                <a:lnTo>
                  <a:pt x="31833" y="0"/>
                </a:lnTo>
                <a:lnTo>
                  <a:pt x="31833" y="1623478"/>
                </a:lnTo>
                <a:lnTo>
                  <a:pt x="0" y="1623478"/>
                </a:lnTo>
                <a:lnTo>
                  <a:pt x="0" y="0"/>
                </a:ln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7493" y="4743102"/>
            <a:ext cx="445661" cy="445661"/>
          </a:xfrm>
          <a:custGeom>
            <a:avLst/>
            <a:gdLst/>
            <a:ahLst/>
            <a:cxnLst/>
            <a:rect l="l" t="t" r="r" b="b"/>
            <a:pathLst>
              <a:path w="445661" h="445661">
                <a:moveTo>
                  <a:pt x="95501" y="0"/>
                </a:moveTo>
                <a:lnTo>
                  <a:pt x="350160" y="0"/>
                </a:lnTo>
                <a:cubicBezTo>
                  <a:pt x="402903" y="0"/>
                  <a:pt x="445661" y="42757"/>
                  <a:pt x="445661" y="95501"/>
                </a:cubicBezTo>
                <a:lnTo>
                  <a:pt x="445661" y="350160"/>
                </a:lnTo>
                <a:cubicBezTo>
                  <a:pt x="445661" y="402903"/>
                  <a:pt x="402903" y="445661"/>
                  <a:pt x="350160" y="445661"/>
                </a:cubicBezTo>
                <a:lnTo>
                  <a:pt x="95501" y="445661"/>
                </a:lnTo>
                <a:cubicBezTo>
                  <a:pt x="42757" y="445661"/>
                  <a:pt x="0" y="402903"/>
                  <a:pt x="0" y="350160"/>
                </a:cubicBezTo>
                <a:lnTo>
                  <a:pt x="0" y="95501"/>
                </a:lnTo>
                <a:cubicBezTo>
                  <a:pt x="0" y="42757"/>
                  <a:pt x="42757" y="0"/>
                  <a:pt x="95501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9217" y="4838601"/>
            <a:ext cx="198956" cy="254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4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50486" y="4743102"/>
            <a:ext cx="5912961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3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Client Sends ACK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50486" y="5029598"/>
            <a:ext cx="5897044" cy="206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client receives SYN-ACK and sends </a:t>
            </a:r>
            <a:r>
              <a:rPr lang="en-US" sz="1003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</a:t>
            </a:r>
            <a:r>
              <a:rPr lang="en-US" sz="1003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back to confirm. Connection established!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54465" y="5304157"/>
            <a:ext cx="5825420" cy="580950"/>
          </a:xfrm>
          <a:custGeom>
            <a:avLst/>
            <a:gdLst/>
            <a:ahLst/>
            <a:cxnLst/>
            <a:rect l="l" t="t" r="r" b="b"/>
            <a:pathLst>
              <a:path w="5825420" h="580950">
                <a:moveTo>
                  <a:pt x="63666" y="0"/>
                </a:moveTo>
                <a:lnTo>
                  <a:pt x="5761754" y="0"/>
                </a:lnTo>
                <a:cubicBezTo>
                  <a:pt x="5796916" y="0"/>
                  <a:pt x="5825420" y="28504"/>
                  <a:pt x="5825420" y="63666"/>
                </a:cubicBezTo>
                <a:lnTo>
                  <a:pt x="5825420" y="517284"/>
                </a:lnTo>
                <a:cubicBezTo>
                  <a:pt x="5825420" y="552446"/>
                  <a:pt x="5796916" y="580950"/>
                  <a:pt x="5761754" y="580950"/>
                </a:cubicBezTo>
                <a:lnTo>
                  <a:pt x="63666" y="580950"/>
                </a:lnTo>
                <a:cubicBezTo>
                  <a:pt x="28504" y="580950"/>
                  <a:pt x="0" y="552446"/>
                  <a:pt x="0" y="517284"/>
                </a:cubicBezTo>
                <a:lnTo>
                  <a:pt x="0" y="63666"/>
                </a:lnTo>
                <a:cubicBezTo>
                  <a:pt x="0" y="28528"/>
                  <a:pt x="28528" y="0"/>
                  <a:pt x="63666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BD6B4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126089" y="5403634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Sender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2549492" y="5403634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 No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973019" y="5403634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 No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396422" y="5403634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Flags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26089" y="5626465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549492" y="5626465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1001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3973019" y="5626465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5001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396422" y="5626465"/>
            <a:ext cx="1416564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7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50486" y="5952752"/>
            <a:ext cx="5889086" cy="15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7" b="1" dirty="0">
                <a:solidFill>
                  <a:srgbClr val="4A3F35">
                    <a:alpha val="60000"/>
                  </a:srgbClr>
                </a:solidFill>
                <a:highlight>
                  <a:srgbClr val="00FF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 = Server ISN + 1 (5001), confirming receipt</a:t>
            </a:r>
            <a:endParaRPr lang="en-US" sz="1600" b="1" dirty="0">
              <a:highlight>
                <a:srgbClr val="00FF00"/>
              </a:highlight>
            </a:endParaRPr>
          </a:p>
        </p:txBody>
      </p:sp>
      <p:sp>
        <p:nvSpPr>
          <p:cNvPr id="53" name="Shape 51"/>
          <p:cNvSpPr/>
          <p:nvPr/>
        </p:nvSpPr>
        <p:spPr>
          <a:xfrm>
            <a:off x="7146237" y="1181796"/>
            <a:ext cx="4727185" cy="5674214"/>
          </a:xfrm>
          <a:custGeom>
            <a:avLst/>
            <a:gdLst/>
            <a:ahLst/>
            <a:cxnLst/>
            <a:rect l="l" t="t" r="r" b="b"/>
            <a:pathLst>
              <a:path w="4727185" h="5674214">
                <a:moveTo>
                  <a:pt x="95489" y="0"/>
                </a:moveTo>
                <a:lnTo>
                  <a:pt x="4631696" y="0"/>
                </a:lnTo>
                <a:cubicBezTo>
                  <a:pt x="4684433" y="0"/>
                  <a:pt x="4727185" y="42752"/>
                  <a:pt x="4727185" y="95489"/>
                </a:cubicBezTo>
                <a:lnTo>
                  <a:pt x="4727185" y="5578725"/>
                </a:lnTo>
                <a:cubicBezTo>
                  <a:pt x="4727185" y="5631462"/>
                  <a:pt x="4684433" y="5674214"/>
                  <a:pt x="4631696" y="5674214"/>
                </a:cubicBezTo>
                <a:lnTo>
                  <a:pt x="95489" y="5674214"/>
                </a:lnTo>
                <a:cubicBezTo>
                  <a:pt x="42752" y="5674214"/>
                  <a:pt x="0" y="5631462"/>
                  <a:pt x="0" y="5578725"/>
                </a:cubicBezTo>
                <a:lnTo>
                  <a:pt x="0" y="95489"/>
                </a:lnTo>
                <a:cubicBezTo>
                  <a:pt x="0" y="42752"/>
                  <a:pt x="42752" y="0"/>
                  <a:pt x="95489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241736" y="1313107"/>
            <a:ext cx="4536188" cy="222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8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Handshake Visualization</a:t>
            </a:r>
            <a:endParaRPr lang="en-US" sz="1600" dirty="0"/>
          </a:p>
        </p:txBody>
      </p:sp>
      <p:pic>
        <p:nvPicPr>
          <p:cNvPr id="55" name="Image 0" descr="https://kimi-img.moonshot.cn/pub/slides/26-02-15-23:01:47-d68tvmtf8r3f0sf1e38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548" y="1631436"/>
            <a:ext cx="3660783" cy="5093264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10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Transmission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096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Data Transfer &amp; Retransmission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071563"/>
            <a:ext cx="6191250" cy="2143125"/>
          </a:xfrm>
          <a:custGeom>
            <a:avLst/>
            <a:gdLst/>
            <a:ahLst/>
            <a:cxnLst/>
            <a:rect l="l" t="t" r="r" b="b"/>
            <a:pathLst>
              <a:path w="6191250" h="2143125">
                <a:moveTo>
                  <a:pt x="114293" y="0"/>
                </a:moveTo>
                <a:lnTo>
                  <a:pt x="6076957" y="0"/>
                </a:lnTo>
                <a:cubicBezTo>
                  <a:pt x="6140079" y="0"/>
                  <a:pt x="6191250" y="51171"/>
                  <a:pt x="6191250" y="114293"/>
                </a:cubicBezTo>
                <a:lnTo>
                  <a:pt x="6191250" y="2028832"/>
                </a:lnTo>
                <a:cubicBezTo>
                  <a:pt x="6191250" y="2091954"/>
                  <a:pt x="6140079" y="2143125"/>
                  <a:pt x="6076957" y="2143125"/>
                </a:cubicBezTo>
                <a:lnTo>
                  <a:pt x="114293" y="2143125"/>
                </a:lnTo>
                <a:cubicBezTo>
                  <a:pt x="51171" y="2143125"/>
                  <a:pt x="0" y="2091954"/>
                  <a:pt x="0" y="2028832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4825" y="1190625"/>
            <a:ext cx="6038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Practical Example: Transferring 3MB Image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23875" y="1533525"/>
            <a:ext cx="5934075" cy="609600"/>
          </a:xfrm>
          <a:custGeom>
            <a:avLst/>
            <a:gdLst/>
            <a:ahLst/>
            <a:cxnLst/>
            <a:rect l="l" t="t" r="r" b="b"/>
            <a:pathLst>
              <a:path w="5934075" h="609600">
                <a:moveTo>
                  <a:pt x="38100" y="0"/>
                </a:moveTo>
                <a:lnTo>
                  <a:pt x="5857875" y="0"/>
                </a:lnTo>
                <a:cubicBezTo>
                  <a:pt x="5899931" y="0"/>
                  <a:pt x="5934075" y="34144"/>
                  <a:pt x="5934075" y="76200"/>
                </a:cubicBezTo>
                <a:lnTo>
                  <a:pt x="5934075" y="533400"/>
                </a:lnTo>
                <a:cubicBezTo>
                  <a:pt x="5934075" y="575456"/>
                  <a:pt x="5899931" y="609600"/>
                  <a:pt x="5857875" y="609600"/>
                </a:cubicBez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23875" y="1533525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3810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9125" y="1609725"/>
            <a:ext cx="5838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Step 1: 3-Way Handshake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1876425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 must be established before any data transfer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3875" y="2219325"/>
            <a:ext cx="5934075" cy="876300"/>
          </a:xfrm>
          <a:custGeom>
            <a:avLst/>
            <a:gdLst/>
            <a:ahLst/>
            <a:cxnLst/>
            <a:rect l="l" t="t" r="r" b="b"/>
            <a:pathLst>
              <a:path w="5934075" h="876300">
                <a:moveTo>
                  <a:pt x="38100" y="0"/>
                </a:moveTo>
                <a:lnTo>
                  <a:pt x="5857872" y="0"/>
                </a:lnTo>
                <a:cubicBezTo>
                  <a:pt x="5899958" y="0"/>
                  <a:pt x="5934075" y="34117"/>
                  <a:pt x="5934075" y="76203"/>
                </a:cubicBezTo>
                <a:lnTo>
                  <a:pt x="5934075" y="800097"/>
                </a:lnTo>
                <a:cubicBezTo>
                  <a:pt x="5934075" y="842183"/>
                  <a:pt x="5899958" y="876300"/>
                  <a:pt x="5857872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23875" y="22193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9125" y="2295525"/>
            <a:ext cx="5838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Step 2: Creating Segments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9125" y="2562225"/>
            <a:ext cx="2914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File Size:</a:t>
            </a: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3,145,728 bytes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07080" y="2486025"/>
            <a:ext cx="314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MSS (Maximum Segment Size):</a:t>
            </a: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1,460 bytes/segment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9125" y="2828925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Segments:</a:t>
            </a: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3,145,728 ÷ 1,460 ≈ 2,155 segments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5763" y="3338513"/>
            <a:ext cx="6191250" cy="3324225"/>
          </a:xfrm>
          <a:custGeom>
            <a:avLst/>
            <a:gdLst/>
            <a:ahLst/>
            <a:cxnLst/>
            <a:rect l="l" t="t" r="r" b="b"/>
            <a:pathLst>
              <a:path w="6191250" h="3324225">
                <a:moveTo>
                  <a:pt x="114287" y="0"/>
                </a:moveTo>
                <a:lnTo>
                  <a:pt x="6076963" y="0"/>
                </a:lnTo>
                <a:cubicBezTo>
                  <a:pt x="6140082" y="0"/>
                  <a:pt x="6191250" y="51168"/>
                  <a:pt x="6191250" y="114287"/>
                </a:cubicBezTo>
                <a:lnTo>
                  <a:pt x="6191250" y="3209938"/>
                </a:lnTo>
                <a:cubicBezTo>
                  <a:pt x="6191250" y="3273057"/>
                  <a:pt x="6140082" y="3324225"/>
                  <a:pt x="6076963" y="3324225"/>
                </a:cubicBezTo>
                <a:lnTo>
                  <a:pt x="114287" y="3324225"/>
                </a:lnTo>
                <a:cubicBezTo>
                  <a:pt x="51210" y="3324225"/>
                  <a:pt x="0" y="3273015"/>
                  <a:pt x="0" y="3209938"/>
                </a:cubicBezTo>
                <a:lnTo>
                  <a:pt x="0" y="114287"/>
                </a:lnTo>
                <a:cubicBezTo>
                  <a:pt x="0" y="51210"/>
                  <a:pt x="51210" y="0"/>
                  <a:pt x="114287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4825" y="3457575"/>
            <a:ext cx="6038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 Transfer Process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4825" y="3800475"/>
            <a:ext cx="5953125" cy="1219200"/>
          </a:xfrm>
          <a:custGeom>
            <a:avLst/>
            <a:gdLst/>
            <a:ahLst/>
            <a:cxnLst/>
            <a:rect l="l" t="t" r="r" b="b"/>
            <a:pathLst>
              <a:path w="5953125" h="1219200">
                <a:moveTo>
                  <a:pt x="76200" y="0"/>
                </a:moveTo>
                <a:lnTo>
                  <a:pt x="5876925" y="0"/>
                </a:lnTo>
                <a:cubicBezTo>
                  <a:pt x="5918981" y="0"/>
                  <a:pt x="5953125" y="34144"/>
                  <a:pt x="5953125" y="76200"/>
                </a:cubicBezTo>
                <a:lnTo>
                  <a:pt x="5953125" y="1143000"/>
                </a:lnTo>
                <a:cubicBezTo>
                  <a:pt x="5953125" y="1185056"/>
                  <a:pt x="5918981" y="1219200"/>
                  <a:pt x="5876925" y="1219200"/>
                </a:cubicBezTo>
                <a:lnTo>
                  <a:pt x="76200" y="1219200"/>
                </a:lnTo>
                <a:cubicBezTo>
                  <a:pt x="34144" y="1219200"/>
                  <a:pt x="0" y="1185056"/>
                  <a:pt x="0" y="11430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460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1025" y="3876675"/>
            <a:ext cx="5876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 First Segment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81025" y="4143375"/>
            <a:ext cx="5800725" cy="571500"/>
          </a:xfrm>
          <a:custGeom>
            <a:avLst/>
            <a:gdLst/>
            <a:ahLst/>
            <a:cxnLst/>
            <a:rect l="l" t="t" r="r" b="b"/>
            <a:pathLst>
              <a:path w="5800725" h="571500">
                <a:moveTo>
                  <a:pt x="38102" y="0"/>
                </a:moveTo>
                <a:lnTo>
                  <a:pt x="5762623" y="0"/>
                </a:lnTo>
                <a:cubicBezTo>
                  <a:pt x="5783666" y="0"/>
                  <a:pt x="5800725" y="17059"/>
                  <a:pt x="5800725" y="38102"/>
                </a:cubicBezTo>
                <a:lnTo>
                  <a:pt x="5800725" y="533398"/>
                </a:lnTo>
                <a:cubicBezTo>
                  <a:pt x="5800725" y="554441"/>
                  <a:pt x="5783666" y="571500"/>
                  <a:pt x="5762623" y="571500"/>
                </a:cubicBezTo>
                <a:lnTo>
                  <a:pt x="38102" y="571500"/>
                </a:lnTo>
                <a:cubicBezTo>
                  <a:pt x="17059" y="571500"/>
                  <a:pt x="0" y="554441"/>
                  <a:pt x="0" y="533398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3888" y="4219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055465" y="4219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 No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87043" y="4219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 No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918621" y="4219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Payload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3888" y="44481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055465" y="44481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487043" y="44481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918621" y="44481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1,460B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81025" y="4752975"/>
            <a:ext cx="586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 </a:t>
            </a:r>
            <a:r>
              <a:rPr lang="en-US" sz="10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acknowledges: Ack </a:t>
            </a: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= 2461 (1001 + 1460) = </a:t>
            </a:r>
            <a:r>
              <a:rPr lang="en-US" sz="10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Sender</a:t>
            </a: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0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 No. + MSS(Payload) = Seq No. of 2</a:t>
            </a:r>
            <a:r>
              <a:rPr lang="en-US" sz="1050" b="1" baseline="3000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nd </a:t>
            </a:r>
            <a:r>
              <a:rPr lang="en-US" sz="10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or. Next Segment </a:t>
            </a:r>
            <a:endParaRPr lang="en-US" sz="1600" b="1" dirty="0"/>
          </a:p>
        </p:txBody>
      </p:sp>
      <p:sp>
        <p:nvSpPr>
          <p:cNvPr id="30" name="Shape 28"/>
          <p:cNvSpPr/>
          <p:nvPr/>
        </p:nvSpPr>
        <p:spPr>
          <a:xfrm>
            <a:off x="504825" y="5095875"/>
            <a:ext cx="5953125" cy="1219200"/>
          </a:xfrm>
          <a:custGeom>
            <a:avLst/>
            <a:gdLst/>
            <a:ahLst/>
            <a:cxnLst/>
            <a:rect l="l" t="t" r="r" b="b"/>
            <a:pathLst>
              <a:path w="5953125" h="1219200">
                <a:moveTo>
                  <a:pt x="76200" y="0"/>
                </a:moveTo>
                <a:lnTo>
                  <a:pt x="5876925" y="0"/>
                </a:lnTo>
                <a:cubicBezTo>
                  <a:pt x="5918981" y="0"/>
                  <a:pt x="5953125" y="34144"/>
                  <a:pt x="5953125" y="76200"/>
                </a:cubicBezTo>
                <a:lnTo>
                  <a:pt x="5953125" y="1143000"/>
                </a:lnTo>
                <a:cubicBezTo>
                  <a:pt x="5953125" y="1185056"/>
                  <a:pt x="5918981" y="1219200"/>
                  <a:pt x="5876925" y="1219200"/>
                </a:cubicBezTo>
                <a:lnTo>
                  <a:pt x="76200" y="1219200"/>
                </a:lnTo>
                <a:cubicBezTo>
                  <a:pt x="34144" y="1219200"/>
                  <a:pt x="0" y="1185056"/>
                  <a:pt x="0" y="11430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9C8C7A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81025" y="5172075"/>
            <a:ext cx="5876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 Second Segment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81025" y="5438775"/>
            <a:ext cx="5800725" cy="571500"/>
          </a:xfrm>
          <a:custGeom>
            <a:avLst/>
            <a:gdLst/>
            <a:ahLst/>
            <a:cxnLst/>
            <a:rect l="l" t="t" r="r" b="b"/>
            <a:pathLst>
              <a:path w="5800725" h="571500">
                <a:moveTo>
                  <a:pt x="38102" y="0"/>
                </a:moveTo>
                <a:lnTo>
                  <a:pt x="5762623" y="0"/>
                </a:lnTo>
                <a:cubicBezTo>
                  <a:pt x="5783666" y="0"/>
                  <a:pt x="5800725" y="17059"/>
                  <a:pt x="5800725" y="38102"/>
                </a:cubicBezTo>
                <a:lnTo>
                  <a:pt x="5800725" y="533398"/>
                </a:lnTo>
                <a:cubicBezTo>
                  <a:pt x="5800725" y="554441"/>
                  <a:pt x="5783666" y="571500"/>
                  <a:pt x="5762623" y="571500"/>
                </a:cubicBezTo>
                <a:lnTo>
                  <a:pt x="38102" y="571500"/>
                </a:lnTo>
                <a:cubicBezTo>
                  <a:pt x="17059" y="571500"/>
                  <a:pt x="0" y="554441"/>
                  <a:pt x="0" y="533398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3888" y="55149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Sender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2055465" y="55149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Seq No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487043" y="55149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Ack No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918621" y="55149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Payload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3888" y="5743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2055465" y="5743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2461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487043" y="5743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5001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918621" y="574357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1,460B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81025" y="6048375"/>
            <a:ext cx="586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 </a:t>
            </a:r>
            <a:r>
              <a:rPr lang="en-US" sz="105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acknowledges: Ack </a:t>
            </a: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= 3921 (2461 + 1460</a:t>
            </a:r>
            <a:r>
              <a:rPr lang="en-US" sz="105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en-US" sz="1600" b="1" dirty="0"/>
          </a:p>
        </p:txBody>
      </p:sp>
      <p:sp>
        <p:nvSpPr>
          <p:cNvPr id="42" name="Text 40"/>
          <p:cNvSpPr/>
          <p:nvPr/>
        </p:nvSpPr>
        <p:spPr>
          <a:xfrm>
            <a:off x="504825" y="6353175"/>
            <a:ext cx="6019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Process repeats until all 3MB is transferred...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740872" y="1071563"/>
            <a:ext cx="5067300" cy="3057525"/>
          </a:xfrm>
          <a:custGeom>
            <a:avLst/>
            <a:gdLst/>
            <a:ahLst/>
            <a:cxnLst/>
            <a:rect l="l" t="t" r="r" b="b"/>
            <a:pathLst>
              <a:path w="5067300" h="3057525">
                <a:moveTo>
                  <a:pt x="114290" y="0"/>
                </a:moveTo>
                <a:lnTo>
                  <a:pt x="4953010" y="0"/>
                </a:lnTo>
                <a:cubicBezTo>
                  <a:pt x="5016130" y="0"/>
                  <a:pt x="5067300" y="51170"/>
                  <a:pt x="5067300" y="114290"/>
                </a:cubicBezTo>
                <a:lnTo>
                  <a:pt x="5067300" y="2943235"/>
                </a:lnTo>
                <a:cubicBezTo>
                  <a:pt x="5067300" y="3006355"/>
                  <a:pt x="5016130" y="3057525"/>
                  <a:pt x="4953010" y="3057525"/>
                </a:cubicBezTo>
                <a:lnTo>
                  <a:pt x="114290" y="3057525"/>
                </a:lnTo>
                <a:cubicBezTo>
                  <a:pt x="51170" y="3057525"/>
                  <a:pt x="0" y="3006355"/>
                  <a:pt x="0" y="2943235"/>
                </a:cubicBezTo>
                <a:lnTo>
                  <a:pt x="0" y="114290"/>
                </a:lnTo>
                <a:cubicBezTo>
                  <a:pt x="0" y="51212"/>
                  <a:pt x="51212" y="0"/>
                  <a:pt x="114290" y="0"/>
                </a:cubicBezTo>
                <a:close/>
              </a:path>
            </a:pathLst>
          </a:custGeom>
          <a:gradFill flip="none" rotWithShape="1">
            <a:gsLst>
              <a:gs pos="0">
                <a:srgbClr val="BD6B4F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859935" y="1190625"/>
            <a:ext cx="4914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BD6B4F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Retransmission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864697" y="1538288"/>
            <a:ext cx="4819650" cy="1076325"/>
          </a:xfrm>
          <a:custGeom>
            <a:avLst/>
            <a:gdLst/>
            <a:ahLst/>
            <a:cxnLst/>
            <a:rect l="l" t="t" r="r" b="b"/>
            <a:pathLst>
              <a:path w="4819650" h="1076325">
                <a:moveTo>
                  <a:pt x="76204" y="0"/>
                </a:moveTo>
                <a:lnTo>
                  <a:pt x="4743446" y="0"/>
                </a:lnTo>
                <a:cubicBezTo>
                  <a:pt x="4785532" y="0"/>
                  <a:pt x="4819650" y="34118"/>
                  <a:pt x="4819650" y="76204"/>
                </a:cubicBezTo>
                <a:lnTo>
                  <a:pt x="4819650" y="1000121"/>
                </a:lnTo>
                <a:cubicBezTo>
                  <a:pt x="4819650" y="1042207"/>
                  <a:pt x="4785532" y="1076325"/>
                  <a:pt x="4743446" y="1076325"/>
                </a:cubicBezTo>
                <a:lnTo>
                  <a:pt x="76204" y="1076325"/>
                </a:lnTo>
                <a:cubicBezTo>
                  <a:pt x="34118" y="1076325"/>
                  <a:pt x="0" y="1042207"/>
                  <a:pt x="0" y="100012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BD6B4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945660" y="1619250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When Does Retransmission Occur?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64710" y="19240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495" y="43495"/>
                </a:moveTo>
                <a:cubicBezTo>
                  <a:pt x="45943" y="41047"/>
                  <a:pt x="49902" y="41047"/>
                  <a:pt x="52324" y="43495"/>
                </a:cubicBezTo>
                <a:lnTo>
                  <a:pt x="66649" y="57820"/>
                </a:lnTo>
                <a:lnTo>
                  <a:pt x="80974" y="43495"/>
                </a:lnTo>
                <a:cubicBezTo>
                  <a:pt x="83422" y="41047"/>
                  <a:pt x="87381" y="41047"/>
                  <a:pt x="89803" y="43495"/>
                </a:cubicBezTo>
                <a:cubicBezTo>
                  <a:pt x="92225" y="45943"/>
                  <a:pt x="92251" y="49902"/>
                  <a:pt x="89803" y="52324"/>
                </a:cubicBezTo>
                <a:lnTo>
                  <a:pt x="75478" y="66649"/>
                </a:lnTo>
                <a:lnTo>
                  <a:pt x="89803" y="80974"/>
                </a:lnTo>
                <a:cubicBezTo>
                  <a:pt x="92251" y="83422"/>
                  <a:pt x="92251" y="87381"/>
                  <a:pt x="89803" y="89803"/>
                </a:cubicBezTo>
                <a:cubicBezTo>
                  <a:pt x="87355" y="92225"/>
                  <a:pt x="83396" y="92251"/>
                  <a:pt x="80974" y="89803"/>
                </a:cubicBezTo>
                <a:lnTo>
                  <a:pt x="66649" y="75478"/>
                </a:lnTo>
                <a:lnTo>
                  <a:pt x="52324" y="89803"/>
                </a:lnTo>
                <a:cubicBezTo>
                  <a:pt x="49876" y="92251"/>
                  <a:pt x="45917" y="92251"/>
                  <a:pt x="43495" y="89803"/>
                </a:cubicBezTo>
                <a:cubicBezTo>
                  <a:pt x="41073" y="87355"/>
                  <a:pt x="41047" y="83396"/>
                  <a:pt x="43495" y="80974"/>
                </a:cubicBezTo>
                <a:lnTo>
                  <a:pt x="57820" y="66649"/>
                </a:lnTo>
                <a:lnTo>
                  <a:pt x="43495" y="52324"/>
                </a:lnTo>
                <a:cubicBezTo>
                  <a:pt x="41047" y="49876"/>
                  <a:pt x="41047" y="45917"/>
                  <a:pt x="43495" y="43495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188547" y="188595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is lost in transit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964710" y="21526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495" y="43495"/>
                </a:moveTo>
                <a:cubicBezTo>
                  <a:pt x="45943" y="41047"/>
                  <a:pt x="49902" y="41047"/>
                  <a:pt x="52324" y="43495"/>
                </a:cubicBezTo>
                <a:lnTo>
                  <a:pt x="66649" y="57820"/>
                </a:lnTo>
                <a:lnTo>
                  <a:pt x="80974" y="43495"/>
                </a:lnTo>
                <a:cubicBezTo>
                  <a:pt x="83422" y="41047"/>
                  <a:pt x="87381" y="41047"/>
                  <a:pt x="89803" y="43495"/>
                </a:cubicBezTo>
                <a:cubicBezTo>
                  <a:pt x="92225" y="45943"/>
                  <a:pt x="92251" y="49902"/>
                  <a:pt x="89803" y="52324"/>
                </a:cubicBezTo>
                <a:lnTo>
                  <a:pt x="75478" y="66649"/>
                </a:lnTo>
                <a:lnTo>
                  <a:pt x="89803" y="80974"/>
                </a:lnTo>
                <a:cubicBezTo>
                  <a:pt x="92251" y="83422"/>
                  <a:pt x="92251" y="87381"/>
                  <a:pt x="89803" y="89803"/>
                </a:cubicBezTo>
                <a:cubicBezTo>
                  <a:pt x="87355" y="92225"/>
                  <a:pt x="83396" y="92251"/>
                  <a:pt x="80974" y="89803"/>
                </a:cubicBezTo>
                <a:lnTo>
                  <a:pt x="66649" y="75478"/>
                </a:lnTo>
                <a:lnTo>
                  <a:pt x="52324" y="89803"/>
                </a:lnTo>
                <a:cubicBezTo>
                  <a:pt x="49876" y="92251"/>
                  <a:pt x="45917" y="92251"/>
                  <a:pt x="43495" y="89803"/>
                </a:cubicBezTo>
                <a:cubicBezTo>
                  <a:pt x="41073" y="87355"/>
                  <a:pt x="41047" y="83396"/>
                  <a:pt x="43495" y="80974"/>
                </a:cubicBezTo>
                <a:lnTo>
                  <a:pt x="57820" y="66649"/>
                </a:lnTo>
                <a:lnTo>
                  <a:pt x="43495" y="52324"/>
                </a:lnTo>
                <a:cubicBezTo>
                  <a:pt x="41047" y="49876"/>
                  <a:pt x="41047" y="45917"/>
                  <a:pt x="43495" y="43495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188547" y="2114550"/>
            <a:ext cx="1571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Checksum fails at receiver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964710" y="23812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495" y="43495"/>
                </a:moveTo>
                <a:cubicBezTo>
                  <a:pt x="45943" y="41047"/>
                  <a:pt x="49902" y="41047"/>
                  <a:pt x="52324" y="43495"/>
                </a:cubicBezTo>
                <a:lnTo>
                  <a:pt x="66649" y="57820"/>
                </a:lnTo>
                <a:lnTo>
                  <a:pt x="80974" y="43495"/>
                </a:lnTo>
                <a:cubicBezTo>
                  <a:pt x="83422" y="41047"/>
                  <a:pt x="87381" y="41047"/>
                  <a:pt x="89803" y="43495"/>
                </a:cubicBezTo>
                <a:cubicBezTo>
                  <a:pt x="92225" y="45943"/>
                  <a:pt x="92251" y="49902"/>
                  <a:pt x="89803" y="52324"/>
                </a:cubicBezTo>
                <a:lnTo>
                  <a:pt x="75478" y="66649"/>
                </a:lnTo>
                <a:lnTo>
                  <a:pt x="89803" y="80974"/>
                </a:lnTo>
                <a:cubicBezTo>
                  <a:pt x="92251" y="83422"/>
                  <a:pt x="92251" y="87381"/>
                  <a:pt x="89803" y="89803"/>
                </a:cubicBezTo>
                <a:cubicBezTo>
                  <a:pt x="87355" y="92225"/>
                  <a:pt x="83396" y="92251"/>
                  <a:pt x="80974" y="89803"/>
                </a:cubicBezTo>
                <a:lnTo>
                  <a:pt x="66649" y="75478"/>
                </a:lnTo>
                <a:lnTo>
                  <a:pt x="52324" y="89803"/>
                </a:lnTo>
                <a:cubicBezTo>
                  <a:pt x="49876" y="92251"/>
                  <a:pt x="45917" y="92251"/>
                  <a:pt x="43495" y="89803"/>
                </a:cubicBezTo>
                <a:cubicBezTo>
                  <a:pt x="41073" y="87355"/>
                  <a:pt x="41047" y="83396"/>
                  <a:pt x="43495" y="80974"/>
                </a:cubicBezTo>
                <a:lnTo>
                  <a:pt x="57820" y="66649"/>
                </a:lnTo>
                <a:lnTo>
                  <a:pt x="43495" y="52324"/>
                </a:lnTo>
                <a:cubicBezTo>
                  <a:pt x="41047" y="49876"/>
                  <a:pt x="41047" y="45917"/>
                  <a:pt x="43495" y="43495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188547" y="2343150"/>
            <a:ext cx="2162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acknowledgment (ACK) received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864697" y="2700338"/>
            <a:ext cx="4819650" cy="1304925"/>
          </a:xfrm>
          <a:custGeom>
            <a:avLst/>
            <a:gdLst/>
            <a:ahLst/>
            <a:cxnLst/>
            <a:rect l="l" t="t" r="r" b="b"/>
            <a:pathLst>
              <a:path w="4819650" h="1304925">
                <a:moveTo>
                  <a:pt x="76195" y="0"/>
                </a:moveTo>
                <a:lnTo>
                  <a:pt x="4743455" y="0"/>
                </a:lnTo>
                <a:cubicBezTo>
                  <a:pt x="4785508" y="0"/>
                  <a:pt x="4819650" y="34142"/>
                  <a:pt x="4819650" y="76195"/>
                </a:cubicBezTo>
                <a:lnTo>
                  <a:pt x="4819650" y="1228730"/>
                </a:lnTo>
                <a:cubicBezTo>
                  <a:pt x="4819650" y="1270783"/>
                  <a:pt x="4785508" y="1304925"/>
                  <a:pt x="4743455" y="1304925"/>
                </a:cubicBezTo>
                <a:lnTo>
                  <a:pt x="76195" y="1304925"/>
                </a:lnTo>
                <a:cubicBezTo>
                  <a:pt x="34142" y="1304925"/>
                  <a:pt x="0" y="1270783"/>
                  <a:pt x="0" y="1228730"/>
                </a:cubicBezTo>
                <a:lnTo>
                  <a:pt x="0" y="76195"/>
                </a:lnTo>
                <a:cubicBezTo>
                  <a:pt x="0" y="34142"/>
                  <a:pt x="34142" y="0"/>
                  <a:pt x="76195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BD6B4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945660" y="2781300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Retransmission Timeout (RTO)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945660" y="3048000"/>
            <a:ext cx="4724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Timeout before retrying: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945660" y="3276600"/>
            <a:ext cx="409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Linux: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808940" y="3276600"/>
            <a:ext cx="85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~200ms to 3s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945660" y="3505200"/>
            <a:ext cx="666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Windows: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10805368" y="3505200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~300ms to 3s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945660" y="373380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RFC 6298: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1069836" y="3733800"/>
            <a:ext cx="600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1s default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740872" y="4252913"/>
            <a:ext cx="5067300" cy="1685925"/>
          </a:xfrm>
          <a:custGeom>
            <a:avLst/>
            <a:gdLst/>
            <a:ahLst/>
            <a:cxnLst/>
            <a:rect l="l" t="t" r="r" b="b"/>
            <a:pathLst>
              <a:path w="5067300" h="1685925">
                <a:moveTo>
                  <a:pt x="114306" y="0"/>
                </a:moveTo>
                <a:lnTo>
                  <a:pt x="4952994" y="0"/>
                </a:lnTo>
                <a:cubicBezTo>
                  <a:pt x="5016124" y="0"/>
                  <a:pt x="5067300" y="51176"/>
                  <a:pt x="5067300" y="114306"/>
                </a:cubicBezTo>
                <a:lnTo>
                  <a:pt x="5067300" y="1571619"/>
                </a:lnTo>
                <a:cubicBezTo>
                  <a:pt x="5067300" y="1634749"/>
                  <a:pt x="5016124" y="1685925"/>
                  <a:pt x="4952994" y="1685925"/>
                </a:cubicBezTo>
                <a:lnTo>
                  <a:pt x="114306" y="1685925"/>
                </a:lnTo>
                <a:cubicBezTo>
                  <a:pt x="51176" y="1685925"/>
                  <a:pt x="0" y="1634749"/>
                  <a:pt x="0" y="1571619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859935" y="4371975"/>
            <a:ext cx="4914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9C8C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Exponential Backoff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859935" y="4714875"/>
            <a:ext cx="4895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After each failed retry, timeout doubles: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7950547" y="4981575"/>
            <a:ext cx="266700" cy="304800"/>
          </a:xfrm>
          <a:custGeom>
            <a:avLst/>
            <a:gdLst/>
            <a:ahLst/>
            <a:cxnLst/>
            <a:rect l="l" t="t" r="r" b="b"/>
            <a:pathLst>
              <a:path w="266700" h="304800">
                <a:moveTo>
                  <a:pt x="38101" y="0"/>
                </a:moveTo>
                <a:lnTo>
                  <a:pt x="228599" y="0"/>
                </a:lnTo>
                <a:cubicBezTo>
                  <a:pt x="249642" y="0"/>
                  <a:pt x="266700" y="17058"/>
                  <a:pt x="266700" y="38101"/>
                </a:cubicBezTo>
                <a:lnTo>
                  <a:pt x="266700" y="266699"/>
                </a:lnTo>
                <a:cubicBezTo>
                  <a:pt x="266700" y="287742"/>
                  <a:pt x="249642" y="304800"/>
                  <a:pt x="228599" y="304800"/>
                </a:cubicBezTo>
                <a:lnTo>
                  <a:pt x="38101" y="304800"/>
                </a:lnTo>
                <a:cubicBezTo>
                  <a:pt x="17058" y="304800"/>
                  <a:pt x="0" y="287742"/>
                  <a:pt x="0" y="2666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7950547" y="4981575"/>
            <a:ext cx="342900" cy="3048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313837" y="5057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561487" y="4981575"/>
            <a:ext cx="295275" cy="304800"/>
          </a:xfrm>
          <a:custGeom>
            <a:avLst/>
            <a:gdLst/>
            <a:ahLst/>
            <a:cxnLst/>
            <a:rect l="l" t="t" r="r" b="b"/>
            <a:pathLst>
              <a:path w="295275" h="304800">
                <a:moveTo>
                  <a:pt x="38099" y="0"/>
                </a:moveTo>
                <a:lnTo>
                  <a:pt x="257176" y="0"/>
                </a:lnTo>
                <a:cubicBezTo>
                  <a:pt x="278217" y="0"/>
                  <a:pt x="295275" y="17058"/>
                  <a:pt x="295275" y="38099"/>
                </a:cubicBezTo>
                <a:lnTo>
                  <a:pt x="295275" y="266701"/>
                </a:lnTo>
                <a:cubicBezTo>
                  <a:pt x="295275" y="287742"/>
                  <a:pt x="278217" y="304800"/>
                  <a:pt x="257176" y="304800"/>
                </a:cubicBezTo>
                <a:lnTo>
                  <a:pt x="38099" y="304800"/>
                </a:lnTo>
                <a:cubicBezTo>
                  <a:pt x="17058" y="304800"/>
                  <a:pt x="0" y="287742"/>
                  <a:pt x="0" y="266701"/>
                </a:cubicBezTo>
                <a:lnTo>
                  <a:pt x="0" y="38099"/>
                </a:lnTo>
                <a:cubicBezTo>
                  <a:pt x="0" y="17072"/>
                  <a:pt x="17072" y="0"/>
                  <a:pt x="38099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8561487" y="4981575"/>
            <a:ext cx="371475" cy="3048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8953946" y="5057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201596" y="4981575"/>
            <a:ext cx="295275" cy="304800"/>
          </a:xfrm>
          <a:custGeom>
            <a:avLst/>
            <a:gdLst/>
            <a:ahLst/>
            <a:cxnLst/>
            <a:rect l="l" t="t" r="r" b="b"/>
            <a:pathLst>
              <a:path w="295275" h="304800">
                <a:moveTo>
                  <a:pt x="38099" y="0"/>
                </a:moveTo>
                <a:lnTo>
                  <a:pt x="257176" y="0"/>
                </a:lnTo>
                <a:cubicBezTo>
                  <a:pt x="278217" y="0"/>
                  <a:pt x="295275" y="17058"/>
                  <a:pt x="295275" y="38099"/>
                </a:cubicBezTo>
                <a:lnTo>
                  <a:pt x="295275" y="266701"/>
                </a:lnTo>
                <a:cubicBezTo>
                  <a:pt x="295275" y="287742"/>
                  <a:pt x="278217" y="304800"/>
                  <a:pt x="257176" y="304800"/>
                </a:cubicBezTo>
                <a:lnTo>
                  <a:pt x="38099" y="304800"/>
                </a:lnTo>
                <a:cubicBezTo>
                  <a:pt x="17058" y="304800"/>
                  <a:pt x="0" y="287742"/>
                  <a:pt x="0" y="266701"/>
                </a:cubicBezTo>
                <a:lnTo>
                  <a:pt x="0" y="38099"/>
                </a:lnTo>
                <a:cubicBezTo>
                  <a:pt x="0" y="17072"/>
                  <a:pt x="17072" y="0"/>
                  <a:pt x="38099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9201596" y="4981575"/>
            <a:ext cx="371475" cy="3048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4s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593907" y="5057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841557" y="498157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0"/>
                </a:moveTo>
                <a:lnTo>
                  <a:pt x="266700" y="0"/>
                </a:lnTo>
                <a:cubicBezTo>
                  <a:pt x="287728" y="0"/>
                  <a:pt x="304800" y="17072"/>
                  <a:pt x="304800" y="38100"/>
                </a:cubicBezTo>
                <a:lnTo>
                  <a:pt x="304800" y="266700"/>
                </a:lnTo>
                <a:cubicBezTo>
                  <a:pt x="304800" y="287728"/>
                  <a:pt x="287728" y="304800"/>
                  <a:pt x="26670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9841557" y="4981575"/>
            <a:ext cx="381000" cy="3048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8s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10241459" y="5057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10489109" y="5019675"/>
            <a:ext cx="180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5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...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6859935" y="5362575"/>
            <a:ext cx="1562100" cy="457200"/>
          </a:xfrm>
          <a:custGeom>
            <a:avLst/>
            <a:gdLst/>
            <a:ahLst/>
            <a:cxnLst/>
            <a:rect l="l" t="t" r="r" b="b"/>
            <a:pathLst>
              <a:path w="1562100" h="457200">
                <a:moveTo>
                  <a:pt x="38098" y="0"/>
                </a:moveTo>
                <a:lnTo>
                  <a:pt x="1524002" y="0"/>
                </a:lnTo>
                <a:cubicBezTo>
                  <a:pt x="1545043" y="0"/>
                  <a:pt x="1562100" y="17057"/>
                  <a:pt x="1562100" y="38098"/>
                </a:cubicBezTo>
                <a:lnTo>
                  <a:pt x="1562100" y="419102"/>
                </a:lnTo>
                <a:cubicBezTo>
                  <a:pt x="1562100" y="440143"/>
                  <a:pt x="1545043" y="457200"/>
                  <a:pt x="15240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6864697" y="540067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Linux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864697" y="559117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15 retries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8494365" y="5362575"/>
            <a:ext cx="1562100" cy="457200"/>
          </a:xfrm>
          <a:custGeom>
            <a:avLst/>
            <a:gdLst/>
            <a:ahLst/>
            <a:cxnLst/>
            <a:rect l="l" t="t" r="r" b="b"/>
            <a:pathLst>
              <a:path w="1562100" h="457200">
                <a:moveTo>
                  <a:pt x="38098" y="0"/>
                </a:moveTo>
                <a:lnTo>
                  <a:pt x="1524002" y="0"/>
                </a:lnTo>
                <a:cubicBezTo>
                  <a:pt x="1545043" y="0"/>
                  <a:pt x="1562100" y="17057"/>
                  <a:pt x="1562100" y="38098"/>
                </a:cubicBezTo>
                <a:lnTo>
                  <a:pt x="1562100" y="419102"/>
                </a:lnTo>
                <a:cubicBezTo>
                  <a:pt x="1562100" y="440143"/>
                  <a:pt x="1545043" y="457200"/>
                  <a:pt x="15240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8499128" y="540067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Windows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8499128" y="559117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retries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10128796" y="5362575"/>
            <a:ext cx="1562100" cy="457200"/>
          </a:xfrm>
          <a:custGeom>
            <a:avLst/>
            <a:gdLst/>
            <a:ahLst/>
            <a:cxnLst/>
            <a:rect l="l" t="t" r="r" b="b"/>
            <a:pathLst>
              <a:path w="1562100" h="457200">
                <a:moveTo>
                  <a:pt x="38098" y="0"/>
                </a:moveTo>
                <a:lnTo>
                  <a:pt x="1524002" y="0"/>
                </a:lnTo>
                <a:cubicBezTo>
                  <a:pt x="1545043" y="0"/>
                  <a:pt x="1562100" y="17057"/>
                  <a:pt x="1562100" y="38098"/>
                </a:cubicBezTo>
                <a:lnTo>
                  <a:pt x="1562100" y="419102"/>
                </a:lnTo>
                <a:cubicBezTo>
                  <a:pt x="1562100" y="440143"/>
                  <a:pt x="1545043" y="457200"/>
                  <a:pt x="15240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10133558" y="540067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MacOS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10133558" y="559117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~15 retries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601c5e796438e4cf8cd32262291b6d061d11849d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4643" r="14643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5EFE4"/>
              </a:gs>
              <a:gs pos="50000">
                <a:srgbClr val="F5EFE4">
                  <a:alpha val="95000"/>
                </a:srgbClr>
              </a:gs>
              <a:gs pos="100000">
                <a:srgbClr val="F5EFE4">
                  <a:alpha val="7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657350"/>
            <a:ext cx="1400175" cy="390525"/>
          </a:xfrm>
          <a:custGeom>
            <a:avLst/>
            <a:gdLst/>
            <a:ahLst/>
            <a:cxnLst/>
            <a:rect l="l" t="t" r="r" b="b"/>
            <a:pathLst>
              <a:path w="1400175" h="390525">
                <a:moveTo>
                  <a:pt x="195263" y="0"/>
                </a:moveTo>
                <a:lnTo>
                  <a:pt x="1204913" y="0"/>
                </a:lnTo>
                <a:cubicBezTo>
                  <a:pt x="1312681" y="0"/>
                  <a:pt x="1400175" y="87494"/>
                  <a:pt x="1400175" y="195263"/>
                </a:cubicBezTo>
                <a:lnTo>
                  <a:pt x="1400175" y="195263"/>
                </a:lnTo>
                <a:cubicBezTo>
                  <a:pt x="1400175" y="303031"/>
                  <a:pt x="1312681" y="390525"/>
                  <a:pt x="1204913" y="390525"/>
                </a:cubicBezTo>
                <a:lnTo>
                  <a:pt x="195263" y="390525"/>
                </a:lnTo>
                <a:cubicBezTo>
                  <a:pt x="87494" y="390525"/>
                  <a:pt x="0" y="303031"/>
                  <a:pt x="0" y="195263"/>
                </a:cubicBezTo>
                <a:lnTo>
                  <a:pt x="0" y="195263"/>
                </a:lnTo>
                <a:cubicBezTo>
                  <a:pt x="0" y="87494"/>
                  <a:pt x="87494" y="0"/>
                  <a:pt x="19526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 w="12700">
            <a:solidFill>
              <a:srgbClr val="9C846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766888"/>
            <a:ext cx="10815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Chapter 03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281238"/>
            <a:ext cx="65722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UDP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Protocol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224338"/>
            <a:ext cx="63436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Datagram Protocol - Fast, Connectionless Communication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16719" y="49958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3425" y="4976813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Latency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810941" y="499586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35719" y="23812"/>
                </a:moveTo>
                <a:cubicBezTo>
                  <a:pt x="22585" y="23812"/>
                  <a:pt x="11906" y="34491"/>
                  <a:pt x="11906" y="47625"/>
                </a:cubicBezTo>
                <a:lnTo>
                  <a:pt x="11906" y="142875"/>
                </a:lnTo>
                <a:cubicBezTo>
                  <a:pt x="11906" y="156009"/>
                  <a:pt x="22585" y="166688"/>
                  <a:pt x="35719" y="166688"/>
                </a:cubicBezTo>
                <a:lnTo>
                  <a:pt x="130969" y="166688"/>
                </a:lnTo>
                <a:cubicBezTo>
                  <a:pt x="144103" y="166688"/>
                  <a:pt x="154781" y="156009"/>
                  <a:pt x="154781" y="142875"/>
                </a:cubicBezTo>
                <a:lnTo>
                  <a:pt x="154781" y="47625"/>
                </a:lnTo>
                <a:cubicBezTo>
                  <a:pt x="154781" y="34491"/>
                  <a:pt x="144103" y="23812"/>
                  <a:pt x="130969" y="23812"/>
                </a:cubicBezTo>
                <a:lnTo>
                  <a:pt x="35719" y="23812"/>
                </a:lnTo>
                <a:close/>
                <a:moveTo>
                  <a:pt x="172641" y="125016"/>
                </a:moveTo>
                <a:lnTo>
                  <a:pt x="199988" y="146893"/>
                </a:lnTo>
                <a:cubicBezTo>
                  <a:pt x="201550" y="148158"/>
                  <a:pt x="203485" y="148828"/>
                  <a:pt x="205494" y="148828"/>
                </a:cubicBezTo>
                <a:cubicBezTo>
                  <a:pt x="210369" y="148828"/>
                  <a:pt x="214313" y="144884"/>
                  <a:pt x="214313" y="140010"/>
                </a:cubicBezTo>
                <a:lnTo>
                  <a:pt x="214313" y="50490"/>
                </a:lnTo>
                <a:cubicBezTo>
                  <a:pt x="214313" y="45616"/>
                  <a:pt x="210369" y="41672"/>
                  <a:pt x="205494" y="41672"/>
                </a:cubicBezTo>
                <a:cubicBezTo>
                  <a:pt x="203485" y="41672"/>
                  <a:pt x="201550" y="42342"/>
                  <a:pt x="199988" y="43607"/>
                </a:cubicBezTo>
                <a:lnTo>
                  <a:pt x="172641" y="65484"/>
                </a:lnTo>
                <a:lnTo>
                  <a:pt x="172641" y="125016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151459" y="4976813"/>
            <a:ext cx="142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Streaming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10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UDP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096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UDP Characteristics &amp; Use Cases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143000"/>
            <a:ext cx="5619750" cy="1981200"/>
          </a:xfrm>
          <a:custGeom>
            <a:avLst/>
            <a:gdLst/>
            <a:ahLst/>
            <a:cxnLst/>
            <a:rect l="l" t="t" r="r" b="b"/>
            <a:pathLst>
              <a:path w="5619750" h="1981200">
                <a:moveTo>
                  <a:pt x="0" y="0"/>
                </a:moveTo>
                <a:lnTo>
                  <a:pt x="5505455" y="0"/>
                </a:lnTo>
                <a:cubicBezTo>
                  <a:pt x="5568536" y="0"/>
                  <a:pt x="5619750" y="51214"/>
                  <a:pt x="5619750" y="114295"/>
                </a:cubicBezTo>
                <a:lnTo>
                  <a:pt x="5619750" y="1866905"/>
                </a:lnTo>
                <a:cubicBezTo>
                  <a:pt x="5619750" y="1929986"/>
                  <a:pt x="5568536" y="1981200"/>
                  <a:pt x="5505455" y="1981200"/>
                </a:cubicBez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9C8460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0050" y="1143000"/>
            <a:ext cx="38100" cy="1981200"/>
          </a:xfrm>
          <a:custGeom>
            <a:avLst/>
            <a:gdLst/>
            <a:ahLst/>
            <a:cxnLst/>
            <a:rect l="l" t="t" r="r" b="b"/>
            <a:pathLst>
              <a:path w="38100" h="1981200">
                <a:moveTo>
                  <a:pt x="0" y="0"/>
                </a:moveTo>
                <a:lnTo>
                  <a:pt x="38100" y="0"/>
                </a:lnTo>
                <a:lnTo>
                  <a:pt x="38100" y="1981200"/>
                </a:lnTo>
                <a:lnTo>
                  <a:pt x="0" y="1981200"/>
                </a:lnTo>
                <a:lnTo>
                  <a:pt x="0" y="0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1500" y="1295400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What is UDP?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1500" y="1638300"/>
            <a:ext cx="5372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UDP (User Datagram Protocol)</a:t>
            </a: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Transport layer protocol that breaks data into segments for transmission.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0550" y="22574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4388" y="220980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Also breaks data into segments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0550" y="2524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388" y="2476500"/>
            <a:ext cx="1962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Uses checksums for integrity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0550" y="27908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4388" y="2743200"/>
            <a:ext cx="2219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Assigns source/destination ports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5763" y="3243263"/>
            <a:ext cx="5629275" cy="3448050"/>
          </a:xfrm>
          <a:custGeom>
            <a:avLst/>
            <a:gdLst/>
            <a:ahLst/>
            <a:cxnLst/>
            <a:rect l="l" t="t" r="r" b="b"/>
            <a:pathLst>
              <a:path w="5629275" h="3448050">
                <a:moveTo>
                  <a:pt x="114303" y="0"/>
                </a:moveTo>
                <a:lnTo>
                  <a:pt x="5514972" y="0"/>
                </a:lnTo>
                <a:cubicBezTo>
                  <a:pt x="5578058" y="0"/>
                  <a:pt x="5629275" y="51217"/>
                  <a:pt x="5629275" y="114303"/>
                </a:cubicBezTo>
                <a:lnTo>
                  <a:pt x="5629275" y="3333747"/>
                </a:lnTo>
                <a:cubicBezTo>
                  <a:pt x="5629275" y="3396833"/>
                  <a:pt x="5578058" y="3448050"/>
                  <a:pt x="5514972" y="3448050"/>
                </a:cubicBezTo>
                <a:lnTo>
                  <a:pt x="114303" y="3448050"/>
                </a:lnTo>
                <a:cubicBezTo>
                  <a:pt x="51217" y="3448050"/>
                  <a:pt x="0" y="3396833"/>
                  <a:pt x="0" y="3333747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gradFill flip="none" rotWithShape="1">
            <a:gsLst>
              <a:gs pos="0">
                <a:srgbClr val="BD6B4F">
                  <a:alpha val="10000"/>
                </a:srgbClr>
              </a:gs>
              <a:gs pos="100000">
                <a:srgbClr val="4A3F35">
                  <a:alpha val="0"/>
                </a:srgbClr>
              </a:gs>
            </a:gsLst>
            <a:lin ang="2700000" scaled="1"/>
          </a:gra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2925" y="3400425"/>
            <a:ext cx="541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BD6B4F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Key Differences from TCP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1975" y="3781425"/>
            <a:ext cx="5295900" cy="647700"/>
          </a:xfrm>
          <a:custGeom>
            <a:avLst/>
            <a:gdLst/>
            <a:ahLst/>
            <a:cxnLst/>
            <a:rect l="l" t="t" r="r" b="b"/>
            <a:pathLst>
              <a:path w="5295900" h="647700">
                <a:moveTo>
                  <a:pt x="38100" y="0"/>
                </a:moveTo>
                <a:lnTo>
                  <a:pt x="5219698" y="0"/>
                </a:lnTo>
                <a:cubicBezTo>
                  <a:pt x="5261783" y="0"/>
                  <a:pt x="5295900" y="34117"/>
                  <a:pt x="5295900" y="76202"/>
                </a:cubicBezTo>
                <a:lnTo>
                  <a:pt x="5295900" y="571498"/>
                </a:lnTo>
                <a:cubicBezTo>
                  <a:pt x="5295900" y="613583"/>
                  <a:pt x="5261783" y="647700"/>
                  <a:pt x="5219698" y="647700"/>
                </a:cubicBezTo>
                <a:lnTo>
                  <a:pt x="38100" y="647700"/>
                </a:lnTo>
                <a:cubicBezTo>
                  <a:pt x="17072" y="647700"/>
                  <a:pt x="0" y="630628"/>
                  <a:pt x="0" y="6096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61975" y="3781425"/>
            <a:ext cx="38100" cy="647700"/>
          </a:xfrm>
          <a:custGeom>
            <a:avLst/>
            <a:gdLst/>
            <a:ahLst/>
            <a:cxnLst/>
            <a:rect l="l" t="t" r="r" b="b"/>
            <a:pathLst>
              <a:path w="38100" h="647700">
                <a:moveTo>
                  <a:pt x="38100" y="0"/>
                </a:moveTo>
                <a:lnTo>
                  <a:pt x="38100" y="0"/>
                </a:lnTo>
                <a:lnTo>
                  <a:pt x="38100" y="647700"/>
                </a:lnTo>
                <a:lnTo>
                  <a:pt x="38100" y="647700"/>
                </a:lnTo>
                <a:cubicBezTo>
                  <a:pt x="17072" y="647700"/>
                  <a:pt x="0" y="630628"/>
                  <a:pt x="0" y="6096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9138" y="39338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55922" y="55922"/>
                </a:moveTo>
                <a:cubicBezTo>
                  <a:pt x="59070" y="52774"/>
                  <a:pt x="64160" y="52774"/>
                  <a:pt x="67274" y="55922"/>
                </a:cubicBezTo>
                <a:lnTo>
                  <a:pt x="85692" y="74340"/>
                </a:lnTo>
                <a:lnTo>
                  <a:pt x="104109" y="55922"/>
                </a:lnTo>
                <a:cubicBezTo>
                  <a:pt x="107257" y="52774"/>
                  <a:pt x="112347" y="52774"/>
                  <a:pt x="115461" y="55922"/>
                </a:cubicBezTo>
                <a:cubicBezTo>
                  <a:pt x="118575" y="59070"/>
                  <a:pt x="118609" y="64160"/>
                  <a:pt x="115461" y="67274"/>
                </a:cubicBezTo>
                <a:lnTo>
                  <a:pt x="97043" y="85692"/>
                </a:lnTo>
                <a:lnTo>
                  <a:pt x="115461" y="104109"/>
                </a:lnTo>
                <a:cubicBezTo>
                  <a:pt x="118609" y="107257"/>
                  <a:pt x="118609" y="112347"/>
                  <a:pt x="115461" y="115461"/>
                </a:cubicBezTo>
                <a:cubicBezTo>
                  <a:pt x="112313" y="118575"/>
                  <a:pt x="107223" y="118609"/>
                  <a:pt x="104109" y="115461"/>
                </a:cubicBezTo>
                <a:lnTo>
                  <a:pt x="85692" y="97043"/>
                </a:lnTo>
                <a:lnTo>
                  <a:pt x="67274" y="115461"/>
                </a:lnTo>
                <a:cubicBezTo>
                  <a:pt x="64126" y="118609"/>
                  <a:pt x="59036" y="118609"/>
                  <a:pt x="55922" y="115461"/>
                </a:cubicBezTo>
                <a:cubicBezTo>
                  <a:pt x="52808" y="112313"/>
                  <a:pt x="52774" y="107223"/>
                  <a:pt x="55922" y="104109"/>
                </a:cubicBezTo>
                <a:lnTo>
                  <a:pt x="74340" y="85692"/>
                </a:lnTo>
                <a:lnTo>
                  <a:pt x="55922" y="67274"/>
                </a:lnTo>
                <a:cubicBezTo>
                  <a:pt x="52774" y="64126"/>
                  <a:pt x="52774" y="59036"/>
                  <a:pt x="55922" y="55922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23938" y="3895725"/>
            <a:ext cx="3305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Delivery Guarantee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3938" y="4124325"/>
            <a:ext cx="3295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Unlike TCP, UDP does not ensure complete data transfer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61975" y="4505325"/>
            <a:ext cx="5295900" cy="647700"/>
          </a:xfrm>
          <a:custGeom>
            <a:avLst/>
            <a:gdLst/>
            <a:ahLst/>
            <a:cxnLst/>
            <a:rect l="l" t="t" r="r" b="b"/>
            <a:pathLst>
              <a:path w="5295900" h="647700">
                <a:moveTo>
                  <a:pt x="38100" y="0"/>
                </a:moveTo>
                <a:lnTo>
                  <a:pt x="5219698" y="0"/>
                </a:lnTo>
                <a:cubicBezTo>
                  <a:pt x="5261783" y="0"/>
                  <a:pt x="5295900" y="34117"/>
                  <a:pt x="5295900" y="76202"/>
                </a:cubicBezTo>
                <a:lnTo>
                  <a:pt x="5295900" y="571498"/>
                </a:lnTo>
                <a:cubicBezTo>
                  <a:pt x="5295900" y="613583"/>
                  <a:pt x="5261783" y="647700"/>
                  <a:pt x="5219698" y="647700"/>
                </a:cubicBezTo>
                <a:lnTo>
                  <a:pt x="38100" y="647700"/>
                </a:lnTo>
                <a:cubicBezTo>
                  <a:pt x="17072" y="647700"/>
                  <a:pt x="0" y="630628"/>
                  <a:pt x="0" y="6096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61975" y="4505325"/>
            <a:ext cx="38100" cy="647700"/>
          </a:xfrm>
          <a:custGeom>
            <a:avLst/>
            <a:gdLst/>
            <a:ahLst/>
            <a:cxnLst/>
            <a:rect l="l" t="t" r="r" b="b"/>
            <a:pathLst>
              <a:path w="38100" h="647700">
                <a:moveTo>
                  <a:pt x="38100" y="0"/>
                </a:moveTo>
                <a:lnTo>
                  <a:pt x="38100" y="0"/>
                </a:lnTo>
                <a:lnTo>
                  <a:pt x="38100" y="647700"/>
                </a:lnTo>
                <a:lnTo>
                  <a:pt x="38100" y="647700"/>
                </a:lnTo>
                <a:cubicBezTo>
                  <a:pt x="17072" y="647700"/>
                  <a:pt x="0" y="630628"/>
                  <a:pt x="0" y="6096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9138" y="46577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55922" y="55922"/>
                </a:moveTo>
                <a:cubicBezTo>
                  <a:pt x="59070" y="52774"/>
                  <a:pt x="64160" y="52774"/>
                  <a:pt x="67274" y="55922"/>
                </a:cubicBezTo>
                <a:lnTo>
                  <a:pt x="85692" y="74340"/>
                </a:lnTo>
                <a:lnTo>
                  <a:pt x="104109" y="55922"/>
                </a:lnTo>
                <a:cubicBezTo>
                  <a:pt x="107257" y="52774"/>
                  <a:pt x="112347" y="52774"/>
                  <a:pt x="115461" y="55922"/>
                </a:cubicBezTo>
                <a:cubicBezTo>
                  <a:pt x="118575" y="59070"/>
                  <a:pt x="118609" y="64160"/>
                  <a:pt x="115461" y="67274"/>
                </a:cubicBezTo>
                <a:lnTo>
                  <a:pt x="97043" y="85692"/>
                </a:lnTo>
                <a:lnTo>
                  <a:pt x="115461" y="104109"/>
                </a:lnTo>
                <a:cubicBezTo>
                  <a:pt x="118609" y="107257"/>
                  <a:pt x="118609" y="112347"/>
                  <a:pt x="115461" y="115461"/>
                </a:cubicBezTo>
                <a:cubicBezTo>
                  <a:pt x="112313" y="118575"/>
                  <a:pt x="107223" y="118609"/>
                  <a:pt x="104109" y="115461"/>
                </a:cubicBezTo>
                <a:lnTo>
                  <a:pt x="85692" y="97043"/>
                </a:lnTo>
                <a:lnTo>
                  <a:pt x="67274" y="115461"/>
                </a:lnTo>
                <a:cubicBezTo>
                  <a:pt x="64126" y="118609"/>
                  <a:pt x="59036" y="118609"/>
                  <a:pt x="55922" y="115461"/>
                </a:cubicBezTo>
                <a:cubicBezTo>
                  <a:pt x="52808" y="112313"/>
                  <a:pt x="52774" y="107223"/>
                  <a:pt x="55922" y="104109"/>
                </a:cubicBezTo>
                <a:lnTo>
                  <a:pt x="74340" y="85692"/>
                </a:lnTo>
                <a:lnTo>
                  <a:pt x="55922" y="67274"/>
                </a:lnTo>
                <a:cubicBezTo>
                  <a:pt x="52774" y="64126"/>
                  <a:pt x="52774" y="59036"/>
                  <a:pt x="55922" y="55922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23938" y="4619625"/>
            <a:ext cx="2733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Acknowledgment Numbers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23938" y="4848225"/>
            <a:ext cx="2724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mechanism to confirm receipt of segments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90550" y="5229225"/>
            <a:ext cx="5295900" cy="647700"/>
          </a:xfrm>
          <a:custGeom>
            <a:avLst/>
            <a:gdLst/>
            <a:ahLst/>
            <a:cxnLst/>
            <a:rect l="l" t="t" r="r" b="b"/>
            <a:pathLst>
              <a:path w="5295900" h="647700">
                <a:moveTo>
                  <a:pt x="38100" y="0"/>
                </a:moveTo>
                <a:lnTo>
                  <a:pt x="5219698" y="0"/>
                </a:lnTo>
                <a:cubicBezTo>
                  <a:pt x="5261783" y="0"/>
                  <a:pt x="5295900" y="34117"/>
                  <a:pt x="5295900" y="76202"/>
                </a:cubicBezTo>
                <a:lnTo>
                  <a:pt x="5295900" y="571498"/>
                </a:lnTo>
                <a:cubicBezTo>
                  <a:pt x="5295900" y="613583"/>
                  <a:pt x="5261783" y="647700"/>
                  <a:pt x="5219698" y="647700"/>
                </a:cubicBezTo>
                <a:lnTo>
                  <a:pt x="38100" y="647700"/>
                </a:lnTo>
                <a:cubicBezTo>
                  <a:pt x="17072" y="647700"/>
                  <a:pt x="0" y="630628"/>
                  <a:pt x="0" y="6096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5EF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1975" y="5229225"/>
            <a:ext cx="38100" cy="647700"/>
          </a:xfrm>
          <a:custGeom>
            <a:avLst/>
            <a:gdLst/>
            <a:ahLst/>
            <a:cxnLst/>
            <a:rect l="l" t="t" r="r" b="b"/>
            <a:pathLst>
              <a:path w="38100" h="647700">
                <a:moveTo>
                  <a:pt x="38100" y="0"/>
                </a:moveTo>
                <a:lnTo>
                  <a:pt x="38100" y="0"/>
                </a:lnTo>
                <a:lnTo>
                  <a:pt x="38100" y="647700"/>
                </a:lnTo>
                <a:lnTo>
                  <a:pt x="38100" y="647700"/>
                </a:lnTo>
                <a:cubicBezTo>
                  <a:pt x="17072" y="647700"/>
                  <a:pt x="0" y="630628"/>
                  <a:pt x="0" y="6096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29853" y="538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13452" y="-3315"/>
                </a:moveTo>
                <a:cubicBezTo>
                  <a:pt x="117437" y="-435"/>
                  <a:pt x="118910" y="4789"/>
                  <a:pt x="117102" y="9343"/>
                </a:cubicBezTo>
                <a:lnTo>
                  <a:pt x="90848" y="75009"/>
                </a:lnTo>
                <a:lnTo>
                  <a:pt x="139303" y="75009"/>
                </a:lnTo>
                <a:cubicBezTo>
                  <a:pt x="143824" y="75009"/>
                  <a:pt x="147842" y="77822"/>
                  <a:pt x="149383" y="82075"/>
                </a:cubicBezTo>
                <a:cubicBezTo>
                  <a:pt x="150923" y="86328"/>
                  <a:pt x="149617" y="91083"/>
                  <a:pt x="146168" y="93963"/>
                </a:cubicBezTo>
                <a:lnTo>
                  <a:pt x="49727" y="174330"/>
                </a:lnTo>
                <a:cubicBezTo>
                  <a:pt x="45943" y="177478"/>
                  <a:pt x="40552" y="177645"/>
                  <a:pt x="36567" y="174765"/>
                </a:cubicBezTo>
                <a:cubicBezTo>
                  <a:pt x="32582" y="171885"/>
                  <a:pt x="31109" y="166661"/>
                  <a:pt x="32917" y="162107"/>
                </a:cubicBezTo>
                <a:lnTo>
                  <a:pt x="59170" y="96441"/>
                </a:lnTo>
                <a:lnTo>
                  <a:pt x="10716" y="96441"/>
                </a:lnTo>
                <a:cubicBezTo>
                  <a:pt x="6195" y="96441"/>
                  <a:pt x="2177" y="93628"/>
                  <a:pt x="636" y="89375"/>
                </a:cubicBezTo>
                <a:cubicBezTo>
                  <a:pt x="-904" y="85122"/>
                  <a:pt x="402" y="80367"/>
                  <a:pt x="3851" y="77487"/>
                </a:cubicBezTo>
                <a:lnTo>
                  <a:pt x="100292" y="-2880"/>
                </a:lnTo>
                <a:cubicBezTo>
                  <a:pt x="104076" y="-6028"/>
                  <a:pt x="109467" y="-6195"/>
                  <a:pt x="113452" y="-3315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23938" y="5343525"/>
            <a:ext cx="3305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Faster Than TCP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23938" y="5572125"/>
            <a:ext cx="3295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retry mechanism means lower latency and overhead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76963" y="1147763"/>
            <a:ext cx="5629275" cy="3971925"/>
          </a:xfrm>
          <a:custGeom>
            <a:avLst/>
            <a:gdLst/>
            <a:ahLst/>
            <a:cxnLst/>
            <a:rect l="l" t="t" r="r" b="b"/>
            <a:pathLst>
              <a:path w="5629275" h="3971925">
                <a:moveTo>
                  <a:pt x="114312" y="0"/>
                </a:moveTo>
                <a:lnTo>
                  <a:pt x="5514963" y="0"/>
                </a:lnTo>
                <a:cubicBezTo>
                  <a:pt x="5578096" y="0"/>
                  <a:pt x="5629275" y="51179"/>
                  <a:pt x="5629275" y="114312"/>
                </a:cubicBezTo>
                <a:lnTo>
                  <a:pt x="5629275" y="3857613"/>
                </a:lnTo>
                <a:cubicBezTo>
                  <a:pt x="5629275" y="3920746"/>
                  <a:pt x="5578096" y="3971925"/>
                  <a:pt x="5514963" y="3971925"/>
                </a:cubicBezTo>
                <a:lnTo>
                  <a:pt x="114312" y="3971925"/>
                </a:lnTo>
                <a:cubicBezTo>
                  <a:pt x="51179" y="3971925"/>
                  <a:pt x="0" y="3920746"/>
                  <a:pt x="0" y="3857613"/>
                </a:cubicBezTo>
                <a:lnTo>
                  <a:pt x="0" y="114312"/>
                </a:lnTo>
                <a:cubicBezTo>
                  <a:pt x="0" y="51221"/>
                  <a:pt x="51221" y="0"/>
                  <a:pt x="114312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91263" y="1304925"/>
            <a:ext cx="5400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UDP Header Structure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38888" y="1690688"/>
            <a:ext cx="5305425" cy="657225"/>
          </a:xfrm>
          <a:custGeom>
            <a:avLst/>
            <a:gdLst/>
            <a:ahLst/>
            <a:cxnLst/>
            <a:rect l="l" t="t" r="r" b="b"/>
            <a:pathLst>
              <a:path w="5305425" h="657225">
                <a:moveTo>
                  <a:pt x="76199" y="0"/>
                </a:moveTo>
                <a:lnTo>
                  <a:pt x="5229226" y="0"/>
                </a:lnTo>
                <a:cubicBezTo>
                  <a:pt x="5271310" y="0"/>
                  <a:pt x="5305425" y="34115"/>
                  <a:pt x="5305425" y="76199"/>
                </a:cubicBezTo>
                <a:lnTo>
                  <a:pt x="5305425" y="581026"/>
                </a:lnTo>
                <a:cubicBezTo>
                  <a:pt x="5305425" y="623110"/>
                  <a:pt x="5271310" y="657225"/>
                  <a:pt x="5229226" y="657225"/>
                </a:cubicBezTo>
                <a:lnTo>
                  <a:pt x="76199" y="657225"/>
                </a:lnTo>
                <a:cubicBezTo>
                  <a:pt x="34115" y="657225"/>
                  <a:pt x="0" y="623110"/>
                  <a:pt x="0" y="581026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19850" y="1790700"/>
            <a:ext cx="847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Source Port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0523637" y="1771650"/>
            <a:ext cx="1038225" cy="266700"/>
          </a:xfrm>
          <a:custGeom>
            <a:avLst/>
            <a:gdLst/>
            <a:ahLst/>
            <a:cxnLst/>
            <a:rect l="l" t="t" r="r" b="b"/>
            <a:pathLst>
              <a:path w="1038225" h="266700">
                <a:moveTo>
                  <a:pt x="38101" y="0"/>
                </a:moveTo>
                <a:lnTo>
                  <a:pt x="1000124" y="0"/>
                </a:lnTo>
                <a:cubicBezTo>
                  <a:pt x="1021167" y="0"/>
                  <a:pt x="1038225" y="17058"/>
                  <a:pt x="1038225" y="38101"/>
                </a:cubicBezTo>
                <a:lnTo>
                  <a:pt x="1038225" y="228599"/>
                </a:lnTo>
                <a:cubicBezTo>
                  <a:pt x="1038225" y="249642"/>
                  <a:pt x="1021167" y="266700"/>
                  <a:pt x="10001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523637" y="1771650"/>
            <a:ext cx="11049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 (2 bytes)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19850" y="2076450"/>
            <a:ext cx="521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number of the sending application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38888" y="2395538"/>
            <a:ext cx="5305425" cy="657225"/>
          </a:xfrm>
          <a:custGeom>
            <a:avLst/>
            <a:gdLst/>
            <a:ahLst/>
            <a:cxnLst/>
            <a:rect l="l" t="t" r="r" b="b"/>
            <a:pathLst>
              <a:path w="5305425" h="657225">
                <a:moveTo>
                  <a:pt x="76199" y="0"/>
                </a:moveTo>
                <a:lnTo>
                  <a:pt x="5229226" y="0"/>
                </a:lnTo>
                <a:cubicBezTo>
                  <a:pt x="5271310" y="0"/>
                  <a:pt x="5305425" y="34115"/>
                  <a:pt x="5305425" y="76199"/>
                </a:cubicBezTo>
                <a:lnTo>
                  <a:pt x="5305425" y="581026"/>
                </a:lnTo>
                <a:cubicBezTo>
                  <a:pt x="5305425" y="623110"/>
                  <a:pt x="5271310" y="657225"/>
                  <a:pt x="5229226" y="657225"/>
                </a:cubicBezTo>
                <a:lnTo>
                  <a:pt x="76199" y="657225"/>
                </a:lnTo>
                <a:cubicBezTo>
                  <a:pt x="34115" y="657225"/>
                  <a:pt x="0" y="623110"/>
                  <a:pt x="0" y="581026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419850" y="2495550"/>
            <a:ext cx="112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Port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0523637" y="2476500"/>
            <a:ext cx="1038225" cy="266700"/>
          </a:xfrm>
          <a:custGeom>
            <a:avLst/>
            <a:gdLst/>
            <a:ahLst/>
            <a:cxnLst/>
            <a:rect l="l" t="t" r="r" b="b"/>
            <a:pathLst>
              <a:path w="1038225" h="266700">
                <a:moveTo>
                  <a:pt x="38101" y="0"/>
                </a:moveTo>
                <a:lnTo>
                  <a:pt x="1000124" y="0"/>
                </a:lnTo>
                <a:cubicBezTo>
                  <a:pt x="1021167" y="0"/>
                  <a:pt x="1038225" y="17058"/>
                  <a:pt x="1038225" y="38101"/>
                </a:cubicBezTo>
                <a:lnTo>
                  <a:pt x="1038225" y="228599"/>
                </a:lnTo>
                <a:cubicBezTo>
                  <a:pt x="1038225" y="249642"/>
                  <a:pt x="1021167" y="266700"/>
                  <a:pt x="10001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523637" y="2476500"/>
            <a:ext cx="11049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C8C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 (2 bytes)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419850" y="2781300"/>
            <a:ext cx="521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number of the receiving application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38888" y="3100388"/>
            <a:ext cx="5305425" cy="657225"/>
          </a:xfrm>
          <a:custGeom>
            <a:avLst/>
            <a:gdLst/>
            <a:ahLst/>
            <a:cxnLst/>
            <a:rect l="l" t="t" r="r" b="b"/>
            <a:pathLst>
              <a:path w="5305425" h="657225">
                <a:moveTo>
                  <a:pt x="76199" y="0"/>
                </a:moveTo>
                <a:lnTo>
                  <a:pt x="5229226" y="0"/>
                </a:lnTo>
                <a:cubicBezTo>
                  <a:pt x="5271310" y="0"/>
                  <a:pt x="5305425" y="34115"/>
                  <a:pt x="5305425" y="76199"/>
                </a:cubicBezTo>
                <a:lnTo>
                  <a:pt x="5305425" y="581026"/>
                </a:lnTo>
                <a:cubicBezTo>
                  <a:pt x="5305425" y="623110"/>
                  <a:pt x="5271310" y="657225"/>
                  <a:pt x="5229226" y="657225"/>
                </a:cubicBezTo>
                <a:lnTo>
                  <a:pt x="76199" y="657225"/>
                </a:lnTo>
                <a:cubicBezTo>
                  <a:pt x="34115" y="657225"/>
                  <a:pt x="0" y="623110"/>
                  <a:pt x="0" y="581026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19850" y="3200400"/>
            <a:ext cx="523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Length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0523637" y="3181350"/>
            <a:ext cx="1038225" cy="266700"/>
          </a:xfrm>
          <a:custGeom>
            <a:avLst/>
            <a:gdLst/>
            <a:ahLst/>
            <a:cxnLst/>
            <a:rect l="l" t="t" r="r" b="b"/>
            <a:pathLst>
              <a:path w="1038225" h="266700">
                <a:moveTo>
                  <a:pt x="38101" y="0"/>
                </a:moveTo>
                <a:lnTo>
                  <a:pt x="1000124" y="0"/>
                </a:lnTo>
                <a:cubicBezTo>
                  <a:pt x="1021167" y="0"/>
                  <a:pt x="1038225" y="17058"/>
                  <a:pt x="1038225" y="38101"/>
                </a:cubicBezTo>
                <a:lnTo>
                  <a:pt x="1038225" y="228599"/>
                </a:lnTo>
                <a:cubicBezTo>
                  <a:pt x="1038225" y="249642"/>
                  <a:pt x="1021167" y="266700"/>
                  <a:pt x="10001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523637" y="3181350"/>
            <a:ext cx="11049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BD6B4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 (2 bytes)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419850" y="3486150"/>
            <a:ext cx="521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length of UDP header + data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38888" y="3805237"/>
            <a:ext cx="5305425" cy="657225"/>
          </a:xfrm>
          <a:custGeom>
            <a:avLst/>
            <a:gdLst/>
            <a:ahLst/>
            <a:cxnLst/>
            <a:rect l="l" t="t" r="r" b="b"/>
            <a:pathLst>
              <a:path w="5305425" h="657225">
                <a:moveTo>
                  <a:pt x="76199" y="0"/>
                </a:moveTo>
                <a:lnTo>
                  <a:pt x="5229226" y="0"/>
                </a:lnTo>
                <a:cubicBezTo>
                  <a:pt x="5271310" y="0"/>
                  <a:pt x="5305425" y="34115"/>
                  <a:pt x="5305425" y="76199"/>
                </a:cubicBezTo>
                <a:lnTo>
                  <a:pt x="5305425" y="581026"/>
                </a:lnTo>
                <a:cubicBezTo>
                  <a:pt x="5305425" y="623110"/>
                  <a:pt x="5271310" y="657225"/>
                  <a:pt x="5229226" y="657225"/>
                </a:cubicBezTo>
                <a:lnTo>
                  <a:pt x="76199" y="657225"/>
                </a:lnTo>
                <a:cubicBezTo>
                  <a:pt x="34115" y="657225"/>
                  <a:pt x="0" y="623110"/>
                  <a:pt x="0" y="581026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419850" y="390525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Checksum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523637" y="3886200"/>
            <a:ext cx="1038225" cy="266700"/>
          </a:xfrm>
          <a:custGeom>
            <a:avLst/>
            <a:gdLst/>
            <a:ahLst/>
            <a:cxnLst/>
            <a:rect l="l" t="t" r="r" b="b"/>
            <a:pathLst>
              <a:path w="1038225" h="266700">
                <a:moveTo>
                  <a:pt x="38101" y="0"/>
                </a:moveTo>
                <a:lnTo>
                  <a:pt x="1000124" y="0"/>
                </a:lnTo>
                <a:cubicBezTo>
                  <a:pt x="1021167" y="0"/>
                  <a:pt x="1038225" y="17058"/>
                  <a:pt x="1038225" y="38101"/>
                </a:cubicBezTo>
                <a:lnTo>
                  <a:pt x="1038225" y="228599"/>
                </a:lnTo>
                <a:cubicBezTo>
                  <a:pt x="1038225" y="249642"/>
                  <a:pt x="1021167" y="266700"/>
                  <a:pt x="10001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10523637" y="3886200"/>
            <a:ext cx="11049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 bits (2 bytes)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419850" y="4191000"/>
            <a:ext cx="521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Error detection value (optional in IPv4)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43650" y="4514850"/>
            <a:ext cx="5295900" cy="438150"/>
          </a:xfrm>
          <a:custGeom>
            <a:avLst/>
            <a:gdLst/>
            <a:ahLst/>
            <a:cxnLst/>
            <a:rect l="l" t="t" r="r" b="b"/>
            <a:pathLst>
              <a:path w="5295900" h="438150">
                <a:moveTo>
                  <a:pt x="76199" y="0"/>
                </a:moveTo>
                <a:lnTo>
                  <a:pt x="5219701" y="0"/>
                </a:lnTo>
                <a:cubicBezTo>
                  <a:pt x="5261785" y="0"/>
                  <a:pt x="5295900" y="34115"/>
                  <a:pt x="5295900" y="76199"/>
                </a:cubicBezTo>
                <a:lnTo>
                  <a:pt x="5295900" y="361951"/>
                </a:lnTo>
                <a:cubicBezTo>
                  <a:pt x="5295900" y="404035"/>
                  <a:pt x="5261785" y="438150"/>
                  <a:pt x="5219701" y="438150"/>
                </a:cubicBezTo>
                <a:lnTo>
                  <a:pt x="76199" y="438150"/>
                </a:lnTo>
                <a:cubicBezTo>
                  <a:pt x="34115" y="438150"/>
                  <a:pt x="0" y="404035"/>
                  <a:pt x="0" y="361951"/>
                </a:cubicBezTo>
                <a:lnTo>
                  <a:pt x="0" y="76199"/>
                </a:lnTo>
                <a:cubicBezTo>
                  <a:pt x="0" y="34143"/>
                  <a:pt x="34143" y="0"/>
                  <a:pt x="76199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 w="25400">
            <a:solidFill>
              <a:srgbClr val="9C8C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429375" y="4619625"/>
            <a:ext cx="121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Header Size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0371832" y="4600575"/>
            <a:ext cx="1266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64 bits (8 bytes)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176963" y="5243513"/>
            <a:ext cx="5629275" cy="1447800"/>
          </a:xfrm>
          <a:custGeom>
            <a:avLst/>
            <a:gdLst/>
            <a:ahLst/>
            <a:cxnLst/>
            <a:rect l="l" t="t" r="r" b="b"/>
            <a:pathLst>
              <a:path w="5629275" h="1447800">
                <a:moveTo>
                  <a:pt x="114304" y="0"/>
                </a:moveTo>
                <a:lnTo>
                  <a:pt x="5514971" y="0"/>
                </a:lnTo>
                <a:cubicBezTo>
                  <a:pt x="5578099" y="0"/>
                  <a:pt x="5629275" y="51176"/>
                  <a:pt x="5629275" y="114304"/>
                </a:cubicBezTo>
                <a:lnTo>
                  <a:pt x="5629275" y="1333496"/>
                </a:lnTo>
                <a:cubicBezTo>
                  <a:pt x="5629275" y="1396624"/>
                  <a:pt x="5578099" y="1447800"/>
                  <a:pt x="5514971" y="1447800"/>
                </a:cubicBezTo>
                <a:lnTo>
                  <a:pt x="114304" y="1447800"/>
                </a:lnTo>
                <a:cubicBezTo>
                  <a:pt x="51176" y="1447800"/>
                  <a:pt x="0" y="1396624"/>
                  <a:pt x="0" y="1333496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334125" y="5400675"/>
            <a:ext cx="5400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Common Use Cases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38888" y="5786438"/>
            <a:ext cx="1714500" cy="742950"/>
          </a:xfrm>
          <a:custGeom>
            <a:avLst/>
            <a:gdLst/>
            <a:ahLst/>
            <a:cxnLst/>
            <a:rect l="l" t="t" r="r" b="b"/>
            <a:pathLst>
              <a:path w="1714500" h="742950">
                <a:moveTo>
                  <a:pt x="76197" y="0"/>
                </a:moveTo>
                <a:lnTo>
                  <a:pt x="1638303" y="0"/>
                </a:lnTo>
                <a:cubicBezTo>
                  <a:pt x="1680385" y="0"/>
                  <a:pt x="1714500" y="34115"/>
                  <a:pt x="1714500" y="76197"/>
                </a:cubicBezTo>
                <a:lnTo>
                  <a:pt x="1714500" y="666753"/>
                </a:lnTo>
                <a:cubicBezTo>
                  <a:pt x="1714500" y="708835"/>
                  <a:pt x="1680385" y="742950"/>
                  <a:pt x="1638303" y="742950"/>
                </a:cubicBezTo>
                <a:lnTo>
                  <a:pt x="76197" y="742950"/>
                </a:lnTo>
                <a:cubicBezTo>
                  <a:pt x="34115" y="742950"/>
                  <a:pt x="0" y="708835"/>
                  <a:pt x="0" y="66675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087344" y="587692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35719" y="23812"/>
                </a:moveTo>
                <a:cubicBezTo>
                  <a:pt x="22585" y="23812"/>
                  <a:pt x="11906" y="34491"/>
                  <a:pt x="11906" y="47625"/>
                </a:cubicBezTo>
                <a:lnTo>
                  <a:pt x="11906" y="142875"/>
                </a:lnTo>
                <a:cubicBezTo>
                  <a:pt x="11906" y="156009"/>
                  <a:pt x="22585" y="166688"/>
                  <a:pt x="35719" y="166688"/>
                </a:cubicBezTo>
                <a:lnTo>
                  <a:pt x="130969" y="166688"/>
                </a:lnTo>
                <a:cubicBezTo>
                  <a:pt x="144103" y="166688"/>
                  <a:pt x="154781" y="156009"/>
                  <a:pt x="154781" y="142875"/>
                </a:cubicBezTo>
                <a:lnTo>
                  <a:pt x="154781" y="47625"/>
                </a:lnTo>
                <a:cubicBezTo>
                  <a:pt x="154781" y="34491"/>
                  <a:pt x="144103" y="23812"/>
                  <a:pt x="130969" y="23812"/>
                </a:cubicBezTo>
                <a:lnTo>
                  <a:pt x="35719" y="23812"/>
                </a:lnTo>
                <a:close/>
                <a:moveTo>
                  <a:pt x="172641" y="125016"/>
                </a:moveTo>
                <a:lnTo>
                  <a:pt x="199988" y="146893"/>
                </a:lnTo>
                <a:cubicBezTo>
                  <a:pt x="201550" y="148158"/>
                  <a:pt x="203485" y="148828"/>
                  <a:pt x="205494" y="148828"/>
                </a:cubicBezTo>
                <a:cubicBezTo>
                  <a:pt x="210369" y="148828"/>
                  <a:pt x="214313" y="144884"/>
                  <a:pt x="214313" y="140010"/>
                </a:cubicBezTo>
                <a:lnTo>
                  <a:pt x="214313" y="50490"/>
                </a:lnTo>
                <a:cubicBezTo>
                  <a:pt x="214313" y="45616"/>
                  <a:pt x="210369" y="41672"/>
                  <a:pt x="205494" y="41672"/>
                </a:cubicBezTo>
                <a:cubicBezTo>
                  <a:pt x="203485" y="41672"/>
                  <a:pt x="201550" y="42342"/>
                  <a:pt x="199988" y="43607"/>
                </a:cubicBezTo>
                <a:lnTo>
                  <a:pt x="172641" y="65484"/>
                </a:lnTo>
                <a:lnTo>
                  <a:pt x="172641" y="125016"/>
                </a:ln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386513" y="610552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Video Calling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391275" y="6296025"/>
            <a:ext cx="1609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WebRTC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8135838" y="5786438"/>
            <a:ext cx="1714500" cy="742950"/>
          </a:xfrm>
          <a:custGeom>
            <a:avLst/>
            <a:gdLst/>
            <a:ahLst/>
            <a:cxnLst/>
            <a:rect l="l" t="t" r="r" b="b"/>
            <a:pathLst>
              <a:path w="1714500" h="742950">
                <a:moveTo>
                  <a:pt x="76197" y="0"/>
                </a:moveTo>
                <a:lnTo>
                  <a:pt x="1638303" y="0"/>
                </a:lnTo>
                <a:cubicBezTo>
                  <a:pt x="1680385" y="0"/>
                  <a:pt x="1714500" y="34115"/>
                  <a:pt x="1714500" y="76197"/>
                </a:cubicBezTo>
                <a:lnTo>
                  <a:pt x="1714500" y="666753"/>
                </a:lnTo>
                <a:cubicBezTo>
                  <a:pt x="1714500" y="708835"/>
                  <a:pt x="1680385" y="742950"/>
                  <a:pt x="1638303" y="742950"/>
                </a:cubicBezTo>
                <a:lnTo>
                  <a:pt x="76197" y="742950"/>
                </a:lnTo>
                <a:cubicBezTo>
                  <a:pt x="34115" y="742950"/>
                  <a:pt x="0" y="708835"/>
                  <a:pt x="0" y="66675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C7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872389" y="5876925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66688" y="23812"/>
                </a:moveTo>
                <a:cubicBezTo>
                  <a:pt x="206127" y="23812"/>
                  <a:pt x="238125" y="55811"/>
                  <a:pt x="238125" y="95250"/>
                </a:cubicBezTo>
                <a:cubicBezTo>
                  <a:pt x="238125" y="134689"/>
                  <a:pt x="206127" y="166688"/>
                  <a:pt x="166688" y="166688"/>
                </a:cubicBezTo>
                <a:lnTo>
                  <a:pt x="71438" y="166688"/>
                </a:lnTo>
                <a:cubicBezTo>
                  <a:pt x="31998" y="166688"/>
                  <a:pt x="0" y="134689"/>
                  <a:pt x="0" y="95250"/>
                </a:cubicBezTo>
                <a:cubicBezTo>
                  <a:pt x="0" y="55811"/>
                  <a:pt x="31998" y="23812"/>
                  <a:pt x="71438" y="23812"/>
                </a:cubicBezTo>
                <a:lnTo>
                  <a:pt x="166688" y="23812"/>
                </a:lnTo>
                <a:close/>
                <a:moveTo>
                  <a:pt x="71438" y="65484"/>
                </a:moveTo>
                <a:cubicBezTo>
                  <a:pt x="66489" y="65484"/>
                  <a:pt x="62508" y="69466"/>
                  <a:pt x="62508" y="74414"/>
                </a:cubicBezTo>
                <a:lnTo>
                  <a:pt x="62508" y="86320"/>
                </a:lnTo>
                <a:lnTo>
                  <a:pt x="50602" y="86320"/>
                </a:lnTo>
                <a:cubicBezTo>
                  <a:pt x="45653" y="86320"/>
                  <a:pt x="41672" y="90301"/>
                  <a:pt x="41672" y="95250"/>
                </a:cubicBezTo>
                <a:cubicBezTo>
                  <a:pt x="41672" y="100199"/>
                  <a:pt x="45653" y="104180"/>
                  <a:pt x="50602" y="104180"/>
                </a:cubicBezTo>
                <a:lnTo>
                  <a:pt x="62508" y="104180"/>
                </a:lnTo>
                <a:lnTo>
                  <a:pt x="62508" y="116086"/>
                </a:lnTo>
                <a:cubicBezTo>
                  <a:pt x="62508" y="121034"/>
                  <a:pt x="66489" y="125016"/>
                  <a:pt x="71438" y="125016"/>
                </a:cubicBezTo>
                <a:cubicBezTo>
                  <a:pt x="76386" y="125016"/>
                  <a:pt x="80367" y="121034"/>
                  <a:pt x="80367" y="116086"/>
                </a:cubicBezTo>
                <a:lnTo>
                  <a:pt x="80367" y="104180"/>
                </a:lnTo>
                <a:lnTo>
                  <a:pt x="92273" y="104180"/>
                </a:lnTo>
                <a:cubicBezTo>
                  <a:pt x="97222" y="104180"/>
                  <a:pt x="101203" y="100199"/>
                  <a:pt x="101203" y="95250"/>
                </a:cubicBezTo>
                <a:cubicBezTo>
                  <a:pt x="101203" y="90301"/>
                  <a:pt x="97222" y="86320"/>
                  <a:pt x="92273" y="86320"/>
                </a:cubicBezTo>
                <a:lnTo>
                  <a:pt x="80367" y="86320"/>
                </a:lnTo>
                <a:lnTo>
                  <a:pt x="80367" y="74414"/>
                </a:lnTo>
                <a:cubicBezTo>
                  <a:pt x="80367" y="69466"/>
                  <a:pt x="76386" y="65484"/>
                  <a:pt x="71438" y="65484"/>
                </a:cubicBezTo>
                <a:close/>
                <a:moveTo>
                  <a:pt x="160734" y="101203"/>
                </a:moveTo>
                <a:cubicBezTo>
                  <a:pt x="154163" y="101203"/>
                  <a:pt x="148828" y="106538"/>
                  <a:pt x="148828" y="113109"/>
                </a:cubicBezTo>
                <a:cubicBezTo>
                  <a:pt x="148828" y="119681"/>
                  <a:pt x="154163" y="125016"/>
                  <a:pt x="160734" y="125016"/>
                </a:cubicBezTo>
                <a:cubicBezTo>
                  <a:pt x="167306" y="125016"/>
                  <a:pt x="172641" y="119681"/>
                  <a:pt x="172641" y="113109"/>
                </a:cubicBezTo>
                <a:cubicBezTo>
                  <a:pt x="172641" y="106538"/>
                  <a:pt x="167306" y="101203"/>
                  <a:pt x="160734" y="101203"/>
                </a:cubicBezTo>
                <a:close/>
                <a:moveTo>
                  <a:pt x="184547" y="65484"/>
                </a:moveTo>
                <a:cubicBezTo>
                  <a:pt x="177976" y="65484"/>
                  <a:pt x="172641" y="70819"/>
                  <a:pt x="172641" y="77391"/>
                </a:cubicBezTo>
                <a:cubicBezTo>
                  <a:pt x="172641" y="83962"/>
                  <a:pt x="177976" y="89297"/>
                  <a:pt x="184547" y="89297"/>
                </a:cubicBezTo>
                <a:cubicBezTo>
                  <a:pt x="191118" y="89297"/>
                  <a:pt x="196453" y="83962"/>
                  <a:pt x="196453" y="77391"/>
                </a:cubicBezTo>
                <a:cubicBezTo>
                  <a:pt x="196453" y="70819"/>
                  <a:pt x="191118" y="65484"/>
                  <a:pt x="184547" y="65484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8183463" y="610552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Online Gaming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8188226" y="6296025"/>
            <a:ext cx="1609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latency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9932938" y="5786438"/>
            <a:ext cx="1714500" cy="742950"/>
          </a:xfrm>
          <a:custGeom>
            <a:avLst/>
            <a:gdLst/>
            <a:ahLst/>
            <a:cxnLst/>
            <a:rect l="l" t="t" r="r" b="b"/>
            <a:pathLst>
              <a:path w="1714500" h="742950">
                <a:moveTo>
                  <a:pt x="76197" y="0"/>
                </a:moveTo>
                <a:lnTo>
                  <a:pt x="1638303" y="0"/>
                </a:lnTo>
                <a:cubicBezTo>
                  <a:pt x="1680385" y="0"/>
                  <a:pt x="1714500" y="34115"/>
                  <a:pt x="1714500" y="76197"/>
                </a:cubicBezTo>
                <a:lnTo>
                  <a:pt x="1714500" y="666753"/>
                </a:lnTo>
                <a:cubicBezTo>
                  <a:pt x="1714500" y="708835"/>
                  <a:pt x="1680385" y="742950"/>
                  <a:pt x="1638303" y="742950"/>
                </a:cubicBezTo>
                <a:lnTo>
                  <a:pt x="76197" y="742950"/>
                </a:lnTo>
                <a:cubicBezTo>
                  <a:pt x="34115" y="742950"/>
                  <a:pt x="0" y="708835"/>
                  <a:pt x="0" y="66675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BD6B4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0705207" y="587692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9980563" y="610552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Queries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9985325" y="6296025"/>
            <a:ext cx="1609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4A3F35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 lookup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105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Protocol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096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 vs UDP: Key Differences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147763"/>
            <a:ext cx="11420475" cy="5400675"/>
          </a:xfrm>
          <a:custGeom>
            <a:avLst/>
            <a:gdLst/>
            <a:ahLst/>
            <a:cxnLst/>
            <a:rect l="l" t="t" r="r" b="b"/>
            <a:pathLst>
              <a:path w="11420475" h="5400675">
                <a:moveTo>
                  <a:pt x="114278" y="0"/>
                </a:moveTo>
                <a:lnTo>
                  <a:pt x="11306197" y="0"/>
                </a:lnTo>
                <a:cubicBezTo>
                  <a:pt x="11369311" y="0"/>
                  <a:pt x="11420475" y="51164"/>
                  <a:pt x="11420475" y="114278"/>
                </a:cubicBezTo>
                <a:lnTo>
                  <a:pt x="11420475" y="5286397"/>
                </a:lnTo>
                <a:cubicBezTo>
                  <a:pt x="11420475" y="5349511"/>
                  <a:pt x="11369311" y="5400675"/>
                  <a:pt x="11306197" y="5400675"/>
                </a:cubicBezTo>
                <a:lnTo>
                  <a:pt x="114278" y="5400675"/>
                </a:lnTo>
                <a:cubicBezTo>
                  <a:pt x="51164" y="5400675"/>
                  <a:pt x="0" y="5349511"/>
                  <a:pt x="0" y="5286397"/>
                </a:cubicBezTo>
                <a:lnTo>
                  <a:pt x="0" y="114278"/>
                </a:lnTo>
                <a:cubicBezTo>
                  <a:pt x="0" y="51206"/>
                  <a:pt x="51206" y="0"/>
                  <a:pt x="114278" y="0"/>
                </a:cubicBezTo>
                <a:close/>
              </a:path>
            </a:pathLst>
          </a:custGeom>
          <a:solidFill>
            <a:srgbClr val="F5EFE4"/>
          </a:solidFill>
          <a:ln w="12700">
            <a:solidFill>
              <a:srgbClr val="9C84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95300" y="1304925"/>
            <a:ext cx="3724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9C8460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Comparison Factor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82976" y="1304925"/>
            <a:ext cx="3629025" cy="419100"/>
          </a:xfrm>
          <a:custGeom>
            <a:avLst/>
            <a:gdLst/>
            <a:ahLst/>
            <a:cxnLst/>
            <a:rect l="l" t="t" r="r" b="b"/>
            <a:pathLst>
              <a:path w="3629025" h="419100">
                <a:moveTo>
                  <a:pt x="76201" y="0"/>
                </a:moveTo>
                <a:lnTo>
                  <a:pt x="3552824" y="0"/>
                </a:lnTo>
                <a:cubicBezTo>
                  <a:pt x="3594909" y="0"/>
                  <a:pt x="3629025" y="34116"/>
                  <a:pt x="3629025" y="76201"/>
                </a:cubicBezTo>
                <a:lnTo>
                  <a:pt x="3629025" y="342899"/>
                </a:lnTo>
                <a:cubicBezTo>
                  <a:pt x="3629025" y="384984"/>
                  <a:pt x="3594909" y="419100"/>
                  <a:pt x="35528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11551" y="1381125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6E5A3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23175" y="1304925"/>
            <a:ext cx="3629025" cy="419100"/>
          </a:xfrm>
          <a:custGeom>
            <a:avLst/>
            <a:gdLst/>
            <a:ahLst/>
            <a:cxnLst/>
            <a:rect l="l" t="t" r="r" b="b"/>
            <a:pathLst>
              <a:path w="3629025" h="419100">
                <a:moveTo>
                  <a:pt x="76201" y="0"/>
                </a:moveTo>
                <a:lnTo>
                  <a:pt x="3552824" y="0"/>
                </a:lnTo>
                <a:cubicBezTo>
                  <a:pt x="3594909" y="0"/>
                  <a:pt x="3629025" y="34116"/>
                  <a:pt x="3629025" y="76201"/>
                </a:cubicBezTo>
                <a:lnTo>
                  <a:pt x="3629025" y="342899"/>
                </a:lnTo>
                <a:cubicBezTo>
                  <a:pt x="3629025" y="384984"/>
                  <a:pt x="3594909" y="419100"/>
                  <a:pt x="3552824" y="419100"/>
                </a:cubicBezTo>
                <a:lnTo>
                  <a:pt x="76201" y="419100"/>
                </a:lnTo>
                <a:cubicBezTo>
                  <a:pt x="34116" y="419100"/>
                  <a:pt x="0" y="384984"/>
                  <a:pt x="0" y="3428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51750" y="1381125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6E6253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UDP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1975" y="18383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1975" y="18383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7225" y="19145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 Type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00538" y="19335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Connection-oriented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977188" y="19335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Connectionless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1975" y="22574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1975" y="22574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7225" y="23336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00538" y="23526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Guaranteed delivery with ACK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977188" y="23526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delivery guarantee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1975" y="26765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61975" y="26765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7225" y="27527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Speed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300538" y="27717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Slower (overhead)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77188" y="27717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1975" y="30956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61975" y="30956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7225" y="31718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Ordering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300538" y="31908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Ordered delivery guaranteed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977188" y="31908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ordering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61975" y="35147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1975" y="35147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7225" y="35909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300538" y="36099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Retransmission on failure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977188" y="36099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retransmission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61975" y="39338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1975" y="39338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57225" y="40100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Header Size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300538" y="40290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20-60 bytes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77188" y="40290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 bytes only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61975" y="43529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61975" y="43529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7225" y="44291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Handshake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300538" y="44481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3-way handshake required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977188" y="44481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handshake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61975" y="47720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61975" y="47720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7225" y="48482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Congestion Control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300538" y="48672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Built-in mechanism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977188" y="48672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61975" y="5191125"/>
            <a:ext cx="11087100" cy="381000"/>
          </a:xfrm>
          <a:custGeom>
            <a:avLst/>
            <a:gdLst/>
            <a:ahLst/>
            <a:cxnLst/>
            <a:rect l="l" t="t" r="r" b="b"/>
            <a:pathLst>
              <a:path w="11087100" h="381000">
                <a:moveTo>
                  <a:pt x="38100" y="0"/>
                </a:moveTo>
                <a:lnTo>
                  <a:pt x="11010900" y="0"/>
                </a:lnTo>
                <a:cubicBezTo>
                  <a:pt x="11052956" y="0"/>
                  <a:pt x="11087100" y="34144"/>
                  <a:pt x="11087100" y="76200"/>
                </a:cubicBezTo>
                <a:lnTo>
                  <a:pt x="11087100" y="304800"/>
                </a:lnTo>
                <a:cubicBezTo>
                  <a:pt x="11087100" y="346856"/>
                  <a:pt x="11052956" y="381000"/>
                  <a:pt x="11010900" y="381000"/>
                </a:cubicBez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>
              <a:alpha val="5098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61975" y="5191125"/>
            <a:ext cx="38100" cy="381000"/>
          </a:xfrm>
          <a:custGeom>
            <a:avLst/>
            <a:gdLst/>
            <a:ahLst/>
            <a:cxnLst/>
            <a:rect l="l" t="t" r="r" b="b"/>
            <a:pathLst>
              <a:path w="38100" h="381000">
                <a:moveTo>
                  <a:pt x="3810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38100" y="381000"/>
                </a:lnTo>
                <a:cubicBezTo>
                  <a:pt x="17072" y="381000"/>
                  <a:pt x="0" y="363928"/>
                  <a:pt x="0" y="342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57225" y="5267325"/>
            <a:ext cx="363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300538" y="52863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Web, Email, File Transfer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977188" y="5286375"/>
            <a:ext cx="3629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Streaming, Gaming, DNS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47688" y="5691188"/>
            <a:ext cx="5486400" cy="695325"/>
          </a:xfrm>
          <a:custGeom>
            <a:avLst/>
            <a:gdLst/>
            <a:ahLst/>
            <a:cxnLst/>
            <a:rect l="l" t="t" r="r" b="b"/>
            <a:pathLst>
              <a:path w="5486400" h="695325">
                <a:moveTo>
                  <a:pt x="76201" y="0"/>
                </a:moveTo>
                <a:lnTo>
                  <a:pt x="5410199" y="0"/>
                </a:lnTo>
                <a:cubicBezTo>
                  <a:pt x="5452284" y="0"/>
                  <a:pt x="5486400" y="34116"/>
                  <a:pt x="5486400" y="76201"/>
                </a:cubicBezTo>
                <a:lnTo>
                  <a:pt x="5486400" y="619124"/>
                </a:lnTo>
                <a:cubicBezTo>
                  <a:pt x="5486400" y="661209"/>
                  <a:pt x="5452284" y="695325"/>
                  <a:pt x="5410199" y="695325"/>
                </a:cubicBezTo>
                <a:lnTo>
                  <a:pt x="76201" y="695325"/>
                </a:lnTo>
                <a:cubicBezTo>
                  <a:pt x="34116" y="695325"/>
                  <a:pt x="0" y="661209"/>
                  <a:pt x="0" y="61912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85800" y="58483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933450" y="5810250"/>
            <a:ext cx="125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When to Use TCP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66750" y="6076950"/>
            <a:ext cx="5314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integrity is critical: file transfers, emails, web browsing, database transactions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157913" y="5691188"/>
            <a:ext cx="5486400" cy="695325"/>
          </a:xfrm>
          <a:custGeom>
            <a:avLst/>
            <a:gdLst/>
            <a:ahLst/>
            <a:cxnLst/>
            <a:rect l="l" t="t" r="r" b="b"/>
            <a:pathLst>
              <a:path w="5486400" h="695325">
                <a:moveTo>
                  <a:pt x="76201" y="0"/>
                </a:moveTo>
                <a:lnTo>
                  <a:pt x="5410199" y="0"/>
                </a:lnTo>
                <a:cubicBezTo>
                  <a:pt x="5452284" y="0"/>
                  <a:pt x="5486400" y="34116"/>
                  <a:pt x="5486400" y="76201"/>
                </a:cubicBezTo>
                <a:lnTo>
                  <a:pt x="5486400" y="619124"/>
                </a:lnTo>
                <a:cubicBezTo>
                  <a:pt x="5486400" y="661209"/>
                  <a:pt x="5452284" y="695325"/>
                  <a:pt x="5410199" y="695325"/>
                </a:cubicBezTo>
                <a:lnTo>
                  <a:pt x="76201" y="695325"/>
                </a:lnTo>
                <a:cubicBezTo>
                  <a:pt x="34116" y="695325"/>
                  <a:pt x="0" y="661209"/>
                  <a:pt x="0" y="619124"/>
                </a:cubicBezTo>
                <a:lnTo>
                  <a:pt x="0" y="76201"/>
                </a:lnTo>
                <a:cubicBezTo>
                  <a:pt x="0" y="34116"/>
                  <a:pt x="34116" y="0"/>
                  <a:pt x="76201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6305550" y="58483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543675" y="5810250"/>
            <a:ext cx="1276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3F3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When to Use UDP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276975" y="6076950"/>
            <a:ext cx="5314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3F35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Speed matters more than reliability: live streaming, online gaming, VoIP, DNS queries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74637ed8143cdc7d88a0afc3246763c7b5d48005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5556" r="555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5EFE4">
                  <a:alpha val="95000"/>
                </a:srgbClr>
              </a:gs>
              <a:gs pos="50000">
                <a:srgbClr val="F5EFE4">
                  <a:alpha val="90000"/>
                </a:srgbClr>
              </a:gs>
              <a:gs pos="100000">
                <a:srgbClr val="9C8460">
                  <a:alpha val="2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916781"/>
            <a:ext cx="1219200" cy="390525"/>
          </a:xfrm>
          <a:custGeom>
            <a:avLst/>
            <a:gdLst/>
            <a:ahLst/>
            <a:cxnLst/>
            <a:rect l="l" t="t" r="r" b="b"/>
            <a:pathLst>
              <a:path w="1219200" h="390525">
                <a:moveTo>
                  <a:pt x="195263" y="0"/>
                </a:moveTo>
                <a:lnTo>
                  <a:pt x="1023938" y="0"/>
                </a:lnTo>
                <a:cubicBezTo>
                  <a:pt x="1131706" y="0"/>
                  <a:pt x="1219200" y="87494"/>
                  <a:pt x="1219200" y="195263"/>
                </a:cubicBezTo>
                <a:lnTo>
                  <a:pt x="1219200" y="195263"/>
                </a:lnTo>
                <a:cubicBezTo>
                  <a:pt x="1219200" y="303031"/>
                  <a:pt x="1131706" y="390525"/>
                  <a:pt x="1023938" y="390525"/>
                </a:cubicBezTo>
                <a:lnTo>
                  <a:pt x="195263" y="390525"/>
                </a:lnTo>
                <a:cubicBezTo>
                  <a:pt x="87494" y="390525"/>
                  <a:pt x="0" y="303031"/>
                  <a:pt x="0" y="195263"/>
                </a:cubicBezTo>
                <a:lnTo>
                  <a:pt x="0" y="195263"/>
                </a:lnTo>
                <a:cubicBezTo>
                  <a:pt x="0" y="87494"/>
                  <a:pt x="87494" y="0"/>
                  <a:pt x="19526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 w="12700">
            <a:solidFill>
              <a:srgbClr val="9C846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026319"/>
            <a:ext cx="9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464469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5763" y="2307431"/>
            <a:ext cx="3695700" cy="2447925"/>
          </a:xfrm>
          <a:custGeom>
            <a:avLst/>
            <a:gdLst/>
            <a:ahLst/>
            <a:cxnLst/>
            <a:rect l="l" t="t" r="r" b="b"/>
            <a:pathLst>
              <a:path w="3695700" h="2447925">
                <a:moveTo>
                  <a:pt x="152408" y="0"/>
                </a:moveTo>
                <a:lnTo>
                  <a:pt x="3543292" y="0"/>
                </a:lnTo>
                <a:cubicBezTo>
                  <a:pt x="3627465" y="0"/>
                  <a:pt x="3695700" y="68235"/>
                  <a:pt x="3695700" y="152408"/>
                </a:cubicBezTo>
                <a:lnTo>
                  <a:pt x="3695700" y="2295517"/>
                </a:lnTo>
                <a:cubicBezTo>
                  <a:pt x="3695700" y="2379690"/>
                  <a:pt x="3627465" y="2447925"/>
                  <a:pt x="3543292" y="2447925"/>
                </a:cubicBezTo>
                <a:lnTo>
                  <a:pt x="152408" y="2447925"/>
                </a:lnTo>
                <a:cubicBezTo>
                  <a:pt x="68235" y="2447925"/>
                  <a:pt x="0" y="2379690"/>
                  <a:pt x="0" y="2295517"/>
                </a:cubicBezTo>
                <a:lnTo>
                  <a:pt x="0" y="152408"/>
                </a:lnTo>
                <a:cubicBezTo>
                  <a:pt x="0" y="68292"/>
                  <a:pt x="68292" y="0"/>
                  <a:pt x="152408" y="0"/>
                </a:cubicBezTo>
                <a:close/>
              </a:path>
            </a:pathLst>
          </a:custGeom>
          <a:solidFill>
            <a:srgbClr val="9C8460">
              <a:alpha val="10196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81025" y="2502694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9C846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47713" y="2655094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71438"/>
                </a:lnTo>
                <a:cubicBezTo>
                  <a:pt x="0" y="87198"/>
                  <a:pt x="12814" y="100013"/>
                  <a:pt x="28575" y="100013"/>
                </a:cubicBezTo>
                <a:lnTo>
                  <a:pt x="171450" y="100013"/>
                </a:lnTo>
                <a:cubicBezTo>
                  <a:pt x="187211" y="100013"/>
                  <a:pt x="200025" y="87198"/>
                  <a:pt x="200025" y="714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125016" y="46434"/>
                </a:moveTo>
                <a:cubicBezTo>
                  <a:pt x="130930" y="46434"/>
                  <a:pt x="135731" y="51236"/>
                  <a:pt x="135731" y="57150"/>
                </a:cubicBezTo>
                <a:cubicBezTo>
                  <a:pt x="135731" y="63064"/>
                  <a:pt x="130930" y="67866"/>
                  <a:pt x="125016" y="67866"/>
                </a:cubicBezTo>
                <a:cubicBezTo>
                  <a:pt x="119102" y="67866"/>
                  <a:pt x="114300" y="63064"/>
                  <a:pt x="114300" y="57150"/>
                </a:cubicBezTo>
                <a:cubicBezTo>
                  <a:pt x="114300" y="51236"/>
                  <a:pt x="119102" y="46434"/>
                  <a:pt x="125016" y="46434"/>
                </a:cubicBezTo>
                <a:close/>
                <a:moveTo>
                  <a:pt x="150019" y="57150"/>
                </a:moveTo>
                <a:cubicBezTo>
                  <a:pt x="150019" y="51236"/>
                  <a:pt x="154820" y="46434"/>
                  <a:pt x="160734" y="46434"/>
                </a:cubicBezTo>
                <a:cubicBezTo>
                  <a:pt x="166648" y="46434"/>
                  <a:pt x="171450" y="51236"/>
                  <a:pt x="171450" y="57150"/>
                </a:cubicBezTo>
                <a:cubicBezTo>
                  <a:pt x="171450" y="63064"/>
                  <a:pt x="166648" y="67866"/>
                  <a:pt x="160734" y="67866"/>
                </a:cubicBezTo>
                <a:cubicBezTo>
                  <a:pt x="154820" y="67866"/>
                  <a:pt x="150019" y="63064"/>
                  <a:pt x="150019" y="57150"/>
                </a:cubicBezTo>
                <a:close/>
                <a:moveTo>
                  <a:pt x="28575" y="128588"/>
                </a:moveTo>
                <a:cubicBezTo>
                  <a:pt x="12814" y="128588"/>
                  <a:pt x="0" y="141402"/>
                  <a:pt x="0" y="1571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157163"/>
                </a:lnTo>
                <a:cubicBezTo>
                  <a:pt x="200025" y="141402"/>
                  <a:pt x="187211" y="128588"/>
                  <a:pt x="171450" y="128588"/>
                </a:cubicBezTo>
                <a:lnTo>
                  <a:pt x="28575" y="128588"/>
                </a:lnTo>
                <a:close/>
                <a:moveTo>
                  <a:pt x="125016" y="160734"/>
                </a:moveTo>
                <a:cubicBezTo>
                  <a:pt x="130930" y="160734"/>
                  <a:pt x="135731" y="165536"/>
                  <a:pt x="135731" y="171450"/>
                </a:cubicBezTo>
                <a:cubicBezTo>
                  <a:pt x="135731" y="177364"/>
                  <a:pt x="130930" y="182166"/>
                  <a:pt x="125016" y="182166"/>
                </a:cubicBezTo>
                <a:cubicBezTo>
                  <a:pt x="119102" y="182166"/>
                  <a:pt x="114300" y="177364"/>
                  <a:pt x="114300" y="171450"/>
                </a:cubicBezTo>
                <a:cubicBezTo>
                  <a:pt x="114300" y="165536"/>
                  <a:pt x="119102" y="160734"/>
                  <a:pt x="125016" y="160734"/>
                </a:cubicBezTo>
                <a:close/>
                <a:moveTo>
                  <a:pt x="150019" y="171450"/>
                </a:moveTo>
                <a:cubicBezTo>
                  <a:pt x="150019" y="165536"/>
                  <a:pt x="154820" y="160734"/>
                  <a:pt x="160734" y="160734"/>
                </a:cubicBezTo>
                <a:cubicBezTo>
                  <a:pt x="166648" y="160734"/>
                  <a:pt x="171450" y="165536"/>
                  <a:pt x="171450" y="171450"/>
                </a:cubicBezTo>
                <a:cubicBezTo>
                  <a:pt x="171450" y="177364"/>
                  <a:pt x="166648" y="182166"/>
                  <a:pt x="160734" y="182166"/>
                </a:cubicBezTo>
                <a:cubicBezTo>
                  <a:pt x="154820" y="182166"/>
                  <a:pt x="150019" y="177364"/>
                  <a:pt x="150019" y="171450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81025" y="3188494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81025" y="3569494"/>
            <a:ext cx="3381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Translates domain names to IP addresses through a hierarchical resolution process involving Root, TLD, and Authoritative nameservers.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46513" y="2307431"/>
            <a:ext cx="3695700" cy="2447925"/>
          </a:xfrm>
          <a:custGeom>
            <a:avLst/>
            <a:gdLst/>
            <a:ahLst/>
            <a:cxnLst/>
            <a:rect l="l" t="t" r="r" b="b"/>
            <a:pathLst>
              <a:path w="3695700" h="2447925">
                <a:moveTo>
                  <a:pt x="152408" y="0"/>
                </a:moveTo>
                <a:lnTo>
                  <a:pt x="3543292" y="0"/>
                </a:lnTo>
                <a:cubicBezTo>
                  <a:pt x="3627465" y="0"/>
                  <a:pt x="3695700" y="68235"/>
                  <a:pt x="3695700" y="152408"/>
                </a:cubicBezTo>
                <a:lnTo>
                  <a:pt x="3695700" y="2295517"/>
                </a:lnTo>
                <a:cubicBezTo>
                  <a:pt x="3695700" y="2379690"/>
                  <a:pt x="3627465" y="2447925"/>
                  <a:pt x="3543292" y="2447925"/>
                </a:cubicBezTo>
                <a:lnTo>
                  <a:pt x="152408" y="2447925"/>
                </a:lnTo>
                <a:cubicBezTo>
                  <a:pt x="68235" y="2447925"/>
                  <a:pt x="0" y="2379690"/>
                  <a:pt x="0" y="2295517"/>
                </a:cubicBezTo>
                <a:lnTo>
                  <a:pt x="0" y="152408"/>
                </a:lnTo>
                <a:cubicBezTo>
                  <a:pt x="0" y="68292"/>
                  <a:pt x="68292" y="0"/>
                  <a:pt x="152408" y="0"/>
                </a:cubicBezTo>
                <a:close/>
              </a:path>
            </a:pathLst>
          </a:custGeom>
          <a:solidFill>
            <a:srgbClr val="9C8C7A">
              <a:alpha val="10196"/>
            </a:srgbClr>
          </a:solidFill>
          <a:ln w="12700">
            <a:solidFill>
              <a:srgbClr val="9C8C7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441775" y="2502694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9C8C7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94175" y="265509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9C8C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41775" y="3188494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TCP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441775" y="3569494"/>
            <a:ext cx="3381375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Provides reliable, ordered data delivery with connection establishment (3-way handshake) and comprehensive error handling through retransmission.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07263" y="2307431"/>
            <a:ext cx="3695700" cy="2447925"/>
          </a:xfrm>
          <a:custGeom>
            <a:avLst/>
            <a:gdLst/>
            <a:ahLst/>
            <a:cxnLst/>
            <a:rect l="l" t="t" r="r" b="b"/>
            <a:pathLst>
              <a:path w="3695700" h="2447925">
                <a:moveTo>
                  <a:pt x="152408" y="0"/>
                </a:moveTo>
                <a:lnTo>
                  <a:pt x="3543292" y="0"/>
                </a:lnTo>
                <a:cubicBezTo>
                  <a:pt x="3627465" y="0"/>
                  <a:pt x="3695700" y="68235"/>
                  <a:pt x="3695700" y="152408"/>
                </a:cubicBezTo>
                <a:lnTo>
                  <a:pt x="3695700" y="2295517"/>
                </a:lnTo>
                <a:cubicBezTo>
                  <a:pt x="3695700" y="2379690"/>
                  <a:pt x="3627465" y="2447925"/>
                  <a:pt x="3543292" y="2447925"/>
                </a:cubicBezTo>
                <a:lnTo>
                  <a:pt x="152408" y="2447925"/>
                </a:lnTo>
                <a:cubicBezTo>
                  <a:pt x="68235" y="2447925"/>
                  <a:pt x="0" y="2379690"/>
                  <a:pt x="0" y="2295517"/>
                </a:cubicBezTo>
                <a:lnTo>
                  <a:pt x="0" y="152408"/>
                </a:lnTo>
                <a:cubicBezTo>
                  <a:pt x="0" y="68292"/>
                  <a:pt x="68292" y="0"/>
                  <a:pt x="152408" y="0"/>
                </a:cubicBezTo>
                <a:close/>
              </a:path>
            </a:pathLst>
          </a:custGeom>
          <a:solidFill>
            <a:srgbClr val="BD6B4F">
              <a:alpha val="10196"/>
            </a:srgbClr>
          </a:solidFill>
          <a:ln w="12700">
            <a:solidFill>
              <a:srgbClr val="BD6B4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302526" y="2502694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BD6B4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469213" y="2655094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51269" y="-4420"/>
                </a:moveTo>
                <a:cubicBezTo>
                  <a:pt x="156582" y="-580"/>
                  <a:pt x="158547" y="6385"/>
                  <a:pt x="156136" y="12457"/>
                </a:cubicBezTo>
                <a:lnTo>
                  <a:pt x="121131" y="100013"/>
                </a:lnTo>
                <a:lnTo>
                  <a:pt x="185738" y="100013"/>
                </a:lnTo>
                <a:cubicBezTo>
                  <a:pt x="191765" y="100013"/>
                  <a:pt x="197123" y="103763"/>
                  <a:pt x="199177" y="109433"/>
                </a:cubicBezTo>
                <a:cubicBezTo>
                  <a:pt x="201231" y="115104"/>
                  <a:pt x="199489" y="121444"/>
                  <a:pt x="194890" y="125284"/>
                </a:cubicBezTo>
                <a:lnTo>
                  <a:pt x="66303" y="232440"/>
                </a:lnTo>
                <a:cubicBezTo>
                  <a:pt x="61258" y="236637"/>
                  <a:pt x="54069" y="236860"/>
                  <a:pt x="48756" y="233020"/>
                </a:cubicBezTo>
                <a:cubicBezTo>
                  <a:pt x="43443" y="229180"/>
                  <a:pt x="41478" y="222215"/>
                  <a:pt x="43889" y="216143"/>
                </a:cubicBezTo>
                <a:lnTo>
                  <a:pt x="78894" y="128588"/>
                </a:lnTo>
                <a:lnTo>
                  <a:pt x="14288" y="128588"/>
                </a:lnTo>
                <a:cubicBezTo>
                  <a:pt x="8260" y="128588"/>
                  <a:pt x="2902" y="124837"/>
                  <a:pt x="848" y="119167"/>
                </a:cubicBezTo>
                <a:cubicBezTo>
                  <a:pt x="-1206" y="113496"/>
                  <a:pt x="536" y="107156"/>
                  <a:pt x="5135" y="103316"/>
                </a:cubicBezTo>
                <a:lnTo>
                  <a:pt x="133722" y="-3840"/>
                </a:lnTo>
                <a:cubicBezTo>
                  <a:pt x="138767" y="-8037"/>
                  <a:pt x="145956" y="-8260"/>
                  <a:pt x="151269" y="-4420"/>
                </a:cubicBezTo>
                <a:close/>
              </a:path>
            </a:pathLst>
          </a:custGeom>
          <a:solidFill>
            <a:srgbClr val="BD6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302526" y="3188494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4A3F3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UDP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02526" y="3569494"/>
            <a:ext cx="3381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4A3F35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Offers fast, connectionless communication ideal for real-time applications like video streaming, gaming, and DNS queries.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85763" y="4993481"/>
            <a:ext cx="11420475" cy="952500"/>
          </a:xfrm>
          <a:custGeom>
            <a:avLst/>
            <a:gdLst/>
            <a:ahLst/>
            <a:cxnLst/>
            <a:rect l="l" t="t" r="r" b="b"/>
            <a:pathLst>
              <a:path w="11420475" h="952500">
                <a:moveTo>
                  <a:pt x="152400" y="0"/>
                </a:moveTo>
                <a:lnTo>
                  <a:pt x="11268075" y="0"/>
                </a:lnTo>
                <a:cubicBezTo>
                  <a:pt x="11352187" y="0"/>
                  <a:pt x="11420475" y="68288"/>
                  <a:pt x="11420475" y="152400"/>
                </a:cubicBezTo>
                <a:lnTo>
                  <a:pt x="11420475" y="800100"/>
                </a:lnTo>
                <a:cubicBezTo>
                  <a:pt x="11420475" y="884212"/>
                  <a:pt x="11352187" y="952500"/>
                  <a:pt x="11268075" y="952500"/>
                </a:cubicBezTo>
                <a:lnTo>
                  <a:pt x="152400" y="952500"/>
                </a:lnTo>
                <a:cubicBezTo>
                  <a:pt x="68288" y="952500"/>
                  <a:pt x="0" y="884212"/>
                  <a:pt x="0" y="8001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F5EFE4">
              <a:alpha val="80000"/>
            </a:srgbClr>
          </a:solidFill>
          <a:ln w="12700">
            <a:solidFill>
              <a:srgbClr val="9C846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960239" y="522684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98081" y="128588"/>
                </a:moveTo>
                <a:cubicBezTo>
                  <a:pt x="100526" y="121120"/>
                  <a:pt x="105415" y="114356"/>
                  <a:pt x="110940" y="108529"/>
                </a:cubicBezTo>
                <a:cubicBezTo>
                  <a:pt x="121890" y="97010"/>
                  <a:pt x="128587" y="81439"/>
                  <a:pt x="128587" y="64294"/>
                </a:cubicBezTo>
                <a:cubicBezTo>
                  <a:pt x="128587" y="28798"/>
                  <a:pt x="99789" y="0"/>
                  <a:pt x="64294" y="0"/>
                </a:cubicBezTo>
                <a:cubicBezTo>
                  <a:pt x="28798" y="0"/>
                  <a:pt x="0" y="28798"/>
                  <a:pt x="0" y="64294"/>
                </a:cubicBezTo>
                <a:cubicBezTo>
                  <a:pt x="0" y="81439"/>
                  <a:pt x="6697" y="97010"/>
                  <a:pt x="17647" y="108529"/>
                </a:cubicBezTo>
                <a:cubicBezTo>
                  <a:pt x="23173" y="114356"/>
                  <a:pt x="28095" y="121120"/>
                  <a:pt x="30506" y="128588"/>
                </a:cubicBezTo>
                <a:lnTo>
                  <a:pt x="98048" y="128588"/>
                </a:lnTo>
                <a:close/>
                <a:moveTo>
                  <a:pt x="96441" y="144661"/>
                </a:moveTo>
                <a:lnTo>
                  <a:pt x="32147" y="144661"/>
                </a:lnTo>
                <a:lnTo>
                  <a:pt x="32147" y="150019"/>
                </a:lnTo>
                <a:cubicBezTo>
                  <a:pt x="32147" y="164820"/>
                  <a:pt x="44135" y="176808"/>
                  <a:pt x="58936" y="176808"/>
                </a:cubicBezTo>
                <a:lnTo>
                  <a:pt x="69652" y="176808"/>
                </a:lnTo>
                <a:cubicBezTo>
                  <a:pt x="84453" y="176808"/>
                  <a:pt x="96441" y="164820"/>
                  <a:pt x="96441" y="150019"/>
                </a:cubicBezTo>
                <a:lnTo>
                  <a:pt x="96441" y="144661"/>
                </a:lnTo>
                <a:close/>
                <a:moveTo>
                  <a:pt x="61615" y="37505"/>
                </a:moveTo>
                <a:cubicBezTo>
                  <a:pt x="48287" y="37505"/>
                  <a:pt x="37505" y="48287"/>
                  <a:pt x="37505" y="61615"/>
                </a:cubicBezTo>
                <a:cubicBezTo>
                  <a:pt x="37505" y="66069"/>
                  <a:pt x="33922" y="69652"/>
                  <a:pt x="29468" y="69652"/>
                </a:cubicBezTo>
                <a:cubicBezTo>
                  <a:pt x="25014" y="69652"/>
                  <a:pt x="21431" y="66069"/>
                  <a:pt x="21431" y="61615"/>
                </a:cubicBezTo>
                <a:cubicBezTo>
                  <a:pt x="21431" y="39413"/>
                  <a:pt x="39413" y="21431"/>
                  <a:pt x="61615" y="21431"/>
                </a:cubicBezTo>
                <a:cubicBezTo>
                  <a:pt x="66069" y="21431"/>
                  <a:pt x="69652" y="25014"/>
                  <a:pt x="69652" y="29468"/>
                </a:cubicBezTo>
                <a:cubicBezTo>
                  <a:pt x="69652" y="33922"/>
                  <a:pt x="66069" y="37505"/>
                  <a:pt x="61615" y="37505"/>
                </a:cubicBezTo>
                <a:close/>
              </a:path>
            </a:pathLst>
          </a:custGeom>
          <a:solidFill>
            <a:srgbClr val="9C8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14388" y="5188744"/>
            <a:ext cx="108394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350" b="1" dirty="0">
                <a:solidFill>
                  <a:srgbClr val="9C84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these protocols is fundamental to comprehending how the internet works.</a:t>
            </a:r>
            <a:r>
              <a:rPr lang="en-US" sz="1350" dirty="0">
                <a:solidFill>
                  <a:srgbClr val="4A3F35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Each protocol serves different needs—TCP for reliability, UDP for speed—and together they form the backbone of modern network communication.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1755</Words>
  <Application>Microsoft Office PowerPoint</Application>
  <PresentationFormat>Widescreen</PresentationFormat>
  <Paragraphs>373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Quattrocento Sans</vt:lpstr>
      <vt:lpstr>Hedvig Letters Sans</vt:lpstr>
      <vt:lpstr>Liter</vt:lpstr>
      <vt:lpstr>Arial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Protocols Deep Dive</dc:title>
  <dc:subject>Networking Protocols Deep Dive</dc:subject>
  <dc:creator>Kimi</dc:creator>
  <cp:lastModifiedBy>Nabila Nuzhat Moin</cp:lastModifiedBy>
  <cp:revision>15</cp:revision>
  <dcterms:created xsi:type="dcterms:W3CDTF">2026-02-27T02:15:00Z</dcterms:created>
  <dcterms:modified xsi:type="dcterms:W3CDTF">2026-06-15T07:32:47Z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{"Label":"Networking Protocols Deep Dive","ContentProducer":"001191110108MACG2KBH8F10000","ProduceID":"19c61cfc-c062-82bd-8000-00000f831523","ReservedCode1":"","ContentPropagator":"001191110108MACG2KBH8F20000","PropagateID":"19c61cfc-c062-82bd-8000-00000f831523","ReservedCode2":""}</vt:lpwstr>
  </property>
</Properties>
</file>
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Hedvig Letters Sans" panose="020B0604020202020204" charset="0"/>
      <p:regular r:id="rId18"/>
    </p:embeddedFont>
    <p:embeddedFont>
      <p:font typeface="Liter" panose="020B0604020202020204" charset="0"/>
      <p:regular r:id="rId19"/>
    </p:embeddedFont>
    <p:embeddedFont>
      <p:font typeface="Quattrocento Sans" panose="020B0502050000020003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27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00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3503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EFE4">
                  <a:alpha val="90000"/>
                </a:srgbClr>
              </a:gs>
              <a:gs pos="50000">
                <a:srgbClr val="F5EFE4">
                  <a:alpha val="80000"/>
                </a:srgbClr>
              </a:gs>
              <a:gs pos="100000">
                <a:srgbClr val="F5EFE4">
                  <a:alpha val="6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204913"/>
            <a:ext cx="1838325" cy="390525"/>
          </a:xfrm>
          <a:custGeom>
            <a:avLst/>
            <a:gdLst/>
            <a:ahLst/>
            <a:cxnLst/>
            <a:rect l="l" t="t" r="r" b="b"/>
            <a:pathLst>
              <a:path w="1838325" h="390525">
                <a:moveTo>
                  <a:pt x="195263" y="0"/>
                </a:moveTo>
                <a:lnTo>
                  <a:pt x="1643063" y="0"/>
                </a:lnTo>
                <a:cubicBezTo>
                  <a:pt x="1750831" y="0"/>
                  <a:pt x="1838325" y="87494"/>
                  <a:pt x="1838325" y="195263"/>
                </a:cubicBezTo>
                <a:lnTo>
                  <a:pt x="1838325" y="195263"/>
                </a:lnTo>
                <a:cubicBezTo>
                  <a:pt x="1838325" y="303031"/>
                  <a:pt x="1750831" y="390525"/>
                  <a:pt x="16430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w="12700">
            <a:solidFill>
              <a:srgbClr val="9C84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314450"/>
            <a:ext cx="15238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3 Notes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336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Networking Protocols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0767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DNS, TCP, and UDP - The Foundation of Internet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5775" y="53911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76300" y="535305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Architecture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329458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43758" y="5391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24758" y="535305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Protocol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78325" y="5276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02150" y="5391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73625" y="53530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Protocol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525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5325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6506" y="21145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5425" y="19812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Domain Name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5425" y="24003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phonebook translating domain names to IP addresses through hierarchical resolution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95425" y="3048000"/>
            <a:ext cx="1123950" cy="266700"/>
          </a:xfrm>
          <a:custGeom>
            <a:avLst/>
            <a:gdLst/>
            <a:ahLst/>
            <a:cxnLst/>
            <a:rect l="l" t="t" r="r" b="b"/>
            <a:pathLst>
              <a:path w="1123950" h="266700">
                <a:moveTo>
                  <a:pt x="133350" y="0"/>
                </a:moveTo>
                <a:lnTo>
                  <a:pt x="990600" y="0"/>
                </a:lnTo>
                <a:cubicBezTo>
                  <a:pt x="1064198" y="0"/>
                  <a:pt x="1123950" y="59752"/>
                  <a:pt x="1123950" y="133350"/>
                </a:cubicBezTo>
                <a:lnTo>
                  <a:pt x="1123950" y="133350"/>
                </a:lnTo>
                <a:cubicBezTo>
                  <a:pt x="1123950" y="206948"/>
                  <a:pt x="1064198" y="266700"/>
                  <a:pt x="990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5425" y="3048000"/>
            <a:ext cx="1190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Resolution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99742" y="3048000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9742" y="3048000"/>
            <a:ext cx="762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5063" y="14525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24625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65268" y="2114550"/>
            <a:ext cx="46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24725" y="19812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Protocol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24725" y="24003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Reliable, connection-oriented protocol ensuring ordered data delivery with error handling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24725" y="3048000"/>
            <a:ext cx="1314450" cy="266700"/>
          </a:xfrm>
          <a:custGeom>
            <a:avLst/>
            <a:gdLst/>
            <a:ahLst/>
            <a:cxnLst/>
            <a:rect l="l" t="t" r="r" b="b"/>
            <a:pathLst>
              <a:path w="1314450" h="266700">
                <a:moveTo>
                  <a:pt x="133350" y="0"/>
                </a:moveTo>
                <a:lnTo>
                  <a:pt x="1181100" y="0"/>
                </a:lnTo>
                <a:cubicBezTo>
                  <a:pt x="1254698" y="0"/>
                  <a:pt x="1314450" y="59752"/>
                  <a:pt x="1314450" y="133350"/>
                </a:cubicBezTo>
                <a:lnTo>
                  <a:pt x="1314450" y="133350"/>
                </a:lnTo>
                <a:cubicBezTo>
                  <a:pt x="1314450" y="206948"/>
                  <a:pt x="1254698" y="266700"/>
                  <a:pt x="1181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24725" y="3048000"/>
            <a:ext cx="13811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3-Way Handshake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17905" y="3048000"/>
            <a:ext cx="1104900" cy="266700"/>
          </a:xfrm>
          <a:custGeom>
            <a:avLst/>
            <a:gdLst/>
            <a:ahLst/>
            <a:cxnLst/>
            <a:rect l="l" t="t" r="r" b="b"/>
            <a:pathLst>
              <a:path w="1104900" h="266700">
                <a:moveTo>
                  <a:pt x="133350" y="0"/>
                </a:moveTo>
                <a:lnTo>
                  <a:pt x="971550" y="0"/>
                </a:lnTo>
                <a:cubicBezTo>
                  <a:pt x="1045148" y="0"/>
                  <a:pt x="1104900" y="59752"/>
                  <a:pt x="1104900" y="133350"/>
                </a:cubicBezTo>
                <a:lnTo>
                  <a:pt x="1104900" y="133350"/>
                </a:lnTo>
                <a:cubicBezTo>
                  <a:pt x="1104900" y="206948"/>
                  <a:pt x="1045148" y="266700"/>
                  <a:pt x="971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17905" y="3048000"/>
            <a:ext cx="1171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0814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5325" y="461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1800" y="47434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5425" y="46101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Protocol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5425" y="50292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connectionless protocol for real-time applications without delivery guarantees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95425" y="5676900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95425" y="5676900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532608" y="5676900"/>
            <a:ext cx="809625" cy="266700"/>
          </a:xfrm>
          <a:custGeom>
            <a:avLst/>
            <a:gdLst/>
            <a:ahLst/>
            <a:cxnLst/>
            <a:rect l="l" t="t" r="r" b="b"/>
            <a:pathLst>
              <a:path w="809625" h="266700">
                <a:moveTo>
                  <a:pt x="133350" y="0"/>
                </a:moveTo>
                <a:lnTo>
                  <a:pt x="676275" y="0"/>
                </a:lnTo>
                <a:cubicBezTo>
                  <a:pt x="749873" y="0"/>
                  <a:pt x="809625" y="59752"/>
                  <a:pt x="809625" y="133350"/>
                </a:cubicBezTo>
                <a:lnTo>
                  <a:pt x="809625" y="133350"/>
                </a:lnTo>
                <a:cubicBezTo>
                  <a:pt x="809625" y="206948"/>
                  <a:pt x="749873" y="266700"/>
                  <a:pt x="676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32608" y="5676900"/>
            <a:ext cx="876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5063" y="4081463"/>
            <a:ext cx="5591175" cy="2390775"/>
          </a:xfrm>
          <a:custGeom>
            <a:avLst/>
            <a:gdLst/>
            <a:ahLst/>
            <a:cxnLst/>
            <a:rect l="l" t="t" r="r" b="b"/>
            <a:pathLst>
              <a:path w="5591175" h="2390775">
                <a:moveTo>
                  <a:pt x="152412" y="0"/>
                </a:moveTo>
                <a:lnTo>
                  <a:pt x="5438763" y="0"/>
                </a:lnTo>
                <a:cubicBezTo>
                  <a:pt x="5522938" y="0"/>
                  <a:pt x="5591175" y="68237"/>
                  <a:pt x="5591175" y="152412"/>
                </a:cubicBezTo>
                <a:lnTo>
                  <a:pt x="5591175" y="2238363"/>
                </a:lnTo>
                <a:cubicBezTo>
                  <a:pt x="5591175" y="2322538"/>
                  <a:pt x="5522938" y="2390775"/>
                  <a:pt x="5438763" y="2390775"/>
                </a:cubicBezTo>
                <a:lnTo>
                  <a:pt x="152412" y="2390775"/>
                </a:lnTo>
                <a:cubicBezTo>
                  <a:pt x="68237" y="2390775"/>
                  <a:pt x="0" y="2322538"/>
                  <a:pt x="0" y="22383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24625" y="4610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57231" y="4743450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24725" y="4610100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 Comparison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24725" y="5029200"/>
            <a:ext cx="4248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Side-by-side analysis of TCP vs UDP characteristics, use cases, and performance trade-offs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24725" y="5676900"/>
            <a:ext cx="838200" cy="266700"/>
          </a:xfrm>
          <a:custGeom>
            <a:avLst/>
            <a:gdLst/>
            <a:ahLst/>
            <a:cxnLst/>
            <a:rect l="l" t="t" r="r" b="b"/>
            <a:pathLst>
              <a:path w="838200" h="266700">
                <a:moveTo>
                  <a:pt x="133350" y="0"/>
                </a:moveTo>
                <a:lnTo>
                  <a:pt x="704850" y="0"/>
                </a:lnTo>
                <a:cubicBezTo>
                  <a:pt x="778448" y="0"/>
                  <a:pt x="838200" y="59752"/>
                  <a:pt x="838200" y="133350"/>
                </a:cubicBezTo>
                <a:lnTo>
                  <a:pt x="838200" y="133350"/>
                </a:lnTo>
                <a:cubicBezTo>
                  <a:pt x="838200" y="206948"/>
                  <a:pt x="778448" y="266700"/>
                  <a:pt x="704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24725" y="5676900"/>
            <a:ext cx="904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8232" y="5676900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133350" y="0"/>
                </a:moveTo>
                <a:lnTo>
                  <a:pt x="685800" y="0"/>
                </a:lnTo>
                <a:cubicBezTo>
                  <a:pt x="759398" y="0"/>
                  <a:pt x="819150" y="59752"/>
                  <a:pt x="819150" y="133350"/>
                </a:cubicBezTo>
                <a:lnTo>
                  <a:pt x="819150" y="133350"/>
                </a:lnTo>
                <a:cubicBezTo>
                  <a:pt x="819150" y="206948"/>
                  <a:pt x="759398" y="266700"/>
                  <a:pt x="6858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38232" y="5676900"/>
            <a:ext cx="8858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loudns.net/12ca3ccb2ff035209689ac99755f19613dc64f92.png"/>
          <p:cNvPicPr>
            <a:picLocks noChangeAspect="1"/>
          </p:cNvPicPr>
          <p:nvPr/>
        </p:nvPicPr>
        <p:blipFill>
          <a:blip r:embed="rId3">
            <a:alphaModFix amt="2000"/>
          </a:blip>
          <a:srcRect t="30078" b="300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EFE4"/>
              </a:gs>
              <a:gs pos="50000">
                <a:srgbClr val="F5EFE4">
                  <a:alpha val="95000"/>
                </a:srgbClr>
              </a:gs>
              <a:gs pos="100000">
                <a:srgbClr val="F5EFE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657350"/>
            <a:ext cx="1362075" cy="390525"/>
          </a:xfrm>
          <a:custGeom>
            <a:avLst/>
            <a:gdLst/>
            <a:ahLst/>
            <a:cxnLst/>
            <a:rect l="l" t="t" r="r" b="b"/>
            <a:pathLst>
              <a:path w="1362075" h="390525">
                <a:moveTo>
                  <a:pt x="195263" y="0"/>
                </a:moveTo>
                <a:lnTo>
                  <a:pt x="1166813" y="0"/>
                </a:lnTo>
                <a:cubicBezTo>
                  <a:pt x="1274581" y="0"/>
                  <a:pt x="1362075" y="87494"/>
                  <a:pt x="1362075" y="195263"/>
                </a:cubicBezTo>
                <a:lnTo>
                  <a:pt x="1362075" y="195263"/>
                </a:lnTo>
                <a:cubicBezTo>
                  <a:pt x="1362075" y="303031"/>
                  <a:pt x="1274581" y="390525"/>
                  <a:pt x="11668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w="12700">
            <a:solidFill>
              <a:srgbClr val="9C84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766888"/>
            <a:ext cx="10483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7200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Domain Name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6972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Internet's Phonebook - How Domain Names Map to IP Addresses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49958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3425" y="4976813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Resolution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02545" y="49958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831157" y="4976813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Distribution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DNS?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876925" cy="1466850"/>
          </a:xfrm>
          <a:custGeom>
            <a:avLst/>
            <a:gdLst/>
            <a:ahLst/>
            <a:cxnLst/>
            <a:rect l="l" t="t" r="r" b="b"/>
            <a:pathLst>
              <a:path w="5876925" h="1466850">
                <a:moveTo>
                  <a:pt x="0" y="0"/>
                </a:moveTo>
                <a:lnTo>
                  <a:pt x="5762628" y="0"/>
                </a:lnTo>
                <a:cubicBezTo>
                  <a:pt x="5825753" y="0"/>
                  <a:pt x="5876925" y="51172"/>
                  <a:pt x="5876925" y="114297"/>
                </a:cubicBezTo>
                <a:lnTo>
                  <a:pt x="5876925" y="1352553"/>
                </a:lnTo>
                <a:cubicBezTo>
                  <a:pt x="5876925" y="1415678"/>
                  <a:pt x="5825753" y="1466850"/>
                  <a:pt x="5762628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856" y="1581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19200" y="14478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4943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= Domain Name System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phonebook of the internet. It translates human-readable domain names (like www.codersgyan.com) into machine-readable IP addresses (like 104.21.16.1).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76550"/>
            <a:ext cx="5876925" cy="1466850"/>
          </a:xfrm>
          <a:custGeom>
            <a:avLst/>
            <a:gdLst/>
            <a:ahLst/>
            <a:cxnLst/>
            <a:rect l="l" t="t" r="r" b="b"/>
            <a:pathLst>
              <a:path w="5876925" h="1466850">
                <a:moveTo>
                  <a:pt x="0" y="0"/>
                </a:moveTo>
                <a:lnTo>
                  <a:pt x="5762628" y="0"/>
                </a:lnTo>
                <a:cubicBezTo>
                  <a:pt x="5825753" y="0"/>
                  <a:pt x="5876925" y="51172"/>
                  <a:pt x="5876925" y="114297"/>
                </a:cubicBezTo>
                <a:lnTo>
                  <a:pt x="5876925" y="1352553"/>
                </a:lnTo>
                <a:cubicBezTo>
                  <a:pt x="5876925" y="1415678"/>
                  <a:pt x="5825753" y="1466850"/>
                  <a:pt x="5762628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9C8C7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0050" y="28765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3067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6763" y="3200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9200" y="306705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409950"/>
            <a:ext cx="49434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by </a:t>
            </a:r>
            <a:r>
              <a:rPr lang="en-US" sz="120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ICANN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(Internet Corporation for Assigned Names and Numbers), a non-profit organization responsible for coordinating the global internet's systems of unique identifiers.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95800"/>
            <a:ext cx="5876925" cy="1219200"/>
          </a:xfrm>
          <a:custGeom>
            <a:avLst/>
            <a:gdLst/>
            <a:ahLst/>
            <a:cxnLst/>
            <a:rect l="l" t="t" r="r" b="b"/>
            <a:pathLst>
              <a:path w="5876925" h="1219200">
                <a:moveTo>
                  <a:pt x="0" y="0"/>
                </a:moveTo>
                <a:lnTo>
                  <a:pt x="5762625" y="0"/>
                </a:lnTo>
                <a:cubicBezTo>
                  <a:pt x="5825709" y="0"/>
                  <a:pt x="5876925" y="51216"/>
                  <a:pt x="5876925" y="114300"/>
                </a:cubicBezTo>
                <a:lnTo>
                  <a:pt x="5876925" y="1104900"/>
                </a:lnTo>
                <a:cubicBezTo>
                  <a:pt x="5876925" y="1167984"/>
                  <a:pt x="5825709" y="1219200"/>
                  <a:pt x="5762625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D6B4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50" y="4495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9600" y="468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2950" y="4819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9200" y="46863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Domain Names?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5029200"/>
            <a:ext cx="4943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Humans are better at remembering </a:t>
            </a:r>
            <a:r>
              <a:rPr lang="en-US" sz="12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</a:t>
            </a:r>
            <a:r>
              <a:rPr lang="en-US" sz="12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numbers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Remembering "google.com" is infinitely easier than memorizing "142.250.80.46".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13165" y="1262063"/>
            <a:ext cx="5295900" cy="5210175"/>
          </a:xfrm>
          <a:custGeom>
            <a:avLst/>
            <a:gdLst/>
            <a:ahLst/>
            <a:cxnLst/>
            <a:rect l="l" t="t" r="r" b="b"/>
            <a:pathLst>
              <a:path w="5295900" h="5210175">
                <a:moveTo>
                  <a:pt x="152398" y="0"/>
                </a:moveTo>
                <a:lnTo>
                  <a:pt x="5143502" y="0"/>
                </a:lnTo>
                <a:cubicBezTo>
                  <a:pt x="5227669" y="0"/>
                  <a:pt x="5295900" y="68231"/>
                  <a:pt x="5295900" y="152398"/>
                </a:cubicBezTo>
                <a:lnTo>
                  <a:pt x="5295900" y="5057777"/>
                </a:lnTo>
                <a:cubicBezTo>
                  <a:pt x="5295900" y="5141944"/>
                  <a:pt x="5227669" y="5210175"/>
                  <a:pt x="5143502" y="5210175"/>
                </a:cubicBezTo>
                <a:lnTo>
                  <a:pt x="152398" y="5210175"/>
                </a:lnTo>
                <a:cubicBezTo>
                  <a:pt x="68231" y="5210175"/>
                  <a:pt x="0" y="5141944"/>
                  <a:pt x="0" y="50577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5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98903" y="149542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Library Analogy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46528" y="222170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29884" y="239315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32328" y="2240756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(User)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32328" y="2507456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 to find a book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46528" y="329326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17978" y="34647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6555"/>
                </a:moveTo>
                <a:cubicBezTo>
                  <a:pt x="113321" y="56555"/>
                  <a:pt x="127992" y="41883"/>
                  <a:pt x="127992" y="23812"/>
                </a:cubicBezTo>
                <a:cubicBezTo>
                  <a:pt x="127992" y="5742"/>
                  <a:pt x="113321" y="-8930"/>
                  <a:pt x="95250" y="-8930"/>
                </a:cubicBezTo>
                <a:cubicBezTo>
                  <a:pt x="77179" y="-8930"/>
                  <a:pt x="62508" y="5742"/>
                  <a:pt x="62508" y="23812"/>
                </a:cubicBezTo>
                <a:cubicBezTo>
                  <a:pt x="62508" y="41883"/>
                  <a:pt x="77179" y="56555"/>
                  <a:pt x="95250" y="56555"/>
                </a:cubicBezTo>
                <a:close/>
                <a:moveTo>
                  <a:pt x="95250" y="167692"/>
                </a:moveTo>
                <a:lnTo>
                  <a:pt x="95250" y="112142"/>
                </a:lnTo>
                <a:cubicBezTo>
                  <a:pt x="101315" y="109612"/>
                  <a:pt x="107491" y="107045"/>
                  <a:pt x="113742" y="104440"/>
                </a:cubicBezTo>
                <a:cubicBezTo>
                  <a:pt x="128253" y="98413"/>
                  <a:pt x="143805" y="95287"/>
                  <a:pt x="159544" y="95287"/>
                </a:cubicBezTo>
                <a:lnTo>
                  <a:pt x="166687" y="95287"/>
                </a:lnTo>
                <a:lnTo>
                  <a:pt x="166687" y="154818"/>
                </a:lnTo>
                <a:lnTo>
                  <a:pt x="159544" y="154818"/>
                </a:lnTo>
                <a:cubicBezTo>
                  <a:pt x="137554" y="154818"/>
                  <a:pt x="115751" y="159172"/>
                  <a:pt x="95436" y="167655"/>
                </a:cubicBezTo>
                <a:lnTo>
                  <a:pt x="95250" y="167729"/>
                </a:lnTo>
                <a:close/>
                <a:moveTo>
                  <a:pt x="95250" y="86320"/>
                </a:moveTo>
                <a:lnTo>
                  <a:pt x="85911" y="82414"/>
                </a:lnTo>
                <a:cubicBezTo>
                  <a:pt x="68498" y="75158"/>
                  <a:pt x="49820" y="71438"/>
                  <a:pt x="30956" y="71438"/>
                </a:cubicBezTo>
                <a:lnTo>
                  <a:pt x="17859" y="71438"/>
                </a:lnTo>
                <a:cubicBezTo>
                  <a:pt x="8000" y="71438"/>
                  <a:pt x="0" y="79437"/>
                  <a:pt x="0" y="89297"/>
                </a:cubicBezTo>
                <a:lnTo>
                  <a:pt x="0" y="160734"/>
                </a:lnTo>
                <a:cubicBezTo>
                  <a:pt x="0" y="170594"/>
                  <a:pt x="8000" y="178594"/>
                  <a:pt x="17859" y="178594"/>
                </a:cubicBezTo>
                <a:lnTo>
                  <a:pt x="30956" y="178594"/>
                </a:lnTo>
                <a:cubicBezTo>
                  <a:pt x="49820" y="178594"/>
                  <a:pt x="68498" y="182314"/>
                  <a:pt x="85911" y="189570"/>
                </a:cubicBezTo>
                <a:lnTo>
                  <a:pt x="90674" y="191542"/>
                </a:lnTo>
                <a:cubicBezTo>
                  <a:pt x="93613" y="192770"/>
                  <a:pt x="96887" y="192770"/>
                  <a:pt x="99826" y="191542"/>
                </a:cubicBezTo>
                <a:lnTo>
                  <a:pt x="104589" y="189570"/>
                </a:lnTo>
                <a:cubicBezTo>
                  <a:pt x="122002" y="182314"/>
                  <a:pt x="140680" y="178594"/>
                  <a:pt x="159544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89297"/>
                </a:lnTo>
                <a:cubicBezTo>
                  <a:pt x="190500" y="79437"/>
                  <a:pt x="182500" y="71437"/>
                  <a:pt x="172641" y="71437"/>
                </a:cubicBezTo>
                <a:lnTo>
                  <a:pt x="159544" y="71437"/>
                </a:lnTo>
                <a:cubicBezTo>
                  <a:pt x="140680" y="71437"/>
                  <a:pt x="122002" y="75158"/>
                  <a:pt x="104589" y="82414"/>
                </a:cubicBezTo>
                <a:lnTo>
                  <a:pt x="95250" y="86320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32328" y="3312319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Librarian (DNS)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32328" y="3579019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locate the book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46528" y="43648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94165" y="45362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32328" y="4383881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 System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32328" y="4650581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Maps titles to locations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46528" y="54363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29884" y="56078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32328" y="5455444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 (Website)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32328" y="5722144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destination found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16" y="375716"/>
            <a:ext cx="11506317" cy="187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5" b="1" kern="0" spc="104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Workflow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5716" y="601146"/>
            <a:ext cx="11609639" cy="375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3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Resolution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716" y="1014435"/>
            <a:ext cx="11515710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Step-by-step journey from domain name to IP address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716" y="142772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6717" y="1484080"/>
            <a:ext cx="140894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844" y="1394847"/>
            <a:ext cx="6086607" cy="1286829"/>
          </a:xfrm>
          <a:custGeom>
            <a:avLst/>
            <a:gdLst/>
            <a:ahLst/>
            <a:cxnLst/>
            <a:rect l="l" t="t" r="r" b="b"/>
            <a:pathLst>
              <a:path w="6086607" h="1286829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1174116"/>
                </a:lnTo>
                <a:cubicBezTo>
                  <a:pt x="6086607" y="1236365"/>
                  <a:pt x="6036144" y="1286829"/>
                  <a:pt x="5973894" y="1286829"/>
                </a:cubicBezTo>
                <a:lnTo>
                  <a:pt x="112713" y="1286829"/>
                </a:lnTo>
                <a:cubicBezTo>
                  <a:pt x="50463" y="1286829"/>
                  <a:pt x="0" y="1236365"/>
                  <a:pt x="0" y="1174116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6256" y="1512259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Checking Local Cache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6256" y="1812832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making external requests, your system checks local storage for previously resolved domains.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86256" y="2301263"/>
            <a:ext cx="1014435" cy="263002"/>
          </a:xfrm>
          <a:custGeom>
            <a:avLst/>
            <a:gdLst/>
            <a:ahLst/>
            <a:cxnLst/>
            <a:rect l="l" t="t" r="r" b="b"/>
            <a:pathLst>
              <a:path w="1014435" h="263002">
                <a:moveTo>
                  <a:pt x="37572" y="0"/>
                </a:moveTo>
                <a:lnTo>
                  <a:pt x="976862" y="0"/>
                </a:lnTo>
                <a:cubicBezTo>
                  <a:pt x="997599" y="0"/>
                  <a:pt x="1014435" y="16836"/>
                  <a:pt x="1014435" y="37572"/>
                </a:cubicBezTo>
                <a:lnTo>
                  <a:pt x="1014435" y="225429"/>
                </a:lnTo>
                <a:cubicBezTo>
                  <a:pt x="1014435" y="246180"/>
                  <a:pt x="997613" y="263002"/>
                  <a:pt x="976862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6256" y="2301263"/>
            <a:ext cx="1080185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74513" y="2301263"/>
            <a:ext cx="1070792" cy="263002"/>
          </a:xfrm>
          <a:custGeom>
            <a:avLst/>
            <a:gdLst/>
            <a:ahLst/>
            <a:cxnLst/>
            <a:rect l="l" t="t" r="r" b="b"/>
            <a:pathLst>
              <a:path w="1070792" h="263002">
                <a:moveTo>
                  <a:pt x="37572" y="0"/>
                </a:moveTo>
                <a:lnTo>
                  <a:pt x="1033220" y="0"/>
                </a:lnTo>
                <a:cubicBezTo>
                  <a:pt x="1053956" y="0"/>
                  <a:pt x="1070792" y="16836"/>
                  <a:pt x="1070792" y="37572"/>
                </a:cubicBezTo>
                <a:lnTo>
                  <a:pt x="1070792" y="225429"/>
                </a:lnTo>
                <a:cubicBezTo>
                  <a:pt x="1070792" y="246180"/>
                  <a:pt x="1053970" y="263002"/>
                  <a:pt x="1033220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74513" y="2301263"/>
            <a:ext cx="1136542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OS-Level Cache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716" y="2723945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0426" y="2780302"/>
            <a:ext cx="16907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844" y="2691069"/>
            <a:ext cx="6086607" cy="1286829"/>
          </a:xfrm>
          <a:custGeom>
            <a:avLst/>
            <a:gdLst/>
            <a:ahLst/>
            <a:cxnLst/>
            <a:rect l="l" t="t" r="r" b="b"/>
            <a:pathLst>
              <a:path w="6086607" h="1286829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1174116"/>
                </a:lnTo>
                <a:cubicBezTo>
                  <a:pt x="6086607" y="1236365"/>
                  <a:pt x="6036144" y="1286829"/>
                  <a:pt x="5973894" y="1286829"/>
                </a:cubicBezTo>
                <a:lnTo>
                  <a:pt x="112713" y="1286829"/>
                </a:lnTo>
                <a:cubicBezTo>
                  <a:pt x="50463" y="1286829"/>
                  <a:pt x="0" y="1236365"/>
                  <a:pt x="0" y="1174116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6256" y="2808481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Resolver / Recursor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6256" y="3109054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local cache misses, request goes to a DNS Resolver — like a librarian who helps find the right section.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6256" y="3597485"/>
            <a:ext cx="770219" cy="263002"/>
          </a:xfrm>
          <a:custGeom>
            <a:avLst/>
            <a:gdLst/>
            <a:ahLst/>
            <a:cxnLst/>
            <a:rect l="l" t="t" r="r" b="b"/>
            <a:pathLst>
              <a:path w="770219" h="263002">
                <a:moveTo>
                  <a:pt x="37572" y="0"/>
                </a:moveTo>
                <a:lnTo>
                  <a:pt x="732646" y="0"/>
                </a:lnTo>
                <a:cubicBezTo>
                  <a:pt x="753383" y="0"/>
                  <a:pt x="770219" y="16836"/>
                  <a:pt x="770219" y="37572"/>
                </a:cubicBezTo>
                <a:lnTo>
                  <a:pt x="770219" y="225429"/>
                </a:lnTo>
                <a:cubicBezTo>
                  <a:pt x="770219" y="246180"/>
                  <a:pt x="753397" y="263002"/>
                  <a:pt x="732646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6256" y="3597485"/>
            <a:ext cx="835969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 Default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31178" y="3597485"/>
            <a:ext cx="967470" cy="263002"/>
          </a:xfrm>
          <a:custGeom>
            <a:avLst/>
            <a:gdLst/>
            <a:ahLst/>
            <a:cxnLst/>
            <a:rect l="l" t="t" r="r" b="b"/>
            <a:pathLst>
              <a:path w="967470" h="263002">
                <a:moveTo>
                  <a:pt x="37572" y="0"/>
                </a:moveTo>
                <a:lnTo>
                  <a:pt x="929898" y="0"/>
                </a:lnTo>
                <a:cubicBezTo>
                  <a:pt x="950634" y="0"/>
                  <a:pt x="967470" y="16836"/>
                  <a:pt x="967470" y="37572"/>
                </a:cubicBezTo>
                <a:lnTo>
                  <a:pt x="967470" y="225429"/>
                </a:lnTo>
                <a:cubicBezTo>
                  <a:pt x="967470" y="246180"/>
                  <a:pt x="950648" y="263002"/>
                  <a:pt x="929898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31178" y="3597485"/>
            <a:ext cx="1033220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8.8.8.8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77166" y="3597485"/>
            <a:ext cx="1033220" cy="263002"/>
          </a:xfrm>
          <a:custGeom>
            <a:avLst/>
            <a:gdLst/>
            <a:ahLst/>
            <a:cxnLst/>
            <a:rect l="l" t="t" r="r" b="b"/>
            <a:pathLst>
              <a:path w="1033220" h="263002">
                <a:moveTo>
                  <a:pt x="37572" y="0"/>
                </a:moveTo>
                <a:lnTo>
                  <a:pt x="995648" y="0"/>
                </a:lnTo>
                <a:cubicBezTo>
                  <a:pt x="1016385" y="0"/>
                  <a:pt x="1033220" y="16836"/>
                  <a:pt x="1033220" y="37572"/>
                </a:cubicBezTo>
                <a:lnTo>
                  <a:pt x="1033220" y="225429"/>
                </a:lnTo>
                <a:cubicBezTo>
                  <a:pt x="1033220" y="246180"/>
                  <a:pt x="1016399" y="263002"/>
                  <a:pt x="995648" y="263002"/>
                </a:cubicBezTo>
                <a:lnTo>
                  <a:pt x="37572" y="263002"/>
                </a:lnTo>
                <a:cubicBezTo>
                  <a:pt x="16836" y="263002"/>
                  <a:pt x="0" y="246166"/>
                  <a:pt x="0" y="225429"/>
                </a:cubicBezTo>
                <a:lnTo>
                  <a:pt x="0" y="37572"/>
                </a:lnTo>
                <a:cubicBezTo>
                  <a:pt x="0" y="16836"/>
                  <a:pt x="16836" y="0"/>
                  <a:pt x="37572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77166" y="3597485"/>
            <a:ext cx="1098971" cy="263002"/>
          </a:xfrm>
          <a:prstGeom prst="rect">
            <a:avLst/>
          </a:prstGeom>
          <a:noFill/>
          <a:ln/>
        </p:spPr>
        <p:txBody>
          <a:bodyPr wrap="square" lIns="75143" tIns="37572" rIns="75143" bIns="37572" rtlCol="0" anchor="ctr"/>
          <a:lstStyle/>
          <a:p>
            <a:pPr>
              <a:lnSpc>
                <a:spcPct val="120000"/>
              </a:lnSpc>
            </a:pPr>
            <a:r>
              <a:rPr lang="en-US" sz="1035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1.1.1.1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5716" y="4020166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8225" y="4076524"/>
            <a:ext cx="17846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844" y="3987291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6256" y="4104703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Root Nameservers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6256" y="4405276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resolver asks Root Nameserver — acts like an index in a library. It directs to the correct TLD server based on domain extension (e.g., .com).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5716" y="4978243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0573" y="5034601"/>
            <a:ext cx="169072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8844" y="4945368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6256" y="5062780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TLD Nameserver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6256" y="5363353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.com TLD nameserver acts like a section dedicated to .com domains. It knows where to find codersgyan.com and directs to the Authoritative Nameserver.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5716" y="5936320"/>
            <a:ext cx="375716" cy="375716"/>
          </a:xfrm>
          <a:custGeom>
            <a:avLst/>
            <a:gdLst/>
            <a:ahLst/>
            <a:cxnLst/>
            <a:rect l="l" t="t" r="r" b="b"/>
            <a:pathLst>
              <a:path w="375716" h="375716">
                <a:moveTo>
                  <a:pt x="75143" y="0"/>
                </a:moveTo>
                <a:lnTo>
                  <a:pt x="300573" y="0"/>
                </a:lnTo>
                <a:cubicBezTo>
                  <a:pt x="342074" y="0"/>
                  <a:pt x="375716" y="33643"/>
                  <a:pt x="375716" y="75143"/>
                </a:cubicBezTo>
                <a:lnTo>
                  <a:pt x="375716" y="300573"/>
                </a:lnTo>
                <a:cubicBezTo>
                  <a:pt x="375716" y="342074"/>
                  <a:pt x="342074" y="375716"/>
                  <a:pt x="300573" y="375716"/>
                </a:cubicBezTo>
                <a:lnTo>
                  <a:pt x="75143" y="375716"/>
                </a:lnTo>
                <a:cubicBezTo>
                  <a:pt x="33643" y="375716"/>
                  <a:pt x="0" y="342074"/>
                  <a:pt x="0" y="300573"/>
                </a:cubicBezTo>
                <a:lnTo>
                  <a:pt x="0" y="75143"/>
                </a:lnTo>
                <a:cubicBezTo>
                  <a:pt x="0" y="33643"/>
                  <a:pt x="33643" y="0"/>
                  <a:pt x="75143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8078" y="5992678"/>
            <a:ext cx="178465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8844" y="5903445"/>
            <a:ext cx="6086607" cy="948684"/>
          </a:xfrm>
          <a:custGeom>
            <a:avLst/>
            <a:gdLst/>
            <a:ahLst/>
            <a:cxnLst/>
            <a:rect l="l" t="t" r="r" b="b"/>
            <a:pathLst>
              <a:path w="6086607" h="948684">
                <a:moveTo>
                  <a:pt x="112713" y="0"/>
                </a:moveTo>
                <a:lnTo>
                  <a:pt x="5973894" y="0"/>
                </a:lnTo>
                <a:cubicBezTo>
                  <a:pt x="6036144" y="0"/>
                  <a:pt x="6086607" y="50463"/>
                  <a:pt x="6086607" y="112713"/>
                </a:cubicBezTo>
                <a:lnTo>
                  <a:pt x="6086607" y="835971"/>
                </a:lnTo>
                <a:cubicBezTo>
                  <a:pt x="6086607" y="898221"/>
                  <a:pt x="6036144" y="948684"/>
                  <a:pt x="5973894" y="948684"/>
                </a:cubicBezTo>
                <a:lnTo>
                  <a:pt x="112713" y="948684"/>
                </a:lnTo>
                <a:cubicBezTo>
                  <a:pt x="50463" y="948684"/>
                  <a:pt x="0" y="898221"/>
                  <a:pt x="0" y="835971"/>
                </a:cubicBezTo>
                <a:lnTo>
                  <a:pt x="0" y="112713"/>
                </a:lnTo>
                <a:cubicBezTo>
                  <a:pt x="0" y="50463"/>
                  <a:pt x="50463" y="0"/>
                  <a:pt x="112713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6256" y="6020857"/>
            <a:ext cx="5936320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1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Authoritative Nameserver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86256" y="6321430"/>
            <a:ext cx="592692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Holds the final answer — provides the exact IP address (e.g., 104.21.16.1). The resolver sends it back to your browser to load the website.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11902" y="1394847"/>
            <a:ext cx="4696456" cy="5457282"/>
          </a:xfrm>
          <a:custGeom>
            <a:avLst/>
            <a:gdLst/>
            <a:ahLst/>
            <a:cxnLst/>
            <a:rect l="l" t="t" r="r" b="b"/>
            <a:pathLst>
              <a:path w="4696456" h="5457282">
                <a:moveTo>
                  <a:pt x="112715" y="0"/>
                </a:moveTo>
                <a:lnTo>
                  <a:pt x="4583741" y="0"/>
                </a:lnTo>
                <a:cubicBezTo>
                  <a:pt x="4645992" y="0"/>
                  <a:pt x="4696456" y="50464"/>
                  <a:pt x="4696456" y="112715"/>
                </a:cubicBezTo>
                <a:lnTo>
                  <a:pt x="4696456" y="5344567"/>
                </a:lnTo>
                <a:cubicBezTo>
                  <a:pt x="4696456" y="5406818"/>
                  <a:pt x="4645992" y="5457282"/>
                  <a:pt x="4583741" y="5457282"/>
                </a:cubicBezTo>
                <a:lnTo>
                  <a:pt x="112715" y="5457282"/>
                </a:lnTo>
                <a:cubicBezTo>
                  <a:pt x="50464" y="5457282"/>
                  <a:pt x="0" y="5406818"/>
                  <a:pt x="0" y="5344567"/>
                </a:cubicBezTo>
                <a:lnTo>
                  <a:pt x="0" y="112715"/>
                </a:lnTo>
                <a:cubicBezTo>
                  <a:pt x="0" y="50506"/>
                  <a:pt x="50506" y="0"/>
                  <a:pt x="112715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4617" y="1549831"/>
            <a:ext cx="4471026" cy="263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1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Resolution Flow</a:t>
            </a:r>
            <a:endParaRPr lang="en-US" sz="1600" dirty="0"/>
          </a:p>
        </p:txBody>
      </p:sp>
      <p:pic>
        <p:nvPicPr>
          <p:cNvPr id="42" name="Image 0" descr="https://kimi-img.moonshot.cn/pub/slides/26-02-15-23:01:47-d68tvmoonf4jfte20h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885" y="1925547"/>
            <a:ext cx="4320740" cy="4771599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 Caching &amp; Propagation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47763"/>
            <a:ext cx="5629275" cy="2028825"/>
          </a:xfrm>
          <a:custGeom>
            <a:avLst/>
            <a:gdLst/>
            <a:ahLst/>
            <a:cxnLst/>
            <a:rect l="l" t="t" r="r" b="b"/>
            <a:pathLst>
              <a:path w="5629275" h="20288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914521"/>
                </a:lnTo>
                <a:cubicBezTo>
                  <a:pt x="5629275" y="1977649"/>
                  <a:pt x="5578099" y="2028825"/>
                  <a:pt x="5514971" y="2028825"/>
                </a:cubicBezTo>
                <a:lnTo>
                  <a:pt x="114304" y="2028825"/>
                </a:lnTo>
                <a:cubicBezTo>
                  <a:pt x="51176" y="2028825"/>
                  <a:pt x="0" y="1977649"/>
                  <a:pt x="0" y="19145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BD6B4F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2925" y="13049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0081" y="1409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8225" y="1362075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Updates Take Time?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925" y="1762125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changes take time to propagate globally because Root, TLD, and Authoritative Nameservers worldwide need to update their records.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333625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7225" y="2447925"/>
            <a:ext cx="5162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(Time-to-Live):</a:t>
            </a:r>
            <a:r>
              <a:rPr lang="en-US" sz="1200" dirty="0">
                <a:solidFill>
                  <a:srgbClr val="4A3F3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how long DNS records are cached before refreshing. Lower TTL = faster updates but more queries.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300413"/>
            <a:ext cx="5629275" cy="3171825"/>
          </a:xfrm>
          <a:custGeom>
            <a:avLst/>
            <a:gdLst/>
            <a:ahLst/>
            <a:cxnLst/>
            <a:rect l="l" t="t" r="r" b="b"/>
            <a:pathLst>
              <a:path w="5629275" h="3171825">
                <a:moveTo>
                  <a:pt x="114313" y="0"/>
                </a:moveTo>
                <a:lnTo>
                  <a:pt x="5514962" y="0"/>
                </a:lnTo>
                <a:cubicBezTo>
                  <a:pt x="5578096" y="0"/>
                  <a:pt x="5629275" y="51179"/>
                  <a:pt x="5629275" y="114313"/>
                </a:cubicBezTo>
                <a:lnTo>
                  <a:pt x="5629275" y="3057512"/>
                </a:lnTo>
                <a:cubicBezTo>
                  <a:pt x="5629275" y="3120646"/>
                  <a:pt x="5578096" y="3171825"/>
                  <a:pt x="5514962" y="3171825"/>
                </a:cubicBezTo>
                <a:lnTo>
                  <a:pt x="114313" y="3171825"/>
                </a:lnTo>
                <a:cubicBezTo>
                  <a:pt x="51179" y="3171825"/>
                  <a:pt x="0" y="3120646"/>
                  <a:pt x="0" y="3057512"/>
                </a:cubicBezTo>
                <a:lnTo>
                  <a:pt x="0" y="114313"/>
                </a:lnTo>
                <a:cubicBezTo>
                  <a:pt x="0" y="51179"/>
                  <a:pt x="51179" y="0"/>
                  <a:pt x="114313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925" y="345757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Three Levels of Caching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3838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1031" y="3924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2025" y="3838575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2025" y="4067175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previously visited domain records to avoid repeated lookups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4410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1031" y="44958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91678"/>
                </a:lnTo>
                <a:cubicBezTo>
                  <a:pt x="0" y="100872"/>
                  <a:pt x="7475" y="108347"/>
                  <a:pt x="16669" y="108347"/>
                </a:cubicBezTo>
                <a:lnTo>
                  <a:pt x="54173" y="108347"/>
                </a:lnTo>
                <a:lnTo>
                  <a:pt x="50006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102096" y="133350"/>
                </a:lnTo>
                <a:cubicBezTo>
                  <a:pt x="105560" y="133350"/>
                  <a:pt x="108347" y="130563"/>
                  <a:pt x="108347" y="127099"/>
                </a:cubicBezTo>
                <a:cubicBezTo>
                  <a:pt x="108347" y="123635"/>
                  <a:pt x="105560" y="120848"/>
                  <a:pt x="102096" y="120848"/>
                </a:cubicBezTo>
                <a:lnTo>
                  <a:pt x="83344" y="120848"/>
                </a:lnTo>
                <a:lnTo>
                  <a:pt x="79177" y="108347"/>
                </a:lnTo>
                <a:lnTo>
                  <a:pt x="116681" y="108347"/>
                </a:lnTo>
                <a:cubicBezTo>
                  <a:pt x="125875" y="108347"/>
                  <a:pt x="133350" y="100872"/>
                  <a:pt x="133350" y="91678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25003" y="25003"/>
                </a:move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lnTo>
                  <a:pt x="116681" y="75009"/>
                </a:lnTo>
                <a:cubicBezTo>
                  <a:pt x="116681" y="79619"/>
                  <a:pt x="112957" y="83344"/>
                  <a:pt x="108347" y="83344"/>
                </a:cubicBezTo>
                <a:lnTo>
                  <a:pt x="25003" y="83344"/>
                </a:lnTo>
                <a:cubicBezTo>
                  <a:pt x="20393" y="83344"/>
                  <a:pt x="16669" y="79619"/>
                  <a:pt x="16669" y="75009"/>
                </a:cubicBezTo>
                <a:lnTo>
                  <a:pt x="16669" y="33337"/>
                </a:lnTo>
                <a:cubicBezTo>
                  <a:pt x="16669" y="28728"/>
                  <a:pt x="20393" y="25003"/>
                  <a:pt x="25003" y="25003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2025" y="4410075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OS-Level Cache (DNS Client)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2025" y="4638675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 maintains a temporary DNS cache for all applications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4981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9366" y="5067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2025" y="498157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Resolver Cache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2025" y="521017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ISPs and providers (Google 8.8.8.8, Cloudflare 1.1.1.1) maintain large caches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1147763"/>
            <a:ext cx="5629275" cy="3800475"/>
          </a:xfrm>
          <a:custGeom>
            <a:avLst/>
            <a:gdLst/>
            <a:ahLst/>
            <a:cxnLst/>
            <a:rect l="l" t="t" r="r" b="b"/>
            <a:pathLst>
              <a:path w="5629275" h="3800475">
                <a:moveTo>
                  <a:pt x="114318" y="0"/>
                </a:moveTo>
                <a:lnTo>
                  <a:pt x="5514957" y="0"/>
                </a:lnTo>
                <a:cubicBezTo>
                  <a:pt x="5578093" y="0"/>
                  <a:pt x="5629275" y="51182"/>
                  <a:pt x="5629275" y="114318"/>
                </a:cubicBezTo>
                <a:lnTo>
                  <a:pt x="5629275" y="3686157"/>
                </a:lnTo>
                <a:cubicBezTo>
                  <a:pt x="5629275" y="3749293"/>
                  <a:pt x="5578093" y="3800475"/>
                  <a:pt x="5514957" y="3800475"/>
                </a:cubicBezTo>
                <a:lnTo>
                  <a:pt x="114318" y="3800475"/>
                </a:lnTo>
                <a:cubicBezTo>
                  <a:pt x="51182" y="3800475"/>
                  <a:pt x="0" y="3749293"/>
                  <a:pt x="0" y="36861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263" y="13049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Caching Benefits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3175" y="1647825"/>
            <a:ext cx="5295900" cy="952500"/>
          </a:xfrm>
          <a:custGeom>
            <a:avLst/>
            <a:gdLst/>
            <a:ahLst/>
            <a:cxnLst/>
            <a:rect l="l" t="t" r="r" b="b"/>
            <a:pathLst>
              <a:path w="5295900" h="9525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876300"/>
                </a:lnTo>
                <a:cubicBezTo>
                  <a:pt x="5295900" y="918356"/>
                  <a:pt x="5261756" y="952500"/>
                  <a:pt x="52197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53175" y="1647825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05575" y="1800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53225" y="1762125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Loading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6525" y="2028825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Websites load faster by avoiding repeated DNS lookups for frequently visited sites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175" y="2676525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38100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53175" y="2676525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96050" y="2828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53225" y="2790825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Traffic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86525" y="30575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Lessens the overall burden on DNS infrastructure and network bandwidth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3175" y="3476625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38100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53175" y="3476625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05575" y="3629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53225" y="3590925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Reliability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86525" y="38576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caching provides fallback if DNS servers are temporarily unavailable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963" y="507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1285879"/>
                </a:lnTo>
                <a:cubicBezTo>
                  <a:pt x="5629275" y="1348961"/>
                  <a:pt x="5578061" y="1400175"/>
                  <a:pt x="55149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34125" y="52292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Not Direct ICANN Communication?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34125" y="5572125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request doesn't go directly to ICANN. Instead, it interacts with </a:t>
            </a:r>
            <a:r>
              <a:rPr lang="en-US" sz="120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Resolvers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which handle communication with Root, TLD, and Authoritative Nameservers. This </a:t>
            </a:r>
            <a:r>
              <a:rPr lang="en-US" sz="120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system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makes the process efficient and scalable.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nsstuff.com/9269d5752a348b7be7328ca7d935b2d9d34819dd.png"/>
          <p:cNvPicPr>
            <a:picLocks noChangeAspect="1"/>
          </p:cNvPicPr>
          <p:nvPr/>
        </p:nvPicPr>
        <p:blipFill>
          <a:blip r:embed="rId3">
            <a:alphaModFix amt="2000"/>
          </a:blip>
          <a:srcRect l="3485" r="348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EFE4"/>
              </a:gs>
              <a:gs pos="50000">
                <a:srgbClr val="F5EFE4">
                  <a:alpha val="95000"/>
                </a:srgbClr>
              </a:gs>
              <a:gs pos="100000">
                <a:srgbClr val="F5EFE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414397" y="1471613"/>
            <a:ext cx="1390650" cy="390525"/>
          </a:xfrm>
          <a:custGeom>
            <a:avLst/>
            <a:gdLst/>
            <a:ahLst/>
            <a:cxnLst/>
            <a:rect l="l" t="t" r="r" b="b"/>
            <a:pathLst>
              <a:path w="1390650" h="390525">
                <a:moveTo>
                  <a:pt x="195263" y="0"/>
                </a:moveTo>
                <a:lnTo>
                  <a:pt x="1195388" y="0"/>
                </a:lnTo>
                <a:cubicBezTo>
                  <a:pt x="1303156" y="0"/>
                  <a:pt x="1390650" y="87494"/>
                  <a:pt x="1390650" y="195263"/>
                </a:cubicBezTo>
                <a:lnTo>
                  <a:pt x="1390650" y="195263"/>
                </a:lnTo>
                <a:cubicBezTo>
                  <a:pt x="1390650" y="303031"/>
                  <a:pt x="1303156" y="390525"/>
                  <a:pt x="11953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w="12700">
            <a:solidFill>
              <a:srgbClr val="9C84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533459" y="1581150"/>
            <a:ext cx="10775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52900" y="2095500"/>
            <a:ext cx="7658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1500" y="40386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Transmission Control Protocol - Reliable, Connection-Oriented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46902" y="51625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Delivery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38470" y="5181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81370" y="51625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Ordered Data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596688" y="518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5786" y="14139"/>
                </a:moveTo>
                <a:cubicBezTo>
                  <a:pt x="158874" y="16371"/>
                  <a:pt x="160734" y="19980"/>
                  <a:pt x="160734" y="23812"/>
                </a:cubicBezTo>
                <a:lnTo>
                  <a:pt x="160734" y="59531"/>
                </a:lnTo>
                <a:lnTo>
                  <a:pt x="166688" y="59531"/>
                </a:lnTo>
                <a:cubicBezTo>
                  <a:pt x="173273" y="59531"/>
                  <a:pt x="178594" y="64852"/>
                  <a:pt x="178594" y="71438"/>
                </a:cubicBezTo>
                <a:cubicBezTo>
                  <a:pt x="178594" y="78023"/>
                  <a:pt x="173273" y="83344"/>
                  <a:pt x="166688" y="83344"/>
                </a:cubicBezTo>
                <a:lnTo>
                  <a:pt x="130969" y="83344"/>
                </a:lnTo>
                <a:cubicBezTo>
                  <a:pt x="124383" y="83344"/>
                  <a:pt x="119063" y="78023"/>
                  <a:pt x="119063" y="71438"/>
                </a:cubicBezTo>
                <a:cubicBezTo>
                  <a:pt x="119063" y="64852"/>
                  <a:pt x="124383" y="59531"/>
                  <a:pt x="130969" y="59531"/>
                </a:cubicBezTo>
                <a:lnTo>
                  <a:pt x="136922" y="59531"/>
                </a:lnTo>
                <a:lnTo>
                  <a:pt x="136922" y="40332"/>
                </a:lnTo>
                <a:lnTo>
                  <a:pt x="134727" y="41077"/>
                </a:lnTo>
                <a:cubicBezTo>
                  <a:pt x="128476" y="43160"/>
                  <a:pt x="121741" y="39774"/>
                  <a:pt x="119658" y="33561"/>
                </a:cubicBezTo>
                <a:cubicBezTo>
                  <a:pt x="117574" y="27347"/>
                  <a:pt x="120960" y="20575"/>
                  <a:pt x="127174" y="18492"/>
                </a:cubicBezTo>
                <a:lnTo>
                  <a:pt x="145033" y="12539"/>
                </a:lnTo>
                <a:cubicBezTo>
                  <a:pt x="148679" y="11311"/>
                  <a:pt x="152660" y="11943"/>
                  <a:pt x="155749" y="14176"/>
                </a:cubicBezTo>
                <a:close/>
                <a:moveTo>
                  <a:pt x="135843" y="160213"/>
                </a:moveTo>
                <a:lnTo>
                  <a:pt x="140196" y="153516"/>
                </a:lnTo>
                <a:cubicBezTo>
                  <a:pt x="127955" y="149833"/>
                  <a:pt x="119063" y="138447"/>
                  <a:pt x="119063" y="125016"/>
                </a:cubicBezTo>
                <a:cubicBezTo>
                  <a:pt x="119063" y="108570"/>
                  <a:pt x="132383" y="95250"/>
                  <a:pt x="148828" y="95250"/>
                </a:cubicBezTo>
                <a:cubicBezTo>
                  <a:pt x="165274" y="95250"/>
                  <a:pt x="178594" y="108570"/>
                  <a:pt x="178594" y="125016"/>
                </a:cubicBezTo>
                <a:cubicBezTo>
                  <a:pt x="178594" y="133536"/>
                  <a:pt x="176138" y="141870"/>
                  <a:pt x="171487" y="149014"/>
                </a:cubicBezTo>
                <a:lnTo>
                  <a:pt x="155823" y="173162"/>
                </a:lnTo>
                <a:cubicBezTo>
                  <a:pt x="152251" y="178668"/>
                  <a:pt x="144884" y="180268"/>
                  <a:pt x="139340" y="176659"/>
                </a:cubicBezTo>
                <a:cubicBezTo>
                  <a:pt x="133796" y="173050"/>
                  <a:pt x="132234" y="165720"/>
                  <a:pt x="135843" y="160176"/>
                </a:cubicBezTo>
                <a:close/>
                <a:moveTo>
                  <a:pt x="157758" y="125016"/>
                </a:moveTo>
                <a:cubicBezTo>
                  <a:pt x="157758" y="120087"/>
                  <a:pt x="153757" y="116086"/>
                  <a:pt x="148828" y="116086"/>
                </a:cubicBezTo>
                <a:cubicBezTo>
                  <a:pt x="143900" y="116086"/>
                  <a:pt x="139898" y="120087"/>
                  <a:pt x="139898" y="125016"/>
                </a:cubicBezTo>
                <a:cubicBezTo>
                  <a:pt x="139898" y="129944"/>
                  <a:pt x="143900" y="133945"/>
                  <a:pt x="148828" y="133945"/>
                </a:cubicBezTo>
                <a:cubicBezTo>
                  <a:pt x="153757" y="133945"/>
                  <a:pt x="157758" y="129944"/>
                  <a:pt x="157758" y="125016"/>
                </a:cubicBezTo>
                <a:close/>
                <a:moveTo>
                  <a:pt x="56034" y="175096"/>
                </a:move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lnTo>
                  <a:pt x="56071" y="175096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Fundamentals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4914900" cy="2247900"/>
          </a:xfrm>
          <a:custGeom>
            <a:avLst/>
            <a:gdLst/>
            <a:ahLst/>
            <a:cxnLst/>
            <a:rect l="l" t="t" r="r" b="b"/>
            <a:pathLst>
              <a:path w="4914900" h="2247900">
                <a:moveTo>
                  <a:pt x="0" y="0"/>
                </a:moveTo>
                <a:lnTo>
                  <a:pt x="4800594" y="0"/>
                </a:lnTo>
                <a:cubicBezTo>
                  <a:pt x="4863724" y="0"/>
                  <a:pt x="4914900" y="51176"/>
                  <a:pt x="4914900" y="114306"/>
                </a:cubicBezTo>
                <a:lnTo>
                  <a:pt x="4914900" y="2133594"/>
                </a:lnTo>
                <a:cubicBezTo>
                  <a:pt x="4914900" y="2196724"/>
                  <a:pt x="4863724" y="2247900"/>
                  <a:pt x="4800594" y="2247900"/>
                </a:cubicBez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1430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1295400"/>
            <a:ext cx="467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TCP?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38300"/>
            <a:ext cx="4667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(Transmission Control Protocol)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one of the main protocols of the TCP/IP suite, lying between the Application and Network Layers.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257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4388" y="22098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Connection-oriented protocol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52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4388" y="24765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Breaks data into segments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4388" y="27432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Reassembles at destination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0550" y="30575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4388" y="30099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route capability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09963"/>
            <a:ext cx="4924425" cy="3095625"/>
          </a:xfrm>
          <a:custGeom>
            <a:avLst/>
            <a:gdLst/>
            <a:ahLst/>
            <a:cxnLst/>
            <a:rect l="l" t="t" r="r" b="b"/>
            <a:pathLst>
              <a:path w="4924425" h="3095625">
                <a:moveTo>
                  <a:pt x="114290" y="0"/>
                </a:moveTo>
                <a:lnTo>
                  <a:pt x="4810135" y="0"/>
                </a:lnTo>
                <a:cubicBezTo>
                  <a:pt x="4873255" y="0"/>
                  <a:pt x="4924425" y="51170"/>
                  <a:pt x="4924425" y="114290"/>
                </a:cubicBezTo>
                <a:lnTo>
                  <a:pt x="4924425" y="2981335"/>
                </a:lnTo>
                <a:cubicBezTo>
                  <a:pt x="4924425" y="3044455"/>
                  <a:pt x="4873255" y="3095625"/>
                  <a:pt x="4810135" y="3095625"/>
                </a:cubicBezTo>
                <a:lnTo>
                  <a:pt x="114290" y="3095625"/>
                </a:lnTo>
                <a:cubicBezTo>
                  <a:pt x="51170" y="3095625"/>
                  <a:pt x="0" y="3044455"/>
                  <a:pt x="0" y="29813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0063" y="3667125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TCP/IP Protocol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975" y="409575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1975" y="40957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7225" y="417195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7225" y="440055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HTTP, SMTP, FTP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1975" y="480060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1975" y="48006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7225" y="48768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Transport Layer ← TCP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225" y="510540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data transfer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975" y="550545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1975" y="55054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7225" y="558165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Layer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7225" y="581025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IP, routing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975" y="6210300"/>
            <a:ext cx="4591050" cy="571500"/>
          </a:xfrm>
          <a:custGeom>
            <a:avLst/>
            <a:gdLst/>
            <a:ahLst/>
            <a:cxnLst/>
            <a:rect l="l" t="t" r="r" b="b"/>
            <a:pathLst>
              <a:path w="4591050" h="571500">
                <a:moveTo>
                  <a:pt x="38100" y="0"/>
                </a:moveTo>
                <a:lnTo>
                  <a:pt x="4514852" y="0"/>
                </a:lnTo>
                <a:cubicBezTo>
                  <a:pt x="4556935" y="0"/>
                  <a:pt x="4591050" y="34115"/>
                  <a:pt x="4591050" y="76198"/>
                </a:cubicBezTo>
                <a:lnTo>
                  <a:pt x="4591050" y="495302"/>
                </a:lnTo>
                <a:cubicBezTo>
                  <a:pt x="4591050" y="537385"/>
                  <a:pt x="4556935" y="571500"/>
                  <a:pt x="4514852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1975" y="62103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225" y="62865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Layer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7225" y="6515100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cables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67350" y="1147763"/>
            <a:ext cx="6343650" cy="5457825"/>
          </a:xfrm>
          <a:custGeom>
            <a:avLst/>
            <a:gdLst/>
            <a:ahLst/>
            <a:cxnLst/>
            <a:rect l="l" t="t" r="r" b="b"/>
            <a:pathLst>
              <a:path w="6343650" h="5457825">
                <a:moveTo>
                  <a:pt x="114287" y="0"/>
                </a:moveTo>
                <a:lnTo>
                  <a:pt x="6229363" y="0"/>
                </a:lnTo>
                <a:cubicBezTo>
                  <a:pt x="6292482" y="0"/>
                  <a:pt x="6343650" y="51168"/>
                  <a:pt x="6343650" y="114287"/>
                </a:cubicBezTo>
                <a:lnTo>
                  <a:pt x="6343650" y="5343538"/>
                </a:lnTo>
                <a:cubicBezTo>
                  <a:pt x="6343650" y="5406657"/>
                  <a:pt x="6292482" y="5457825"/>
                  <a:pt x="6229363" y="5457825"/>
                </a:cubicBezTo>
                <a:lnTo>
                  <a:pt x="114287" y="5457825"/>
                </a:lnTo>
                <a:cubicBezTo>
                  <a:pt x="51210" y="5457825"/>
                  <a:pt x="0" y="5406615"/>
                  <a:pt x="0" y="53435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5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24513" y="1304925"/>
            <a:ext cx="612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Use TCP?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29275" y="169068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748338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62638" y="1924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43638" y="180975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43638" y="207645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and retransmission mechanism ensures lost or corrupted segments are resent. Critical for file transfers, emails.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29275" y="270033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C7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748338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53113" y="2933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402" y="111502"/>
                </a:moveTo>
                <a:lnTo>
                  <a:pt x="44827" y="140077"/>
                </a:lnTo>
                <a:cubicBezTo>
                  <a:pt x="41106" y="143798"/>
                  <a:pt x="35064" y="143798"/>
                  <a:pt x="31343" y="140077"/>
                </a:cubicBezTo>
                <a:lnTo>
                  <a:pt x="2768" y="111502"/>
                </a:lnTo>
                <a:cubicBezTo>
                  <a:pt x="-953" y="107781"/>
                  <a:pt x="-953" y="101739"/>
                  <a:pt x="2768" y="98018"/>
                </a:cubicBezTo>
                <a:cubicBezTo>
                  <a:pt x="6489" y="94298"/>
                  <a:pt x="12531" y="94298"/>
                  <a:pt x="16252" y="98018"/>
                </a:cubicBezTo>
                <a:lnTo>
                  <a:pt x="28575" y="110341"/>
                </a:lnTo>
                <a:lnTo>
                  <a:pt x="28575" y="19050"/>
                </a:lnTo>
                <a:cubicBezTo>
                  <a:pt x="28575" y="13781"/>
                  <a:pt x="32831" y="9525"/>
                  <a:pt x="38100" y="9525"/>
                </a:cubicBezTo>
                <a:cubicBezTo>
                  <a:pt x="43369" y="9525"/>
                  <a:pt x="47625" y="13781"/>
                  <a:pt x="47625" y="19050"/>
                </a:cubicBezTo>
                <a:lnTo>
                  <a:pt x="47625" y="110341"/>
                </a:lnTo>
                <a:lnTo>
                  <a:pt x="59948" y="98018"/>
                </a:lnTo>
                <a:cubicBezTo>
                  <a:pt x="63669" y="94298"/>
                  <a:pt x="69711" y="94298"/>
                  <a:pt x="73432" y="98018"/>
                </a:cubicBezTo>
                <a:cubicBezTo>
                  <a:pt x="77152" y="101739"/>
                  <a:pt x="77152" y="107781"/>
                  <a:pt x="73432" y="111502"/>
                </a:cubicBezTo>
                <a:close/>
                <a:moveTo>
                  <a:pt x="95250" y="142875"/>
                </a:move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95250" y="142875"/>
                </a:lnTo>
                <a:close/>
                <a:moveTo>
                  <a:pt x="95250" y="104775"/>
                </a:moveTo>
                <a:cubicBezTo>
                  <a:pt x="89981" y="104775"/>
                  <a:pt x="85725" y="100519"/>
                  <a:pt x="85725" y="95250"/>
                </a:cubicBezTo>
                <a:cubicBezTo>
                  <a:pt x="85725" y="89981"/>
                  <a:pt x="89981" y="85725"/>
                  <a:pt x="95250" y="85725"/>
                </a:cubicBez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95250" y="104775"/>
                </a:lnTo>
                <a:close/>
                <a:moveTo>
                  <a:pt x="95250" y="66675"/>
                </a:moveTo>
                <a:cubicBezTo>
                  <a:pt x="89981" y="66675"/>
                  <a:pt x="85725" y="62419"/>
                  <a:pt x="85725" y="57150"/>
                </a:cubicBezTo>
                <a:cubicBezTo>
                  <a:pt x="85725" y="51881"/>
                  <a:pt x="89981" y="47625"/>
                  <a:pt x="95250" y="47625"/>
                </a:cubicBezTo>
                <a:lnTo>
                  <a:pt x="142875" y="47625"/>
                </a:lnTo>
                <a:cubicBezTo>
                  <a:pt x="148144" y="47625"/>
                  <a:pt x="152400" y="51881"/>
                  <a:pt x="152400" y="57150"/>
                </a:cubicBezTo>
                <a:cubicBezTo>
                  <a:pt x="152400" y="62419"/>
                  <a:pt x="148144" y="66675"/>
                  <a:pt x="142875" y="66675"/>
                </a:cubicBezTo>
                <a:lnTo>
                  <a:pt x="95250" y="66675"/>
                </a:lnTo>
                <a:close/>
                <a:moveTo>
                  <a:pt x="95250" y="28575"/>
                </a:move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61925" y="9525"/>
                </a:lnTo>
                <a:cubicBezTo>
                  <a:pt x="167194" y="9525"/>
                  <a:pt x="171450" y="13781"/>
                  <a:pt x="171450" y="19050"/>
                </a:cubicBezTo>
                <a:cubicBezTo>
                  <a:pt x="171450" y="24319"/>
                  <a:pt x="167194" y="28575"/>
                  <a:pt x="161925" y="28575"/>
                </a:cubicBezTo>
                <a:lnTo>
                  <a:pt x="95250" y="28575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43638" y="281940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Ordered Data Delivery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43638" y="308610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Guarantees data is received in the same sequence it was sent, preventing misordered data issues.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29275" y="370998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BD6B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748338" y="3829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862638" y="3943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43638" y="382905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&amp; Flow Control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43638" y="409575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Adjusts transmission rate based on network conditions and receiver capacity to optimize throughput.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629275" y="4719638"/>
            <a:ext cx="6019800" cy="923925"/>
          </a:xfrm>
          <a:custGeom>
            <a:avLst/>
            <a:gdLst/>
            <a:ahLst/>
            <a:cxnLst/>
            <a:rect l="l" t="t" r="r" b="b"/>
            <a:pathLst>
              <a:path w="6019800" h="923925">
                <a:moveTo>
                  <a:pt x="76196" y="0"/>
                </a:moveTo>
                <a:lnTo>
                  <a:pt x="5943604" y="0"/>
                </a:lnTo>
                <a:cubicBezTo>
                  <a:pt x="5985686" y="0"/>
                  <a:pt x="6019800" y="34114"/>
                  <a:pt x="6019800" y="76196"/>
                </a:cubicBezTo>
                <a:lnTo>
                  <a:pt x="6019800" y="847729"/>
                </a:lnTo>
                <a:cubicBezTo>
                  <a:pt x="6019800" y="889811"/>
                  <a:pt x="5985686" y="923925"/>
                  <a:pt x="594360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48338" y="4838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862638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43638" y="4838700"/>
            <a:ext cx="536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Universality &amp; Error Detection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43638" y="5105400"/>
            <a:ext cx="53625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HTTP, SMTP, FTP. Every segment has a checksum for error detection and correction.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kern="0" spc="96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Structure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56951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Headers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8094" y="93985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TCP segment contains a header (20-60 bytes) with control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445" y="1292300"/>
            <a:ext cx="6370124" cy="5560805"/>
          </a:xfrm>
          <a:custGeom>
            <a:avLst/>
            <a:gdLst/>
            <a:ahLst/>
            <a:cxnLst/>
            <a:rect l="l" t="t" r="r" b="b"/>
            <a:pathLst>
              <a:path w="6370124" h="5560805">
                <a:moveTo>
                  <a:pt x="104432" y="0"/>
                </a:moveTo>
                <a:lnTo>
                  <a:pt x="6265692" y="0"/>
                </a:lnTo>
                <a:cubicBezTo>
                  <a:pt x="6323368" y="0"/>
                  <a:pt x="6370124" y="46756"/>
                  <a:pt x="6370124" y="104432"/>
                </a:cubicBezTo>
                <a:lnTo>
                  <a:pt x="6370124" y="5456373"/>
                </a:lnTo>
                <a:cubicBezTo>
                  <a:pt x="6370124" y="5514049"/>
                  <a:pt x="6323368" y="5560805"/>
                  <a:pt x="6265692" y="5560805"/>
                </a:cubicBezTo>
                <a:lnTo>
                  <a:pt x="104432" y="5560805"/>
                </a:lnTo>
                <a:cubicBezTo>
                  <a:pt x="46756" y="5560805"/>
                  <a:pt x="0" y="5514049"/>
                  <a:pt x="0" y="5456373"/>
                </a:cubicBezTo>
                <a:lnTo>
                  <a:pt x="0" y="104432"/>
                </a:lnTo>
                <a:cubicBezTo>
                  <a:pt x="0" y="46794"/>
                  <a:pt x="46794" y="0"/>
                  <a:pt x="104432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6874" y="1435889"/>
            <a:ext cx="616126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3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Header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385" y="1788334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4355" y="1879709"/>
            <a:ext cx="77451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6171" y="1862304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6171" y="1862304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4355" y="2140779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sending application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385" y="2432308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4355" y="2523683"/>
            <a:ext cx="102687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6171" y="2506278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6171" y="2506278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4355" y="2784754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receiving application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0385" y="3076283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4355" y="3167657"/>
            <a:ext cx="119222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14687" y="3150253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14687" y="3150253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bits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4355" y="3428728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Byte position of the first data byte in current segment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385" y="3720257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4355" y="3811632"/>
            <a:ext cx="166215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Number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14687" y="3794227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4687" y="3794227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bits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4355" y="4072702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 of next byte expected by receiver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0385" y="4364231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4355" y="4455606"/>
            <a:ext cx="188841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Offset + Reserved + Flags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36171" y="4438201"/>
            <a:ext cx="461225" cy="243666"/>
          </a:xfrm>
          <a:custGeom>
            <a:avLst/>
            <a:gdLst/>
            <a:ahLst/>
            <a:cxnLst/>
            <a:rect l="l" t="t" r="r" b="b"/>
            <a:pathLst>
              <a:path w="461225" h="243666">
                <a:moveTo>
                  <a:pt x="34810" y="0"/>
                </a:moveTo>
                <a:lnTo>
                  <a:pt x="426415" y="0"/>
                </a:lnTo>
                <a:cubicBezTo>
                  <a:pt x="445640" y="0"/>
                  <a:pt x="461225" y="15585"/>
                  <a:pt x="461225" y="34810"/>
                </a:cubicBezTo>
                <a:lnTo>
                  <a:pt x="461225" y="208856"/>
                </a:lnTo>
                <a:cubicBezTo>
                  <a:pt x="461225" y="228081"/>
                  <a:pt x="445640" y="243666"/>
                  <a:pt x="42641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6171" y="4438201"/>
            <a:ext cx="522141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4355" y="4716677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length, reserved bits, control flags (SYN, ACK, FIN, etc.)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0385" y="5008206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4355" y="5099580"/>
            <a:ext cx="218429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Size + Checksum + Urgent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12104" y="5082176"/>
            <a:ext cx="487332" cy="243666"/>
          </a:xfrm>
          <a:custGeom>
            <a:avLst/>
            <a:gdLst/>
            <a:ahLst/>
            <a:cxnLst/>
            <a:rect l="l" t="t" r="r" b="b"/>
            <a:pathLst>
              <a:path w="487332" h="243666">
                <a:moveTo>
                  <a:pt x="34810" y="0"/>
                </a:moveTo>
                <a:lnTo>
                  <a:pt x="452522" y="0"/>
                </a:lnTo>
                <a:cubicBezTo>
                  <a:pt x="471747" y="0"/>
                  <a:pt x="487332" y="15585"/>
                  <a:pt x="487332" y="34810"/>
                </a:cubicBezTo>
                <a:lnTo>
                  <a:pt x="487332" y="208856"/>
                </a:lnTo>
                <a:cubicBezTo>
                  <a:pt x="487332" y="228081"/>
                  <a:pt x="471747" y="243666"/>
                  <a:pt x="452522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12104" y="5082176"/>
            <a:ext cx="548248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 bits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4355" y="5360651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 control window, error detection checksum, urgent pointer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0385" y="5652180"/>
            <a:ext cx="6074244" cy="600463"/>
          </a:xfrm>
          <a:custGeom>
            <a:avLst/>
            <a:gdLst/>
            <a:ahLst/>
            <a:cxnLst/>
            <a:rect l="l" t="t" r="r" b="b"/>
            <a:pathLst>
              <a:path w="6074244" h="600463">
                <a:moveTo>
                  <a:pt x="69618" y="0"/>
                </a:moveTo>
                <a:lnTo>
                  <a:pt x="6004626" y="0"/>
                </a:lnTo>
                <a:cubicBezTo>
                  <a:pt x="6043075" y="0"/>
                  <a:pt x="6074244" y="31169"/>
                  <a:pt x="6074244" y="69618"/>
                </a:cubicBezTo>
                <a:lnTo>
                  <a:pt x="6074244" y="530845"/>
                </a:lnTo>
                <a:cubicBezTo>
                  <a:pt x="6074244" y="569294"/>
                  <a:pt x="6043075" y="600463"/>
                  <a:pt x="6004626" y="600463"/>
                </a:cubicBezTo>
                <a:lnTo>
                  <a:pt x="69618" y="600463"/>
                </a:lnTo>
                <a:cubicBezTo>
                  <a:pt x="31169" y="600463"/>
                  <a:pt x="0" y="569294"/>
                  <a:pt x="0" y="530845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4355" y="5743555"/>
            <a:ext cx="116611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Options + Padding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28344" y="5726150"/>
            <a:ext cx="574355" cy="243666"/>
          </a:xfrm>
          <a:custGeom>
            <a:avLst/>
            <a:gdLst/>
            <a:ahLst/>
            <a:cxnLst/>
            <a:rect l="l" t="t" r="r" b="b"/>
            <a:pathLst>
              <a:path w="574355" h="243666">
                <a:moveTo>
                  <a:pt x="34810" y="0"/>
                </a:moveTo>
                <a:lnTo>
                  <a:pt x="539545" y="0"/>
                </a:lnTo>
                <a:cubicBezTo>
                  <a:pt x="558770" y="0"/>
                  <a:pt x="574355" y="15585"/>
                  <a:pt x="574355" y="34810"/>
                </a:cubicBezTo>
                <a:lnTo>
                  <a:pt x="574355" y="208856"/>
                </a:lnTo>
                <a:cubicBezTo>
                  <a:pt x="574355" y="228081"/>
                  <a:pt x="558770" y="243666"/>
                  <a:pt x="53954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28344" y="5726150"/>
            <a:ext cx="635272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4355" y="6004625"/>
            <a:ext cx="598722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 fields for additional functionality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4737" y="6300505"/>
            <a:ext cx="6065542" cy="400308"/>
          </a:xfrm>
          <a:custGeom>
            <a:avLst/>
            <a:gdLst/>
            <a:ahLst/>
            <a:cxnLst/>
            <a:rect l="l" t="t" r="r" b="b"/>
            <a:pathLst>
              <a:path w="6065542" h="400308">
                <a:moveTo>
                  <a:pt x="69618" y="0"/>
                </a:moveTo>
                <a:lnTo>
                  <a:pt x="5995924" y="0"/>
                </a:lnTo>
                <a:cubicBezTo>
                  <a:pt x="6034373" y="0"/>
                  <a:pt x="6065542" y="31169"/>
                  <a:pt x="6065542" y="69618"/>
                </a:cubicBezTo>
                <a:lnTo>
                  <a:pt x="6065542" y="330691"/>
                </a:lnTo>
                <a:cubicBezTo>
                  <a:pt x="6065542" y="369139"/>
                  <a:pt x="6034373" y="400308"/>
                  <a:pt x="5995924" y="400308"/>
                </a:cubicBezTo>
                <a:lnTo>
                  <a:pt x="69618" y="400308"/>
                </a:lnTo>
                <a:cubicBezTo>
                  <a:pt x="31169" y="400308"/>
                  <a:pt x="0" y="369139"/>
                  <a:pt x="0" y="33069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 w="25400">
            <a:solidFill>
              <a:srgbClr val="9C8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3058" y="6396231"/>
            <a:ext cx="41771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19641" y="6378827"/>
            <a:ext cx="574355" cy="243666"/>
          </a:xfrm>
          <a:custGeom>
            <a:avLst/>
            <a:gdLst/>
            <a:ahLst/>
            <a:cxnLst/>
            <a:rect l="l" t="t" r="r" b="b"/>
            <a:pathLst>
              <a:path w="574355" h="243666">
                <a:moveTo>
                  <a:pt x="34810" y="0"/>
                </a:moveTo>
                <a:lnTo>
                  <a:pt x="539545" y="0"/>
                </a:lnTo>
                <a:cubicBezTo>
                  <a:pt x="558770" y="0"/>
                  <a:pt x="574355" y="15585"/>
                  <a:pt x="574355" y="34810"/>
                </a:cubicBezTo>
                <a:lnTo>
                  <a:pt x="574355" y="208856"/>
                </a:lnTo>
                <a:cubicBezTo>
                  <a:pt x="574355" y="228081"/>
                  <a:pt x="558770" y="243666"/>
                  <a:pt x="539545" y="243666"/>
                </a:cubicBezTo>
                <a:lnTo>
                  <a:pt x="34810" y="243666"/>
                </a:lnTo>
                <a:cubicBezTo>
                  <a:pt x="15598" y="243666"/>
                  <a:pt x="0" y="228068"/>
                  <a:pt x="0" y="208856"/>
                </a:cubicBezTo>
                <a:lnTo>
                  <a:pt x="0" y="34810"/>
                </a:lnTo>
                <a:cubicBezTo>
                  <a:pt x="0" y="15598"/>
                  <a:pt x="15598" y="0"/>
                  <a:pt x="34810" y="0"/>
                </a:cubicBezTo>
                <a:close/>
              </a:path>
            </a:pathLst>
          </a:custGeom>
          <a:solidFill>
            <a:srgbClr val="9C8C7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19641" y="6378827"/>
            <a:ext cx="635272" cy="243666"/>
          </a:xfrm>
          <a:prstGeom prst="rect">
            <a:avLst/>
          </a:prstGeom>
          <a:noFill/>
          <a:ln/>
        </p:spPr>
        <p:txBody>
          <a:bodyPr wrap="square" lIns="69619" tIns="34809" rIns="69619" bIns="34809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70374" y="1292300"/>
            <a:ext cx="4969045" cy="2828266"/>
          </a:xfrm>
          <a:custGeom>
            <a:avLst/>
            <a:gdLst/>
            <a:ahLst/>
            <a:cxnLst/>
            <a:rect l="l" t="t" r="r" b="b"/>
            <a:pathLst>
              <a:path w="4969045" h="2828266">
                <a:moveTo>
                  <a:pt x="104420" y="0"/>
                </a:moveTo>
                <a:lnTo>
                  <a:pt x="4864625" y="0"/>
                </a:lnTo>
                <a:cubicBezTo>
                  <a:pt x="4922295" y="0"/>
                  <a:pt x="4969045" y="46750"/>
                  <a:pt x="4969045" y="104420"/>
                </a:cubicBezTo>
                <a:lnTo>
                  <a:pt x="4969045" y="2723846"/>
                </a:lnTo>
                <a:cubicBezTo>
                  <a:pt x="4969045" y="2781515"/>
                  <a:pt x="4922295" y="2828266"/>
                  <a:pt x="4864625" y="2828266"/>
                </a:cubicBezTo>
                <a:lnTo>
                  <a:pt x="104420" y="2828266"/>
                </a:lnTo>
                <a:cubicBezTo>
                  <a:pt x="46750" y="2828266"/>
                  <a:pt x="0" y="2781515"/>
                  <a:pt x="0" y="2723846"/>
                </a:cubicBezTo>
                <a:lnTo>
                  <a:pt x="0" y="104420"/>
                </a:lnTo>
                <a:cubicBezTo>
                  <a:pt x="0" y="46750"/>
                  <a:pt x="46750" y="0"/>
                  <a:pt x="104420" y="0"/>
                </a:cubicBez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13963" y="1435889"/>
            <a:ext cx="476018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Header Fields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13963" y="1783983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94323" y="1836197"/>
            <a:ext cx="18274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96866" y="1783983"/>
            <a:ext cx="302842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96866" y="1992839"/>
            <a:ext cx="30197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the sending application (e.g., port 80 for HTTP)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13963" y="2236505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82630" y="2288719"/>
            <a:ext cx="2001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396866" y="2236505"/>
            <a:ext cx="281956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96866" y="2445362"/>
            <a:ext cx="281086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the receiving application on the target host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13963" y="2689028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80998" y="2741242"/>
            <a:ext cx="20885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96866" y="2689028"/>
            <a:ext cx="239314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Number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396866" y="2897884"/>
            <a:ext cx="238444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Tracks byte position for ordered reassembly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013963" y="3141550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82630" y="3193764"/>
            <a:ext cx="2001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396866" y="3141550"/>
            <a:ext cx="271513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 Number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96866" y="3350407"/>
            <a:ext cx="270643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Confirms receipt and indicates next expected byte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013963" y="3594073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69619" y="0"/>
                </a:moveTo>
                <a:lnTo>
                  <a:pt x="208857" y="0"/>
                </a:lnTo>
                <a:cubicBezTo>
                  <a:pt x="247280" y="0"/>
                  <a:pt x="278475" y="31195"/>
                  <a:pt x="278475" y="69619"/>
                </a:cubicBezTo>
                <a:lnTo>
                  <a:pt x="278475" y="208857"/>
                </a:lnTo>
                <a:cubicBezTo>
                  <a:pt x="278475" y="247280"/>
                  <a:pt x="247280" y="278475"/>
                  <a:pt x="208857" y="278475"/>
                </a:cubicBezTo>
                <a:lnTo>
                  <a:pt x="69619" y="278475"/>
                </a:lnTo>
                <a:cubicBezTo>
                  <a:pt x="31195" y="278475"/>
                  <a:pt x="0" y="247280"/>
                  <a:pt x="0" y="208857"/>
                </a:cubicBezTo>
                <a:lnTo>
                  <a:pt x="0" y="69619"/>
                </a:lnTo>
                <a:cubicBezTo>
                  <a:pt x="0" y="31195"/>
                  <a:pt x="31195" y="0"/>
                  <a:pt x="69619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080862" y="3646287"/>
            <a:ext cx="20885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396866" y="3594073"/>
            <a:ext cx="24105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396866" y="3802929"/>
            <a:ext cx="240185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 value to ensure data integrity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870374" y="4233696"/>
            <a:ext cx="4969045" cy="670081"/>
          </a:xfrm>
          <a:custGeom>
            <a:avLst/>
            <a:gdLst/>
            <a:ahLst/>
            <a:cxnLst/>
            <a:rect l="l" t="t" r="r" b="b"/>
            <a:pathLst>
              <a:path w="4969045" h="670081">
                <a:moveTo>
                  <a:pt x="104425" y="0"/>
                </a:moveTo>
                <a:lnTo>
                  <a:pt x="4864619" y="0"/>
                </a:lnTo>
                <a:cubicBezTo>
                  <a:pt x="4922292" y="0"/>
                  <a:pt x="4969045" y="46753"/>
                  <a:pt x="4969045" y="104425"/>
                </a:cubicBezTo>
                <a:lnTo>
                  <a:pt x="4969045" y="565656"/>
                </a:lnTo>
                <a:cubicBezTo>
                  <a:pt x="4969045" y="623328"/>
                  <a:pt x="4922292" y="670081"/>
                  <a:pt x="4864619" y="670081"/>
                </a:cubicBezTo>
                <a:lnTo>
                  <a:pt x="104425" y="670081"/>
                </a:lnTo>
                <a:cubicBezTo>
                  <a:pt x="46753" y="670081"/>
                  <a:pt x="0" y="623328"/>
                  <a:pt x="0" y="565656"/>
                </a:cubicBezTo>
                <a:lnTo>
                  <a:pt x="0" y="104425"/>
                </a:lnTo>
                <a:cubicBezTo>
                  <a:pt x="0" y="46791"/>
                  <a:pt x="46791" y="0"/>
                  <a:pt x="104425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35718" y="4481713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174047"/>
                </a:moveTo>
                <a:cubicBezTo>
                  <a:pt x="135053" y="174047"/>
                  <a:pt x="174047" y="135053"/>
                  <a:pt x="174047" y="87024"/>
                </a:cubicBezTo>
                <a:cubicBezTo>
                  <a:pt x="174047" y="38994"/>
                  <a:pt x="135053" y="0"/>
                  <a:pt x="87024" y="0"/>
                </a:cubicBezTo>
                <a:cubicBezTo>
                  <a:pt x="38994" y="0"/>
                  <a:pt x="0" y="38994"/>
                  <a:pt x="0" y="87024"/>
                </a:cubicBezTo>
                <a:cubicBezTo>
                  <a:pt x="0" y="135053"/>
                  <a:pt x="38994" y="174047"/>
                  <a:pt x="87024" y="174047"/>
                </a:cubicBezTo>
                <a:close/>
                <a:moveTo>
                  <a:pt x="76146" y="54390"/>
                </a:moveTo>
                <a:cubicBezTo>
                  <a:pt x="76146" y="48386"/>
                  <a:pt x="81020" y="43512"/>
                  <a:pt x="87024" y="43512"/>
                </a:cubicBezTo>
                <a:cubicBezTo>
                  <a:pt x="93027" y="43512"/>
                  <a:pt x="97901" y="48386"/>
                  <a:pt x="97901" y="54390"/>
                </a:cubicBezTo>
                <a:cubicBezTo>
                  <a:pt x="97901" y="60393"/>
                  <a:pt x="93027" y="65268"/>
                  <a:pt x="87024" y="65268"/>
                </a:cubicBezTo>
                <a:cubicBezTo>
                  <a:pt x="81020" y="65268"/>
                  <a:pt x="76146" y="60393"/>
                  <a:pt x="76146" y="54390"/>
                </a:cubicBezTo>
                <a:close/>
                <a:moveTo>
                  <a:pt x="73426" y="76146"/>
                </a:moveTo>
                <a:lnTo>
                  <a:pt x="89743" y="76146"/>
                </a:lnTo>
                <a:cubicBezTo>
                  <a:pt x="94264" y="76146"/>
                  <a:pt x="97901" y="79783"/>
                  <a:pt x="97901" y="84304"/>
                </a:cubicBezTo>
                <a:lnTo>
                  <a:pt x="97901" y="114218"/>
                </a:lnTo>
                <a:lnTo>
                  <a:pt x="100621" y="114218"/>
                </a:lnTo>
                <a:cubicBezTo>
                  <a:pt x="105142" y="114218"/>
                  <a:pt x="108779" y="117856"/>
                  <a:pt x="108779" y="122377"/>
                </a:cubicBezTo>
                <a:cubicBezTo>
                  <a:pt x="108779" y="126898"/>
                  <a:pt x="105142" y="130535"/>
                  <a:pt x="100621" y="130535"/>
                </a:cubicBezTo>
                <a:lnTo>
                  <a:pt x="73426" y="130535"/>
                </a:lnTo>
                <a:cubicBezTo>
                  <a:pt x="68905" y="130535"/>
                  <a:pt x="65268" y="126898"/>
                  <a:pt x="65268" y="122377"/>
                </a:cubicBezTo>
                <a:cubicBezTo>
                  <a:pt x="65268" y="117856"/>
                  <a:pt x="68905" y="114218"/>
                  <a:pt x="73426" y="114218"/>
                </a:cubicBezTo>
                <a:lnTo>
                  <a:pt x="81585" y="114218"/>
                </a:lnTo>
                <a:lnTo>
                  <a:pt x="81585" y="92463"/>
                </a:lnTo>
                <a:lnTo>
                  <a:pt x="73426" y="92463"/>
                </a:lnTo>
                <a:cubicBezTo>
                  <a:pt x="68905" y="92463"/>
                  <a:pt x="65268" y="88825"/>
                  <a:pt x="65268" y="84304"/>
                </a:cubicBezTo>
                <a:cubicBezTo>
                  <a:pt x="65268" y="79783"/>
                  <a:pt x="68905" y="76146"/>
                  <a:pt x="73426" y="76146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335950" y="4377285"/>
            <a:ext cx="316765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Size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335950" y="4586141"/>
            <a:ext cx="315895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Varies from </a:t>
            </a:r>
            <a:r>
              <a:rPr lang="en-US" sz="959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bytes</a:t>
            </a:r>
            <a:r>
              <a:rPr lang="en-US" sz="959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(minimum) to </a:t>
            </a:r>
            <a:r>
              <a:rPr lang="en-US" sz="959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 bytes</a:t>
            </a:r>
            <a:r>
              <a:rPr lang="en-US" sz="959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options)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105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kern="0" spc="88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Establishment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09326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3-Way Handshake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8329" y="859488"/>
            <a:ext cx="1161900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process to </a:t>
            </a:r>
            <a:r>
              <a:rPr lang="en-US" sz="1003" b="1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</a:t>
            </a:r>
            <a:r>
              <a:rPr lang="en-US" sz="1003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</a:t>
            </a:r>
            <a:r>
              <a:rPr lang="en-US" sz="1003" b="1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connection before data transfer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334245" y="1177817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C8460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4245" y="1177817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7493" y="1305149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9983" y="1400648"/>
            <a:ext cx="159164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0486" y="1305149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Client Sends SYN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0486" y="1591645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wants to start a TCP connection and sends a </a:t>
            </a:r>
            <a:r>
              <a:rPr lang="en-US" sz="1003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 (Synchronize)</a:t>
            </a: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packet to the server.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4465" y="1866204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6089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9492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3019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6422" y="1965681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6089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49492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73019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6422" y="2188512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0486" y="2514799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dirty="0">
                <a:solidFill>
                  <a:srgbClr val="4A3F35">
                    <a:alpha val="60000"/>
                  </a:srgbClr>
                </a:solidFill>
                <a:highlight>
                  <a:srgbClr val="00FF00"/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ISN (Initial Sequence Number) = 1000, randomly chosen for security</a:t>
            </a:r>
            <a:endParaRPr lang="en-US" sz="1600" b="1" dirty="0">
              <a:highlight>
                <a:srgbClr val="00FF00"/>
              </a:highligh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4245" y="2896794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C8C7A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4245" y="2896794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493" y="3024125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704" y="3119624"/>
            <a:ext cx="190997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0486" y="3024125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Server Sends SYN-ACK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0486" y="3310621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server receives SYN and responds with </a:t>
            </a:r>
            <a:r>
              <a:rPr lang="en-US" sz="1003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SYN-ACK</a:t>
            </a: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(Synchronize + Acknowledgment).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4465" y="3585180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C7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26089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49492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73019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6422" y="368465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26089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→ Client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549492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73019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6422" y="3907488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SYN-ACK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0486" y="4233775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dirty="0">
                <a:solidFill>
                  <a:srgbClr val="4A3F35">
                    <a:alpha val="60000"/>
                  </a:srgbClr>
                </a:solidFill>
                <a:highlight>
                  <a:srgbClr val="00FF00"/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ISN = 5000, Ack = Client ISN + 1 (1001)</a:t>
            </a:r>
            <a:endParaRPr lang="en-US" sz="1600" b="1" dirty="0">
              <a:highlight>
                <a:srgbClr val="00FF00"/>
              </a:highlight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34245" y="4615770"/>
            <a:ext cx="6676950" cy="1623478"/>
          </a:xfrm>
          <a:custGeom>
            <a:avLst/>
            <a:gdLst/>
            <a:ahLst/>
            <a:cxnLst/>
            <a:rect l="l" t="t" r="r" b="b"/>
            <a:pathLst>
              <a:path w="6676950" h="1623478">
                <a:moveTo>
                  <a:pt x="0" y="0"/>
                </a:moveTo>
                <a:lnTo>
                  <a:pt x="6581457" y="0"/>
                </a:lnTo>
                <a:cubicBezTo>
                  <a:pt x="6634197" y="0"/>
                  <a:pt x="6676950" y="42754"/>
                  <a:pt x="6676950" y="95493"/>
                </a:cubicBezTo>
                <a:lnTo>
                  <a:pt x="6676950" y="1527985"/>
                </a:lnTo>
                <a:cubicBezTo>
                  <a:pt x="6676950" y="1580724"/>
                  <a:pt x="6634197" y="1623478"/>
                  <a:pt x="6581457" y="1623478"/>
                </a:cubicBez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D6B4F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34245" y="4615770"/>
            <a:ext cx="31833" cy="1623478"/>
          </a:xfrm>
          <a:custGeom>
            <a:avLst/>
            <a:gdLst/>
            <a:ahLst/>
            <a:cxnLst/>
            <a:rect l="l" t="t" r="r" b="b"/>
            <a:pathLst>
              <a:path w="31833" h="1623478">
                <a:moveTo>
                  <a:pt x="0" y="0"/>
                </a:moveTo>
                <a:lnTo>
                  <a:pt x="31833" y="0"/>
                </a:lnTo>
                <a:lnTo>
                  <a:pt x="31833" y="1623478"/>
                </a:lnTo>
                <a:lnTo>
                  <a:pt x="0" y="1623478"/>
                </a:lnTo>
                <a:lnTo>
                  <a:pt x="0" y="0"/>
                </a:ln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7493" y="4743102"/>
            <a:ext cx="445661" cy="445661"/>
          </a:xfrm>
          <a:custGeom>
            <a:avLst/>
            <a:gdLst/>
            <a:ahLst/>
            <a:cxnLst/>
            <a:rect l="l" t="t" r="r" b="b"/>
            <a:pathLst>
              <a:path w="445661" h="445661">
                <a:moveTo>
                  <a:pt x="95501" y="0"/>
                </a:moveTo>
                <a:lnTo>
                  <a:pt x="350160" y="0"/>
                </a:lnTo>
                <a:cubicBezTo>
                  <a:pt x="402903" y="0"/>
                  <a:pt x="445661" y="42757"/>
                  <a:pt x="445661" y="95501"/>
                </a:cubicBezTo>
                <a:lnTo>
                  <a:pt x="445661" y="350160"/>
                </a:lnTo>
                <a:cubicBezTo>
                  <a:pt x="445661" y="402903"/>
                  <a:pt x="402903" y="445661"/>
                  <a:pt x="350160" y="445661"/>
                </a:cubicBezTo>
                <a:lnTo>
                  <a:pt x="95501" y="445661"/>
                </a:lnTo>
                <a:cubicBezTo>
                  <a:pt x="42757" y="445661"/>
                  <a:pt x="0" y="402903"/>
                  <a:pt x="0" y="350160"/>
                </a:cubicBezTo>
                <a:lnTo>
                  <a:pt x="0" y="95501"/>
                </a:lnTo>
                <a:cubicBezTo>
                  <a:pt x="0" y="42757"/>
                  <a:pt x="42757" y="0"/>
                  <a:pt x="95501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17" y="4838601"/>
            <a:ext cx="198956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0486" y="4743102"/>
            <a:ext cx="591296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Client Sends ACK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50486" y="5029598"/>
            <a:ext cx="5897044" cy="206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client receives SYN-ACK and sends </a:t>
            </a:r>
            <a:r>
              <a:rPr lang="en-US" sz="1003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</a:t>
            </a:r>
            <a:r>
              <a:rPr lang="en-US" sz="1003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 to confirm. Connection established!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54465" y="5304157"/>
            <a:ext cx="5825420" cy="580950"/>
          </a:xfrm>
          <a:custGeom>
            <a:avLst/>
            <a:gdLst/>
            <a:ahLst/>
            <a:cxnLst/>
            <a:rect l="l" t="t" r="r" b="b"/>
            <a:pathLst>
              <a:path w="5825420" h="580950">
                <a:moveTo>
                  <a:pt x="63666" y="0"/>
                </a:moveTo>
                <a:lnTo>
                  <a:pt x="5761754" y="0"/>
                </a:lnTo>
                <a:cubicBezTo>
                  <a:pt x="5796916" y="0"/>
                  <a:pt x="5825420" y="28504"/>
                  <a:pt x="5825420" y="63666"/>
                </a:cubicBezTo>
                <a:lnTo>
                  <a:pt x="5825420" y="517284"/>
                </a:lnTo>
                <a:cubicBezTo>
                  <a:pt x="5825420" y="552446"/>
                  <a:pt x="5796916" y="580950"/>
                  <a:pt x="5761754" y="580950"/>
                </a:cubicBezTo>
                <a:lnTo>
                  <a:pt x="63666" y="580950"/>
                </a:lnTo>
                <a:cubicBezTo>
                  <a:pt x="28504" y="580950"/>
                  <a:pt x="0" y="552446"/>
                  <a:pt x="0" y="517284"/>
                </a:cubicBezTo>
                <a:lnTo>
                  <a:pt x="0" y="63666"/>
                </a:lnTo>
                <a:cubicBezTo>
                  <a:pt x="0" y="28528"/>
                  <a:pt x="28528" y="0"/>
                  <a:pt x="63666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BD6B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26089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549492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973019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96422" y="5403634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6089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549492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973019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96422" y="5626465"/>
            <a:ext cx="1416564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0486" y="5952752"/>
            <a:ext cx="588908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dirty="0">
                <a:solidFill>
                  <a:srgbClr val="4A3F35">
                    <a:alpha val="60000"/>
                  </a:srgbClr>
                </a:solidFill>
                <a:highlight>
                  <a:srgbClr val="00FF00"/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= Server ISN + 1 (5001), confirming receipt</a:t>
            </a:r>
            <a:endParaRPr lang="en-US" sz="1600" b="1" dirty="0">
              <a:highlight>
                <a:srgbClr val="00FF00"/>
              </a:highlight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146237" y="1181796"/>
            <a:ext cx="4727185" cy="5674214"/>
          </a:xfrm>
          <a:custGeom>
            <a:avLst/>
            <a:gdLst/>
            <a:ahLst/>
            <a:cxnLst/>
            <a:rect l="l" t="t" r="r" b="b"/>
            <a:pathLst>
              <a:path w="4727185" h="5674214">
                <a:moveTo>
                  <a:pt x="95489" y="0"/>
                </a:moveTo>
                <a:lnTo>
                  <a:pt x="4631696" y="0"/>
                </a:lnTo>
                <a:cubicBezTo>
                  <a:pt x="4684433" y="0"/>
                  <a:pt x="4727185" y="42752"/>
                  <a:pt x="4727185" y="95489"/>
                </a:cubicBezTo>
                <a:lnTo>
                  <a:pt x="4727185" y="5578725"/>
                </a:lnTo>
                <a:cubicBezTo>
                  <a:pt x="4727185" y="5631462"/>
                  <a:pt x="4684433" y="5674214"/>
                  <a:pt x="4631696" y="5674214"/>
                </a:cubicBezTo>
                <a:lnTo>
                  <a:pt x="95489" y="5674214"/>
                </a:lnTo>
                <a:cubicBezTo>
                  <a:pt x="42752" y="5674214"/>
                  <a:pt x="0" y="5631462"/>
                  <a:pt x="0" y="5578725"/>
                </a:cubicBezTo>
                <a:lnTo>
                  <a:pt x="0" y="95489"/>
                </a:lnTo>
                <a:cubicBezTo>
                  <a:pt x="0" y="42752"/>
                  <a:pt x="42752" y="0"/>
                  <a:pt x="95489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241736" y="1313107"/>
            <a:ext cx="4536188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8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Handshake Visualization</a:t>
            </a:r>
            <a:endParaRPr lang="en-US" sz="1600" dirty="0"/>
          </a:p>
        </p:txBody>
      </p:sp>
      <p:pic>
        <p:nvPicPr>
          <p:cNvPr id="55" name="Image 0" descr="https://kimi-img.moonshot.cn/pub/slides/26-02-15-23:01:47-d68tvmtf8r3f0sf1e3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548" y="1631436"/>
            <a:ext cx="3660783" cy="5093264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Data Transfer &amp; Retransmission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071563"/>
            <a:ext cx="6191250" cy="2143125"/>
          </a:xfrm>
          <a:custGeom>
            <a:avLst/>
            <a:gdLst/>
            <a:ahLst/>
            <a:cxnLst/>
            <a:rect l="l" t="t" r="r" b="b"/>
            <a:pathLst>
              <a:path w="6191250" h="2143125">
                <a:moveTo>
                  <a:pt x="114293" y="0"/>
                </a:moveTo>
                <a:lnTo>
                  <a:pt x="6076957" y="0"/>
                </a:lnTo>
                <a:cubicBezTo>
                  <a:pt x="6140079" y="0"/>
                  <a:pt x="6191250" y="51171"/>
                  <a:pt x="6191250" y="114293"/>
                </a:cubicBezTo>
                <a:lnTo>
                  <a:pt x="6191250" y="2028832"/>
                </a:lnTo>
                <a:cubicBezTo>
                  <a:pt x="6191250" y="2091954"/>
                  <a:pt x="6140079" y="2143125"/>
                  <a:pt x="6076957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4825" y="1190625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Practical Example: Transferring 3MB Image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3875" y="1533525"/>
            <a:ext cx="5934075" cy="609600"/>
          </a:xfrm>
          <a:custGeom>
            <a:avLst/>
            <a:gdLst/>
            <a:ahLst/>
            <a:cxnLst/>
            <a:rect l="l" t="t" r="r" b="b"/>
            <a:pathLst>
              <a:path w="5934075" h="609600">
                <a:moveTo>
                  <a:pt x="38100" y="0"/>
                </a:moveTo>
                <a:lnTo>
                  <a:pt x="5857875" y="0"/>
                </a:lnTo>
                <a:cubicBezTo>
                  <a:pt x="5899931" y="0"/>
                  <a:pt x="5934075" y="34144"/>
                  <a:pt x="5934075" y="76200"/>
                </a:cubicBezTo>
                <a:lnTo>
                  <a:pt x="5934075" y="533400"/>
                </a:lnTo>
                <a:cubicBezTo>
                  <a:pt x="5934075" y="575456"/>
                  <a:pt x="5899931" y="609600"/>
                  <a:pt x="585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3875" y="1533525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9125" y="1609725"/>
            <a:ext cx="583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3-Way Handshake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1876425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must be established before any data transfer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3875" y="2219325"/>
            <a:ext cx="5934075" cy="876300"/>
          </a:xfrm>
          <a:custGeom>
            <a:avLst/>
            <a:gdLst/>
            <a:ahLst/>
            <a:cxnLst/>
            <a:rect l="l" t="t" r="r" b="b"/>
            <a:pathLst>
              <a:path w="5934075" h="876300">
                <a:moveTo>
                  <a:pt x="38100" y="0"/>
                </a:moveTo>
                <a:lnTo>
                  <a:pt x="5857872" y="0"/>
                </a:lnTo>
                <a:cubicBezTo>
                  <a:pt x="5899958" y="0"/>
                  <a:pt x="5934075" y="34117"/>
                  <a:pt x="5934075" y="76203"/>
                </a:cubicBezTo>
                <a:lnTo>
                  <a:pt x="5934075" y="800097"/>
                </a:lnTo>
                <a:cubicBezTo>
                  <a:pt x="5934075" y="842183"/>
                  <a:pt x="5899958" y="876300"/>
                  <a:pt x="58578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3875" y="2219325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125" y="2295525"/>
            <a:ext cx="583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Creating Segments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125" y="2562225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Size:</a:t>
            </a: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3,145,728 bytes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07080" y="2486025"/>
            <a:ext cx="314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MSS (Maximum Segment Size):</a:t>
            </a: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1,460 bytes/segment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125" y="2828925"/>
            <a:ext cx="582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Segments:</a:t>
            </a: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3,145,728 ÷ 1,460 ≈ 2,155 segments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338513"/>
            <a:ext cx="6191250" cy="3324225"/>
          </a:xfrm>
          <a:custGeom>
            <a:avLst/>
            <a:gdLst/>
            <a:ahLst/>
            <a:cxnLst/>
            <a:rect l="l" t="t" r="r" b="b"/>
            <a:pathLst>
              <a:path w="6191250" h="3324225">
                <a:moveTo>
                  <a:pt x="114287" y="0"/>
                </a:moveTo>
                <a:lnTo>
                  <a:pt x="6076963" y="0"/>
                </a:lnTo>
                <a:cubicBezTo>
                  <a:pt x="6140082" y="0"/>
                  <a:pt x="6191250" y="51168"/>
                  <a:pt x="6191250" y="114287"/>
                </a:cubicBezTo>
                <a:lnTo>
                  <a:pt x="6191250" y="3209938"/>
                </a:lnTo>
                <a:cubicBezTo>
                  <a:pt x="6191250" y="3273057"/>
                  <a:pt x="6140082" y="3324225"/>
                  <a:pt x="6076963" y="3324225"/>
                </a:cubicBezTo>
                <a:lnTo>
                  <a:pt x="114287" y="3324225"/>
                </a:lnTo>
                <a:cubicBezTo>
                  <a:pt x="51210" y="3324225"/>
                  <a:pt x="0" y="3273015"/>
                  <a:pt x="0" y="3209938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4825" y="3457575"/>
            <a:ext cx="603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Transfer 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4825" y="3800475"/>
            <a:ext cx="5953125" cy="1219200"/>
          </a:xfrm>
          <a:custGeom>
            <a:avLst/>
            <a:gdLst/>
            <a:ahLst/>
            <a:cxnLst/>
            <a:rect l="l" t="t" r="r" b="b"/>
            <a:pathLst>
              <a:path w="5953125" h="1219200">
                <a:moveTo>
                  <a:pt x="76200" y="0"/>
                </a:moveTo>
                <a:lnTo>
                  <a:pt x="5876925" y="0"/>
                </a:lnTo>
                <a:cubicBezTo>
                  <a:pt x="5918981" y="0"/>
                  <a:pt x="5953125" y="34144"/>
                  <a:pt x="5953125" y="76200"/>
                </a:cubicBezTo>
                <a:lnTo>
                  <a:pt x="5953125" y="1143000"/>
                </a:lnTo>
                <a:cubicBezTo>
                  <a:pt x="5953125" y="1185056"/>
                  <a:pt x="5918981" y="1219200"/>
                  <a:pt x="5876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460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1025" y="3876675"/>
            <a:ext cx="587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First Segment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4143375"/>
            <a:ext cx="5800725" cy="571500"/>
          </a:xfrm>
          <a:custGeom>
            <a:avLst/>
            <a:gdLst/>
            <a:ahLst/>
            <a:cxnLst/>
            <a:rect l="l" t="t" r="r" b="b"/>
            <a:pathLst>
              <a:path w="5800725" h="571500">
                <a:moveTo>
                  <a:pt x="38102" y="0"/>
                </a:moveTo>
                <a:lnTo>
                  <a:pt x="5762623" y="0"/>
                </a:lnTo>
                <a:cubicBezTo>
                  <a:pt x="5783666" y="0"/>
                  <a:pt x="5800725" y="17059"/>
                  <a:pt x="5800725" y="38102"/>
                </a:cubicBezTo>
                <a:lnTo>
                  <a:pt x="5800725" y="533398"/>
                </a:lnTo>
                <a:cubicBezTo>
                  <a:pt x="5800725" y="554441"/>
                  <a:pt x="5783666" y="571500"/>
                  <a:pt x="5762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888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55465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87043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8621" y="4219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3888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55465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87043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18621" y="44481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1,460B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1025" y="4752975"/>
            <a:ext cx="586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</a:t>
            </a:r>
            <a:r>
              <a:rPr lang="en-US" sz="10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acknowledges: Ack </a:t>
            </a: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2461 (1001 + 1460) = </a:t>
            </a:r>
            <a:r>
              <a:rPr lang="en-US" sz="10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0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No. + MSS(Payload) = Seq No. of 2</a:t>
            </a:r>
            <a:r>
              <a:rPr lang="en-US" sz="1050" b="1" baseline="3000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 </a:t>
            </a:r>
            <a:r>
              <a:rPr lang="en-US" sz="10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or. Next Segment </a:t>
            </a:r>
            <a:endParaRPr lang="en-US" sz="1600" b="1" dirty="0"/>
          </a:p>
        </p:txBody>
      </p:sp>
      <p:sp>
        <p:nvSpPr>
          <p:cNvPr id="30" name="Shape 28"/>
          <p:cNvSpPr/>
          <p:nvPr/>
        </p:nvSpPr>
        <p:spPr>
          <a:xfrm>
            <a:off x="504825" y="5095875"/>
            <a:ext cx="5953125" cy="1219200"/>
          </a:xfrm>
          <a:custGeom>
            <a:avLst/>
            <a:gdLst/>
            <a:ahLst/>
            <a:cxnLst/>
            <a:rect l="l" t="t" r="r" b="b"/>
            <a:pathLst>
              <a:path w="5953125" h="1219200">
                <a:moveTo>
                  <a:pt x="76200" y="0"/>
                </a:moveTo>
                <a:lnTo>
                  <a:pt x="5876925" y="0"/>
                </a:lnTo>
                <a:cubicBezTo>
                  <a:pt x="5918981" y="0"/>
                  <a:pt x="5953125" y="34144"/>
                  <a:pt x="5953125" y="76200"/>
                </a:cubicBezTo>
                <a:lnTo>
                  <a:pt x="5953125" y="1143000"/>
                </a:lnTo>
                <a:cubicBezTo>
                  <a:pt x="5953125" y="1185056"/>
                  <a:pt x="5918981" y="1219200"/>
                  <a:pt x="5876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9C8C7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1025" y="5172075"/>
            <a:ext cx="587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Second Segment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5438775"/>
            <a:ext cx="5800725" cy="571500"/>
          </a:xfrm>
          <a:custGeom>
            <a:avLst/>
            <a:gdLst/>
            <a:ahLst/>
            <a:cxnLst/>
            <a:rect l="l" t="t" r="r" b="b"/>
            <a:pathLst>
              <a:path w="5800725" h="571500">
                <a:moveTo>
                  <a:pt x="38102" y="0"/>
                </a:moveTo>
                <a:lnTo>
                  <a:pt x="5762623" y="0"/>
                </a:lnTo>
                <a:cubicBezTo>
                  <a:pt x="5783666" y="0"/>
                  <a:pt x="5800725" y="17059"/>
                  <a:pt x="5800725" y="38102"/>
                </a:cubicBezTo>
                <a:lnTo>
                  <a:pt x="5800725" y="533398"/>
                </a:lnTo>
                <a:cubicBezTo>
                  <a:pt x="5800725" y="554441"/>
                  <a:pt x="5783666" y="571500"/>
                  <a:pt x="576262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888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055465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 No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87043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 No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18621" y="55149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3888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055465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2461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87043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18621" y="5743575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1,460B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1025" y="6048375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Server acknowledges: Ack = 3921 (2461 + 1460)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4825" y="6353175"/>
            <a:ext cx="601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repeats until all 3MB is transferred...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40872" y="1071563"/>
            <a:ext cx="5067300" cy="3057525"/>
          </a:xfrm>
          <a:custGeom>
            <a:avLst/>
            <a:gdLst/>
            <a:ahLst/>
            <a:cxnLst/>
            <a:rect l="l" t="t" r="r" b="b"/>
            <a:pathLst>
              <a:path w="5067300" h="3057525">
                <a:moveTo>
                  <a:pt x="114290" y="0"/>
                </a:moveTo>
                <a:lnTo>
                  <a:pt x="4953010" y="0"/>
                </a:lnTo>
                <a:cubicBezTo>
                  <a:pt x="5016130" y="0"/>
                  <a:pt x="5067300" y="51170"/>
                  <a:pt x="5067300" y="114290"/>
                </a:cubicBezTo>
                <a:lnTo>
                  <a:pt x="5067300" y="2943235"/>
                </a:lnTo>
                <a:cubicBezTo>
                  <a:pt x="5067300" y="3006355"/>
                  <a:pt x="5016130" y="3057525"/>
                  <a:pt x="4953010" y="3057525"/>
                </a:cubicBezTo>
                <a:lnTo>
                  <a:pt x="114290" y="3057525"/>
                </a:lnTo>
                <a:cubicBezTo>
                  <a:pt x="51170" y="3057525"/>
                  <a:pt x="0" y="3006355"/>
                  <a:pt x="0" y="29432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gradFill flip="none" rotWithShape="1">
            <a:gsLst>
              <a:gs pos="0">
                <a:srgbClr val="BD6B4F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59935" y="119062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BD6B4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Retransmission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64697" y="1538288"/>
            <a:ext cx="4819650" cy="1076325"/>
          </a:xfrm>
          <a:custGeom>
            <a:avLst/>
            <a:gdLst/>
            <a:ahLst/>
            <a:cxnLst/>
            <a:rect l="l" t="t" r="r" b="b"/>
            <a:pathLst>
              <a:path w="4819650" h="1076325">
                <a:moveTo>
                  <a:pt x="76204" y="0"/>
                </a:moveTo>
                <a:lnTo>
                  <a:pt x="4743446" y="0"/>
                </a:lnTo>
                <a:cubicBezTo>
                  <a:pt x="4785532" y="0"/>
                  <a:pt x="4819650" y="34118"/>
                  <a:pt x="4819650" y="76204"/>
                </a:cubicBezTo>
                <a:lnTo>
                  <a:pt x="4819650" y="1000121"/>
                </a:lnTo>
                <a:cubicBezTo>
                  <a:pt x="4819650" y="1042207"/>
                  <a:pt x="4785532" y="1076325"/>
                  <a:pt x="4743446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BD6B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5660" y="1619250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Does Retransmission Occur?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4710" y="1924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88547" y="188595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Packet is lost in transit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64710" y="21526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188547" y="211455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 fails at receiver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64710" y="23812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88547" y="234315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acknowledgment (ACK) received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64697" y="2700338"/>
            <a:ext cx="4819650" cy="1304925"/>
          </a:xfrm>
          <a:custGeom>
            <a:avLst/>
            <a:gdLst/>
            <a:ahLst/>
            <a:cxnLst/>
            <a:rect l="l" t="t" r="r" b="b"/>
            <a:pathLst>
              <a:path w="4819650" h="1304925">
                <a:moveTo>
                  <a:pt x="76195" y="0"/>
                </a:moveTo>
                <a:lnTo>
                  <a:pt x="4743455" y="0"/>
                </a:lnTo>
                <a:cubicBezTo>
                  <a:pt x="4785508" y="0"/>
                  <a:pt x="4819650" y="34142"/>
                  <a:pt x="4819650" y="76195"/>
                </a:cubicBezTo>
                <a:lnTo>
                  <a:pt x="4819650" y="1228730"/>
                </a:lnTo>
                <a:cubicBezTo>
                  <a:pt x="4819650" y="1270783"/>
                  <a:pt x="4785508" y="1304925"/>
                  <a:pt x="4743455" y="1304925"/>
                </a:cubicBezTo>
                <a:lnTo>
                  <a:pt x="76195" y="1304925"/>
                </a:lnTo>
                <a:cubicBezTo>
                  <a:pt x="34142" y="1304925"/>
                  <a:pt x="0" y="1270783"/>
                  <a:pt x="0" y="12287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BD6B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45660" y="2781300"/>
            <a:ext cx="473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 Timeout (RTO)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945660" y="3048000"/>
            <a:ext cx="472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Timeout before retrying: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45660" y="32766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808940" y="32766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~200ms to 3s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45660" y="35052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805368" y="350520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~300ms to 3s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45660" y="3733800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RFC 6298: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69836" y="37338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 default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740872" y="4252913"/>
            <a:ext cx="5067300" cy="1685925"/>
          </a:xfrm>
          <a:custGeom>
            <a:avLst/>
            <a:gdLst/>
            <a:ahLst/>
            <a:cxnLst/>
            <a:rect l="l" t="t" r="r" b="b"/>
            <a:pathLst>
              <a:path w="5067300" h="1685925">
                <a:moveTo>
                  <a:pt x="114306" y="0"/>
                </a:moveTo>
                <a:lnTo>
                  <a:pt x="4952994" y="0"/>
                </a:lnTo>
                <a:cubicBezTo>
                  <a:pt x="5016124" y="0"/>
                  <a:pt x="5067300" y="51176"/>
                  <a:pt x="5067300" y="114306"/>
                </a:cubicBezTo>
                <a:lnTo>
                  <a:pt x="5067300" y="1571619"/>
                </a:lnTo>
                <a:cubicBezTo>
                  <a:pt x="5067300" y="1634749"/>
                  <a:pt x="5016124" y="1685925"/>
                  <a:pt x="4952994" y="1685925"/>
                </a:cubicBezTo>
                <a:lnTo>
                  <a:pt x="114306" y="1685925"/>
                </a:lnTo>
                <a:cubicBezTo>
                  <a:pt x="51176" y="1685925"/>
                  <a:pt x="0" y="1634749"/>
                  <a:pt x="0" y="157161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59935" y="437197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9C8C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Exponential Backoff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59935" y="4714875"/>
            <a:ext cx="489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each failed retry, timeout doubles: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950547" y="498157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1" y="0"/>
                </a:moveTo>
                <a:lnTo>
                  <a:pt x="228599" y="0"/>
                </a:lnTo>
                <a:cubicBezTo>
                  <a:pt x="249642" y="0"/>
                  <a:pt x="266700" y="17058"/>
                  <a:pt x="266700" y="38101"/>
                </a:cubicBezTo>
                <a:lnTo>
                  <a:pt x="266700" y="266699"/>
                </a:lnTo>
                <a:cubicBezTo>
                  <a:pt x="266700" y="287742"/>
                  <a:pt x="249642" y="304800"/>
                  <a:pt x="228599" y="304800"/>
                </a:cubicBezTo>
                <a:lnTo>
                  <a:pt x="38101" y="304800"/>
                </a:lnTo>
                <a:cubicBezTo>
                  <a:pt x="17058" y="304800"/>
                  <a:pt x="0" y="287742"/>
                  <a:pt x="0" y="2666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50547" y="4981575"/>
            <a:ext cx="3429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13837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561487" y="4981575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95275" h="304800">
                <a:moveTo>
                  <a:pt x="38099" y="0"/>
                </a:moveTo>
                <a:lnTo>
                  <a:pt x="257176" y="0"/>
                </a:lnTo>
                <a:cubicBezTo>
                  <a:pt x="278217" y="0"/>
                  <a:pt x="295275" y="17058"/>
                  <a:pt x="295275" y="38099"/>
                </a:cubicBezTo>
                <a:lnTo>
                  <a:pt x="295275" y="266701"/>
                </a:lnTo>
                <a:cubicBezTo>
                  <a:pt x="295275" y="287742"/>
                  <a:pt x="278217" y="304800"/>
                  <a:pt x="257176" y="304800"/>
                </a:cubicBezTo>
                <a:lnTo>
                  <a:pt x="38099" y="304800"/>
                </a:lnTo>
                <a:cubicBezTo>
                  <a:pt x="17058" y="304800"/>
                  <a:pt x="0" y="287742"/>
                  <a:pt x="0" y="2667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561487" y="4981575"/>
            <a:ext cx="37147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53946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201596" y="4981575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95275" h="304800">
                <a:moveTo>
                  <a:pt x="38099" y="0"/>
                </a:moveTo>
                <a:lnTo>
                  <a:pt x="257176" y="0"/>
                </a:lnTo>
                <a:cubicBezTo>
                  <a:pt x="278217" y="0"/>
                  <a:pt x="295275" y="17058"/>
                  <a:pt x="295275" y="38099"/>
                </a:cubicBezTo>
                <a:lnTo>
                  <a:pt x="295275" y="266701"/>
                </a:lnTo>
                <a:cubicBezTo>
                  <a:pt x="295275" y="287742"/>
                  <a:pt x="278217" y="304800"/>
                  <a:pt x="257176" y="304800"/>
                </a:cubicBezTo>
                <a:lnTo>
                  <a:pt x="38099" y="304800"/>
                </a:lnTo>
                <a:cubicBezTo>
                  <a:pt x="17058" y="304800"/>
                  <a:pt x="0" y="287742"/>
                  <a:pt x="0" y="2667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201596" y="4981575"/>
            <a:ext cx="37147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593907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841557" y="4981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841557" y="4981575"/>
            <a:ext cx="3810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241459" y="5057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489109" y="5019675"/>
            <a:ext cx="18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859935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864697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864697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retries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494365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499128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499128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retries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0128796" y="5362575"/>
            <a:ext cx="1562100" cy="457200"/>
          </a:xfrm>
          <a:custGeom>
            <a:avLst/>
            <a:gdLst/>
            <a:ahLst/>
            <a:cxnLst/>
            <a:rect l="l" t="t" r="r" b="b"/>
            <a:pathLst>
              <a:path w="1562100" h="457200">
                <a:moveTo>
                  <a:pt x="38098" y="0"/>
                </a:moveTo>
                <a:lnTo>
                  <a:pt x="1524002" y="0"/>
                </a:lnTo>
                <a:cubicBezTo>
                  <a:pt x="1545043" y="0"/>
                  <a:pt x="1562100" y="17057"/>
                  <a:pt x="1562100" y="38098"/>
                </a:cubicBezTo>
                <a:lnTo>
                  <a:pt x="1562100" y="419102"/>
                </a:lnTo>
                <a:cubicBezTo>
                  <a:pt x="1562100" y="440143"/>
                  <a:pt x="1545043" y="457200"/>
                  <a:pt x="1524002" y="457200"/>
                </a:cubicBezTo>
                <a:lnTo>
                  <a:pt x="38098" y="457200"/>
                </a:lnTo>
                <a:cubicBezTo>
                  <a:pt x="17057" y="457200"/>
                  <a:pt x="0" y="440143"/>
                  <a:pt x="0" y="4191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133558" y="54006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MacOS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10133558" y="559117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~15 retries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01c5e796438e4cf8cd32262291b6d061d11849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643" r="1464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EFE4"/>
              </a:gs>
              <a:gs pos="50000">
                <a:srgbClr val="F5EFE4">
                  <a:alpha val="95000"/>
                </a:srgbClr>
              </a:gs>
              <a:gs pos="100000">
                <a:srgbClr val="F5EFE4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657350"/>
            <a:ext cx="1400175" cy="390525"/>
          </a:xfrm>
          <a:custGeom>
            <a:avLst/>
            <a:gdLst/>
            <a:ahLst/>
            <a:cxnLst/>
            <a:rect l="l" t="t" r="r" b="b"/>
            <a:pathLst>
              <a:path w="1400175" h="390525">
                <a:moveTo>
                  <a:pt x="195263" y="0"/>
                </a:moveTo>
                <a:lnTo>
                  <a:pt x="1204913" y="0"/>
                </a:lnTo>
                <a:cubicBezTo>
                  <a:pt x="1312681" y="0"/>
                  <a:pt x="1400175" y="87494"/>
                  <a:pt x="1400175" y="195263"/>
                </a:cubicBezTo>
                <a:lnTo>
                  <a:pt x="1400175" y="195263"/>
                </a:lnTo>
                <a:cubicBezTo>
                  <a:pt x="1400175" y="303031"/>
                  <a:pt x="1312681" y="390525"/>
                  <a:pt x="12049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w="12700">
            <a:solidFill>
              <a:srgbClr val="9C84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766888"/>
            <a:ext cx="10815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1238"/>
            <a:ext cx="6572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24338"/>
            <a:ext cx="6343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Datagram Protocol - Fast, Connectionless Communication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499586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3425" y="4976813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10941" y="49958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51459" y="4976813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Characteristics &amp; Use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143000"/>
            <a:ext cx="5619750" cy="1981200"/>
          </a:xfrm>
          <a:custGeom>
            <a:avLst/>
            <a:gdLst/>
            <a:ahLst/>
            <a:cxnLst/>
            <a:rect l="l" t="t" r="r" b="b"/>
            <a:pathLst>
              <a:path w="5619750" h="1981200">
                <a:moveTo>
                  <a:pt x="0" y="0"/>
                </a:moveTo>
                <a:lnTo>
                  <a:pt x="5505455" y="0"/>
                </a:lnTo>
                <a:cubicBezTo>
                  <a:pt x="5568536" y="0"/>
                  <a:pt x="5619750" y="51214"/>
                  <a:pt x="5619750" y="114295"/>
                </a:cubicBezTo>
                <a:lnTo>
                  <a:pt x="5619750" y="1866905"/>
                </a:lnTo>
                <a:cubicBezTo>
                  <a:pt x="5619750" y="1929986"/>
                  <a:pt x="5568536" y="1981200"/>
                  <a:pt x="5505455" y="1981200"/>
                </a:cubicBez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143000"/>
            <a:ext cx="38100" cy="1981200"/>
          </a:xfrm>
          <a:custGeom>
            <a:avLst/>
            <a:gdLst/>
            <a:ahLst/>
            <a:cxnLst/>
            <a:rect l="l" t="t" r="r" b="b"/>
            <a:pathLst>
              <a:path w="38100" h="1981200">
                <a:moveTo>
                  <a:pt x="0" y="0"/>
                </a:moveTo>
                <a:lnTo>
                  <a:pt x="38100" y="0"/>
                </a:lnTo>
                <a:lnTo>
                  <a:pt x="381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1500" y="1295400"/>
            <a:ext cx="539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is UDP?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6383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UDP (User Datagram Protocol)</a:t>
            </a: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Transport layer protocol that breaks data into segments for transmission.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2574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4388" y="22098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breaks data into segments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550" y="252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4388" y="247650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checksums for integrity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4388" y="27432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Assigns source/destination ports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243263"/>
            <a:ext cx="5629275" cy="3448050"/>
          </a:xfrm>
          <a:custGeom>
            <a:avLst/>
            <a:gdLst/>
            <a:ahLst/>
            <a:cxnLst/>
            <a:rect l="l" t="t" r="r" b="b"/>
            <a:pathLst>
              <a:path w="5629275" h="3448050">
                <a:moveTo>
                  <a:pt x="114303" y="0"/>
                </a:moveTo>
                <a:lnTo>
                  <a:pt x="5514972" y="0"/>
                </a:lnTo>
                <a:cubicBezTo>
                  <a:pt x="5578058" y="0"/>
                  <a:pt x="5629275" y="51217"/>
                  <a:pt x="5629275" y="114303"/>
                </a:cubicBezTo>
                <a:lnTo>
                  <a:pt x="5629275" y="3333747"/>
                </a:lnTo>
                <a:cubicBezTo>
                  <a:pt x="5629275" y="3396833"/>
                  <a:pt x="5578058" y="3448050"/>
                  <a:pt x="5514972" y="3448050"/>
                </a:cubicBezTo>
                <a:lnTo>
                  <a:pt x="114303" y="3448050"/>
                </a:lnTo>
                <a:cubicBezTo>
                  <a:pt x="51217" y="3448050"/>
                  <a:pt x="0" y="3396833"/>
                  <a:pt x="0" y="33337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BD6B4F">
                  <a:alpha val="10000"/>
                </a:srgbClr>
              </a:gs>
              <a:gs pos="100000">
                <a:srgbClr val="4A3F35">
                  <a:alpha val="0"/>
                </a:srgbClr>
              </a:gs>
            </a:gsLst>
            <a:lin ang="2700000" scaled="1"/>
          </a:gra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925" y="3400425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BD6B4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Differences from TCP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1975" y="37814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1975" y="37814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9138" y="3933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3938" y="38957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Delivery Guarantee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3938" y="41243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TCP, UDP does not ensure complete data transfer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1975" y="45053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1975" y="45053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9138" y="4657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3938" y="4619625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Acknowledgment Numbers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3938" y="4848225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mechanism to confirm receipt of segments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975" y="5229225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571498"/>
                </a:lnTo>
                <a:cubicBezTo>
                  <a:pt x="5295900" y="613583"/>
                  <a:pt x="5261783" y="647700"/>
                  <a:pt x="521969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EF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1975" y="5229225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9853" y="5381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3938" y="534352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Than TCP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3938" y="55721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retry mechanism means lower latency and overhead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963" y="1147763"/>
            <a:ext cx="5629275" cy="3971925"/>
          </a:xfrm>
          <a:custGeom>
            <a:avLst/>
            <a:gdLst/>
            <a:ahLst/>
            <a:cxnLst/>
            <a:rect l="l" t="t" r="r" b="b"/>
            <a:pathLst>
              <a:path w="5629275" h="3971925">
                <a:moveTo>
                  <a:pt x="114312" y="0"/>
                </a:moveTo>
                <a:lnTo>
                  <a:pt x="5514963" y="0"/>
                </a:lnTo>
                <a:cubicBezTo>
                  <a:pt x="5578096" y="0"/>
                  <a:pt x="5629275" y="51179"/>
                  <a:pt x="5629275" y="114312"/>
                </a:cubicBezTo>
                <a:lnTo>
                  <a:pt x="5629275" y="3857613"/>
                </a:lnTo>
                <a:cubicBezTo>
                  <a:pt x="5629275" y="3920746"/>
                  <a:pt x="5578096" y="3971925"/>
                  <a:pt x="5514963" y="3971925"/>
                </a:cubicBezTo>
                <a:lnTo>
                  <a:pt x="114312" y="3971925"/>
                </a:lnTo>
                <a:cubicBezTo>
                  <a:pt x="51179" y="3971925"/>
                  <a:pt x="0" y="3920746"/>
                  <a:pt x="0" y="3857613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91263" y="130492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 Header Structure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8888" y="169068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19850" y="17907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Port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523637" y="177165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23637" y="177165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9850" y="20764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sending application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8888" y="239553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19850" y="249555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Port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523637" y="24765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523637" y="247650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9850" y="27813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number of the receiving application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8888" y="3100388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19850" y="320040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Length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23637" y="318135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523637" y="318135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9850" y="348615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length of UDP header + data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8888" y="3805237"/>
            <a:ext cx="5305425" cy="657225"/>
          </a:xfrm>
          <a:custGeom>
            <a:avLst/>
            <a:gdLst/>
            <a:ahLst/>
            <a:cxnLst/>
            <a:rect l="l" t="t" r="r" b="b"/>
            <a:pathLst>
              <a:path w="5305425" h="6572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581026"/>
                </a:lnTo>
                <a:cubicBezTo>
                  <a:pt x="5305425" y="623110"/>
                  <a:pt x="5271310" y="657225"/>
                  <a:pt x="5229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19850" y="39052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Checksum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523637" y="388620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38101" y="0"/>
                </a:moveTo>
                <a:lnTo>
                  <a:pt x="1000124" y="0"/>
                </a:lnTo>
                <a:cubicBezTo>
                  <a:pt x="1021167" y="0"/>
                  <a:pt x="1038225" y="17058"/>
                  <a:pt x="1038225" y="38101"/>
                </a:cubicBezTo>
                <a:lnTo>
                  <a:pt x="1038225" y="228599"/>
                </a:lnTo>
                <a:cubicBezTo>
                  <a:pt x="1038225" y="249642"/>
                  <a:pt x="1021167" y="266700"/>
                  <a:pt x="10001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523637" y="3886200"/>
            <a:ext cx="1104900" cy="2667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bits (2 bytes)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9850" y="4191000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detection value (optional in IPv4)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3650" y="4514850"/>
            <a:ext cx="5295900" cy="438150"/>
          </a:xfrm>
          <a:custGeom>
            <a:avLst/>
            <a:gdLst/>
            <a:ahLst/>
            <a:cxnLst/>
            <a:rect l="l" t="t" r="r" b="b"/>
            <a:pathLst>
              <a:path w="5295900" h="438150">
                <a:moveTo>
                  <a:pt x="76199" y="0"/>
                </a:moveTo>
                <a:lnTo>
                  <a:pt x="5219701" y="0"/>
                </a:lnTo>
                <a:cubicBezTo>
                  <a:pt x="5261785" y="0"/>
                  <a:pt x="5295900" y="34115"/>
                  <a:pt x="5295900" y="76199"/>
                </a:cubicBezTo>
                <a:lnTo>
                  <a:pt x="5295900" y="361951"/>
                </a:lnTo>
                <a:cubicBezTo>
                  <a:pt x="5295900" y="404035"/>
                  <a:pt x="5261785" y="438150"/>
                  <a:pt x="5219701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 w="25400">
            <a:solidFill>
              <a:srgbClr val="9C8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29375" y="4619625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Header Size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71832" y="46005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bits (8 bytes)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6963" y="5243513"/>
            <a:ext cx="5629275" cy="1447800"/>
          </a:xfrm>
          <a:custGeom>
            <a:avLst/>
            <a:gdLst/>
            <a:ahLst/>
            <a:cxnLst/>
            <a:rect l="l" t="t" r="r" b="b"/>
            <a:pathLst>
              <a:path w="5629275" h="144780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333496"/>
                </a:lnTo>
                <a:cubicBezTo>
                  <a:pt x="5629275" y="1396624"/>
                  <a:pt x="5578099" y="1447800"/>
                  <a:pt x="5514971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4125" y="540067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Common Use Cases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888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087344" y="58769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8651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Calling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91275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WebRTC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3583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C7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872389" y="58769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66688" y="23812"/>
                </a:moveTo>
                <a:cubicBezTo>
                  <a:pt x="206127" y="23812"/>
                  <a:pt x="238125" y="55811"/>
                  <a:pt x="238125" y="95250"/>
                </a:cubicBezTo>
                <a:cubicBezTo>
                  <a:pt x="238125" y="134689"/>
                  <a:pt x="206127" y="166688"/>
                  <a:pt x="166688" y="166688"/>
                </a:cubicBezTo>
                <a:lnTo>
                  <a:pt x="71438" y="166688"/>
                </a:lnTo>
                <a:cubicBezTo>
                  <a:pt x="31998" y="166688"/>
                  <a:pt x="0" y="134689"/>
                  <a:pt x="0" y="95250"/>
                </a:cubicBezTo>
                <a:cubicBezTo>
                  <a:pt x="0" y="55811"/>
                  <a:pt x="31998" y="23812"/>
                  <a:pt x="71438" y="23812"/>
                </a:cubicBezTo>
                <a:lnTo>
                  <a:pt x="166688" y="23812"/>
                </a:lnTo>
                <a:close/>
                <a:moveTo>
                  <a:pt x="71438" y="65484"/>
                </a:moveTo>
                <a:cubicBezTo>
                  <a:pt x="66489" y="65484"/>
                  <a:pt x="62508" y="69466"/>
                  <a:pt x="62508" y="74414"/>
                </a:cubicBezTo>
                <a:lnTo>
                  <a:pt x="62508" y="86320"/>
                </a:lnTo>
                <a:lnTo>
                  <a:pt x="50602" y="86320"/>
                </a:lnTo>
                <a:cubicBezTo>
                  <a:pt x="45653" y="86320"/>
                  <a:pt x="41672" y="90301"/>
                  <a:pt x="41672" y="95250"/>
                </a:cubicBezTo>
                <a:cubicBezTo>
                  <a:pt x="41672" y="100199"/>
                  <a:pt x="45653" y="104180"/>
                  <a:pt x="50602" y="104180"/>
                </a:cubicBezTo>
                <a:lnTo>
                  <a:pt x="62508" y="104180"/>
                </a:lnTo>
                <a:lnTo>
                  <a:pt x="62508" y="116086"/>
                </a:lnTo>
                <a:cubicBezTo>
                  <a:pt x="62508" y="121034"/>
                  <a:pt x="66489" y="125016"/>
                  <a:pt x="71438" y="125016"/>
                </a:cubicBezTo>
                <a:cubicBezTo>
                  <a:pt x="76386" y="125016"/>
                  <a:pt x="80367" y="121034"/>
                  <a:pt x="80367" y="116086"/>
                </a:cubicBezTo>
                <a:lnTo>
                  <a:pt x="80367" y="104180"/>
                </a:lnTo>
                <a:lnTo>
                  <a:pt x="92273" y="104180"/>
                </a:lnTo>
                <a:cubicBezTo>
                  <a:pt x="97222" y="104180"/>
                  <a:pt x="101203" y="100199"/>
                  <a:pt x="101203" y="95250"/>
                </a:cubicBezTo>
                <a:cubicBezTo>
                  <a:pt x="101203" y="90301"/>
                  <a:pt x="97222" y="86320"/>
                  <a:pt x="92273" y="86320"/>
                </a:cubicBezTo>
                <a:lnTo>
                  <a:pt x="80367" y="86320"/>
                </a:lnTo>
                <a:lnTo>
                  <a:pt x="80367" y="74414"/>
                </a:lnTo>
                <a:cubicBezTo>
                  <a:pt x="80367" y="69466"/>
                  <a:pt x="76386" y="65484"/>
                  <a:pt x="71438" y="65484"/>
                </a:cubicBezTo>
                <a:close/>
                <a:moveTo>
                  <a:pt x="160734" y="101203"/>
                </a:moveTo>
                <a:cubicBezTo>
                  <a:pt x="154163" y="101203"/>
                  <a:pt x="148828" y="106538"/>
                  <a:pt x="148828" y="113109"/>
                </a:cubicBezTo>
                <a:cubicBezTo>
                  <a:pt x="148828" y="119681"/>
                  <a:pt x="154163" y="125016"/>
                  <a:pt x="160734" y="125016"/>
                </a:cubicBezTo>
                <a:cubicBezTo>
                  <a:pt x="167306" y="125016"/>
                  <a:pt x="172641" y="119681"/>
                  <a:pt x="172641" y="113109"/>
                </a:cubicBezTo>
                <a:cubicBezTo>
                  <a:pt x="172641" y="106538"/>
                  <a:pt x="167306" y="101203"/>
                  <a:pt x="160734" y="101203"/>
                </a:cubicBezTo>
                <a:close/>
                <a:moveTo>
                  <a:pt x="184547" y="65484"/>
                </a:moveTo>
                <a:cubicBezTo>
                  <a:pt x="177976" y="65484"/>
                  <a:pt x="172641" y="70819"/>
                  <a:pt x="172641" y="77391"/>
                </a:cubicBezTo>
                <a:cubicBezTo>
                  <a:pt x="172641" y="83962"/>
                  <a:pt x="177976" y="89297"/>
                  <a:pt x="184547" y="89297"/>
                </a:cubicBezTo>
                <a:cubicBezTo>
                  <a:pt x="191118" y="89297"/>
                  <a:pt x="196453" y="83962"/>
                  <a:pt x="196453" y="77391"/>
                </a:cubicBezTo>
                <a:cubicBezTo>
                  <a:pt x="196453" y="70819"/>
                  <a:pt x="191118" y="65484"/>
                  <a:pt x="184547" y="65484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18346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Gaming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188226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932938" y="5786438"/>
            <a:ext cx="1714500" cy="742950"/>
          </a:xfrm>
          <a:custGeom>
            <a:avLst/>
            <a:gdLst/>
            <a:ahLst/>
            <a:cxnLst/>
            <a:rect l="l" t="t" r="r" b="b"/>
            <a:pathLst>
              <a:path w="1714500" h="742950">
                <a:moveTo>
                  <a:pt x="76197" y="0"/>
                </a:moveTo>
                <a:lnTo>
                  <a:pt x="1638303" y="0"/>
                </a:lnTo>
                <a:cubicBezTo>
                  <a:pt x="1680385" y="0"/>
                  <a:pt x="1714500" y="34115"/>
                  <a:pt x="1714500" y="76197"/>
                </a:cubicBezTo>
                <a:lnTo>
                  <a:pt x="1714500" y="666753"/>
                </a:lnTo>
                <a:cubicBezTo>
                  <a:pt x="1714500" y="708835"/>
                  <a:pt x="1680385" y="742950"/>
                  <a:pt x="16383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BD6B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705207" y="58769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980563" y="61055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Queries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985325" y="6296025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A3F3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lookup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Protocol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 vs UDP: Key Differences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147763"/>
            <a:ext cx="11420475" cy="5400675"/>
          </a:xfrm>
          <a:custGeom>
            <a:avLst/>
            <a:gdLst/>
            <a:ahLst/>
            <a:cxnLst/>
            <a:rect l="l" t="t" r="r" b="b"/>
            <a:pathLst>
              <a:path w="11420475" h="5400675">
                <a:moveTo>
                  <a:pt x="114278" y="0"/>
                </a:moveTo>
                <a:lnTo>
                  <a:pt x="11306197" y="0"/>
                </a:lnTo>
                <a:cubicBezTo>
                  <a:pt x="11369311" y="0"/>
                  <a:pt x="11420475" y="51164"/>
                  <a:pt x="11420475" y="114278"/>
                </a:cubicBezTo>
                <a:lnTo>
                  <a:pt x="11420475" y="5286397"/>
                </a:lnTo>
                <a:cubicBezTo>
                  <a:pt x="11420475" y="5349511"/>
                  <a:pt x="11369311" y="5400675"/>
                  <a:pt x="11306197" y="5400675"/>
                </a:cubicBezTo>
                <a:lnTo>
                  <a:pt x="114278" y="5400675"/>
                </a:lnTo>
                <a:cubicBezTo>
                  <a:pt x="51164" y="5400675"/>
                  <a:pt x="0" y="5349511"/>
                  <a:pt x="0" y="5286397"/>
                </a:cubicBezTo>
                <a:lnTo>
                  <a:pt x="0" y="114278"/>
                </a:lnTo>
                <a:cubicBezTo>
                  <a:pt x="0" y="51206"/>
                  <a:pt x="51206" y="0"/>
                  <a:pt x="114278" y="0"/>
                </a:cubicBezTo>
                <a:close/>
              </a:path>
            </a:pathLst>
          </a:custGeom>
          <a:solidFill>
            <a:srgbClr val="F5EFE4"/>
          </a:solidFill>
          <a:ln w="12700">
            <a:solidFill>
              <a:srgbClr val="9C846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5300" y="1304925"/>
            <a:ext cx="3724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9C846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Comparison Factor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2976" y="1304925"/>
            <a:ext cx="3629025" cy="419100"/>
          </a:xfrm>
          <a:custGeom>
            <a:avLst/>
            <a:gdLst/>
            <a:ahLst/>
            <a:cxnLst/>
            <a:rect l="l" t="t" r="r" b="b"/>
            <a:pathLst>
              <a:path w="3629025" h="419100">
                <a:moveTo>
                  <a:pt x="76201" y="0"/>
                </a:moveTo>
                <a:lnTo>
                  <a:pt x="3552824" y="0"/>
                </a:lnTo>
                <a:cubicBezTo>
                  <a:pt x="3594909" y="0"/>
                  <a:pt x="3629025" y="34116"/>
                  <a:pt x="3629025" y="76201"/>
                </a:cubicBezTo>
                <a:lnTo>
                  <a:pt x="3629025" y="342899"/>
                </a:lnTo>
                <a:cubicBezTo>
                  <a:pt x="3629025" y="384984"/>
                  <a:pt x="3594909" y="419100"/>
                  <a:pt x="35528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11551" y="138112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E5A3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23175" y="1304925"/>
            <a:ext cx="3629025" cy="419100"/>
          </a:xfrm>
          <a:custGeom>
            <a:avLst/>
            <a:gdLst/>
            <a:ahLst/>
            <a:cxnLst/>
            <a:rect l="l" t="t" r="r" b="b"/>
            <a:pathLst>
              <a:path w="3629025" h="419100">
                <a:moveTo>
                  <a:pt x="76201" y="0"/>
                </a:moveTo>
                <a:lnTo>
                  <a:pt x="3552824" y="0"/>
                </a:lnTo>
                <a:cubicBezTo>
                  <a:pt x="3594909" y="0"/>
                  <a:pt x="3629025" y="34116"/>
                  <a:pt x="3629025" y="76201"/>
                </a:cubicBezTo>
                <a:lnTo>
                  <a:pt x="3629025" y="342899"/>
                </a:lnTo>
                <a:cubicBezTo>
                  <a:pt x="3629025" y="384984"/>
                  <a:pt x="3594909" y="419100"/>
                  <a:pt x="35528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51750" y="1381125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E6253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18383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1975" y="18383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7225" y="19145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00538" y="19335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Connection-oriented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77188" y="19335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Connectionless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975" y="22574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1975" y="22574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7225" y="23336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00538" y="23526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Guaranteed delivery with 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77188" y="23526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delivery guarantee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1975" y="26765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1975" y="26765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7225" y="27527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00538" y="27717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 (overhead)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77188" y="27717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1975" y="30956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1975" y="30956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225" y="31718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00538" y="31908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Ordered delivery guaranteed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77188" y="31908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ordering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975" y="35147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61975" y="35147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7225" y="35909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300538" y="36099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Retransmission on failure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77188" y="36099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retransmission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1975" y="39338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61975" y="39338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7225" y="40100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Size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00538" y="40290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20-60 bytes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77188" y="40290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bytes only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975" y="43529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1975" y="43529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7225" y="44291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300538" y="44481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3-way handshake required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77188" y="44481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handshake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1975" y="47720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1975" y="47720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7225" y="48482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Congestion Control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00538" y="48672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mechanism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77188" y="48672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1975" y="5191125"/>
            <a:ext cx="11087100" cy="381000"/>
          </a:xfrm>
          <a:custGeom>
            <a:avLst/>
            <a:gdLst/>
            <a:ahLst/>
            <a:cxnLst/>
            <a:rect l="l" t="t" r="r" b="b"/>
            <a:pathLst>
              <a:path w="11087100" h="381000">
                <a:moveTo>
                  <a:pt x="38100" y="0"/>
                </a:moveTo>
                <a:lnTo>
                  <a:pt x="11010900" y="0"/>
                </a:lnTo>
                <a:cubicBezTo>
                  <a:pt x="11052956" y="0"/>
                  <a:pt x="11087100" y="34144"/>
                  <a:pt x="11087100" y="76200"/>
                </a:cubicBezTo>
                <a:lnTo>
                  <a:pt x="11087100" y="304800"/>
                </a:lnTo>
                <a:cubicBezTo>
                  <a:pt x="11087100" y="346856"/>
                  <a:pt x="11052956" y="381000"/>
                  <a:pt x="110109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61975" y="5191125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7225" y="5267325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00538" y="52863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Email, File Transfer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77188" y="5286375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Streaming, Gaming, DNS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47688" y="5691188"/>
            <a:ext cx="5486400" cy="695325"/>
          </a:xfrm>
          <a:custGeom>
            <a:avLst/>
            <a:gdLst/>
            <a:ahLst/>
            <a:cxnLst/>
            <a:rect l="l" t="t" r="r" b="b"/>
            <a:pathLst>
              <a:path w="5486400" h="695325">
                <a:moveTo>
                  <a:pt x="76201" y="0"/>
                </a:moveTo>
                <a:lnTo>
                  <a:pt x="5410199" y="0"/>
                </a:lnTo>
                <a:cubicBezTo>
                  <a:pt x="5452284" y="0"/>
                  <a:pt x="5486400" y="34116"/>
                  <a:pt x="5486400" y="76201"/>
                </a:cubicBezTo>
                <a:lnTo>
                  <a:pt x="5486400" y="619124"/>
                </a:lnTo>
                <a:cubicBezTo>
                  <a:pt x="5486400" y="661209"/>
                  <a:pt x="5452284" y="695325"/>
                  <a:pt x="54101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5800" y="5848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33450" y="58102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TCP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6750" y="6076950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is critical: file transfers, emails, web browsing, database transactions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57913" y="5691188"/>
            <a:ext cx="5486400" cy="695325"/>
          </a:xfrm>
          <a:custGeom>
            <a:avLst/>
            <a:gdLst/>
            <a:ahLst/>
            <a:cxnLst/>
            <a:rect l="l" t="t" r="r" b="b"/>
            <a:pathLst>
              <a:path w="5486400" h="695325">
                <a:moveTo>
                  <a:pt x="76201" y="0"/>
                </a:moveTo>
                <a:lnTo>
                  <a:pt x="5410199" y="0"/>
                </a:lnTo>
                <a:cubicBezTo>
                  <a:pt x="5452284" y="0"/>
                  <a:pt x="5486400" y="34116"/>
                  <a:pt x="5486400" y="76201"/>
                </a:cubicBezTo>
                <a:lnTo>
                  <a:pt x="5486400" y="619124"/>
                </a:lnTo>
                <a:cubicBezTo>
                  <a:pt x="5486400" y="661209"/>
                  <a:pt x="5452284" y="695325"/>
                  <a:pt x="5410199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305550" y="58483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43675" y="581025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UDP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276975" y="6076950"/>
            <a:ext cx="531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3F3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matters more than reliability: live streaming, online gaming, VoIP, DNS queries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4637ed8143cdc7d88a0afc3246763c7b5d48005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EFE4">
                  <a:alpha val="95000"/>
                </a:srgbClr>
              </a:gs>
              <a:gs pos="50000">
                <a:srgbClr val="F5EFE4">
                  <a:alpha val="90000"/>
                </a:srgbClr>
              </a:gs>
              <a:gs pos="100000">
                <a:srgbClr val="9C8460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916781"/>
            <a:ext cx="1219200" cy="390525"/>
          </a:xfrm>
          <a:custGeom>
            <a:avLst/>
            <a:gdLst/>
            <a:ahLst/>
            <a:cxnLst/>
            <a:rect l="l" t="t" r="r" b="b"/>
            <a:pathLst>
              <a:path w="1219200" h="390525">
                <a:moveTo>
                  <a:pt x="195263" y="0"/>
                </a:moveTo>
                <a:lnTo>
                  <a:pt x="1023938" y="0"/>
                </a:lnTo>
                <a:cubicBezTo>
                  <a:pt x="1131706" y="0"/>
                  <a:pt x="1219200" y="87494"/>
                  <a:pt x="1219200" y="195263"/>
                </a:cubicBezTo>
                <a:lnTo>
                  <a:pt x="1219200" y="195263"/>
                </a:lnTo>
                <a:cubicBezTo>
                  <a:pt x="1219200" y="303031"/>
                  <a:pt x="1131706" y="390525"/>
                  <a:pt x="10239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 w="12700">
            <a:solidFill>
              <a:srgbClr val="9C84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1025" y="1026319"/>
            <a:ext cx="9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464469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9C8460">
              <a:alpha val="10196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1025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84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7713" y="265509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1025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3569494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 domain names to IP addresses through a hierarchical resolution process involving Root, TLD, and Authoritative nameservers.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4651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9C8C7A">
              <a:alpha val="10196"/>
            </a:srgbClr>
          </a:solidFill>
          <a:ln w="12700">
            <a:solidFill>
              <a:srgbClr val="9C8C7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41775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C8C7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94175" y="26550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9C8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41775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TCP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41775" y="3569494"/>
            <a:ext cx="3381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reliable, ordered data delivery with connection establishment (3-way handshake) and comprehensive error handling through retransmission.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07263" y="2307431"/>
            <a:ext cx="3695700" cy="2447925"/>
          </a:xfrm>
          <a:custGeom>
            <a:avLst/>
            <a:gdLst/>
            <a:ahLst/>
            <a:cxnLst/>
            <a:rect l="l" t="t" r="r" b="b"/>
            <a:pathLst>
              <a:path w="3695700" h="2447925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2295517"/>
                </a:lnTo>
                <a:cubicBezTo>
                  <a:pt x="3695700" y="2379690"/>
                  <a:pt x="3627465" y="2447925"/>
                  <a:pt x="3543292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BD6B4F">
              <a:alpha val="10196"/>
            </a:srgbClr>
          </a:solidFill>
          <a:ln w="12700">
            <a:solidFill>
              <a:srgbClr val="BD6B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302526" y="25026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BD6B4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469213" y="265509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BD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02526" y="3188494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3F3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UDP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02526" y="3569494"/>
            <a:ext cx="3381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3F3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Offers fast, connectionless communication ideal for real-time applications like video streaming, gaming, and DNS queries.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5763" y="4993481"/>
            <a:ext cx="11420475" cy="952500"/>
          </a:xfrm>
          <a:custGeom>
            <a:avLst/>
            <a:gdLst/>
            <a:ahLst/>
            <a:cxnLst/>
            <a:rect l="l" t="t" r="r" b="b"/>
            <a:pathLst>
              <a:path w="11420475" h="952500">
                <a:moveTo>
                  <a:pt x="152400" y="0"/>
                </a:moveTo>
                <a:lnTo>
                  <a:pt x="11268075" y="0"/>
                </a:lnTo>
                <a:cubicBezTo>
                  <a:pt x="11352187" y="0"/>
                  <a:pt x="11420475" y="68288"/>
                  <a:pt x="11420475" y="152400"/>
                </a:cubicBezTo>
                <a:lnTo>
                  <a:pt x="11420475" y="800100"/>
                </a:lnTo>
                <a:cubicBezTo>
                  <a:pt x="11420475" y="884212"/>
                  <a:pt x="11352187" y="952500"/>
                  <a:pt x="11268075" y="952500"/>
                </a:cubicBezTo>
                <a:lnTo>
                  <a:pt x="152400" y="952500"/>
                </a:lnTo>
                <a:cubicBezTo>
                  <a:pt x="68288" y="952500"/>
                  <a:pt x="0" y="884212"/>
                  <a:pt x="0" y="8001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EFE4">
              <a:alpha val="80000"/>
            </a:srgbClr>
          </a:solidFill>
          <a:ln w="12700">
            <a:solidFill>
              <a:srgbClr val="9C846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60239" y="5226844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9C8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14388" y="5188744"/>
            <a:ext cx="108394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9C84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these protocols is fundamental to comprehending how the internet works.</a:t>
            </a:r>
            <a:r>
              <a:rPr lang="en-US" sz="1350" dirty="0">
                <a:solidFill>
                  <a:srgbClr val="4A3F3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protocol serves different needs—TCP for reliability, UDP for speed—and together they form the backbone of modern network communication.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1755</Words>
  <Application>Microsoft Office PowerPoint</Application>
  <PresentationFormat>Widescreen</PresentationFormat>
  <Paragraphs>373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Liter</vt:lpstr>
      <vt:lpstr>Quattrocento Sans</vt:lpstr>
      <vt:lpstr>Arial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Protocols Deep Dive</dc:title>
  <dc:subject>Networking Protocols Deep Dive</dc:subject>
  <dc:creator>Kimi</dc:creator>
  <cp:lastModifiedBy>Nabila Nuzhat Moin</cp:lastModifiedBy>
  <cp:revision>12</cp:revision>
  <dcterms:created xsi:type="dcterms:W3CDTF">2026-02-27T02:15:00Z</dcterms:created>
  <dcterms:modified xsi:type="dcterms:W3CDTF">2026-06-15T06:50:39Z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{"Label":"Networking Protocols Deep Dive","ContentProducer":"001191110108MACG2KBH8F10000","ProduceID":"19c61cfc-c062-82bd-8000-00000f831523","ReservedCode1":"","ContentPropagator":"001191110108MACG2KBH8F20000","PropagateID":"19c61cfc-c062-82bd-8000-00000f831523","ReservedCode2":""}</vt:lpwstr>
  </property>
</Properties>
</file>
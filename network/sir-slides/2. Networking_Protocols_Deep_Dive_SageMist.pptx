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72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31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8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50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FF210-F7CE-CF00-BE1A-3F1A8121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77ED1-D4E6-6255-A84B-B4769A01C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79C3B-F98A-D891-5C9D-3D43A42B9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23249-ADA3-CA91-5DC1-F33369412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56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4F6B5C"/>
                </a:solidFill>
              </a:rPr>
              <a:t>Session 3 Notes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Protocols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347"/>
                </a:solidFill>
              </a:rPr>
              <a:t>Understanding DNS, TCP, and UDP — The Foundation of Internet Communication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58768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DCE8E0"/>
          </a:solidFill>
          <a:ln w="12700">
            <a:solidFill>
              <a:srgbClr val="4F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24"/>
                </a:solidFill>
              </a:rPr>
              <a:t>DNS Architecture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0" y="3858768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DCE8E0"/>
          </a:solidFill>
          <a:ln w="12700">
            <a:solidFill>
              <a:srgbClr val="4F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3858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24"/>
                </a:solidFill>
              </a:rPr>
              <a:t>TCP Protocol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3858768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DCE8E0"/>
          </a:solidFill>
          <a:ln w="12700">
            <a:solidFill>
              <a:srgbClr val="4F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3858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24"/>
                </a:solidFill>
              </a:rPr>
              <a:t>UDP Protocol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640080"/>
            <a:ext cx="2560320" cy="2560320"/>
          </a:xfrm>
          <a:prstGeom prst="ellipse">
            <a:avLst/>
          </a:prstGeom>
          <a:solidFill>
            <a:srgbClr val="4F6B5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89520" y="3017520"/>
            <a:ext cx="1463040" cy="1463040"/>
          </a:xfrm>
          <a:prstGeom prst="ellipse">
            <a:avLst/>
          </a:prstGeom>
          <a:solidFill>
            <a:srgbClr val="0097A7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097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7E9389"/>
                </a:solidFill>
              </a:rPr>
              <a:t>Contents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8056" y="10972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3272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24"/>
                </a:solidFill>
              </a:rPr>
              <a:t>Domain Name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" y="1508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The Internet's phonebook translating domain names to IP addresses through hierarchical resolution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" y="244144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" y="24414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347"/>
                </a:solidFill>
              </a:rPr>
              <a:t>DNS Resolution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02536" y="244144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02536" y="24414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347"/>
                </a:solidFill>
              </a:rPr>
              <a:t>Caching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27448" y="96012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55464" y="10972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55464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068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24"/>
                </a:solidFill>
              </a:rPr>
              <a:t>TCP Protocol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55464" y="1508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Reliable, connection-oriented protocol ensuring ordered data delivery with error handling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55464" y="244144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55464" y="24414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347"/>
                </a:solidFill>
              </a:rPr>
              <a:t>3-Way Handshake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9944" y="244144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9944" y="24414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347"/>
                </a:solidFill>
              </a:rPr>
              <a:t>Retransmission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" y="31089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8056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24"/>
                </a:solidFill>
              </a:rPr>
              <a:t>UDP Protocol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Fast, connectionless protocol for real-time applications without delivery guarantees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" y="445312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056" y="44531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347"/>
                </a:solidFill>
              </a:rPr>
              <a:t>Low Latency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02536" y="445312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02536" y="44531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347"/>
                </a:solidFill>
              </a:rPr>
              <a:t>Streaming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27448" y="297180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55464" y="31089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55464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24"/>
                </a:solidFill>
              </a:rPr>
              <a:t>Protocol Comparison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5464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Side-by-side analysis of TCP vs UDP — characteristics, use cases, and performance trade-offs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55464" y="445312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55464" y="44531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347"/>
                </a:solidFill>
              </a:rPr>
              <a:t>Trade-offs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9944" y="4453128"/>
            <a:ext cx="1444752" cy="237744"/>
          </a:xfrm>
          <a:prstGeom prst="roundRect">
            <a:avLst>
              <a:gd name="adj" fmla="val 15385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9944" y="44531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5347"/>
                </a:solidFill>
              </a:rPr>
              <a:t>Use Cases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0" y="457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2D24">
                    <a:alpha val="1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Chapter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Name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347"/>
                </a:solidFill>
              </a:rPr>
              <a:t>The Internet's Phonebook — How Domain Names Map to IP Addresses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D24"/>
                </a:solidFill>
              </a:rPr>
              <a:t>Hierarchical Resolution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D24"/>
                </a:solidFill>
              </a:rPr>
              <a:t>Global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Fundamentals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3D5347"/>
                </a:solidFill>
              </a:rPr>
              <a:t>DNS = Domain Name System — translates human-readable domain names into machine-readable IP addresses. </a:t>
            </a:r>
          </a:p>
          <a:p>
            <a:r>
              <a:rPr lang="en-US" sz="1100" i="1" dirty="0">
                <a:solidFill>
                  <a:srgbClr val="3D5347"/>
                </a:solidFill>
              </a:rPr>
              <a:t>Management: Managed by ICANN(</a:t>
            </a:r>
            <a:r>
              <a:rPr lang="en-US" sz="1100" dirty="0"/>
              <a:t>Internet Corporation for Assigned Names and Numbers), a non-profit organization responsible for coordinating the global internet's systems of unique identifiers</a:t>
            </a:r>
          </a:p>
          <a:p>
            <a:r>
              <a:rPr lang="en-US" sz="1100" b="1" dirty="0"/>
              <a:t>The Library Analogy: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" y="1490472"/>
            <a:ext cx="384048" cy="38404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D24"/>
                </a:solidFill>
              </a:rPr>
              <a:t>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5256" y="1490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You (User)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" y="1947672"/>
            <a:ext cx="3813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Want to find a website — type in a domain name like google.com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132588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81728" y="1490472"/>
            <a:ext cx="384048" cy="38404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81728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D24"/>
                </a:solidFill>
              </a:rPr>
              <a:t>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8928" y="1490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Librarian (DNS Resolver)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1728" y="1947672"/>
            <a:ext cx="3813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Helps locate the website by translating domain names to IP addresses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" y="3346704"/>
            <a:ext cx="384048" cy="38404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D24"/>
                </a:solidFill>
              </a:rPr>
              <a:t>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" y="33467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Index System (DNS Hierarchy)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" y="3803904"/>
            <a:ext cx="3813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Root, TLD, and Authoritative nameservers </a:t>
            </a:r>
            <a:r>
              <a:rPr lang="en-US" sz="1050" dirty="0">
                <a:solidFill>
                  <a:srgbClr val="1E2D24"/>
                </a:solidFill>
                <a:highlight>
                  <a:srgbClr val="00FF00"/>
                </a:highlight>
              </a:rPr>
              <a:t>map domain names(titles) </a:t>
            </a:r>
            <a:r>
              <a:rPr lang="en-US" sz="1050" dirty="0">
                <a:solidFill>
                  <a:srgbClr val="1E2D24"/>
                </a:solidFill>
              </a:rPr>
              <a:t>to IP locations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3712" y="31821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81728" y="3346704"/>
            <a:ext cx="384048" cy="38404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81728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D24"/>
                </a:solidFill>
              </a:rPr>
              <a:t>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33467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Book (Website)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1728" y="3803904"/>
            <a:ext cx="3813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Final destination found — IP address returned, website loads in browser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Resolution Process: How DNS works? 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347"/>
                </a:solidFill>
              </a:rPr>
              <a:t>Step-by-step journey from domain name to IP address.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3502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33502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5897" y="1898294"/>
            <a:ext cx="45720" cy="168250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134416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4081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Checking Local Cache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615440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Before making external requests, your system checks local storage for previously resolved domains.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Browser Cache, OS-Level Cache(if OS has ever visited like different browser)</a:t>
            </a:r>
          </a:p>
          <a:p>
            <a:pPr marL="0" indent="0">
              <a:buNone/>
            </a:pPr>
            <a:endParaRPr lang="en-US" sz="1000" dirty="0">
              <a:solidFill>
                <a:srgbClr val="1E2D24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rgbClr val="1E2D24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rgbClr val="1E2D24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06654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06654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5897" y="2629814"/>
            <a:ext cx="45720" cy="168250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207568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0120" y="2103120"/>
            <a:ext cx="7913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DNS Resolver / </a:t>
            </a:r>
            <a:r>
              <a:rPr lang="en-US" sz="1100" b="1" dirty="0" err="1">
                <a:solidFill>
                  <a:srgbClr val="1E2D24"/>
                </a:solidFill>
              </a:rPr>
              <a:t>Recursor</a:t>
            </a:r>
            <a:r>
              <a:rPr lang="en-US" sz="1100" b="1" dirty="0">
                <a:solidFill>
                  <a:srgbClr val="1E2D24"/>
                </a:solidFill>
              </a:rPr>
              <a:t> (Like Recursion function that can call itself) </a:t>
            </a:r>
            <a:r>
              <a:rPr lang="en-US" sz="1000" b="1" dirty="0">
                <a:solidFill>
                  <a:srgbClr val="1E2D24"/>
                </a:solidFill>
              </a:rPr>
              <a:t>(</a:t>
            </a:r>
            <a:r>
              <a:rPr lang="en-US" sz="1000" b="1" dirty="0" err="1">
                <a:solidFill>
                  <a:srgbClr val="1E2D24"/>
                </a:solidFill>
              </a:rPr>
              <a:t>bcz</a:t>
            </a:r>
            <a:r>
              <a:rPr lang="en-US" sz="1000" b="1" dirty="0">
                <a:solidFill>
                  <a:srgbClr val="1E2D24"/>
                </a:solidFill>
              </a:rPr>
              <a:t> DNS is calling these by itself, that is why called Resolver / </a:t>
            </a:r>
            <a:r>
              <a:rPr lang="en-US" sz="1000" b="1" dirty="0" err="1">
                <a:solidFill>
                  <a:srgbClr val="1E2D24"/>
                </a:solidFill>
              </a:rPr>
              <a:t>Recursor</a:t>
            </a:r>
            <a:r>
              <a:rPr lang="en-US" sz="1000" b="1" dirty="0">
                <a:solidFill>
                  <a:srgbClr val="1E2D24"/>
                </a:solidFill>
              </a:rPr>
              <a:t>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32257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If local cache misses, request goes to a DNS Resolver — like a librarian who helps find the right section.</a:t>
            </a:r>
          </a:p>
          <a:p>
            <a:r>
              <a:rPr lang="en-US" sz="100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ISP Default</a:t>
            </a:r>
            <a:r>
              <a:rPr lang="en-US" sz="1000" dirty="0">
                <a:solidFill>
                  <a:srgbClr val="1E2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Google 8.8.8.8, </a:t>
            </a:r>
            <a:r>
              <a:rPr lang="en-US" sz="100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1.1.1.1 (ISP has 2 protocol/DNS resolvers either </a:t>
            </a:r>
            <a:r>
              <a:rPr lang="en-US" sz="1000" dirty="0" err="1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google’s</a:t>
            </a:r>
            <a:r>
              <a:rPr lang="en-US" sz="100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r>
              <a:rPr lang="en-US" sz="1000" dirty="0" err="1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Cloudfair’s</a:t>
            </a:r>
            <a:r>
              <a:rPr lang="en-US" sz="100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check in pc network settings)</a:t>
            </a:r>
            <a:endParaRPr lang="en-US" sz="1400" dirty="0"/>
          </a:p>
          <a:p>
            <a:endParaRPr lang="en-US" sz="1000" dirty="0">
              <a:solidFill>
                <a:srgbClr val="1E2D24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79806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5897" y="3361334"/>
            <a:ext cx="45720" cy="168250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" y="280720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28712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Root Nameservers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16382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The resolver asks Root Nameserver — acts like an index in a library. It directs to the correct TLD server based on domain extension (e.g., .com).</a:t>
            </a:r>
          </a:p>
          <a:p>
            <a:pPr marL="0" indent="0">
              <a:buNone/>
            </a:pPr>
            <a:endParaRPr lang="en-US" sz="1000" dirty="0">
              <a:solidFill>
                <a:srgbClr val="1E2D24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352958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52958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5897" y="4092854"/>
            <a:ext cx="45720" cy="168250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2960" y="353872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120" y="36027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TLD Nameserver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3813048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The .com TLD nameserver acts like a section dedicated to .com domains. It knows where to find codersgyan.com and directs to the Authoritative Nameserver.</a:t>
            </a:r>
          </a:p>
        </p:txBody>
      </p:sp>
      <p:sp>
        <p:nvSpPr>
          <p:cNvPr id="32" name="Shape 30"/>
          <p:cNvSpPr/>
          <p:nvPr/>
        </p:nvSpPr>
        <p:spPr>
          <a:xfrm>
            <a:off x="320040" y="4261104"/>
            <a:ext cx="526694" cy="526694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26110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" y="427024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" y="43342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Authoritative Nameserver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462686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Holds the final answer — provides the exact IP address (e.g., 104.21.16.1). The resolver sends it back to your browser to load the website.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B1E7D3-872C-F656-602E-365AAC4B5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735" y="537322"/>
            <a:ext cx="3969853" cy="4386578"/>
          </a:xfrm>
          <a:prstGeom prst="rect">
            <a:avLst/>
          </a:prstGeom>
        </p:spPr>
      </p:pic>
      <p:sp>
        <p:nvSpPr>
          <p:cNvPr id="8" name="Text 39">
            <a:extLst>
              <a:ext uri="{FF2B5EF4-FFF2-40B4-BE49-F238E27FC236}">
                <a16:creationId xmlns:a16="http://schemas.microsoft.com/office/drawing/2014/main" id="{F4833B77-CB54-AE70-E9E3-AD5ED84A6F90}"/>
              </a:ext>
            </a:extLst>
          </p:cNvPr>
          <p:cNvSpPr/>
          <p:nvPr/>
        </p:nvSpPr>
        <p:spPr>
          <a:xfrm>
            <a:off x="2411194" y="219600"/>
            <a:ext cx="447102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 Resolution Flow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39223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Caching &amp; Propagation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347"/>
                </a:solidFill>
              </a:rPr>
              <a:t>DNS changes propagate globally over time due to TTL (Time-to-Live) settings on cached records.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Three Levels of Caching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8056" y="1490472"/>
            <a:ext cx="384048" cy="38404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D24"/>
                </a:solidFill>
              </a:rPr>
              <a:t>⊞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5256" y="149047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Browser Cache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" y="1911096"/>
            <a:ext cx="2414016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Stores previously visited domain records to avoid repeated lookups for sites you visit frequently.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32588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r>
              <a:rPr lang="en-US" sz="1000" b="1" dirty="0">
                <a:solidFill>
                  <a:srgbClr val="1E2D24"/>
                </a:solidFill>
              </a:rPr>
              <a:t>Why Updates Take Time?</a:t>
            </a:r>
          </a:p>
          <a:p>
            <a:endParaRPr lang="en-US" sz="1000" dirty="0">
              <a:solidFill>
                <a:srgbClr val="1E2D24"/>
              </a:solidFill>
            </a:endParaRPr>
          </a:p>
          <a:p>
            <a:r>
              <a:rPr lang="en-US" sz="1000" dirty="0">
                <a:solidFill>
                  <a:srgbClr val="1E2D24"/>
                </a:solidFill>
              </a:rPr>
              <a:t>DNS changes take time to propagate globally because Root, TLD, and Authoritative Nameservers worldwide need to update their records.</a:t>
            </a:r>
          </a:p>
          <a:p>
            <a:endParaRPr lang="en-US" sz="1000" dirty="0">
              <a:solidFill>
                <a:srgbClr val="1E2D24"/>
              </a:solidFill>
            </a:endParaRPr>
          </a:p>
          <a:p>
            <a:r>
              <a:rPr lang="en-US" sz="1000" b="1" dirty="0">
                <a:solidFill>
                  <a:srgbClr val="1E2D24"/>
                </a:solidFill>
              </a:rPr>
              <a:t>TTL (Time-to-Live): </a:t>
            </a:r>
            <a:r>
              <a:rPr lang="en-US" sz="1000" dirty="0">
                <a:solidFill>
                  <a:srgbClr val="1E2D24"/>
                </a:solidFill>
              </a:rPr>
              <a:t>Determines how long DNS records are cached before refreshing. Lower TTL = faster updates but more queries.</a:t>
            </a:r>
          </a:p>
          <a:p>
            <a:endParaRPr lang="en-US" sz="1000" b="1" dirty="0">
              <a:solidFill>
                <a:srgbClr val="1E2D24"/>
              </a:solidFill>
            </a:endParaRPr>
          </a:p>
          <a:p>
            <a:r>
              <a:rPr lang="en-US" sz="1000" b="1" dirty="0">
                <a:solidFill>
                  <a:srgbClr val="1E2D24"/>
                </a:solidFill>
              </a:rPr>
              <a:t>Why Not Direct ICANN Communication?</a:t>
            </a:r>
          </a:p>
          <a:p>
            <a:endParaRPr lang="en-US" sz="1000" b="1" dirty="0">
              <a:solidFill>
                <a:srgbClr val="1E2D24"/>
              </a:solidFill>
            </a:endParaRPr>
          </a:p>
          <a:p>
            <a:r>
              <a:rPr lang="en-US" sz="1000" dirty="0">
                <a:solidFill>
                  <a:srgbClr val="1E2D24"/>
                </a:solidFill>
              </a:rPr>
              <a:t>Our request doesn't go directly to ICANN. Instead, it interacts with DNS Resolvers , which handle communication with Root, TLD, and Authoritative Nameservers. This distributed system makes the process efficient and scalable.</a:t>
            </a:r>
          </a:p>
          <a:p>
            <a:endParaRPr lang="en-US" sz="1000" b="1" dirty="0">
              <a:solidFill>
                <a:srgbClr val="1E2D24"/>
              </a:solidFill>
            </a:endParaRPr>
          </a:p>
          <a:p>
            <a:endParaRPr lang="en-US" sz="900" dirty="0">
              <a:solidFill>
                <a:srgbClr val="1E2D24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9768" y="2841498"/>
            <a:ext cx="2414016" cy="579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Operating system maintains a temporary DNS cache for all applications running on the device.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132588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en-US" sz="1050" b="1" dirty="0"/>
              <a:t>Caching Benefits</a:t>
            </a:r>
          </a:p>
          <a:p>
            <a:endParaRPr lang="en-US" sz="1050" b="1" dirty="0"/>
          </a:p>
          <a:p>
            <a:r>
              <a:rPr lang="en-US" sz="1050" b="1" dirty="0"/>
              <a:t>Faster Loading</a:t>
            </a:r>
          </a:p>
          <a:p>
            <a:r>
              <a:rPr lang="en-US" sz="1050" dirty="0"/>
              <a:t>Websites load faster by avoiding repeated DNS lookups for frequently visited sites</a:t>
            </a:r>
          </a:p>
          <a:p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Traffic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Lessens the overall burden on DNS infrastructure and network bandwidth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Reliability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caching provides fallback if DNS servers are temporarily unavailable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50" b="1" dirty="0"/>
          </a:p>
        </p:txBody>
      </p:sp>
      <p:sp>
        <p:nvSpPr>
          <p:cNvPr id="19" name="Shape 17"/>
          <p:cNvSpPr/>
          <p:nvPr/>
        </p:nvSpPr>
        <p:spPr>
          <a:xfrm>
            <a:off x="440436" y="3437382"/>
            <a:ext cx="384048" cy="38404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0436" y="34343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D24"/>
                </a:solidFill>
              </a:rPr>
              <a:t>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7636" y="343738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DNS Resolver Cache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2148" y="3920109"/>
            <a:ext cx="2414016" cy="5013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ISPs and providers (Google 8.8.8.8, Cloudflare 1.1.1.1) maintain large shared caches.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8AEF370B-CB22-58EE-A9F9-7DE280531A18}"/>
              </a:ext>
            </a:extLst>
          </p:cNvPr>
          <p:cNvSpPr/>
          <p:nvPr/>
        </p:nvSpPr>
        <p:spPr>
          <a:xfrm>
            <a:off x="461772" y="2441448"/>
            <a:ext cx="384048" cy="38404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51A06C6-BC35-6FE5-3E24-BBBBC47277F0}"/>
              </a:ext>
            </a:extLst>
          </p:cNvPr>
          <p:cNvSpPr/>
          <p:nvPr/>
        </p:nvSpPr>
        <p:spPr>
          <a:xfrm>
            <a:off x="461772" y="24490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D24"/>
                </a:solidFill>
              </a:rPr>
              <a:t>⊙</a:t>
            </a:r>
            <a:endParaRPr lang="en-US" sz="11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4F977830-800C-8F54-EE32-1138260AB7EA}"/>
              </a:ext>
            </a:extLst>
          </p:cNvPr>
          <p:cNvSpPr/>
          <p:nvPr/>
        </p:nvSpPr>
        <p:spPr>
          <a:xfrm>
            <a:off x="918972" y="244144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OS-Level Cache (DNS Client)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2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0" y="457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2D24">
                    <a:alpha val="1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Chapter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347"/>
                </a:solidFill>
              </a:rPr>
              <a:t>Transmission Control Protocol — Reliable, Connection-Oriented Communication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D24"/>
                </a:solidFill>
              </a:rPr>
              <a:t>Guaranteed Delivery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D24"/>
                </a:solidFill>
              </a:rPr>
              <a:t>Ordered Data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Fundamentals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411480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24"/>
                </a:solidFill>
              </a:rPr>
              <a:t>What is TCP?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02258"/>
            <a:ext cx="3749040" cy="3434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TCP (Transmission Control Protocol) is one of the main protocols of the TCP/IP suite, lying between the Application and Network Layers.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Connection-oriented protocol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Breaks data into segments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Reassembles at destination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• Multiple route capability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D24"/>
                </a:solidFill>
              </a:rPr>
              <a:t>TCP/IP Protocol Stack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D24"/>
                </a:solidFill>
              </a:rPr>
              <a:t>Application Layer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HTTP, SMTP, FTP</a:t>
            </a:r>
            <a:endParaRPr lang="en-US" sz="1600" dirty="0">
              <a:solidFill>
                <a:srgbClr val="1E2D24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1E2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 Layer ← TCP</a:t>
            </a:r>
            <a:endParaRPr lang="en-US" sz="1200" dirty="0">
              <a:solidFill>
                <a:srgbClr val="1E2D24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data transfer</a:t>
            </a:r>
            <a:endParaRPr lang="en-US" sz="1600" dirty="0">
              <a:solidFill>
                <a:srgbClr val="1E2D24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1E2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Layer</a:t>
            </a:r>
            <a:endParaRPr lang="en-US" sz="1200" dirty="0">
              <a:solidFill>
                <a:srgbClr val="1E2D24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IP, routing</a:t>
            </a:r>
            <a:endParaRPr lang="en-US" sz="1600" dirty="0">
              <a:solidFill>
                <a:srgbClr val="1E2D24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1E2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Layer</a:t>
            </a:r>
            <a:endParaRPr lang="en-US" sz="1200" dirty="0">
              <a:solidFill>
                <a:srgbClr val="1E2D24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cables</a:t>
            </a:r>
            <a:endParaRPr lang="en-US" sz="1600" dirty="0">
              <a:solidFill>
                <a:srgbClr val="1E2D24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050" dirty="0">
              <a:solidFill>
                <a:srgbClr val="1E2D24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96112"/>
            <a:ext cx="4114800" cy="3950208"/>
          </a:xfrm>
          <a:prstGeom prst="roundRect">
            <a:avLst>
              <a:gd name="adj" fmla="val 1852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24"/>
                </a:solidFill>
              </a:rPr>
              <a:t>Why Use TCP?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D24"/>
                </a:solidFill>
              </a:rPr>
              <a:t>Reliability</a:t>
            </a:r>
            <a:r>
              <a:rPr lang="en-US" sz="1050" dirty="0">
                <a:solidFill>
                  <a:srgbClr val="1E2D24"/>
                </a:solidFill>
              </a:rPr>
              <a:t>: Acknowledgment and retransmission mechanism ensures lost or corrupted segments are resent — critical for file transfers and emails.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D24"/>
                </a:solidFill>
              </a:rPr>
              <a:t>Ordered Delivery</a:t>
            </a:r>
            <a:r>
              <a:rPr lang="en-US" sz="1050" dirty="0">
                <a:solidFill>
                  <a:srgbClr val="1E2D24"/>
                </a:solidFill>
              </a:rPr>
              <a:t>: Guarantees data is received in the same sequence it was sent, preventing misordered data issues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D24"/>
                </a:solidFill>
              </a:rPr>
              <a:t>Congestion &amp; Flow Control: </a:t>
            </a:r>
            <a:r>
              <a:rPr lang="en-US" sz="1050" dirty="0">
                <a:solidFill>
                  <a:srgbClr val="1E2D24"/>
                </a:solidFill>
              </a:rPr>
              <a:t>Adjusts transmission rate based on network conditions and receiver capacity to optimize throughput.</a:t>
            </a:r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D24"/>
                </a:solidFill>
              </a:rPr>
              <a:t>Universality</a:t>
            </a:r>
            <a:r>
              <a:rPr lang="en-US" sz="1050" dirty="0">
                <a:solidFill>
                  <a:srgbClr val="1E2D24"/>
                </a:solidFill>
              </a:rPr>
              <a:t>: used by HTTP, SMTP, FTP — every segment has a checksum. for error detection and correction.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Headers Structure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3D5347"/>
                </a:solidFill>
              </a:rPr>
              <a:t>Every TCP segment contains </a:t>
            </a:r>
            <a:r>
              <a:rPr lang="en-US" sz="1100" b="1" i="1" dirty="0">
                <a:solidFill>
                  <a:srgbClr val="3D5347"/>
                </a:solidFill>
              </a:rPr>
              <a:t>a header (20–60 bytes</a:t>
            </a:r>
            <a:r>
              <a:rPr lang="en-US" sz="1100" i="1" dirty="0">
                <a:solidFill>
                  <a:srgbClr val="3D5347"/>
                </a:solidFill>
              </a:rPr>
              <a:t>) with </a:t>
            </a:r>
            <a:r>
              <a:rPr lang="en-US" sz="1100" b="1" i="1" dirty="0">
                <a:solidFill>
                  <a:srgbClr val="3D5347"/>
                </a:solidFill>
              </a:rPr>
              <a:t>control information</a:t>
            </a:r>
            <a:r>
              <a:rPr lang="en-US" sz="1100" i="1" dirty="0">
                <a:solidFill>
                  <a:srgbClr val="3D5347"/>
                </a:solidFill>
              </a:rPr>
              <a:t>.</a:t>
            </a:r>
            <a:br>
              <a:rPr lang="en-US" sz="1100" i="1" dirty="0">
                <a:solidFill>
                  <a:srgbClr val="3D5347"/>
                </a:solidFill>
              </a:rPr>
            </a:br>
            <a:r>
              <a:rPr lang="en-US" sz="1100" b="1" dirty="0">
                <a:solidFill>
                  <a:srgbClr val="1E2D2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Header Format</a:t>
            </a:r>
            <a:endParaRPr lang="en-US" sz="1200" dirty="0">
              <a:solidFill>
                <a:srgbClr val="1E2D24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324100" y="1330452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Source Port · 16 bits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29844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Port number of the sending application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0136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80136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8013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Destination Port · 16 bits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80136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Port number of the receiving application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30428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3042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Sequence Number · 32 bits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30428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Byte position of the first data byte in current segment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0720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80720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8072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Acknowledgment Number · 32 bits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80720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Sequence number of next byte expected by receiver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31012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31012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310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Data Offset + Reserved + Flags · 16 bits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3101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Header length, reserved bits, control flags (SYN, ACK, FIN, etc.)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1304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381304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8130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Window Size + Checksum + Urgent · 48 bits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381304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Flow control window, error detection checksum, urgent pointer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31596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" y="431596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3159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Options + Padding · Variable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431596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Optional fields for additional functionality</a:t>
            </a:r>
            <a:endParaRPr lang="en-US" sz="100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23385A12-3B11-2517-8486-1926EDF07072}"/>
              </a:ext>
            </a:extLst>
          </p:cNvPr>
          <p:cNvSpPr/>
          <p:nvPr/>
        </p:nvSpPr>
        <p:spPr>
          <a:xfrm>
            <a:off x="301752" y="4722876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6066C60F-D5CB-7B45-126D-8223C68A957E}"/>
              </a:ext>
            </a:extLst>
          </p:cNvPr>
          <p:cNvSpPr/>
          <p:nvPr/>
        </p:nvSpPr>
        <p:spPr>
          <a:xfrm>
            <a:off x="438912" y="47228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/>
              <a:t>DATA/ NATA??? </a:t>
            </a:r>
            <a:r>
              <a:rPr lang="en-US" sz="1000" b="1" dirty="0">
                <a:solidFill>
                  <a:srgbClr val="1E2D24"/>
                </a:solidFill>
              </a:rPr>
              <a:t>· Variable</a:t>
            </a:r>
            <a:r>
              <a:rPr lang="en-US" sz="1000" b="1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FB519-CEAF-87E6-C611-7C358016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93361C-99A2-C03A-D872-17C8E9A1C8C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F4FEC34-0E2E-AA19-21E8-5078D708CA8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FF6C6B-69DF-6262-B5B4-AC4FB616F5DE}"/>
              </a:ext>
            </a:extLst>
          </p:cNvPr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9570C7-6A7D-3D15-023C-37FA8FF033A3}"/>
              </a:ext>
            </a:extLst>
          </p:cNvPr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0E816F-4C07-7E60-06A4-B337C543649C}"/>
              </a:ext>
            </a:extLst>
          </p:cNvPr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Headers Structure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358E453-CC9E-F493-747A-F291BD97C6B3}"/>
              </a:ext>
            </a:extLst>
          </p:cNvPr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D5347"/>
                </a:solidFill>
              </a:rPr>
              <a:t>Key Header Fields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159C3C6-87E1-4397-16AB-9CD3F3B75BC3}"/>
              </a:ext>
            </a:extLst>
          </p:cNvPr>
          <p:cNvSpPr/>
          <p:nvPr/>
        </p:nvSpPr>
        <p:spPr>
          <a:xfrm>
            <a:off x="2324100" y="1330452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2917C4C-5063-6832-D5A7-BA851BEFC953}"/>
              </a:ext>
            </a:extLst>
          </p:cNvPr>
          <p:cNvSpPr/>
          <p:nvPr/>
        </p:nvSpPr>
        <p:spPr>
          <a:xfrm>
            <a:off x="182880" y="129844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B971715-5713-BCB7-5686-EF8CB10E5593}"/>
              </a:ext>
            </a:extLst>
          </p:cNvPr>
          <p:cNvSpPr/>
          <p:nvPr/>
        </p:nvSpPr>
        <p:spPr>
          <a:xfrm>
            <a:off x="457200" y="1298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Source Port · 16 bits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C73259-2EB4-16AE-E8DF-677A234FC777}"/>
              </a:ext>
            </a:extLst>
          </p:cNvPr>
          <p:cNvSpPr/>
          <p:nvPr/>
        </p:nvSpPr>
        <p:spPr>
          <a:xfrm>
            <a:off x="4572000" y="129844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Identifies the sending application (e.g., port 80 for HTTP)</a:t>
            </a:r>
            <a:endParaRPr lang="en-US" sz="500" dirty="0">
              <a:effectLst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B3C5CDC-077E-762F-0F7E-7C2E743159C9}"/>
              </a:ext>
            </a:extLst>
          </p:cNvPr>
          <p:cNvSpPr/>
          <p:nvPr/>
        </p:nvSpPr>
        <p:spPr>
          <a:xfrm>
            <a:off x="320040" y="180136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9424A80-B255-7D4F-7568-EF74CFE0EB70}"/>
              </a:ext>
            </a:extLst>
          </p:cNvPr>
          <p:cNvSpPr/>
          <p:nvPr/>
        </p:nvSpPr>
        <p:spPr>
          <a:xfrm>
            <a:off x="320040" y="180136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DF1BB8B-7C20-C33E-210F-0A1E3FC4FD93}"/>
              </a:ext>
            </a:extLst>
          </p:cNvPr>
          <p:cNvSpPr/>
          <p:nvPr/>
        </p:nvSpPr>
        <p:spPr>
          <a:xfrm>
            <a:off x="457200" y="18013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Destination Port · 16 bits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72530EC-863F-3F4A-6056-FC5238C3A4EA}"/>
              </a:ext>
            </a:extLst>
          </p:cNvPr>
          <p:cNvSpPr/>
          <p:nvPr/>
        </p:nvSpPr>
        <p:spPr>
          <a:xfrm>
            <a:off x="4572000" y="180136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Identifies the receiving application on the target host</a:t>
            </a:r>
            <a:endParaRPr lang="en-US" sz="600" dirty="0">
              <a:effectLst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7FABB1F-6F02-B917-97C9-A231F471B21A}"/>
              </a:ext>
            </a:extLst>
          </p:cNvPr>
          <p:cNvSpPr/>
          <p:nvPr/>
        </p:nvSpPr>
        <p:spPr>
          <a:xfrm>
            <a:off x="320040" y="230428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654C2E9-B8AF-F894-9D34-97E7CBE7C9C9}"/>
              </a:ext>
            </a:extLst>
          </p:cNvPr>
          <p:cNvSpPr/>
          <p:nvPr/>
        </p:nvSpPr>
        <p:spPr>
          <a:xfrm>
            <a:off x="320040" y="230428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888F88F-1CFF-4617-3764-15F664348C7B}"/>
              </a:ext>
            </a:extLst>
          </p:cNvPr>
          <p:cNvSpPr/>
          <p:nvPr/>
        </p:nvSpPr>
        <p:spPr>
          <a:xfrm>
            <a:off x="457200" y="23042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Sequence Number · 32 bits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DB1BABB-D2F4-A23A-37D6-B0DEDCAB3B16}"/>
              </a:ext>
            </a:extLst>
          </p:cNvPr>
          <p:cNvSpPr/>
          <p:nvPr/>
        </p:nvSpPr>
        <p:spPr>
          <a:xfrm>
            <a:off x="4572000" y="230428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Tracks byte position for ordered reassembly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FAA9561-C9D9-352D-E498-DEE608DBCDAB}"/>
              </a:ext>
            </a:extLst>
          </p:cNvPr>
          <p:cNvSpPr/>
          <p:nvPr/>
        </p:nvSpPr>
        <p:spPr>
          <a:xfrm>
            <a:off x="320040" y="280720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83DB433-F70F-D77A-5620-04420BB83316}"/>
              </a:ext>
            </a:extLst>
          </p:cNvPr>
          <p:cNvSpPr/>
          <p:nvPr/>
        </p:nvSpPr>
        <p:spPr>
          <a:xfrm>
            <a:off x="320040" y="280720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EB45BAC-AB19-F84D-3D7D-67D481C1A198}"/>
              </a:ext>
            </a:extLst>
          </p:cNvPr>
          <p:cNvSpPr/>
          <p:nvPr/>
        </p:nvSpPr>
        <p:spPr>
          <a:xfrm>
            <a:off x="457200" y="28072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Acknowledgment Number · 32 bits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18D02C9-CE6D-C489-4843-64E4AAB286A2}"/>
              </a:ext>
            </a:extLst>
          </p:cNvPr>
          <p:cNvSpPr/>
          <p:nvPr/>
        </p:nvSpPr>
        <p:spPr>
          <a:xfrm>
            <a:off x="4572000" y="280720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Confirms receipt and indicates next expected byte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D4B7132-33A9-0B39-D316-5C8E73E3F31C}"/>
              </a:ext>
            </a:extLst>
          </p:cNvPr>
          <p:cNvSpPr/>
          <p:nvPr/>
        </p:nvSpPr>
        <p:spPr>
          <a:xfrm>
            <a:off x="320040" y="331012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B2B58B1-CD43-09EC-D494-47C7D31238DC}"/>
              </a:ext>
            </a:extLst>
          </p:cNvPr>
          <p:cNvSpPr/>
          <p:nvPr/>
        </p:nvSpPr>
        <p:spPr>
          <a:xfrm>
            <a:off x="320040" y="331012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3600D1A-2EEE-25A2-A0FA-C628FC430C6D}"/>
              </a:ext>
            </a:extLst>
          </p:cNvPr>
          <p:cNvSpPr/>
          <p:nvPr/>
        </p:nvSpPr>
        <p:spPr>
          <a:xfrm>
            <a:off x="457200" y="3310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Checksum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40A9FCC-61D4-E817-CAD7-6E4A16EE5E3B}"/>
              </a:ext>
            </a:extLst>
          </p:cNvPr>
          <p:cNvSpPr/>
          <p:nvPr/>
        </p:nvSpPr>
        <p:spPr>
          <a:xfrm>
            <a:off x="4572000" y="33101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Error detection value to ensure data integrity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BCA7AE9-0F8C-AD05-B973-6DAF55B9E417}"/>
              </a:ext>
            </a:extLst>
          </p:cNvPr>
          <p:cNvSpPr/>
          <p:nvPr/>
        </p:nvSpPr>
        <p:spPr>
          <a:xfrm>
            <a:off x="320040" y="3813048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25DA062-E3C7-117C-C041-F525CF7CF604}"/>
              </a:ext>
            </a:extLst>
          </p:cNvPr>
          <p:cNvSpPr/>
          <p:nvPr/>
        </p:nvSpPr>
        <p:spPr>
          <a:xfrm>
            <a:off x="320040" y="381304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9CE05F4-9041-F851-D9BB-A9522B77E070}"/>
              </a:ext>
            </a:extLst>
          </p:cNvPr>
          <p:cNvSpPr/>
          <p:nvPr/>
        </p:nvSpPr>
        <p:spPr>
          <a:xfrm>
            <a:off x="457200" y="38130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Header Size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4306E49-D0D9-A3DD-C4D2-766B84FB5041}"/>
              </a:ext>
            </a:extLst>
          </p:cNvPr>
          <p:cNvSpPr/>
          <p:nvPr/>
        </p:nvSpPr>
        <p:spPr>
          <a:xfrm>
            <a:off x="4572000" y="381304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Varies from 20 bytes (minimum) to 60 bytes (with options)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32B9066-6DA0-BB1D-2DF0-C67CEDE45FA1}"/>
              </a:ext>
            </a:extLst>
          </p:cNvPr>
          <p:cNvSpPr/>
          <p:nvPr/>
        </p:nvSpPr>
        <p:spPr>
          <a:xfrm>
            <a:off x="320040" y="4315968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22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3-Way Handshake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347"/>
                </a:solidFill>
              </a:rPr>
              <a:t>The process to establish a reliable connection before any data transfer begins.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9408"/>
            <a:ext cx="877824" cy="877824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3594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1708" y="2298192"/>
            <a:ext cx="45720" cy="280416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13441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4081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Step 1 · Client Sends SYN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Client sends a SYN (Synchronize) packet to the server.  Client→Server: Seq=1000, Ack=0, Flag=SYN  (ISN randomly chosen for security)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77824" cy="877824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5786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708" y="3517392"/>
            <a:ext cx="45720" cy="280416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25633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26273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Step 2 · Server Sends SYN-ACK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199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Server receives SYN and responds with SYN-ACK.  Server→Client: Seq=5000, Ack=1001, Flag=SYN-ACK  (Server ISN=5000, Ack = Client ISN + 1)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7808"/>
            <a:ext cx="877824" cy="877824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7978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37825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38465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Step 3 · Client Sends 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1391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Client receives SYN-ACK and sends ACK back. Connection established!  Client→Server: Seq=1001, Ack=5001, Flag=ACK  (Ack = Server ISN + 1, confirming receipt)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Data Transfer &amp; Retransmission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347"/>
                </a:solidFill>
              </a:rPr>
              <a:t>Practical example: Transferring a 3MB image file over TCP.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44168"/>
            <a:ext cx="658368" cy="658368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344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" y="2048256"/>
            <a:ext cx="45720" cy="210312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134416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4081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3-Way Handshake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Connection must be established before any data transfer begins.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58568"/>
            <a:ext cx="658368" cy="658368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" y="2962656"/>
            <a:ext cx="45720" cy="210312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225856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23225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Creating Segments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61518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File: 3,145,728 bytes · MSS: 1,460 bytes/segment · Total segments: ~2,155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72968"/>
            <a:ext cx="658368" cy="658368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076" y="3877056"/>
            <a:ext cx="45720" cy="210312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" y="317296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2369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Data Transfer Process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52958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Send segment (Seq=1001, 1,460B) → Server ACKs (Ack=2461) → Next segment (Seq=2461) → repeat until all 3MB transferred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087368"/>
            <a:ext cx="658368" cy="658368"/>
          </a:xfrm>
          <a:prstGeom prst="ellipse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087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408736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0120" y="41513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TCP Retransmission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44398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Triggers: packet lost · checksum fails · no ACK received · Timeout: Linux ~200ms–3s, Windows ~300ms–3s · Exponential Backoff: 1s→2s→4s→8s...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2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0" y="457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2D24">
                    <a:alpha val="1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Chapter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UDP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347"/>
                </a:solidFill>
              </a:rPr>
              <a:t>User Datagram Protocol — Fast, Connectionless Communication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D24"/>
                </a:solidFill>
              </a:rPr>
              <a:t>Low Latency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331012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D24"/>
                </a:solidFill>
              </a:rPr>
              <a:t>Real-time Streaming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UDP Characteristics &amp; Use Cases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What is UDP?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24"/>
                </a:solidFill>
              </a:rPr>
              <a:t>UDP (User Datagram Protocol) is a Transport layer protocol that breaks data into segments for transmission — fast and connectionless, trading reliability for speed.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347"/>
                </a:solidFill>
              </a:rPr>
              <a:t>UDP Header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5166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Source 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21408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9389"/>
                </a:solidFill>
              </a:rPr>
              <a:t>16 bits (2 bytes)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24"/>
                </a:solidFill>
              </a:rPr>
              <a:t>Port number of the sending application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5166360" cy="365760"/>
          </a:xfrm>
          <a:prstGeom prst="roundRect">
            <a:avLst>
              <a:gd name="adj" fmla="val 10000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Destination 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21408" y="2423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9389"/>
                </a:solidFill>
              </a:rPr>
              <a:t>16 bits (2 bytes)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9000" y="2423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24"/>
                </a:solidFill>
              </a:rPr>
              <a:t>Port number of the receiving application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5166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Length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21408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9389"/>
                </a:solidFill>
              </a:rPr>
              <a:t>16 bits (2 bytes)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24"/>
                </a:solidFill>
              </a:rPr>
              <a:t>Total length of UDP header +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5166360" cy="365760"/>
          </a:xfrm>
          <a:prstGeom prst="roundRect">
            <a:avLst>
              <a:gd name="adj" fmla="val 10000"/>
            </a:avLst>
          </a:prstGeom>
          <a:solidFill>
            <a:srgbClr val="F4F8F4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24"/>
                </a:solidFill>
              </a:rPr>
              <a:t>Checksum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3246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9389"/>
                </a:solidFill>
              </a:rPr>
              <a:t>16 bits (2 bytes)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29000" y="3246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24"/>
                </a:solidFill>
              </a:rPr>
              <a:t>Error detection value (optional in IPv4)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685032"/>
            <a:ext cx="5166360" cy="320040"/>
          </a:xfrm>
          <a:prstGeom prst="roundRect">
            <a:avLst>
              <a:gd name="adj" fmla="val 17143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68503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Header Size: 64 bits (8 bytes)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0" y="1664208"/>
            <a:ext cx="315468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33872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</a:rPr>
              <a:t>Common Use Cases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33872" y="2176272"/>
            <a:ext cx="320040" cy="320040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33872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24"/>
                </a:solidFill>
              </a:rPr>
              <a:t>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21762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24"/>
                </a:solidFill>
              </a:rPr>
              <a:t>Video Calling · WebRTC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33872" y="2596896"/>
            <a:ext cx="320040" cy="320040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33872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24"/>
                </a:solidFill>
              </a:rPr>
              <a:t>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2596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24"/>
                </a:solidFill>
              </a:rPr>
              <a:t>Online Gaming · Low latency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33872" y="3017520"/>
            <a:ext cx="320040" cy="320040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33872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24"/>
                </a:solidFill>
              </a:rPr>
              <a:t>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24"/>
                </a:solidFill>
              </a:rPr>
              <a:t>DNS Queries · Fast lookup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33872" y="3438144"/>
            <a:ext cx="320040" cy="320040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33872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24"/>
                </a:solidFill>
              </a:rPr>
              <a:t>↗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343814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24"/>
                </a:solidFill>
              </a:rPr>
              <a:t>Live Streaming · Real-time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114800"/>
            <a:ext cx="8503920" cy="804672"/>
          </a:xfrm>
          <a:prstGeom prst="roundRect">
            <a:avLst>
              <a:gd name="adj" fmla="val 6818"/>
            </a:avLst>
          </a:prstGeom>
          <a:solidFill>
            <a:srgbClr val="DCE8E0"/>
          </a:solidFill>
          <a:ln w="12700">
            <a:solidFill>
              <a:srgbClr val="D2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" y="41696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24"/>
                </a:solidFill>
              </a:rPr>
              <a:t>Key Differences from TCP: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5488" y="4434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No delivery guarantee  ·  No acknowledgment numbers  ·  Faster — no retry mechanism means lower latency and overhead  ·  No connection setup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vs UDP: Key Differences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06040" y="86868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868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TCP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86868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06440" y="868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UDP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298448"/>
            <a:ext cx="2240280" cy="402336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29844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347"/>
                </a:solidFill>
              </a:rPr>
              <a:t>Connection 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298448"/>
            <a:ext cx="2880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1298448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Connection-oriented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298448"/>
            <a:ext cx="2971800" cy="402336"/>
          </a:xfrm>
          <a:prstGeom prst="rect">
            <a:avLst/>
          </a:prstGeom>
          <a:solidFill>
            <a:srgbClr val="E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1298448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Connectionless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737360"/>
            <a:ext cx="2240280" cy="402336"/>
          </a:xfrm>
          <a:prstGeom prst="rect">
            <a:avLst/>
          </a:prstGeom>
          <a:solidFill>
            <a:srgbClr val="EE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17373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347"/>
                </a:solidFill>
              </a:rPr>
              <a:t>Reliability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1737360"/>
            <a:ext cx="2880360" cy="402336"/>
          </a:xfrm>
          <a:prstGeom prst="rect">
            <a:avLst/>
          </a:prstGeom>
          <a:solidFill>
            <a:srgbClr val="F4F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97480" y="173736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Guaranteed delivery with 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1737360"/>
            <a:ext cx="2971800" cy="402336"/>
          </a:xfrm>
          <a:prstGeom prst="rect">
            <a:avLst/>
          </a:prstGeom>
          <a:solidFill>
            <a:srgbClr val="ED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173736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No delivery guarantee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176272"/>
            <a:ext cx="2240280" cy="402336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17627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347"/>
                </a:solidFill>
              </a:rPr>
              <a:t>Speed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2176272"/>
            <a:ext cx="2880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97480" y="2176272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Slower (overhead)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2176272"/>
            <a:ext cx="2971800" cy="402336"/>
          </a:xfrm>
          <a:prstGeom prst="rect">
            <a:avLst/>
          </a:prstGeom>
          <a:solidFill>
            <a:srgbClr val="E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52160" y="217627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Faster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615184"/>
            <a:ext cx="2240280" cy="402336"/>
          </a:xfrm>
          <a:prstGeom prst="rect">
            <a:avLst/>
          </a:prstGeom>
          <a:solidFill>
            <a:srgbClr val="EE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26151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347"/>
                </a:solidFill>
              </a:rPr>
              <a:t>Ordering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06040" y="2615184"/>
            <a:ext cx="2880360" cy="402336"/>
          </a:xfrm>
          <a:prstGeom prst="rect">
            <a:avLst/>
          </a:prstGeom>
          <a:solidFill>
            <a:srgbClr val="F4F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97480" y="2615184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Ordered delivery guaranteed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2615184"/>
            <a:ext cx="2971800" cy="402336"/>
          </a:xfrm>
          <a:prstGeom prst="rect">
            <a:avLst/>
          </a:prstGeom>
          <a:solidFill>
            <a:srgbClr val="ED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52160" y="2615184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No ordering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054096"/>
            <a:ext cx="2240280" cy="402336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048" y="305409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347"/>
                </a:solidFill>
              </a:rPr>
              <a:t>Error Handling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3054096"/>
            <a:ext cx="2880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97480" y="3054096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Retransmission on failure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3054096"/>
            <a:ext cx="2971800" cy="402336"/>
          </a:xfrm>
          <a:prstGeom prst="rect">
            <a:avLst/>
          </a:prstGeom>
          <a:solidFill>
            <a:srgbClr val="E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52160" y="3054096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No retransmission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493008"/>
            <a:ext cx="2240280" cy="402336"/>
          </a:xfrm>
          <a:prstGeom prst="rect">
            <a:avLst/>
          </a:prstGeom>
          <a:solidFill>
            <a:srgbClr val="EE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" y="34930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347"/>
                </a:solidFill>
              </a:rPr>
              <a:t>Header Size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3493008"/>
            <a:ext cx="2880360" cy="402336"/>
          </a:xfrm>
          <a:prstGeom prst="rect">
            <a:avLst/>
          </a:prstGeom>
          <a:solidFill>
            <a:srgbClr val="F4F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97480" y="3493008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20–60 bytes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60720" y="3493008"/>
            <a:ext cx="2971800" cy="402336"/>
          </a:xfrm>
          <a:prstGeom prst="rect">
            <a:avLst/>
          </a:prstGeom>
          <a:solidFill>
            <a:srgbClr val="ED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52160" y="3493008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8 bytes only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3931920"/>
            <a:ext cx="2240280" cy="402336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39319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347"/>
                </a:solidFill>
              </a:rPr>
              <a:t>Handshake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06040" y="3931920"/>
            <a:ext cx="2880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697480" y="393192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3-way handshake required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60720" y="3931920"/>
            <a:ext cx="2971800" cy="402336"/>
          </a:xfrm>
          <a:prstGeom prst="rect">
            <a:avLst/>
          </a:prstGeom>
          <a:solidFill>
            <a:srgbClr val="E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852160" y="393192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No handshake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370832"/>
            <a:ext cx="2240280" cy="402336"/>
          </a:xfrm>
          <a:prstGeom prst="rect">
            <a:avLst/>
          </a:prstGeom>
          <a:solidFill>
            <a:srgbClr val="EE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" y="437083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347"/>
                </a:solidFill>
              </a:rPr>
              <a:t>Use Cases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06040" y="4370832"/>
            <a:ext cx="2880360" cy="402336"/>
          </a:xfrm>
          <a:prstGeom prst="rect">
            <a:avLst/>
          </a:prstGeom>
          <a:solidFill>
            <a:srgbClr val="F4F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697480" y="4370832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Web, Email, File Transfer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760720" y="4370832"/>
            <a:ext cx="2971800" cy="402336"/>
          </a:xfrm>
          <a:prstGeom prst="rect">
            <a:avLst/>
          </a:prstGeom>
          <a:solidFill>
            <a:srgbClr val="ED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852160" y="437083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</a:rPr>
              <a:t>Streaming, Gaming, DNS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1298448"/>
            <a:ext cx="8412480" cy="9144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20040" y="1737360"/>
            <a:ext cx="8412480" cy="9144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20040" y="2176272"/>
            <a:ext cx="8412480" cy="9144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20040" y="2615184"/>
            <a:ext cx="8412480" cy="9144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20040" y="3054096"/>
            <a:ext cx="8412480" cy="9144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20040" y="3493008"/>
            <a:ext cx="8412480" cy="9144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20040" y="3931920"/>
            <a:ext cx="8412480" cy="9144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20040" y="4370832"/>
            <a:ext cx="8412480" cy="9144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20040" y="4809744"/>
            <a:ext cx="8412480" cy="9144"/>
          </a:xfrm>
          <a:prstGeom prst="rect">
            <a:avLst/>
          </a:prstGeom>
          <a:solidFill>
            <a:srgbClr val="D2DED5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2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500" dirty="0">
                <a:solidFill>
                  <a:srgbClr val="4F6B5C"/>
                </a:solidFill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61488" cy="320040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475488" cy="47548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D24"/>
                </a:solidFill>
              </a:rPr>
              <a:t>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24"/>
                </a:solidFill>
              </a:rPr>
              <a:t>DNS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246888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Translates domain names to IP addresses through hierarchical resolution involving Root, TLD, and Authoritative nameservers.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508760"/>
            <a:ext cx="2761488" cy="320040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01568" y="1691640"/>
            <a:ext cx="475488" cy="47548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01568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D24"/>
                </a:solidFill>
              </a:rPr>
              <a:t>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95928" y="16916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24"/>
                </a:solidFill>
              </a:rPr>
              <a:t>TCP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2267712"/>
            <a:ext cx="246888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Provides reliable, ordered data delivery with connection establishment via 3-way handshake and comprehensive error handling through retransmission.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17336" y="1508760"/>
            <a:ext cx="2761488" cy="320040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2DED5"/>
            </a:solidFill>
            <a:prstDash val="solid"/>
          </a:ln>
          <a:effectLst>
            <a:outerShdw blurRad="101600" dist="38100" dir="2700000" algn="bl" rotWithShape="0">
              <a:srgbClr val="1E2D2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0216" y="1691640"/>
            <a:ext cx="475488" cy="475488"/>
          </a:xfrm>
          <a:prstGeom prst="ellipse">
            <a:avLst/>
          </a:prstGeom>
          <a:solidFill>
            <a:srgbClr val="DC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0216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D24"/>
                </a:solidFill>
              </a:rPr>
              <a:t>↗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94576" y="16916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24"/>
                </a:solidFill>
              </a:rPr>
              <a:t>UDP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0216" y="2267712"/>
            <a:ext cx="246888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24"/>
                </a:solidFill>
              </a:rPr>
              <a:t>Offers fast, connectionless communication ideal for real-time applications like video streaming, gaming, and DNS queries.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9389"/>
                </a:solidFill>
              </a:rPr>
              <a:t>Each protocol serves different needs — TCP for reliability, UDP for speed — forming the backbone of modern network communication.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1719</Words>
  <Application>Microsoft Office PowerPoint</Application>
  <PresentationFormat>On-screen Show (16:9)</PresentationFormat>
  <Paragraphs>291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Cambria</vt:lpstr>
      <vt:lpstr>Hedvig Letters Sans</vt:lpstr>
      <vt:lpstr>Liter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Protocols Deep Dive – Sage Mist Theme</dc:title>
  <dc:subject>PptxGenJS Presentation</dc:subject>
  <dc:creator>PptxGenJS</dc:creator>
  <cp:lastModifiedBy>Nabila Nuzhat Moin</cp:lastModifiedBy>
  <cp:revision>62</cp:revision>
  <dcterms:created xsi:type="dcterms:W3CDTF">2026-06-12T15:14:50Z</dcterms:created>
  <dcterms:modified xsi:type="dcterms:W3CDTF">2026-06-14T14:54:57Z</dcterms:modified>
</cp:coreProperties>
</file>
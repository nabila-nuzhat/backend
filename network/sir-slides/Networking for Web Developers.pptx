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Liter" charset="-122" pitchFamily="34"/>
      <p:regular r:id="rId26"/>
    </p:embeddedFont>
    <p:embeddedFont>
      <p:font typeface="Quattrocento Sans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m26tdp357svy/mnt/agents/output/networking-for-developers/images/5_Dark_Fiber_in_Europe_and_its_Leading.png">    </p:cNvPr>
          <p:cNvPicPr>
            <a:picLocks noChangeAspect="1"/>
          </p:cNvPicPr>
          <p:nvPr/>
        </p:nvPicPr>
        <p:blipFill>
          <a:blip r:embed="rId1"/>
          <a:srcRect l="2296" r="229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142">
                  <a:alpha val="90000"/>
                </a:srgbClr>
              </a:gs>
              <a:gs pos="50000">
                <a:srgbClr val="2D3142">
                  <a:alpha val="80000"/>
                </a:srgbClr>
              </a:gs>
              <a:gs pos="100000">
                <a:srgbClr val="2D314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635000"/>
            <a:ext cx="3556000" cy="3556000"/>
          </a:xfrm>
          <a:prstGeom prst="ellipse">
            <a:avLst/>
          </a:prstGeom>
          <a:solidFill>
            <a:srgbClr val="E07A5F">
              <a:alpha val="6275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16000" y="5334000"/>
            <a:ext cx="2286000" cy="2286000"/>
          </a:xfrm>
          <a:prstGeom prst="ellipse">
            <a:avLst/>
          </a:prstGeom>
          <a:solidFill>
            <a:srgbClr val="8D99AE">
              <a:alpha val="6275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223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ESSENTIALS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8000" y="34925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 for Web Developers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7493000" y="5207000"/>
            <a:ext cx="127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5524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B8C0C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Networking Concepts Every Developer Should Know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88000" y="635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 → Database → 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304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Fundamentals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 Network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 of Networks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Devices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Router vs Switch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085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60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60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&amp; MAC Addresses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Gateway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&amp; ARP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550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725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 Communication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a Website Loads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1500" y="1651000"/>
            <a:ext cx="3429000" cy="6731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2319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Protocols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19000" y="36195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190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 vs HTTPS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Client-Server Architecture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Network?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collection of interconnected devices that can communicate and share resources with each other. Networks range from two devices to billions.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65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95250"/>
                </a:moveTo>
                <a:cubicBezTo>
                  <a:pt x="195560" y="95250"/>
                  <a:pt x="113903" y="130969"/>
                  <a:pt x="53876" y="189111"/>
                </a:cubicBezTo>
                <a:cubicBezTo>
                  <a:pt x="41275" y="201315"/>
                  <a:pt x="21134" y="201017"/>
                  <a:pt x="9029" y="188416"/>
                </a:cubicBezTo>
                <a:cubicBezTo>
                  <a:pt x="-3076" y="175816"/>
                  <a:pt x="-2877" y="155674"/>
                  <a:pt x="9723" y="143570"/>
                </a:cubicBezTo>
                <a:cubicBezTo>
                  <a:pt x="81062" y="74315"/>
                  <a:pt x="178495" y="31750"/>
                  <a:pt x="285750" y="31750"/>
                </a:cubicBezTo>
                <a:cubicBezTo>
                  <a:pt x="393005" y="31750"/>
                  <a:pt x="490438" y="74315"/>
                  <a:pt x="561876" y="143570"/>
                </a:cubicBezTo>
                <a:cubicBezTo>
                  <a:pt x="574477" y="155773"/>
                  <a:pt x="574774" y="175915"/>
                  <a:pt x="562570" y="188416"/>
                </a:cubicBezTo>
                <a:cubicBezTo>
                  <a:pt x="550366" y="200918"/>
                  <a:pt x="530225" y="201315"/>
                  <a:pt x="517723" y="189111"/>
                </a:cubicBezTo>
                <a:cubicBezTo>
                  <a:pt x="457597" y="130969"/>
                  <a:pt x="375940" y="95250"/>
                  <a:pt x="285750" y="95250"/>
                </a:cubicBezTo>
                <a:close/>
                <a:moveTo>
                  <a:pt x="238125" y="428625"/>
                </a:moveTo>
                <a:cubicBezTo>
                  <a:pt x="238125" y="402340"/>
                  <a:pt x="259465" y="381000"/>
                  <a:pt x="285750" y="381000"/>
                </a:cubicBezTo>
                <a:cubicBezTo>
                  <a:pt x="312035" y="381000"/>
                  <a:pt x="333375" y="402340"/>
                  <a:pt x="333375" y="428625"/>
                </a:cubicBezTo>
                <a:cubicBezTo>
                  <a:pt x="333375" y="454910"/>
                  <a:pt x="312035" y="476250"/>
                  <a:pt x="285750" y="476250"/>
                </a:cubicBezTo>
                <a:cubicBezTo>
                  <a:pt x="259465" y="476250"/>
                  <a:pt x="238125" y="454910"/>
                  <a:pt x="238125" y="428625"/>
                </a:cubicBezTo>
                <a:close/>
                <a:moveTo>
                  <a:pt x="166688" y="323652"/>
                </a:moveTo>
                <a:cubicBezTo>
                  <a:pt x="155079" y="336848"/>
                  <a:pt x="135037" y="338038"/>
                  <a:pt x="121841" y="326430"/>
                </a:cubicBezTo>
                <a:cubicBezTo>
                  <a:pt x="108645" y="314821"/>
                  <a:pt x="107454" y="294779"/>
                  <a:pt x="119063" y="281583"/>
                </a:cubicBezTo>
                <a:cubicBezTo>
                  <a:pt x="159742" y="235545"/>
                  <a:pt x="219373" y="206375"/>
                  <a:pt x="285750" y="206375"/>
                </a:cubicBezTo>
                <a:cubicBezTo>
                  <a:pt x="352127" y="206375"/>
                  <a:pt x="411758" y="235545"/>
                  <a:pt x="452437" y="281583"/>
                </a:cubicBezTo>
                <a:cubicBezTo>
                  <a:pt x="464046" y="294779"/>
                  <a:pt x="462756" y="314821"/>
                  <a:pt x="449659" y="326430"/>
                </a:cubicBezTo>
                <a:cubicBezTo>
                  <a:pt x="436563" y="338038"/>
                  <a:pt x="416421" y="336748"/>
                  <a:pt x="404813" y="323652"/>
                </a:cubicBezTo>
                <a:cubicBezTo>
                  <a:pt x="375642" y="290612"/>
                  <a:pt x="333177" y="269875"/>
                  <a:pt x="285750" y="269875"/>
                </a:cubicBezTo>
                <a:cubicBezTo>
                  <a:pt x="238323" y="269875"/>
                  <a:pt x="195858" y="290612"/>
                  <a:pt x="166688" y="323652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457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WiFi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953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home and office networks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7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46063" y="87313"/>
                </a:moveTo>
                <a:lnTo>
                  <a:pt x="325438" y="87313"/>
                </a:lnTo>
                <a:lnTo>
                  <a:pt x="325438" y="134938"/>
                </a:lnTo>
                <a:lnTo>
                  <a:pt x="246063" y="134938"/>
                </a:lnTo>
                <a:lnTo>
                  <a:pt x="246063" y="87313"/>
                </a:lnTo>
                <a:close/>
                <a:moveTo>
                  <a:pt x="238125" y="31750"/>
                </a:moveTo>
                <a:cubicBezTo>
                  <a:pt x="211832" y="31750"/>
                  <a:pt x="190500" y="53082"/>
                  <a:pt x="190500" y="79375"/>
                </a:cubicBezTo>
                <a:lnTo>
                  <a:pt x="190500" y="142875"/>
                </a:lnTo>
                <a:cubicBezTo>
                  <a:pt x="190500" y="169168"/>
                  <a:pt x="211832" y="190500"/>
                  <a:pt x="238125" y="190500"/>
                </a:cubicBezTo>
                <a:lnTo>
                  <a:pt x="254000" y="190500"/>
                </a:lnTo>
                <a:lnTo>
                  <a:pt x="254000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127000" y="285750"/>
                </a:lnTo>
                <a:lnTo>
                  <a:pt x="127000" y="317500"/>
                </a:lnTo>
                <a:lnTo>
                  <a:pt x="111125" y="317500"/>
                </a:lnTo>
                <a:cubicBezTo>
                  <a:pt x="84832" y="317500"/>
                  <a:pt x="63500" y="338832"/>
                  <a:pt x="63500" y="365125"/>
                </a:cubicBezTo>
                <a:lnTo>
                  <a:pt x="63500" y="428625"/>
                </a:lnTo>
                <a:cubicBezTo>
                  <a:pt x="63500" y="454918"/>
                  <a:pt x="84832" y="476250"/>
                  <a:pt x="111125" y="476250"/>
                </a:cubicBezTo>
                <a:lnTo>
                  <a:pt x="206375" y="476250"/>
                </a:lnTo>
                <a:cubicBezTo>
                  <a:pt x="232668" y="476250"/>
                  <a:pt x="254000" y="454918"/>
                  <a:pt x="254000" y="428625"/>
                </a:cubicBezTo>
                <a:lnTo>
                  <a:pt x="254000" y="365125"/>
                </a:lnTo>
                <a:cubicBezTo>
                  <a:pt x="254000" y="338832"/>
                  <a:pt x="232668" y="317500"/>
                  <a:pt x="206375" y="317500"/>
                </a:cubicBezTo>
                <a:lnTo>
                  <a:pt x="190500" y="317500"/>
                </a:lnTo>
                <a:lnTo>
                  <a:pt x="190500" y="285750"/>
                </a:lnTo>
                <a:lnTo>
                  <a:pt x="381000" y="285750"/>
                </a:lnTo>
                <a:lnTo>
                  <a:pt x="381000" y="317500"/>
                </a:lnTo>
                <a:lnTo>
                  <a:pt x="365125" y="317500"/>
                </a:lnTo>
                <a:cubicBezTo>
                  <a:pt x="338832" y="317500"/>
                  <a:pt x="317500" y="338832"/>
                  <a:pt x="317500" y="365125"/>
                </a:cubicBezTo>
                <a:lnTo>
                  <a:pt x="317500" y="428625"/>
                </a:lnTo>
                <a:cubicBezTo>
                  <a:pt x="317500" y="454918"/>
                  <a:pt x="338832" y="476250"/>
                  <a:pt x="3651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365125"/>
                </a:lnTo>
                <a:cubicBezTo>
                  <a:pt x="508000" y="338832"/>
                  <a:pt x="486668" y="317500"/>
                  <a:pt x="460375" y="317500"/>
                </a:cubicBezTo>
                <a:lnTo>
                  <a:pt x="444500" y="317500"/>
                </a:lnTo>
                <a:lnTo>
                  <a:pt x="444500" y="285750"/>
                </a:lnTo>
                <a:lnTo>
                  <a:pt x="539750" y="285750"/>
                </a:lnTo>
                <a:cubicBezTo>
                  <a:pt x="557312" y="285750"/>
                  <a:pt x="571500" y="271562"/>
                  <a:pt x="571500" y="254000"/>
                </a:cubicBezTo>
                <a:cubicBezTo>
                  <a:pt x="571500" y="236438"/>
                  <a:pt x="557312" y="222250"/>
                  <a:pt x="539750" y="222250"/>
                </a:cubicBezTo>
                <a:lnTo>
                  <a:pt x="317500" y="222250"/>
                </a:lnTo>
                <a:lnTo>
                  <a:pt x="317500" y="190500"/>
                </a:lnTo>
                <a:lnTo>
                  <a:pt x="333375" y="190500"/>
                </a:lnTo>
                <a:cubicBezTo>
                  <a:pt x="359668" y="190500"/>
                  <a:pt x="381000" y="169168"/>
                  <a:pt x="381000" y="142875"/>
                </a:cubicBezTo>
                <a:lnTo>
                  <a:pt x="381000" y="79375"/>
                </a:lnTo>
                <a:cubicBezTo>
                  <a:pt x="381000" y="53082"/>
                  <a:pt x="359668" y="31750"/>
                  <a:pt x="333375" y="31750"/>
                </a:cubicBezTo>
                <a:lnTo>
                  <a:pt x="238125" y="31750"/>
                </a:lnTo>
                <a:close/>
                <a:moveTo>
                  <a:pt x="444500" y="373063"/>
                </a:moveTo>
                <a:lnTo>
                  <a:pt x="452437" y="373063"/>
                </a:lnTo>
                <a:lnTo>
                  <a:pt x="452437" y="420688"/>
                </a:lnTo>
                <a:lnTo>
                  <a:pt x="373063" y="420688"/>
                </a:lnTo>
                <a:lnTo>
                  <a:pt x="373063" y="373063"/>
                </a:lnTo>
                <a:lnTo>
                  <a:pt x="444500" y="373063"/>
                </a:lnTo>
                <a:close/>
                <a:moveTo>
                  <a:pt x="190500" y="373063"/>
                </a:moveTo>
                <a:lnTo>
                  <a:pt x="198438" y="373063"/>
                </a:lnTo>
                <a:lnTo>
                  <a:pt x="198438" y="420688"/>
                </a:lnTo>
                <a:lnTo>
                  <a:pt x="119063" y="420688"/>
                </a:lnTo>
                <a:lnTo>
                  <a:pt x="119063" y="373063"/>
                </a:lnTo>
                <a:lnTo>
                  <a:pt x="190500" y="373063"/>
                </a:ln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4191000" y="457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7000" y="4953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Wired local networks in schools and offices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4" name="Text 12"/>
          <p:cNvSpPr/>
          <p:nvPr/>
        </p:nvSpPr>
        <p:spPr>
          <a:xfrm>
            <a:off x="7366000" y="4572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2000" y="4953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 connecting billions of devices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1000" y="190500"/>
                </a:moveTo>
                <a:cubicBezTo>
                  <a:pt x="433586" y="190500"/>
                  <a:pt x="476250" y="147836"/>
                  <a:pt x="476250" y="95250"/>
                </a:cubicBezTo>
                <a:cubicBezTo>
                  <a:pt x="476250" y="42664"/>
                  <a:pt x="433586" y="0"/>
                  <a:pt x="381000" y="0"/>
                </a:cubicBezTo>
                <a:cubicBezTo>
                  <a:pt x="328414" y="0"/>
                  <a:pt x="285750" y="42664"/>
                  <a:pt x="285750" y="95250"/>
                </a:cubicBezTo>
                <a:cubicBezTo>
                  <a:pt x="285750" y="100608"/>
                  <a:pt x="286246" y="105966"/>
                  <a:pt x="287040" y="111125"/>
                </a:cubicBezTo>
                <a:lnTo>
                  <a:pt x="158353" y="182662"/>
                </a:lnTo>
                <a:cubicBezTo>
                  <a:pt x="141585" y="167779"/>
                  <a:pt x="119459" y="158750"/>
                  <a:pt x="95250" y="158750"/>
                </a:cubicBezTo>
                <a:cubicBezTo>
                  <a:pt x="42664" y="158750"/>
                  <a:pt x="0" y="201414"/>
                  <a:pt x="0" y="254000"/>
                </a:cubicBezTo>
                <a:cubicBezTo>
                  <a:pt x="0" y="306586"/>
                  <a:pt x="42664" y="349250"/>
                  <a:pt x="95250" y="349250"/>
                </a:cubicBezTo>
                <a:cubicBezTo>
                  <a:pt x="119459" y="349250"/>
                  <a:pt x="141486" y="340221"/>
                  <a:pt x="158353" y="325338"/>
                </a:cubicBezTo>
                <a:lnTo>
                  <a:pt x="287040" y="396875"/>
                </a:lnTo>
                <a:cubicBezTo>
                  <a:pt x="286147" y="402034"/>
                  <a:pt x="285750" y="407293"/>
                  <a:pt x="285750" y="412750"/>
                </a:cubicBezTo>
                <a:cubicBezTo>
                  <a:pt x="285750" y="465336"/>
                  <a:pt x="328414" y="508000"/>
                  <a:pt x="381000" y="508000"/>
                </a:cubicBezTo>
                <a:cubicBezTo>
                  <a:pt x="433586" y="508000"/>
                  <a:pt x="476250" y="465336"/>
                  <a:pt x="476250" y="412750"/>
                </a:cubicBezTo>
                <a:cubicBezTo>
                  <a:pt x="476250" y="360164"/>
                  <a:pt x="433586" y="317500"/>
                  <a:pt x="381000" y="317500"/>
                </a:cubicBezTo>
                <a:cubicBezTo>
                  <a:pt x="356791" y="317500"/>
                  <a:pt x="334764" y="326529"/>
                  <a:pt x="317897" y="341412"/>
                </a:cubicBezTo>
                <a:lnTo>
                  <a:pt x="189210" y="269875"/>
                </a:lnTo>
                <a:cubicBezTo>
                  <a:pt x="190103" y="264716"/>
                  <a:pt x="190500" y="259457"/>
                  <a:pt x="190500" y="254000"/>
                </a:cubicBezTo>
                <a:cubicBezTo>
                  <a:pt x="190500" y="248543"/>
                  <a:pt x="190004" y="243284"/>
                  <a:pt x="189210" y="238125"/>
                </a:cubicBezTo>
                <a:lnTo>
                  <a:pt x="317897" y="166588"/>
                </a:lnTo>
                <a:cubicBezTo>
                  <a:pt x="334665" y="181471"/>
                  <a:pt x="356791" y="190500"/>
                  <a:pt x="381000" y="190500"/>
                </a:cubicBezTo>
                <a:close/>
              </a:path>
            </a:pathLst>
          </a:custGeom>
          <a:solidFill>
            <a:srgbClr val="2D31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0" y="4572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Sharing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41000" y="4953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 exchange files, media, and resources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3800" y="6921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66675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Purpose: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Networks enable devices to exchange data efficiently and reliably, from simple file sharing to accessing global web services.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Networks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482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Shape 3"/>
          <p:cNvSpPr/>
          <p:nvPr/>
        </p:nvSpPr>
        <p:spPr>
          <a:xfrm>
            <a:off x="1136650" y="184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" y="32766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 small area like home, office, or school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High speed, low latency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Privately managed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Ethernet or WiFi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1524000"/>
            <a:ext cx="4699000" cy="482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1" name="Shape 9"/>
          <p:cNvSpPr/>
          <p:nvPr/>
        </p:nvSpPr>
        <p:spPr>
          <a:xfrm>
            <a:off x="6067425" y="184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0" y="0"/>
                </a:moveTo>
                <a:cubicBezTo>
                  <a:pt x="254228" y="0"/>
                  <a:pt x="228600" y="25628"/>
                  <a:pt x="228600" y="57150"/>
                </a:cubicBezTo>
                <a:lnTo>
                  <a:pt x="228600" y="85725"/>
                </a:lnTo>
                <a:lnTo>
                  <a:pt x="185738" y="85725"/>
                </a:lnTo>
                <a:lnTo>
                  <a:pt x="185738" y="21431"/>
                </a:lnTo>
                <a:cubicBezTo>
                  <a:pt x="185738" y="9555"/>
                  <a:pt x="176183" y="0"/>
                  <a:pt x="164306" y="0"/>
                </a:cubicBezTo>
                <a:cubicBezTo>
                  <a:pt x="152430" y="0"/>
                  <a:pt x="142875" y="9555"/>
                  <a:pt x="142875" y="21431"/>
                </a:cubicBezTo>
                <a:lnTo>
                  <a:pt x="142875" y="85725"/>
                </a:lnTo>
                <a:lnTo>
                  <a:pt x="85725" y="85725"/>
                </a:lnTo>
                <a:lnTo>
                  <a:pt x="85725" y="21431"/>
                </a:lnTo>
                <a:cubicBezTo>
                  <a:pt x="85725" y="9555"/>
                  <a:pt x="76170" y="0"/>
                  <a:pt x="64294" y="0"/>
                </a:cubicBezTo>
                <a:cubicBezTo>
                  <a:pt x="52417" y="0"/>
                  <a:pt x="42863" y="9555"/>
                  <a:pt x="42863" y="21431"/>
                </a:cubicBezTo>
                <a:lnTo>
                  <a:pt x="42863" y="87511"/>
                </a:lnTo>
                <a:cubicBezTo>
                  <a:pt x="18217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228600"/>
                </a:lnTo>
                <a:cubicBezTo>
                  <a:pt x="514350" y="197078"/>
                  <a:pt x="488722" y="171450"/>
                  <a:pt x="457200" y="171450"/>
                </a:cubicBezTo>
                <a:lnTo>
                  <a:pt x="400050" y="171450"/>
                </a:lnTo>
                <a:lnTo>
                  <a:pt x="400050" y="57150"/>
                </a:lnTo>
                <a:cubicBezTo>
                  <a:pt x="400050" y="25628"/>
                  <a:pt x="374422" y="0"/>
                  <a:pt x="342900" y="0"/>
                </a:cubicBezTo>
                <a:lnTo>
                  <a:pt x="285750" y="0"/>
                </a:lnTo>
                <a:close/>
                <a:moveTo>
                  <a:pt x="342900" y="100013"/>
                </a:moveTo>
                <a:lnTo>
                  <a:pt x="342900" y="128588"/>
                </a:lnTo>
                <a:cubicBezTo>
                  <a:pt x="342900" y="136446"/>
                  <a:pt x="336471" y="142875"/>
                  <a:pt x="328613" y="142875"/>
                </a:cubicBezTo>
                <a:lnTo>
                  <a:pt x="300038" y="142875"/>
                </a:lnTo>
                <a:cubicBezTo>
                  <a:pt x="292179" y="142875"/>
                  <a:pt x="285750" y="136446"/>
                  <a:pt x="285750" y="128588"/>
                </a:cubicBezTo>
                <a:lnTo>
                  <a:pt x="285750" y="100013"/>
                </a:lnTo>
                <a:cubicBezTo>
                  <a:pt x="285750" y="92154"/>
                  <a:pt x="292179" y="85725"/>
                  <a:pt x="300038" y="85725"/>
                </a:cubicBezTo>
                <a:lnTo>
                  <a:pt x="328613" y="85725"/>
                </a:lnTo>
                <a:cubicBezTo>
                  <a:pt x="336471" y="85725"/>
                  <a:pt x="342900" y="92154"/>
                  <a:pt x="342900" y="100013"/>
                </a:cubicBezTo>
                <a:close/>
                <a:moveTo>
                  <a:pt x="328613" y="171450"/>
                </a:moveTo>
                <a:cubicBezTo>
                  <a:pt x="336471" y="171450"/>
                  <a:pt x="342900" y="177879"/>
                  <a:pt x="342900" y="185738"/>
                </a:cubicBezTo>
                <a:lnTo>
                  <a:pt x="342900" y="214313"/>
                </a:lnTo>
                <a:cubicBezTo>
                  <a:pt x="342900" y="222171"/>
                  <a:pt x="336471" y="228600"/>
                  <a:pt x="328613" y="228600"/>
                </a:cubicBezTo>
                <a:lnTo>
                  <a:pt x="300038" y="228600"/>
                </a:lnTo>
                <a:cubicBezTo>
                  <a:pt x="292179" y="228600"/>
                  <a:pt x="285750" y="222171"/>
                  <a:pt x="285750" y="214313"/>
                </a:cubicBezTo>
                <a:lnTo>
                  <a:pt x="285750" y="185738"/>
                </a:lnTo>
                <a:cubicBezTo>
                  <a:pt x="285750" y="177879"/>
                  <a:pt x="292179" y="171450"/>
                  <a:pt x="300038" y="171450"/>
                </a:cubicBezTo>
                <a:lnTo>
                  <a:pt x="328613" y="171450"/>
                </a:lnTo>
                <a:close/>
                <a:moveTo>
                  <a:pt x="342900" y="271463"/>
                </a:moveTo>
                <a:lnTo>
                  <a:pt x="342900" y="300038"/>
                </a:lnTo>
                <a:cubicBezTo>
                  <a:pt x="342900" y="307896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07896"/>
                  <a:pt x="285750" y="300038"/>
                </a:cubicBezTo>
                <a:lnTo>
                  <a:pt x="285750" y="271463"/>
                </a:lnTo>
                <a:cubicBezTo>
                  <a:pt x="285750" y="263604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63604"/>
                  <a:pt x="342900" y="271463"/>
                </a:cubicBezTo>
                <a:close/>
                <a:moveTo>
                  <a:pt x="442913" y="257175"/>
                </a:moveTo>
                <a:cubicBezTo>
                  <a:pt x="450771" y="257175"/>
                  <a:pt x="457200" y="263604"/>
                  <a:pt x="457200" y="271463"/>
                </a:cubicBezTo>
                <a:lnTo>
                  <a:pt x="457200" y="300038"/>
                </a:lnTo>
                <a:cubicBezTo>
                  <a:pt x="457200" y="307896"/>
                  <a:pt x="450771" y="314325"/>
                  <a:pt x="442913" y="314325"/>
                </a:cubicBezTo>
                <a:lnTo>
                  <a:pt x="414338" y="314325"/>
                </a:lnTo>
                <a:cubicBezTo>
                  <a:pt x="406479" y="314325"/>
                  <a:pt x="400050" y="307896"/>
                  <a:pt x="400050" y="300038"/>
                </a:cubicBezTo>
                <a:lnTo>
                  <a:pt x="400050" y="271463"/>
                </a:lnTo>
                <a:cubicBezTo>
                  <a:pt x="400050" y="263604"/>
                  <a:pt x="406479" y="257175"/>
                  <a:pt x="414338" y="257175"/>
                </a:cubicBezTo>
                <a:lnTo>
                  <a:pt x="442913" y="257175"/>
                </a:lnTo>
                <a:close/>
                <a:moveTo>
                  <a:pt x="228600" y="271463"/>
                </a:moveTo>
                <a:lnTo>
                  <a:pt x="228600" y="300038"/>
                </a:lnTo>
                <a:cubicBezTo>
                  <a:pt x="228600" y="307896"/>
                  <a:pt x="222171" y="314325"/>
                  <a:pt x="214313" y="314325"/>
                </a:cubicBezTo>
                <a:lnTo>
                  <a:pt x="185738" y="314325"/>
                </a:lnTo>
                <a:cubicBezTo>
                  <a:pt x="177879" y="314325"/>
                  <a:pt x="171450" y="307896"/>
                  <a:pt x="171450" y="300038"/>
                </a:cubicBezTo>
                <a:lnTo>
                  <a:pt x="171450" y="271463"/>
                </a:lnTo>
                <a:cubicBezTo>
                  <a:pt x="171450" y="263604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63604"/>
                  <a:pt x="228600" y="271463"/>
                </a:cubicBezTo>
                <a:close/>
                <a:moveTo>
                  <a:pt x="214313" y="171450"/>
                </a:moveTo>
                <a:cubicBezTo>
                  <a:pt x="222171" y="171450"/>
                  <a:pt x="228600" y="177879"/>
                  <a:pt x="228600" y="185738"/>
                </a:cubicBezTo>
                <a:lnTo>
                  <a:pt x="228600" y="214313"/>
                </a:lnTo>
                <a:cubicBezTo>
                  <a:pt x="228600" y="222171"/>
                  <a:pt x="222171" y="228600"/>
                  <a:pt x="214313" y="228600"/>
                </a:cubicBezTo>
                <a:lnTo>
                  <a:pt x="185738" y="228600"/>
                </a:lnTo>
                <a:cubicBezTo>
                  <a:pt x="177879" y="228600"/>
                  <a:pt x="171450" y="222171"/>
                  <a:pt x="171450" y="214313"/>
                </a:cubicBezTo>
                <a:lnTo>
                  <a:pt x="171450" y="185738"/>
                </a:lnTo>
                <a:cubicBezTo>
                  <a:pt x="171450" y="177879"/>
                  <a:pt x="177879" y="171450"/>
                  <a:pt x="185738" y="171450"/>
                </a:cubicBezTo>
                <a:lnTo>
                  <a:pt x="214313" y="171450"/>
                </a:lnTo>
                <a:close/>
                <a:moveTo>
                  <a:pt x="114300" y="271463"/>
                </a:moveTo>
                <a:lnTo>
                  <a:pt x="114300" y="300038"/>
                </a:lnTo>
                <a:cubicBezTo>
                  <a:pt x="114300" y="307896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07896"/>
                  <a:pt x="57150" y="300038"/>
                </a:cubicBezTo>
                <a:lnTo>
                  <a:pt x="57150" y="271463"/>
                </a:lnTo>
                <a:cubicBezTo>
                  <a:pt x="57150" y="263604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63604"/>
                  <a:pt x="114300" y="271463"/>
                </a:cubicBezTo>
                <a:close/>
                <a:moveTo>
                  <a:pt x="100013" y="171450"/>
                </a:moveTo>
                <a:cubicBezTo>
                  <a:pt x="107871" y="171450"/>
                  <a:pt x="114300" y="177879"/>
                  <a:pt x="114300" y="185738"/>
                </a:cubicBezTo>
                <a:lnTo>
                  <a:pt x="114300" y="214313"/>
                </a:lnTo>
                <a:cubicBezTo>
                  <a:pt x="114300" y="222171"/>
                  <a:pt x="107871" y="228600"/>
                  <a:pt x="100013" y="228600"/>
                </a:cubicBezTo>
                <a:lnTo>
                  <a:pt x="71438" y="228600"/>
                </a:lnTo>
                <a:cubicBezTo>
                  <a:pt x="63579" y="228600"/>
                  <a:pt x="57150" y="222171"/>
                  <a:pt x="57150" y="214313"/>
                </a:cubicBezTo>
                <a:lnTo>
                  <a:pt x="57150" y="185738"/>
                </a:lnTo>
                <a:cubicBezTo>
                  <a:pt x="57150" y="177879"/>
                  <a:pt x="63579" y="171450"/>
                  <a:pt x="71438" y="171450"/>
                </a:cubicBezTo>
                <a:lnTo>
                  <a:pt x="100013" y="1714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Metropolitan Area Network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2766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 city or large campus area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Bridges LAN and WAN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ISP or municipality owned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Fiber optic connections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524000"/>
            <a:ext cx="4699000" cy="482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12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2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Area Network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12500" y="32766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1" name="Text 19"/>
          <p:cNvSpPr/>
          <p:nvPr/>
        </p:nvSpPr>
        <p:spPr>
          <a:xfrm>
            <a:off x="111125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Spans cities, countries, continents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The Internet is the largest WAN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ISP-managed infrastructure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Slower than LAN due to distance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6858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Differentiator: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Geographic scope and ownership model — LAN is private and local, WAN is global and ISP-managed, MAN sits in between.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Devices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Shape 3"/>
          <p:cNvSpPr/>
          <p:nvPr/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Directs data between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networks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IP addresses. The "traffic director" of networking — decides the best path for data to travel.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3 (Network Layer)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9" name="Shape 7"/>
          <p:cNvSpPr/>
          <p:nvPr/>
        </p:nvSpPr>
        <p:spPr>
          <a:xfrm>
            <a:off x="863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devices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 the same network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using MAC addresses. Enables efficient local communication by forwarding data only to the intended recipient.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 (Data Link Layer)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0925" y="539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8492" y="10269"/>
                </a:moveTo>
                <a:cubicBezTo>
                  <a:pt x="68401" y="4108"/>
                  <a:pt x="55185" y="7412"/>
                  <a:pt x="49024" y="17502"/>
                </a:cubicBezTo>
                <a:cubicBezTo>
                  <a:pt x="26878" y="54114"/>
                  <a:pt x="14198" y="97066"/>
                  <a:pt x="14198" y="142875"/>
                </a:cubicBezTo>
                <a:cubicBezTo>
                  <a:pt x="14198" y="188684"/>
                  <a:pt x="26878" y="231636"/>
                  <a:pt x="49024" y="268248"/>
                </a:cubicBezTo>
                <a:cubicBezTo>
                  <a:pt x="55185" y="278338"/>
                  <a:pt x="68312" y="281642"/>
                  <a:pt x="78492" y="275481"/>
                </a:cubicBezTo>
                <a:cubicBezTo>
                  <a:pt x="88672" y="269319"/>
                  <a:pt x="91886" y="256193"/>
                  <a:pt x="85725" y="246013"/>
                </a:cubicBezTo>
                <a:cubicBezTo>
                  <a:pt x="67598" y="216009"/>
                  <a:pt x="57150" y="180648"/>
                  <a:pt x="57150" y="142875"/>
                </a:cubicBezTo>
                <a:cubicBezTo>
                  <a:pt x="57150" y="105102"/>
                  <a:pt x="67598" y="69741"/>
                  <a:pt x="85814" y="39648"/>
                </a:cubicBezTo>
                <a:cubicBezTo>
                  <a:pt x="91976" y="29557"/>
                  <a:pt x="88672" y="16341"/>
                  <a:pt x="78581" y="10180"/>
                </a:cubicBezTo>
                <a:close/>
                <a:moveTo>
                  <a:pt x="435769" y="10269"/>
                </a:moveTo>
                <a:cubicBezTo>
                  <a:pt x="425678" y="16431"/>
                  <a:pt x="422374" y="29557"/>
                  <a:pt x="428536" y="39737"/>
                </a:cubicBezTo>
                <a:cubicBezTo>
                  <a:pt x="446752" y="69830"/>
                  <a:pt x="457200" y="105192"/>
                  <a:pt x="457200" y="142964"/>
                </a:cubicBezTo>
                <a:cubicBezTo>
                  <a:pt x="457200" y="180737"/>
                  <a:pt x="446752" y="216098"/>
                  <a:pt x="428536" y="246191"/>
                </a:cubicBezTo>
                <a:cubicBezTo>
                  <a:pt x="422374" y="256282"/>
                  <a:pt x="425678" y="269498"/>
                  <a:pt x="435769" y="275659"/>
                </a:cubicBezTo>
                <a:cubicBezTo>
                  <a:pt x="445859" y="281821"/>
                  <a:pt x="459075" y="278517"/>
                  <a:pt x="465237" y="268426"/>
                </a:cubicBezTo>
                <a:cubicBezTo>
                  <a:pt x="487382" y="231815"/>
                  <a:pt x="500063" y="188863"/>
                  <a:pt x="500063" y="143054"/>
                </a:cubicBezTo>
                <a:cubicBezTo>
                  <a:pt x="500063" y="97244"/>
                  <a:pt x="487382" y="54114"/>
                  <a:pt x="465237" y="17502"/>
                </a:cubicBezTo>
                <a:cubicBezTo>
                  <a:pt x="459075" y="7412"/>
                  <a:pt x="445949" y="4108"/>
                  <a:pt x="435769" y="10269"/>
                </a:cubicBezTo>
                <a:close/>
                <a:moveTo>
                  <a:pt x="285750" y="192345"/>
                </a:moveTo>
                <a:cubicBezTo>
                  <a:pt x="302806" y="182434"/>
                  <a:pt x="314325" y="164038"/>
                  <a:pt x="314325" y="142875"/>
                </a:cubicBezTo>
                <a:cubicBezTo>
                  <a:pt x="314325" y="111353"/>
                  <a:pt x="288697" y="85725"/>
                  <a:pt x="257175" y="85725"/>
                </a:cubicBezTo>
                <a:cubicBezTo>
                  <a:pt x="225653" y="85725"/>
                  <a:pt x="200025" y="111353"/>
                  <a:pt x="200025" y="142875"/>
                </a:cubicBezTo>
                <a:cubicBezTo>
                  <a:pt x="200025" y="164038"/>
                  <a:pt x="211544" y="182523"/>
                  <a:pt x="228600" y="192345"/>
                </a:cubicBezTo>
                <a:lnTo>
                  <a:pt x="228600" y="428625"/>
                </a:lnTo>
                <a:cubicBezTo>
                  <a:pt x="228600" y="444431"/>
                  <a:pt x="241369" y="457200"/>
                  <a:pt x="257175" y="457200"/>
                </a:cubicBezTo>
                <a:cubicBezTo>
                  <a:pt x="272981" y="457200"/>
                  <a:pt x="285750" y="444431"/>
                  <a:pt x="285750" y="428625"/>
                </a:cubicBezTo>
                <a:lnTo>
                  <a:pt x="285750" y="192345"/>
                </a:lnTo>
                <a:close/>
                <a:moveTo>
                  <a:pt x="160913" y="81260"/>
                </a:moveTo>
                <a:cubicBezTo>
                  <a:pt x="167342" y="71259"/>
                  <a:pt x="164396" y="58043"/>
                  <a:pt x="154484" y="51614"/>
                </a:cubicBezTo>
                <a:cubicBezTo>
                  <a:pt x="144572" y="45184"/>
                  <a:pt x="131266" y="48131"/>
                  <a:pt x="124837" y="58043"/>
                </a:cubicBezTo>
                <a:cubicBezTo>
                  <a:pt x="109121" y="82510"/>
                  <a:pt x="100013" y="111621"/>
                  <a:pt x="100013" y="142875"/>
                </a:cubicBezTo>
                <a:cubicBezTo>
                  <a:pt x="100013" y="174129"/>
                  <a:pt x="109121" y="203240"/>
                  <a:pt x="124837" y="227707"/>
                </a:cubicBezTo>
                <a:cubicBezTo>
                  <a:pt x="131266" y="237708"/>
                  <a:pt x="144482" y="240566"/>
                  <a:pt x="154484" y="234136"/>
                </a:cubicBezTo>
                <a:cubicBezTo>
                  <a:pt x="164485" y="227707"/>
                  <a:pt x="167342" y="214491"/>
                  <a:pt x="160913" y="204490"/>
                </a:cubicBezTo>
                <a:cubicBezTo>
                  <a:pt x="149483" y="186720"/>
                  <a:pt x="142875" y="165556"/>
                  <a:pt x="142875" y="142875"/>
                </a:cubicBezTo>
                <a:cubicBezTo>
                  <a:pt x="142875" y="120194"/>
                  <a:pt x="149483" y="99030"/>
                  <a:pt x="160913" y="81260"/>
                </a:cubicBezTo>
                <a:close/>
                <a:moveTo>
                  <a:pt x="389513" y="58043"/>
                </a:moveTo>
                <a:cubicBezTo>
                  <a:pt x="383084" y="48042"/>
                  <a:pt x="369868" y="45184"/>
                  <a:pt x="359866" y="51614"/>
                </a:cubicBezTo>
                <a:cubicBezTo>
                  <a:pt x="349865" y="58043"/>
                  <a:pt x="347008" y="71259"/>
                  <a:pt x="353437" y="81260"/>
                </a:cubicBezTo>
                <a:cubicBezTo>
                  <a:pt x="364867" y="99030"/>
                  <a:pt x="371475" y="120194"/>
                  <a:pt x="371475" y="142875"/>
                </a:cubicBezTo>
                <a:cubicBezTo>
                  <a:pt x="371475" y="165556"/>
                  <a:pt x="364867" y="186720"/>
                  <a:pt x="353437" y="204490"/>
                </a:cubicBezTo>
                <a:cubicBezTo>
                  <a:pt x="347008" y="214491"/>
                  <a:pt x="349954" y="227707"/>
                  <a:pt x="359866" y="234136"/>
                </a:cubicBezTo>
                <a:cubicBezTo>
                  <a:pt x="369778" y="240566"/>
                  <a:pt x="383084" y="237619"/>
                  <a:pt x="389513" y="227707"/>
                </a:cubicBezTo>
                <a:cubicBezTo>
                  <a:pt x="405229" y="203240"/>
                  <a:pt x="414338" y="174129"/>
                  <a:pt x="414338" y="142875"/>
                </a:cubicBezTo>
                <a:cubicBezTo>
                  <a:pt x="414338" y="111621"/>
                  <a:pt x="405229" y="82510"/>
                  <a:pt x="389513" y="58043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539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032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Converts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signals to analog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(and vice versa) for transmission over ISP lines. Bridges your local network to the Internet.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 Conversion Device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18500" y="508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7" name="Shape 15"/>
          <p:cNvSpPr/>
          <p:nvPr/>
        </p:nvSpPr>
        <p:spPr>
          <a:xfrm>
            <a:off x="8607425" y="539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3221" y="8751"/>
                </a:moveTo>
                <a:cubicBezTo>
                  <a:pt x="42237" y="4286"/>
                  <a:pt x="29736" y="9555"/>
                  <a:pt x="25360" y="20538"/>
                </a:cubicBezTo>
                <a:cubicBezTo>
                  <a:pt x="13573" y="49560"/>
                  <a:pt x="7144" y="81171"/>
                  <a:pt x="7144" y="114300"/>
                </a:cubicBezTo>
                <a:cubicBezTo>
                  <a:pt x="7144" y="147429"/>
                  <a:pt x="13573" y="179040"/>
                  <a:pt x="25360" y="208062"/>
                </a:cubicBezTo>
                <a:cubicBezTo>
                  <a:pt x="29825" y="219045"/>
                  <a:pt x="42327" y="224314"/>
                  <a:pt x="53310" y="219849"/>
                </a:cubicBezTo>
                <a:cubicBezTo>
                  <a:pt x="64294" y="215384"/>
                  <a:pt x="69562" y="202883"/>
                  <a:pt x="65097" y="191899"/>
                </a:cubicBezTo>
                <a:cubicBezTo>
                  <a:pt x="55364" y="168057"/>
                  <a:pt x="50006" y="141803"/>
                  <a:pt x="50006" y="114300"/>
                </a:cubicBezTo>
                <a:cubicBezTo>
                  <a:pt x="50006" y="86797"/>
                  <a:pt x="55364" y="60543"/>
                  <a:pt x="65097" y="36612"/>
                </a:cubicBezTo>
                <a:cubicBezTo>
                  <a:pt x="69562" y="25628"/>
                  <a:pt x="64204" y="13127"/>
                  <a:pt x="53310" y="8662"/>
                </a:cubicBezTo>
                <a:close/>
                <a:moveTo>
                  <a:pt x="461129" y="8751"/>
                </a:moveTo>
                <a:cubicBezTo>
                  <a:pt x="450146" y="13216"/>
                  <a:pt x="444877" y="25718"/>
                  <a:pt x="449342" y="36701"/>
                </a:cubicBezTo>
                <a:cubicBezTo>
                  <a:pt x="459075" y="60633"/>
                  <a:pt x="464433" y="86886"/>
                  <a:pt x="464433" y="114389"/>
                </a:cubicBezTo>
                <a:cubicBezTo>
                  <a:pt x="464433" y="141893"/>
                  <a:pt x="459075" y="168146"/>
                  <a:pt x="449342" y="192078"/>
                </a:cubicBezTo>
                <a:cubicBezTo>
                  <a:pt x="444877" y="203061"/>
                  <a:pt x="450235" y="215563"/>
                  <a:pt x="461129" y="220028"/>
                </a:cubicBezTo>
                <a:cubicBezTo>
                  <a:pt x="472023" y="224492"/>
                  <a:pt x="484614" y="219135"/>
                  <a:pt x="489079" y="208240"/>
                </a:cubicBezTo>
                <a:cubicBezTo>
                  <a:pt x="500777" y="179219"/>
                  <a:pt x="507296" y="147608"/>
                  <a:pt x="507296" y="114479"/>
                </a:cubicBezTo>
                <a:cubicBezTo>
                  <a:pt x="507296" y="81349"/>
                  <a:pt x="500866" y="49738"/>
                  <a:pt x="489079" y="20717"/>
                </a:cubicBezTo>
                <a:cubicBezTo>
                  <a:pt x="484614" y="9733"/>
                  <a:pt x="472113" y="4465"/>
                  <a:pt x="461129" y="8930"/>
                </a:cubicBezTo>
                <a:close/>
                <a:moveTo>
                  <a:pt x="303699" y="147518"/>
                </a:moveTo>
                <a:cubicBezTo>
                  <a:pt x="310396" y="138142"/>
                  <a:pt x="314325" y="126712"/>
                  <a:pt x="314325" y="114300"/>
                </a:cubicBezTo>
                <a:cubicBezTo>
                  <a:pt x="314325" y="82778"/>
                  <a:pt x="288697" y="57150"/>
                  <a:pt x="257175" y="57150"/>
                </a:cubicBezTo>
                <a:cubicBezTo>
                  <a:pt x="225653" y="57150"/>
                  <a:pt x="200025" y="82778"/>
                  <a:pt x="200025" y="114300"/>
                </a:cubicBezTo>
                <a:cubicBezTo>
                  <a:pt x="200025" y="126712"/>
                  <a:pt x="203954" y="138142"/>
                  <a:pt x="210651" y="147518"/>
                </a:cubicBezTo>
                <a:lnTo>
                  <a:pt x="88315" y="416838"/>
                </a:lnTo>
                <a:cubicBezTo>
                  <a:pt x="81796" y="431215"/>
                  <a:pt x="88136" y="448181"/>
                  <a:pt x="102513" y="454700"/>
                </a:cubicBezTo>
                <a:cubicBezTo>
                  <a:pt x="116890" y="461218"/>
                  <a:pt x="133856" y="454878"/>
                  <a:pt x="140375" y="440501"/>
                </a:cubicBezTo>
                <a:lnTo>
                  <a:pt x="158770" y="400139"/>
                </a:lnTo>
                <a:lnTo>
                  <a:pt x="355759" y="400139"/>
                </a:lnTo>
                <a:lnTo>
                  <a:pt x="374154" y="440501"/>
                </a:lnTo>
                <a:cubicBezTo>
                  <a:pt x="380673" y="454878"/>
                  <a:pt x="397639" y="461218"/>
                  <a:pt x="412016" y="454700"/>
                </a:cubicBezTo>
                <a:cubicBezTo>
                  <a:pt x="426393" y="448181"/>
                  <a:pt x="432733" y="431215"/>
                  <a:pt x="426214" y="416838"/>
                </a:cubicBezTo>
                <a:lnTo>
                  <a:pt x="303699" y="147518"/>
                </a:lnTo>
                <a:close/>
                <a:moveTo>
                  <a:pt x="336203" y="357188"/>
                </a:moveTo>
                <a:lnTo>
                  <a:pt x="178147" y="357188"/>
                </a:lnTo>
                <a:lnTo>
                  <a:pt x="197614" y="314325"/>
                </a:lnTo>
                <a:lnTo>
                  <a:pt x="316647" y="314325"/>
                </a:lnTo>
                <a:lnTo>
                  <a:pt x="336113" y="357188"/>
                </a:lnTo>
                <a:close/>
                <a:moveTo>
                  <a:pt x="257175" y="183326"/>
                </a:moveTo>
                <a:lnTo>
                  <a:pt x="297180" y="271463"/>
                </a:lnTo>
                <a:lnTo>
                  <a:pt x="217081" y="271463"/>
                </a:lnTo>
                <a:lnTo>
                  <a:pt x="257086" y="183326"/>
                </a:lnTo>
                <a:close/>
                <a:moveTo>
                  <a:pt x="145822" y="65723"/>
                </a:moveTo>
                <a:cubicBezTo>
                  <a:pt x="150555" y="54918"/>
                  <a:pt x="145643" y="42237"/>
                  <a:pt x="134749" y="37505"/>
                </a:cubicBezTo>
                <a:cubicBezTo>
                  <a:pt x="123855" y="32772"/>
                  <a:pt x="111264" y="37683"/>
                  <a:pt x="106531" y="48577"/>
                </a:cubicBezTo>
                <a:cubicBezTo>
                  <a:pt x="97780" y="68759"/>
                  <a:pt x="92869" y="90994"/>
                  <a:pt x="92869" y="114300"/>
                </a:cubicBezTo>
                <a:cubicBezTo>
                  <a:pt x="92869" y="137606"/>
                  <a:pt x="97780" y="159841"/>
                  <a:pt x="106531" y="180023"/>
                </a:cubicBezTo>
                <a:cubicBezTo>
                  <a:pt x="111264" y="190827"/>
                  <a:pt x="123944" y="195828"/>
                  <a:pt x="134749" y="191095"/>
                </a:cubicBezTo>
                <a:cubicBezTo>
                  <a:pt x="145554" y="186363"/>
                  <a:pt x="150555" y="173682"/>
                  <a:pt x="145822" y="162877"/>
                </a:cubicBezTo>
                <a:cubicBezTo>
                  <a:pt x="139303" y="148054"/>
                  <a:pt x="135731" y="131624"/>
                  <a:pt x="135731" y="114300"/>
                </a:cubicBezTo>
                <a:cubicBezTo>
                  <a:pt x="135731" y="96976"/>
                  <a:pt x="139303" y="80546"/>
                  <a:pt x="145822" y="65723"/>
                </a:cubicBezTo>
                <a:close/>
                <a:moveTo>
                  <a:pt x="407819" y="48578"/>
                </a:moveTo>
                <a:cubicBezTo>
                  <a:pt x="403086" y="37773"/>
                  <a:pt x="390406" y="32772"/>
                  <a:pt x="379601" y="37505"/>
                </a:cubicBezTo>
                <a:cubicBezTo>
                  <a:pt x="368796" y="42237"/>
                  <a:pt x="363795" y="54918"/>
                  <a:pt x="368528" y="65723"/>
                </a:cubicBezTo>
                <a:cubicBezTo>
                  <a:pt x="375047" y="80546"/>
                  <a:pt x="378619" y="96976"/>
                  <a:pt x="378619" y="114300"/>
                </a:cubicBezTo>
                <a:cubicBezTo>
                  <a:pt x="378619" y="131624"/>
                  <a:pt x="375047" y="148054"/>
                  <a:pt x="368528" y="162877"/>
                </a:cubicBezTo>
                <a:cubicBezTo>
                  <a:pt x="363795" y="173682"/>
                  <a:pt x="368707" y="186363"/>
                  <a:pt x="379601" y="191095"/>
                </a:cubicBezTo>
                <a:cubicBezTo>
                  <a:pt x="390495" y="195828"/>
                  <a:pt x="403086" y="190917"/>
                  <a:pt x="407819" y="180023"/>
                </a:cubicBezTo>
                <a:cubicBezTo>
                  <a:pt x="416570" y="159841"/>
                  <a:pt x="421481" y="137606"/>
                  <a:pt x="421481" y="114300"/>
                </a:cubicBezTo>
                <a:cubicBezTo>
                  <a:pt x="421481" y="90994"/>
                  <a:pt x="416570" y="68759"/>
                  <a:pt x="407819" y="48578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5397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Point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6032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Creates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(WiFi)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connection point for devices to join a wired network. Extends network coverage without cables.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Bridge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 vs Switch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6985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3 — Network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4699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4765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different networks together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IP addresses for routing decisions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Inter-network communication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Postal service between cities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698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365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2 — Data Link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0" y="2222500"/>
            <a:ext cx="7175500" cy="4699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4765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devices within the same network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MAC addresses for forwarding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Intra-network communication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Mail delivery within a neighborhood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7302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Router handles traffic </a:t>
            </a:r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networks | Switch handles traffic </a:t>
            </a:r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network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(Internet Protocol) address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unique numerical identifier assigned to every device on a network, enabling devices to find and communicate with each other.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32-bit address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654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192.168.1.1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000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Four octets (0-255) separated by dots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~4.3 billion unique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Most widely used today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0" y="2540000"/>
            <a:ext cx="71755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36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128-bit address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3302000"/>
            <a:ext cx="654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2001:0db8::1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4000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Eight groups of hex separated by colons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340 undecillion unique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Designed to replace IPv4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159500"/>
            <a:ext cx="14732000" cy="18415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731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by your ISP. Unique across the entire Internet. Identifies your network to the world.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6731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by router within local network. Reusable across private networks. Not reachable from the Internet.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vs Public 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 Ranges (RFC 1918)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286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10.0.0.0 – 10.255.255.255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 enterprise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172.16.0.0 – 172.31.255.255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Medium-sized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192.168.0.0 – 192.168.255.255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home/office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4699000"/>
            <a:ext cx="7175500" cy="3302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4953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" y="55245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Globally unique address reachable from anywhere on the Internet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Assigned by your ISP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One per network (typically)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Required for Internet access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18500" y="4699000"/>
            <a:ext cx="7175500" cy="3302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1" name="Shape 8"/>
          <p:cNvSpPr/>
          <p:nvPr/>
        </p:nvSpPr>
        <p:spPr>
          <a:xfrm>
            <a:off x="8636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E07A5F"/>
          </a:solidFill>
          <a:ln/>
        </p:spPr>
      </p:sp>
      <p:sp>
        <p:nvSpPr>
          <p:cNvPr id="12" name="Text 9"/>
          <p:cNvSpPr/>
          <p:nvPr/>
        </p:nvSpPr>
        <p:spPr>
          <a:xfrm>
            <a:off x="9207500" y="4953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Router's Role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0" y="55245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router assigns private IPs via DHCP and manages the single public IP from ISP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NAT translates between them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~18M devices reuse same ranges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Isolates local from global traffic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 (Media Access Control)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address is a hardware-level identifier burned into every Network Interface Card (NIC). It serves as a permanent, unique identity for each network device.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Format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746500"/>
            <a:ext cx="7620000" cy="889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810000"/>
            <a:ext cx="698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00:1A:2B:3C:4D:5E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48-bit hexadecimal address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6 pairs of hex digits separated by colons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First 3 pairs = manufacturer (OUI)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3175000"/>
            <a:ext cx="6604000" cy="4064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1" name="Text 9"/>
          <p:cNvSpPr/>
          <p:nvPr/>
        </p:nvSpPr>
        <p:spPr>
          <a:xfrm>
            <a:off x="92075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07500" y="3810000"/>
            <a:ext cx="381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500" y="4000500"/>
            <a:ext cx="5969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two NICs share the same MAC address worldwide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Permanent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Burned into hardware at manufacturing time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for local network communication only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620000"/>
            <a:ext cx="14732000" cy="63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7683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device with a network connection — laptop, phone, smart TV — has a unique MAC address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vs MAC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70942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Logical (software-assigned)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Physical (hardware-burnt)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Change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E07A5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— dynamic via DHCP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— permanent (mostly)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Works across networks (Layer 3)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network only (Layer 2)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192.168.1.1 (IPv4)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Location-based routing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Device-specific identification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985000"/>
            <a:ext cx="14732000" cy="1270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730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7048500"/>
            <a:ext cx="1333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are essential: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IP finds the destination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; MAC finds the destination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within that network. They work together at different layers.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Gateway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gateway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the "exit door" of your local network — the device (typically a router) that routes traffic from your local devices to external networks, including the Internet.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14732000" cy="355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7" name="Shape 5"/>
          <p:cNvSpPr/>
          <p:nvPr/>
        </p:nvSpPr>
        <p:spPr>
          <a:xfrm>
            <a:off x="1270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6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0" name="Text 8"/>
          <p:cNvSpPr/>
          <p:nvPr/>
        </p:nvSpPr>
        <p:spPr>
          <a:xfrm>
            <a:off x="3556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TV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48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334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8D99AE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382000" y="3556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3556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GATEWAY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(Router)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0" y="4191000"/>
            <a:ext cx="762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668000" y="4191000"/>
            <a:ext cx="1016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192000" y="368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3683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Networks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508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 (LAN)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508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flows through the Gateway to reach the Internet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7366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a default gateway, devices can only communicate within their own local subnet.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 (Domain Name System)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143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256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translates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human-readable domain names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(e.g., google.com) into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machine-readable IP addresses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(e.g., 142.250.80.46). It works like the "phonebook of the Internet."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85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Lookup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3619500"/>
            <a:ext cx="3048000" cy="762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619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google.com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3975100"/>
            <a:ext cx="1270000" cy="0"/>
          </a:xfrm>
          <a:prstGeom prst="straightConnector1">
            <a:avLst/>
          </a:prstGeom>
          <a:noFill/>
          <a:ln w="381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4445000" y="3302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Lookup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3619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6195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142.250.80.46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DNS is Needed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9750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Humans remember names, computers need numbers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DNS lookups complete in under 100ms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Without DNS, you'd memorize IP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Enables flexible server migration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Process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53975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Browser checks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cache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Queries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resolver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Asks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TLD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authoritative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server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IP address returned to browser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7366000"/>
            <a:ext cx="14732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7429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is one of the most critical systems on the Internet — every web request starts with a DNS lookup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(Address Resolution Protocol)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resolves IP addresses to MAC addresses within a local network. It bridges Layer 3 (IP) and Layer 2 (MAC) communication.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ARP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4445000" cy="2667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873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broadcasts to all devices on the network: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"Who has this IP? Tell me your MAC!"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7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842000" y="3175000"/>
            <a:ext cx="4445000" cy="2667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873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Reply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318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device with the matching IP responds directly: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have that IP. Here's my MAC!"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87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22000" y="3175000"/>
            <a:ext cx="4572000" cy="2667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0" y="3873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&amp; Communicate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4318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is cached in the ARP table. Devices can now communicate directly using MAC addresses.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96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Table Example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477000"/>
          <a:ext cx="7620000" cy="17780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4F1D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142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7D6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D314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D99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DE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890000" y="5969000"/>
            <a:ext cx="6604000" cy="2286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3" name="Text 20"/>
          <p:cNvSpPr/>
          <p:nvPr/>
        </p:nvSpPr>
        <p:spPr>
          <a:xfrm>
            <a:off x="9207500" y="6159500"/>
            <a:ext cx="596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ARP only works within a local network (subnet). To reach devices outside the local network, traffic is sent to the default gateway first.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(Network Address Translation)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translates multiple private IP addresses into a single public IP address, enabling entire networks to share one Internet connection.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NAT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5588000" cy="2921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8D99A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1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1" name="Text 9"/>
          <p:cNvSpPr/>
          <p:nvPr/>
        </p:nvSpPr>
        <p:spPr>
          <a:xfrm>
            <a:off x="2921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99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3" name="Text 11"/>
          <p:cNvSpPr/>
          <p:nvPr/>
        </p:nvSpPr>
        <p:spPr>
          <a:xfrm>
            <a:off x="4699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8500" y="4572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5" name="Text 13"/>
          <p:cNvSpPr/>
          <p:nvPr/>
        </p:nvSpPr>
        <p:spPr>
          <a:xfrm>
            <a:off x="1968500" y="4572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TV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3500" y="4572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2D3142"/>
          </a:solidFill>
          <a:ln/>
        </p:spPr>
      </p:sp>
      <p:sp>
        <p:nvSpPr>
          <p:cNvPr id="17" name="Text 15"/>
          <p:cNvSpPr/>
          <p:nvPr/>
        </p:nvSpPr>
        <p:spPr>
          <a:xfrm>
            <a:off x="3873500" y="4572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3429000"/>
            <a:ext cx="2032000" cy="2159000"/>
          </a:xfrm>
          <a:prstGeom prst="roundRect">
            <a:avLst>
              <a:gd name="adj" fmla="val 8000"/>
            </a:avLst>
          </a:prstGeom>
          <a:solidFill>
            <a:srgbClr val="E07A5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556000"/>
            <a:ext cx="20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NAT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→ public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89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52000" y="3048000"/>
            <a:ext cx="5842000" cy="2921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41000" y="3810000"/>
            <a:ext cx="4064000" cy="762000"/>
          </a:xfrm>
          <a:prstGeom prst="roundRect">
            <a:avLst>
              <a:gd name="adj" fmla="val 8000"/>
            </a:avLst>
          </a:prstGeom>
          <a:solidFill>
            <a:srgbClr val="3D405B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0" y="3810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203.0.113.1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33000" y="4826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public IP from ISP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by all devices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Types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NAT: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One private IP maps to one public IP (1:1)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NAT: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Maps to a pool of public IPs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 (Port NAT):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Many private IPs share one public IP using different ports — most common in homes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Devices Communicate in 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Destination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checks if destination IP is in the same subnet using subnet mask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6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937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0" name="Text 8"/>
          <p:cNvSpPr/>
          <p:nvPr/>
        </p:nvSpPr>
        <p:spPr>
          <a:xfrm>
            <a:off x="4127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27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Request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7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local, device sends ARP broadcast to find the destination MAC address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3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112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5" name="Text 13"/>
          <p:cNvSpPr/>
          <p:nvPr/>
        </p:nvSpPr>
        <p:spPr>
          <a:xfrm>
            <a:off x="730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02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Frame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02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Ethernet frame with source MAC and destination MAC addresses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06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287000" y="1524000"/>
            <a:ext cx="2794000" cy="3175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77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Forwards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77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receives frame and forwards to correct port based on MAC table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08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3462000" y="1524000"/>
            <a:ext cx="2032000" cy="317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5" name="Text 23"/>
          <p:cNvSpPr/>
          <p:nvPr/>
        </p:nvSpPr>
        <p:spPr>
          <a:xfrm>
            <a:off x="1365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652500" y="22225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Received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652500" y="29845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device receives and processes the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30" name="Text 28"/>
          <p:cNvSpPr/>
          <p:nvPr/>
        </p:nvSpPr>
        <p:spPr>
          <a:xfrm>
            <a:off x="1079500" y="5715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Check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 Resolution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Creation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Forwarding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Delivery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71755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the destination IP is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local subnet, the device sends the frame to the default gateway (router) instead, which then routes it to the external network.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 Website Loads (Full Flow)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58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158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Request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2006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types URL → Browser checks DNS cache → DNS lookup resolves domain to IP address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2730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762000" y="2921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984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4500" y="2984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Connection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4500" y="3403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establishes TCP connection with server via 3-way handshake (SYN → SYN-ACK → ACK)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127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" y="4318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381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438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Routing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14500" y="4800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travels: Device → Router → NAT (private→public IP) → ISP → Internet backbone → Destination server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5524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62000" y="5715000"/>
            <a:ext cx="14732000" cy="12065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5778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577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6197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processes request, queries database if needed, generates HTML/CSS/JS response, sends data back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921500"/>
            <a:ext cx="0" cy="19050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62000" y="7112000"/>
            <a:ext cx="14732000" cy="12065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7175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14500" y="717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 Rendering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14500" y="7594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receives response, parses HTML, fetches additional resources, renders DOM, applies CSS, executes JavaScript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vs HTTPS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69850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EAE7D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482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8" name="Shape 6"/>
          <p:cNvSpPr/>
          <p:nvPr/>
        </p:nvSpPr>
        <p:spPr>
          <a:xfrm>
            <a:off x="4013200" y="24765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cubicBezTo>
                  <a:pt x="152400" y="72271"/>
                  <a:pt x="186571" y="38100"/>
                  <a:pt x="228600" y="38100"/>
                </a:cubicBezTo>
                <a:cubicBezTo>
                  <a:pt x="266343" y="38100"/>
                  <a:pt x="297656" y="65484"/>
                  <a:pt x="303728" y="101560"/>
                </a:cubicBezTo>
                <a:cubicBezTo>
                  <a:pt x="307181" y="122277"/>
                  <a:pt x="326827" y="136327"/>
                  <a:pt x="347663" y="132874"/>
                </a:cubicBezTo>
                <a:cubicBezTo>
                  <a:pt x="368498" y="129421"/>
                  <a:pt x="382429" y="109776"/>
                  <a:pt x="378976" y="88940"/>
                </a:cubicBezTo>
                <a:cubicBezTo>
                  <a:pt x="366832" y="16788"/>
                  <a:pt x="304205" y="-38100"/>
                  <a:pt x="228600" y="-38100"/>
                </a:cubicBezTo>
                <a:cubicBezTo>
                  <a:pt x="144423" y="-38100"/>
                  <a:pt x="76200" y="30123"/>
                  <a:pt x="76200" y="114300"/>
                </a:cubicBezTo>
                <a:lnTo>
                  <a:pt x="76200" y="190500"/>
                </a:lnTo>
                <a:cubicBezTo>
                  <a:pt x="34171" y="190500"/>
                  <a:pt x="0" y="224671"/>
                  <a:pt x="0" y="2667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81000" y="609600"/>
                </a:lnTo>
                <a:cubicBezTo>
                  <a:pt x="423029" y="609600"/>
                  <a:pt x="457200" y="575429"/>
                  <a:pt x="457200" y="533400"/>
                </a:cubicBezTo>
                <a:lnTo>
                  <a:pt x="457200" y="266700"/>
                </a:lnTo>
                <a:cubicBezTo>
                  <a:pt x="457200" y="224671"/>
                  <a:pt x="423029" y="190500"/>
                  <a:pt x="381000" y="190500"/>
                </a:cubicBezTo>
                <a:lnTo>
                  <a:pt x="152400" y="190500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8D99AE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302000"/>
            <a:ext cx="6540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HyperText Transfer Protocol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sent in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plain text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Vulnerable to interception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identity verification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data integrity checks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Unsecured — do not use for sensitive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6985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365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443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2222500"/>
            <a:ext cx="7175500" cy="482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9700" y="24765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lnTo>
                  <a:pt x="152400" y="190500"/>
                </a:lnTo>
                <a:lnTo>
                  <a:pt x="304800" y="190500"/>
                </a:lnTo>
                <a:lnTo>
                  <a:pt x="304800" y="114300"/>
                </a:lnTo>
                <a:cubicBezTo>
                  <a:pt x="304800" y="72271"/>
                  <a:pt x="270629" y="38100"/>
                  <a:pt x="228600" y="38100"/>
                </a:cubicBezTo>
                <a:cubicBezTo>
                  <a:pt x="186571" y="38100"/>
                  <a:pt x="152400" y="72271"/>
                  <a:pt x="152400" y="114300"/>
                </a:cubicBezTo>
                <a:close/>
                <a:moveTo>
                  <a:pt x="76200" y="190500"/>
                </a:moveTo>
                <a:lnTo>
                  <a:pt x="76200" y="114300"/>
                </a:lnTo>
                <a:cubicBezTo>
                  <a:pt x="76200" y="30123"/>
                  <a:pt x="144423" y="-38100"/>
                  <a:pt x="228600" y="-38100"/>
                </a:cubicBezTo>
                <a:cubicBezTo>
                  <a:pt x="312777" y="-38100"/>
                  <a:pt x="381000" y="30123"/>
                  <a:pt x="381000" y="114300"/>
                </a:cubicBezTo>
                <a:lnTo>
                  <a:pt x="381000" y="190500"/>
                </a:lnTo>
                <a:cubicBezTo>
                  <a:pt x="423029" y="190500"/>
                  <a:pt x="457200" y="224671"/>
                  <a:pt x="457200" y="2667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34171" y="190500"/>
                  <a:pt x="76200" y="1905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302000"/>
            <a:ext cx="6540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 Secure (HTTP + SSL/TLS)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is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encrypted end-to-end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Server identity verified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integrity protected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Prevents MITM attacks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E07A5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for all modern websites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7429500"/>
            <a:ext cx="14732000" cy="762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75565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provides three protections: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Encryption (privacy) | Authentication (identity) | Integrity (no tampering)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4064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5" name="Shape 3"/>
          <p:cNvSpPr/>
          <p:nvPr/>
        </p:nvSpPr>
        <p:spPr>
          <a:xfrm>
            <a:off x="2540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54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(Frontend)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67000" y="30226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238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User's browser or application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Sends HTTP requests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Renders UI/UX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Handles user input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Displays data to user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61000" y="2794000"/>
            <a:ext cx="762000" cy="0"/>
          </a:xfrm>
          <a:prstGeom prst="straightConnector1">
            <a:avLst/>
          </a:prstGeom>
          <a:noFill/>
          <a:ln w="25400">
            <a:solidFill>
              <a:srgbClr val="E07A5F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5461000" y="2476500"/>
            <a:ext cx="825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E07A5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0" y="1524000"/>
            <a:ext cx="4699000" cy="4064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12" name="Shape 10"/>
          <p:cNvSpPr/>
          <p:nvPr/>
        </p:nvSpPr>
        <p:spPr>
          <a:xfrm>
            <a:off x="82931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6794500" y="254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D314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(Backend)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0226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5" name="Text 13"/>
          <p:cNvSpPr/>
          <p:nvPr/>
        </p:nvSpPr>
        <p:spPr>
          <a:xfrm>
            <a:off x="6794500" y="3238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Processes client requests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Runs business logic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Authenticates users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Queries database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2D314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Returns HTTP responses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176000" y="3302000"/>
            <a:ext cx="762000" cy="0"/>
          </a:xfrm>
          <a:prstGeom prst="straightConnector1">
            <a:avLst/>
          </a:prstGeom>
          <a:noFill/>
          <a:ln w="25400">
            <a:solidFill>
              <a:srgbClr val="8D99AE"/>
            </a:solidFill>
            <a:prstDash val="solid"/>
            <a:headEnd type="arrow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176000" y="2895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1524000"/>
            <a:ext cx="3302000" cy="4064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493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E07A5F"/>
          </a:solidFill>
          <a:ln/>
        </p:spPr>
      </p:sp>
      <p:sp>
        <p:nvSpPr>
          <p:cNvPr id="20" name="Text 18"/>
          <p:cNvSpPr/>
          <p:nvPr/>
        </p:nvSpPr>
        <p:spPr>
          <a:xfrm>
            <a:off x="12446000" y="254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0" y="3022600"/>
            <a:ext cx="508000" cy="254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3238500"/>
            <a:ext cx="279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storage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Content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Transactions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Application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Request 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286500"/>
            <a:ext cx="14732000" cy="1016000"/>
          </a:xfrm>
          <a:prstGeom prst="rect">
            <a:avLst/>
          </a:prstGeom>
          <a:solidFill>
            <a:srgbClr val="EAE7D6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6350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sends HTTP Request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processes + queries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Server builds Response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2D314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receives and renders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747000"/>
            <a:ext cx="14732000" cy="635000"/>
          </a:xfrm>
          <a:prstGeom prst="rect">
            <a:avLst/>
          </a:prstGeom>
          <a:solidFill>
            <a:srgbClr val="2D3142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7810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4F1D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three-tier architecture (Client → Server → Database) powers the vast majority of web applications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m26tdp357svy/mnt/agents/output/networking-for-developers/images/3_Free_Fiber_Optic_Cables_Image_Technology.png">    </p:cNvPr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2D3142">
                  <a:alpha val="90000"/>
                </a:srgbClr>
              </a:gs>
              <a:gs pos="50000">
                <a:srgbClr val="2D3142">
                  <a:alpha val="87000"/>
                </a:srgbClr>
              </a:gs>
              <a:gs pos="100000">
                <a:srgbClr val="2D3142">
                  <a:alpha val="90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1016000"/>
            <a:ext cx="2540000" cy="2540000"/>
          </a:xfrm>
          <a:prstGeom prst="ellipse">
            <a:avLst/>
          </a:prstGeom>
          <a:solidFill>
            <a:srgbClr val="E07A5F">
              <a:alpha val="313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2700000" y="5715000"/>
            <a:ext cx="2794000" cy="2794000"/>
          </a:xfrm>
          <a:prstGeom prst="ellipse">
            <a:avLst/>
          </a:prstGeom>
          <a:solidFill>
            <a:srgbClr val="8D99AE">
              <a:alpha val="313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53000" y="254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E07A5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3000" y="3048000"/>
            <a:ext cx="1270000" cy="3810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33655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F4F1D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networking fundamentals makes you a better developer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B8C0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line of code you write eventually travels across a network — knowing how that works gives you superpowers.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8000" y="6477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8D99A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• MAC • DNS • ARP • NAT • HTTP/HTTPS • Client-Server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for Web Developers</dc:title>
  <dc:subject>Networking for Web Developers</dc:subject>
  <dc:creator>Kimi</dc:creator>
  <cp:lastModifiedBy>Kimi</cp:lastModifiedBy>
  <cp:revision>1</cp:revision>
  <dcterms:created xsi:type="dcterms:W3CDTF">2026-06-04T08:29:48Z</dcterms:created>
  <dcterms:modified xsi:type="dcterms:W3CDTF">2026-06-04T08:29:48Z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{"Label":"Networking for Web Developers","ContentProducer":"001191110108MACG2KBH8F10000","ProduceID":"19e91c05-6de2-88a4-8000-00009c04ae68","ReservedCode1":"","ContentPropagator":"001191110108MACG2KBH8F20000","PropagateID":"19e91c05-6de2-88a4-8000-00009c04ae68","ReservedCode2":""}</vt:lpwstr>
  </property>
</Properties>
</file>
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496C4"/>
                </a:solidFill>
              </a:rPr>
              <a:t>Session 3 Notes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Protocols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80"/>
                </a:solidFill>
              </a:rPr>
              <a:t>Understanding DNS, TCP, and UDP — The Foundation of Internet Communication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58768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DDE2F3"/>
          </a:solidFill>
          <a:ln w="12700">
            <a:solidFill>
              <a:srgbClr val="849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FA6"/>
                </a:solidFill>
              </a:rPr>
              <a:t>DNS Architecture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3858768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DDE2F3"/>
          </a:solidFill>
          <a:ln w="12700">
            <a:solidFill>
              <a:srgbClr val="849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FA6"/>
                </a:solidFill>
              </a:rPr>
              <a:t>TCP Protocol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3858768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DDE2F3"/>
          </a:solidFill>
          <a:ln w="12700">
            <a:solidFill>
              <a:srgbClr val="84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FA6"/>
                </a:solidFill>
              </a:rPr>
              <a:t>UDP Protocol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640080"/>
            <a:ext cx="2560320" cy="2560320"/>
          </a:xfrm>
          <a:prstGeom prst="ellipse">
            <a:avLst/>
          </a:prstGeom>
          <a:solidFill>
            <a:srgbClr val="8496C4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3017520"/>
            <a:ext cx="1463040" cy="1463040"/>
          </a:xfrm>
          <a:prstGeom prst="ellipse">
            <a:avLst/>
          </a:prstGeom>
          <a:solidFill>
            <a:srgbClr val="7BA7BC">
              <a:alpha val="22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7B87A8"/>
                </a:solidFill>
              </a:rPr>
              <a:t>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0972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5B6FA6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Domain Name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" y="1508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The Internet's phonebook translating domain names to IP addresses through hierarchical resolution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DNS Resolution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02536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14" name="Text 12"/>
          <p:cNvSpPr/>
          <p:nvPr/>
        </p:nvSpPr>
        <p:spPr>
          <a:xfrm>
            <a:off x="2002536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Caching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27448" y="96012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55464" y="10972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5B6FA6"/>
          </a:solidFill>
          <a:ln/>
        </p:spPr>
      </p:sp>
      <p:sp>
        <p:nvSpPr>
          <p:cNvPr id="17" name="Text 15"/>
          <p:cNvSpPr/>
          <p:nvPr/>
        </p:nvSpPr>
        <p:spPr>
          <a:xfrm>
            <a:off x="4855464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TCP Protocol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5464" y="1508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Reliable, connection-oriented protocol ensuring ordered data delivery with error handling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55464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3-Way Handshake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9944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9944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Retransmission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" y="31089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5B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UDP Protocol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Fast, connectionless protocol for real-time applications without delivery guarantees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Low Latency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02536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32" name="Text 30"/>
          <p:cNvSpPr/>
          <p:nvPr/>
        </p:nvSpPr>
        <p:spPr>
          <a:xfrm>
            <a:off x="2002536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Streaming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27448" y="297180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55464" y="31089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5B6FA6"/>
          </a:solidFill>
          <a:ln/>
        </p:spPr>
      </p:sp>
      <p:sp>
        <p:nvSpPr>
          <p:cNvPr id="35" name="Text 33"/>
          <p:cNvSpPr/>
          <p:nvPr/>
        </p:nvSpPr>
        <p:spPr>
          <a:xfrm>
            <a:off x="4855464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Protocol Comparison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5464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Side-by-side analysis of TCP vs UDP — characteristics, use cases, and performance trade-offs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55464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39" name="Text 37"/>
          <p:cNvSpPr/>
          <p:nvPr/>
        </p:nvSpPr>
        <p:spPr>
          <a:xfrm>
            <a:off x="4855464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Trade-offs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9944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DE2F3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80"/>
                </a:solidFill>
              </a:rPr>
              <a:t>Use Cases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5B6FA6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Name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80"/>
                </a:solidFill>
              </a:rPr>
              <a:t>The Internet's Phonebook — How Domain Names Map to IP Addresses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Hierarchical Resolution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Global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Fundamentals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DNS = Domain Name System — translates human-readable domain names into machine-readable IP addresses. Managed by ICANN.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" y="1490472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" y="1490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You (User)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1947672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Want to find a website — type in a domain name like google.com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32588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490472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490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Librarian (DNS Resolver)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1947672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Helps locate the website by translating domain names to IP addresses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" y="3346704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" y="33467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Index System (DNS Hierarchy)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" y="3803904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Root, TLD, and Authoritative nameservers map domain names to IP locations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1821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346704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33467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Book (Website)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3803904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Final destination found — IP address returned, website loads in browser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Resolution Process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Step-by-step journey from domain name to IP address.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3502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3502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5897" y="189829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Checking Local Cache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Before external requests, your system checks browser cache and OS-level cache for previously resolved domains.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6654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5897" y="262981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07568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1396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DNS Resolver / Recursor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If cache misses, request goes to a DNS Resolver — like a librarian. Options: ISP default, Google 8.8.8.8, Cloudflare 1.1.1.1.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79806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5897" y="336133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280720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28712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Root Nameservers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16382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Resolver asks Root Nameserver — acts like a library index. Directs to the correct TLD server based on extension (e.g. .com).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2958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52958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5897" y="409285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53872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36027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TLD Nameserver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89534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The .com TLD nameserver knows where to find codersgyan.com — directs to the Authoritative Nameserver.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26110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26110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427024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43342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Authoritative Nameserver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62686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Holds the final answer — provides the exact IP address (e.g. 104.21.16.1). Browser loads the website.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Caching &amp; Propagation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DNS changes propagate globally over time due to TTL (Time-to-Live) settings on cached records.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" y="1490472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" y="14904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Browser Cache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1947672"/>
            <a:ext cx="24140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Stores previously visited domain records to avoid repeated lookups for sites you visit frequently.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32588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2696" y="1490472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9896" y="14904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OS-Level Cache (DNS Client)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947672"/>
            <a:ext cx="24140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Operating system maintains a temporary DNS cache for all applications running on the device.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32588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1490472"/>
            <a:ext cx="384048" cy="38404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611733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74536" y="14904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DNS Resolver Cache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17336" y="1947672"/>
            <a:ext cx="24140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ISPs and providers (Google 8.8.8.8, Cloudflare 1.1.1.1) maintain large shared caches.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5B6FA6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80"/>
                </a:solidFill>
              </a:rPr>
              <a:t>Transmission Control Protocol — Reliable, Connection-Oriented Communication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Guaranteed Delivery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Ordered Data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Fundamentals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What is TCP?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TCP (Transmission Control Protocol) is one of the main protocols of the TCP/IP suite, lying between the Application and Network Layers.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Connection-oriented protocol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Breaks data into segments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Reassembles at destination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Multiple route capability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114800" cy="3950208"/>
          </a:xfrm>
          <a:prstGeom prst="roundRect">
            <a:avLst>
              <a:gd name="adj" fmla="val 1852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Why Use TCP?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Reliability: ACK and retransmission mechanism ensures lost or corrupted segments are resent — critical for file transfers and emails.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Ordered Delivery: guarantees data received in same sequence as sent.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Congestion &amp; Flow Control: adjusts transmission rate based on network conditions.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Universality: used by HTTP, SMTP, FTP — every segment has a checksum.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Headers 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Every TCP segment contains a header (20–60 bytes) with control information.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9844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D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Source Port · 16 bits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2984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Port number of the sending application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0136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AEC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01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Destination Port · 16 bits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8013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Port number of the receiving 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0428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DE2F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042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Sequence Number · 32 bits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3042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Byte position of the first data byte in current segment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0720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0720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AECF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072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Acknowledgment Number · 32 bits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80720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Sequence number of next byte expected by receiver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1012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31012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DE2F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Data Offset + Reserved + Flags · 16 bits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3101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Header length, reserved bits, control flags (SYN, ACK, FIN, etc.)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1304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81304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AECF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130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Window Size + Checksum + Urgent · 48 bits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38130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Flow control window, error detection checksum, urgent pointer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31596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DE2F3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3159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554"/>
                </a:solidFill>
              </a:rPr>
              <a:t>Options + Padding · Variable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43159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Optional fields for additional functionality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3-Way Handshake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The process to establish a reliable connection before any data transfer begins.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94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594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1708" y="2298192"/>
            <a:ext cx="45720" cy="280416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Step 1 · Client Sends SYN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Client sends a SYN (Synchronize) packet to the server.  Client→Server: Seq=1000, Ack=0, Flag=SYN  (ISN randomly chosen for security)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708" y="3517392"/>
            <a:ext cx="45720" cy="280416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633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627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Step 2 · Server Sends SYN-ACK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199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Server receives SYN and responds with SYN-ACK.  Server→Client: Seq=5000, Ack=1001, Flag=SYN-ACK  (Server ISN=5000, Ack = Client ISN + 1)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78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978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7825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8465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Step 3 · Client Sends 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91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Client receives SYN-ACK and sends ACK back. Connection established!  Client→Server: Seq=1001, Ack=5001, Flag=ACK  (Ack = Server ISN + 1, confirming receipt)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Data Transfer &amp; Retransmission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Practical example: Transferring a 3MB image file over TCP.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44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" y="2048256"/>
            <a:ext cx="45720" cy="210312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3-Way Handshake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Connection must be established before any data transfer begins.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5856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" y="2962656"/>
            <a:ext cx="45720" cy="210312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2585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3225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Creating Segments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6151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File: 3,145,728 bytes · MSS: 1,460 bytes/segment · Total segments: ~2,155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" y="3877056"/>
            <a:ext cx="45720" cy="210312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1729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32369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Data Transfer Process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5295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Send segment (Seq=1001, 1,460B) → Server ACKs (Ack=2461) → Next segment (Seq=2461) → repeat until all 3MB transferred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08736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087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0873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4151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TCP Retransmission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4439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Triggers: packet lost · checksum fails · no ACK received · Timeout: Linux ~200ms–3s, Windows ~300ms–3s · Exponential Backoff: 1s→2s→4s→8s...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5B6FA6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80"/>
                </a:solidFill>
              </a:rPr>
              <a:t>User Datagram Protocol — Fast, Connectionless Communication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Low Latency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Real-time Streaming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 Characteristics &amp; Use Cases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What is UDP?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554"/>
                </a:solidFill>
              </a:rPr>
              <a:t>UDP (User Datagram Protocol) is a Transport layer protocol that breaks data into segments for transmission — fast and connectionless, trading reliability for speed.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80"/>
                </a:solidFill>
              </a:rPr>
              <a:t>UDP Header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FA6"/>
                </a:solidFill>
              </a:rPr>
              <a:t>Source 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21408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54"/>
                </a:solidFill>
              </a:rPr>
              <a:t>Port number of the sending application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FA6"/>
                </a:solidFill>
              </a:rPr>
              <a:t>Destination 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21408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54"/>
                </a:solidFill>
              </a:rPr>
              <a:t>Port number of the receiving application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FA6"/>
                </a:solidFill>
              </a:rPr>
              <a:t>Length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21408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54"/>
                </a:solidFill>
              </a:rPr>
              <a:t>Total length of UDP header +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FA6"/>
                </a:solidFill>
              </a:rPr>
              <a:t>Checksum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3246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A8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3246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554"/>
                </a:solidFill>
              </a:rPr>
              <a:t>Error detection value (optional in IPv4)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85032"/>
            <a:ext cx="5166360" cy="320040"/>
          </a:xfrm>
          <a:prstGeom prst="roundRect">
            <a:avLst>
              <a:gd name="adj" fmla="val 17143"/>
            </a:avLst>
          </a:prstGeom>
          <a:solidFill>
            <a:srgbClr val="5B6FA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850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Header Size: 64 bits (8 bytes)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1664208"/>
            <a:ext cx="315468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33872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Common Use Cases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33872" y="2176272"/>
            <a:ext cx="320040" cy="32004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31" name="Text 29"/>
          <p:cNvSpPr/>
          <p:nvPr/>
        </p:nvSpPr>
        <p:spPr>
          <a:xfrm>
            <a:off x="5833872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A6"/>
                </a:solidFill>
              </a:rPr>
              <a:t>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2176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54"/>
                </a:solidFill>
              </a:rPr>
              <a:t>Video Calling · WebRTC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33872" y="2596896"/>
            <a:ext cx="320040" cy="32004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34" name="Text 32"/>
          <p:cNvSpPr/>
          <p:nvPr/>
        </p:nvSpPr>
        <p:spPr>
          <a:xfrm>
            <a:off x="5833872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A6"/>
                </a:solidFill>
              </a:rPr>
              <a:t>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54"/>
                </a:solidFill>
              </a:rPr>
              <a:t>Online Gaming · Low latency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33872" y="3017520"/>
            <a:ext cx="320040" cy="32004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37" name="Text 35"/>
          <p:cNvSpPr/>
          <p:nvPr/>
        </p:nvSpPr>
        <p:spPr>
          <a:xfrm>
            <a:off x="5833872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A6"/>
                </a:solidFill>
              </a:rPr>
              <a:t>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54"/>
                </a:solidFill>
              </a:rPr>
              <a:t>DNS Queries · Fast lookup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33872" y="3438144"/>
            <a:ext cx="320040" cy="32004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40" name="Text 38"/>
          <p:cNvSpPr/>
          <p:nvPr/>
        </p:nvSpPr>
        <p:spPr>
          <a:xfrm>
            <a:off x="5833872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A6"/>
                </a:solidFill>
              </a:rPr>
              <a:t>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43814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54"/>
                </a:solidFill>
              </a:rPr>
              <a:t>Live Streaming · Real-time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114800"/>
            <a:ext cx="8503920" cy="804672"/>
          </a:xfrm>
          <a:prstGeom prst="roundRect">
            <a:avLst>
              <a:gd name="adj" fmla="val 6818"/>
            </a:avLst>
          </a:prstGeom>
          <a:solidFill>
            <a:srgbClr val="DDE2F3"/>
          </a:solidFill>
          <a:ln w="12700">
            <a:solidFill>
              <a:srgbClr val="CDD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1696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FA6"/>
                </a:solidFill>
              </a:rPr>
              <a:t>Key Differences from TCP: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5488" y="4434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No delivery guarantee  ·  No acknowledgment numbers  ·  Faster — no retry mechanism means lower latency and overhead  ·  No connection setup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 UDP: Key Differences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06040" y="86868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868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86868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7BA7BC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868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UDP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2240280" cy="402336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29844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Connection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298448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29844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Connection-oriented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298448"/>
            <a:ext cx="2971800" cy="402336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29844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Connectionless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737360"/>
            <a:ext cx="2240280" cy="402336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17373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Reliability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1737360"/>
            <a:ext cx="2880360" cy="402336"/>
          </a:xfrm>
          <a:prstGeom prst="rect">
            <a:avLst/>
          </a:prstGeom>
          <a:solidFill>
            <a:srgbClr val="EF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173736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Guaranteed delivery with 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737360"/>
            <a:ext cx="2971800" cy="402336"/>
          </a:xfrm>
          <a:prstGeom prst="rect">
            <a:avLst/>
          </a:prstGeom>
          <a:solidFill>
            <a:srgbClr val="F4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73736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No delivery guarantee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176272"/>
            <a:ext cx="2240280" cy="402336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1762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Speed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2176272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217627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Slower (overhead)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176272"/>
            <a:ext cx="2971800" cy="402336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217627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Faster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615184"/>
            <a:ext cx="2240280" cy="402336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26151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Ordering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2615184"/>
            <a:ext cx="2880360" cy="402336"/>
          </a:xfrm>
          <a:prstGeom prst="rect">
            <a:avLst/>
          </a:prstGeom>
          <a:solidFill>
            <a:srgbClr val="EFF1FA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2615184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Ordered delivery guaranteed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615184"/>
            <a:ext cx="2971800" cy="402336"/>
          </a:xfrm>
          <a:prstGeom prst="rect">
            <a:avLst/>
          </a:prstGeom>
          <a:solidFill>
            <a:srgbClr val="F4F9FC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261518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No ordering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054096"/>
            <a:ext cx="2240280" cy="402336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0540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Error Handling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3054096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054096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Retransmission on failure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3054096"/>
            <a:ext cx="2971800" cy="402336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305409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No retransmission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493008"/>
            <a:ext cx="2240280" cy="402336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" y="34930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Header Size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493008"/>
            <a:ext cx="2880360" cy="402336"/>
          </a:xfrm>
          <a:prstGeom prst="rect">
            <a:avLst/>
          </a:prstGeom>
          <a:solidFill>
            <a:srgbClr val="EFF1FA"/>
          </a:solidFill>
          <a:ln/>
        </p:spPr>
      </p:sp>
      <p:sp>
        <p:nvSpPr>
          <p:cNvPr id="44" name="Text 42"/>
          <p:cNvSpPr/>
          <p:nvPr/>
        </p:nvSpPr>
        <p:spPr>
          <a:xfrm>
            <a:off x="2697480" y="349300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20–60 bytes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3493008"/>
            <a:ext cx="2971800" cy="402336"/>
          </a:xfrm>
          <a:prstGeom prst="rect">
            <a:avLst/>
          </a:prstGeom>
          <a:solidFill>
            <a:srgbClr val="F4F9FC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0" y="349300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8 bytes only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3931920"/>
            <a:ext cx="2240280" cy="402336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48" name="Text 46"/>
          <p:cNvSpPr/>
          <p:nvPr/>
        </p:nvSpPr>
        <p:spPr>
          <a:xfrm>
            <a:off x="384048" y="39319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Handshake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06040" y="3931920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697480" y="393192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3-way handshake required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3931920"/>
            <a:ext cx="2971800" cy="402336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52" name="Text 50"/>
          <p:cNvSpPr/>
          <p:nvPr/>
        </p:nvSpPr>
        <p:spPr>
          <a:xfrm>
            <a:off x="5852160" y="393192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No handshake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370832"/>
            <a:ext cx="2240280" cy="402336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84048" y="43708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80"/>
                </a:solidFill>
              </a:rPr>
              <a:t>Use Cases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06040" y="4370832"/>
            <a:ext cx="2880360" cy="402336"/>
          </a:xfrm>
          <a:prstGeom prst="rect">
            <a:avLst/>
          </a:prstGeom>
          <a:solidFill>
            <a:srgbClr val="EFF1FA"/>
          </a:solidFill>
          <a:ln/>
        </p:spPr>
      </p:sp>
      <p:sp>
        <p:nvSpPr>
          <p:cNvPr id="56" name="Text 54"/>
          <p:cNvSpPr/>
          <p:nvPr/>
        </p:nvSpPr>
        <p:spPr>
          <a:xfrm>
            <a:off x="2697480" y="437083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Web, Email, File Transfer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760720" y="4370832"/>
            <a:ext cx="2971800" cy="402336"/>
          </a:xfrm>
          <a:prstGeom prst="rect">
            <a:avLst/>
          </a:prstGeom>
          <a:solidFill>
            <a:srgbClr val="F4F9FC"/>
          </a:solidFill>
          <a:ln/>
        </p:spPr>
      </p:sp>
      <p:sp>
        <p:nvSpPr>
          <p:cNvPr id="58" name="Text 56"/>
          <p:cNvSpPr/>
          <p:nvPr/>
        </p:nvSpPr>
        <p:spPr>
          <a:xfrm>
            <a:off x="5852160" y="43708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Streaming, Gaming, DNS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1298448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0" name="Shape 58"/>
          <p:cNvSpPr/>
          <p:nvPr/>
        </p:nvSpPr>
        <p:spPr>
          <a:xfrm>
            <a:off x="320040" y="1737360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1" name="Shape 59"/>
          <p:cNvSpPr/>
          <p:nvPr/>
        </p:nvSpPr>
        <p:spPr>
          <a:xfrm>
            <a:off x="320040" y="2176272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2" name="Shape 60"/>
          <p:cNvSpPr/>
          <p:nvPr/>
        </p:nvSpPr>
        <p:spPr>
          <a:xfrm>
            <a:off x="320040" y="2615184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3" name="Shape 61"/>
          <p:cNvSpPr/>
          <p:nvPr/>
        </p:nvSpPr>
        <p:spPr>
          <a:xfrm>
            <a:off x="320040" y="3054096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4" name="Shape 62"/>
          <p:cNvSpPr/>
          <p:nvPr/>
        </p:nvSpPr>
        <p:spPr>
          <a:xfrm>
            <a:off x="320040" y="3493008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5" name="Shape 63"/>
          <p:cNvSpPr/>
          <p:nvPr/>
        </p:nvSpPr>
        <p:spPr>
          <a:xfrm>
            <a:off x="320040" y="3931920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6" name="Shape 64"/>
          <p:cNvSpPr/>
          <p:nvPr/>
        </p:nvSpPr>
        <p:spPr>
          <a:xfrm>
            <a:off x="320040" y="4370832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67" name="Shape 65"/>
          <p:cNvSpPr/>
          <p:nvPr/>
        </p:nvSpPr>
        <p:spPr>
          <a:xfrm>
            <a:off x="320040" y="4809744"/>
            <a:ext cx="8412480" cy="9144"/>
          </a:xfrm>
          <a:prstGeom prst="rect">
            <a:avLst/>
          </a:prstGeom>
          <a:solidFill>
            <a:srgbClr val="CDD3E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8496C4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61488" cy="320040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475488" cy="47548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FA6"/>
                </a:solidFill>
              </a:rPr>
              <a:t>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FA6"/>
                </a:solidFill>
              </a:rPr>
              <a:t>DNS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246888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Translates domain names to IP addresses through hierarchical resolution involving Root, TLD, and Authoritative nameservers.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61488" cy="320040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691640"/>
            <a:ext cx="475488" cy="47548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FA6"/>
                </a:solidFill>
              </a:rPr>
              <a:t>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95928" y="16916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FA6"/>
                </a:solidFill>
              </a:rPr>
              <a:t>TCP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2267712"/>
            <a:ext cx="246888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Provides reliable, ordered data delivery with connection establishment via 3-way handshake and comprehensive error handling through retransmission.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7336" y="1508760"/>
            <a:ext cx="2761488" cy="320040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691640"/>
            <a:ext cx="475488" cy="475488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FA6"/>
                </a:solidFill>
              </a:rPr>
              <a:t>↗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94576" y="16916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FA6"/>
                </a:solidFill>
              </a:rPr>
              <a:t>UDP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2267712"/>
            <a:ext cx="246888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Offers fast, connectionless communication ideal for real-time applications like video streaming, gaming, and DNS queries.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7A8"/>
                </a:solidFill>
              </a:rPr>
              <a:t>Each protocol serves different needs — TCP for reliability, UDP for speed — forming the backbone of modern network communication.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Protocols Deep Dive – Lavender Mist Theme</dc:title>
  <dc:subject>PptxGenJS Presentation</dc:subject>
  <dc:creator>PptxGenJS</dc:creator>
  <cp:lastModifiedBy>PptxGenJS</cp:lastModifiedBy>
  <cp:revision>1</cp:revision>
  <dcterms:created xsi:type="dcterms:W3CDTF">2026-06-10T04:59:39Z</dcterms:created>
  <dcterms:modified xsi:type="dcterms:W3CDTF">2026-06-10T04:59:39Z</dcterms:modified>
</cp:coreProperties>
</file>
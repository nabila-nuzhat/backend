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Quattrocento Sans" charset="-122" pitchFamily="34"/>
      <p:regular r:id="rId21"/>
    </p:embeddedFont>
    <p:embeddedFont>
      <p:font typeface="Liter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c6bfebdbaeebd1e7014968daff457c5930b5478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5C6A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600200"/>
            <a:ext cx="2428875" cy="390525"/>
          </a:xfrm>
          <a:custGeom>
            <a:avLst/>
            <a:gdLst/>
            <a:ahLst/>
            <a:cxnLst/>
            <a:rect l="l" t="t" r="r" b="b"/>
            <a:pathLst>
              <a:path w="2428875" h="390525">
                <a:moveTo>
                  <a:pt x="76199" y="0"/>
                </a:moveTo>
                <a:lnTo>
                  <a:pt x="2352676" y="0"/>
                </a:lnTo>
                <a:cubicBezTo>
                  <a:pt x="2394759" y="0"/>
                  <a:pt x="2428875" y="34116"/>
                  <a:pt x="2428875" y="76199"/>
                </a:cubicBezTo>
                <a:lnTo>
                  <a:pt x="2428875" y="314326"/>
                </a:lnTo>
                <a:cubicBezTo>
                  <a:pt x="2428875" y="356409"/>
                  <a:pt x="2394759" y="390525"/>
                  <a:pt x="23526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709738"/>
            <a:ext cx="21946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EDUCATION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24088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Fundamentals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671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43388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ARPANET to Modern Internet Architecture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0" name="Shape 7"/>
          <p:cNvSpPr/>
          <p:nvPr/>
        </p:nvSpPr>
        <p:spPr>
          <a:xfrm>
            <a:off x="502444" y="6153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603885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 Stack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2500" y="622935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TCP/IP &amp; OSI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129582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4" name="Shape 11"/>
          <p:cNvSpPr/>
          <p:nvPr/>
        </p:nvSpPr>
        <p:spPr>
          <a:xfrm>
            <a:off x="2251025" y="6153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2"/>
          <p:cNvSpPr/>
          <p:nvPr/>
        </p:nvSpPr>
        <p:spPr>
          <a:xfrm>
            <a:off x="2701082" y="603885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701082" y="6229350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1957 - Present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135195" y="603885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125670" y="6229350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Notes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76101" y="43815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3562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Internet?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033462"/>
            <a:ext cx="6791325" cy="2200275"/>
          </a:xfrm>
          <a:custGeom>
            <a:avLst/>
            <a:gdLst/>
            <a:ahLst/>
            <a:cxnLst/>
            <a:rect l="l" t="t" r="r" b="b"/>
            <a:pathLst>
              <a:path w="6791325" h="2200275">
                <a:moveTo>
                  <a:pt x="114304" y="0"/>
                </a:moveTo>
                <a:lnTo>
                  <a:pt x="6677021" y="0"/>
                </a:lnTo>
                <a:cubicBezTo>
                  <a:pt x="6740149" y="0"/>
                  <a:pt x="6791325" y="51176"/>
                  <a:pt x="6791325" y="114304"/>
                </a:cubicBezTo>
                <a:lnTo>
                  <a:pt x="6791325" y="2085971"/>
                </a:lnTo>
                <a:cubicBezTo>
                  <a:pt x="6791325" y="2149099"/>
                  <a:pt x="6740149" y="2200275"/>
                  <a:pt x="6677021" y="2200275"/>
                </a:cubicBezTo>
                <a:lnTo>
                  <a:pt x="114304" y="2200275"/>
                </a:lnTo>
                <a:cubicBezTo>
                  <a:pt x="51176" y="2200275"/>
                  <a:pt x="0" y="2149099"/>
                  <a:pt x="0" y="208597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2925" y="1190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Shape 6"/>
          <p:cNvSpPr/>
          <p:nvPr/>
        </p:nvSpPr>
        <p:spPr>
          <a:xfrm>
            <a:off x="676275" y="1323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52525" y="1190625"/>
            <a:ext cx="596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Network Definition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2525" y="1533525"/>
            <a:ext cx="5943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Internet is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network of interconnected computers and devices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communicate using standardized protocols like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TCP/IP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share information and resources across vast distances.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71575" y="2390775"/>
            <a:ext cx="5848350" cy="685800"/>
          </a:xfrm>
          <a:custGeom>
            <a:avLst/>
            <a:gdLst/>
            <a:ahLst/>
            <a:cxnLst/>
            <a:rect l="l" t="t" r="r" b="b"/>
            <a:pathLst>
              <a:path w="5848350" h="685800">
                <a:moveTo>
                  <a:pt x="38100" y="0"/>
                </a:moveTo>
                <a:lnTo>
                  <a:pt x="5772151" y="0"/>
                </a:lnTo>
                <a:cubicBezTo>
                  <a:pt x="5814234" y="0"/>
                  <a:pt x="5848350" y="34116"/>
                  <a:pt x="5848350" y="76199"/>
                </a:cubicBezTo>
                <a:lnTo>
                  <a:pt x="5848350" y="609601"/>
                </a:lnTo>
                <a:cubicBezTo>
                  <a:pt x="5848350" y="651684"/>
                  <a:pt x="5814234" y="685800"/>
                  <a:pt x="57721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71575" y="239077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025" y="25431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552575" y="2505075"/>
            <a:ext cx="5429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Think of it as a "network of networks" where machines exchange data seamlessly over long distances.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3395663"/>
            <a:ext cx="6791325" cy="1724025"/>
          </a:xfrm>
          <a:custGeom>
            <a:avLst/>
            <a:gdLst/>
            <a:ahLst/>
            <a:cxnLst/>
            <a:rect l="l" t="t" r="r" b="b"/>
            <a:pathLst>
              <a:path w="6791325" h="1724025">
                <a:moveTo>
                  <a:pt x="114303" y="0"/>
                </a:moveTo>
                <a:lnTo>
                  <a:pt x="6677022" y="0"/>
                </a:lnTo>
                <a:cubicBezTo>
                  <a:pt x="6740108" y="0"/>
                  <a:pt x="6791325" y="51217"/>
                  <a:pt x="6791325" y="114303"/>
                </a:cubicBezTo>
                <a:lnTo>
                  <a:pt x="6791325" y="1609722"/>
                </a:lnTo>
                <a:cubicBezTo>
                  <a:pt x="6791325" y="1672808"/>
                  <a:pt x="6740108" y="1724025"/>
                  <a:pt x="667702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738" y="36004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552825"/>
            <a:ext cx="634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Characteristics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2925" y="3971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39366" y="40576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-8334"/>
                </a:moveTo>
                <a:cubicBezTo>
                  <a:pt x="37947" y="-8334"/>
                  <a:pt x="41672" y="-4610"/>
                  <a:pt x="41672" y="0"/>
                </a:cubicBezTo>
                <a:lnTo>
                  <a:pt x="41672" y="25003"/>
                </a:lnTo>
                <a:lnTo>
                  <a:pt x="75009" y="25003"/>
                </a:lnTo>
                <a:lnTo>
                  <a:pt x="75009" y="0"/>
                </a:lnTo>
                <a:cubicBezTo>
                  <a:pt x="75009" y="-4610"/>
                  <a:pt x="78734" y="-8334"/>
                  <a:pt x="83344" y="-8334"/>
                </a:cubicBezTo>
                <a:cubicBezTo>
                  <a:pt x="87954" y="-8334"/>
                  <a:pt x="91678" y="-4610"/>
                  <a:pt x="91678" y="0"/>
                </a:cubicBezTo>
                <a:lnTo>
                  <a:pt x="91678" y="25003"/>
                </a:lnTo>
                <a:lnTo>
                  <a:pt x="108347" y="25003"/>
                </a:lnTo>
                <a:cubicBezTo>
                  <a:pt x="112957" y="25003"/>
                  <a:pt x="116681" y="28728"/>
                  <a:pt x="116681" y="33337"/>
                </a:cubicBezTo>
                <a:cubicBezTo>
                  <a:pt x="116681" y="37947"/>
                  <a:pt x="112957" y="41672"/>
                  <a:pt x="108347" y="41672"/>
                </a:cubicBezTo>
                <a:lnTo>
                  <a:pt x="108347" y="58341"/>
                </a:lnTo>
                <a:cubicBezTo>
                  <a:pt x="108347" y="83109"/>
                  <a:pt x="90324" y="103685"/>
                  <a:pt x="66675" y="107644"/>
                </a:cubicBezTo>
                <a:lnTo>
                  <a:pt x="66675" y="125016"/>
                </a:lnTo>
                <a:cubicBezTo>
                  <a:pt x="66675" y="129626"/>
                  <a:pt x="62951" y="133350"/>
                  <a:pt x="58341" y="133350"/>
                </a:cubicBezTo>
                <a:cubicBezTo>
                  <a:pt x="53731" y="133350"/>
                  <a:pt x="50006" y="129626"/>
                  <a:pt x="50006" y="125016"/>
                </a:cubicBezTo>
                <a:lnTo>
                  <a:pt x="50006" y="107644"/>
                </a:lnTo>
                <a:cubicBezTo>
                  <a:pt x="26357" y="103685"/>
                  <a:pt x="8334" y="83109"/>
                  <a:pt x="8334" y="58341"/>
                </a:cubicBez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25003" y="25003"/>
                </a:lnTo>
                <a:lnTo>
                  <a:pt x="25003" y="0"/>
                </a:lnTo>
                <a:cubicBezTo>
                  <a:pt x="25003" y="-4610"/>
                  <a:pt x="28728" y="-8334"/>
                  <a:pt x="33337" y="-833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962025" y="3933825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Protocols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2025" y="4200525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TCP/IP ensures universal communication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36640" y="3971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924746" y="4057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0013" y="50006"/>
                </a:moveTo>
                <a:cubicBezTo>
                  <a:pt x="113816" y="50006"/>
                  <a:pt x="125016" y="38807"/>
                  <a:pt x="125016" y="25003"/>
                </a:cubicBezTo>
                <a:cubicBezTo>
                  <a:pt x="125016" y="11199"/>
                  <a:pt x="113816" y="0"/>
                  <a:pt x="100013" y="0"/>
                </a:cubicBezTo>
                <a:cubicBezTo>
                  <a:pt x="86209" y="0"/>
                  <a:pt x="75009" y="11199"/>
                  <a:pt x="75009" y="25003"/>
                </a:cubicBezTo>
                <a:cubicBezTo>
                  <a:pt x="75009" y="26410"/>
                  <a:pt x="75140" y="27816"/>
                  <a:pt x="75348" y="29170"/>
                </a:cubicBezTo>
                <a:lnTo>
                  <a:pt x="41568" y="47949"/>
                </a:lnTo>
                <a:cubicBezTo>
                  <a:pt x="37166" y="44042"/>
                  <a:pt x="31358" y="41672"/>
                  <a:pt x="25003" y="41672"/>
                </a:cubicBezTo>
                <a:cubicBezTo>
                  <a:pt x="11199" y="41672"/>
                  <a:pt x="0" y="52871"/>
                  <a:pt x="0" y="66675"/>
                </a:cubicBezTo>
                <a:cubicBezTo>
                  <a:pt x="0" y="80479"/>
                  <a:pt x="11199" y="91678"/>
                  <a:pt x="25003" y="91678"/>
                </a:cubicBezTo>
                <a:cubicBezTo>
                  <a:pt x="31358" y="91678"/>
                  <a:pt x="37140" y="89308"/>
                  <a:pt x="41568" y="85401"/>
                </a:cubicBezTo>
                <a:lnTo>
                  <a:pt x="75348" y="104180"/>
                </a:lnTo>
                <a:cubicBezTo>
                  <a:pt x="75114" y="105534"/>
                  <a:pt x="75009" y="106914"/>
                  <a:pt x="75009" y="108347"/>
                </a:cubicBezTo>
                <a:cubicBezTo>
                  <a:pt x="75009" y="122151"/>
                  <a:pt x="86209" y="133350"/>
                  <a:pt x="100013" y="133350"/>
                </a:cubicBezTo>
                <a:cubicBezTo>
                  <a:pt x="113816" y="133350"/>
                  <a:pt x="125016" y="122151"/>
                  <a:pt x="125016" y="108347"/>
                </a:cubicBezTo>
                <a:cubicBezTo>
                  <a:pt x="125016" y="94543"/>
                  <a:pt x="113816" y="83344"/>
                  <a:pt x="100013" y="83344"/>
                </a:cubicBezTo>
                <a:cubicBezTo>
                  <a:pt x="93658" y="83344"/>
                  <a:pt x="87876" y="85714"/>
                  <a:pt x="83448" y="89621"/>
                </a:cubicBezTo>
                <a:lnTo>
                  <a:pt x="49668" y="70842"/>
                </a:lnTo>
                <a:cubicBezTo>
                  <a:pt x="49902" y="69488"/>
                  <a:pt x="50006" y="68107"/>
                  <a:pt x="50006" y="66675"/>
                </a:cubicBezTo>
                <a:cubicBezTo>
                  <a:pt x="50006" y="65243"/>
                  <a:pt x="49876" y="63862"/>
                  <a:pt x="49668" y="62508"/>
                </a:cubicBezTo>
                <a:lnTo>
                  <a:pt x="83448" y="43729"/>
                </a:lnTo>
                <a:cubicBezTo>
                  <a:pt x="87850" y="47636"/>
                  <a:pt x="93658" y="50006"/>
                  <a:pt x="100013" y="5000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255740" y="3933825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Sharing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255740" y="4200525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Data, files, and services distributed globally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2925" y="4543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31031" y="4629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20836"/>
                </a:moveTo>
                <a:cubicBezTo>
                  <a:pt x="0" y="13934"/>
                  <a:pt x="5600" y="8334"/>
                  <a:pt x="12502" y="8334"/>
                </a:cubicBezTo>
                <a:lnTo>
                  <a:pt x="37505" y="8334"/>
                </a:lnTo>
                <a:cubicBezTo>
                  <a:pt x="44407" y="8334"/>
                  <a:pt x="50006" y="13934"/>
                  <a:pt x="50006" y="20836"/>
                </a:cubicBezTo>
                <a:lnTo>
                  <a:pt x="50006" y="25003"/>
                </a:lnTo>
                <a:lnTo>
                  <a:pt x="83344" y="25003"/>
                </a:lnTo>
                <a:lnTo>
                  <a:pt x="83344" y="20836"/>
                </a:lnTo>
                <a:cubicBezTo>
                  <a:pt x="83344" y="13934"/>
                  <a:pt x="88943" y="8334"/>
                  <a:pt x="95845" y="8334"/>
                </a:cubicBezTo>
                <a:lnTo>
                  <a:pt x="120848" y="8334"/>
                </a:lnTo>
                <a:cubicBezTo>
                  <a:pt x="127750" y="8334"/>
                  <a:pt x="133350" y="13934"/>
                  <a:pt x="133350" y="20836"/>
                </a:cubicBezTo>
                <a:lnTo>
                  <a:pt x="133350" y="45839"/>
                </a:lnTo>
                <a:cubicBezTo>
                  <a:pt x="133350" y="52741"/>
                  <a:pt x="127750" y="58341"/>
                  <a:pt x="120848" y="58341"/>
                </a:cubicBezTo>
                <a:lnTo>
                  <a:pt x="95845" y="58341"/>
                </a:lnTo>
                <a:cubicBezTo>
                  <a:pt x="88943" y="58341"/>
                  <a:pt x="83344" y="52741"/>
                  <a:pt x="83344" y="45839"/>
                </a:cubicBezTo>
                <a:lnTo>
                  <a:pt x="83344" y="41672"/>
                </a:lnTo>
                <a:lnTo>
                  <a:pt x="50006" y="41672"/>
                </a:lnTo>
                <a:lnTo>
                  <a:pt x="50006" y="45839"/>
                </a:lnTo>
                <a:cubicBezTo>
                  <a:pt x="50006" y="47740"/>
                  <a:pt x="49563" y="49563"/>
                  <a:pt x="48808" y="51178"/>
                </a:cubicBezTo>
                <a:lnTo>
                  <a:pt x="66675" y="75009"/>
                </a:lnTo>
                <a:lnTo>
                  <a:pt x="87511" y="75009"/>
                </a:lnTo>
                <a:cubicBezTo>
                  <a:pt x="94413" y="75009"/>
                  <a:pt x="100013" y="80609"/>
                  <a:pt x="100013" y="87511"/>
                </a:cubicBezTo>
                <a:lnTo>
                  <a:pt x="100013" y="112514"/>
                </a:lnTo>
                <a:cubicBezTo>
                  <a:pt x="100013" y="119416"/>
                  <a:pt x="94413" y="125016"/>
                  <a:pt x="87511" y="125016"/>
                </a:cubicBezTo>
                <a:lnTo>
                  <a:pt x="62508" y="125016"/>
                </a:lnTo>
                <a:cubicBezTo>
                  <a:pt x="55606" y="125016"/>
                  <a:pt x="50006" y="119416"/>
                  <a:pt x="50006" y="112514"/>
                </a:cubicBezTo>
                <a:lnTo>
                  <a:pt x="50006" y="87511"/>
                </a:lnTo>
                <a:cubicBezTo>
                  <a:pt x="50006" y="85610"/>
                  <a:pt x="50449" y="83787"/>
                  <a:pt x="51204" y="82172"/>
                </a:cubicBezTo>
                <a:lnTo>
                  <a:pt x="33337" y="58341"/>
                </a:lnTo>
                <a:lnTo>
                  <a:pt x="12502" y="58341"/>
                </a:lnTo>
                <a:cubicBezTo>
                  <a:pt x="5600" y="58341"/>
                  <a:pt x="0" y="52741"/>
                  <a:pt x="0" y="45839"/>
                </a:cubicBezTo>
                <a:lnTo>
                  <a:pt x="0" y="2083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962025" y="4505325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Decentralized Structure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2025" y="4772025"/>
            <a:ext cx="208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single point of control or failure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36640" y="4543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33081" y="46291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43755" y="8334"/>
                </a:moveTo>
                <a:lnTo>
                  <a:pt x="6251" y="8334"/>
                </a:lnTo>
                <a:cubicBezTo>
                  <a:pt x="2787" y="8334"/>
                  <a:pt x="0" y="11121"/>
                  <a:pt x="0" y="14585"/>
                </a:cubicBezTo>
                <a:lnTo>
                  <a:pt x="0" y="52090"/>
                </a:lnTo>
                <a:cubicBezTo>
                  <a:pt x="0" y="54616"/>
                  <a:pt x="1511" y="56908"/>
                  <a:pt x="3855" y="57872"/>
                </a:cubicBezTo>
                <a:cubicBezTo>
                  <a:pt x="6199" y="58835"/>
                  <a:pt x="8881" y="58289"/>
                  <a:pt x="10678" y="56517"/>
                </a:cubicBezTo>
                <a:lnTo>
                  <a:pt x="21096" y="46100"/>
                </a:lnTo>
                <a:lnTo>
                  <a:pt x="41672" y="66675"/>
                </a:lnTo>
                <a:lnTo>
                  <a:pt x="21096" y="87250"/>
                </a:lnTo>
                <a:lnTo>
                  <a:pt x="10678" y="76833"/>
                </a:lnTo>
                <a:cubicBezTo>
                  <a:pt x="8881" y="75035"/>
                  <a:pt x="6199" y="74515"/>
                  <a:pt x="3855" y="75478"/>
                </a:cubicBezTo>
                <a:cubicBezTo>
                  <a:pt x="1511" y="76442"/>
                  <a:pt x="0" y="78734"/>
                  <a:pt x="0" y="81260"/>
                </a:cubicBezTo>
                <a:lnTo>
                  <a:pt x="0" y="118765"/>
                </a:lnTo>
                <a:cubicBezTo>
                  <a:pt x="0" y="122229"/>
                  <a:pt x="2787" y="125016"/>
                  <a:pt x="6251" y="125016"/>
                </a:cubicBezTo>
                <a:lnTo>
                  <a:pt x="43755" y="125016"/>
                </a:lnTo>
                <a:cubicBezTo>
                  <a:pt x="46282" y="125016"/>
                  <a:pt x="48574" y="123505"/>
                  <a:pt x="49537" y="121161"/>
                </a:cubicBezTo>
                <a:cubicBezTo>
                  <a:pt x="50501" y="118817"/>
                  <a:pt x="49980" y="116134"/>
                  <a:pt x="48183" y="114337"/>
                </a:cubicBezTo>
                <a:lnTo>
                  <a:pt x="37765" y="103919"/>
                </a:lnTo>
                <a:lnTo>
                  <a:pt x="58341" y="83344"/>
                </a:lnTo>
                <a:lnTo>
                  <a:pt x="78916" y="103919"/>
                </a:lnTo>
                <a:lnTo>
                  <a:pt x="68498" y="114337"/>
                </a:lnTo>
                <a:cubicBezTo>
                  <a:pt x="66701" y="116134"/>
                  <a:pt x="66180" y="118817"/>
                  <a:pt x="67144" y="121161"/>
                </a:cubicBezTo>
                <a:cubicBezTo>
                  <a:pt x="68107" y="123505"/>
                  <a:pt x="70399" y="125016"/>
                  <a:pt x="72926" y="125016"/>
                </a:cubicBezTo>
                <a:lnTo>
                  <a:pt x="110430" y="125016"/>
                </a:lnTo>
                <a:cubicBezTo>
                  <a:pt x="113894" y="125016"/>
                  <a:pt x="116681" y="122229"/>
                  <a:pt x="116681" y="118765"/>
                </a:cubicBezTo>
                <a:lnTo>
                  <a:pt x="116681" y="81260"/>
                </a:lnTo>
                <a:cubicBezTo>
                  <a:pt x="116681" y="78734"/>
                  <a:pt x="115171" y="76442"/>
                  <a:pt x="112827" y="75478"/>
                </a:cubicBezTo>
                <a:cubicBezTo>
                  <a:pt x="110483" y="74515"/>
                  <a:pt x="107800" y="75035"/>
                  <a:pt x="106003" y="76833"/>
                </a:cubicBezTo>
                <a:lnTo>
                  <a:pt x="95585" y="87250"/>
                </a:lnTo>
                <a:lnTo>
                  <a:pt x="75009" y="66675"/>
                </a:lnTo>
                <a:lnTo>
                  <a:pt x="95585" y="46100"/>
                </a:lnTo>
                <a:lnTo>
                  <a:pt x="106003" y="56517"/>
                </a:lnTo>
                <a:cubicBezTo>
                  <a:pt x="107800" y="58315"/>
                  <a:pt x="110483" y="58835"/>
                  <a:pt x="112827" y="57872"/>
                </a:cubicBezTo>
                <a:cubicBezTo>
                  <a:pt x="115171" y="56908"/>
                  <a:pt x="116681" y="54616"/>
                  <a:pt x="116681" y="52090"/>
                </a:cubicBezTo>
                <a:lnTo>
                  <a:pt x="116681" y="14585"/>
                </a:lnTo>
                <a:cubicBezTo>
                  <a:pt x="116681" y="11121"/>
                  <a:pt x="113894" y="8334"/>
                  <a:pt x="110430" y="8334"/>
                </a:cubicBezTo>
                <a:lnTo>
                  <a:pt x="72926" y="8334"/>
                </a:lnTo>
                <a:cubicBezTo>
                  <a:pt x="70399" y="8334"/>
                  <a:pt x="68107" y="9845"/>
                  <a:pt x="67144" y="12189"/>
                </a:cubicBezTo>
                <a:cubicBezTo>
                  <a:pt x="66180" y="14533"/>
                  <a:pt x="66727" y="17216"/>
                  <a:pt x="68498" y="19013"/>
                </a:cubicBezTo>
                <a:lnTo>
                  <a:pt x="78916" y="29431"/>
                </a:lnTo>
                <a:lnTo>
                  <a:pt x="58341" y="50006"/>
                </a:lnTo>
                <a:lnTo>
                  <a:pt x="37765" y="29431"/>
                </a:lnTo>
                <a:lnTo>
                  <a:pt x="48183" y="19013"/>
                </a:lnTo>
                <a:cubicBezTo>
                  <a:pt x="49980" y="17216"/>
                  <a:pt x="50501" y="14533"/>
                  <a:pt x="49537" y="12189"/>
                </a:cubicBezTo>
                <a:cubicBezTo>
                  <a:pt x="48574" y="9845"/>
                  <a:pt x="46282" y="8334"/>
                  <a:pt x="43755" y="833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4255740" y="4505325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55740" y="4772025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Billions of devices can connect simultaneously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35143" y="1033462"/>
            <a:ext cx="4467225" cy="3914775"/>
          </a:xfrm>
          <a:custGeom>
            <a:avLst/>
            <a:gdLst/>
            <a:ahLst/>
            <a:cxnLst/>
            <a:rect l="l" t="t" r="r" b="b"/>
            <a:pathLst>
              <a:path w="4467225" h="3914775">
                <a:moveTo>
                  <a:pt x="114311" y="0"/>
                </a:moveTo>
                <a:lnTo>
                  <a:pt x="4352914" y="0"/>
                </a:lnTo>
                <a:cubicBezTo>
                  <a:pt x="4416046" y="0"/>
                  <a:pt x="4467225" y="51179"/>
                  <a:pt x="4467225" y="114311"/>
                </a:cubicBezTo>
                <a:lnTo>
                  <a:pt x="4467225" y="3800464"/>
                </a:lnTo>
                <a:cubicBezTo>
                  <a:pt x="4467225" y="3863596"/>
                  <a:pt x="4416046" y="3914775"/>
                  <a:pt x="4352914" y="3914775"/>
                </a:cubicBezTo>
                <a:lnTo>
                  <a:pt x="114311" y="3914775"/>
                </a:lnTo>
                <a:cubicBezTo>
                  <a:pt x="51179" y="3914775"/>
                  <a:pt x="0" y="3863596"/>
                  <a:pt x="0" y="3800464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16118" y="1238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7711380" y="1190625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Communication Flow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894141" y="26860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8084641" y="2705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894141" y="297180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1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618041" y="28956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1" name="Shape 39"/>
          <p:cNvSpPr/>
          <p:nvPr/>
        </p:nvSpPr>
        <p:spPr>
          <a:xfrm>
            <a:off x="8858548" y="2952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9341941" y="2495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3" name="Shape 41"/>
          <p:cNvSpPr/>
          <p:nvPr/>
        </p:nvSpPr>
        <p:spPr>
          <a:xfrm>
            <a:off x="9487198" y="2638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2067" y="76516"/>
                </a:moveTo>
                <a:cubicBezTo>
                  <a:pt x="26521" y="45374"/>
                  <a:pt x="53344" y="21431"/>
                  <a:pt x="85725" y="21431"/>
                </a:cubicBezTo>
                <a:cubicBezTo>
                  <a:pt x="103473" y="21431"/>
                  <a:pt x="119546" y="28631"/>
                  <a:pt x="131199" y="40251"/>
                </a:cubicBezTo>
                <a:cubicBezTo>
                  <a:pt x="131266" y="40318"/>
                  <a:pt x="131333" y="40385"/>
                  <a:pt x="131400" y="40451"/>
                </a:cubicBezTo>
                <a:lnTo>
                  <a:pt x="133945" y="42863"/>
                </a:lnTo>
                <a:lnTo>
                  <a:pt x="117905" y="42863"/>
                </a:lnTo>
                <a:cubicBezTo>
                  <a:pt x="111978" y="42863"/>
                  <a:pt x="107190" y="47651"/>
                  <a:pt x="107190" y="53578"/>
                </a:cubicBezTo>
                <a:cubicBezTo>
                  <a:pt x="107190" y="59505"/>
                  <a:pt x="111978" y="64294"/>
                  <a:pt x="117905" y="64294"/>
                </a:cubicBezTo>
                <a:lnTo>
                  <a:pt x="160768" y="64294"/>
                </a:lnTo>
                <a:cubicBezTo>
                  <a:pt x="166695" y="64294"/>
                  <a:pt x="171483" y="59505"/>
                  <a:pt x="171483" y="53578"/>
                </a:cubicBezTo>
                <a:lnTo>
                  <a:pt x="171483" y="10716"/>
                </a:lnTo>
                <a:cubicBezTo>
                  <a:pt x="171483" y="4789"/>
                  <a:pt x="166695" y="0"/>
                  <a:pt x="160768" y="0"/>
                </a:cubicBezTo>
                <a:cubicBezTo>
                  <a:pt x="154841" y="0"/>
                  <a:pt x="150052" y="4789"/>
                  <a:pt x="150052" y="10716"/>
                </a:cubicBezTo>
                <a:lnTo>
                  <a:pt x="150052" y="28597"/>
                </a:lnTo>
                <a:lnTo>
                  <a:pt x="146268" y="25014"/>
                </a:lnTo>
                <a:cubicBezTo>
                  <a:pt x="130764" y="9577"/>
                  <a:pt x="109333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lose/>
                <a:moveTo>
                  <a:pt x="170579" y="97948"/>
                </a:moveTo>
                <a:cubicBezTo>
                  <a:pt x="171417" y="92087"/>
                  <a:pt x="167331" y="86663"/>
                  <a:pt x="161505" y="85825"/>
                </a:cubicBezTo>
                <a:cubicBezTo>
                  <a:pt x="155678" y="84988"/>
                  <a:pt x="150220" y="89074"/>
                  <a:pt x="149383" y="94900"/>
                </a:cubicBezTo>
                <a:cubicBezTo>
                  <a:pt x="144929" y="126043"/>
                  <a:pt x="118106" y="149985"/>
                  <a:pt x="85725" y="149985"/>
                </a:cubicBezTo>
                <a:cubicBezTo>
                  <a:pt x="67977" y="149985"/>
                  <a:pt x="51904" y="142786"/>
                  <a:pt x="40251" y="131166"/>
                </a:cubicBezTo>
                <a:cubicBezTo>
                  <a:pt x="40184" y="131099"/>
                  <a:pt x="40117" y="131032"/>
                  <a:pt x="40050" y="130965"/>
                </a:cubicBezTo>
                <a:lnTo>
                  <a:pt x="37505" y="128554"/>
                </a:lnTo>
                <a:lnTo>
                  <a:pt x="53545" y="128554"/>
                </a:lnTo>
                <a:cubicBezTo>
                  <a:pt x="59472" y="128554"/>
                  <a:pt x="64260" y="123765"/>
                  <a:pt x="64260" y="117838"/>
                </a:cubicBezTo>
                <a:cubicBezTo>
                  <a:pt x="64260" y="111911"/>
                  <a:pt x="59472" y="107123"/>
                  <a:pt x="53545" y="107123"/>
                </a:cubicBezTo>
                <a:lnTo>
                  <a:pt x="10716" y="107156"/>
                </a:lnTo>
                <a:cubicBezTo>
                  <a:pt x="7869" y="107156"/>
                  <a:pt x="5123" y="108295"/>
                  <a:pt x="3114" y="110337"/>
                </a:cubicBezTo>
                <a:cubicBezTo>
                  <a:pt x="1105" y="112380"/>
                  <a:pt x="-33" y="115093"/>
                  <a:pt x="0" y="117972"/>
                </a:cubicBezTo>
                <a:lnTo>
                  <a:pt x="335" y="160500"/>
                </a:lnTo>
                <a:cubicBezTo>
                  <a:pt x="368" y="166427"/>
                  <a:pt x="5224" y="171182"/>
                  <a:pt x="11151" y="171115"/>
                </a:cubicBezTo>
                <a:cubicBezTo>
                  <a:pt x="17078" y="171048"/>
                  <a:pt x="21833" y="166226"/>
                  <a:pt x="21766" y="160299"/>
                </a:cubicBezTo>
                <a:lnTo>
                  <a:pt x="21632" y="143054"/>
                </a:lnTo>
                <a:lnTo>
                  <a:pt x="25215" y="146436"/>
                </a:lnTo>
                <a:cubicBezTo>
                  <a:pt x="40719" y="161873"/>
                  <a:pt x="62117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4" name="Shape 42"/>
          <p:cNvSpPr/>
          <p:nvPr/>
        </p:nvSpPr>
        <p:spPr>
          <a:xfrm>
            <a:off x="9341941" y="3028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5" name="Shape 43"/>
          <p:cNvSpPr/>
          <p:nvPr/>
        </p:nvSpPr>
        <p:spPr>
          <a:xfrm>
            <a:off x="9487198" y="3171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2067" y="76516"/>
                </a:moveTo>
                <a:cubicBezTo>
                  <a:pt x="26521" y="45374"/>
                  <a:pt x="53344" y="21431"/>
                  <a:pt x="85725" y="21431"/>
                </a:cubicBezTo>
                <a:cubicBezTo>
                  <a:pt x="103473" y="21431"/>
                  <a:pt x="119546" y="28631"/>
                  <a:pt x="131199" y="40251"/>
                </a:cubicBezTo>
                <a:cubicBezTo>
                  <a:pt x="131266" y="40318"/>
                  <a:pt x="131333" y="40385"/>
                  <a:pt x="131400" y="40451"/>
                </a:cubicBezTo>
                <a:lnTo>
                  <a:pt x="133945" y="42863"/>
                </a:lnTo>
                <a:lnTo>
                  <a:pt x="117905" y="42863"/>
                </a:lnTo>
                <a:cubicBezTo>
                  <a:pt x="111978" y="42863"/>
                  <a:pt x="107190" y="47651"/>
                  <a:pt x="107190" y="53578"/>
                </a:cubicBezTo>
                <a:cubicBezTo>
                  <a:pt x="107190" y="59505"/>
                  <a:pt x="111978" y="64294"/>
                  <a:pt x="117905" y="64294"/>
                </a:cubicBezTo>
                <a:lnTo>
                  <a:pt x="160768" y="64294"/>
                </a:lnTo>
                <a:cubicBezTo>
                  <a:pt x="166695" y="64294"/>
                  <a:pt x="171483" y="59505"/>
                  <a:pt x="171483" y="53578"/>
                </a:cubicBezTo>
                <a:lnTo>
                  <a:pt x="171483" y="10716"/>
                </a:lnTo>
                <a:cubicBezTo>
                  <a:pt x="171483" y="4789"/>
                  <a:pt x="166695" y="0"/>
                  <a:pt x="160768" y="0"/>
                </a:cubicBezTo>
                <a:cubicBezTo>
                  <a:pt x="154841" y="0"/>
                  <a:pt x="150052" y="4789"/>
                  <a:pt x="150052" y="10716"/>
                </a:cubicBezTo>
                <a:lnTo>
                  <a:pt x="150052" y="28597"/>
                </a:lnTo>
                <a:lnTo>
                  <a:pt x="146268" y="25014"/>
                </a:lnTo>
                <a:cubicBezTo>
                  <a:pt x="130764" y="9577"/>
                  <a:pt x="109333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lose/>
                <a:moveTo>
                  <a:pt x="170579" y="97948"/>
                </a:moveTo>
                <a:cubicBezTo>
                  <a:pt x="171417" y="92087"/>
                  <a:pt x="167331" y="86663"/>
                  <a:pt x="161505" y="85825"/>
                </a:cubicBezTo>
                <a:cubicBezTo>
                  <a:pt x="155678" y="84988"/>
                  <a:pt x="150220" y="89074"/>
                  <a:pt x="149383" y="94900"/>
                </a:cubicBezTo>
                <a:cubicBezTo>
                  <a:pt x="144929" y="126043"/>
                  <a:pt x="118106" y="149985"/>
                  <a:pt x="85725" y="149985"/>
                </a:cubicBezTo>
                <a:cubicBezTo>
                  <a:pt x="67977" y="149985"/>
                  <a:pt x="51904" y="142786"/>
                  <a:pt x="40251" y="131166"/>
                </a:cubicBezTo>
                <a:cubicBezTo>
                  <a:pt x="40184" y="131099"/>
                  <a:pt x="40117" y="131032"/>
                  <a:pt x="40050" y="130965"/>
                </a:cubicBezTo>
                <a:lnTo>
                  <a:pt x="37505" y="128554"/>
                </a:lnTo>
                <a:lnTo>
                  <a:pt x="53545" y="128554"/>
                </a:lnTo>
                <a:cubicBezTo>
                  <a:pt x="59472" y="128554"/>
                  <a:pt x="64260" y="123765"/>
                  <a:pt x="64260" y="117838"/>
                </a:cubicBezTo>
                <a:cubicBezTo>
                  <a:pt x="64260" y="111911"/>
                  <a:pt x="59472" y="107123"/>
                  <a:pt x="53545" y="107123"/>
                </a:cubicBezTo>
                <a:lnTo>
                  <a:pt x="10716" y="107156"/>
                </a:lnTo>
                <a:cubicBezTo>
                  <a:pt x="7869" y="107156"/>
                  <a:pt x="5123" y="108295"/>
                  <a:pt x="3114" y="110337"/>
                </a:cubicBezTo>
                <a:cubicBezTo>
                  <a:pt x="1105" y="112380"/>
                  <a:pt x="-33" y="115093"/>
                  <a:pt x="0" y="117972"/>
                </a:cubicBezTo>
                <a:lnTo>
                  <a:pt x="335" y="160500"/>
                </a:lnTo>
                <a:cubicBezTo>
                  <a:pt x="368" y="166427"/>
                  <a:pt x="5224" y="171182"/>
                  <a:pt x="11151" y="171115"/>
                </a:cubicBezTo>
                <a:cubicBezTo>
                  <a:pt x="17078" y="171048"/>
                  <a:pt x="21833" y="166226"/>
                  <a:pt x="21766" y="160299"/>
                </a:cubicBezTo>
                <a:lnTo>
                  <a:pt x="21632" y="143054"/>
                </a:lnTo>
                <a:lnTo>
                  <a:pt x="25215" y="146436"/>
                </a:lnTo>
                <a:cubicBezTo>
                  <a:pt x="40719" y="161873"/>
                  <a:pt x="62117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6" name="Shape 44"/>
          <p:cNvSpPr/>
          <p:nvPr/>
        </p:nvSpPr>
        <p:spPr>
          <a:xfrm>
            <a:off x="9913441" y="28956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7" name="Shape 45"/>
          <p:cNvSpPr/>
          <p:nvPr/>
        </p:nvSpPr>
        <p:spPr>
          <a:xfrm>
            <a:off x="10153948" y="2952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10637341" y="26860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/>
              </a:gs>
              <a:gs pos="100000">
                <a:srgbClr val="8D99AE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9" name="Shape 47"/>
          <p:cNvSpPr/>
          <p:nvPr/>
        </p:nvSpPr>
        <p:spPr>
          <a:xfrm>
            <a:off x="10827841" y="2705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10637341" y="297180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4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708255" y="3714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2" name="Text 50"/>
          <p:cNvSpPr/>
          <p:nvPr/>
        </p:nvSpPr>
        <p:spPr>
          <a:xfrm>
            <a:off x="7658993" y="3676650"/>
            <a:ext cx="401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travels through multiple routers to reach its destination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35143" y="5110163"/>
            <a:ext cx="4467225" cy="1362075"/>
          </a:xfrm>
          <a:custGeom>
            <a:avLst/>
            <a:gdLst/>
            <a:ahLst/>
            <a:cxnLst/>
            <a:rect l="l" t="t" r="r" b="b"/>
            <a:pathLst>
              <a:path w="4467225" h="1362075">
                <a:moveTo>
                  <a:pt x="114305" y="0"/>
                </a:moveTo>
                <a:lnTo>
                  <a:pt x="4352920" y="0"/>
                </a:lnTo>
                <a:cubicBezTo>
                  <a:pt x="4416049" y="0"/>
                  <a:pt x="4467225" y="51176"/>
                  <a:pt x="4467225" y="114305"/>
                </a:cubicBezTo>
                <a:lnTo>
                  <a:pt x="4467225" y="1247770"/>
                </a:lnTo>
                <a:cubicBezTo>
                  <a:pt x="4467225" y="1310899"/>
                  <a:pt x="4416049" y="1362075"/>
                  <a:pt x="4352920" y="1362075"/>
                </a:cubicBezTo>
                <a:lnTo>
                  <a:pt x="114305" y="1362075"/>
                </a:lnTo>
                <a:cubicBezTo>
                  <a:pt x="51176" y="1362075"/>
                  <a:pt x="0" y="1310899"/>
                  <a:pt x="0" y="1247770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92305" y="53054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5" name="Text 53"/>
          <p:cNvSpPr/>
          <p:nvPr/>
        </p:nvSpPr>
        <p:spPr>
          <a:xfrm>
            <a:off x="7682805" y="5267325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Broader Context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492305" y="5572125"/>
            <a:ext cx="4229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Concept: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network is any group of interconnected items.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media connections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transportation systems, and communication channels all form networks.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76101" y="43815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5962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Beginning: Cold War &amp; Sputnik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033462"/>
            <a:ext cx="5629275" cy="2257425"/>
          </a:xfrm>
          <a:custGeom>
            <a:avLst/>
            <a:gdLst/>
            <a:ahLst/>
            <a:cxnLst/>
            <a:rect l="l" t="t" r="r" b="b"/>
            <a:pathLst>
              <a:path w="5629275" h="2257425">
                <a:moveTo>
                  <a:pt x="114293" y="0"/>
                </a:moveTo>
                <a:lnTo>
                  <a:pt x="5514982" y="0"/>
                </a:lnTo>
                <a:cubicBezTo>
                  <a:pt x="5578062" y="0"/>
                  <a:pt x="5629275" y="51213"/>
                  <a:pt x="5629275" y="114293"/>
                </a:cubicBezTo>
                <a:lnTo>
                  <a:pt x="5629275" y="2143132"/>
                </a:lnTo>
                <a:cubicBezTo>
                  <a:pt x="5629275" y="2206212"/>
                  <a:pt x="5578062" y="2257425"/>
                  <a:pt x="5514982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2925" y="1190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695325" y="1343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8850" y="3125"/>
                </a:moveTo>
                <a:cubicBezTo>
                  <a:pt x="93047" y="-1072"/>
                  <a:pt x="99834" y="-1072"/>
                  <a:pt x="103986" y="3125"/>
                </a:cubicBezTo>
                <a:lnTo>
                  <a:pt x="143902" y="43041"/>
                </a:lnTo>
                <a:lnTo>
                  <a:pt x="168459" y="18484"/>
                </a:lnTo>
                <a:cubicBezTo>
                  <a:pt x="174040" y="12903"/>
                  <a:pt x="183103" y="12903"/>
                  <a:pt x="188684" y="18484"/>
                </a:cubicBezTo>
                <a:lnTo>
                  <a:pt x="210116" y="39916"/>
                </a:lnTo>
                <a:cubicBezTo>
                  <a:pt x="215697" y="45497"/>
                  <a:pt x="215697" y="54560"/>
                  <a:pt x="210116" y="60141"/>
                </a:cubicBezTo>
                <a:lnTo>
                  <a:pt x="185559" y="84698"/>
                </a:lnTo>
                <a:lnTo>
                  <a:pt x="225475" y="124614"/>
                </a:lnTo>
                <a:cubicBezTo>
                  <a:pt x="229672" y="128811"/>
                  <a:pt x="229672" y="135597"/>
                  <a:pt x="225475" y="139750"/>
                </a:cubicBezTo>
                <a:lnTo>
                  <a:pt x="182612" y="182612"/>
                </a:lnTo>
                <a:cubicBezTo>
                  <a:pt x="178415" y="186809"/>
                  <a:pt x="171629" y="186809"/>
                  <a:pt x="167476" y="182612"/>
                </a:cubicBezTo>
                <a:lnTo>
                  <a:pt x="127561" y="142696"/>
                </a:lnTo>
                <a:lnTo>
                  <a:pt x="120640" y="149617"/>
                </a:lnTo>
                <a:cubicBezTo>
                  <a:pt x="125730" y="160600"/>
                  <a:pt x="128588" y="172834"/>
                  <a:pt x="128588" y="185738"/>
                </a:cubicBezTo>
                <a:cubicBezTo>
                  <a:pt x="128588" y="199891"/>
                  <a:pt x="125150" y="213196"/>
                  <a:pt x="119122" y="224939"/>
                </a:cubicBezTo>
                <a:cubicBezTo>
                  <a:pt x="117024" y="228957"/>
                  <a:pt x="111666" y="229538"/>
                  <a:pt x="108496" y="226323"/>
                </a:cubicBezTo>
                <a:lnTo>
                  <a:pt x="65499" y="183326"/>
                </a:lnTo>
                <a:lnTo>
                  <a:pt x="38710" y="210116"/>
                </a:lnTo>
                <a:cubicBezTo>
                  <a:pt x="33129" y="215697"/>
                  <a:pt x="24066" y="215697"/>
                  <a:pt x="18484" y="210116"/>
                </a:cubicBezTo>
                <a:cubicBezTo>
                  <a:pt x="12903" y="204534"/>
                  <a:pt x="12903" y="195471"/>
                  <a:pt x="18484" y="189890"/>
                </a:cubicBezTo>
                <a:lnTo>
                  <a:pt x="45274" y="163101"/>
                </a:lnTo>
                <a:lnTo>
                  <a:pt x="2277" y="120104"/>
                </a:lnTo>
                <a:cubicBezTo>
                  <a:pt x="-938" y="116890"/>
                  <a:pt x="-357" y="111532"/>
                  <a:pt x="3661" y="109478"/>
                </a:cubicBezTo>
                <a:cubicBezTo>
                  <a:pt x="15404" y="103406"/>
                  <a:pt x="28754" y="100013"/>
                  <a:pt x="42863" y="100013"/>
                </a:cubicBezTo>
                <a:cubicBezTo>
                  <a:pt x="55766" y="100013"/>
                  <a:pt x="68000" y="102870"/>
                  <a:pt x="78983" y="107960"/>
                </a:cubicBezTo>
                <a:lnTo>
                  <a:pt x="85904" y="101039"/>
                </a:lnTo>
                <a:lnTo>
                  <a:pt x="45988" y="61168"/>
                </a:lnTo>
                <a:cubicBezTo>
                  <a:pt x="41791" y="56971"/>
                  <a:pt x="41791" y="50185"/>
                  <a:pt x="45988" y="46033"/>
                </a:cubicBezTo>
                <a:lnTo>
                  <a:pt x="88850" y="3125"/>
                </a:lnTo>
                <a:close/>
                <a:moveTo>
                  <a:pt x="96441" y="25851"/>
                </a:moveTo>
                <a:lnTo>
                  <a:pt x="68714" y="53578"/>
                </a:lnTo>
                <a:lnTo>
                  <a:pt x="101039" y="85904"/>
                </a:lnTo>
                <a:lnTo>
                  <a:pt x="128766" y="58177"/>
                </a:lnTo>
                <a:lnTo>
                  <a:pt x="96441" y="25851"/>
                </a:lnTo>
                <a:close/>
                <a:moveTo>
                  <a:pt x="175022" y="159886"/>
                </a:moveTo>
                <a:lnTo>
                  <a:pt x="202749" y="132159"/>
                </a:lnTo>
                <a:lnTo>
                  <a:pt x="170423" y="99834"/>
                </a:lnTo>
                <a:lnTo>
                  <a:pt x="142696" y="127561"/>
                </a:lnTo>
                <a:lnTo>
                  <a:pt x="175022" y="15988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90625" y="1209675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October 4, 1957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90625" y="1400175"/>
            <a:ext cx="1704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Sputnik Shock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1838325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Soviet Union launched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Sputnik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 world's first artificial satellite. This tiny 58cm metal sphere triggered a technological awakening in the United States.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1975" y="2447925"/>
            <a:ext cx="5295900" cy="685800"/>
          </a:xfrm>
          <a:custGeom>
            <a:avLst/>
            <a:gdLst/>
            <a:ahLst/>
            <a:cxnLst/>
            <a:rect l="l" t="t" r="r" b="b"/>
            <a:pathLst>
              <a:path w="5295900" h="685800">
                <a:moveTo>
                  <a:pt x="38100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609601"/>
                </a:lnTo>
                <a:cubicBezTo>
                  <a:pt x="5295900" y="651684"/>
                  <a:pt x="5261784" y="685800"/>
                  <a:pt x="52197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61975" y="24479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714375" y="2600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942975" y="2562225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U.S. Response: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"Wait, they're beating us in space?" — A massive push to invest in science and technology ensued.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6963" y="1033462"/>
            <a:ext cx="5629275" cy="2257425"/>
          </a:xfrm>
          <a:custGeom>
            <a:avLst/>
            <a:gdLst/>
            <a:ahLst/>
            <a:cxnLst/>
            <a:rect l="l" t="t" r="r" b="b"/>
            <a:pathLst>
              <a:path w="5629275" h="2257425">
                <a:moveTo>
                  <a:pt x="114293" y="0"/>
                </a:moveTo>
                <a:lnTo>
                  <a:pt x="5514982" y="0"/>
                </a:lnTo>
                <a:cubicBezTo>
                  <a:pt x="5578062" y="0"/>
                  <a:pt x="5629275" y="51213"/>
                  <a:pt x="5629275" y="114293"/>
                </a:cubicBezTo>
                <a:lnTo>
                  <a:pt x="5629275" y="2143132"/>
                </a:lnTo>
                <a:cubicBezTo>
                  <a:pt x="5629275" y="2206212"/>
                  <a:pt x="5578062" y="2257425"/>
                  <a:pt x="5514982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4125" y="1190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/>
              </a:gs>
              <a:gs pos="100000">
                <a:srgbClr val="8D99AE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6486525" y="1343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6576" y="2277"/>
                </a:moveTo>
                <a:cubicBezTo>
                  <a:pt x="111264" y="-759"/>
                  <a:pt x="117336" y="-759"/>
                  <a:pt x="122024" y="2277"/>
                </a:cubicBezTo>
                <a:lnTo>
                  <a:pt x="222037" y="66571"/>
                </a:lnTo>
                <a:cubicBezTo>
                  <a:pt x="227350" y="70009"/>
                  <a:pt x="229806" y="76527"/>
                  <a:pt x="228020" y="82600"/>
                </a:cubicBezTo>
                <a:cubicBezTo>
                  <a:pt x="226234" y="88672"/>
                  <a:pt x="220653" y="92869"/>
                  <a:pt x="214313" y="92869"/>
                </a:cubicBezTo>
                <a:lnTo>
                  <a:pt x="200025" y="92869"/>
                </a:lnTo>
                <a:lnTo>
                  <a:pt x="200025" y="185738"/>
                </a:lnTo>
                <a:lnTo>
                  <a:pt x="222885" y="202883"/>
                </a:lnTo>
                <a:cubicBezTo>
                  <a:pt x="226502" y="205561"/>
                  <a:pt x="228600" y="209803"/>
                  <a:pt x="228600" y="214313"/>
                </a:cubicBezTo>
                <a:cubicBezTo>
                  <a:pt x="228600" y="222215"/>
                  <a:pt x="222215" y="228600"/>
                  <a:pt x="214313" y="228600"/>
                </a:cubicBezTo>
                <a:lnTo>
                  <a:pt x="14288" y="228600"/>
                </a:lnTo>
                <a:cubicBezTo>
                  <a:pt x="6385" y="228600"/>
                  <a:pt x="0" y="222215"/>
                  <a:pt x="0" y="214313"/>
                </a:cubicBezTo>
                <a:cubicBezTo>
                  <a:pt x="0" y="209803"/>
                  <a:pt x="2098" y="205561"/>
                  <a:pt x="5715" y="202883"/>
                </a:cubicBezTo>
                <a:lnTo>
                  <a:pt x="28575" y="185738"/>
                </a:lnTo>
                <a:lnTo>
                  <a:pt x="28575" y="185738"/>
                </a:lnTo>
                <a:lnTo>
                  <a:pt x="28575" y="92869"/>
                </a:lnTo>
                <a:lnTo>
                  <a:pt x="14288" y="92869"/>
                </a:lnTo>
                <a:cubicBezTo>
                  <a:pt x="7947" y="92869"/>
                  <a:pt x="2366" y="88672"/>
                  <a:pt x="580" y="82600"/>
                </a:cubicBezTo>
                <a:cubicBezTo>
                  <a:pt x="-1206" y="76527"/>
                  <a:pt x="1250" y="69964"/>
                  <a:pt x="6563" y="66571"/>
                </a:cubicBezTo>
                <a:lnTo>
                  <a:pt x="106576" y="2277"/>
                </a:lnTo>
                <a:close/>
                <a:moveTo>
                  <a:pt x="150019" y="92869"/>
                </a:moveTo>
                <a:lnTo>
                  <a:pt x="150019" y="185738"/>
                </a:lnTo>
                <a:lnTo>
                  <a:pt x="178594" y="185738"/>
                </a:lnTo>
                <a:lnTo>
                  <a:pt x="178594" y="92869"/>
                </a:lnTo>
                <a:lnTo>
                  <a:pt x="150019" y="92869"/>
                </a:lnTo>
                <a:close/>
                <a:moveTo>
                  <a:pt x="100013" y="185738"/>
                </a:moveTo>
                <a:lnTo>
                  <a:pt x="128588" y="185738"/>
                </a:lnTo>
                <a:lnTo>
                  <a:pt x="128588" y="92869"/>
                </a:lnTo>
                <a:lnTo>
                  <a:pt x="100013" y="92869"/>
                </a:lnTo>
                <a:lnTo>
                  <a:pt x="100013" y="185738"/>
                </a:lnTo>
                <a:close/>
                <a:moveTo>
                  <a:pt x="50006" y="92869"/>
                </a:moveTo>
                <a:lnTo>
                  <a:pt x="50006" y="185738"/>
                </a:lnTo>
                <a:lnTo>
                  <a:pt x="78581" y="185738"/>
                </a:lnTo>
                <a:lnTo>
                  <a:pt x="78581" y="92869"/>
                </a:lnTo>
                <a:lnTo>
                  <a:pt x="50006" y="928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981825" y="1209675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February 7, 1958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81825" y="1400175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ARPA Formation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34125" y="1838325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U.S. formed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ARPA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(Advanced Research Projects Agency) to fund cutting-edge research and ensure America wouldn't fall behind technologically.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3175" y="2447925"/>
            <a:ext cx="5295900" cy="685800"/>
          </a:xfrm>
          <a:custGeom>
            <a:avLst/>
            <a:gdLst/>
            <a:ahLst/>
            <a:cxnLst/>
            <a:rect l="l" t="t" r="r" b="b"/>
            <a:pathLst>
              <a:path w="5295900" h="685800">
                <a:moveTo>
                  <a:pt x="38100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609601"/>
                </a:lnTo>
                <a:cubicBezTo>
                  <a:pt x="5295900" y="651684"/>
                  <a:pt x="5261784" y="685800"/>
                  <a:pt x="52197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353175" y="24479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4" name="Shape 22"/>
          <p:cNvSpPr/>
          <p:nvPr/>
        </p:nvSpPr>
        <p:spPr>
          <a:xfrm>
            <a:off x="6524625" y="26003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6734175" y="2562225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Mission: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Fund "crazy-cool research" — ambitious, high-risk ideas with transformative potential.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763" y="3452813"/>
            <a:ext cx="11420475" cy="1400175"/>
          </a:xfrm>
          <a:custGeom>
            <a:avLst/>
            <a:gdLst/>
            <a:ahLst/>
            <a:cxnLst/>
            <a:rect l="l" t="t" r="r" b="b"/>
            <a:pathLst>
              <a:path w="11420475" h="1400175">
                <a:moveTo>
                  <a:pt x="114296" y="0"/>
                </a:moveTo>
                <a:lnTo>
                  <a:pt x="11306179" y="0"/>
                </a:lnTo>
                <a:cubicBezTo>
                  <a:pt x="11369261" y="0"/>
                  <a:pt x="11420475" y="51214"/>
                  <a:pt x="11420475" y="114296"/>
                </a:cubicBezTo>
                <a:lnTo>
                  <a:pt x="11420475" y="1285879"/>
                </a:lnTo>
                <a:cubicBezTo>
                  <a:pt x="11420475" y="1348961"/>
                  <a:pt x="11369261" y="1400175"/>
                  <a:pt x="11306179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738" y="3648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781050" y="3609975"/>
            <a:ext cx="1096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Driving Force: Resilient Communications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2925" y="3990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7225" y="4105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Text 29"/>
          <p:cNvSpPr/>
          <p:nvPr/>
        </p:nvSpPr>
        <p:spPr>
          <a:xfrm>
            <a:off x="1038225" y="3990975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Military Necessity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38225" y="4257675"/>
            <a:ext cx="31718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communication network that wouldn't collapse if parts were destroyed in a nuclear attack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95775" y="3990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410075" y="4105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075" y="3990975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Decentralization Goal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91075" y="4257675"/>
            <a:ext cx="31718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a system where no single point of failure could bring down the entire network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48625" y="3990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162925" y="4105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9" name="Text 37"/>
          <p:cNvSpPr/>
          <p:nvPr/>
        </p:nvSpPr>
        <p:spPr>
          <a:xfrm>
            <a:off x="8543925" y="3990975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Technological Leap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43925" y="4257675"/>
            <a:ext cx="31718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the boundaries of what was possible in computer networking and data transmission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791200"/>
            <a:ext cx="11410950" cy="685800"/>
          </a:xfrm>
          <a:custGeom>
            <a:avLst/>
            <a:gdLst/>
            <a:ahLst/>
            <a:cxnLst/>
            <a:rect l="l" t="t" r="r" b="b"/>
            <a:pathLst>
              <a:path w="11410950" h="685800">
                <a:moveTo>
                  <a:pt x="0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609601"/>
                </a:lnTo>
                <a:cubicBezTo>
                  <a:pt x="11410950" y="651684"/>
                  <a:pt x="11376834" y="685800"/>
                  <a:pt x="11334751" y="685800"/>
                </a:cubicBez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400050" y="57912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561975" y="5943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4" name="Text 42"/>
          <p:cNvSpPr/>
          <p:nvPr/>
        </p:nvSpPr>
        <p:spPr>
          <a:xfrm>
            <a:off x="781050" y="5905500"/>
            <a:ext cx="10991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Context: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Sputnik put fire under the U.S. to advance ideas. One of these ideas? A communication network that could survive potential nuclear attack. Not a pleasant thought, but that's the historical reality that drove innovation.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76101" y="43815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6496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Challenges: Centralized 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033462"/>
            <a:ext cx="5629275" cy="3762375"/>
          </a:xfrm>
          <a:custGeom>
            <a:avLst/>
            <a:gdLst/>
            <a:ahLst/>
            <a:cxnLst/>
            <a:rect l="l" t="t" r="r" b="b"/>
            <a:pathLst>
              <a:path w="5629275" h="3762375">
                <a:moveTo>
                  <a:pt x="114301" y="0"/>
                </a:moveTo>
                <a:lnTo>
                  <a:pt x="5514974" y="0"/>
                </a:lnTo>
                <a:cubicBezTo>
                  <a:pt x="5578101" y="0"/>
                  <a:pt x="5629275" y="51174"/>
                  <a:pt x="5629275" y="114301"/>
                </a:cubicBezTo>
                <a:lnTo>
                  <a:pt x="5629275" y="3648074"/>
                </a:lnTo>
                <a:cubicBezTo>
                  <a:pt x="5629275" y="3711201"/>
                  <a:pt x="5578101" y="3762375"/>
                  <a:pt x="5514974" y="3762375"/>
                </a:cubicBezTo>
                <a:lnTo>
                  <a:pt x="114301" y="3762375"/>
                </a:lnTo>
                <a:cubicBezTo>
                  <a:pt x="51174" y="3762375"/>
                  <a:pt x="0" y="3711201"/>
                  <a:pt x="0" y="364807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2925" y="1190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688181" y="13239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14425" y="1285875"/>
            <a:ext cx="248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Mainframe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925" y="1762125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institutions had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large mainframe computer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massive, expensive machines that filled entire rooms.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1975" y="2409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809625" y="2371725"/>
            <a:ext cx="416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Bottleneck: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Users queued up to use the computer directly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1975" y="2676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809625" y="2638425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Processing: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Jobs submitted via punch cards, long wait times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1975" y="2943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09625" y="2905125"/>
            <a:ext cx="436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Cost: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Limited access due to expensive hardware and maintenance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4957763"/>
            <a:ext cx="5629275" cy="1514475"/>
          </a:xfrm>
          <a:custGeom>
            <a:avLst/>
            <a:gdLst/>
            <a:ahLst/>
            <a:cxnLst/>
            <a:rect l="l" t="t" r="r" b="b"/>
            <a:pathLst>
              <a:path w="5629275" h="1514475">
                <a:moveTo>
                  <a:pt x="114297" y="0"/>
                </a:moveTo>
                <a:lnTo>
                  <a:pt x="5514978" y="0"/>
                </a:lnTo>
                <a:cubicBezTo>
                  <a:pt x="5578060" y="0"/>
                  <a:pt x="5629275" y="51215"/>
                  <a:pt x="5629275" y="114297"/>
                </a:cubicBezTo>
                <a:lnTo>
                  <a:pt x="5629275" y="1400178"/>
                </a:lnTo>
                <a:cubicBezTo>
                  <a:pt x="5629275" y="1463260"/>
                  <a:pt x="5578060" y="1514475"/>
                  <a:pt x="5514978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2925" y="5114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9" name="Shape 17"/>
          <p:cNvSpPr/>
          <p:nvPr/>
        </p:nvSpPr>
        <p:spPr>
          <a:xfrm>
            <a:off x="671513" y="52197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64294" y="26789"/>
                </a:moveTo>
                <a:cubicBezTo>
                  <a:pt x="74643" y="26789"/>
                  <a:pt x="83046" y="18386"/>
                  <a:pt x="83046" y="8037"/>
                </a:cubicBezTo>
                <a:cubicBezTo>
                  <a:pt x="83046" y="-2313"/>
                  <a:pt x="74643" y="-10716"/>
                  <a:pt x="64294" y="-10716"/>
                </a:cubicBezTo>
                <a:cubicBezTo>
                  <a:pt x="53944" y="-10716"/>
                  <a:pt x="45541" y="-2313"/>
                  <a:pt x="45541" y="8037"/>
                </a:cubicBezTo>
                <a:cubicBezTo>
                  <a:pt x="45541" y="18386"/>
                  <a:pt x="53944" y="26789"/>
                  <a:pt x="64294" y="26789"/>
                </a:cubicBezTo>
                <a:close/>
                <a:moveTo>
                  <a:pt x="35295" y="76315"/>
                </a:moveTo>
                <a:lnTo>
                  <a:pt x="42863" y="68747"/>
                </a:lnTo>
                <a:lnTo>
                  <a:pt x="42863" y="91953"/>
                </a:lnTo>
                <a:cubicBezTo>
                  <a:pt x="42863" y="101330"/>
                  <a:pt x="46948" y="110270"/>
                  <a:pt x="54080" y="116365"/>
                </a:cubicBezTo>
                <a:lnTo>
                  <a:pt x="77990" y="136859"/>
                </a:lnTo>
                <a:cubicBezTo>
                  <a:pt x="79965" y="138566"/>
                  <a:pt x="81271" y="140910"/>
                  <a:pt x="81640" y="143489"/>
                </a:cubicBezTo>
                <a:lnTo>
                  <a:pt x="85859" y="172990"/>
                </a:lnTo>
                <a:cubicBezTo>
                  <a:pt x="86696" y="178850"/>
                  <a:pt x="92121" y="182936"/>
                  <a:pt x="97981" y="182099"/>
                </a:cubicBezTo>
                <a:cubicBezTo>
                  <a:pt x="103841" y="181261"/>
                  <a:pt x="107926" y="175837"/>
                  <a:pt x="107089" y="169977"/>
                </a:cubicBezTo>
                <a:lnTo>
                  <a:pt x="102870" y="140475"/>
                </a:lnTo>
                <a:cubicBezTo>
                  <a:pt x="101765" y="132740"/>
                  <a:pt x="97881" y="125708"/>
                  <a:pt x="91953" y="120618"/>
                </a:cubicBezTo>
                <a:lnTo>
                  <a:pt x="80401" y="110706"/>
                </a:lnTo>
                <a:lnTo>
                  <a:pt x="80401" y="72130"/>
                </a:lnTo>
                <a:lnTo>
                  <a:pt x="81673" y="73703"/>
                </a:lnTo>
                <a:cubicBezTo>
                  <a:pt x="87768" y="81338"/>
                  <a:pt x="97010" y="85758"/>
                  <a:pt x="106788" y="85758"/>
                </a:cubicBezTo>
                <a:lnTo>
                  <a:pt x="117905" y="85758"/>
                </a:lnTo>
                <a:cubicBezTo>
                  <a:pt x="123832" y="85758"/>
                  <a:pt x="128621" y="80970"/>
                  <a:pt x="128621" y="75043"/>
                </a:cubicBezTo>
                <a:cubicBezTo>
                  <a:pt x="128621" y="69116"/>
                  <a:pt x="123832" y="64327"/>
                  <a:pt x="117905" y="64327"/>
                </a:cubicBezTo>
                <a:lnTo>
                  <a:pt x="106788" y="64327"/>
                </a:lnTo>
                <a:cubicBezTo>
                  <a:pt x="103540" y="64327"/>
                  <a:pt x="100459" y="62854"/>
                  <a:pt x="98416" y="60309"/>
                </a:cubicBezTo>
                <a:lnTo>
                  <a:pt x="92422" y="52808"/>
                </a:lnTo>
                <a:cubicBezTo>
                  <a:pt x="84720" y="43164"/>
                  <a:pt x="73034" y="37538"/>
                  <a:pt x="60677" y="37538"/>
                </a:cubicBezTo>
                <a:cubicBezTo>
                  <a:pt x="49895" y="37538"/>
                  <a:pt x="39547" y="41824"/>
                  <a:pt x="31946" y="49459"/>
                </a:cubicBezTo>
                <a:lnTo>
                  <a:pt x="20125" y="61146"/>
                </a:lnTo>
                <a:cubicBezTo>
                  <a:pt x="14098" y="67174"/>
                  <a:pt x="10716" y="75344"/>
                  <a:pt x="10716" y="83883"/>
                </a:cubicBezTo>
                <a:lnTo>
                  <a:pt x="10716" y="96441"/>
                </a:lnTo>
                <a:cubicBezTo>
                  <a:pt x="10716" y="102368"/>
                  <a:pt x="15504" y="107156"/>
                  <a:pt x="21431" y="107156"/>
                </a:cubicBezTo>
                <a:cubicBezTo>
                  <a:pt x="27358" y="107156"/>
                  <a:pt x="32147" y="102368"/>
                  <a:pt x="32147" y="96441"/>
                </a:cubicBezTo>
                <a:lnTo>
                  <a:pt x="32147" y="83883"/>
                </a:lnTo>
                <a:cubicBezTo>
                  <a:pt x="32147" y="81037"/>
                  <a:pt x="33285" y="78325"/>
                  <a:pt x="35295" y="76315"/>
                </a:cubicBezTo>
                <a:close/>
                <a:moveTo>
                  <a:pt x="39447" y="136390"/>
                </a:moveTo>
                <a:cubicBezTo>
                  <a:pt x="38945" y="138131"/>
                  <a:pt x="38007" y="139738"/>
                  <a:pt x="36735" y="141011"/>
                </a:cubicBezTo>
                <a:lnTo>
                  <a:pt x="13863" y="163882"/>
                </a:lnTo>
                <a:cubicBezTo>
                  <a:pt x="9678" y="168068"/>
                  <a:pt x="9678" y="174866"/>
                  <a:pt x="13863" y="179051"/>
                </a:cubicBezTo>
                <a:cubicBezTo>
                  <a:pt x="18049" y="183237"/>
                  <a:pt x="24847" y="183237"/>
                  <a:pt x="29033" y="179051"/>
                </a:cubicBezTo>
                <a:lnTo>
                  <a:pt x="51904" y="156180"/>
                </a:lnTo>
                <a:cubicBezTo>
                  <a:pt x="55755" y="152329"/>
                  <a:pt x="58568" y="147541"/>
                  <a:pt x="60074" y="142283"/>
                </a:cubicBezTo>
                <a:lnTo>
                  <a:pt x="60811" y="139738"/>
                </a:lnTo>
                <a:lnTo>
                  <a:pt x="45407" y="126545"/>
                </a:lnTo>
                <a:cubicBezTo>
                  <a:pt x="44570" y="125808"/>
                  <a:pt x="43733" y="125071"/>
                  <a:pt x="42929" y="124268"/>
                </a:cubicBezTo>
                <a:lnTo>
                  <a:pt x="39447" y="13639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38225" y="5172075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"Sneakernet" Era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2925" y="5572125"/>
            <a:ext cx="5391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between computers was done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physically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people literally carried tapes or punch cards from one location to another. This primitive method was jokingly called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7A5F"/>
                </a:solidFill>
                <a:highlight>
                  <a:srgbClr val="E07A5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"sneakernet"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6963" y="1033462"/>
            <a:ext cx="5629275" cy="3914775"/>
          </a:xfrm>
          <a:custGeom>
            <a:avLst/>
            <a:gdLst/>
            <a:ahLst/>
            <a:cxnLst/>
            <a:rect l="l" t="t" r="r" b="b"/>
            <a:pathLst>
              <a:path w="5629275" h="3914775">
                <a:moveTo>
                  <a:pt x="114311" y="0"/>
                </a:moveTo>
                <a:lnTo>
                  <a:pt x="5514964" y="0"/>
                </a:lnTo>
                <a:cubicBezTo>
                  <a:pt x="5578096" y="0"/>
                  <a:pt x="5629275" y="51179"/>
                  <a:pt x="5629275" y="114311"/>
                </a:cubicBezTo>
                <a:lnTo>
                  <a:pt x="5629275" y="3800464"/>
                </a:lnTo>
                <a:cubicBezTo>
                  <a:pt x="5629275" y="3863596"/>
                  <a:pt x="5578096" y="3914775"/>
                  <a:pt x="5514964" y="3914775"/>
                </a:cubicBezTo>
                <a:lnTo>
                  <a:pt x="114311" y="3914775"/>
                </a:lnTo>
                <a:cubicBezTo>
                  <a:pt x="51179" y="3914775"/>
                  <a:pt x="0" y="3863596"/>
                  <a:pt x="0" y="3800464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34125" y="1190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6467475" y="1323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905625" y="1285875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Critical Need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34125" y="1762125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systems were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single point of failure could bring down the entire network.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3175" y="2371725"/>
            <a:ext cx="5295900" cy="876300"/>
          </a:xfrm>
          <a:custGeom>
            <a:avLst/>
            <a:gdLst/>
            <a:ahLst/>
            <a:cxnLst/>
            <a:rect l="l" t="t" r="r" b="b"/>
            <a:pathLst>
              <a:path w="5295900" h="876300">
                <a:moveTo>
                  <a:pt x="38100" y="0"/>
                </a:moveTo>
                <a:lnTo>
                  <a:pt x="5219697" y="0"/>
                </a:lnTo>
                <a:cubicBezTo>
                  <a:pt x="5261783" y="0"/>
                  <a:pt x="5295900" y="34117"/>
                  <a:pt x="5295900" y="76203"/>
                </a:cubicBezTo>
                <a:lnTo>
                  <a:pt x="5295900" y="800097"/>
                </a:lnTo>
                <a:cubicBezTo>
                  <a:pt x="5295900" y="842183"/>
                  <a:pt x="5261783" y="876300"/>
                  <a:pt x="52196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353175" y="23717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6505575" y="2524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0" name="Text 28"/>
          <p:cNvSpPr/>
          <p:nvPr/>
        </p:nvSpPr>
        <p:spPr>
          <a:xfrm>
            <a:off x="6734175" y="2486025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Requirement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86525" y="2752725"/>
            <a:ext cx="5114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communications system that could survive or stay functional even if parts were destroyed in a potential nuclear attack.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3175" y="3381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3" name="Text 31"/>
          <p:cNvSpPr/>
          <p:nvPr/>
        </p:nvSpPr>
        <p:spPr>
          <a:xfrm>
            <a:off x="6600825" y="336232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Decentralized architecture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53175" y="3648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5" name="Text 33"/>
          <p:cNvSpPr/>
          <p:nvPr/>
        </p:nvSpPr>
        <p:spPr>
          <a:xfrm>
            <a:off x="6600825" y="3629025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redundant paths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3175" y="3914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7" name="Text 35"/>
          <p:cNvSpPr/>
          <p:nvPr/>
        </p:nvSpPr>
        <p:spPr>
          <a:xfrm>
            <a:off x="6600825" y="3895725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Self-healing network topology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6963" y="5110163"/>
            <a:ext cx="5629275" cy="1362075"/>
          </a:xfrm>
          <a:custGeom>
            <a:avLst/>
            <a:gdLst/>
            <a:ahLst/>
            <a:cxnLst/>
            <a:rect l="l" t="t" r="r" b="b"/>
            <a:pathLst>
              <a:path w="5629275" h="1362075">
                <a:moveTo>
                  <a:pt x="114305" y="0"/>
                </a:moveTo>
                <a:lnTo>
                  <a:pt x="5514970" y="0"/>
                </a:lnTo>
                <a:cubicBezTo>
                  <a:pt x="5578099" y="0"/>
                  <a:pt x="5629275" y="51176"/>
                  <a:pt x="5629275" y="114305"/>
                </a:cubicBezTo>
                <a:lnTo>
                  <a:pt x="5629275" y="1247770"/>
                </a:lnTo>
                <a:cubicBezTo>
                  <a:pt x="5629275" y="1310899"/>
                  <a:pt x="5578099" y="1362075"/>
                  <a:pt x="5514970" y="1362075"/>
                </a:cubicBezTo>
                <a:lnTo>
                  <a:pt x="114305" y="1362075"/>
                </a:lnTo>
                <a:cubicBezTo>
                  <a:pt x="51176" y="1362075"/>
                  <a:pt x="0" y="1310899"/>
                  <a:pt x="0" y="1247770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2225" y="53054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0" name="Text 38"/>
          <p:cNvSpPr/>
          <p:nvPr/>
        </p:nvSpPr>
        <p:spPr>
          <a:xfrm>
            <a:off x="6524625" y="5267325"/>
            <a:ext cx="520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Collaboration Need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34125" y="5572125"/>
            <a:ext cx="5391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Scientists needed 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 resources and collaborate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institutions without physically transporting data. The stage was set for a revolutionary solution.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76101" y="43815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Visionaries: Licklider, Baran &amp; Davies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033462"/>
            <a:ext cx="3695700" cy="2733675"/>
          </a:xfrm>
          <a:custGeom>
            <a:avLst/>
            <a:gdLst/>
            <a:ahLst/>
            <a:cxnLst/>
            <a:rect l="l" t="t" r="r" b="b"/>
            <a:pathLst>
              <a:path w="3695700" h="2733675">
                <a:moveTo>
                  <a:pt x="114295" y="0"/>
                </a:moveTo>
                <a:lnTo>
                  <a:pt x="3581405" y="0"/>
                </a:lnTo>
                <a:cubicBezTo>
                  <a:pt x="3644528" y="0"/>
                  <a:pt x="3695700" y="51172"/>
                  <a:pt x="3695700" y="114295"/>
                </a:cubicBezTo>
                <a:lnTo>
                  <a:pt x="3695700" y="2619380"/>
                </a:lnTo>
                <a:cubicBezTo>
                  <a:pt x="3695700" y="2682503"/>
                  <a:pt x="3644528" y="2733675"/>
                  <a:pt x="3581405" y="2733675"/>
                </a:cubicBezTo>
                <a:lnTo>
                  <a:pt x="114295" y="2733675"/>
                </a:lnTo>
                <a:cubicBezTo>
                  <a:pt x="51172" y="2733675"/>
                  <a:pt x="0" y="2682503"/>
                  <a:pt x="0" y="261938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2925" y="1190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495300" y="1190625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0625" y="1228725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J.C.R. Licklider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90625" y="149542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ARPA Visionary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1838325"/>
            <a:ext cx="3457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Daydreamed about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network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people could "log in" to different computers remotely.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1975" y="2695575"/>
            <a:ext cx="3362325" cy="914400"/>
          </a:xfrm>
          <a:custGeom>
            <a:avLst/>
            <a:gdLst/>
            <a:ahLst/>
            <a:cxnLst/>
            <a:rect l="l" t="t" r="r" b="b"/>
            <a:pathLst>
              <a:path w="3362325" h="914400">
                <a:moveTo>
                  <a:pt x="38100" y="0"/>
                </a:moveTo>
                <a:lnTo>
                  <a:pt x="3286128" y="0"/>
                </a:lnTo>
                <a:cubicBezTo>
                  <a:pt x="3328210" y="0"/>
                  <a:pt x="3362325" y="34115"/>
                  <a:pt x="3362325" y="76197"/>
                </a:cubicBezTo>
                <a:lnTo>
                  <a:pt x="3362325" y="838203"/>
                </a:lnTo>
                <a:cubicBezTo>
                  <a:pt x="3362325" y="880285"/>
                  <a:pt x="3328210" y="914400"/>
                  <a:pt x="3286128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61975" y="2695575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714375" y="2847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942975" y="2809875"/>
            <a:ext cx="29432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"Intergalactic Computer Network" — a sci-fi inspired name for a revolutionary concept.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6513" y="1033462"/>
            <a:ext cx="3695700" cy="2733675"/>
          </a:xfrm>
          <a:custGeom>
            <a:avLst/>
            <a:gdLst/>
            <a:ahLst/>
            <a:cxnLst/>
            <a:rect l="l" t="t" r="r" b="b"/>
            <a:pathLst>
              <a:path w="3695700" h="2733675">
                <a:moveTo>
                  <a:pt x="114295" y="0"/>
                </a:moveTo>
                <a:lnTo>
                  <a:pt x="3581405" y="0"/>
                </a:lnTo>
                <a:cubicBezTo>
                  <a:pt x="3644528" y="0"/>
                  <a:pt x="3695700" y="51172"/>
                  <a:pt x="3695700" y="114295"/>
                </a:cubicBezTo>
                <a:lnTo>
                  <a:pt x="3695700" y="2619380"/>
                </a:lnTo>
                <a:cubicBezTo>
                  <a:pt x="3695700" y="2682503"/>
                  <a:pt x="3644528" y="2733675"/>
                  <a:pt x="3581405" y="2733675"/>
                </a:cubicBezTo>
                <a:lnTo>
                  <a:pt x="114295" y="2733675"/>
                </a:lnTo>
                <a:cubicBezTo>
                  <a:pt x="51172" y="2733675"/>
                  <a:pt x="0" y="2682503"/>
                  <a:pt x="0" y="261938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03675" y="1190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/>
              </a:gs>
              <a:gs pos="100000">
                <a:srgbClr val="8D99AE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4356050" y="1190625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51375" y="1228725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Paul Baran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51375" y="149542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U.S. Researcher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03675" y="1838325"/>
            <a:ext cx="3457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Pioneered the concept of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packet switching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United States, working on distributed networks for RAND Corporation.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22725" y="2695575"/>
            <a:ext cx="3362325" cy="914400"/>
          </a:xfrm>
          <a:custGeom>
            <a:avLst/>
            <a:gdLst/>
            <a:ahLst/>
            <a:cxnLst/>
            <a:rect l="l" t="t" r="r" b="b"/>
            <a:pathLst>
              <a:path w="3362325" h="914400">
                <a:moveTo>
                  <a:pt x="38100" y="0"/>
                </a:moveTo>
                <a:lnTo>
                  <a:pt x="3286128" y="0"/>
                </a:lnTo>
                <a:cubicBezTo>
                  <a:pt x="3328210" y="0"/>
                  <a:pt x="3362325" y="34115"/>
                  <a:pt x="3362325" y="76197"/>
                </a:cubicBezTo>
                <a:lnTo>
                  <a:pt x="3362325" y="838203"/>
                </a:lnTo>
                <a:cubicBezTo>
                  <a:pt x="3362325" y="880285"/>
                  <a:pt x="3328210" y="914400"/>
                  <a:pt x="3286128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22725" y="2695575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65600" y="28479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4803725" y="2809875"/>
            <a:ext cx="29432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Contribution: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Developed the theoretical foundation for resilient, distributed communication networks.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07263" y="1033462"/>
            <a:ext cx="3695700" cy="2733675"/>
          </a:xfrm>
          <a:custGeom>
            <a:avLst/>
            <a:gdLst/>
            <a:ahLst/>
            <a:cxnLst/>
            <a:rect l="l" t="t" r="r" b="b"/>
            <a:pathLst>
              <a:path w="3695700" h="2733675">
                <a:moveTo>
                  <a:pt x="114295" y="0"/>
                </a:moveTo>
                <a:lnTo>
                  <a:pt x="3581405" y="0"/>
                </a:lnTo>
                <a:cubicBezTo>
                  <a:pt x="3644528" y="0"/>
                  <a:pt x="3695700" y="51172"/>
                  <a:pt x="3695700" y="114295"/>
                </a:cubicBezTo>
                <a:lnTo>
                  <a:pt x="3695700" y="2619380"/>
                </a:lnTo>
                <a:cubicBezTo>
                  <a:pt x="3695700" y="2682503"/>
                  <a:pt x="3644528" y="2733675"/>
                  <a:pt x="3581405" y="2733675"/>
                </a:cubicBezTo>
                <a:lnTo>
                  <a:pt x="114295" y="2733675"/>
                </a:lnTo>
                <a:cubicBezTo>
                  <a:pt x="51172" y="2733675"/>
                  <a:pt x="0" y="2682503"/>
                  <a:pt x="0" y="261938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64426" y="1190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8" name="Text 26"/>
          <p:cNvSpPr/>
          <p:nvPr/>
        </p:nvSpPr>
        <p:spPr>
          <a:xfrm>
            <a:off x="8216801" y="1190625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12126" y="1228725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Donald Davies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12126" y="1495425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UK Researcher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64426" y="1838325"/>
            <a:ext cx="3457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Independently developed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packet switching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UK at the National Physical Laboratory around the same time.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83476" y="2695575"/>
            <a:ext cx="3362325" cy="685800"/>
          </a:xfrm>
          <a:custGeom>
            <a:avLst/>
            <a:gdLst/>
            <a:ahLst/>
            <a:cxnLst/>
            <a:rect l="l" t="t" r="r" b="b"/>
            <a:pathLst>
              <a:path w="3362325" h="685800">
                <a:moveTo>
                  <a:pt x="38100" y="0"/>
                </a:moveTo>
                <a:lnTo>
                  <a:pt x="3286126" y="0"/>
                </a:lnTo>
                <a:cubicBezTo>
                  <a:pt x="3328209" y="0"/>
                  <a:pt x="3362325" y="34116"/>
                  <a:pt x="3362325" y="76199"/>
                </a:cubicBezTo>
                <a:lnTo>
                  <a:pt x="3362325" y="609601"/>
                </a:lnTo>
                <a:cubicBezTo>
                  <a:pt x="3362325" y="651684"/>
                  <a:pt x="3328209" y="685800"/>
                  <a:pt x="3286126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83476" y="269557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8435876" y="2847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5" name="Text 33"/>
          <p:cNvSpPr/>
          <p:nvPr/>
        </p:nvSpPr>
        <p:spPr>
          <a:xfrm>
            <a:off x="8664476" y="2809875"/>
            <a:ext cx="2943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Coined the term "packet" and built one of the first packet-switched networks.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5763" y="3929063"/>
            <a:ext cx="11420475" cy="1914525"/>
          </a:xfrm>
          <a:custGeom>
            <a:avLst/>
            <a:gdLst/>
            <a:ahLst/>
            <a:cxnLst/>
            <a:rect l="l" t="t" r="r" b="b"/>
            <a:pathLst>
              <a:path w="11420475" h="1914525">
                <a:moveTo>
                  <a:pt x="114297" y="0"/>
                </a:moveTo>
                <a:lnTo>
                  <a:pt x="11306178" y="0"/>
                </a:lnTo>
                <a:cubicBezTo>
                  <a:pt x="11369260" y="0"/>
                  <a:pt x="11420475" y="51215"/>
                  <a:pt x="11420475" y="114297"/>
                </a:cubicBezTo>
                <a:lnTo>
                  <a:pt x="11420475" y="1800228"/>
                </a:lnTo>
                <a:cubicBezTo>
                  <a:pt x="11420475" y="1863310"/>
                  <a:pt x="11369260" y="1914525"/>
                  <a:pt x="11306178" y="1914525"/>
                </a:cubicBezTo>
                <a:lnTo>
                  <a:pt x="114297" y="1914525"/>
                </a:lnTo>
                <a:cubicBezTo>
                  <a:pt x="51215" y="1914525"/>
                  <a:pt x="0" y="1863310"/>
                  <a:pt x="0" y="180022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2925" y="4086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707231" y="42481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183" y="-1395"/>
                </a:moveTo>
                <a:cubicBezTo>
                  <a:pt x="136234" y="-7758"/>
                  <a:pt x="149851" y="-7758"/>
                  <a:pt x="160902" y="-1395"/>
                </a:cubicBezTo>
                <a:lnTo>
                  <a:pt x="259073" y="55252"/>
                </a:lnTo>
                <a:cubicBezTo>
                  <a:pt x="270123" y="61615"/>
                  <a:pt x="276932" y="73447"/>
                  <a:pt x="276932" y="86171"/>
                </a:cubicBezTo>
                <a:lnTo>
                  <a:pt x="276932" y="199467"/>
                </a:lnTo>
                <a:cubicBezTo>
                  <a:pt x="276932" y="212248"/>
                  <a:pt x="270123" y="224024"/>
                  <a:pt x="259073" y="230386"/>
                </a:cubicBezTo>
                <a:lnTo>
                  <a:pt x="160902" y="287145"/>
                </a:lnTo>
                <a:cubicBezTo>
                  <a:pt x="149851" y="293508"/>
                  <a:pt x="136234" y="293508"/>
                  <a:pt x="125183" y="287145"/>
                </a:cubicBezTo>
                <a:lnTo>
                  <a:pt x="27068" y="230498"/>
                </a:lnTo>
                <a:cubicBezTo>
                  <a:pt x="16018" y="224135"/>
                  <a:pt x="9209" y="212303"/>
                  <a:pt x="9209" y="199579"/>
                </a:cubicBezTo>
                <a:lnTo>
                  <a:pt x="9209" y="86283"/>
                </a:lnTo>
                <a:cubicBezTo>
                  <a:pt x="9209" y="73502"/>
                  <a:pt x="16018" y="61726"/>
                  <a:pt x="27068" y="55364"/>
                </a:cubicBezTo>
                <a:lnTo>
                  <a:pt x="125183" y="-1395"/>
                </a:lnTo>
                <a:close/>
                <a:moveTo>
                  <a:pt x="241157" y="199523"/>
                </a:moveTo>
                <a:lnTo>
                  <a:pt x="241157" y="106821"/>
                </a:lnTo>
                <a:lnTo>
                  <a:pt x="160902" y="153144"/>
                </a:lnTo>
                <a:lnTo>
                  <a:pt x="160902" y="245845"/>
                </a:lnTo>
                <a:lnTo>
                  <a:pt x="241157" y="19952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1304925" y="4086225"/>
            <a:ext cx="10458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Packet Switching Revolution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04925" y="4505325"/>
            <a:ext cx="51720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Innovation: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Splitting data into small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7A5F"/>
                </a:solidFill>
                <a:highlight>
                  <a:srgbClr val="E07A5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packets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can travel through a network along different routes.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323975" y="5153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28575"/>
                </a:moveTo>
                <a:cubicBezTo>
                  <a:pt x="152400" y="43517"/>
                  <a:pt x="134809" y="65812"/>
                  <a:pt x="127218" y="74712"/>
                </a:cubicBezTo>
                <a:cubicBezTo>
                  <a:pt x="126087" y="76021"/>
                  <a:pt x="124420" y="76527"/>
                  <a:pt x="122902" y="76200"/>
                </a:cubicBezTo>
                <a:lnTo>
                  <a:pt x="95250" y="76200"/>
                </a:lnTo>
                <a:cubicBezTo>
                  <a:pt x="89981" y="76200"/>
                  <a:pt x="85725" y="80456"/>
                  <a:pt x="85725" y="85725"/>
                </a:cubicBezTo>
                <a:cubicBezTo>
                  <a:pt x="85725" y="90994"/>
                  <a:pt x="89981" y="95250"/>
                  <a:pt x="95250" y="95250"/>
                </a:cubicBezTo>
                <a:lnTo>
                  <a:pt x="123825" y="95250"/>
                </a:lnTo>
                <a:cubicBezTo>
                  <a:pt x="139601" y="95250"/>
                  <a:pt x="152400" y="108049"/>
                  <a:pt x="152400" y="123825"/>
                </a:cubicBezTo>
                <a:cubicBezTo>
                  <a:pt x="152400" y="139601"/>
                  <a:pt x="139601" y="152400"/>
                  <a:pt x="123825" y="152400"/>
                </a:cubicBezTo>
                <a:lnTo>
                  <a:pt x="41553" y="152400"/>
                </a:lnTo>
                <a:cubicBezTo>
                  <a:pt x="44142" y="149453"/>
                  <a:pt x="47298" y="145673"/>
                  <a:pt x="50483" y="141446"/>
                </a:cubicBezTo>
                <a:cubicBezTo>
                  <a:pt x="52358" y="138946"/>
                  <a:pt x="54293" y="136208"/>
                  <a:pt x="56138" y="133350"/>
                </a:cubicBezTo>
                <a:lnTo>
                  <a:pt x="123825" y="133350"/>
                </a:lnTo>
                <a:cubicBezTo>
                  <a:pt x="129094" y="133350"/>
                  <a:pt x="133350" y="129094"/>
                  <a:pt x="133350" y="123825"/>
                </a:cubicBezTo>
                <a:cubicBezTo>
                  <a:pt x="133350" y="118556"/>
                  <a:pt x="129094" y="114300"/>
                  <a:pt x="123825" y="114300"/>
                </a:cubicBezTo>
                <a:lnTo>
                  <a:pt x="95250" y="114300"/>
                </a:lnTo>
                <a:cubicBezTo>
                  <a:pt x="79474" y="114300"/>
                  <a:pt x="66675" y="101501"/>
                  <a:pt x="66675" y="85725"/>
                </a:cubicBezTo>
                <a:cubicBezTo>
                  <a:pt x="66675" y="69949"/>
                  <a:pt x="79474" y="57150"/>
                  <a:pt x="95250" y="57150"/>
                </a:cubicBezTo>
                <a:lnTo>
                  <a:pt x="107097" y="57150"/>
                </a:lnTo>
                <a:cubicBezTo>
                  <a:pt x="100846" y="47774"/>
                  <a:pt x="95250" y="36999"/>
                  <a:pt x="95250" y="28575"/>
                </a:cubicBezTo>
                <a:cubicBezTo>
                  <a:pt x="95250" y="12799"/>
                  <a:pt x="108049" y="0"/>
                  <a:pt x="123825" y="0"/>
                </a:cubicBezTo>
                <a:cubicBezTo>
                  <a:pt x="139601" y="0"/>
                  <a:pt x="152400" y="12799"/>
                  <a:pt x="152400" y="28575"/>
                </a:cubicBezTo>
                <a:close/>
                <a:moveTo>
                  <a:pt x="34856" y="145584"/>
                </a:moveTo>
                <a:cubicBezTo>
                  <a:pt x="33724" y="146864"/>
                  <a:pt x="32712" y="147995"/>
                  <a:pt x="31849" y="148947"/>
                </a:cubicBezTo>
                <a:lnTo>
                  <a:pt x="31313" y="149543"/>
                </a:lnTo>
                <a:lnTo>
                  <a:pt x="31254" y="149483"/>
                </a:lnTo>
                <a:cubicBezTo>
                  <a:pt x="29468" y="150852"/>
                  <a:pt x="26908" y="150674"/>
                  <a:pt x="25301" y="148947"/>
                </a:cubicBezTo>
                <a:cubicBezTo>
                  <a:pt x="17800" y="140791"/>
                  <a:pt x="0" y="119807"/>
                  <a:pt x="0" y="104775"/>
                </a:cubicBezTo>
                <a:cubicBezTo>
                  <a:pt x="0" y="88999"/>
                  <a:pt x="12799" y="76200"/>
                  <a:pt x="28575" y="76200"/>
                </a:cubicBezTo>
                <a:cubicBezTo>
                  <a:pt x="44351" y="76200"/>
                  <a:pt x="57150" y="88999"/>
                  <a:pt x="57150" y="104775"/>
                </a:cubicBezTo>
                <a:cubicBezTo>
                  <a:pt x="57150" y="113705"/>
                  <a:pt x="50869" y="124718"/>
                  <a:pt x="44202" y="133916"/>
                </a:cubicBezTo>
                <a:cubicBezTo>
                  <a:pt x="41017" y="138291"/>
                  <a:pt x="37743" y="142250"/>
                  <a:pt x="35034" y="145375"/>
                </a:cubicBezTo>
                <a:lnTo>
                  <a:pt x="34856" y="145584"/>
                </a:lnTo>
                <a:close/>
                <a:moveTo>
                  <a:pt x="38100" y="104775"/>
                </a:moveTo>
                <a:cubicBezTo>
                  <a:pt x="38100" y="99518"/>
                  <a:pt x="33832" y="95250"/>
                  <a:pt x="28575" y="95250"/>
                </a:cubicBezTo>
                <a:cubicBezTo>
                  <a:pt x="23318" y="95250"/>
                  <a:pt x="19050" y="99518"/>
                  <a:pt x="19050" y="104775"/>
                </a:cubicBezTo>
                <a:cubicBezTo>
                  <a:pt x="19050" y="110032"/>
                  <a:pt x="23318" y="114300"/>
                  <a:pt x="28575" y="114300"/>
                </a:cubicBezTo>
                <a:cubicBezTo>
                  <a:pt x="33832" y="114300"/>
                  <a:pt x="38100" y="110032"/>
                  <a:pt x="38100" y="104775"/>
                </a:cubicBezTo>
                <a:close/>
                <a:moveTo>
                  <a:pt x="123825" y="38100"/>
                </a:moveTo>
                <a:cubicBezTo>
                  <a:pt x="129082" y="38100"/>
                  <a:pt x="133350" y="33832"/>
                  <a:pt x="133350" y="28575"/>
                </a:cubicBezTo>
                <a:cubicBezTo>
                  <a:pt x="133350" y="23318"/>
                  <a:pt x="129082" y="19050"/>
                  <a:pt x="123825" y="19050"/>
                </a:cubicBezTo>
                <a:cubicBezTo>
                  <a:pt x="118568" y="19050"/>
                  <a:pt x="114300" y="23318"/>
                  <a:pt x="114300" y="28575"/>
                </a:cubicBezTo>
                <a:cubicBezTo>
                  <a:pt x="114300" y="33832"/>
                  <a:pt x="118568" y="38100"/>
                  <a:pt x="123825" y="381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2" name="Text 40"/>
          <p:cNvSpPr/>
          <p:nvPr/>
        </p:nvSpPr>
        <p:spPr>
          <a:xfrm>
            <a:off x="1571625" y="5114925"/>
            <a:ext cx="389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Routing: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one route is blocked, packets take a detour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323975" y="5419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4" name="Text 42"/>
          <p:cNvSpPr/>
          <p:nvPr/>
        </p:nvSpPr>
        <p:spPr>
          <a:xfrm>
            <a:off x="1571625" y="5381625"/>
            <a:ext cx="3867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Resilience: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 stays functional even if parts are destroyed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53200" y="4505325"/>
            <a:ext cx="5095875" cy="1181100"/>
          </a:xfrm>
          <a:custGeom>
            <a:avLst/>
            <a:gdLst/>
            <a:ahLst/>
            <a:cxnLst/>
            <a:rect l="l" t="t" r="r" b="b"/>
            <a:pathLst>
              <a:path w="5095875" h="1181100">
                <a:moveTo>
                  <a:pt x="76205" y="0"/>
                </a:moveTo>
                <a:lnTo>
                  <a:pt x="5019670" y="0"/>
                </a:lnTo>
                <a:cubicBezTo>
                  <a:pt x="5061729" y="0"/>
                  <a:pt x="5095875" y="34146"/>
                  <a:pt x="5095875" y="76205"/>
                </a:cubicBezTo>
                <a:lnTo>
                  <a:pt x="5095875" y="1104895"/>
                </a:lnTo>
                <a:cubicBezTo>
                  <a:pt x="5095875" y="1146982"/>
                  <a:pt x="5061757" y="1181100"/>
                  <a:pt x="5019670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96075" y="4657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7" name="Text 45"/>
          <p:cNvSpPr/>
          <p:nvPr/>
        </p:nvSpPr>
        <p:spPr>
          <a:xfrm>
            <a:off x="6915150" y="4619625"/>
            <a:ext cx="469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Breakthrough Idea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67500" y="4924425"/>
            <a:ext cx="49339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 if we chop data into pieces instead of sending it as one continuous stream?" This approach turned out to be a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deal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foundation of modern networking.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5763" y="6007894"/>
            <a:ext cx="5629275" cy="695325"/>
          </a:xfrm>
          <a:custGeom>
            <a:avLst/>
            <a:gdLst/>
            <a:ahLst/>
            <a:cxnLst/>
            <a:rect l="l" t="t" r="r" b="b"/>
            <a:pathLst>
              <a:path w="5629275" h="695325">
                <a:moveTo>
                  <a:pt x="114298" y="0"/>
                </a:moveTo>
                <a:lnTo>
                  <a:pt x="5514977" y="0"/>
                </a:lnTo>
                <a:cubicBezTo>
                  <a:pt x="5578102" y="0"/>
                  <a:pt x="5629275" y="51173"/>
                  <a:pt x="5629275" y="114298"/>
                </a:cubicBezTo>
                <a:lnTo>
                  <a:pt x="5629275" y="581027"/>
                </a:lnTo>
                <a:cubicBezTo>
                  <a:pt x="5629275" y="644152"/>
                  <a:pt x="5578102" y="695325"/>
                  <a:pt x="5514977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8163" y="6241256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1" name="Text 49"/>
          <p:cNvSpPr/>
          <p:nvPr/>
        </p:nvSpPr>
        <p:spPr>
          <a:xfrm>
            <a:off x="856952" y="6126956"/>
            <a:ext cx="5114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Revolutionary Concept: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fragmentation enables resilient, distributed communication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76963" y="6007894"/>
            <a:ext cx="5629275" cy="695325"/>
          </a:xfrm>
          <a:custGeom>
            <a:avLst/>
            <a:gdLst/>
            <a:ahLst/>
            <a:cxnLst/>
            <a:rect l="l" t="t" r="r" b="b"/>
            <a:pathLst>
              <a:path w="5629275" h="695325">
                <a:moveTo>
                  <a:pt x="114298" y="0"/>
                </a:moveTo>
                <a:lnTo>
                  <a:pt x="5514977" y="0"/>
                </a:lnTo>
                <a:cubicBezTo>
                  <a:pt x="5578102" y="0"/>
                  <a:pt x="5629275" y="51173"/>
                  <a:pt x="5629275" y="114298"/>
                </a:cubicBezTo>
                <a:lnTo>
                  <a:pt x="5629275" y="581027"/>
                </a:lnTo>
                <a:cubicBezTo>
                  <a:pt x="5629275" y="644152"/>
                  <a:pt x="5578102" y="695325"/>
                  <a:pt x="5514977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15075" y="62412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4869" y="89163"/>
                </a:moveTo>
                <a:lnTo>
                  <a:pt x="38666" y="102959"/>
                </a:lnTo>
                <a:cubicBezTo>
                  <a:pt x="41344" y="105638"/>
                  <a:pt x="44961" y="107156"/>
                  <a:pt x="48756" y="107156"/>
                </a:cubicBezTo>
                <a:lnTo>
                  <a:pt x="58356" y="107156"/>
                </a:lnTo>
                <a:cubicBezTo>
                  <a:pt x="62151" y="107156"/>
                  <a:pt x="65767" y="108674"/>
                  <a:pt x="68446" y="111353"/>
                </a:cubicBezTo>
                <a:lnTo>
                  <a:pt x="81528" y="124435"/>
                </a:lnTo>
                <a:cubicBezTo>
                  <a:pt x="84207" y="127114"/>
                  <a:pt x="85725" y="130731"/>
                  <a:pt x="85725" y="134526"/>
                </a:cubicBezTo>
                <a:lnTo>
                  <a:pt x="85725" y="151269"/>
                </a:lnTo>
                <a:cubicBezTo>
                  <a:pt x="85725" y="155064"/>
                  <a:pt x="87243" y="158681"/>
                  <a:pt x="89922" y="161359"/>
                </a:cubicBezTo>
                <a:lnTo>
                  <a:pt x="95860" y="167298"/>
                </a:lnTo>
                <a:cubicBezTo>
                  <a:pt x="98539" y="169977"/>
                  <a:pt x="100057" y="173593"/>
                  <a:pt x="100057" y="177388"/>
                </a:cubicBezTo>
                <a:lnTo>
                  <a:pt x="100057" y="185738"/>
                </a:lnTo>
                <a:cubicBezTo>
                  <a:pt x="100057" y="193640"/>
                  <a:pt x="106442" y="200025"/>
                  <a:pt x="114345" y="200025"/>
                </a:cubicBezTo>
                <a:cubicBezTo>
                  <a:pt x="122247" y="200025"/>
                  <a:pt x="128632" y="193640"/>
                  <a:pt x="128632" y="185738"/>
                </a:cubicBezTo>
                <a:lnTo>
                  <a:pt x="128632" y="184532"/>
                </a:lnTo>
                <a:cubicBezTo>
                  <a:pt x="128632" y="180737"/>
                  <a:pt x="130150" y="177120"/>
                  <a:pt x="132829" y="174441"/>
                </a:cubicBezTo>
                <a:lnTo>
                  <a:pt x="153055" y="154216"/>
                </a:lnTo>
                <a:cubicBezTo>
                  <a:pt x="155734" y="151537"/>
                  <a:pt x="157252" y="147920"/>
                  <a:pt x="157252" y="144125"/>
                </a:cubicBezTo>
                <a:lnTo>
                  <a:pt x="157252" y="128632"/>
                </a:lnTo>
                <a:cubicBezTo>
                  <a:pt x="157252" y="120729"/>
                  <a:pt x="150867" y="114345"/>
                  <a:pt x="142964" y="114345"/>
                </a:cubicBezTo>
                <a:lnTo>
                  <a:pt x="106040" y="114345"/>
                </a:lnTo>
                <a:cubicBezTo>
                  <a:pt x="102245" y="114345"/>
                  <a:pt x="98628" y="112827"/>
                  <a:pt x="95949" y="110148"/>
                </a:cubicBezTo>
                <a:lnTo>
                  <a:pt x="88806" y="103004"/>
                </a:lnTo>
                <a:cubicBezTo>
                  <a:pt x="86931" y="101129"/>
                  <a:pt x="85859" y="98539"/>
                  <a:pt x="85859" y="95860"/>
                </a:cubicBezTo>
                <a:cubicBezTo>
                  <a:pt x="85859" y="90279"/>
                  <a:pt x="90368" y="85770"/>
                  <a:pt x="95949" y="85770"/>
                </a:cubicBezTo>
                <a:lnTo>
                  <a:pt x="111443" y="85770"/>
                </a:lnTo>
                <a:cubicBezTo>
                  <a:pt x="117024" y="85770"/>
                  <a:pt x="121533" y="81260"/>
                  <a:pt x="121533" y="75679"/>
                </a:cubicBezTo>
                <a:cubicBezTo>
                  <a:pt x="121533" y="73000"/>
                  <a:pt x="120461" y="70411"/>
                  <a:pt x="118586" y="68535"/>
                </a:cubicBezTo>
                <a:lnTo>
                  <a:pt x="109791" y="59740"/>
                </a:lnTo>
                <a:cubicBezTo>
                  <a:pt x="108049" y="58043"/>
                  <a:pt x="107156" y="55855"/>
                  <a:pt x="107156" y="53578"/>
                </a:cubicBezTo>
                <a:cubicBezTo>
                  <a:pt x="107156" y="51301"/>
                  <a:pt x="108049" y="49113"/>
                  <a:pt x="109701" y="47461"/>
                </a:cubicBezTo>
                <a:lnTo>
                  <a:pt x="117425" y="39737"/>
                </a:lnTo>
                <a:cubicBezTo>
                  <a:pt x="120015" y="37148"/>
                  <a:pt x="121488" y="33620"/>
                  <a:pt x="121488" y="29959"/>
                </a:cubicBezTo>
                <a:cubicBezTo>
                  <a:pt x="121488" y="26744"/>
                  <a:pt x="120417" y="23842"/>
                  <a:pt x="118631" y="21521"/>
                </a:cubicBezTo>
                <a:cubicBezTo>
                  <a:pt x="117202" y="21476"/>
                  <a:pt x="115773" y="21431"/>
                  <a:pt x="114345" y="21431"/>
                </a:cubicBezTo>
                <a:cubicBezTo>
                  <a:pt x="71750" y="21431"/>
                  <a:pt x="35897" y="50096"/>
                  <a:pt x="24914" y="89163"/>
                </a:cubicBezTo>
                <a:close/>
                <a:moveTo>
                  <a:pt x="207169" y="114300"/>
                </a:moveTo>
                <a:cubicBezTo>
                  <a:pt x="207169" y="98852"/>
                  <a:pt x="203418" y="84296"/>
                  <a:pt x="196721" y="71527"/>
                </a:cubicBezTo>
                <a:cubicBezTo>
                  <a:pt x="193864" y="71929"/>
                  <a:pt x="191051" y="73268"/>
                  <a:pt x="188729" y="75590"/>
                </a:cubicBezTo>
                <a:lnTo>
                  <a:pt x="182746" y="81573"/>
                </a:lnTo>
                <a:cubicBezTo>
                  <a:pt x="180067" y="84252"/>
                  <a:pt x="178549" y="87868"/>
                  <a:pt x="178549" y="91663"/>
                </a:cubicBezTo>
                <a:lnTo>
                  <a:pt x="178549" y="107156"/>
                </a:lnTo>
                <a:cubicBezTo>
                  <a:pt x="178549" y="115059"/>
                  <a:pt x="184934" y="121444"/>
                  <a:pt x="192837" y="121444"/>
                </a:cubicBezTo>
                <a:lnTo>
                  <a:pt x="203597" y="121444"/>
                </a:lnTo>
                <a:cubicBezTo>
                  <a:pt x="204713" y="121444"/>
                  <a:pt x="205829" y="121310"/>
                  <a:pt x="206856" y="121087"/>
                </a:cubicBezTo>
                <a:cubicBezTo>
                  <a:pt x="207035" y="118854"/>
                  <a:pt x="207079" y="116577"/>
                  <a:pt x="207079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4" name="Text 52"/>
          <p:cNvSpPr/>
          <p:nvPr/>
        </p:nvSpPr>
        <p:spPr>
          <a:xfrm>
            <a:off x="6674495" y="6126956"/>
            <a:ext cx="5086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Impact: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Simultaneous discovery in US and UK accelerated development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76101" y="43815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5448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ARPANET: The First Experiment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033462"/>
            <a:ext cx="6791325" cy="2905125"/>
          </a:xfrm>
          <a:custGeom>
            <a:avLst/>
            <a:gdLst/>
            <a:ahLst/>
            <a:cxnLst/>
            <a:rect l="l" t="t" r="r" b="b"/>
            <a:pathLst>
              <a:path w="6791325" h="2905125">
                <a:moveTo>
                  <a:pt x="114288" y="0"/>
                </a:moveTo>
                <a:lnTo>
                  <a:pt x="6677037" y="0"/>
                </a:lnTo>
                <a:cubicBezTo>
                  <a:pt x="6740157" y="0"/>
                  <a:pt x="6791325" y="51168"/>
                  <a:pt x="6791325" y="114288"/>
                </a:cubicBezTo>
                <a:lnTo>
                  <a:pt x="6791325" y="2790837"/>
                </a:lnTo>
                <a:cubicBezTo>
                  <a:pt x="6791325" y="2853957"/>
                  <a:pt x="6740157" y="2905125"/>
                  <a:pt x="6677037" y="2905125"/>
                </a:cubicBezTo>
                <a:lnTo>
                  <a:pt x="114288" y="2905125"/>
                </a:lnTo>
                <a:cubicBezTo>
                  <a:pt x="51168" y="2905125"/>
                  <a:pt x="0" y="2853957"/>
                  <a:pt x="0" y="2790837"/>
                </a:cubicBezTo>
                <a:lnTo>
                  <a:pt x="0" y="114288"/>
                </a:lnTo>
                <a:cubicBezTo>
                  <a:pt x="0" y="51168"/>
                  <a:pt x="51168" y="0"/>
                  <a:pt x="11428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2925" y="1190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695325" y="1343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90625" y="1209675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1969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90625" y="1400175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ARPANET Launch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1838325"/>
            <a:ext cx="6553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ARPA funded a groundbreaking project connecting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universities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creating the first packet-switched network.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1975" y="2447925"/>
            <a:ext cx="3162300" cy="609600"/>
          </a:xfrm>
          <a:custGeom>
            <a:avLst/>
            <a:gdLst/>
            <a:ahLst/>
            <a:cxnLst/>
            <a:rect l="l" t="t" r="r" b="b"/>
            <a:pathLst>
              <a:path w="3162300" h="609600">
                <a:moveTo>
                  <a:pt x="38100" y="0"/>
                </a:moveTo>
                <a:lnTo>
                  <a:pt x="3086100" y="0"/>
                </a:lnTo>
                <a:cubicBezTo>
                  <a:pt x="3128156" y="0"/>
                  <a:pt x="3162300" y="34144"/>
                  <a:pt x="3162300" y="76200"/>
                </a:cubicBezTo>
                <a:lnTo>
                  <a:pt x="3162300" y="533400"/>
                </a:lnTo>
                <a:cubicBezTo>
                  <a:pt x="3162300" y="575456"/>
                  <a:pt x="3128156" y="609600"/>
                  <a:pt x="30861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61975" y="24479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95325" y="2562225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UCLA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5325" y="2790825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of California, Los Angeles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5690" y="2447925"/>
            <a:ext cx="3162300" cy="609600"/>
          </a:xfrm>
          <a:custGeom>
            <a:avLst/>
            <a:gdLst/>
            <a:ahLst/>
            <a:cxnLst/>
            <a:rect l="l" t="t" r="r" b="b"/>
            <a:pathLst>
              <a:path w="3162300" h="609600">
                <a:moveTo>
                  <a:pt x="38100" y="0"/>
                </a:moveTo>
                <a:lnTo>
                  <a:pt x="3086100" y="0"/>
                </a:lnTo>
                <a:cubicBezTo>
                  <a:pt x="3128156" y="0"/>
                  <a:pt x="3162300" y="34144"/>
                  <a:pt x="3162300" y="76200"/>
                </a:cubicBezTo>
                <a:lnTo>
                  <a:pt x="3162300" y="533400"/>
                </a:lnTo>
                <a:cubicBezTo>
                  <a:pt x="3162300" y="575456"/>
                  <a:pt x="3128156" y="609600"/>
                  <a:pt x="30861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855690" y="24479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3989040" y="2562225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89040" y="2790825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Stanford Research Institute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1975" y="3171825"/>
            <a:ext cx="3162300" cy="609600"/>
          </a:xfrm>
          <a:custGeom>
            <a:avLst/>
            <a:gdLst/>
            <a:ahLst/>
            <a:cxnLst/>
            <a:rect l="l" t="t" r="r" b="b"/>
            <a:pathLst>
              <a:path w="3162300" h="609600">
                <a:moveTo>
                  <a:pt x="38100" y="0"/>
                </a:moveTo>
                <a:lnTo>
                  <a:pt x="3086100" y="0"/>
                </a:lnTo>
                <a:cubicBezTo>
                  <a:pt x="3128156" y="0"/>
                  <a:pt x="3162300" y="34144"/>
                  <a:pt x="3162300" y="76200"/>
                </a:cubicBezTo>
                <a:lnTo>
                  <a:pt x="3162300" y="533400"/>
                </a:lnTo>
                <a:cubicBezTo>
                  <a:pt x="3162300" y="575456"/>
                  <a:pt x="3128156" y="609600"/>
                  <a:pt x="30861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61975" y="31718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95325" y="3286125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UCSB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5325" y="3514725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 Santa Barbara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5690" y="3171825"/>
            <a:ext cx="3162300" cy="609600"/>
          </a:xfrm>
          <a:custGeom>
            <a:avLst/>
            <a:gdLst/>
            <a:ahLst/>
            <a:cxnLst/>
            <a:rect l="l" t="t" r="r" b="b"/>
            <a:pathLst>
              <a:path w="3162300" h="609600">
                <a:moveTo>
                  <a:pt x="38100" y="0"/>
                </a:moveTo>
                <a:lnTo>
                  <a:pt x="3086100" y="0"/>
                </a:lnTo>
                <a:cubicBezTo>
                  <a:pt x="3128156" y="0"/>
                  <a:pt x="3162300" y="34144"/>
                  <a:pt x="3162300" y="76200"/>
                </a:cubicBezTo>
                <a:lnTo>
                  <a:pt x="3162300" y="533400"/>
                </a:lnTo>
                <a:cubicBezTo>
                  <a:pt x="3162300" y="575456"/>
                  <a:pt x="3128156" y="609600"/>
                  <a:pt x="30861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855690" y="31718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Text 24"/>
          <p:cNvSpPr/>
          <p:nvPr/>
        </p:nvSpPr>
        <p:spPr>
          <a:xfrm>
            <a:off x="3989040" y="3286125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Utah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89040" y="3514725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of Utah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5763" y="4100513"/>
            <a:ext cx="6791325" cy="2371725"/>
          </a:xfrm>
          <a:custGeom>
            <a:avLst/>
            <a:gdLst/>
            <a:ahLst/>
            <a:cxnLst/>
            <a:rect l="l" t="t" r="r" b="b"/>
            <a:pathLst>
              <a:path w="6791325" h="2371725">
                <a:moveTo>
                  <a:pt x="114293" y="0"/>
                </a:moveTo>
                <a:lnTo>
                  <a:pt x="6677032" y="0"/>
                </a:lnTo>
                <a:cubicBezTo>
                  <a:pt x="6740112" y="0"/>
                  <a:pt x="6791325" y="51213"/>
                  <a:pt x="6791325" y="114293"/>
                </a:cubicBezTo>
                <a:lnTo>
                  <a:pt x="6791325" y="2257432"/>
                </a:lnTo>
                <a:cubicBezTo>
                  <a:pt x="6791325" y="2320512"/>
                  <a:pt x="6740112" y="2371725"/>
                  <a:pt x="667703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2925" y="4257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676275" y="4391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78594"/>
                </a:moveTo>
                <a:cubicBezTo>
                  <a:pt x="147861" y="178594"/>
                  <a:pt x="190500" y="138596"/>
                  <a:pt x="190500" y="89297"/>
                </a:cubicBezTo>
                <a:cubicBezTo>
                  <a:pt x="190500" y="39998"/>
                  <a:pt x="147861" y="0"/>
                  <a:pt x="95250" y="0"/>
                </a:cubicBezTo>
                <a:cubicBezTo>
                  <a:pt x="42639" y="0"/>
                  <a:pt x="0" y="39998"/>
                  <a:pt x="0" y="89297"/>
                </a:cubicBezTo>
                <a:cubicBezTo>
                  <a:pt x="0" y="109500"/>
                  <a:pt x="7144" y="128104"/>
                  <a:pt x="19199" y="143061"/>
                </a:cubicBezTo>
                <a:lnTo>
                  <a:pt x="1042" y="177403"/>
                </a:lnTo>
                <a:cubicBezTo>
                  <a:pt x="-744" y="180752"/>
                  <a:pt x="-186" y="184845"/>
                  <a:pt x="2381" y="187635"/>
                </a:cubicBezTo>
                <a:cubicBezTo>
                  <a:pt x="4949" y="190426"/>
                  <a:pt x="9004" y="191281"/>
                  <a:pt x="12464" y="189793"/>
                </a:cubicBezTo>
                <a:lnTo>
                  <a:pt x="56517" y="170929"/>
                </a:lnTo>
                <a:cubicBezTo>
                  <a:pt x="68349" y="175840"/>
                  <a:pt x="81446" y="178594"/>
                  <a:pt x="95250" y="178594"/>
                </a:cubicBezTo>
                <a:close/>
                <a:moveTo>
                  <a:pt x="47625" y="77391"/>
                </a:moveTo>
                <a:cubicBezTo>
                  <a:pt x="54196" y="77391"/>
                  <a:pt x="59531" y="82726"/>
                  <a:pt x="59531" y="89297"/>
                </a:cubicBezTo>
                <a:cubicBezTo>
                  <a:pt x="59531" y="95868"/>
                  <a:pt x="54196" y="101203"/>
                  <a:pt x="47625" y="101203"/>
                </a:cubicBezTo>
                <a:cubicBezTo>
                  <a:pt x="41054" y="101203"/>
                  <a:pt x="35719" y="95868"/>
                  <a:pt x="35719" y="89297"/>
                </a:cubicBezTo>
                <a:cubicBezTo>
                  <a:pt x="35719" y="82726"/>
                  <a:pt x="41054" y="77391"/>
                  <a:pt x="47625" y="77391"/>
                </a:cubicBezTo>
                <a:close/>
                <a:moveTo>
                  <a:pt x="95250" y="77391"/>
                </a:moveTo>
                <a:cubicBezTo>
                  <a:pt x="101821" y="77391"/>
                  <a:pt x="107156" y="82726"/>
                  <a:pt x="107156" y="89297"/>
                </a:cubicBezTo>
                <a:cubicBezTo>
                  <a:pt x="107156" y="95868"/>
                  <a:pt x="101821" y="101203"/>
                  <a:pt x="95250" y="101203"/>
                </a:cubicBezTo>
                <a:cubicBezTo>
                  <a:pt x="88679" y="101203"/>
                  <a:pt x="83344" y="95868"/>
                  <a:pt x="83344" y="89297"/>
                </a:cubicBezTo>
                <a:cubicBezTo>
                  <a:pt x="83344" y="82726"/>
                  <a:pt x="88679" y="77391"/>
                  <a:pt x="95250" y="77391"/>
                </a:cubicBezTo>
                <a:close/>
                <a:moveTo>
                  <a:pt x="130969" y="89297"/>
                </a:moveTo>
                <a:cubicBezTo>
                  <a:pt x="130969" y="82726"/>
                  <a:pt x="136304" y="77391"/>
                  <a:pt x="142875" y="77391"/>
                </a:cubicBezTo>
                <a:cubicBezTo>
                  <a:pt x="149446" y="77391"/>
                  <a:pt x="154781" y="82726"/>
                  <a:pt x="154781" y="89297"/>
                </a:cubicBezTo>
                <a:cubicBezTo>
                  <a:pt x="154781" y="95868"/>
                  <a:pt x="149446" y="101203"/>
                  <a:pt x="142875" y="101203"/>
                </a:cubicBezTo>
                <a:cubicBezTo>
                  <a:pt x="136304" y="101203"/>
                  <a:pt x="130969" y="95868"/>
                  <a:pt x="130969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114425" y="4257675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October 29, 1969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4425" y="4448175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First Message: "lo"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2925" y="4829175"/>
            <a:ext cx="6553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first message was sent from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UCLA to SRI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They tried to type "login," but the system crashed after sending "lo".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2450" y="5448300"/>
            <a:ext cx="6457950" cy="781050"/>
          </a:xfrm>
          <a:custGeom>
            <a:avLst/>
            <a:gdLst/>
            <a:ahLst/>
            <a:cxnLst/>
            <a:rect l="l" t="t" r="r" b="b"/>
            <a:pathLst>
              <a:path w="6457950" h="781050">
                <a:moveTo>
                  <a:pt x="76199" y="0"/>
                </a:moveTo>
                <a:lnTo>
                  <a:pt x="6381751" y="0"/>
                </a:lnTo>
                <a:cubicBezTo>
                  <a:pt x="6423834" y="0"/>
                  <a:pt x="6457950" y="34116"/>
                  <a:pt x="6457950" y="76199"/>
                </a:cubicBezTo>
                <a:lnTo>
                  <a:pt x="6457950" y="704851"/>
                </a:lnTo>
                <a:cubicBezTo>
                  <a:pt x="6457950" y="746934"/>
                  <a:pt x="6423834" y="781050"/>
                  <a:pt x="6381751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25400">
            <a:solidFill>
              <a:srgbClr val="E07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6012" y="5676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885825" y="5572125"/>
            <a:ext cx="6038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 the very first message was basically </a:t>
            </a:r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"lo"</a:t>
            </a:r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like saying "Hello" to the future.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35143" y="1033462"/>
            <a:ext cx="4467225" cy="3552825"/>
          </a:xfrm>
          <a:custGeom>
            <a:avLst/>
            <a:gdLst/>
            <a:ahLst/>
            <a:cxnLst/>
            <a:rect l="l" t="t" r="r" b="b"/>
            <a:pathLst>
              <a:path w="4467225" h="3552825">
                <a:moveTo>
                  <a:pt x="114294" y="0"/>
                </a:moveTo>
                <a:lnTo>
                  <a:pt x="4352931" y="0"/>
                </a:lnTo>
                <a:cubicBezTo>
                  <a:pt x="4416054" y="0"/>
                  <a:pt x="4467225" y="51171"/>
                  <a:pt x="4467225" y="114294"/>
                </a:cubicBezTo>
                <a:lnTo>
                  <a:pt x="4467225" y="3438531"/>
                </a:lnTo>
                <a:cubicBezTo>
                  <a:pt x="4467225" y="3501654"/>
                  <a:pt x="4416054" y="3552825"/>
                  <a:pt x="4352931" y="3552825"/>
                </a:cubicBezTo>
                <a:lnTo>
                  <a:pt x="114294" y="3552825"/>
                </a:lnTo>
                <a:cubicBezTo>
                  <a:pt x="51171" y="3552825"/>
                  <a:pt x="0" y="3501654"/>
                  <a:pt x="0" y="34385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16118" y="1238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9" name="Text 37"/>
          <p:cNvSpPr/>
          <p:nvPr/>
        </p:nvSpPr>
        <p:spPr>
          <a:xfrm>
            <a:off x="7711380" y="1190625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 Network Topology</a:t>
            </a:r>
            <a:endParaRPr lang="en-US" sz="1600" dirty="0"/>
          </a:p>
        </p:txBody>
      </p:sp>
      <p:pic>
        <p:nvPicPr>
          <p:cNvPr id="40" name="Image 0" descr="https://kimi-web-img.moonshot.cn/img/upload.wikimedia.org/054de015e18950c25853e9e07f3d3263c163cea3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59" r="59" t="0" b="0"/>
          <a:stretch/>
        </p:blipFill>
        <p:spPr>
          <a:xfrm>
            <a:off x="8240316" y="1571625"/>
            <a:ext cx="2657475" cy="1905000"/>
          </a:xfrm>
          <a:prstGeom prst="roundRect">
            <a:avLst>
              <a:gd name="adj" fmla="val 4000"/>
            </a:avLst>
          </a:prstGeom>
        </p:spPr>
      </p:pic>
      <p:sp>
        <p:nvSpPr>
          <p:cNvPr id="41" name="Shape 38"/>
          <p:cNvSpPr/>
          <p:nvPr/>
        </p:nvSpPr>
        <p:spPr>
          <a:xfrm>
            <a:off x="7948910" y="359077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2" name="Text 39"/>
          <p:cNvSpPr/>
          <p:nvPr/>
        </p:nvSpPr>
        <p:spPr>
          <a:xfrm>
            <a:off x="7658993" y="3552676"/>
            <a:ext cx="401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nodes connected in a pioneering configuration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335143" y="4748213"/>
            <a:ext cx="4467225" cy="1724025"/>
          </a:xfrm>
          <a:custGeom>
            <a:avLst/>
            <a:gdLst/>
            <a:ahLst/>
            <a:cxnLst/>
            <a:rect l="l" t="t" r="r" b="b"/>
            <a:pathLst>
              <a:path w="4467225" h="1724025">
                <a:moveTo>
                  <a:pt x="114303" y="0"/>
                </a:moveTo>
                <a:lnTo>
                  <a:pt x="4352922" y="0"/>
                </a:lnTo>
                <a:cubicBezTo>
                  <a:pt x="4416008" y="0"/>
                  <a:pt x="4467225" y="51217"/>
                  <a:pt x="4467225" y="114303"/>
                </a:cubicBezTo>
                <a:lnTo>
                  <a:pt x="4467225" y="1609722"/>
                </a:lnTo>
                <a:cubicBezTo>
                  <a:pt x="4467225" y="1672808"/>
                  <a:pt x="4416008" y="1724025"/>
                  <a:pt x="435292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520880" y="49434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0"/>
                </a:moveTo>
                <a:lnTo>
                  <a:pt x="38100" y="0"/>
                </a:lnTo>
                <a:cubicBezTo>
                  <a:pt x="32831" y="0"/>
                  <a:pt x="28575" y="4256"/>
                  <a:pt x="28575" y="9525"/>
                </a:cubicBezTo>
                <a:cubicBezTo>
                  <a:pt x="28575" y="14794"/>
                  <a:pt x="32831" y="19050"/>
                  <a:pt x="38100" y="19050"/>
                </a:cubicBezTo>
                <a:lnTo>
                  <a:pt x="38100" y="64145"/>
                </a:lnTo>
                <a:lnTo>
                  <a:pt x="2232" y="126891"/>
                </a:lnTo>
                <a:cubicBezTo>
                  <a:pt x="774" y="129480"/>
                  <a:pt x="0" y="132368"/>
                  <a:pt x="0" y="135344"/>
                </a:cubicBezTo>
                <a:cubicBezTo>
                  <a:pt x="0" y="144780"/>
                  <a:pt x="7620" y="152400"/>
                  <a:pt x="17056" y="152400"/>
                </a:cubicBezTo>
                <a:lnTo>
                  <a:pt x="116294" y="152400"/>
                </a:lnTo>
                <a:cubicBezTo>
                  <a:pt x="125700" y="152400"/>
                  <a:pt x="133350" y="144780"/>
                  <a:pt x="133350" y="135344"/>
                </a:cubicBezTo>
                <a:cubicBezTo>
                  <a:pt x="133350" y="132368"/>
                  <a:pt x="132576" y="129451"/>
                  <a:pt x="131118" y="126891"/>
                </a:cubicBezTo>
                <a:lnTo>
                  <a:pt x="95250" y="64145"/>
                </a:lnTo>
                <a:lnTo>
                  <a:pt x="95250" y="19050"/>
                </a:lnTo>
                <a:cubicBezTo>
                  <a:pt x="100519" y="19050"/>
                  <a:pt x="104775" y="14794"/>
                  <a:pt x="104775" y="9525"/>
                </a:cubicBezTo>
                <a:cubicBezTo>
                  <a:pt x="104775" y="4256"/>
                  <a:pt x="100519" y="0"/>
                  <a:pt x="95250" y="0"/>
                </a:cubicBezTo>
                <a:lnTo>
                  <a:pt x="85725" y="0"/>
                </a:lnTo>
                <a:close/>
                <a:moveTo>
                  <a:pt x="57150" y="64145"/>
                </a:moveTo>
                <a:lnTo>
                  <a:pt x="57150" y="19050"/>
                </a:lnTo>
                <a:lnTo>
                  <a:pt x="76200" y="19050"/>
                </a:lnTo>
                <a:lnTo>
                  <a:pt x="76200" y="64145"/>
                </a:lnTo>
                <a:cubicBezTo>
                  <a:pt x="76200" y="67449"/>
                  <a:pt x="77063" y="70723"/>
                  <a:pt x="78700" y="73610"/>
                </a:cubicBezTo>
                <a:lnTo>
                  <a:pt x="91083" y="95250"/>
                </a:lnTo>
                <a:lnTo>
                  <a:pt x="42267" y="95250"/>
                </a:lnTo>
                <a:lnTo>
                  <a:pt x="54650" y="73610"/>
                </a:lnTo>
                <a:cubicBezTo>
                  <a:pt x="56287" y="70723"/>
                  <a:pt x="57150" y="67479"/>
                  <a:pt x="57150" y="6414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5" name="Text 42"/>
          <p:cNvSpPr/>
          <p:nvPr/>
        </p:nvSpPr>
        <p:spPr>
          <a:xfrm>
            <a:off x="7682805" y="4905375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Was Tested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511355" y="5248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7" name="Text 44"/>
          <p:cNvSpPr/>
          <p:nvPr/>
        </p:nvSpPr>
        <p:spPr>
          <a:xfrm>
            <a:off x="7759005" y="5210175"/>
            <a:ext cx="3952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Packet Switching: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broken into packets traveling different routes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511355" y="5705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9" name="Text 46"/>
          <p:cNvSpPr/>
          <p:nvPr/>
        </p:nvSpPr>
        <p:spPr>
          <a:xfrm>
            <a:off x="7759005" y="5667375"/>
            <a:ext cx="3952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Host-to-Host Protocol: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NCP (Network Control Protocol) communication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511355" y="6162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1" name="Text 48"/>
          <p:cNvSpPr/>
          <p:nvPr/>
        </p:nvSpPr>
        <p:spPr>
          <a:xfrm>
            <a:off x="7759005" y="6124575"/>
            <a:ext cx="356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Access: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Computers communicating over distance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928" y="378928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73512" y="435767"/>
            <a:ext cx="274723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1534" y="378928"/>
            <a:ext cx="5418667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TCP/IP: The Universal Language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8928" y="833641"/>
            <a:ext cx="909427" cy="37893"/>
          </a:xfrm>
          <a:custGeom>
            <a:avLst/>
            <a:gdLst/>
            <a:ahLst/>
            <a:cxnLst/>
            <a:rect l="l" t="t" r="r" b="b"/>
            <a:pathLst>
              <a:path w="909427" h="37893">
                <a:moveTo>
                  <a:pt x="0" y="0"/>
                </a:moveTo>
                <a:lnTo>
                  <a:pt x="909427" y="0"/>
                </a:lnTo>
                <a:lnTo>
                  <a:pt x="909427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3664" y="1027841"/>
            <a:ext cx="5636550" cy="2245147"/>
          </a:xfrm>
          <a:custGeom>
            <a:avLst/>
            <a:gdLst/>
            <a:ahLst/>
            <a:cxnLst/>
            <a:rect l="l" t="t" r="r" b="b"/>
            <a:pathLst>
              <a:path w="5636550" h="2245147">
                <a:moveTo>
                  <a:pt x="113672" y="0"/>
                </a:moveTo>
                <a:lnTo>
                  <a:pt x="5522878" y="0"/>
                </a:lnTo>
                <a:cubicBezTo>
                  <a:pt x="5585658" y="0"/>
                  <a:pt x="5636550" y="50893"/>
                  <a:pt x="5636550" y="113672"/>
                </a:cubicBezTo>
                <a:lnTo>
                  <a:pt x="5636550" y="2131475"/>
                </a:lnTo>
                <a:cubicBezTo>
                  <a:pt x="5636550" y="2194254"/>
                  <a:pt x="5585658" y="2245147"/>
                  <a:pt x="5522878" y="2245147"/>
                </a:cubicBezTo>
                <a:lnTo>
                  <a:pt x="113672" y="2245147"/>
                </a:lnTo>
                <a:cubicBezTo>
                  <a:pt x="50935" y="2245147"/>
                  <a:pt x="0" y="2194212"/>
                  <a:pt x="0" y="2131475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972" y="1184149"/>
            <a:ext cx="530499" cy="530499"/>
          </a:xfrm>
          <a:custGeom>
            <a:avLst/>
            <a:gdLst/>
            <a:ahLst/>
            <a:cxnLst/>
            <a:rect l="l" t="t" r="r" b="b"/>
            <a:pathLst>
              <a:path w="530499" h="530499">
                <a:moveTo>
                  <a:pt x="113681" y="0"/>
                </a:moveTo>
                <a:lnTo>
                  <a:pt x="416818" y="0"/>
                </a:lnTo>
                <a:cubicBezTo>
                  <a:pt x="479560" y="0"/>
                  <a:pt x="530499" y="50939"/>
                  <a:pt x="530499" y="113681"/>
                </a:cubicBezTo>
                <a:lnTo>
                  <a:pt x="530499" y="416818"/>
                </a:lnTo>
                <a:cubicBezTo>
                  <a:pt x="530499" y="479560"/>
                  <a:pt x="479560" y="530499"/>
                  <a:pt x="416818" y="530499"/>
                </a:cubicBezTo>
                <a:lnTo>
                  <a:pt x="113681" y="530499"/>
                </a:lnTo>
                <a:cubicBezTo>
                  <a:pt x="50939" y="530499"/>
                  <a:pt x="0" y="479560"/>
                  <a:pt x="0" y="416818"/>
                </a:cubicBezTo>
                <a:lnTo>
                  <a:pt x="0" y="113681"/>
                </a:lnTo>
                <a:cubicBezTo>
                  <a:pt x="0" y="50939"/>
                  <a:pt x="50939" y="0"/>
                  <a:pt x="113681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663124" y="1335720"/>
            <a:ext cx="284196" cy="227357"/>
          </a:xfrm>
          <a:custGeom>
            <a:avLst/>
            <a:gdLst/>
            <a:ahLst/>
            <a:cxnLst/>
            <a:rect l="l" t="t" r="r" b="b"/>
            <a:pathLst>
              <a:path w="284196" h="227357">
                <a:moveTo>
                  <a:pt x="142098" y="7105"/>
                </a:moveTo>
                <a:cubicBezTo>
                  <a:pt x="167586" y="7105"/>
                  <a:pt x="188280" y="27798"/>
                  <a:pt x="188280" y="53287"/>
                </a:cubicBezTo>
                <a:cubicBezTo>
                  <a:pt x="188280" y="78775"/>
                  <a:pt x="167586" y="99469"/>
                  <a:pt x="142098" y="99469"/>
                </a:cubicBezTo>
                <a:cubicBezTo>
                  <a:pt x="116609" y="99469"/>
                  <a:pt x="95916" y="78775"/>
                  <a:pt x="95916" y="53287"/>
                </a:cubicBezTo>
                <a:cubicBezTo>
                  <a:pt x="95916" y="27798"/>
                  <a:pt x="116609" y="7105"/>
                  <a:pt x="142098" y="7105"/>
                </a:cubicBezTo>
                <a:close/>
                <a:moveTo>
                  <a:pt x="42629" y="39077"/>
                </a:moveTo>
                <a:cubicBezTo>
                  <a:pt x="60275" y="39077"/>
                  <a:pt x="74601" y="53403"/>
                  <a:pt x="74601" y="71049"/>
                </a:cubicBezTo>
                <a:cubicBezTo>
                  <a:pt x="74601" y="88695"/>
                  <a:pt x="60275" y="103021"/>
                  <a:pt x="42629" y="103021"/>
                </a:cubicBezTo>
                <a:cubicBezTo>
                  <a:pt x="24984" y="103021"/>
                  <a:pt x="10657" y="88695"/>
                  <a:pt x="10657" y="71049"/>
                </a:cubicBezTo>
                <a:cubicBezTo>
                  <a:pt x="10657" y="53403"/>
                  <a:pt x="24984" y="39077"/>
                  <a:pt x="42629" y="39077"/>
                </a:cubicBezTo>
                <a:close/>
                <a:moveTo>
                  <a:pt x="0" y="184727"/>
                </a:moveTo>
                <a:cubicBezTo>
                  <a:pt x="0" y="153333"/>
                  <a:pt x="25444" y="127888"/>
                  <a:pt x="56839" y="127888"/>
                </a:cubicBezTo>
                <a:cubicBezTo>
                  <a:pt x="62523" y="127888"/>
                  <a:pt x="68029" y="128732"/>
                  <a:pt x="73225" y="130286"/>
                </a:cubicBezTo>
                <a:cubicBezTo>
                  <a:pt x="58615" y="146627"/>
                  <a:pt x="49734" y="168208"/>
                  <a:pt x="49734" y="191832"/>
                </a:cubicBezTo>
                <a:lnTo>
                  <a:pt x="49734" y="198937"/>
                </a:lnTo>
                <a:cubicBezTo>
                  <a:pt x="49734" y="203999"/>
                  <a:pt x="50800" y="208795"/>
                  <a:pt x="52709" y="213147"/>
                </a:cubicBezTo>
                <a:lnTo>
                  <a:pt x="14210" y="213147"/>
                </a:lnTo>
                <a:cubicBezTo>
                  <a:pt x="6350" y="213147"/>
                  <a:pt x="0" y="206797"/>
                  <a:pt x="0" y="198937"/>
                </a:cubicBezTo>
                <a:lnTo>
                  <a:pt x="0" y="184727"/>
                </a:lnTo>
                <a:close/>
                <a:moveTo>
                  <a:pt x="231486" y="213147"/>
                </a:moveTo>
                <a:cubicBezTo>
                  <a:pt x="233396" y="208795"/>
                  <a:pt x="234462" y="203999"/>
                  <a:pt x="234462" y="198937"/>
                </a:cubicBezTo>
                <a:lnTo>
                  <a:pt x="234462" y="191832"/>
                </a:lnTo>
                <a:cubicBezTo>
                  <a:pt x="234462" y="168208"/>
                  <a:pt x="225580" y="146627"/>
                  <a:pt x="210971" y="130286"/>
                </a:cubicBezTo>
                <a:cubicBezTo>
                  <a:pt x="216166" y="128732"/>
                  <a:pt x="221673" y="127888"/>
                  <a:pt x="227357" y="127888"/>
                </a:cubicBezTo>
                <a:cubicBezTo>
                  <a:pt x="258751" y="127888"/>
                  <a:pt x="284196" y="153333"/>
                  <a:pt x="284196" y="184727"/>
                </a:cubicBezTo>
                <a:lnTo>
                  <a:pt x="284196" y="198937"/>
                </a:lnTo>
                <a:cubicBezTo>
                  <a:pt x="284196" y="206797"/>
                  <a:pt x="277846" y="213147"/>
                  <a:pt x="269986" y="213147"/>
                </a:cubicBezTo>
                <a:lnTo>
                  <a:pt x="231486" y="213147"/>
                </a:lnTo>
                <a:close/>
                <a:moveTo>
                  <a:pt x="209594" y="71049"/>
                </a:moveTo>
                <a:cubicBezTo>
                  <a:pt x="209594" y="53403"/>
                  <a:pt x="223921" y="39077"/>
                  <a:pt x="241566" y="39077"/>
                </a:cubicBezTo>
                <a:cubicBezTo>
                  <a:pt x="259212" y="39077"/>
                  <a:pt x="273538" y="53403"/>
                  <a:pt x="273538" y="71049"/>
                </a:cubicBezTo>
                <a:cubicBezTo>
                  <a:pt x="273538" y="88695"/>
                  <a:pt x="259212" y="103021"/>
                  <a:pt x="241566" y="103021"/>
                </a:cubicBezTo>
                <a:cubicBezTo>
                  <a:pt x="223921" y="103021"/>
                  <a:pt x="209594" y="88695"/>
                  <a:pt x="209594" y="71049"/>
                </a:cubicBezTo>
                <a:close/>
                <a:moveTo>
                  <a:pt x="71049" y="191832"/>
                </a:moveTo>
                <a:cubicBezTo>
                  <a:pt x="71049" y="152578"/>
                  <a:pt x="102843" y="120783"/>
                  <a:pt x="142098" y="120783"/>
                </a:cubicBezTo>
                <a:cubicBezTo>
                  <a:pt x="181352" y="120783"/>
                  <a:pt x="213147" y="152578"/>
                  <a:pt x="213147" y="191832"/>
                </a:cubicBezTo>
                <a:lnTo>
                  <a:pt x="213147" y="198937"/>
                </a:lnTo>
                <a:cubicBezTo>
                  <a:pt x="213147" y="206797"/>
                  <a:pt x="206797" y="213147"/>
                  <a:pt x="198937" y="213147"/>
                </a:cubicBezTo>
                <a:lnTo>
                  <a:pt x="85259" y="213147"/>
                </a:lnTo>
                <a:cubicBezTo>
                  <a:pt x="77399" y="213147"/>
                  <a:pt x="71049" y="206797"/>
                  <a:pt x="71049" y="198937"/>
                </a:cubicBezTo>
                <a:lnTo>
                  <a:pt x="71049" y="1918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4149" y="1222042"/>
            <a:ext cx="2017790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Vint Cerf &amp; Bob Kahn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4149" y="1487291"/>
            <a:ext cx="1989371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"Fathers of the Internet"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972" y="1828326"/>
            <a:ext cx="5399720" cy="492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different networks emerged, a critical question arose: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"How do we get them all to talk to each other?"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972" y="2434611"/>
            <a:ext cx="5399720" cy="492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Cerf and Kahn developed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(Transmission Control Protocol)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early 1970s, later splitting it into TCP + IP.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6966" y="1027841"/>
            <a:ext cx="5636550" cy="2245147"/>
          </a:xfrm>
          <a:custGeom>
            <a:avLst/>
            <a:gdLst/>
            <a:ahLst/>
            <a:cxnLst/>
            <a:rect l="l" t="t" r="r" b="b"/>
            <a:pathLst>
              <a:path w="5636550" h="2245147">
                <a:moveTo>
                  <a:pt x="113672" y="0"/>
                </a:moveTo>
                <a:lnTo>
                  <a:pt x="5522878" y="0"/>
                </a:lnTo>
                <a:cubicBezTo>
                  <a:pt x="5585658" y="0"/>
                  <a:pt x="5636550" y="50893"/>
                  <a:pt x="5636550" y="113672"/>
                </a:cubicBezTo>
                <a:lnTo>
                  <a:pt x="5636550" y="2131475"/>
                </a:lnTo>
                <a:cubicBezTo>
                  <a:pt x="5636550" y="2194254"/>
                  <a:pt x="5585658" y="2245147"/>
                  <a:pt x="5522878" y="2245147"/>
                </a:cubicBezTo>
                <a:lnTo>
                  <a:pt x="113672" y="2245147"/>
                </a:lnTo>
                <a:cubicBezTo>
                  <a:pt x="50935" y="2245147"/>
                  <a:pt x="0" y="2194212"/>
                  <a:pt x="0" y="2131475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3274" y="1184149"/>
            <a:ext cx="530499" cy="530499"/>
          </a:xfrm>
          <a:custGeom>
            <a:avLst/>
            <a:gdLst/>
            <a:ahLst/>
            <a:cxnLst/>
            <a:rect l="l" t="t" r="r" b="b"/>
            <a:pathLst>
              <a:path w="530499" h="530499">
                <a:moveTo>
                  <a:pt x="113681" y="0"/>
                </a:moveTo>
                <a:lnTo>
                  <a:pt x="416818" y="0"/>
                </a:lnTo>
                <a:cubicBezTo>
                  <a:pt x="479560" y="0"/>
                  <a:pt x="530499" y="50939"/>
                  <a:pt x="530499" y="113681"/>
                </a:cubicBezTo>
                <a:lnTo>
                  <a:pt x="530499" y="416818"/>
                </a:lnTo>
                <a:cubicBezTo>
                  <a:pt x="530499" y="479560"/>
                  <a:pt x="479560" y="530499"/>
                  <a:pt x="416818" y="530499"/>
                </a:cubicBezTo>
                <a:lnTo>
                  <a:pt x="113681" y="530499"/>
                </a:lnTo>
                <a:cubicBezTo>
                  <a:pt x="50939" y="530499"/>
                  <a:pt x="0" y="479560"/>
                  <a:pt x="0" y="416818"/>
                </a:cubicBezTo>
                <a:lnTo>
                  <a:pt x="0" y="113681"/>
                </a:lnTo>
                <a:cubicBezTo>
                  <a:pt x="0" y="50939"/>
                  <a:pt x="50939" y="0"/>
                  <a:pt x="113681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6499055" y="1335720"/>
            <a:ext cx="198937" cy="227357"/>
          </a:xfrm>
          <a:custGeom>
            <a:avLst/>
            <a:gdLst/>
            <a:ahLst/>
            <a:cxnLst/>
            <a:rect l="l" t="t" r="r" b="b"/>
            <a:pathLst>
              <a:path w="198937" h="227357">
                <a:moveTo>
                  <a:pt x="28420" y="14210"/>
                </a:moveTo>
                <a:cubicBezTo>
                  <a:pt x="28420" y="6350"/>
                  <a:pt x="22070" y="0"/>
                  <a:pt x="14210" y="0"/>
                </a:cubicBezTo>
                <a:cubicBezTo>
                  <a:pt x="6350" y="0"/>
                  <a:pt x="0" y="6350"/>
                  <a:pt x="0" y="14210"/>
                </a:cubicBezTo>
                <a:lnTo>
                  <a:pt x="0" y="213147"/>
                </a:lnTo>
                <a:cubicBezTo>
                  <a:pt x="0" y="221007"/>
                  <a:pt x="6350" y="227357"/>
                  <a:pt x="14210" y="227357"/>
                </a:cubicBezTo>
                <a:cubicBezTo>
                  <a:pt x="22070" y="227357"/>
                  <a:pt x="28420" y="221007"/>
                  <a:pt x="28420" y="213147"/>
                </a:cubicBezTo>
                <a:lnTo>
                  <a:pt x="28420" y="159150"/>
                </a:lnTo>
                <a:lnTo>
                  <a:pt x="56262" y="150801"/>
                </a:lnTo>
                <a:cubicBezTo>
                  <a:pt x="74868" y="145206"/>
                  <a:pt x="94939" y="146938"/>
                  <a:pt x="112302" y="155642"/>
                </a:cubicBezTo>
                <a:cubicBezTo>
                  <a:pt x="131263" y="165144"/>
                  <a:pt x="153377" y="166299"/>
                  <a:pt x="173226" y="158839"/>
                </a:cubicBezTo>
                <a:lnTo>
                  <a:pt x="189701" y="152666"/>
                </a:lnTo>
                <a:cubicBezTo>
                  <a:pt x="195251" y="150579"/>
                  <a:pt x="198937" y="145295"/>
                  <a:pt x="198937" y="139345"/>
                </a:cubicBezTo>
                <a:lnTo>
                  <a:pt x="198937" y="29352"/>
                </a:lnTo>
                <a:cubicBezTo>
                  <a:pt x="198937" y="19139"/>
                  <a:pt x="188191" y="12478"/>
                  <a:pt x="179043" y="17052"/>
                </a:cubicBezTo>
                <a:lnTo>
                  <a:pt x="173803" y="19672"/>
                </a:lnTo>
                <a:cubicBezTo>
                  <a:pt x="153865" y="29663"/>
                  <a:pt x="130375" y="29663"/>
                  <a:pt x="110392" y="19672"/>
                </a:cubicBezTo>
                <a:cubicBezTo>
                  <a:pt x="94229" y="11590"/>
                  <a:pt x="75623" y="9991"/>
                  <a:pt x="58349" y="15187"/>
                </a:cubicBezTo>
                <a:lnTo>
                  <a:pt x="28420" y="24157"/>
                </a:lnTo>
                <a:lnTo>
                  <a:pt x="28420" y="1421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977451" y="1222042"/>
            <a:ext cx="1051524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January 1, 1983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77451" y="1411506"/>
            <a:ext cx="1079944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Flag Day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33274" y="1828326"/>
            <a:ext cx="5399720" cy="492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ARPANET officially switched from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NCP to TCP/IP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This date is considered the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E07A5F"/>
                </a:solidFill>
                <a:highlight>
                  <a:srgbClr val="E07A5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"birthday of the modern Internet" 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52220" y="2434611"/>
            <a:ext cx="5304988" cy="682070"/>
          </a:xfrm>
          <a:custGeom>
            <a:avLst/>
            <a:gdLst/>
            <a:ahLst/>
            <a:cxnLst/>
            <a:rect l="l" t="t" r="r" b="b"/>
            <a:pathLst>
              <a:path w="5304988" h="682070">
                <a:moveTo>
                  <a:pt x="37893" y="0"/>
                </a:moveTo>
                <a:lnTo>
                  <a:pt x="5229204" y="0"/>
                </a:lnTo>
                <a:cubicBezTo>
                  <a:pt x="5271058" y="0"/>
                  <a:pt x="5304988" y="33930"/>
                  <a:pt x="5304988" y="75785"/>
                </a:cubicBezTo>
                <a:lnTo>
                  <a:pt x="5304988" y="606285"/>
                </a:lnTo>
                <a:cubicBezTo>
                  <a:pt x="5304988" y="648140"/>
                  <a:pt x="5271058" y="682070"/>
                  <a:pt x="5229204" y="682070"/>
                </a:cubicBezTo>
                <a:lnTo>
                  <a:pt x="37893" y="682070"/>
                </a:lnTo>
                <a:cubicBezTo>
                  <a:pt x="16965" y="682070"/>
                  <a:pt x="0" y="665105"/>
                  <a:pt x="0" y="644177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52220" y="2434611"/>
            <a:ext cx="37893" cy="682070"/>
          </a:xfrm>
          <a:custGeom>
            <a:avLst/>
            <a:gdLst/>
            <a:ahLst/>
            <a:cxnLst/>
            <a:rect l="l" t="t" r="r" b="b"/>
            <a:pathLst>
              <a:path w="37893" h="682070">
                <a:moveTo>
                  <a:pt x="37893" y="0"/>
                </a:moveTo>
                <a:lnTo>
                  <a:pt x="37893" y="0"/>
                </a:lnTo>
                <a:lnTo>
                  <a:pt x="37893" y="682070"/>
                </a:lnTo>
                <a:lnTo>
                  <a:pt x="37893" y="682070"/>
                </a:lnTo>
                <a:cubicBezTo>
                  <a:pt x="16965" y="682070"/>
                  <a:pt x="0" y="665105"/>
                  <a:pt x="0" y="644177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484845" y="2548289"/>
            <a:ext cx="513447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Significance: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Everything now used the same "language" — universal protocol standardization.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3664" y="3434033"/>
            <a:ext cx="11424671" cy="2680914"/>
          </a:xfrm>
          <a:custGeom>
            <a:avLst/>
            <a:gdLst/>
            <a:ahLst/>
            <a:cxnLst/>
            <a:rect l="l" t="t" r="r" b="b"/>
            <a:pathLst>
              <a:path w="11424671" h="2680914">
                <a:moveTo>
                  <a:pt x="113671" y="0"/>
                </a:moveTo>
                <a:lnTo>
                  <a:pt x="11311001" y="0"/>
                </a:lnTo>
                <a:cubicBezTo>
                  <a:pt x="11373779" y="0"/>
                  <a:pt x="11424671" y="50892"/>
                  <a:pt x="11424671" y="113671"/>
                </a:cubicBezTo>
                <a:lnTo>
                  <a:pt x="11424671" y="2567243"/>
                </a:lnTo>
                <a:cubicBezTo>
                  <a:pt x="11424671" y="2630022"/>
                  <a:pt x="11373779" y="2680914"/>
                  <a:pt x="11311001" y="2680914"/>
                </a:cubicBezTo>
                <a:lnTo>
                  <a:pt x="113671" y="2680914"/>
                </a:lnTo>
                <a:cubicBezTo>
                  <a:pt x="50892" y="2680914"/>
                  <a:pt x="0" y="2630022"/>
                  <a:pt x="0" y="2567243"/>
                </a:cubicBezTo>
                <a:lnTo>
                  <a:pt x="0" y="113671"/>
                </a:lnTo>
                <a:cubicBezTo>
                  <a:pt x="0" y="50934"/>
                  <a:pt x="50934" y="0"/>
                  <a:pt x="11367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3655" y="3628233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86036" y="1924"/>
                </a:moveTo>
                <a:cubicBezTo>
                  <a:pt x="91550" y="-629"/>
                  <a:pt x="97914" y="-629"/>
                  <a:pt x="103428" y="1924"/>
                </a:cubicBezTo>
                <a:lnTo>
                  <a:pt x="184320" y="39299"/>
                </a:lnTo>
                <a:cubicBezTo>
                  <a:pt x="187466" y="40742"/>
                  <a:pt x="189464" y="43888"/>
                  <a:pt x="189464" y="47366"/>
                </a:cubicBezTo>
                <a:cubicBezTo>
                  <a:pt x="189464" y="50844"/>
                  <a:pt x="187466" y="53990"/>
                  <a:pt x="184320" y="55433"/>
                </a:cubicBezTo>
                <a:lnTo>
                  <a:pt x="103428" y="92808"/>
                </a:lnTo>
                <a:cubicBezTo>
                  <a:pt x="97914" y="95361"/>
                  <a:pt x="91550" y="95361"/>
                  <a:pt x="86036" y="92808"/>
                </a:cubicBezTo>
                <a:lnTo>
                  <a:pt x="5144" y="55433"/>
                </a:lnTo>
                <a:cubicBezTo>
                  <a:pt x="1998" y="53953"/>
                  <a:pt x="0" y="50807"/>
                  <a:pt x="0" y="47366"/>
                </a:cubicBezTo>
                <a:cubicBezTo>
                  <a:pt x="0" y="43925"/>
                  <a:pt x="1998" y="40742"/>
                  <a:pt x="5144" y="39299"/>
                </a:cubicBezTo>
                <a:lnTo>
                  <a:pt x="86036" y="1924"/>
                </a:lnTo>
                <a:close/>
                <a:moveTo>
                  <a:pt x="17799" y="80818"/>
                </a:moveTo>
                <a:lnTo>
                  <a:pt x="78598" y="108905"/>
                </a:lnTo>
                <a:cubicBezTo>
                  <a:pt x="88848" y="113641"/>
                  <a:pt x="100653" y="113641"/>
                  <a:pt x="110903" y="108905"/>
                </a:cubicBezTo>
                <a:lnTo>
                  <a:pt x="171702" y="80818"/>
                </a:lnTo>
                <a:lnTo>
                  <a:pt x="184320" y="86665"/>
                </a:lnTo>
                <a:cubicBezTo>
                  <a:pt x="187466" y="88108"/>
                  <a:pt x="189464" y="91253"/>
                  <a:pt x="189464" y="94732"/>
                </a:cubicBezTo>
                <a:cubicBezTo>
                  <a:pt x="189464" y="98210"/>
                  <a:pt x="187466" y="101356"/>
                  <a:pt x="184320" y="102799"/>
                </a:cubicBezTo>
                <a:lnTo>
                  <a:pt x="103428" y="140174"/>
                </a:lnTo>
                <a:cubicBezTo>
                  <a:pt x="97914" y="142727"/>
                  <a:pt x="91550" y="142727"/>
                  <a:pt x="86036" y="140174"/>
                </a:cubicBezTo>
                <a:lnTo>
                  <a:pt x="5144" y="102799"/>
                </a:lnTo>
                <a:cubicBezTo>
                  <a:pt x="1998" y="101319"/>
                  <a:pt x="0" y="98173"/>
                  <a:pt x="0" y="94732"/>
                </a:cubicBezTo>
                <a:cubicBezTo>
                  <a:pt x="0" y="91291"/>
                  <a:pt x="1998" y="88108"/>
                  <a:pt x="5144" y="86665"/>
                </a:cubicBezTo>
                <a:lnTo>
                  <a:pt x="17762" y="80818"/>
                </a:lnTo>
                <a:close/>
                <a:moveTo>
                  <a:pt x="5144" y="134031"/>
                </a:moveTo>
                <a:lnTo>
                  <a:pt x="17762" y="128184"/>
                </a:lnTo>
                <a:lnTo>
                  <a:pt x="78561" y="156271"/>
                </a:lnTo>
                <a:cubicBezTo>
                  <a:pt x="88811" y="161007"/>
                  <a:pt x="100616" y="161007"/>
                  <a:pt x="110866" y="156271"/>
                </a:cubicBezTo>
                <a:lnTo>
                  <a:pt x="171665" y="128184"/>
                </a:lnTo>
                <a:lnTo>
                  <a:pt x="184283" y="134031"/>
                </a:lnTo>
                <a:cubicBezTo>
                  <a:pt x="187429" y="135474"/>
                  <a:pt x="189427" y="138619"/>
                  <a:pt x="189427" y="142098"/>
                </a:cubicBezTo>
                <a:cubicBezTo>
                  <a:pt x="189427" y="145576"/>
                  <a:pt x="187429" y="148722"/>
                  <a:pt x="184283" y="150165"/>
                </a:cubicBezTo>
                <a:lnTo>
                  <a:pt x="103391" y="187540"/>
                </a:lnTo>
                <a:cubicBezTo>
                  <a:pt x="97877" y="190093"/>
                  <a:pt x="91513" y="190093"/>
                  <a:pt x="85999" y="187540"/>
                </a:cubicBezTo>
                <a:lnTo>
                  <a:pt x="5144" y="150165"/>
                </a:lnTo>
                <a:cubicBezTo>
                  <a:pt x="1998" y="148685"/>
                  <a:pt x="0" y="145539"/>
                  <a:pt x="0" y="142098"/>
                </a:cubicBezTo>
                <a:cubicBezTo>
                  <a:pt x="0" y="138656"/>
                  <a:pt x="1998" y="135474"/>
                  <a:pt x="5144" y="1340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4" name="Text 22"/>
          <p:cNvSpPr/>
          <p:nvPr/>
        </p:nvSpPr>
        <p:spPr>
          <a:xfrm>
            <a:off x="776802" y="3590340"/>
            <a:ext cx="1096995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TCP/IP Breakdown: Two Critical Functions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4709" y="4011897"/>
            <a:ext cx="5475506" cy="1942005"/>
          </a:xfrm>
          <a:custGeom>
            <a:avLst/>
            <a:gdLst/>
            <a:ahLst/>
            <a:cxnLst/>
            <a:rect l="l" t="t" r="r" b="b"/>
            <a:pathLst>
              <a:path w="5475506" h="1942005">
                <a:moveTo>
                  <a:pt x="113685" y="0"/>
                </a:moveTo>
                <a:lnTo>
                  <a:pt x="5361821" y="0"/>
                </a:lnTo>
                <a:cubicBezTo>
                  <a:pt x="5424607" y="0"/>
                  <a:pt x="5475506" y="50898"/>
                  <a:pt x="5475506" y="113685"/>
                </a:cubicBezTo>
                <a:lnTo>
                  <a:pt x="5475506" y="1828320"/>
                </a:lnTo>
                <a:cubicBezTo>
                  <a:pt x="5475506" y="1891106"/>
                  <a:pt x="5424607" y="1942005"/>
                  <a:pt x="5361821" y="1942005"/>
                </a:cubicBezTo>
                <a:lnTo>
                  <a:pt x="113685" y="1942005"/>
                </a:lnTo>
                <a:cubicBezTo>
                  <a:pt x="50898" y="1942005"/>
                  <a:pt x="0" y="1891106"/>
                  <a:pt x="0" y="1828320"/>
                </a:cubicBezTo>
                <a:lnTo>
                  <a:pt x="0" y="113685"/>
                </a:lnTo>
                <a:cubicBezTo>
                  <a:pt x="0" y="50941"/>
                  <a:pt x="50941" y="0"/>
                  <a:pt x="113685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1016" y="4168205"/>
            <a:ext cx="454713" cy="454713"/>
          </a:xfrm>
          <a:custGeom>
            <a:avLst/>
            <a:gdLst/>
            <a:ahLst/>
            <a:cxnLst/>
            <a:rect l="l" t="t" r="r" b="b"/>
            <a:pathLst>
              <a:path w="454713" h="454713">
                <a:moveTo>
                  <a:pt x="113678" y="0"/>
                </a:moveTo>
                <a:lnTo>
                  <a:pt x="341035" y="0"/>
                </a:lnTo>
                <a:cubicBezTo>
                  <a:pt x="403818" y="0"/>
                  <a:pt x="454713" y="50896"/>
                  <a:pt x="454713" y="113678"/>
                </a:cubicBezTo>
                <a:lnTo>
                  <a:pt x="454713" y="341035"/>
                </a:lnTo>
                <a:cubicBezTo>
                  <a:pt x="454713" y="403818"/>
                  <a:pt x="403818" y="454713"/>
                  <a:pt x="341035" y="454713"/>
                </a:cubicBezTo>
                <a:lnTo>
                  <a:pt x="113678" y="454713"/>
                </a:lnTo>
                <a:cubicBezTo>
                  <a:pt x="50896" y="454713"/>
                  <a:pt x="0" y="403818"/>
                  <a:pt x="0" y="341035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/>
              </a:gs>
              <a:gs pos="100000">
                <a:srgbClr val="8D99AE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7" name="Text 25"/>
          <p:cNvSpPr/>
          <p:nvPr/>
        </p:nvSpPr>
        <p:spPr>
          <a:xfrm>
            <a:off x="820911" y="4243991"/>
            <a:ext cx="331562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69408" y="4262937"/>
            <a:ext cx="1610443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Protocol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1016" y="4736597"/>
            <a:ext cx="5238676" cy="492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Function: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Gives an "address" to every device and decides where packets should go.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8909" y="5380774"/>
            <a:ext cx="113678" cy="151571"/>
          </a:xfrm>
          <a:custGeom>
            <a:avLst/>
            <a:gdLst/>
            <a:ahLst/>
            <a:cxnLst/>
            <a:rect l="l" t="t" r="r" b="b"/>
            <a:pathLst>
              <a:path w="113678" h="151571">
                <a:moveTo>
                  <a:pt x="0" y="55833"/>
                </a:moveTo>
                <a:cubicBezTo>
                  <a:pt x="0" y="24986"/>
                  <a:pt x="25459" y="0"/>
                  <a:pt x="56839" y="0"/>
                </a:cubicBezTo>
                <a:cubicBezTo>
                  <a:pt x="88219" y="0"/>
                  <a:pt x="113678" y="24986"/>
                  <a:pt x="113678" y="55833"/>
                </a:cubicBezTo>
                <a:cubicBezTo>
                  <a:pt x="113678" y="91150"/>
                  <a:pt x="78095" y="133483"/>
                  <a:pt x="63234" y="149617"/>
                </a:cubicBezTo>
                <a:cubicBezTo>
                  <a:pt x="59740" y="153407"/>
                  <a:pt x="53908" y="153407"/>
                  <a:pt x="50415" y="149617"/>
                </a:cubicBezTo>
                <a:cubicBezTo>
                  <a:pt x="35554" y="133483"/>
                  <a:pt x="-30" y="91150"/>
                  <a:pt x="-30" y="55833"/>
                </a:cubicBezTo>
                <a:close/>
                <a:moveTo>
                  <a:pt x="56839" y="75786"/>
                </a:moveTo>
                <a:cubicBezTo>
                  <a:pt x="67296" y="75786"/>
                  <a:pt x="75786" y="67296"/>
                  <a:pt x="75786" y="56839"/>
                </a:cubicBezTo>
                <a:cubicBezTo>
                  <a:pt x="75786" y="46382"/>
                  <a:pt x="67296" y="37893"/>
                  <a:pt x="56839" y="37893"/>
                </a:cubicBezTo>
                <a:cubicBezTo>
                  <a:pt x="46382" y="37893"/>
                  <a:pt x="37893" y="46382"/>
                  <a:pt x="37893" y="56839"/>
                </a:cubicBezTo>
                <a:cubicBezTo>
                  <a:pt x="37893" y="67296"/>
                  <a:pt x="46382" y="75786"/>
                  <a:pt x="56839" y="75786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966266" y="5342881"/>
            <a:ext cx="307878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Addressing:</a:t>
            </a:r>
            <a:pPr>
              <a:lnSpc>
                <a:spcPct val="120000"/>
              </a:lnSpc>
            </a:pPr>
            <a:r>
              <a:rPr lang="en-US" sz="104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Unique IP addresses for every device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9963" y="5646023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151571" y="28420"/>
                </a:moveTo>
                <a:cubicBezTo>
                  <a:pt x="151571" y="43281"/>
                  <a:pt x="134075" y="65454"/>
                  <a:pt x="126526" y="74305"/>
                </a:cubicBezTo>
                <a:cubicBezTo>
                  <a:pt x="125401" y="75608"/>
                  <a:pt x="123744" y="76111"/>
                  <a:pt x="122234" y="75786"/>
                </a:cubicBezTo>
                <a:lnTo>
                  <a:pt x="94732" y="75786"/>
                </a:lnTo>
                <a:cubicBezTo>
                  <a:pt x="89492" y="75786"/>
                  <a:pt x="85259" y="80019"/>
                  <a:pt x="85259" y="85259"/>
                </a:cubicBezTo>
                <a:cubicBezTo>
                  <a:pt x="85259" y="90499"/>
                  <a:pt x="89492" y="94732"/>
                  <a:pt x="94732" y="94732"/>
                </a:cubicBezTo>
                <a:lnTo>
                  <a:pt x="123152" y="94732"/>
                </a:lnTo>
                <a:cubicBezTo>
                  <a:pt x="138841" y="94732"/>
                  <a:pt x="151571" y="107462"/>
                  <a:pt x="151571" y="123152"/>
                </a:cubicBezTo>
                <a:cubicBezTo>
                  <a:pt x="151571" y="138841"/>
                  <a:pt x="138841" y="151571"/>
                  <a:pt x="123152" y="151571"/>
                </a:cubicBezTo>
                <a:lnTo>
                  <a:pt x="41327" y="151571"/>
                </a:lnTo>
                <a:cubicBezTo>
                  <a:pt x="43902" y="148640"/>
                  <a:pt x="47040" y="144881"/>
                  <a:pt x="50208" y="140677"/>
                </a:cubicBezTo>
                <a:cubicBezTo>
                  <a:pt x="52073" y="138190"/>
                  <a:pt x="53997" y="135467"/>
                  <a:pt x="55833" y="132625"/>
                </a:cubicBezTo>
                <a:lnTo>
                  <a:pt x="123152" y="132625"/>
                </a:lnTo>
                <a:cubicBezTo>
                  <a:pt x="128391" y="132625"/>
                  <a:pt x="132625" y="128391"/>
                  <a:pt x="132625" y="123152"/>
                </a:cubicBezTo>
                <a:cubicBezTo>
                  <a:pt x="132625" y="117912"/>
                  <a:pt x="128391" y="113678"/>
                  <a:pt x="123152" y="113678"/>
                </a:cubicBezTo>
                <a:lnTo>
                  <a:pt x="94732" y="113678"/>
                </a:lnTo>
                <a:cubicBezTo>
                  <a:pt x="79042" y="113678"/>
                  <a:pt x="66312" y="100949"/>
                  <a:pt x="66312" y="85259"/>
                </a:cubicBezTo>
                <a:cubicBezTo>
                  <a:pt x="66312" y="69569"/>
                  <a:pt x="79042" y="56839"/>
                  <a:pt x="94732" y="56839"/>
                </a:cubicBezTo>
                <a:lnTo>
                  <a:pt x="106514" y="56839"/>
                </a:lnTo>
                <a:cubicBezTo>
                  <a:pt x="100297" y="47514"/>
                  <a:pt x="94732" y="36797"/>
                  <a:pt x="94732" y="28420"/>
                </a:cubicBezTo>
                <a:cubicBezTo>
                  <a:pt x="94732" y="12730"/>
                  <a:pt x="107462" y="0"/>
                  <a:pt x="123152" y="0"/>
                </a:cubicBezTo>
                <a:cubicBezTo>
                  <a:pt x="138841" y="0"/>
                  <a:pt x="151571" y="12730"/>
                  <a:pt x="151571" y="28420"/>
                </a:cubicBezTo>
                <a:close/>
                <a:moveTo>
                  <a:pt x="34666" y="144792"/>
                </a:moveTo>
                <a:cubicBezTo>
                  <a:pt x="33541" y="146065"/>
                  <a:pt x="32534" y="147190"/>
                  <a:pt x="31676" y="148137"/>
                </a:cubicBezTo>
                <a:lnTo>
                  <a:pt x="31143" y="148729"/>
                </a:lnTo>
                <a:lnTo>
                  <a:pt x="31084" y="148670"/>
                </a:lnTo>
                <a:cubicBezTo>
                  <a:pt x="29308" y="150032"/>
                  <a:pt x="26762" y="149854"/>
                  <a:pt x="25163" y="148137"/>
                </a:cubicBezTo>
                <a:cubicBezTo>
                  <a:pt x="17703" y="140026"/>
                  <a:pt x="0" y="119155"/>
                  <a:pt x="0" y="104205"/>
                </a:cubicBezTo>
                <a:cubicBezTo>
                  <a:pt x="0" y="88515"/>
                  <a:pt x="12730" y="75786"/>
                  <a:pt x="28420" y="75786"/>
                </a:cubicBezTo>
                <a:cubicBezTo>
                  <a:pt x="44110" y="75786"/>
                  <a:pt x="56839" y="88515"/>
                  <a:pt x="56839" y="104205"/>
                </a:cubicBezTo>
                <a:cubicBezTo>
                  <a:pt x="56839" y="113086"/>
                  <a:pt x="50593" y="124040"/>
                  <a:pt x="43962" y="133187"/>
                </a:cubicBezTo>
                <a:cubicBezTo>
                  <a:pt x="40794" y="137539"/>
                  <a:pt x="37538" y="141476"/>
                  <a:pt x="34844" y="144585"/>
                </a:cubicBezTo>
                <a:lnTo>
                  <a:pt x="34666" y="144792"/>
                </a:lnTo>
                <a:close/>
                <a:moveTo>
                  <a:pt x="37893" y="104205"/>
                </a:moveTo>
                <a:cubicBezTo>
                  <a:pt x="37893" y="98977"/>
                  <a:pt x="33648" y="94732"/>
                  <a:pt x="28420" y="94732"/>
                </a:cubicBezTo>
                <a:cubicBezTo>
                  <a:pt x="23191" y="94732"/>
                  <a:pt x="18946" y="98977"/>
                  <a:pt x="18946" y="104205"/>
                </a:cubicBezTo>
                <a:cubicBezTo>
                  <a:pt x="18946" y="109434"/>
                  <a:pt x="23191" y="113678"/>
                  <a:pt x="28420" y="113678"/>
                </a:cubicBezTo>
                <a:cubicBezTo>
                  <a:pt x="33648" y="113678"/>
                  <a:pt x="37893" y="109434"/>
                  <a:pt x="37893" y="104205"/>
                </a:cubicBezTo>
                <a:close/>
                <a:moveTo>
                  <a:pt x="123152" y="37893"/>
                </a:moveTo>
                <a:cubicBezTo>
                  <a:pt x="128380" y="37893"/>
                  <a:pt x="132625" y="33648"/>
                  <a:pt x="132625" y="28420"/>
                </a:cubicBezTo>
                <a:cubicBezTo>
                  <a:pt x="132625" y="23191"/>
                  <a:pt x="128380" y="18946"/>
                  <a:pt x="123152" y="18946"/>
                </a:cubicBezTo>
                <a:cubicBezTo>
                  <a:pt x="117923" y="18946"/>
                  <a:pt x="113678" y="23191"/>
                  <a:pt x="113678" y="28420"/>
                </a:cubicBezTo>
                <a:cubicBezTo>
                  <a:pt x="113678" y="33648"/>
                  <a:pt x="117923" y="37893"/>
                  <a:pt x="123152" y="37893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3" name="Text 31"/>
          <p:cNvSpPr/>
          <p:nvPr/>
        </p:nvSpPr>
        <p:spPr>
          <a:xfrm>
            <a:off x="966266" y="5608131"/>
            <a:ext cx="310720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Routing:</a:t>
            </a:r>
            <a:pPr>
              <a:lnSpc>
                <a:spcPct val="120000"/>
              </a:lnSpc>
            </a:pPr>
            <a:r>
              <a:rPr lang="en-US" sz="104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Determines packet paths across networks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6966" y="4011897"/>
            <a:ext cx="5475506" cy="1942005"/>
          </a:xfrm>
          <a:custGeom>
            <a:avLst/>
            <a:gdLst/>
            <a:ahLst/>
            <a:cxnLst/>
            <a:rect l="l" t="t" r="r" b="b"/>
            <a:pathLst>
              <a:path w="5475506" h="1942005">
                <a:moveTo>
                  <a:pt x="113685" y="0"/>
                </a:moveTo>
                <a:lnTo>
                  <a:pt x="5361821" y="0"/>
                </a:lnTo>
                <a:cubicBezTo>
                  <a:pt x="5424607" y="0"/>
                  <a:pt x="5475506" y="50898"/>
                  <a:pt x="5475506" y="113685"/>
                </a:cubicBezTo>
                <a:lnTo>
                  <a:pt x="5475506" y="1828320"/>
                </a:lnTo>
                <a:cubicBezTo>
                  <a:pt x="5475506" y="1891106"/>
                  <a:pt x="5424607" y="1942005"/>
                  <a:pt x="5361821" y="1942005"/>
                </a:cubicBezTo>
                <a:lnTo>
                  <a:pt x="113685" y="1942005"/>
                </a:lnTo>
                <a:cubicBezTo>
                  <a:pt x="50898" y="1942005"/>
                  <a:pt x="0" y="1891106"/>
                  <a:pt x="0" y="1828320"/>
                </a:cubicBezTo>
                <a:lnTo>
                  <a:pt x="0" y="113685"/>
                </a:lnTo>
                <a:cubicBezTo>
                  <a:pt x="0" y="50941"/>
                  <a:pt x="50941" y="0"/>
                  <a:pt x="113685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33274" y="4168205"/>
            <a:ext cx="454713" cy="454713"/>
          </a:xfrm>
          <a:custGeom>
            <a:avLst/>
            <a:gdLst/>
            <a:ahLst/>
            <a:cxnLst/>
            <a:rect l="l" t="t" r="r" b="b"/>
            <a:pathLst>
              <a:path w="454713" h="454713">
                <a:moveTo>
                  <a:pt x="113678" y="0"/>
                </a:moveTo>
                <a:lnTo>
                  <a:pt x="341035" y="0"/>
                </a:lnTo>
                <a:cubicBezTo>
                  <a:pt x="403818" y="0"/>
                  <a:pt x="454713" y="50896"/>
                  <a:pt x="454713" y="113678"/>
                </a:cubicBezTo>
                <a:lnTo>
                  <a:pt x="454713" y="341035"/>
                </a:lnTo>
                <a:cubicBezTo>
                  <a:pt x="454713" y="403818"/>
                  <a:pt x="403818" y="454713"/>
                  <a:pt x="341035" y="454713"/>
                </a:cubicBezTo>
                <a:lnTo>
                  <a:pt x="113678" y="454713"/>
                </a:lnTo>
                <a:cubicBezTo>
                  <a:pt x="50896" y="454713"/>
                  <a:pt x="0" y="403818"/>
                  <a:pt x="0" y="341035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6" name="Text 34"/>
          <p:cNvSpPr/>
          <p:nvPr/>
        </p:nvSpPr>
        <p:spPr>
          <a:xfrm>
            <a:off x="6333274" y="4243991"/>
            <a:ext cx="568392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01666" y="4262937"/>
            <a:ext cx="2055683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Transmission Control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33274" y="4736597"/>
            <a:ext cx="5238676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Function: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Makes sure data arrives correctly and in the right order.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71167" y="5134471"/>
            <a:ext cx="113678" cy="151571"/>
          </a:xfrm>
          <a:custGeom>
            <a:avLst/>
            <a:gdLst/>
            <a:ahLst/>
            <a:cxnLst/>
            <a:rect l="l" t="t" r="r" b="b"/>
            <a:pathLst>
              <a:path w="113678" h="151571">
                <a:moveTo>
                  <a:pt x="73980" y="19775"/>
                </a:moveTo>
                <a:cubicBezTo>
                  <a:pt x="77059" y="15542"/>
                  <a:pt x="76111" y="9621"/>
                  <a:pt x="71878" y="6542"/>
                </a:cubicBezTo>
                <a:cubicBezTo>
                  <a:pt x="67645" y="3464"/>
                  <a:pt x="61724" y="4411"/>
                  <a:pt x="58645" y="8644"/>
                </a:cubicBezTo>
                <a:lnTo>
                  <a:pt x="27265" y="51777"/>
                </a:lnTo>
                <a:lnTo>
                  <a:pt x="16164" y="40676"/>
                </a:lnTo>
                <a:cubicBezTo>
                  <a:pt x="12463" y="36975"/>
                  <a:pt x="6454" y="36975"/>
                  <a:pt x="2753" y="40676"/>
                </a:cubicBezTo>
                <a:cubicBezTo>
                  <a:pt x="-947" y="44376"/>
                  <a:pt x="-947" y="50386"/>
                  <a:pt x="2753" y="54086"/>
                </a:cubicBezTo>
                <a:lnTo>
                  <a:pt x="21700" y="73032"/>
                </a:lnTo>
                <a:cubicBezTo>
                  <a:pt x="23653" y="74986"/>
                  <a:pt x="26377" y="75993"/>
                  <a:pt x="29130" y="75786"/>
                </a:cubicBezTo>
                <a:cubicBezTo>
                  <a:pt x="31883" y="75578"/>
                  <a:pt x="34429" y="74157"/>
                  <a:pt x="36057" y="71907"/>
                </a:cubicBezTo>
                <a:lnTo>
                  <a:pt x="73950" y="19805"/>
                </a:lnTo>
                <a:close/>
                <a:moveTo>
                  <a:pt x="111872" y="60036"/>
                </a:moveTo>
                <a:cubicBezTo>
                  <a:pt x="114951" y="55803"/>
                  <a:pt x="114004" y="49882"/>
                  <a:pt x="109771" y="46803"/>
                </a:cubicBezTo>
                <a:cubicBezTo>
                  <a:pt x="105537" y="43725"/>
                  <a:pt x="99617" y="44672"/>
                  <a:pt x="96538" y="48905"/>
                </a:cubicBezTo>
                <a:lnTo>
                  <a:pt x="46211" y="118089"/>
                </a:lnTo>
                <a:lnTo>
                  <a:pt x="25637" y="97515"/>
                </a:lnTo>
                <a:cubicBezTo>
                  <a:pt x="21936" y="93814"/>
                  <a:pt x="15927" y="93814"/>
                  <a:pt x="12226" y="97515"/>
                </a:cubicBezTo>
                <a:cubicBezTo>
                  <a:pt x="8526" y="101215"/>
                  <a:pt x="8526" y="107225"/>
                  <a:pt x="12226" y="110925"/>
                </a:cubicBezTo>
                <a:lnTo>
                  <a:pt x="40646" y="139345"/>
                </a:lnTo>
                <a:cubicBezTo>
                  <a:pt x="42600" y="141299"/>
                  <a:pt x="45323" y="142305"/>
                  <a:pt x="48076" y="142098"/>
                </a:cubicBezTo>
                <a:cubicBezTo>
                  <a:pt x="50830" y="141891"/>
                  <a:pt x="53376" y="140470"/>
                  <a:pt x="55004" y="138220"/>
                </a:cubicBezTo>
                <a:lnTo>
                  <a:pt x="111843" y="6006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0" name="Text 38"/>
          <p:cNvSpPr/>
          <p:nvPr/>
        </p:nvSpPr>
        <p:spPr>
          <a:xfrm>
            <a:off x="6598523" y="5096578"/>
            <a:ext cx="2908270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Reliability:</a:t>
            </a:r>
            <a:pPr>
              <a:lnSpc>
                <a:spcPct val="120000"/>
              </a:lnSpc>
            </a:pPr>
            <a:r>
              <a:rPr lang="en-US" sz="104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Ensures complete, accurate delivery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2220" y="5399720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123951" y="11249"/>
                </a:moveTo>
                <a:cubicBezTo>
                  <a:pt x="126408" y="13026"/>
                  <a:pt x="127888" y="15897"/>
                  <a:pt x="127888" y="18946"/>
                </a:cubicBezTo>
                <a:lnTo>
                  <a:pt x="127888" y="47366"/>
                </a:lnTo>
                <a:lnTo>
                  <a:pt x="132625" y="47366"/>
                </a:lnTo>
                <a:cubicBezTo>
                  <a:pt x="137865" y="47366"/>
                  <a:pt x="142098" y="51599"/>
                  <a:pt x="142098" y="56839"/>
                </a:cubicBezTo>
                <a:cubicBezTo>
                  <a:pt x="142098" y="62079"/>
                  <a:pt x="137865" y="66312"/>
                  <a:pt x="132625" y="66312"/>
                </a:cubicBezTo>
                <a:lnTo>
                  <a:pt x="104205" y="66312"/>
                </a:lnTo>
                <a:cubicBezTo>
                  <a:pt x="98965" y="66312"/>
                  <a:pt x="94732" y="62079"/>
                  <a:pt x="94732" y="56839"/>
                </a:cubicBezTo>
                <a:cubicBezTo>
                  <a:pt x="94732" y="51599"/>
                  <a:pt x="98965" y="47366"/>
                  <a:pt x="104205" y="47366"/>
                </a:cubicBezTo>
                <a:lnTo>
                  <a:pt x="108942" y="47366"/>
                </a:lnTo>
                <a:lnTo>
                  <a:pt x="108942" y="32090"/>
                </a:lnTo>
                <a:lnTo>
                  <a:pt x="107195" y="32683"/>
                </a:lnTo>
                <a:cubicBezTo>
                  <a:pt x="102222" y="34340"/>
                  <a:pt x="96863" y="31646"/>
                  <a:pt x="95206" y="26703"/>
                </a:cubicBezTo>
                <a:cubicBezTo>
                  <a:pt x="93548" y="21759"/>
                  <a:pt x="96242" y="16371"/>
                  <a:pt x="101186" y="14713"/>
                </a:cubicBezTo>
                <a:lnTo>
                  <a:pt x="115395" y="9976"/>
                </a:lnTo>
                <a:cubicBezTo>
                  <a:pt x="118297" y="9000"/>
                  <a:pt x="121464" y="9503"/>
                  <a:pt x="123921" y="11279"/>
                </a:cubicBezTo>
                <a:close/>
                <a:moveTo>
                  <a:pt x="108083" y="127474"/>
                </a:moveTo>
                <a:lnTo>
                  <a:pt x="111547" y="122145"/>
                </a:lnTo>
                <a:cubicBezTo>
                  <a:pt x="101807" y="119214"/>
                  <a:pt x="94732" y="110155"/>
                  <a:pt x="94732" y="99469"/>
                </a:cubicBezTo>
                <a:cubicBezTo>
                  <a:pt x="94732" y="86384"/>
                  <a:pt x="105330" y="75786"/>
                  <a:pt x="118415" y="75786"/>
                </a:cubicBezTo>
                <a:cubicBezTo>
                  <a:pt x="131500" y="75786"/>
                  <a:pt x="142098" y="86384"/>
                  <a:pt x="142098" y="99469"/>
                </a:cubicBezTo>
                <a:cubicBezTo>
                  <a:pt x="142098" y="106248"/>
                  <a:pt x="140144" y="112879"/>
                  <a:pt x="136444" y="118563"/>
                </a:cubicBezTo>
                <a:lnTo>
                  <a:pt x="123980" y="137776"/>
                </a:lnTo>
                <a:cubicBezTo>
                  <a:pt x="121138" y="142157"/>
                  <a:pt x="115277" y="143430"/>
                  <a:pt x="110866" y="140559"/>
                </a:cubicBezTo>
                <a:cubicBezTo>
                  <a:pt x="106455" y="137687"/>
                  <a:pt x="105212" y="131855"/>
                  <a:pt x="108083" y="127444"/>
                </a:cubicBezTo>
                <a:close/>
                <a:moveTo>
                  <a:pt x="125520" y="99469"/>
                </a:moveTo>
                <a:cubicBezTo>
                  <a:pt x="125520" y="95547"/>
                  <a:pt x="122336" y="92364"/>
                  <a:pt x="118415" y="92364"/>
                </a:cubicBezTo>
                <a:cubicBezTo>
                  <a:pt x="114494" y="92364"/>
                  <a:pt x="111310" y="95547"/>
                  <a:pt x="111310" y="99469"/>
                </a:cubicBezTo>
                <a:cubicBezTo>
                  <a:pt x="111310" y="103390"/>
                  <a:pt x="114494" y="106573"/>
                  <a:pt x="118415" y="106573"/>
                </a:cubicBezTo>
                <a:cubicBezTo>
                  <a:pt x="122336" y="106573"/>
                  <a:pt x="125520" y="103390"/>
                  <a:pt x="125520" y="99469"/>
                </a:cubicBezTo>
                <a:close/>
                <a:moveTo>
                  <a:pt x="44583" y="139315"/>
                </a:moveTo>
                <a:cubicBezTo>
                  <a:pt x="40883" y="143016"/>
                  <a:pt x="34873" y="143016"/>
                  <a:pt x="31173" y="139315"/>
                </a:cubicBezTo>
                <a:lnTo>
                  <a:pt x="2753" y="110896"/>
                </a:lnTo>
                <a:cubicBezTo>
                  <a:pt x="-947" y="107195"/>
                  <a:pt x="-947" y="101186"/>
                  <a:pt x="2753" y="97485"/>
                </a:cubicBezTo>
                <a:cubicBezTo>
                  <a:pt x="6454" y="93785"/>
                  <a:pt x="12463" y="93785"/>
                  <a:pt x="16164" y="97485"/>
                </a:cubicBezTo>
                <a:lnTo>
                  <a:pt x="28420" y="109741"/>
                </a:lnTo>
                <a:lnTo>
                  <a:pt x="28420" y="18946"/>
                </a:lnTo>
                <a:cubicBezTo>
                  <a:pt x="28420" y="13707"/>
                  <a:pt x="32653" y="9473"/>
                  <a:pt x="37893" y="9473"/>
                </a:cubicBezTo>
                <a:cubicBezTo>
                  <a:pt x="43133" y="9473"/>
                  <a:pt x="47366" y="13707"/>
                  <a:pt x="47366" y="18946"/>
                </a:cubicBezTo>
                <a:lnTo>
                  <a:pt x="47366" y="109741"/>
                </a:lnTo>
                <a:lnTo>
                  <a:pt x="59622" y="97485"/>
                </a:lnTo>
                <a:cubicBezTo>
                  <a:pt x="63322" y="93785"/>
                  <a:pt x="69332" y="93785"/>
                  <a:pt x="73032" y="97485"/>
                </a:cubicBezTo>
                <a:cubicBezTo>
                  <a:pt x="76733" y="101186"/>
                  <a:pt x="76733" y="107195"/>
                  <a:pt x="73032" y="110896"/>
                </a:cubicBezTo>
                <a:lnTo>
                  <a:pt x="44613" y="13931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2" name="Text 40"/>
          <p:cNvSpPr/>
          <p:nvPr/>
        </p:nvSpPr>
        <p:spPr>
          <a:xfrm>
            <a:off x="6598523" y="5361828"/>
            <a:ext cx="320193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Ordering:</a:t>
            </a:r>
            <a:pPr>
              <a:lnSpc>
                <a:spcPct val="120000"/>
              </a:lnSpc>
            </a:pPr>
            <a:r>
              <a:rPr lang="en-US" sz="104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Reassembles packets in correct sequence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3664" y="6275991"/>
            <a:ext cx="3704019" cy="577865"/>
          </a:xfrm>
          <a:custGeom>
            <a:avLst/>
            <a:gdLst/>
            <a:ahLst/>
            <a:cxnLst/>
            <a:rect l="l" t="t" r="r" b="b"/>
            <a:pathLst>
              <a:path w="3704019" h="577865">
                <a:moveTo>
                  <a:pt x="113678" y="0"/>
                </a:moveTo>
                <a:lnTo>
                  <a:pt x="3590341" y="0"/>
                </a:lnTo>
                <a:cubicBezTo>
                  <a:pt x="3653123" y="0"/>
                  <a:pt x="3704019" y="50895"/>
                  <a:pt x="3704019" y="113678"/>
                </a:cubicBezTo>
                <a:lnTo>
                  <a:pt x="3704019" y="464187"/>
                </a:lnTo>
                <a:cubicBezTo>
                  <a:pt x="3704019" y="526970"/>
                  <a:pt x="3653123" y="577865"/>
                  <a:pt x="3590341" y="577865"/>
                </a:cubicBezTo>
                <a:lnTo>
                  <a:pt x="113678" y="577865"/>
                </a:lnTo>
                <a:cubicBezTo>
                  <a:pt x="50937" y="577865"/>
                  <a:pt x="0" y="526928"/>
                  <a:pt x="0" y="464187"/>
                </a:cubicBezTo>
                <a:lnTo>
                  <a:pt x="0" y="113678"/>
                </a:lnTo>
                <a:cubicBezTo>
                  <a:pt x="0" y="50937"/>
                  <a:pt x="50937" y="0"/>
                  <a:pt x="11367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0499" y="6451245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56263" y="124336"/>
                </a:moveTo>
                <a:lnTo>
                  <a:pt x="71493" y="124336"/>
                </a:lnTo>
                <a:cubicBezTo>
                  <a:pt x="72781" y="152977"/>
                  <a:pt x="79131" y="179354"/>
                  <a:pt x="88145" y="198671"/>
                </a:cubicBezTo>
                <a:cubicBezTo>
                  <a:pt x="93207" y="209550"/>
                  <a:pt x="98669" y="217232"/>
                  <a:pt x="103731" y="221939"/>
                </a:cubicBezTo>
                <a:cubicBezTo>
                  <a:pt x="108705" y="226602"/>
                  <a:pt x="112124" y="227357"/>
                  <a:pt x="113900" y="227357"/>
                </a:cubicBezTo>
                <a:cubicBezTo>
                  <a:pt x="115677" y="227357"/>
                  <a:pt x="119096" y="226602"/>
                  <a:pt x="124069" y="221939"/>
                </a:cubicBezTo>
                <a:cubicBezTo>
                  <a:pt x="129131" y="217232"/>
                  <a:pt x="134593" y="209506"/>
                  <a:pt x="139656" y="198671"/>
                </a:cubicBezTo>
                <a:cubicBezTo>
                  <a:pt x="148670" y="179354"/>
                  <a:pt x="155020" y="152977"/>
                  <a:pt x="156308" y="124336"/>
                </a:cubicBezTo>
                <a:close/>
                <a:moveTo>
                  <a:pt x="71449" y="103021"/>
                </a:moveTo>
                <a:lnTo>
                  <a:pt x="156219" y="103021"/>
                </a:lnTo>
                <a:cubicBezTo>
                  <a:pt x="154976" y="74379"/>
                  <a:pt x="148626" y="48002"/>
                  <a:pt x="139611" y="28686"/>
                </a:cubicBezTo>
                <a:cubicBezTo>
                  <a:pt x="134549" y="17851"/>
                  <a:pt x="129087" y="10124"/>
                  <a:pt x="124025" y="5417"/>
                </a:cubicBezTo>
                <a:cubicBezTo>
                  <a:pt x="119051" y="755"/>
                  <a:pt x="115632" y="0"/>
                  <a:pt x="113856" y="0"/>
                </a:cubicBezTo>
                <a:cubicBezTo>
                  <a:pt x="112080" y="0"/>
                  <a:pt x="108660" y="755"/>
                  <a:pt x="103687" y="5417"/>
                </a:cubicBezTo>
                <a:cubicBezTo>
                  <a:pt x="98625" y="10124"/>
                  <a:pt x="93163" y="17851"/>
                  <a:pt x="88101" y="28686"/>
                </a:cubicBezTo>
                <a:cubicBezTo>
                  <a:pt x="79086" y="48002"/>
                  <a:pt x="72736" y="74379"/>
                  <a:pt x="71449" y="103021"/>
                </a:cubicBezTo>
                <a:close/>
                <a:moveTo>
                  <a:pt x="50134" y="103021"/>
                </a:moveTo>
                <a:cubicBezTo>
                  <a:pt x="51688" y="65010"/>
                  <a:pt x="61502" y="29707"/>
                  <a:pt x="75845" y="6528"/>
                </a:cubicBezTo>
                <a:cubicBezTo>
                  <a:pt x="34947" y="21004"/>
                  <a:pt x="4840" y="58260"/>
                  <a:pt x="666" y="103021"/>
                </a:cubicBezTo>
                <a:lnTo>
                  <a:pt x="50134" y="103021"/>
                </a:lnTo>
                <a:close/>
                <a:moveTo>
                  <a:pt x="666" y="124336"/>
                </a:moveTo>
                <a:cubicBezTo>
                  <a:pt x="4840" y="169097"/>
                  <a:pt x="34947" y="206353"/>
                  <a:pt x="75845" y="220829"/>
                </a:cubicBezTo>
                <a:cubicBezTo>
                  <a:pt x="61502" y="197649"/>
                  <a:pt x="51688" y="162347"/>
                  <a:pt x="50134" y="124336"/>
                </a:cubicBezTo>
                <a:lnTo>
                  <a:pt x="666" y="124336"/>
                </a:lnTo>
                <a:close/>
                <a:moveTo>
                  <a:pt x="177578" y="124336"/>
                </a:moveTo>
                <a:cubicBezTo>
                  <a:pt x="176024" y="162347"/>
                  <a:pt x="166210" y="197649"/>
                  <a:pt x="151867" y="220829"/>
                </a:cubicBezTo>
                <a:cubicBezTo>
                  <a:pt x="192765" y="206308"/>
                  <a:pt x="222872" y="169097"/>
                  <a:pt x="227046" y="124336"/>
                </a:cubicBezTo>
                <a:lnTo>
                  <a:pt x="177578" y="124336"/>
                </a:lnTo>
                <a:close/>
                <a:moveTo>
                  <a:pt x="227046" y="103021"/>
                </a:moveTo>
                <a:cubicBezTo>
                  <a:pt x="222872" y="58260"/>
                  <a:pt x="192765" y="21004"/>
                  <a:pt x="151867" y="6528"/>
                </a:cubicBezTo>
                <a:cubicBezTo>
                  <a:pt x="166210" y="29707"/>
                  <a:pt x="176024" y="65010"/>
                  <a:pt x="177578" y="103021"/>
                </a:cubicBezTo>
                <a:lnTo>
                  <a:pt x="227046" y="10302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5" name="Text 43"/>
          <p:cNvSpPr/>
          <p:nvPr/>
        </p:nvSpPr>
        <p:spPr>
          <a:xfrm>
            <a:off x="899953" y="6394406"/>
            <a:ext cx="1818853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Universal Standard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99953" y="6583869"/>
            <a:ext cx="1809380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networks speak same language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45915" y="6275991"/>
            <a:ext cx="3704019" cy="577865"/>
          </a:xfrm>
          <a:custGeom>
            <a:avLst/>
            <a:gdLst/>
            <a:ahLst/>
            <a:cxnLst/>
            <a:rect l="l" t="t" r="r" b="b"/>
            <a:pathLst>
              <a:path w="3704019" h="577865">
                <a:moveTo>
                  <a:pt x="113678" y="0"/>
                </a:moveTo>
                <a:lnTo>
                  <a:pt x="3590341" y="0"/>
                </a:lnTo>
                <a:cubicBezTo>
                  <a:pt x="3653123" y="0"/>
                  <a:pt x="3704019" y="50895"/>
                  <a:pt x="3704019" y="113678"/>
                </a:cubicBezTo>
                <a:lnTo>
                  <a:pt x="3704019" y="464187"/>
                </a:lnTo>
                <a:cubicBezTo>
                  <a:pt x="3704019" y="526970"/>
                  <a:pt x="3653123" y="577865"/>
                  <a:pt x="3590341" y="577865"/>
                </a:cubicBezTo>
                <a:lnTo>
                  <a:pt x="113678" y="577865"/>
                </a:lnTo>
                <a:cubicBezTo>
                  <a:pt x="50937" y="577865"/>
                  <a:pt x="0" y="526928"/>
                  <a:pt x="0" y="464187"/>
                </a:cubicBezTo>
                <a:lnTo>
                  <a:pt x="0" y="113678"/>
                </a:lnTo>
                <a:cubicBezTo>
                  <a:pt x="0" y="50937"/>
                  <a:pt x="50937" y="0"/>
                  <a:pt x="11367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21169" y="6451245"/>
            <a:ext cx="170517" cy="227357"/>
          </a:xfrm>
          <a:custGeom>
            <a:avLst/>
            <a:gdLst/>
            <a:ahLst/>
            <a:cxnLst/>
            <a:rect l="l" t="t" r="r" b="b"/>
            <a:pathLst>
              <a:path w="170517" h="227357">
                <a:moveTo>
                  <a:pt x="28420" y="0"/>
                </a:moveTo>
                <a:cubicBezTo>
                  <a:pt x="12744" y="0"/>
                  <a:pt x="0" y="12744"/>
                  <a:pt x="0" y="28420"/>
                </a:cubicBezTo>
                <a:lnTo>
                  <a:pt x="0" y="198937"/>
                </a:lnTo>
                <a:cubicBezTo>
                  <a:pt x="0" y="214612"/>
                  <a:pt x="12744" y="227357"/>
                  <a:pt x="28420" y="227357"/>
                </a:cubicBezTo>
                <a:lnTo>
                  <a:pt x="142098" y="227357"/>
                </a:lnTo>
                <a:cubicBezTo>
                  <a:pt x="157773" y="227357"/>
                  <a:pt x="170517" y="214612"/>
                  <a:pt x="170517" y="198937"/>
                </a:cubicBezTo>
                <a:lnTo>
                  <a:pt x="170517" y="28420"/>
                </a:lnTo>
                <a:cubicBezTo>
                  <a:pt x="170517" y="12744"/>
                  <a:pt x="157773" y="0"/>
                  <a:pt x="142098" y="0"/>
                </a:cubicBezTo>
                <a:lnTo>
                  <a:pt x="28420" y="0"/>
                </a:lnTo>
                <a:close/>
                <a:moveTo>
                  <a:pt x="78154" y="156308"/>
                </a:moveTo>
                <a:lnTo>
                  <a:pt x="92364" y="156308"/>
                </a:lnTo>
                <a:cubicBezTo>
                  <a:pt x="100223" y="156308"/>
                  <a:pt x="106573" y="162658"/>
                  <a:pt x="106573" y="170517"/>
                </a:cubicBezTo>
                <a:lnTo>
                  <a:pt x="106573" y="206042"/>
                </a:lnTo>
                <a:lnTo>
                  <a:pt x="63944" y="206042"/>
                </a:lnTo>
                <a:lnTo>
                  <a:pt x="63944" y="170517"/>
                </a:lnTo>
                <a:cubicBezTo>
                  <a:pt x="63944" y="162658"/>
                  <a:pt x="70294" y="156308"/>
                  <a:pt x="78154" y="156308"/>
                </a:cubicBezTo>
                <a:close/>
                <a:moveTo>
                  <a:pt x="42629" y="49734"/>
                </a:moveTo>
                <a:cubicBezTo>
                  <a:pt x="42629" y="45827"/>
                  <a:pt x="45827" y="42629"/>
                  <a:pt x="49734" y="42629"/>
                </a:cubicBezTo>
                <a:lnTo>
                  <a:pt x="63944" y="42629"/>
                </a:lnTo>
                <a:cubicBezTo>
                  <a:pt x="67852" y="42629"/>
                  <a:pt x="71049" y="45827"/>
                  <a:pt x="71049" y="49734"/>
                </a:cubicBezTo>
                <a:lnTo>
                  <a:pt x="71049" y="63944"/>
                </a:lnTo>
                <a:cubicBezTo>
                  <a:pt x="71049" y="67852"/>
                  <a:pt x="67852" y="71049"/>
                  <a:pt x="63944" y="71049"/>
                </a:cubicBezTo>
                <a:lnTo>
                  <a:pt x="49734" y="71049"/>
                </a:lnTo>
                <a:cubicBezTo>
                  <a:pt x="45827" y="71049"/>
                  <a:pt x="42629" y="67852"/>
                  <a:pt x="42629" y="63944"/>
                </a:cubicBezTo>
                <a:lnTo>
                  <a:pt x="42629" y="49734"/>
                </a:lnTo>
                <a:close/>
                <a:moveTo>
                  <a:pt x="106573" y="42629"/>
                </a:moveTo>
                <a:lnTo>
                  <a:pt x="120783" y="42629"/>
                </a:lnTo>
                <a:cubicBezTo>
                  <a:pt x="124691" y="42629"/>
                  <a:pt x="127888" y="45827"/>
                  <a:pt x="127888" y="49734"/>
                </a:cubicBezTo>
                <a:lnTo>
                  <a:pt x="127888" y="63944"/>
                </a:lnTo>
                <a:cubicBezTo>
                  <a:pt x="127888" y="67852"/>
                  <a:pt x="124691" y="71049"/>
                  <a:pt x="120783" y="71049"/>
                </a:cubicBezTo>
                <a:lnTo>
                  <a:pt x="106573" y="71049"/>
                </a:lnTo>
                <a:cubicBezTo>
                  <a:pt x="102666" y="71049"/>
                  <a:pt x="99469" y="67852"/>
                  <a:pt x="99469" y="63944"/>
                </a:cubicBezTo>
                <a:lnTo>
                  <a:pt x="99469" y="49734"/>
                </a:lnTo>
                <a:cubicBezTo>
                  <a:pt x="99469" y="45827"/>
                  <a:pt x="102666" y="42629"/>
                  <a:pt x="106573" y="42629"/>
                </a:cubicBezTo>
                <a:close/>
                <a:moveTo>
                  <a:pt x="42629" y="106573"/>
                </a:moveTo>
                <a:cubicBezTo>
                  <a:pt x="42629" y="102666"/>
                  <a:pt x="45827" y="99469"/>
                  <a:pt x="49734" y="99469"/>
                </a:cubicBezTo>
                <a:lnTo>
                  <a:pt x="63944" y="99469"/>
                </a:lnTo>
                <a:cubicBezTo>
                  <a:pt x="67852" y="99469"/>
                  <a:pt x="71049" y="102666"/>
                  <a:pt x="71049" y="106573"/>
                </a:cubicBezTo>
                <a:lnTo>
                  <a:pt x="71049" y="120783"/>
                </a:lnTo>
                <a:cubicBezTo>
                  <a:pt x="71049" y="124691"/>
                  <a:pt x="67852" y="127888"/>
                  <a:pt x="63944" y="127888"/>
                </a:cubicBezTo>
                <a:lnTo>
                  <a:pt x="49734" y="127888"/>
                </a:lnTo>
                <a:cubicBezTo>
                  <a:pt x="45827" y="127888"/>
                  <a:pt x="42629" y="124691"/>
                  <a:pt x="42629" y="120783"/>
                </a:cubicBezTo>
                <a:lnTo>
                  <a:pt x="42629" y="106573"/>
                </a:lnTo>
                <a:close/>
                <a:moveTo>
                  <a:pt x="106573" y="99469"/>
                </a:moveTo>
                <a:lnTo>
                  <a:pt x="120783" y="99469"/>
                </a:lnTo>
                <a:cubicBezTo>
                  <a:pt x="124691" y="99469"/>
                  <a:pt x="127888" y="102666"/>
                  <a:pt x="127888" y="106573"/>
                </a:cubicBezTo>
                <a:lnTo>
                  <a:pt x="127888" y="120783"/>
                </a:lnTo>
                <a:cubicBezTo>
                  <a:pt x="127888" y="124691"/>
                  <a:pt x="124691" y="127888"/>
                  <a:pt x="120783" y="127888"/>
                </a:cubicBezTo>
                <a:lnTo>
                  <a:pt x="106573" y="127888"/>
                </a:lnTo>
                <a:cubicBezTo>
                  <a:pt x="102666" y="127888"/>
                  <a:pt x="99469" y="124691"/>
                  <a:pt x="99469" y="120783"/>
                </a:cubicBezTo>
                <a:lnTo>
                  <a:pt x="99469" y="106573"/>
                </a:lnTo>
                <a:cubicBezTo>
                  <a:pt x="99469" y="102666"/>
                  <a:pt x="102666" y="99469"/>
                  <a:pt x="106573" y="9946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9" name="Text 47"/>
          <p:cNvSpPr/>
          <p:nvPr/>
        </p:nvSpPr>
        <p:spPr>
          <a:xfrm>
            <a:off x="4762204" y="6394406"/>
            <a:ext cx="1345193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Commercial Era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762204" y="6583869"/>
            <a:ext cx="1335720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'90s: ISPs emerged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08166" y="6275991"/>
            <a:ext cx="3704019" cy="577865"/>
          </a:xfrm>
          <a:custGeom>
            <a:avLst/>
            <a:gdLst/>
            <a:ahLst/>
            <a:cxnLst/>
            <a:rect l="l" t="t" r="r" b="b"/>
            <a:pathLst>
              <a:path w="3704019" h="577865">
                <a:moveTo>
                  <a:pt x="113678" y="0"/>
                </a:moveTo>
                <a:lnTo>
                  <a:pt x="3590341" y="0"/>
                </a:lnTo>
                <a:cubicBezTo>
                  <a:pt x="3653123" y="0"/>
                  <a:pt x="3704019" y="50895"/>
                  <a:pt x="3704019" y="113678"/>
                </a:cubicBezTo>
                <a:lnTo>
                  <a:pt x="3704019" y="464187"/>
                </a:lnTo>
                <a:cubicBezTo>
                  <a:pt x="3704019" y="526970"/>
                  <a:pt x="3653123" y="577865"/>
                  <a:pt x="3590341" y="577865"/>
                </a:cubicBezTo>
                <a:lnTo>
                  <a:pt x="113678" y="577865"/>
                </a:lnTo>
                <a:cubicBezTo>
                  <a:pt x="50937" y="577865"/>
                  <a:pt x="0" y="526928"/>
                  <a:pt x="0" y="464187"/>
                </a:cubicBezTo>
                <a:lnTo>
                  <a:pt x="0" y="113678"/>
                </a:lnTo>
                <a:cubicBezTo>
                  <a:pt x="0" y="50937"/>
                  <a:pt x="50937" y="0"/>
                  <a:pt x="11367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55000" y="6451245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28420" y="28420"/>
                </a:moveTo>
                <a:cubicBezTo>
                  <a:pt x="28420" y="20560"/>
                  <a:pt x="22070" y="14210"/>
                  <a:pt x="14210" y="14210"/>
                </a:cubicBezTo>
                <a:cubicBezTo>
                  <a:pt x="6350" y="14210"/>
                  <a:pt x="0" y="20560"/>
                  <a:pt x="0" y="28420"/>
                </a:cubicBezTo>
                <a:lnTo>
                  <a:pt x="0" y="177622"/>
                </a:lnTo>
                <a:cubicBezTo>
                  <a:pt x="0" y="197250"/>
                  <a:pt x="15897" y="213147"/>
                  <a:pt x="35524" y="213147"/>
                </a:cubicBezTo>
                <a:lnTo>
                  <a:pt x="213147" y="213147"/>
                </a:lnTo>
                <a:cubicBezTo>
                  <a:pt x="221007" y="213147"/>
                  <a:pt x="227357" y="206797"/>
                  <a:pt x="227357" y="198937"/>
                </a:cubicBezTo>
                <a:cubicBezTo>
                  <a:pt x="227357" y="191077"/>
                  <a:pt x="221007" y="184727"/>
                  <a:pt x="213147" y="184727"/>
                </a:cubicBezTo>
                <a:lnTo>
                  <a:pt x="35524" y="184727"/>
                </a:lnTo>
                <a:cubicBezTo>
                  <a:pt x="31617" y="184727"/>
                  <a:pt x="28420" y="181530"/>
                  <a:pt x="28420" y="177622"/>
                </a:cubicBezTo>
                <a:lnTo>
                  <a:pt x="28420" y="28420"/>
                </a:lnTo>
                <a:close/>
                <a:moveTo>
                  <a:pt x="208973" y="66875"/>
                </a:moveTo>
                <a:cubicBezTo>
                  <a:pt x="214523" y="61324"/>
                  <a:pt x="214523" y="52310"/>
                  <a:pt x="208973" y="46759"/>
                </a:cubicBezTo>
                <a:cubicBezTo>
                  <a:pt x="203422" y="41208"/>
                  <a:pt x="194408" y="41208"/>
                  <a:pt x="188857" y="46759"/>
                </a:cubicBezTo>
                <a:lnTo>
                  <a:pt x="142098" y="93563"/>
                </a:lnTo>
                <a:lnTo>
                  <a:pt x="116609" y="68118"/>
                </a:lnTo>
                <a:cubicBezTo>
                  <a:pt x="111058" y="62567"/>
                  <a:pt x="102044" y="62567"/>
                  <a:pt x="96493" y="68118"/>
                </a:cubicBezTo>
                <a:lnTo>
                  <a:pt x="53864" y="110748"/>
                </a:lnTo>
                <a:cubicBezTo>
                  <a:pt x="48313" y="116298"/>
                  <a:pt x="48313" y="125313"/>
                  <a:pt x="53864" y="130863"/>
                </a:cubicBezTo>
                <a:cubicBezTo>
                  <a:pt x="59415" y="136414"/>
                  <a:pt x="68429" y="136414"/>
                  <a:pt x="73980" y="130863"/>
                </a:cubicBezTo>
                <a:lnTo>
                  <a:pt x="106573" y="98270"/>
                </a:lnTo>
                <a:lnTo>
                  <a:pt x="132062" y="123758"/>
                </a:lnTo>
                <a:cubicBezTo>
                  <a:pt x="137613" y="129309"/>
                  <a:pt x="146627" y="129309"/>
                  <a:pt x="152178" y="123758"/>
                </a:cubicBezTo>
                <a:lnTo>
                  <a:pt x="209017" y="6691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3" name="Text 51"/>
          <p:cNvSpPr/>
          <p:nvPr/>
        </p:nvSpPr>
        <p:spPr>
          <a:xfrm>
            <a:off x="8624455" y="6394406"/>
            <a:ext cx="125046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Mass Adoption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624455" y="6583869"/>
            <a:ext cx="1240988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access exploded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76101" y="43815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4743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 Wide Web Revolution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033462"/>
            <a:ext cx="5629275" cy="2257425"/>
          </a:xfrm>
          <a:custGeom>
            <a:avLst/>
            <a:gdLst/>
            <a:ahLst/>
            <a:cxnLst/>
            <a:rect l="l" t="t" r="r" b="b"/>
            <a:pathLst>
              <a:path w="5629275" h="2257425">
                <a:moveTo>
                  <a:pt x="114293" y="0"/>
                </a:moveTo>
                <a:lnTo>
                  <a:pt x="5514982" y="0"/>
                </a:lnTo>
                <a:cubicBezTo>
                  <a:pt x="5578062" y="0"/>
                  <a:pt x="5629275" y="51213"/>
                  <a:pt x="5629275" y="114293"/>
                </a:cubicBezTo>
                <a:lnTo>
                  <a:pt x="5629275" y="2143132"/>
                </a:lnTo>
                <a:cubicBezTo>
                  <a:pt x="5629275" y="2206212"/>
                  <a:pt x="5578062" y="2257425"/>
                  <a:pt x="5514982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2925" y="1190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709613" y="13430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90625" y="1228725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1989-1990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90625" y="1419225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 Berners-Lee at CERN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1838325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at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(Switzerland), Berners-Lee wanted a simpler way for scientists to share documents across the Internet.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1975" y="2447925"/>
            <a:ext cx="5295900" cy="685800"/>
          </a:xfrm>
          <a:custGeom>
            <a:avLst/>
            <a:gdLst/>
            <a:ahLst/>
            <a:cxnLst/>
            <a:rect l="l" t="t" r="r" b="b"/>
            <a:pathLst>
              <a:path w="5295900" h="685800">
                <a:moveTo>
                  <a:pt x="38100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609601"/>
                </a:lnTo>
                <a:cubicBezTo>
                  <a:pt x="5295900" y="651684"/>
                  <a:pt x="5261784" y="685800"/>
                  <a:pt x="52197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61975" y="24479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95325" y="2562225"/>
            <a:ext cx="5124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highlight>
                  <a:srgbClr val="E07A5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Wide Web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a system of interlinked hypertext documents.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3452813"/>
            <a:ext cx="5629275" cy="2295525"/>
          </a:xfrm>
          <a:custGeom>
            <a:avLst/>
            <a:gdLst/>
            <a:ahLst/>
            <a:cxnLst/>
            <a:rect l="l" t="t" r="r" b="b"/>
            <a:pathLst>
              <a:path w="5629275" h="2295525">
                <a:moveTo>
                  <a:pt x="114294" y="0"/>
                </a:moveTo>
                <a:lnTo>
                  <a:pt x="5514981" y="0"/>
                </a:lnTo>
                <a:cubicBezTo>
                  <a:pt x="5578104" y="0"/>
                  <a:pt x="5629275" y="51171"/>
                  <a:pt x="5629275" y="114294"/>
                </a:cubicBezTo>
                <a:lnTo>
                  <a:pt x="5629275" y="2181231"/>
                </a:lnTo>
                <a:cubicBezTo>
                  <a:pt x="5629275" y="2244354"/>
                  <a:pt x="5578104" y="2295525"/>
                  <a:pt x="5514981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6022" y="36576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60997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Technologies Invented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2925" y="3990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134" y="4086225"/>
            <a:ext cx="438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38225" y="3990975"/>
            <a:ext cx="3667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HyperText Markup Language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38225" y="4257675"/>
            <a:ext cx="365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language for creating web pages and structuring content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2925" y="4562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59296" y="465772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8225" y="4562475"/>
            <a:ext cx="425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HyperText Transfer Protocol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38225" y="4829175"/>
            <a:ext cx="4248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protocol for transferring web pages between servers and browsers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2925" y="5133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7700" y="52482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1038225" y="5133975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Hyperlinks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38225" y="5400675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Clickable text connecting pages — "surfing" the web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6963" y="1033462"/>
            <a:ext cx="5629275" cy="2028825"/>
          </a:xfrm>
          <a:custGeom>
            <a:avLst/>
            <a:gdLst/>
            <a:ahLst/>
            <a:cxnLst/>
            <a:rect l="l" t="t" r="r" b="b"/>
            <a:pathLst>
              <a:path w="5629275" h="2028825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914521"/>
                </a:lnTo>
                <a:cubicBezTo>
                  <a:pt x="5629275" y="1977649"/>
                  <a:pt x="5578099" y="2028825"/>
                  <a:pt x="5514971" y="2028825"/>
                </a:cubicBezTo>
                <a:lnTo>
                  <a:pt x="114304" y="2028825"/>
                </a:lnTo>
                <a:cubicBezTo>
                  <a:pt x="51176" y="2028825"/>
                  <a:pt x="0" y="1977649"/>
                  <a:pt x="0" y="19145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34125" y="1190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/>
              </a:gs>
              <a:gs pos="100000">
                <a:srgbClr val="8D99AE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6486525" y="1343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39291" y="57150"/>
                </a:moveTo>
                <a:lnTo>
                  <a:pt x="189309" y="57150"/>
                </a:lnTo>
                <a:cubicBezTo>
                  <a:pt x="195248" y="57150"/>
                  <a:pt x="200025" y="61927"/>
                  <a:pt x="200025" y="67866"/>
                </a:cubicBezTo>
                <a:cubicBezTo>
                  <a:pt x="200025" y="73804"/>
                  <a:pt x="195248" y="78581"/>
                  <a:pt x="189309" y="78581"/>
                </a:cubicBezTo>
                <a:lnTo>
                  <a:pt x="39291" y="78581"/>
                </a:lnTo>
                <a:cubicBezTo>
                  <a:pt x="33352" y="78581"/>
                  <a:pt x="28575" y="73804"/>
                  <a:pt x="28575" y="67866"/>
                </a:cubicBezTo>
                <a:cubicBezTo>
                  <a:pt x="28575" y="61927"/>
                  <a:pt x="33352" y="57150"/>
                  <a:pt x="39291" y="571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981825" y="1228725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81825" y="1419225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Mosaic Browser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34125" y="1838325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Mosaic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was the first graphical web browser, making the Web accessible to non-technical users.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2700" y="24669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3009" y="744"/>
                </a:moveTo>
                <a:cubicBezTo>
                  <a:pt x="25420" y="-476"/>
                  <a:pt x="28337" y="-208"/>
                  <a:pt x="30480" y="1429"/>
                </a:cubicBezTo>
                <a:lnTo>
                  <a:pt x="125730" y="72836"/>
                </a:lnTo>
                <a:cubicBezTo>
                  <a:pt x="128201" y="74682"/>
                  <a:pt x="129183" y="77897"/>
                  <a:pt x="128230" y="80814"/>
                </a:cubicBezTo>
                <a:cubicBezTo>
                  <a:pt x="127278" y="83731"/>
                  <a:pt x="124539" y="85695"/>
                  <a:pt x="121444" y="85695"/>
                </a:cubicBezTo>
                <a:lnTo>
                  <a:pt x="76111" y="85695"/>
                </a:lnTo>
                <a:lnTo>
                  <a:pt x="102572" y="138589"/>
                </a:lnTo>
                <a:cubicBezTo>
                  <a:pt x="104924" y="143292"/>
                  <a:pt x="103019" y="149007"/>
                  <a:pt x="98316" y="151358"/>
                </a:cubicBezTo>
                <a:cubicBezTo>
                  <a:pt x="93613" y="153710"/>
                  <a:pt x="87898" y="151805"/>
                  <a:pt x="85546" y="147102"/>
                </a:cubicBezTo>
                <a:lnTo>
                  <a:pt x="59085" y="94208"/>
                </a:lnTo>
                <a:lnTo>
                  <a:pt x="31909" y="130463"/>
                </a:lnTo>
                <a:cubicBezTo>
                  <a:pt x="30063" y="132933"/>
                  <a:pt x="26849" y="133916"/>
                  <a:pt x="23932" y="132963"/>
                </a:cubicBezTo>
                <a:cubicBezTo>
                  <a:pt x="21015" y="132011"/>
                  <a:pt x="19050" y="129272"/>
                  <a:pt x="19050" y="126206"/>
                </a:cubicBezTo>
                <a:lnTo>
                  <a:pt x="19050" y="7144"/>
                </a:lnTo>
                <a:cubicBezTo>
                  <a:pt x="19050" y="4435"/>
                  <a:pt x="20568" y="1965"/>
                  <a:pt x="23009" y="74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7" name="Text 35"/>
          <p:cNvSpPr/>
          <p:nvPr/>
        </p:nvSpPr>
        <p:spPr>
          <a:xfrm>
            <a:off x="6600825" y="2447925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Clickable links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58275" y="24669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38100" y="33338"/>
                </a:moveTo>
                <a:cubicBezTo>
                  <a:pt x="45985" y="33338"/>
                  <a:pt x="52388" y="39740"/>
                  <a:pt x="52388" y="47625"/>
                </a:cubicBezTo>
                <a:cubicBezTo>
                  <a:pt x="52388" y="55510"/>
                  <a:pt x="45985" y="61912"/>
                  <a:pt x="38100" y="61912"/>
                </a:cubicBezTo>
                <a:cubicBezTo>
                  <a:pt x="30215" y="61912"/>
                  <a:pt x="23813" y="55510"/>
                  <a:pt x="23813" y="47625"/>
                </a:cubicBezTo>
                <a:cubicBezTo>
                  <a:pt x="23813" y="39740"/>
                  <a:pt x="30215" y="33338"/>
                  <a:pt x="38100" y="33338"/>
                </a:cubicBezTo>
                <a:close/>
                <a:moveTo>
                  <a:pt x="80962" y="66675"/>
                </a:moveTo>
                <a:cubicBezTo>
                  <a:pt x="83463" y="66675"/>
                  <a:pt x="85755" y="67985"/>
                  <a:pt x="87064" y="70098"/>
                </a:cubicBezTo>
                <a:lnTo>
                  <a:pt x="113258" y="112961"/>
                </a:lnTo>
                <a:cubicBezTo>
                  <a:pt x="114598" y="115163"/>
                  <a:pt x="114657" y="117931"/>
                  <a:pt x="113407" y="120194"/>
                </a:cubicBezTo>
                <a:cubicBezTo>
                  <a:pt x="112157" y="122456"/>
                  <a:pt x="109746" y="123825"/>
                  <a:pt x="107156" y="123825"/>
                </a:cubicBezTo>
                <a:lnTo>
                  <a:pt x="26194" y="123825"/>
                </a:lnTo>
                <a:cubicBezTo>
                  <a:pt x="23545" y="123825"/>
                  <a:pt x="21074" y="122337"/>
                  <a:pt x="19854" y="119985"/>
                </a:cubicBezTo>
                <a:cubicBezTo>
                  <a:pt x="18633" y="117634"/>
                  <a:pt x="18812" y="114776"/>
                  <a:pt x="20330" y="112603"/>
                </a:cubicBezTo>
                <a:lnTo>
                  <a:pt x="36999" y="88791"/>
                </a:lnTo>
                <a:cubicBezTo>
                  <a:pt x="38338" y="86886"/>
                  <a:pt x="40511" y="85755"/>
                  <a:pt x="42863" y="85755"/>
                </a:cubicBezTo>
                <a:cubicBezTo>
                  <a:pt x="45214" y="85755"/>
                  <a:pt x="47387" y="86886"/>
                  <a:pt x="48726" y="88791"/>
                </a:cubicBezTo>
                <a:lnTo>
                  <a:pt x="56584" y="100042"/>
                </a:lnTo>
                <a:lnTo>
                  <a:pt x="74861" y="70128"/>
                </a:lnTo>
                <a:cubicBezTo>
                  <a:pt x="76170" y="68014"/>
                  <a:pt x="78462" y="66705"/>
                  <a:pt x="80962" y="6670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9" name="Text 37"/>
          <p:cNvSpPr/>
          <p:nvPr/>
        </p:nvSpPr>
        <p:spPr>
          <a:xfrm>
            <a:off x="9296400" y="2447925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display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43650" y="27336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3024" y="3066"/>
                </a:moveTo>
                <a:lnTo>
                  <a:pt x="77123" y="47030"/>
                </a:lnTo>
                <a:cubicBezTo>
                  <a:pt x="68461" y="52804"/>
                  <a:pt x="62954" y="62180"/>
                  <a:pt x="62061" y="72420"/>
                </a:cubicBezTo>
                <a:cubicBezTo>
                  <a:pt x="80605" y="76230"/>
                  <a:pt x="95220" y="90845"/>
                  <a:pt x="99060" y="109418"/>
                </a:cubicBezTo>
                <a:cubicBezTo>
                  <a:pt x="109329" y="108525"/>
                  <a:pt x="118676" y="103019"/>
                  <a:pt x="124450" y="94357"/>
                </a:cubicBezTo>
                <a:lnTo>
                  <a:pt x="168384" y="28426"/>
                </a:lnTo>
                <a:cubicBezTo>
                  <a:pt x="170378" y="25420"/>
                  <a:pt x="171450" y="21908"/>
                  <a:pt x="171450" y="18276"/>
                </a:cubicBezTo>
                <a:cubicBezTo>
                  <a:pt x="171450" y="8186"/>
                  <a:pt x="163264" y="0"/>
                  <a:pt x="153174" y="0"/>
                </a:cubicBezTo>
                <a:cubicBezTo>
                  <a:pt x="149572" y="0"/>
                  <a:pt x="146030" y="1072"/>
                  <a:pt x="143024" y="3066"/>
                </a:cubicBezTo>
                <a:close/>
                <a:moveTo>
                  <a:pt x="85725" y="119062"/>
                </a:moveTo>
                <a:cubicBezTo>
                  <a:pt x="85725" y="100638"/>
                  <a:pt x="70812" y="85725"/>
                  <a:pt x="52388" y="85725"/>
                </a:cubicBezTo>
                <a:cubicBezTo>
                  <a:pt x="33963" y="85725"/>
                  <a:pt x="19050" y="100638"/>
                  <a:pt x="19050" y="119062"/>
                </a:cubicBezTo>
                <a:cubicBezTo>
                  <a:pt x="19050" y="120223"/>
                  <a:pt x="19110" y="121384"/>
                  <a:pt x="19229" y="122515"/>
                </a:cubicBezTo>
                <a:cubicBezTo>
                  <a:pt x="19764" y="127724"/>
                  <a:pt x="16192" y="133350"/>
                  <a:pt x="10954" y="133350"/>
                </a:cubicBezTo>
                <a:lnTo>
                  <a:pt x="9525" y="133350"/>
                </a:lnTo>
                <a:cubicBezTo>
                  <a:pt x="4256" y="133350"/>
                  <a:pt x="0" y="137606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52388" y="152400"/>
                </a:lnTo>
                <a:cubicBezTo>
                  <a:pt x="70812" y="152400"/>
                  <a:pt x="85725" y="137487"/>
                  <a:pt x="85725" y="119062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1" name="Text 39"/>
          <p:cNvSpPr/>
          <p:nvPr/>
        </p:nvSpPr>
        <p:spPr>
          <a:xfrm>
            <a:off x="6600825" y="2714625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interface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39225" y="27336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9050" y="38100"/>
                </a:moveTo>
                <a:cubicBezTo>
                  <a:pt x="19050" y="19701"/>
                  <a:pt x="33988" y="4763"/>
                  <a:pt x="52387" y="4763"/>
                </a:cubicBezTo>
                <a:cubicBezTo>
                  <a:pt x="70787" y="4763"/>
                  <a:pt x="85725" y="19701"/>
                  <a:pt x="85725" y="38100"/>
                </a:cubicBezTo>
                <a:cubicBezTo>
                  <a:pt x="85725" y="56499"/>
                  <a:pt x="70787" y="71438"/>
                  <a:pt x="52388" y="71438"/>
                </a:cubicBezTo>
                <a:cubicBezTo>
                  <a:pt x="33988" y="71438"/>
                  <a:pt x="19050" y="56499"/>
                  <a:pt x="19050" y="38100"/>
                </a:cubicBezTo>
                <a:close/>
                <a:moveTo>
                  <a:pt x="0" y="138113"/>
                </a:moveTo>
                <a:cubicBezTo>
                  <a:pt x="0" y="109180"/>
                  <a:pt x="23455" y="85725"/>
                  <a:pt x="52388" y="85725"/>
                </a:cubicBezTo>
                <a:cubicBezTo>
                  <a:pt x="81320" y="85725"/>
                  <a:pt x="104775" y="109180"/>
                  <a:pt x="104775" y="138113"/>
                </a:cubicBezTo>
                <a:lnTo>
                  <a:pt x="104775" y="139898"/>
                </a:lnTo>
                <a:cubicBezTo>
                  <a:pt x="104775" y="146804"/>
                  <a:pt x="99179" y="152400"/>
                  <a:pt x="92273" y="152400"/>
                </a:cubicBezTo>
                <a:lnTo>
                  <a:pt x="12502" y="152400"/>
                </a:lnTo>
                <a:cubicBezTo>
                  <a:pt x="5596" y="152400"/>
                  <a:pt x="0" y="146804"/>
                  <a:pt x="0" y="139898"/>
                </a:cubicBezTo>
                <a:lnTo>
                  <a:pt x="0" y="138113"/>
                </a:lnTo>
                <a:close/>
                <a:moveTo>
                  <a:pt x="128588" y="19050"/>
                </a:moveTo>
                <a:cubicBezTo>
                  <a:pt x="144358" y="19050"/>
                  <a:pt x="157163" y="31854"/>
                  <a:pt x="157163" y="47625"/>
                </a:cubicBezTo>
                <a:cubicBezTo>
                  <a:pt x="157163" y="63396"/>
                  <a:pt x="144358" y="76200"/>
                  <a:pt x="128588" y="76200"/>
                </a:cubicBezTo>
                <a:cubicBezTo>
                  <a:pt x="112817" y="76200"/>
                  <a:pt x="100013" y="63396"/>
                  <a:pt x="100013" y="47625"/>
                </a:cubicBezTo>
                <a:cubicBezTo>
                  <a:pt x="100013" y="31854"/>
                  <a:pt x="112817" y="19050"/>
                  <a:pt x="128588" y="19050"/>
                </a:cubicBezTo>
                <a:close/>
                <a:moveTo>
                  <a:pt x="128588" y="90488"/>
                </a:moveTo>
                <a:cubicBezTo>
                  <a:pt x="152251" y="90488"/>
                  <a:pt x="171450" y="109686"/>
                  <a:pt x="171450" y="133350"/>
                </a:cubicBezTo>
                <a:lnTo>
                  <a:pt x="171450" y="140018"/>
                </a:lnTo>
                <a:cubicBezTo>
                  <a:pt x="171450" y="146864"/>
                  <a:pt x="165914" y="152400"/>
                  <a:pt x="159068" y="152400"/>
                </a:cubicBezTo>
                <a:lnTo>
                  <a:pt x="115967" y="152400"/>
                </a:lnTo>
                <a:cubicBezTo>
                  <a:pt x="117931" y="148679"/>
                  <a:pt x="119062" y="144423"/>
                  <a:pt x="119062" y="139898"/>
                </a:cubicBezTo>
                <a:lnTo>
                  <a:pt x="119062" y="138113"/>
                </a:lnTo>
                <a:cubicBezTo>
                  <a:pt x="119062" y="122783"/>
                  <a:pt x="113883" y="108674"/>
                  <a:pt x="105221" y="97423"/>
                </a:cubicBezTo>
                <a:cubicBezTo>
                  <a:pt x="111949" y="93047"/>
                  <a:pt x="119985" y="90488"/>
                  <a:pt x="128587" y="9048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3" name="Text 41"/>
          <p:cNvSpPr/>
          <p:nvPr/>
        </p:nvSpPr>
        <p:spPr>
          <a:xfrm>
            <a:off x="9296400" y="2714625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User-friendly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6963" y="3224213"/>
            <a:ext cx="5629275" cy="2524125"/>
          </a:xfrm>
          <a:custGeom>
            <a:avLst/>
            <a:gdLst/>
            <a:ahLst/>
            <a:cxnLst/>
            <a:rect l="l" t="t" r="r" b="b"/>
            <a:pathLst>
              <a:path w="5629275" h="2524125">
                <a:moveTo>
                  <a:pt x="114292" y="0"/>
                </a:moveTo>
                <a:lnTo>
                  <a:pt x="5514983" y="0"/>
                </a:lnTo>
                <a:cubicBezTo>
                  <a:pt x="5578105" y="0"/>
                  <a:pt x="5629275" y="51170"/>
                  <a:pt x="5629275" y="114292"/>
                </a:cubicBezTo>
                <a:lnTo>
                  <a:pt x="5629275" y="2409833"/>
                </a:lnTo>
                <a:cubicBezTo>
                  <a:pt x="5629275" y="2472955"/>
                  <a:pt x="5578105" y="2524125"/>
                  <a:pt x="5514983" y="2524125"/>
                </a:cubicBezTo>
                <a:lnTo>
                  <a:pt x="114292" y="2524125"/>
                </a:lnTo>
                <a:cubicBezTo>
                  <a:pt x="51170" y="2524125"/>
                  <a:pt x="0" y="2472955"/>
                  <a:pt x="0" y="2409833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7938" y="3429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6" name="Text 44"/>
          <p:cNvSpPr/>
          <p:nvPr/>
        </p:nvSpPr>
        <p:spPr>
          <a:xfrm>
            <a:off x="6553200" y="338137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Dot-Com Boom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34125" y="3762375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Companies realized they could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money on the Internet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The mid-to-late '90s saw explosive growth.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34125" y="4371975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76199" y="0"/>
                </a:moveTo>
                <a:lnTo>
                  <a:pt x="5238751" y="0"/>
                </a:lnTo>
                <a:cubicBezTo>
                  <a:pt x="5280834" y="0"/>
                  <a:pt x="5314950" y="34116"/>
                  <a:pt x="5314950" y="76199"/>
                </a:cubicBezTo>
                <a:lnTo>
                  <a:pt x="5314950" y="609601"/>
                </a:lnTo>
                <a:cubicBezTo>
                  <a:pt x="5314950" y="651684"/>
                  <a:pt x="5280834" y="685800"/>
                  <a:pt x="523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67475" y="4524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0" name="Text 48"/>
          <p:cNvSpPr/>
          <p:nvPr/>
        </p:nvSpPr>
        <p:spPr>
          <a:xfrm>
            <a:off x="6696075" y="4486275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the end of the '90s, everyone was jumping online — creating websites, e-commerce, and digital services.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00050" y="5905500"/>
            <a:ext cx="11410950" cy="685800"/>
          </a:xfrm>
          <a:custGeom>
            <a:avLst/>
            <a:gdLst/>
            <a:ahLst/>
            <a:cxnLst/>
            <a:rect l="l" t="t" r="r" b="b"/>
            <a:pathLst>
              <a:path w="11410950" h="685800">
                <a:moveTo>
                  <a:pt x="0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609601"/>
                </a:lnTo>
                <a:cubicBezTo>
                  <a:pt x="11410950" y="651684"/>
                  <a:pt x="11376834" y="685800"/>
                  <a:pt x="11334751" y="685800"/>
                </a:cubicBez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2" name="Shape 50"/>
          <p:cNvSpPr/>
          <p:nvPr/>
        </p:nvSpPr>
        <p:spPr>
          <a:xfrm>
            <a:off x="400050" y="59055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" y="60579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4" name="Text 52"/>
          <p:cNvSpPr/>
          <p:nvPr/>
        </p:nvSpPr>
        <p:spPr>
          <a:xfrm>
            <a:off x="781050" y="6019800"/>
            <a:ext cx="10991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Distinction: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infrastructure (the "highway"). The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one major service running on top (the "cars"). Email, FTP, chat, etc., are other services.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76101" y="43815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Evolution Timeline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pic>
        <p:nvPicPr>
          <p:cNvPr id="6" name="Image 0" descr="https://kimi-img.moonshot.cn/pub/slides/26-02-15-12:51:30-d68l1khpue5m2j51l3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1028700"/>
            <a:ext cx="11430000" cy="54483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842" y="349842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69968" y="0"/>
                </a:moveTo>
                <a:lnTo>
                  <a:pt x="279874" y="0"/>
                </a:lnTo>
                <a:cubicBezTo>
                  <a:pt x="318490" y="0"/>
                  <a:pt x="349842" y="31352"/>
                  <a:pt x="349842" y="69968"/>
                </a:cubicBezTo>
                <a:lnTo>
                  <a:pt x="349842" y="279874"/>
                </a:lnTo>
                <a:cubicBezTo>
                  <a:pt x="349842" y="318490"/>
                  <a:pt x="318490" y="349842"/>
                  <a:pt x="279874" y="349842"/>
                </a:cubicBezTo>
                <a:lnTo>
                  <a:pt x="69968" y="349842"/>
                </a:lnTo>
                <a:cubicBezTo>
                  <a:pt x="31352" y="349842"/>
                  <a:pt x="0" y="318490"/>
                  <a:pt x="0" y="279874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37166" y="402319"/>
            <a:ext cx="253636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4637" y="349842"/>
            <a:ext cx="3673343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Internet 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9842" y="769653"/>
            <a:ext cx="839621" cy="34984"/>
          </a:xfrm>
          <a:custGeom>
            <a:avLst/>
            <a:gdLst/>
            <a:ahLst/>
            <a:cxnLst/>
            <a:rect l="l" t="t" r="r" b="b"/>
            <a:pathLst>
              <a:path w="839621" h="34984">
                <a:moveTo>
                  <a:pt x="0" y="0"/>
                </a:moveTo>
                <a:lnTo>
                  <a:pt x="839621" y="0"/>
                </a:lnTo>
                <a:lnTo>
                  <a:pt x="839621" y="34984"/>
                </a:lnTo>
                <a:lnTo>
                  <a:pt x="0" y="3498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54215" y="948947"/>
            <a:ext cx="5667443" cy="2002846"/>
          </a:xfrm>
          <a:custGeom>
            <a:avLst/>
            <a:gdLst/>
            <a:ahLst/>
            <a:cxnLst/>
            <a:rect l="l" t="t" r="r" b="b"/>
            <a:pathLst>
              <a:path w="5667443" h="2002846">
                <a:moveTo>
                  <a:pt x="104949" y="0"/>
                </a:moveTo>
                <a:lnTo>
                  <a:pt x="5562494" y="0"/>
                </a:lnTo>
                <a:cubicBezTo>
                  <a:pt x="5620456" y="0"/>
                  <a:pt x="5667443" y="46987"/>
                  <a:pt x="5667443" y="104949"/>
                </a:cubicBezTo>
                <a:lnTo>
                  <a:pt x="5667443" y="1897897"/>
                </a:lnTo>
                <a:cubicBezTo>
                  <a:pt x="5667443" y="1955859"/>
                  <a:pt x="5620456" y="2002846"/>
                  <a:pt x="5562494" y="2002846"/>
                </a:cubicBezTo>
                <a:lnTo>
                  <a:pt x="104949" y="2002846"/>
                </a:lnTo>
                <a:cubicBezTo>
                  <a:pt x="46987" y="2002846"/>
                  <a:pt x="0" y="1955859"/>
                  <a:pt x="0" y="1897897"/>
                </a:cubicBezTo>
                <a:lnTo>
                  <a:pt x="0" y="104949"/>
                </a:lnTo>
                <a:cubicBezTo>
                  <a:pt x="0" y="47026"/>
                  <a:pt x="47026" y="0"/>
                  <a:pt x="10494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8525" y="1093257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104953" y="0"/>
                </a:moveTo>
                <a:lnTo>
                  <a:pt x="314858" y="0"/>
                </a:lnTo>
                <a:cubicBezTo>
                  <a:pt x="372822" y="0"/>
                  <a:pt x="419811" y="46989"/>
                  <a:pt x="419811" y="104953"/>
                </a:cubicBezTo>
                <a:lnTo>
                  <a:pt x="419811" y="314858"/>
                </a:lnTo>
                <a:cubicBezTo>
                  <a:pt x="419811" y="372822"/>
                  <a:pt x="372822" y="419811"/>
                  <a:pt x="314858" y="419811"/>
                </a:cubicBezTo>
                <a:lnTo>
                  <a:pt x="104953" y="419811"/>
                </a:lnTo>
                <a:cubicBezTo>
                  <a:pt x="46989" y="419811"/>
                  <a:pt x="0" y="372822"/>
                  <a:pt x="0" y="314858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620970" y="1215702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16399" y="21865"/>
                </a:moveTo>
                <a:cubicBezTo>
                  <a:pt x="7345" y="21865"/>
                  <a:pt x="0" y="29210"/>
                  <a:pt x="0" y="38264"/>
                </a:cubicBezTo>
                <a:cubicBezTo>
                  <a:pt x="0" y="43423"/>
                  <a:pt x="2426" y="48274"/>
                  <a:pt x="6560" y="51383"/>
                </a:cubicBezTo>
                <a:lnTo>
                  <a:pt x="77621" y="104679"/>
                </a:lnTo>
                <a:cubicBezTo>
                  <a:pt x="83463" y="109052"/>
                  <a:pt x="91458" y="109052"/>
                  <a:pt x="97300" y="104679"/>
                </a:cubicBezTo>
                <a:lnTo>
                  <a:pt x="168362" y="51383"/>
                </a:lnTo>
                <a:cubicBezTo>
                  <a:pt x="172495" y="48274"/>
                  <a:pt x="174921" y="43423"/>
                  <a:pt x="174921" y="38264"/>
                </a:cubicBezTo>
                <a:cubicBezTo>
                  <a:pt x="174921" y="29210"/>
                  <a:pt x="167576" y="21865"/>
                  <a:pt x="158522" y="21865"/>
                </a:cubicBezTo>
                <a:lnTo>
                  <a:pt x="16399" y="21865"/>
                </a:lnTo>
                <a:close/>
                <a:moveTo>
                  <a:pt x="0" y="66962"/>
                </a:moveTo>
                <a:lnTo>
                  <a:pt x="0" y="131191"/>
                </a:lnTo>
                <a:cubicBezTo>
                  <a:pt x="0" y="143251"/>
                  <a:pt x="9805" y="153056"/>
                  <a:pt x="21865" y="153056"/>
                </a:cubicBezTo>
                <a:lnTo>
                  <a:pt x="153056" y="153056"/>
                </a:lnTo>
                <a:cubicBezTo>
                  <a:pt x="165116" y="153056"/>
                  <a:pt x="174921" y="143251"/>
                  <a:pt x="174921" y="131191"/>
                </a:cubicBezTo>
                <a:lnTo>
                  <a:pt x="174921" y="66962"/>
                </a:lnTo>
                <a:lnTo>
                  <a:pt x="107139" y="117798"/>
                </a:lnTo>
                <a:cubicBezTo>
                  <a:pt x="95489" y="126544"/>
                  <a:pt x="79432" y="126544"/>
                  <a:pt x="67782" y="117798"/>
                </a:cubicBezTo>
                <a:lnTo>
                  <a:pt x="0" y="6696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23288" y="1180717"/>
            <a:ext cx="2378927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Postal System Analogy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525" y="1618020"/>
            <a:ext cx="5448792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the Internet like a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giant postal system for digital data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Every device has a unique address, and data travels in labeled packets through routing "post offices."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6017" y="2177768"/>
            <a:ext cx="5361331" cy="629716"/>
          </a:xfrm>
          <a:custGeom>
            <a:avLst/>
            <a:gdLst/>
            <a:ahLst/>
            <a:cxnLst/>
            <a:rect l="l" t="t" r="r" b="b"/>
            <a:pathLst>
              <a:path w="5361331" h="629716">
                <a:moveTo>
                  <a:pt x="34984" y="0"/>
                </a:moveTo>
                <a:lnTo>
                  <a:pt x="5291364" y="0"/>
                </a:lnTo>
                <a:cubicBezTo>
                  <a:pt x="5330006" y="0"/>
                  <a:pt x="5361331" y="31326"/>
                  <a:pt x="5361331" y="69968"/>
                </a:cubicBezTo>
                <a:lnTo>
                  <a:pt x="5361331" y="559748"/>
                </a:lnTo>
                <a:cubicBezTo>
                  <a:pt x="5361331" y="598390"/>
                  <a:pt x="5330006" y="629716"/>
                  <a:pt x="5291364" y="629716"/>
                </a:cubicBezTo>
                <a:lnTo>
                  <a:pt x="34984" y="629716"/>
                </a:lnTo>
                <a:cubicBezTo>
                  <a:pt x="15663" y="629716"/>
                  <a:pt x="0" y="614053"/>
                  <a:pt x="0" y="59473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6017" y="2177768"/>
            <a:ext cx="34984" cy="629716"/>
          </a:xfrm>
          <a:custGeom>
            <a:avLst/>
            <a:gdLst/>
            <a:ahLst/>
            <a:cxnLst/>
            <a:rect l="l" t="t" r="r" b="b"/>
            <a:pathLst>
              <a:path w="34984" h="629716">
                <a:moveTo>
                  <a:pt x="34984" y="0"/>
                </a:moveTo>
                <a:lnTo>
                  <a:pt x="34984" y="0"/>
                </a:lnTo>
                <a:lnTo>
                  <a:pt x="34984" y="629716"/>
                </a:lnTo>
                <a:lnTo>
                  <a:pt x="34984" y="629716"/>
                </a:lnTo>
                <a:cubicBezTo>
                  <a:pt x="15663" y="629716"/>
                  <a:pt x="0" y="614053"/>
                  <a:pt x="0" y="59473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673446" y="2317704"/>
            <a:ext cx="104953" cy="139937"/>
          </a:xfrm>
          <a:custGeom>
            <a:avLst/>
            <a:gdLst/>
            <a:ahLst/>
            <a:cxnLst/>
            <a:rect l="l" t="t" r="r" b="b"/>
            <a:pathLst>
              <a:path w="104953" h="139937">
                <a:moveTo>
                  <a:pt x="80054" y="104953"/>
                </a:moveTo>
                <a:cubicBezTo>
                  <a:pt x="82049" y="98858"/>
                  <a:pt x="86039" y="93337"/>
                  <a:pt x="90549" y="88581"/>
                </a:cubicBezTo>
                <a:cubicBezTo>
                  <a:pt x="99486" y="79179"/>
                  <a:pt x="104953" y="66470"/>
                  <a:pt x="104953" y="52476"/>
                </a:cubicBezTo>
                <a:cubicBezTo>
                  <a:pt x="104953" y="23505"/>
                  <a:pt x="81448" y="0"/>
                  <a:pt x="52476" y="0"/>
                </a:cubicBezTo>
                <a:cubicBezTo>
                  <a:pt x="23505" y="0"/>
                  <a:pt x="0" y="23505"/>
                  <a:pt x="0" y="52476"/>
                </a:cubicBezTo>
                <a:cubicBezTo>
                  <a:pt x="0" y="66470"/>
                  <a:pt x="5466" y="79179"/>
                  <a:pt x="14404" y="88581"/>
                </a:cubicBezTo>
                <a:cubicBezTo>
                  <a:pt x="18913" y="93337"/>
                  <a:pt x="22931" y="98858"/>
                  <a:pt x="24899" y="104953"/>
                </a:cubicBezTo>
                <a:lnTo>
                  <a:pt x="80026" y="104953"/>
                </a:lnTo>
                <a:close/>
                <a:moveTo>
                  <a:pt x="78714" y="118072"/>
                </a:moveTo>
                <a:lnTo>
                  <a:pt x="26238" y="118072"/>
                </a:lnTo>
                <a:lnTo>
                  <a:pt x="26238" y="122445"/>
                </a:lnTo>
                <a:cubicBezTo>
                  <a:pt x="26238" y="134525"/>
                  <a:pt x="36023" y="144310"/>
                  <a:pt x="48103" y="144310"/>
                </a:cubicBezTo>
                <a:lnTo>
                  <a:pt x="56849" y="144310"/>
                </a:lnTo>
                <a:cubicBezTo>
                  <a:pt x="68930" y="144310"/>
                  <a:pt x="78714" y="134525"/>
                  <a:pt x="78714" y="122445"/>
                </a:cubicBezTo>
                <a:lnTo>
                  <a:pt x="78714" y="118072"/>
                </a:lnTo>
                <a:close/>
                <a:moveTo>
                  <a:pt x="50290" y="30611"/>
                </a:moveTo>
                <a:cubicBezTo>
                  <a:pt x="39412" y="30611"/>
                  <a:pt x="30611" y="39412"/>
                  <a:pt x="30611" y="50290"/>
                </a:cubicBezTo>
                <a:cubicBezTo>
                  <a:pt x="30611" y="53925"/>
                  <a:pt x="27687" y="56849"/>
                  <a:pt x="24052" y="56849"/>
                </a:cubicBezTo>
                <a:cubicBezTo>
                  <a:pt x="20417" y="56849"/>
                  <a:pt x="17492" y="53925"/>
                  <a:pt x="17492" y="50290"/>
                </a:cubicBezTo>
                <a:cubicBezTo>
                  <a:pt x="17492" y="32169"/>
                  <a:pt x="32169" y="17492"/>
                  <a:pt x="50290" y="17492"/>
                </a:cubicBezTo>
                <a:cubicBezTo>
                  <a:pt x="53925" y="17492"/>
                  <a:pt x="56849" y="20417"/>
                  <a:pt x="56849" y="24052"/>
                </a:cubicBezTo>
                <a:cubicBezTo>
                  <a:pt x="56849" y="27687"/>
                  <a:pt x="53925" y="30611"/>
                  <a:pt x="50290" y="3061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861568" y="2282720"/>
            <a:ext cx="4980796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Concept:</a:t>
            </a:r>
            <a:pPr>
              <a:lnSpc>
                <a:spcPct val="130000"/>
              </a:lnSpc>
            </a:pPr>
            <a:r>
              <a:rPr lang="en-US" sz="1102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is broken into small "packets" — each labeled with source and destination IP addresses.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4215" y="3100476"/>
            <a:ext cx="5667443" cy="2842468"/>
          </a:xfrm>
          <a:custGeom>
            <a:avLst/>
            <a:gdLst/>
            <a:ahLst/>
            <a:cxnLst/>
            <a:rect l="l" t="t" r="r" b="b"/>
            <a:pathLst>
              <a:path w="5667443" h="2842468">
                <a:moveTo>
                  <a:pt x="104944" y="0"/>
                </a:moveTo>
                <a:lnTo>
                  <a:pt x="5562499" y="0"/>
                </a:lnTo>
                <a:cubicBezTo>
                  <a:pt x="5620458" y="0"/>
                  <a:pt x="5667443" y="46985"/>
                  <a:pt x="5667443" y="104944"/>
                </a:cubicBezTo>
                <a:lnTo>
                  <a:pt x="5667443" y="2737524"/>
                </a:lnTo>
                <a:cubicBezTo>
                  <a:pt x="5667443" y="2795483"/>
                  <a:pt x="5620458" y="2842468"/>
                  <a:pt x="5562499" y="2842468"/>
                </a:cubicBezTo>
                <a:lnTo>
                  <a:pt x="104944" y="2842468"/>
                </a:lnTo>
                <a:cubicBezTo>
                  <a:pt x="46985" y="2842468"/>
                  <a:pt x="0" y="2795483"/>
                  <a:pt x="0" y="2737524"/>
                </a:cubicBezTo>
                <a:lnTo>
                  <a:pt x="0" y="104944"/>
                </a:lnTo>
                <a:cubicBezTo>
                  <a:pt x="0" y="46985"/>
                  <a:pt x="46985" y="0"/>
                  <a:pt x="10494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390" y="3288516"/>
            <a:ext cx="157429" cy="157429"/>
          </a:xfrm>
          <a:custGeom>
            <a:avLst/>
            <a:gdLst/>
            <a:ahLst/>
            <a:cxnLst/>
            <a:rect l="l" t="t" r="r" b="b"/>
            <a:pathLst>
              <a:path w="157429" h="157429">
                <a:moveTo>
                  <a:pt x="157429" y="29518"/>
                </a:moveTo>
                <a:cubicBezTo>
                  <a:pt x="157429" y="44953"/>
                  <a:pt x="139257" y="67983"/>
                  <a:pt x="131416" y="77177"/>
                </a:cubicBezTo>
                <a:cubicBezTo>
                  <a:pt x="130248" y="78530"/>
                  <a:pt x="128526" y="79053"/>
                  <a:pt x="126958" y="78714"/>
                </a:cubicBezTo>
                <a:lnTo>
                  <a:pt x="98393" y="78714"/>
                </a:lnTo>
                <a:cubicBezTo>
                  <a:pt x="92951" y="78714"/>
                  <a:pt x="88554" y="83111"/>
                  <a:pt x="88554" y="88554"/>
                </a:cubicBezTo>
                <a:cubicBezTo>
                  <a:pt x="88554" y="93996"/>
                  <a:pt x="92951" y="98393"/>
                  <a:pt x="98393" y="98393"/>
                </a:cubicBezTo>
                <a:lnTo>
                  <a:pt x="127911" y="98393"/>
                </a:lnTo>
                <a:cubicBezTo>
                  <a:pt x="144207" y="98393"/>
                  <a:pt x="157429" y="111615"/>
                  <a:pt x="157429" y="127911"/>
                </a:cubicBezTo>
                <a:cubicBezTo>
                  <a:pt x="157429" y="144207"/>
                  <a:pt x="144207" y="157429"/>
                  <a:pt x="127911" y="157429"/>
                </a:cubicBezTo>
                <a:lnTo>
                  <a:pt x="42924" y="157429"/>
                </a:lnTo>
                <a:cubicBezTo>
                  <a:pt x="45599" y="154385"/>
                  <a:pt x="48858" y="150480"/>
                  <a:pt x="52148" y="146114"/>
                </a:cubicBezTo>
                <a:cubicBezTo>
                  <a:pt x="54085" y="143531"/>
                  <a:pt x="56084" y="140702"/>
                  <a:pt x="57990" y="137750"/>
                </a:cubicBezTo>
                <a:lnTo>
                  <a:pt x="127911" y="137750"/>
                </a:lnTo>
                <a:cubicBezTo>
                  <a:pt x="133353" y="137750"/>
                  <a:pt x="137750" y="133353"/>
                  <a:pt x="137750" y="127911"/>
                </a:cubicBezTo>
                <a:cubicBezTo>
                  <a:pt x="137750" y="122469"/>
                  <a:pt x="133353" y="118072"/>
                  <a:pt x="127911" y="118072"/>
                </a:cubicBezTo>
                <a:lnTo>
                  <a:pt x="98393" y="118072"/>
                </a:lnTo>
                <a:cubicBezTo>
                  <a:pt x="82097" y="118072"/>
                  <a:pt x="68875" y="104850"/>
                  <a:pt x="68875" y="88554"/>
                </a:cubicBezTo>
                <a:cubicBezTo>
                  <a:pt x="68875" y="72257"/>
                  <a:pt x="82097" y="59036"/>
                  <a:pt x="98393" y="59036"/>
                </a:cubicBezTo>
                <a:lnTo>
                  <a:pt x="110631" y="59036"/>
                </a:lnTo>
                <a:cubicBezTo>
                  <a:pt x="104174" y="49350"/>
                  <a:pt x="98393" y="38220"/>
                  <a:pt x="98393" y="29518"/>
                </a:cubicBezTo>
                <a:cubicBezTo>
                  <a:pt x="98393" y="13222"/>
                  <a:pt x="111615" y="0"/>
                  <a:pt x="127911" y="0"/>
                </a:cubicBezTo>
                <a:cubicBezTo>
                  <a:pt x="144207" y="0"/>
                  <a:pt x="157429" y="13222"/>
                  <a:pt x="157429" y="29518"/>
                </a:cubicBezTo>
                <a:close/>
                <a:moveTo>
                  <a:pt x="36006" y="150388"/>
                </a:moveTo>
                <a:cubicBezTo>
                  <a:pt x="34837" y="151710"/>
                  <a:pt x="33792" y="152878"/>
                  <a:pt x="32900" y="153862"/>
                </a:cubicBezTo>
                <a:lnTo>
                  <a:pt x="32347" y="154477"/>
                </a:lnTo>
                <a:lnTo>
                  <a:pt x="32285" y="154416"/>
                </a:lnTo>
                <a:cubicBezTo>
                  <a:pt x="30440" y="155830"/>
                  <a:pt x="27796" y="155646"/>
                  <a:pt x="26136" y="153862"/>
                </a:cubicBezTo>
                <a:cubicBezTo>
                  <a:pt x="18387" y="145437"/>
                  <a:pt x="0" y="123760"/>
                  <a:pt x="0" y="108232"/>
                </a:cubicBezTo>
                <a:cubicBezTo>
                  <a:pt x="0" y="91936"/>
                  <a:pt x="13222" y="78714"/>
                  <a:pt x="29518" y="78714"/>
                </a:cubicBezTo>
                <a:cubicBezTo>
                  <a:pt x="45814" y="78714"/>
                  <a:pt x="59036" y="91936"/>
                  <a:pt x="59036" y="108232"/>
                </a:cubicBezTo>
                <a:cubicBezTo>
                  <a:pt x="59036" y="117457"/>
                  <a:pt x="52548" y="128833"/>
                  <a:pt x="45661" y="138335"/>
                </a:cubicBezTo>
                <a:cubicBezTo>
                  <a:pt x="42371" y="142855"/>
                  <a:pt x="38988" y="146944"/>
                  <a:pt x="36190" y="150172"/>
                </a:cubicBezTo>
                <a:lnTo>
                  <a:pt x="36006" y="150388"/>
                </a:lnTo>
                <a:close/>
                <a:moveTo>
                  <a:pt x="39357" y="108232"/>
                </a:moveTo>
                <a:cubicBezTo>
                  <a:pt x="39357" y="102802"/>
                  <a:pt x="34948" y="98393"/>
                  <a:pt x="29518" y="98393"/>
                </a:cubicBezTo>
                <a:cubicBezTo>
                  <a:pt x="24087" y="98393"/>
                  <a:pt x="19679" y="102802"/>
                  <a:pt x="19679" y="108232"/>
                </a:cubicBezTo>
                <a:cubicBezTo>
                  <a:pt x="19679" y="113663"/>
                  <a:pt x="24087" y="118072"/>
                  <a:pt x="29518" y="118072"/>
                </a:cubicBezTo>
                <a:cubicBezTo>
                  <a:pt x="34948" y="118072"/>
                  <a:pt x="39357" y="113663"/>
                  <a:pt x="39357" y="108232"/>
                </a:cubicBezTo>
                <a:close/>
                <a:moveTo>
                  <a:pt x="127911" y="39357"/>
                </a:moveTo>
                <a:cubicBezTo>
                  <a:pt x="133342" y="39357"/>
                  <a:pt x="137750" y="34948"/>
                  <a:pt x="137750" y="29518"/>
                </a:cubicBezTo>
                <a:cubicBezTo>
                  <a:pt x="137750" y="24087"/>
                  <a:pt x="133342" y="19679"/>
                  <a:pt x="127911" y="19679"/>
                </a:cubicBezTo>
                <a:cubicBezTo>
                  <a:pt x="122481" y="19679"/>
                  <a:pt x="118072" y="24087"/>
                  <a:pt x="118072" y="29518"/>
                </a:cubicBezTo>
                <a:cubicBezTo>
                  <a:pt x="118072" y="34948"/>
                  <a:pt x="122481" y="39357"/>
                  <a:pt x="127911" y="3935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99684" y="3244786"/>
            <a:ext cx="5256379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Complete Data Flow Process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8525" y="3594628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67914" y="3594628"/>
            <a:ext cx="341096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3352" y="3594628"/>
            <a:ext cx="2099053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Initiated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3352" y="3804534"/>
            <a:ext cx="2090307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type a web address or send data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8525" y="4049423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67914" y="4049423"/>
            <a:ext cx="341096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3352" y="4049423"/>
            <a:ext cx="216027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Translation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3352" y="4259329"/>
            <a:ext cx="2151529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name converted to IP address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8525" y="4504218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67914" y="4504218"/>
            <a:ext cx="341096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3352" y="4504218"/>
            <a:ext cx="2020339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Packet Creation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3352" y="4714123"/>
            <a:ext cx="201159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split into packets with IP labels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8525" y="4959013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Text 29"/>
          <p:cNvSpPr/>
          <p:nvPr/>
        </p:nvSpPr>
        <p:spPr>
          <a:xfrm>
            <a:off x="467914" y="4959013"/>
            <a:ext cx="341096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3352" y="4959013"/>
            <a:ext cx="216027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Router Navigation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3352" y="5168918"/>
            <a:ext cx="2151529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Packets travel through multiple routers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8525" y="5413808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5" name="Text 33"/>
          <p:cNvSpPr/>
          <p:nvPr/>
        </p:nvSpPr>
        <p:spPr>
          <a:xfrm>
            <a:off x="467914" y="5413808"/>
            <a:ext cx="341096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3352" y="5413808"/>
            <a:ext cx="2352689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Reassembly &amp; Delivery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3352" y="5623713"/>
            <a:ext cx="234394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reassembles packets in correct order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69248" y="948947"/>
            <a:ext cx="5667443" cy="2037831"/>
          </a:xfrm>
          <a:custGeom>
            <a:avLst/>
            <a:gdLst/>
            <a:ahLst/>
            <a:cxnLst/>
            <a:rect l="l" t="t" r="r" b="b"/>
            <a:pathLst>
              <a:path w="5667443" h="2037831">
                <a:moveTo>
                  <a:pt x="104948" y="0"/>
                </a:moveTo>
                <a:lnTo>
                  <a:pt x="5562495" y="0"/>
                </a:lnTo>
                <a:cubicBezTo>
                  <a:pt x="5620456" y="0"/>
                  <a:pt x="5667443" y="46987"/>
                  <a:pt x="5667443" y="104948"/>
                </a:cubicBezTo>
                <a:lnTo>
                  <a:pt x="5667443" y="1932882"/>
                </a:lnTo>
                <a:cubicBezTo>
                  <a:pt x="5667443" y="1990844"/>
                  <a:pt x="5620456" y="2037831"/>
                  <a:pt x="5562495" y="2037831"/>
                </a:cubicBezTo>
                <a:lnTo>
                  <a:pt x="104948" y="2037831"/>
                </a:lnTo>
                <a:cubicBezTo>
                  <a:pt x="46987" y="2037831"/>
                  <a:pt x="0" y="1990844"/>
                  <a:pt x="0" y="1932882"/>
                </a:cubicBezTo>
                <a:lnTo>
                  <a:pt x="0" y="104948"/>
                </a:lnTo>
                <a:cubicBezTo>
                  <a:pt x="0" y="47026"/>
                  <a:pt x="47026" y="0"/>
                  <a:pt x="104948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13558" y="1093257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104953" y="0"/>
                </a:moveTo>
                <a:lnTo>
                  <a:pt x="314858" y="0"/>
                </a:lnTo>
                <a:cubicBezTo>
                  <a:pt x="372822" y="0"/>
                  <a:pt x="419811" y="46989"/>
                  <a:pt x="419811" y="104953"/>
                </a:cubicBezTo>
                <a:lnTo>
                  <a:pt x="419811" y="314858"/>
                </a:lnTo>
                <a:cubicBezTo>
                  <a:pt x="419811" y="372822"/>
                  <a:pt x="372822" y="419811"/>
                  <a:pt x="314858" y="419811"/>
                </a:cubicBezTo>
                <a:lnTo>
                  <a:pt x="104953" y="419811"/>
                </a:lnTo>
                <a:cubicBezTo>
                  <a:pt x="46989" y="419811"/>
                  <a:pt x="0" y="372822"/>
                  <a:pt x="0" y="314858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/>
              </a:gs>
              <a:gs pos="100000">
                <a:srgbClr val="8D99AE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0" name="Shape 38"/>
          <p:cNvSpPr/>
          <p:nvPr/>
        </p:nvSpPr>
        <p:spPr>
          <a:xfrm>
            <a:off x="6436003" y="1215702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32798" y="0"/>
                </a:moveTo>
                <a:cubicBezTo>
                  <a:pt x="20738" y="0"/>
                  <a:pt x="10933" y="9805"/>
                  <a:pt x="10933" y="21865"/>
                </a:cubicBezTo>
                <a:lnTo>
                  <a:pt x="10933" y="153056"/>
                </a:lnTo>
                <a:cubicBezTo>
                  <a:pt x="10933" y="165116"/>
                  <a:pt x="20738" y="174921"/>
                  <a:pt x="32798" y="174921"/>
                </a:cubicBezTo>
                <a:lnTo>
                  <a:pt x="131191" y="174921"/>
                </a:lnTo>
                <a:cubicBezTo>
                  <a:pt x="143251" y="174921"/>
                  <a:pt x="153056" y="165116"/>
                  <a:pt x="153056" y="153056"/>
                </a:cubicBezTo>
                <a:lnTo>
                  <a:pt x="153056" y="21865"/>
                </a:lnTo>
                <a:cubicBezTo>
                  <a:pt x="153056" y="9805"/>
                  <a:pt x="143251" y="0"/>
                  <a:pt x="131191" y="0"/>
                </a:cubicBezTo>
                <a:lnTo>
                  <a:pt x="32798" y="0"/>
                </a:lnTo>
                <a:close/>
                <a:moveTo>
                  <a:pt x="71062" y="98393"/>
                </a:moveTo>
                <a:lnTo>
                  <a:pt x="92927" y="98393"/>
                </a:lnTo>
                <a:cubicBezTo>
                  <a:pt x="108027" y="98393"/>
                  <a:pt x="120258" y="110624"/>
                  <a:pt x="120258" y="125725"/>
                </a:cubicBezTo>
                <a:cubicBezTo>
                  <a:pt x="120258" y="128731"/>
                  <a:pt x="117798" y="131191"/>
                  <a:pt x="114792" y="131191"/>
                </a:cubicBezTo>
                <a:lnTo>
                  <a:pt x="49197" y="131191"/>
                </a:lnTo>
                <a:cubicBezTo>
                  <a:pt x="46190" y="131191"/>
                  <a:pt x="43730" y="128731"/>
                  <a:pt x="43730" y="125725"/>
                </a:cubicBezTo>
                <a:cubicBezTo>
                  <a:pt x="43730" y="110624"/>
                  <a:pt x="55961" y="98393"/>
                  <a:pt x="71062" y="98393"/>
                </a:cubicBezTo>
                <a:close/>
                <a:moveTo>
                  <a:pt x="62862" y="65595"/>
                </a:moveTo>
                <a:cubicBezTo>
                  <a:pt x="62862" y="55036"/>
                  <a:pt x="71435" y="46463"/>
                  <a:pt x="81994" y="46463"/>
                </a:cubicBezTo>
                <a:cubicBezTo>
                  <a:pt x="92553" y="46463"/>
                  <a:pt x="101126" y="55036"/>
                  <a:pt x="101126" y="65595"/>
                </a:cubicBezTo>
                <a:cubicBezTo>
                  <a:pt x="101126" y="76155"/>
                  <a:pt x="92553" y="84727"/>
                  <a:pt x="81994" y="84727"/>
                </a:cubicBezTo>
                <a:cubicBezTo>
                  <a:pt x="71435" y="84727"/>
                  <a:pt x="62862" y="76155"/>
                  <a:pt x="62862" y="65595"/>
                </a:cubicBezTo>
                <a:close/>
                <a:moveTo>
                  <a:pt x="174921" y="27331"/>
                </a:moveTo>
                <a:cubicBezTo>
                  <a:pt x="174921" y="24325"/>
                  <a:pt x="172461" y="21865"/>
                  <a:pt x="169455" y="21865"/>
                </a:cubicBezTo>
                <a:cubicBezTo>
                  <a:pt x="166448" y="21865"/>
                  <a:pt x="163989" y="24325"/>
                  <a:pt x="163989" y="27331"/>
                </a:cubicBezTo>
                <a:lnTo>
                  <a:pt x="163989" y="49197"/>
                </a:lnTo>
                <a:cubicBezTo>
                  <a:pt x="163989" y="52203"/>
                  <a:pt x="166448" y="54663"/>
                  <a:pt x="169455" y="54663"/>
                </a:cubicBezTo>
                <a:cubicBezTo>
                  <a:pt x="172461" y="54663"/>
                  <a:pt x="174921" y="52203"/>
                  <a:pt x="174921" y="49197"/>
                </a:cubicBezTo>
                <a:lnTo>
                  <a:pt x="174921" y="27331"/>
                </a:lnTo>
                <a:close/>
                <a:moveTo>
                  <a:pt x="174921" y="71062"/>
                </a:moveTo>
                <a:cubicBezTo>
                  <a:pt x="174921" y="68055"/>
                  <a:pt x="172461" y="65595"/>
                  <a:pt x="169455" y="65595"/>
                </a:cubicBezTo>
                <a:cubicBezTo>
                  <a:pt x="166448" y="65595"/>
                  <a:pt x="163989" y="68055"/>
                  <a:pt x="163989" y="71062"/>
                </a:cubicBezTo>
                <a:lnTo>
                  <a:pt x="163989" y="92927"/>
                </a:lnTo>
                <a:cubicBezTo>
                  <a:pt x="163989" y="95933"/>
                  <a:pt x="166448" y="98393"/>
                  <a:pt x="169455" y="98393"/>
                </a:cubicBezTo>
                <a:cubicBezTo>
                  <a:pt x="172461" y="98393"/>
                  <a:pt x="174921" y="95933"/>
                  <a:pt x="174921" y="92927"/>
                </a:cubicBezTo>
                <a:lnTo>
                  <a:pt x="174921" y="71062"/>
                </a:lnTo>
                <a:close/>
                <a:moveTo>
                  <a:pt x="169455" y="109326"/>
                </a:moveTo>
                <a:cubicBezTo>
                  <a:pt x="166448" y="109326"/>
                  <a:pt x="163989" y="111786"/>
                  <a:pt x="163989" y="114792"/>
                </a:cubicBezTo>
                <a:lnTo>
                  <a:pt x="163989" y="136657"/>
                </a:lnTo>
                <a:cubicBezTo>
                  <a:pt x="163989" y="139664"/>
                  <a:pt x="166448" y="142123"/>
                  <a:pt x="169455" y="142123"/>
                </a:cubicBezTo>
                <a:cubicBezTo>
                  <a:pt x="172461" y="142123"/>
                  <a:pt x="174921" y="139664"/>
                  <a:pt x="174921" y="136657"/>
                </a:cubicBezTo>
                <a:lnTo>
                  <a:pt x="174921" y="114792"/>
                </a:lnTo>
                <a:cubicBezTo>
                  <a:pt x="174921" y="111786"/>
                  <a:pt x="172461" y="109326"/>
                  <a:pt x="169455" y="10932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838321" y="1180717"/>
            <a:ext cx="1941624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DNS: The Phone Book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13558" y="1618020"/>
            <a:ext cx="5448792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Name System (DNS)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translates human-friendly domain names (like "google.com") into numerical IP addresses that routers understand.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13558" y="2177768"/>
            <a:ext cx="5378824" cy="664700"/>
          </a:xfrm>
          <a:custGeom>
            <a:avLst/>
            <a:gdLst/>
            <a:ahLst/>
            <a:cxnLst/>
            <a:rect l="l" t="t" r="r" b="b"/>
            <a:pathLst>
              <a:path w="5378824" h="664700">
                <a:moveTo>
                  <a:pt x="69966" y="0"/>
                </a:moveTo>
                <a:lnTo>
                  <a:pt x="5308857" y="0"/>
                </a:lnTo>
                <a:cubicBezTo>
                  <a:pt x="5347499" y="0"/>
                  <a:pt x="5378824" y="31325"/>
                  <a:pt x="5378824" y="69966"/>
                </a:cubicBezTo>
                <a:lnTo>
                  <a:pt x="5378824" y="594734"/>
                </a:lnTo>
                <a:cubicBezTo>
                  <a:pt x="5378824" y="633375"/>
                  <a:pt x="5347499" y="664700"/>
                  <a:pt x="5308857" y="664700"/>
                </a:cubicBezTo>
                <a:lnTo>
                  <a:pt x="69966" y="664700"/>
                </a:lnTo>
                <a:cubicBezTo>
                  <a:pt x="31325" y="664700"/>
                  <a:pt x="0" y="633375"/>
                  <a:pt x="0" y="594734"/>
                </a:cubicBezTo>
                <a:lnTo>
                  <a:pt x="0" y="69966"/>
                </a:lnTo>
                <a:cubicBezTo>
                  <a:pt x="0" y="31351"/>
                  <a:pt x="31351" y="0"/>
                  <a:pt x="6996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728779" y="2282720"/>
            <a:ext cx="102328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Human-Readable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720033" y="2492626"/>
            <a:ext cx="104078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google.com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880935" y="2422657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171710" y="95182"/>
                </a:moveTo>
                <a:cubicBezTo>
                  <a:pt x="175980" y="90911"/>
                  <a:pt x="175980" y="83976"/>
                  <a:pt x="171710" y="79705"/>
                </a:cubicBezTo>
                <a:lnTo>
                  <a:pt x="117047" y="25042"/>
                </a:lnTo>
                <a:cubicBezTo>
                  <a:pt x="112776" y="20772"/>
                  <a:pt x="105841" y="20772"/>
                  <a:pt x="101570" y="25042"/>
                </a:cubicBezTo>
                <a:cubicBezTo>
                  <a:pt x="97300" y="29313"/>
                  <a:pt x="97300" y="36248"/>
                  <a:pt x="101570" y="40519"/>
                </a:cubicBezTo>
                <a:lnTo>
                  <a:pt x="137580" y="76528"/>
                </a:lnTo>
                <a:lnTo>
                  <a:pt x="10933" y="76528"/>
                </a:lnTo>
                <a:cubicBezTo>
                  <a:pt x="4885" y="76528"/>
                  <a:pt x="0" y="81413"/>
                  <a:pt x="0" y="87461"/>
                </a:cubicBezTo>
                <a:cubicBezTo>
                  <a:pt x="0" y="93508"/>
                  <a:pt x="4885" y="98393"/>
                  <a:pt x="10933" y="98393"/>
                </a:cubicBezTo>
                <a:lnTo>
                  <a:pt x="137580" y="98393"/>
                </a:lnTo>
                <a:lnTo>
                  <a:pt x="101570" y="134402"/>
                </a:lnTo>
                <a:cubicBezTo>
                  <a:pt x="97300" y="138673"/>
                  <a:pt x="97300" y="145608"/>
                  <a:pt x="101570" y="149879"/>
                </a:cubicBezTo>
                <a:cubicBezTo>
                  <a:pt x="105841" y="154149"/>
                  <a:pt x="112776" y="154149"/>
                  <a:pt x="117047" y="149879"/>
                </a:cubicBezTo>
                <a:lnTo>
                  <a:pt x="171710" y="95216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7" name="Text 45"/>
          <p:cNvSpPr/>
          <p:nvPr/>
        </p:nvSpPr>
        <p:spPr>
          <a:xfrm>
            <a:off x="9187047" y="2282720"/>
            <a:ext cx="1093257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Machine-Readable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78301" y="2492626"/>
            <a:ext cx="1110749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142.250.80.46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69248" y="3135461"/>
            <a:ext cx="5667443" cy="2807484"/>
          </a:xfrm>
          <a:custGeom>
            <a:avLst/>
            <a:gdLst/>
            <a:ahLst/>
            <a:cxnLst/>
            <a:rect l="l" t="t" r="r" b="b"/>
            <a:pathLst>
              <a:path w="5667443" h="2807484">
                <a:moveTo>
                  <a:pt x="104944" y="0"/>
                </a:moveTo>
                <a:lnTo>
                  <a:pt x="5562500" y="0"/>
                </a:lnTo>
                <a:cubicBezTo>
                  <a:pt x="5620458" y="0"/>
                  <a:pt x="5667443" y="46985"/>
                  <a:pt x="5667443" y="104944"/>
                </a:cubicBezTo>
                <a:lnTo>
                  <a:pt x="5667443" y="2702540"/>
                </a:lnTo>
                <a:cubicBezTo>
                  <a:pt x="5667443" y="2760499"/>
                  <a:pt x="5620458" y="2807484"/>
                  <a:pt x="5562500" y="2807484"/>
                </a:cubicBezTo>
                <a:lnTo>
                  <a:pt x="104944" y="2807484"/>
                </a:lnTo>
                <a:cubicBezTo>
                  <a:pt x="46985" y="2807484"/>
                  <a:pt x="0" y="2760499"/>
                  <a:pt x="0" y="2702540"/>
                </a:cubicBezTo>
                <a:lnTo>
                  <a:pt x="0" y="104944"/>
                </a:lnTo>
                <a:cubicBezTo>
                  <a:pt x="0" y="46985"/>
                  <a:pt x="46985" y="0"/>
                  <a:pt x="104944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15745" y="3323501"/>
            <a:ext cx="196786" cy="157429"/>
          </a:xfrm>
          <a:custGeom>
            <a:avLst/>
            <a:gdLst/>
            <a:ahLst/>
            <a:cxnLst/>
            <a:rect l="l" t="t" r="r" b="b"/>
            <a:pathLst>
              <a:path w="196786" h="157429">
                <a:moveTo>
                  <a:pt x="127880" y="64724"/>
                </a:moveTo>
                <a:cubicBezTo>
                  <a:pt x="131632" y="63710"/>
                  <a:pt x="135567" y="65493"/>
                  <a:pt x="137258" y="68967"/>
                </a:cubicBezTo>
                <a:lnTo>
                  <a:pt x="142977" y="80529"/>
                </a:lnTo>
                <a:cubicBezTo>
                  <a:pt x="146145" y="80959"/>
                  <a:pt x="149250" y="81820"/>
                  <a:pt x="152171" y="83019"/>
                </a:cubicBezTo>
                <a:lnTo>
                  <a:pt x="162933" y="75855"/>
                </a:lnTo>
                <a:cubicBezTo>
                  <a:pt x="166161" y="73703"/>
                  <a:pt x="170435" y="74133"/>
                  <a:pt x="173172" y="76870"/>
                </a:cubicBezTo>
                <a:lnTo>
                  <a:pt x="179075" y="82773"/>
                </a:lnTo>
                <a:cubicBezTo>
                  <a:pt x="181812" y="85510"/>
                  <a:pt x="182242" y="89814"/>
                  <a:pt x="180090" y="93012"/>
                </a:cubicBezTo>
                <a:lnTo>
                  <a:pt x="172926" y="103743"/>
                </a:lnTo>
                <a:cubicBezTo>
                  <a:pt x="173510" y="105188"/>
                  <a:pt x="174033" y="106695"/>
                  <a:pt x="174463" y="108263"/>
                </a:cubicBezTo>
                <a:cubicBezTo>
                  <a:pt x="174894" y="109831"/>
                  <a:pt x="175170" y="111369"/>
                  <a:pt x="175386" y="112937"/>
                </a:cubicBezTo>
                <a:lnTo>
                  <a:pt x="186978" y="118656"/>
                </a:lnTo>
                <a:cubicBezTo>
                  <a:pt x="190452" y="120378"/>
                  <a:pt x="192236" y="124314"/>
                  <a:pt x="191221" y="128034"/>
                </a:cubicBezTo>
                <a:lnTo>
                  <a:pt x="189069" y="136090"/>
                </a:lnTo>
                <a:cubicBezTo>
                  <a:pt x="188054" y="139810"/>
                  <a:pt x="184579" y="142332"/>
                  <a:pt x="180705" y="142086"/>
                </a:cubicBezTo>
                <a:lnTo>
                  <a:pt x="167791" y="141256"/>
                </a:lnTo>
                <a:cubicBezTo>
                  <a:pt x="165854" y="143746"/>
                  <a:pt x="163609" y="146052"/>
                  <a:pt x="161057" y="148020"/>
                </a:cubicBezTo>
                <a:lnTo>
                  <a:pt x="161887" y="160903"/>
                </a:lnTo>
                <a:cubicBezTo>
                  <a:pt x="162133" y="164778"/>
                  <a:pt x="159612" y="168283"/>
                  <a:pt x="155892" y="169267"/>
                </a:cubicBezTo>
                <a:lnTo>
                  <a:pt x="147836" y="171419"/>
                </a:lnTo>
                <a:cubicBezTo>
                  <a:pt x="144084" y="172434"/>
                  <a:pt x="140179" y="170651"/>
                  <a:pt x="138458" y="167176"/>
                </a:cubicBezTo>
                <a:lnTo>
                  <a:pt x="132738" y="155615"/>
                </a:lnTo>
                <a:cubicBezTo>
                  <a:pt x="129571" y="155184"/>
                  <a:pt x="126466" y="154323"/>
                  <a:pt x="123545" y="153124"/>
                </a:cubicBezTo>
                <a:lnTo>
                  <a:pt x="112783" y="160289"/>
                </a:lnTo>
                <a:cubicBezTo>
                  <a:pt x="109555" y="162441"/>
                  <a:pt x="105281" y="162010"/>
                  <a:pt x="102544" y="159274"/>
                </a:cubicBezTo>
                <a:lnTo>
                  <a:pt x="96640" y="153370"/>
                </a:lnTo>
                <a:cubicBezTo>
                  <a:pt x="93904" y="150634"/>
                  <a:pt x="93473" y="146360"/>
                  <a:pt x="95626" y="143131"/>
                </a:cubicBezTo>
                <a:lnTo>
                  <a:pt x="102790" y="132369"/>
                </a:lnTo>
                <a:cubicBezTo>
                  <a:pt x="102206" y="130924"/>
                  <a:pt x="101683" y="129418"/>
                  <a:pt x="101253" y="127850"/>
                </a:cubicBezTo>
                <a:cubicBezTo>
                  <a:pt x="100822" y="126281"/>
                  <a:pt x="100545" y="124713"/>
                  <a:pt x="100330" y="123176"/>
                </a:cubicBezTo>
                <a:lnTo>
                  <a:pt x="88738" y="117457"/>
                </a:lnTo>
                <a:cubicBezTo>
                  <a:pt x="85264" y="115735"/>
                  <a:pt x="83511" y="111799"/>
                  <a:pt x="84495" y="108079"/>
                </a:cubicBezTo>
                <a:lnTo>
                  <a:pt x="86647" y="100023"/>
                </a:lnTo>
                <a:cubicBezTo>
                  <a:pt x="87662" y="96302"/>
                  <a:pt x="91137" y="93781"/>
                  <a:pt x="95011" y="94027"/>
                </a:cubicBezTo>
                <a:lnTo>
                  <a:pt x="107894" y="94857"/>
                </a:lnTo>
                <a:cubicBezTo>
                  <a:pt x="109831" y="92367"/>
                  <a:pt x="112076" y="90060"/>
                  <a:pt x="114628" y="88093"/>
                </a:cubicBezTo>
                <a:lnTo>
                  <a:pt x="113798" y="75240"/>
                </a:lnTo>
                <a:cubicBezTo>
                  <a:pt x="113552" y="71366"/>
                  <a:pt x="116073" y="67861"/>
                  <a:pt x="119794" y="66877"/>
                </a:cubicBezTo>
                <a:lnTo>
                  <a:pt x="127850" y="64724"/>
                </a:lnTo>
                <a:close/>
                <a:moveTo>
                  <a:pt x="137873" y="104543"/>
                </a:moveTo>
                <a:cubicBezTo>
                  <a:pt x="130406" y="104551"/>
                  <a:pt x="124351" y="110620"/>
                  <a:pt x="124360" y="118087"/>
                </a:cubicBezTo>
                <a:cubicBezTo>
                  <a:pt x="124368" y="125554"/>
                  <a:pt x="130437" y="131609"/>
                  <a:pt x="137904" y="131601"/>
                </a:cubicBezTo>
                <a:cubicBezTo>
                  <a:pt x="145371" y="131592"/>
                  <a:pt x="151426" y="125523"/>
                  <a:pt x="151418" y="118056"/>
                </a:cubicBezTo>
                <a:cubicBezTo>
                  <a:pt x="151409" y="110589"/>
                  <a:pt x="145340" y="104534"/>
                  <a:pt x="137873" y="104543"/>
                </a:cubicBezTo>
                <a:close/>
                <a:moveTo>
                  <a:pt x="69152" y="-13990"/>
                </a:moveTo>
                <a:lnTo>
                  <a:pt x="77208" y="-11838"/>
                </a:lnTo>
                <a:cubicBezTo>
                  <a:pt x="80928" y="-10823"/>
                  <a:pt x="83450" y="-7318"/>
                  <a:pt x="83204" y="-3475"/>
                </a:cubicBezTo>
                <a:lnTo>
                  <a:pt x="82373" y="9378"/>
                </a:lnTo>
                <a:cubicBezTo>
                  <a:pt x="84926" y="11346"/>
                  <a:pt x="87170" y="13621"/>
                  <a:pt x="89107" y="16143"/>
                </a:cubicBezTo>
                <a:lnTo>
                  <a:pt x="102021" y="15312"/>
                </a:lnTo>
                <a:cubicBezTo>
                  <a:pt x="105865" y="15066"/>
                  <a:pt x="109370" y="17588"/>
                  <a:pt x="110385" y="21308"/>
                </a:cubicBezTo>
                <a:lnTo>
                  <a:pt x="112537" y="29364"/>
                </a:lnTo>
                <a:cubicBezTo>
                  <a:pt x="113521" y="33085"/>
                  <a:pt x="111768" y="37020"/>
                  <a:pt x="108294" y="38742"/>
                </a:cubicBezTo>
                <a:lnTo>
                  <a:pt x="96702" y="44461"/>
                </a:lnTo>
                <a:cubicBezTo>
                  <a:pt x="96487" y="46030"/>
                  <a:pt x="96179" y="47598"/>
                  <a:pt x="95780" y="49135"/>
                </a:cubicBezTo>
                <a:cubicBezTo>
                  <a:pt x="95380" y="50672"/>
                  <a:pt x="94826" y="52210"/>
                  <a:pt x="94242" y="53655"/>
                </a:cubicBezTo>
                <a:lnTo>
                  <a:pt x="101406" y="64417"/>
                </a:lnTo>
                <a:cubicBezTo>
                  <a:pt x="103559" y="67645"/>
                  <a:pt x="103128" y="71919"/>
                  <a:pt x="100392" y="74656"/>
                </a:cubicBezTo>
                <a:lnTo>
                  <a:pt x="94488" y="80559"/>
                </a:lnTo>
                <a:cubicBezTo>
                  <a:pt x="91752" y="83296"/>
                  <a:pt x="87478" y="83726"/>
                  <a:pt x="84249" y="81574"/>
                </a:cubicBezTo>
                <a:lnTo>
                  <a:pt x="73487" y="74410"/>
                </a:lnTo>
                <a:cubicBezTo>
                  <a:pt x="70566" y="75609"/>
                  <a:pt x="67461" y="76470"/>
                  <a:pt x="64294" y="76900"/>
                </a:cubicBezTo>
                <a:lnTo>
                  <a:pt x="58575" y="88462"/>
                </a:lnTo>
                <a:cubicBezTo>
                  <a:pt x="56853" y="91936"/>
                  <a:pt x="52917" y="93689"/>
                  <a:pt x="49197" y="92705"/>
                </a:cubicBezTo>
                <a:lnTo>
                  <a:pt x="41141" y="90552"/>
                </a:lnTo>
                <a:cubicBezTo>
                  <a:pt x="37389" y="89538"/>
                  <a:pt x="34899" y="86032"/>
                  <a:pt x="35145" y="82189"/>
                </a:cubicBezTo>
                <a:lnTo>
                  <a:pt x="35975" y="69306"/>
                </a:lnTo>
                <a:cubicBezTo>
                  <a:pt x="33423" y="67338"/>
                  <a:pt x="31178" y="65062"/>
                  <a:pt x="29241" y="62541"/>
                </a:cubicBezTo>
                <a:lnTo>
                  <a:pt x="16327" y="63371"/>
                </a:lnTo>
                <a:cubicBezTo>
                  <a:pt x="12484" y="63617"/>
                  <a:pt x="8978" y="61096"/>
                  <a:pt x="7964" y="57375"/>
                </a:cubicBezTo>
                <a:lnTo>
                  <a:pt x="5811" y="49320"/>
                </a:lnTo>
                <a:cubicBezTo>
                  <a:pt x="4827" y="45599"/>
                  <a:pt x="6580" y="41663"/>
                  <a:pt x="10055" y="39941"/>
                </a:cubicBezTo>
                <a:lnTo>
                  <a:pt x="21646" y="34222"/>
                </a:lnTo>
                <a:cubicBezTo>
                  <a:pt x="21862" y="32654"/>
                  <a:pt x="22169" y="31117"/>
                  <a:pt x="22569" y="29549"/>
                </a:cubicBezTo>
                <a:cubicBezTo>
                  <a:pt x="22999" y="27981"/>
                  <a:pt x="23491" y="26474"/>
                  <a:pt x="24106" y="25029"/>
                </a:cubicBezTo>
                <a:lnTo>
                  <a:pt x="16942" y="14298"/>
                </a:lnTo>
                <a:cubicBezTo>
                  <a:pt x="14790" y="11069"/>
                  <a:pt x="15220" y="6795"/>
                  <a:pt x="17957" y="4059"/>
                </a:cubicBezTo>
                <a:lnTo>
                  <a:pt x="23860" y="-1845"/>
                </a:lnTo>
                <a:cubicBezTo>
                  <a:pt x="26597" y="-4581"/>
                  <a:pt x="30871" y="-5012"/>
                  <a:pt x="34099" y="-2860"/>
                </a:cubicBezTo>
                <a:lnTo>
                  <a:pt x="44861" y="4305"/>
                </a:lnTo>
                <a:cubicBezTo>
                  <a:pt x="47782" y="3106"/>
                  <a:pt x="50888" y="2245"/>
                  <a:pt x="54055" y="1814"/>
                </a:cubicBezTo>
                <a:lnTo>
                  <a:pt x="59774" y="-9747"/>
                </a:lnTo>
                <a:cubicBezTo>
                  <a:pt x="61496" y="-13222"/>
                  <a:pt x="65401" y="-14974"/>
                  <a:pt x="69152" y="-13990"/>
                </a:cubicBezTo>
                <a:close/>
                <a:moveTo>
                  <a:pt x="59159" y="25828"/>
                </a:moveTo>
                <a:cubicBezTo>
                  <a:pt x="51692" y="25828"/>
                  <a:pt x="45630" y="31890"/>
                  <a:pt x="45630" y="39357"/>
                </a:cubicBezTo>
                <a:cubicBezTo>
                  <a:pt x="45630" y="46824"/>
                  <a:pt x="51692" y="52886"/>
                  <a:pt x="59159" y="52886"/>
                </a:cubicBezTo>
                <a:cubicBezTo>
                  <a:pt x="66626" y="52886"/>
                  <a:pt x="72688" y="46824"/>
                  <a:pt x="72688" y="39357"/>
                </a:cubicBezTo>
                <a:cubicBezTo>
                  <a:pt x="72688" y="31890"/>
                  <a:pt x="66626" y="25828"/>
                  <a:pt x="59159" y="2582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1" name="Text 49"/>
          <p:cNvSpPr/>
          <p:nvPr/>
        </p:nvSpPr>
        <p:spPr>
          <a:xfrm>
            <a:off x="6514717" y="3279770"/>
            <a:ext cx="5256379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TCP/IP in Action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13558" y="3629613"/>
            <a:ext cx="5378824" cy="664700"/>
          </a:xfrm>
          <a:custGeom>
            <a:avLst/>
            <a:gdLst/>
            <a:ahLst/>
            <a:cxnLst/>
            <a:rect l="l" t="t" r="r" b="b"/>
            <a:pathLst>
              <a:path w="5378824" h="664700">
                <a:moveTo>
                  <a:pt x="69966" y="0"/>
                </a:moveTo>
                <a:lnTo>
                  <a:pt x="5308857" y="0"/>
                </a:lnTo>
                <a:cubicBezTo>
                  <a:pt x="5347499" y="0"/>
                  <a:pt x="5378824" y="31325"/>
                  <a:pt x="5378824" y="69966"/>
                </a:cubicBezTo>
                <a:lnTo>
                  <a:pt x="5378824" y="594734"/>
                </a:lnTo>
                <a:cubicBezTo>
                  <a:pt x="5378824" y="633375"/>
                  <a:pt x="5347499" y="664700"/>
                  <a:pt x="5308857" y="664700"/>
                </a:cubicBezTo>
                <a:lnTo>
                  <a:pt x="69966" y="664700"/>
                </a:lnTo>
                <a:cubicBezTo>
                  <a:pt x="31325" y="664700"/>
                  <a:pt x="0" y="633375"/>
                  <a:pt x="0" y="594734"/>
                </a:cubicBezTo>
                <a:lnTo>
                  <a:pt x="0" y="69966"/>
                </a:lnTo>
                <a:cubicBezTo>
                  <a:pt x="0" y="31351"/>
                  <a:pt x="31351" y="0"/>
                  <a:pt x="6996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53495" y="3769549"/>
            <a:ext cx="104953" cy="139937"/>
          </a:xfrm>
          <a:custGeom>
            <a:avLst/>
            <a:gdLst/>
            <a:ahLst/>
            <a:cxnLst/>
            <a:rect l="l" t="t" r="r" b="b"/>
            <a:pathLst>
              <a:path w="104953" h="139937">
                <a:moveTo>
                  <a:pt x="0" y="51547"/>
                </a:moveTo>
                <a:cubicBezTo>
                  <a:pt x="0" y="23068"/>
                  <a:pt x="23505" y="0"/>
                  <a:pt x="52476" y="0"/>
                </a:cubicBezTo>
                <a:cubicBezTo>
                  <a:pt x="81448" y="0"/>
                  <a:pt x="104953" y="23068"/>
                  <a:pt x="104953" y="51547"/>
                </a:cubicBezTo>
                <a:cubicBezTo>
                  <a:pt x="104953" y="84153"/>
                  <a:pt x="72100" y="123237"/>
                  <a:pt x="58380" y="138133"/>
                </a:cubicBezTo>
                <a:cubicBezTo>
                  <a:pt x="55155" y="141631"/>
                  <a:pt x="49771" y="141631"/>
                  <a:pt x="46545" y="138133"/>
                </a:cubicBezTo>
                <a:cubicBezTo>
                  <a:pt x="32825" y="123237"/>
                  <a:pt x="-27" y="84153"/>
                  <a:pt x="-27" y="51547"/>
                </a:cubicBezTo>
                <a:close/>
                <a:moveTo>
                  <a:pt x="52476" y="69968"/>
                </a:moveTo>
                <a:cubicBezTo>
                  <a:pt x="62130" y="69968"/>
                  <a:pt x="69968" y="62130"/>
                  <a:pt x="69968" y="52476"/>
                </a:cubicBezTo>
                <a:cubicBezTo>
                  <a:pt x="69968" y="42822"/>
                  <a:pt x="62130" y="34984"/>
                  <a:pt x="52476" y="34984"/>
                </a:cubicBezTo>
                <a:cubicBezTo>
                  <a:pt x="42822" y="34984"/>
                  <a:pt x="34984" y="42822"/>
                  <a:pt x="34984" y="52476"/>
                </a:cubicBezTo>
                <a:cubicBezTo>
                  <a:pt x="34984" y="62130"/>
                  <a:pt x="42822" y="69968"/>
                  <a:pt x="52476" y="6996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4" name="Text 52"/>
          <p:cNvSpPr/>
          <p:nvPr/>
        </p:nvSpPr>
        <p:spPr>
          <a:xfrm>
            <a:off x="6641617" y="3734565"/>
            <a:ext cx="5015781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(Internet Protocol)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18511" y="4014439"/>
            <a:ext cx="5230141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addressing and routing — determines where packets should go using IP addresses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13558" y="4399265"/>
            <a:ext cx="5378824" cy="839621"/>
          </a:xfrm>
          <a:custGeom>
            <a:avLst/>
            <a:gdLst/>
            <a:ahLst/>
            <a:cxnLst/>
            <a:rect l="l" t="t" r="r" b="b"/>
            <a:pathLst>
              <a:path w="5378824" h="839621">
                <a:moveTo>
                  <a:pt x="69966" y="0"/>
                </a:moveTo>
                <a:lnTo>
                  <a:pt x="5308858" y="0"/>
                </a:lnTo>
                <a:cubicBezTo>
                  <a:pt x="5347499" y="0"/>
                  <a:pt x="5378824" y="31325"/>
                  <a:pt x="5378824" y="69966"/>
                </a:cubicBezTo>
                <a:lnTo>
                  <a:pt x="5378824" y="769656"/>
                </a:lnTo>
                <a:cubicBezTo>
                  <a:pt x="5378824" y="808297"/>
                  <a:pt x="5347499" y="839621"/>
                  <a:pt x="5308858" y="839621"/>
                </a:cubicBezTo>
                <a:lnTo>
                  <a:pt x="69966" y="839621"/>
                </a:lnTo>
                <a:cubicBezTo>
                  <a:pt x="31325" y="839621"/>
                  <a:pt x="0" y="808297"/>
                  <a:pt x="0" y="769656"/>
                </a:cubicBezTo>
                <a:lnTo>
                  <a:pt x="0" y="69966"/>
                </a:lnTo>
                <a:cubicBezTo>
                  <a:pt x="0" y="31351"/>
                  <a:pt x="31351" y="0"/>
                  <a:pt x="6996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53495" y="4539202"/>
            <a:ext cx="104953" cy="139937"/>
          </a:xfrm>
          <a:custGeom>
            <a:avLst/>
            <a:gdLst/>
            <a:ahLst/>
            <a:cxnLst/>
            <a:rect l="l" t="t" r="r" b="b"/>
            <a:pathLst>
              <a:path w="104953" h="139937">
                <a:moveTo>
                  <a:pt x="68301" y="18257"/>
                </a:moveTo>
                <a:cubicBezTo>
                  <a:pt x="71144" y="14349"/>
                  <a:pt x="70269" y="8883"/>
                  <a:pt x="66361" y="6040"/>
                </a:cubicBezTo>
                <a:cubicBezTo>
                  <a:pt x="62452" y="3198"/>
                  <a:pt x="56986" y="4072"/>
                  <a:pt x="54144" y="7981"/>
                </a:cubicBezTo>
                <a:lnTo>
                  <a:pt x="25172" y="47803"/>
                </a:lnTo>
                <a:lnTo>
                  <a:pt x="14923" y="37553"/>
                </a:lnTo>
                <a:cubicBezTo>
                  <a:pt x="11507" y="34137"/>
                  <a:pt x="5958" y="34137"/>
                  <a:pt x="2542" y="37553"/>
                </a:cubicBezTo>
                <a:cubicBezTo>
                  <a:pt x="-875" y="40970"/>
                  <a:pt x="-875" y="46518"/>
                  <a:pt x="2542" y="49935"/>
                </a:cubicBezTo>
                <a:lnTo>
                  <a:pt x="20034" y="67427"/>
                </a:lnTo>
                <a:cubicBezTo>
                  <a:pt x="21838" y="69230"/>
                  <a:pt x="24352" y="70160"/>
                  <a:pt x="26894" y="69968"/>
                </a:cubicBezTo>
                <a:cubicBezTo>
                  <a:pt x="29436" y="69777"/>
                  <a:pt x="31786" y="68465"/>
                  <a:pt x="33290" y="66388"/>
                </a:cubicBezTo>
                <a:lnTo>
                  <a:pt x="68274" y="18285"/>
                </a:lnTo>
                <a:close/>
                <a:moveTo>
                  <a:pt x="103285" y="55428"/>
                </a:moveTo>
                <a:cubicBezTo>
                  <a:pt x="106128" y="51520"/>
                  <a:pt x="105253" y="46053"/>
                  <a:pt x="101345" y="43211"/>
                </a:cubicBezTo>
                <a:cubicBezTo>
                  <a:pt x="97437" y="40369"/>
                  <a:pt x="91970" y="41243"/>
                  <a:pt x="89128" y="45152"/>
                </a:cubicBezTo>
                <a:lnTo>
                  <a:pt x="42664" y="109025"/>
                </a:lnTo>
                <a:lnTo>
                  <a:pt x="23669" y="90030"/>
                </a:lnTo>
                <a:cubicBezTo>
                  <a:pt x="20253" y="86613"/>
                  <a:pt x="14704" y="86613"/>
                  <a:pt x="11288" y="90030"/>
                </a:cubicBezTo>
                <a:cubicBezTo>
                  <a:pt x="7871" y="93446"/>
                  <a:pt x="7871" y="98994"/>
                  <a:pt x="11288" y="102411"/>
                </a:cubicBezTo>
                <a:lnTo>
                  <a:pt x="37526" y="128649"/>
                </a:lnTo>
                <a:cubicBezTo>
                  <a:pt x="39330" y="130453"/>
                  <a:pt x="41844" y="131382"/>
                  <a:pt x="44386" y="131191"/>
                </a:cubicBezTo>
                <a:cubicBezTo>
                  <a:pt x="46928" y="130999"/>
                  <a:pt x="49279" y="129688"/>
                  <a:pt x="50782" y="127610"/>
                </a:cubicBezTo>
                <a:lnTo>
                  <a:pt x="103258" y="5545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8" name="Text 56"/>
          <p:cNvSpPr/>
          <p:nvPr/>
        </p:nvSpPr>
        <p:spPr>
          <a:xfrm>
            <a:off x="6641617" y="4504218"/>
            <a:ext cx="5015781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(Transmission Control)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18511" y="4784092"/>
            <a:ext cx="5230141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reliable delivery — reassembles packets in correct order, handles errors, manages flow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54215" y="6091627"/>
            <a:ext cx="3725819" cy="533509"/>
          </a:xfrm>
          <a:custGeom>
            <a:avLst/>
            <a:gdLst/>
            <a:ahLst/>
            <a:cxnLst/>
            <a:rect l="l" t="t" r="r" b="b"/>
            <a:pathLst>
              <a:path w="3725819" h="533509">
                <a:moveTo>
                  <a:pt x="104952" y="0"/>
                </a:moveTo>
                <a:lnTo>
                  <a:pt x="3620867" y="0"/>
                </a:lnTo>
                <a:cubicBezTo>
                  <a:pt x="3678831" y="0"/>
                  <a:pt x="3725819" y="46989"/>
                  <a:pt x="3725819" y="104952"/>
                </a:cubicBezTo>
                <a:lnTo>
                  <a:pt x="3725819" y="428557"/>
                </a:lnTo>
                <a:cubicBezTo>
                  <a:pt x="3725819" y="486521"/>
                  <a:pt x="3678831" y="533509"/>
                  <a:pt x="3620867" y="533509"/>
                </a:cubicBezTo>
                <a:lnTo>
                  <a:pt x="104952" y="533509"/>
                </a:lnTo>
                <a:cubicBezTo>
                  <a:pt x="46989" y="533509"/>
                  <a:pt x="0" y="486521"/>
                  <a:pt x="0" y="428557"/>
                </a:cubicBezTo>
                <a:lnTo>
                  <a:pt x="0" y="104952"/>
                </a:lnTo>
                <a:cubicBezTo>
                  <a:pt x="0" y="47027"/>
                  <a:pt x="47027" y="0"/>
                  <a:pt x="10495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4473" y="6270921"/>
            <a:ext cx="196786" cy="174921"/>
          </a:xfrm>
          <a:custGeom>
            <a:avLst/>
            <a:gdLst/>
            <a:ahLst/>
            <a:cxnLst/>
            <a:rect l="l" t="t" r="r" b="b"/>
            <a:pathLst>
              <a:path w="196786" h="174921">
                <a:moveTo>
                  <a:pt x="84727" y="30065"/>
                </a:moveTo>
                <a:lnTo>
                  <a:pt x="112059" y="30065"/>
                </a:lnTo>
                <a:lnTo>
                  <a:pt x="112059" y="46463"/>
                </a:lnTo>
                <a:lnTo>
                  <a:pt x="84727" y="46463"/>
                </a:lnTo>
                <a:lnTo>
                  <a:pt x="84727" y="30065"/>
                </a:lnTo>
                <a:close/>
                <a:moveTo>
                  <a:pt x="81994" y="10933"/>
                </a:moveTo>
                <a:cubicBezTo>
                  <a:pt x="72941" y="10933"/>
                  <a:pt x="65595" y="18278"/>
                  <a:pt x="65595" y="27331"/>
                </a:cubicBezTo>
                <a:lnTo>
                  <a:pt x="65595" y="49197"/>
                </a:lnTo>
                <a:cubicBezTo>
                  <a:pt x="65595" y="58250"/>
                  <a:pt x="72941" y="65595"/>
                  <a:pt x="81994" y="65595"/>
                </a:cubicBezTo>
                <a:lnTo>
                  <a:pt x="87461" y="65595"/>
                </a:lnTo>
                <a:lnTo>
                  <a:pt x="87461" y="76528"/>
                </a:lnTo>
                <a:lnTo>
                  <a:pt x="10933" y="76528"/>
                </a:lnTo>
                <a:cubicBezTo>
                  <a:pt x="4885" y="76528"/>
                  <a:pt x="0" y="81413"/>
                  <a:pt x="0" y="87461"/>
                </a:cubicBezTo>
                <a:cubicBezTo>
                  <a:pt x="0" y="93508"/>
                  <a:pt x="4885" y="98393"/>
                  <a:pt x="10933" y="98393"/>
                </a:cubicBezTo>
                <a:lnTo>
                  <a:pt x="43730" y="98393"/>
                </a:lnTo>
                <a:lnTo>
                  <a:pt x="43730" y="109326"/>
                </a:lnTo>
                <a:lnTo>
                  <a:pt x="38264" y="109326"/>
                </a:lnTo>
                <a:cubicBezTo>
                  <a:pt x="29210" y="109326"/>
                  <a:pt x="21865" y="116671"/>
                  <a:pt x="21865" y="125725"/>
                </a:cubicBezTo>
                <a:lnTo>
                  <a:pt x="21865" y="147590"/>
                </a:lnTo>
                <a:cubicBezTo>
                  <a:pt x="21865" y="156643"/>
                  <a:pt x="29210" y="163989"/>
                  <a:pt x="38264" y="163989"/>
                </a:cubicBezTo>
                <a:lnTo>
                  <a:pt x="71062" y="163989"/>
                </a:lnTo>
                <a:cubicBezTo>
                  <a:pt x="80115" y="163989"/>
                  <a:pt x="87461" y="156643"/>
                  <a:pt x="87461" y="147590"/>
                </a:cubicBezTo>
                <a:lnTo>
                  <a:pt x="87461" y="125725"/>
                </a:lnTo>
                <a:cubicBezTo>
                  <a:pt x="87461" y="116671"/>
                  <a:pt x="80115" y="109326"/>
                  <a:pt x="71062" y="109326"/>
                </a:cubicBezTo>
                <a:lnTo>
                  <a:pt x="65595" y="109326"/>
                </a:lnTo>
                <a:lnTo>
                  <a:pt x="65595" y="98393"/>
                </a:lnTo>
                <a:lnTo>
                  <a:pt x="131191" y="98393"/>
                </a:lnTo>
                <a:lnTo>
                  <a:pt x="131191" y="109326"/>
                </a:lnTo>
                <a:lnTo>
                  <a:pt x="125725" y="109326"/>
                </a:lnTo>
                <a:cubicBezTo>
                  <a:pt x="116671" y="109326"/>
                  <a:pt x="109326" y="116671"/>
                  <a:pt x="109326" y="125725"/>
                </a:cubicBezTo>
                <a:lnTo>
                  <a:pt x="109326" y="147590"/>
                </a:lnTo>
                <a:cubicBezTo>
                  <a:pt x="109326" y="156643"/>
                  <a:pt x="116671" y="163989"/>
                  <a:pt x="125725" y="163989"/>
                </a:cubicBezTo>
                <a:lnTo>
                  <a:pt x="158522" y="163989"/>
                </a:lnTo>
                <a:cubicBezTo>
                  <a:pt x="167576" y="163989"/>
                  <a:pt x="174921" y="156643"/>
                  <a:pt x="174921" y="147590"/>
                </a:cubicBezTo>
                <a:lnTo>
                  <a:pt x="174921" y="125725"/>
                </a:lnTo>
                <a:cubicBezTo>
                  <a:pt x="174921" y="116671"/>
                  <a:pt x="167576" y="109326"/>
                  <a:pt x="158522" y="109326"/>
                </a:cubicBezTo>
                <a:lnTo>
                  <a:pt x="153056" y="109326"/>
                </a:lnTo>
                <a:lnTo>
                  <a:pt x="153056" y="98393"/>
                </a:lnTo>
                <a:lnTo>
                  <a:pt x="185854" y="98393"/>
                </a:lnTo>
                <a:cubicBezTo>
                  <a:pt x="191901" y="98393"/>
                  <a:pt x="196786" y="93508"/>
                  <a:pt x="196786" y="87461"/>
                </a:cubicBezTo>
                <a:cubicBezTo>
                  <a:pt x="196786" y="81413"/>
                  <a:pt x="191901" y="76528"/>
                  <a:pt x="185854" y="76528"/>
                </a:cubicBezTo>
                <a:lnTo>
                  <a:pt x="109326" y="76528"/>
                </a:lnTo>
                <a:lnTo>
                  <a:pt x="109326" y="65595"/>
                </a:lnTo>
                <a:lnTo>
                  <a:pt x="114792" y="65595"/>
                </a:lnTo>
                <a:cubicBezTo>
                  <a:pt x="123845" y="65595"/>
                  <a:pt x="131191" y="58250"/>
                  <a:pt x="131191" y="49197"/>
                </a:cubicBezTo>
                <a:lnTo>
                  <a:pt x="131191" y="27331"/>
                </a:lnTo>
                <a:cubicBezTo>
                  <a:pt x="131191" y="18278"/>
                  <a:pt x="123845" y="10933"/>
                  <a:pt x="114792" y="10933"/>
                </a:cubicBezTo>
                <a:lnTo>
                  <a:pt x="81994" y="10933"/>
                </a:lnTo>
                <a:close/>
                <a:moveTo>
                  <a:pt x="153056" y="128458"/>
                </a:moveTo>
                <a:lnTo>
                  <a:pt x="155789" y="128458"/>
                </a:lnTo>
                <a:lnTo>
                  <a:pt x="155789" y="144857"/>
                </a:lnTo>
                <a:lnTo>
                  <a:pt x="128458" y="144857"/>
                </a:lnTo>
                <a:lnTo>
                  <a:pt x="128458" y="128458"/>
                </a:lnTo>
                <a:lnTo>
                  <a:pt x="153056" y="128458"/>
                </a:lnTo>
                <a:close/>
                <a:moveTo>
                  <a:pt x="65595" y="128458"/>
                </a:moveTo>
                <a:lnTo>
                  <a:pt x="68329" y="128458"/>
                </a:lnTo>
                <a:lnTo>
                  <a:pt x="68329" y="144857"/>
                </a:lnTo>
                <a:lnTo>
                  <a:pt x="40997" y="144857"/>
                </a:lnTo>
                <a:lnTo>
                  <a:pt x="40997" y="128458"/>
                </a:lnTo>
                <a:lnTo>
                  <a:pt x="65595" y="12845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2" name="Text 60"/>
          <p:cNvSpPr/>
          <p:nvPr/>
        </p:nvSpPr>
        <p:spPr>
          <a:xfrm>
            <a:off x="787145" y="6200953"/>
            <a:ext cx="1259432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Packet Switching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87145" y="6375874"/>
            <a:ext cx="125068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Resilient, dynamic routing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230904" y="6091627"/>
            <a:ext cx="3725819" cy="533509"/>
          </a:xfrm>
          <a:custGeom>
            <a:avLst/>
            <a:gdLst/>
            <a:ahLst/>
            <a:cxnLst/>
            <a:rect l="l" t="t" r="r" b="b"/>
            <a:pathLst>
              <a:path w="3725819" h="533509">
                <a:moveTo>
                  <a:pt x="104952" y="0"/>
                </a:moveTo>
                <a:lnTo>
                  <a:pt x="3620867" y="0"/>
                </a:lnTo>
                <a:cubicBezTo>
                  <a:pt x="3678831" y="0"/>
                  <a:pt x="3725819" y="46989"/>
                  <a:pt x="3725819" y="104952"/>
                </a:cubicBezTo>
                <a:lnTo>
                  <a:pt x="3725819" y="428557"/>
                </a:lnTo>
                <a:cubicBezTo>
                  <a:pt x="3725819" y="486521"/>
                  <a:pt x="3678831" y="533509"/>
                  <a:pt x="3620867" y="533509"/>
                </a:cubicBezTo>
                <a:lnTo>
                  <a:pt x="104952" y="533509"/>
                </a:lnTo>
                <a:cubicBezTo>
                  <a:pt x="46989" y="533509"/>
                  <a:pt x="0" y="486521"/>
                  <a:pt x="0" y="428557"/>
                </a:cubicBezTo>
                <a:lnTo>
                  <a:pt x="0" y="104952"/>
                </a:lnTo>
                <a:cubicBezTo>
                  <a:pt x="0" y="47027"/>
                  <a:pt x="47027" y="0"/>
                  <a:pt x="10495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73027" y="6270921"/>
            <a:ext cx="153056" cy="174921"/>
          </a:xfrm>
          <a:custGeom>
            <a:avLst/>
            <a:gdLst/>
            <a:ahLst/>
            <a:cxnLst/>
            <a:rect l="l" t="t" r="r" b="b"/>
            <a:pathLst>
              <a:path w="153056" h="174921">
                <a:moveTo>
                  <a:pt x="21865" y="10933"/>
                </a:moveTo>
                <a:cubicBezTo>
                  <a:pt x="9805" y="10933"/>
                  <a:pt x="0" y="20738"/>
                  <a:pt x="0" y="32798"/>
                </a:cubicBezTo>
                <a:lnTo>
                  <a:pt x="0" y="54663"/>
                </a:lnTo>
                <a:cubicBezTo>
                  <a:pt x="0" y="66723"/>
                  <a:pt x="9805" y="76528"/>
                  <a:pt x="21865" y="76528"/>
                </a:cubicBezTo>
                <a:lnTo>
                  <a:pt x="131191" y="76528"/>
                </a:lnTo>
                <a:cubicBezTo>
                  <a:pt x="143251" y="76528"/>
                  <a:pt x="153056" y="66723"/>
                  <a:pt x="153056" y="54663"/>
                </a:cubicBezTo>
                <a:lnTo>
                  <a:pt x="153056" y="32798"/>
                </a:lnTo>
                <a:cubicBezTo>
                  <a:pt x="153056" y="20738"/>
                  <a:pt x="143251" y="10933"/>
                  <a:pt x="131191" y="10933"/>
                </a:cubicBezTo>
                <a:lnTo>
                  <a:pt x="21865" y="10933"/>
                </a:lnTo>
                <a:close/>
                <a:moveTo>
                  <a:pt x="95660" y="35531"/>
                </a:moveTo>
                <a:cubicBezTo>
                  <a:pt x="100185" y="35531"/>
                  <a:pt x="103859" y="39205"/>
                  <a:pt x="103859" y="43730"/>
                </a:cubicBezTo>
                <a:cubicBezTo>
                  <a:pt x="103859" y="48256"/>
                  <a:pt x="100185" y="51930"/>
                  <a:pt x="95660" y="51930"/>
                </a:cubicBezTo>
                <a:cubicBezTo>
                  <a:pt x="91135" y="51930"/>
                  <a:pt x="87461" y="48256"/>
                  <a:pt x="87461" y="43730"/>
                </a:cubicBezTo>
                <a:cubicBezTo>
                  <a:pt x="87461" y="39205"/>
                  <a:pt x="91135" y="35531"/>
                  <a:pt x="95660" y="35531"/>
                </a:cubicBezTo>
                <a:close/>
                <a:moveTo>
                  <a:pt x="114792" y="43730"/>
                </a:moveTo>
                <a:cubicBezTo>
                  <a:pt x="114792" y="39205"/>
                  <a:pt x="118466" y="35531"/>
                  <a:pt x="122991" y="35531"/>
                </a:cubicBezTo>
                <a:cubicBezTo>
                  <a:pt x="127517" y="35531"/>
                  <a:pt x="131191" y="39205"/>
                  <a:pt x="131191" y="43730"/>
                </a:cubicBezTo>
                <a:cubicBezTo>
                  <a:pt x="131191" y="48256"/>
                  <a:pt x="127517" y="51930"/>
                  <a:pt x="122991" y="51930"/>
                </a:cubicBezTo>
                <a:cubicBezTo>
                  <a:pt x="118466" y="51930"/>
                  <a:pt x="114792" y="48256"/>
                  <a:pt x="114792" y="43730"/>
                </a:cubicBezTo>
                <a:close/>
                <a:moveTo>
                  <a:pt x="21865" y="98393"/>
                </a:moveTo>
                <a:cubicBezTo>
                  <a:pt x="9805" y="98393"/>
                  <a:pt x="0" y="108198"/>
                  <a:pt x="0" y="120258"/>
                </a:cubicBezTo>
                <a:lnTo>
                  <a:pt x="0" y="142123"/>
                </a:lnTo>
                <a:cubicBezTo>
                  <a:pt x="0" y="154183"/>
                  <a:pt x="9805" y="163989"/>
                  <a:pt x="21865" y="163989"/>
                </a:cubicBezTo>
                <a:lnTo>
                  <a:pt x="131191" y="163989"/>
                </a:lnTo>
                <a:cubicBezTo>
                  <a:pt x="143251" y="163989"/>
                  <a:pt x="153056" y="154183"/>
                  <a:pt x="153056" y="142123"/>
                </a:cubicBezTo>
                <a:lnTo>
                  <a:pt x="153056" y="120258"/>
                </a:lnTo>
                <a:cubicBezTo>
                  <a:pt x="153056" y="108198"/>
                  <a:pt x="143251" y="98393"/>
                  <a:pt x="131191" y="98393"/>
                </a:cubicBezTo>
                <a:lnTo>
                  <a:pt x="21865" y="98393"/>
                </a:lnTo>
                <a:close/>
                <a:moveTo>
                  <a:pt x="95660" y="122991"/>
                </a:moveTo>
                <a:cubicBezTo>
                  <a:pt x="100185" y="122991"/>
                  <a:pt x="103859" y="126665"/>
                  <a:pt x="103859" y="131191"/>
                </a:cubicBezTo>
                <a:cubicBezTo>
                  <a:pt x="103859" y="135716"/>
                  <a:pt x="100185" y="139390"/>
                  <a:pt x="95660" y="139390"/>
                </a:cubicBezTo>
                <a:cubicBezTo>
                  <a:pt x="91135" y="139390"/>
                  <a:pt x="87461" y="135716"/>
                  <a:pt x="87461" y="131191"/>
                </a:cubicBezTo>
                <a:cubicBezTo>
                  <a:pt x="87461" y="126665"/>
                  <a:pt x="91135" y="122991"/>
                  <a:pt x="95660" y="122991"/>
                </a:cubicBezTo>
                <a:close/>
                <a:moveTo>
                  <a:pt x="114792" y="131191"/>
                </a:moveTo>
                <a:cubicBezTo>
                  <a:pt x="114792" y="126665"/>
                  <a:pt x="118466" y="122991"/>
                  <a:pt x="122991" y="122991"/>
                </a:cubicBezTo>
                <a:cubicBezTo>
                  <a:pt x="127517" y="122991"/>
                  <a:pt x="131191" y="126665"/>
                  <a:pt x="131191" y="131191"/>
                </a:cubicBezTo>
                <a:cubicBezTo>
                  <a:pt x="131191" y="135716"/>
                  <a:pt x="127517" y="139390"/>
                  <a:pt x="122991" y="139390"/>
                </a:cubicBezTo>
                <a:cubicBezTo>
                  <a:pt x="118466" y="139390"/>
                  <a:pt x="114792" y="135716"/>
                  <a:pt x="114792" y="13119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6" name="Text 64"/>
          <p:cNvSpPr/>
          <p:nvPr/>
        </p:nvSpPr>
        <p:spPr>
          <a:xfrm>
            <a:off x="4663834" y="6200953"/>
            <a:ext cx="1163225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Routers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4663834" y="6375874"/>
            <a:ext cx="1154479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traffic directors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107593" y="6091627"/>
            <a:ext cx="3725819" cy="533509"/>
          </a:xfrm>
          <a:custGeom>
            <a:avLst/>
            <a:gdLst/>
            <a:ahLst/>
            <a:cxnLst/>
            <a:rect l="l" t="t" r="r" b="b"/>
            <a:pathLst>
              <a:path w="3725819" h="533509">
                <a:moveTo>
                  <a:pt x="104952" y="0"/>
                </a:moveTo>
                <a:lnTo>
                  <a:pt x="3620867" y="0"/>
                </a:lnTo>
                <a:cubicBezTo>
                  <a:pt x="3678831" y="0"/>
                  <a:pt x="3725819" y="46989"/>
                  <a:pt x="3725819" y="104952"/>
                </a:cubicBezTo>
                <a:lnTo>
                  <a:pt x="3725819" y="428557"/>
                </a:lnTo>
                <a:cubicBezTo>
                  <a:pt x="3725819" y="486521"/>
                  <a:pt x="3678831" y="533509"/>
                  <a:pt x="3620867" y="533509"/>
                </a:cubicBezTo>
                <a:lnTo>
                  <a:pt x="104952" y="533509"/>
                </a:lnTo>
                <a:cubicBezTo>
                  <a:pt x="46989" y="533509"/>
                  <a:pt x="0" y="486521"/>
                  <a:pt x="0" y="428557"/>
                </a:cubicBezTo>
                <a:lnTo>
                  <a:pt x="0" y="104952"/>
                </a:lnTo>
                <a:cubicBezTo>
                  <a:pt x="0" y="47027"/>
                  <a:pt x="47027" y="0"/>
                  <a:pt x="10495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238783" y="6270921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120224" y="95660"/>
                </a:moveTo>
                <a:lnTo>
                  <a:pt x="55004" y="95660"/>
                </a:lnTo>
                <a:cubicBezTo>
                  <a:pt x="55995" y="117696"/>
                  <a:pt x="60881" y="137990"/>
                  <a:pt x="67816" y="152851"/>
                </a:cubicBezTo>
                <a:cubicBezTo>
                  <a:pt x="71711" y="161221"/>
                  <a:pt x="75913" y="167132"/>
                  <a:pt x="79808" y="170753"/>
                </a:cubicBezTo>
                <a:cubicBezTo>
                  <a:pt x="83634" y="174340"/>
                  <a:pt x="86265" y="174921"/>
                  <a:pt x="87631" y="174921"/>
                </a:cubicBezTo>
                <a:cubicBezTo>
                  <a:pt x="88998" y="174921"/>
                  <a:pt x="91629" y="174340"/>
                  <a:pt x="95455" y="170753"/>
                </a:cubicBezTo>
                <a:cubicBezTo>
                  <a:pt x="99350" y="167132"/>
                  <a:pt x="103552" y="161187"/>
                  <a:pt x="107447" y="152851"/>
                </a:cubicBezTo>
                <a:cubicBezTo>
                  <a:pt x="114382" y="137990"/>
                  <a:pt x="119267" y="117696"/>
                  <a:pt x="120258" y="95660"/>
                </a:cubicBezTo>
                <a:close/>
                <a:moveTo>
                  <a:pt x="54970" y="79261"/>
                </a:moveTo>
                <a:lnTo>
                  <a:pt x="120190" y="79261"/>
                </a:lnTo>
                <a:cubicBezTo>
                  <a:pt x="119233" y="57225"/>
                  <a:pt x="114348" y="36932"/>
                  <a:pt x="107412" y="22070"/>
                </a:cubicBezTo>
                <a:cubicBezTo>
                  <a:pt x="103518" y="13734"/>
                  <a:pt x="99316" y="7789"/>
                  <a:pt x="95421" y="4168"/>
                </a:cubicBezTo>
                <a:cubicBezTo>
                  <a:pt x="91594" y="581"/>
                  <a:pt x="88964" y="0"/>
                  <a:pt x="87597" y="0"/>
                </a:cubicBezTo>
                <a:cubicBezTo>
                  <a:pt x="86231" y="0"/>
                  <a:pt x="83600" y="581"/>
                  <a:pt x="79774" y="4168"/>
                </a:cubicBezTo>
                <a:cubicBezTo>
                  <a:pt x="75879" y="7789"/>
                  <a:pt x="71677" y="13734"/>
                  <a:pt x="67782" y="22070"/>
                </a:cubicBezTo>
                <a:cubicBezTo>
                  <a:pt x="60847" y="36932"/>
                  <a:pt x="55961" y="57225"/>
                  <a:pt x="54970" y="79261"/>
                </a:cubicBezTo>
                <a:close/>
                <a:moveTo>
                  <a:pt x="38571" y="79261"/>
                </a:moveTo>
                <a:cubicBezTo>
                  <a:pt x="39767" y="50016"/>
                  <a:pt x="47318" y="22856"/>
                  <a:pt x="58353" y="5022"/>
                </a:cubicBezTo>
                <a:cubicBezTo>
                  <a:pt x="26887" y="16160"/>
                  <a:pt x="3724" y="44824"/>
                  <a:pt x="512" y="79261"/>
                </a:cubicBezTo>
                <a:lnTo>
                  <a:pt x="38571" y="79261"/>
                </a:lnTo>
                <a:close/>
                <a:moveTo>
                  <a:pt x="512" y="95660"/>
                </a:moveTo>
                <a:cubicBezTo>
                  <a:pt x="3724" y="130098"/>
                  <a:pt x="26887" y="158761"/>
                  <a:pt x="58353" y="169899"/>
                </a:cubicBezTo>
                <a:cubicBezTo>
                  <a:pt x="47318" y="152065"/>
                  <a:pt x="39767" y="124905"/>
                  <a:pt x="38571" y="95660"/>
                </a:cubicBezTo>
                <a:lnTo>
                  <a:pt x="512" y="95660"/>
                </a:lnTo>
                <a:close/>
                <a:moveTo>
                  <a:pt x="136623" y="95660"/>
                </a:moveTo>
                <a:cubicBezTo>
                  <a:pt x="135427" y="124905"/>
                  <a:pt x="127877" y="152065"/>
                  <a:pt x="116842" y="169899"/>
                </a:cubicBezTo>
                <a:cubicBezTo>
                  <a:pt x="148307" y="158727"/>
                  <a:pt x="171470" y="130098"/>
                  <a:pt x="174682" y="95660"/>
                </a:cubicBezTo>
                <a:lnTo>
                  <a:pt x="136623" y="95660"/>
                </a:lnTo>
                <a:close/>
                <a:moveTo>
                  <a:pt x="174682" y="79261"/>
                </a:moveTo>
                <a:cubicBezTo>
                  <a:pt x="171470" y="44824"/>
                  <a:pt x="148307" y="16160"/>
                  <a:pt x="116842" y="5022"/>
                </a:cubicBezTo>
                <a:cubicBezTo>
                  <a:pt x="127877" y="22856"/>
                  <a:pt x="135427" y="50016"/>
                  <a:pt x="136623" y="79261"/>
                </a:cubicBezTo>
                <a:lnTo>
                  <a:pt x="174682" y="7926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0" name="Text 68"/>
          <p:cNvSpPr/>
          <p:nvPr/>
        </p:nvSpPr>
        <p:spPr>
          <a:xfrm>
            <a:off x="8540522" y="6200953"/>
            <a:ext cx="1408115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Scale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540522" y="6375874"/>
            <a:ext cx="1399369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Billions of devices connected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3679" y="343679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68736" y="0"/>
                </a:moveTo>
                <a:lnTo>
                  <a:pt x="274943" y="0"/>
                </a:lnTo>
                <a:cubicBezTo>
                  <a:pt x="312879" y="0"/>
                  <a:pt x="343679" y="30799"/>
                  <a:pt x="343679" y="68736"/>
                </a:cubicBezTo>
                <a:lnTo>
                  <a:pt x="343679" y="274943"/>
                </a:lnTo>
                <a:cubicBezTo>
                  <a:pt x="343679" y="312879"/>
                  <a:pt x="312879" y="343679"/>
                  <a:pt x="274943" y="343679"/>
                </a:cubicBezTo>
                <a:lnTo>
                  <a:pt x="68736" y="343679"/>
                </a:lnTo>
                <a:cubicBezTo>
                  <a:pt x="30799" y="343679"/>
                  <a:pt x="0" y="312879"/>
                  <a:pt x="0" y="274943"/>
                </a:cubicBezTo>
                <a:lnTo>
                  <a:pt x="0" y="68736"/>
                </a:lnTo>
                <a:cubicBezTo>
                  <a:pt x="0" y="30799"/>
                  <a:pt x="30799" y="0"/>
                  <a:pt x="68736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29464" y="395230"/>
            <a:ext cx="249167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0461" y="343679"/>
            <a:ext cx="4863053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OSI Model: 7-Layer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3679" y="756093"/>
            <a:ext cx="824829" cy="34368"/>
          </a:xfrm>
          <a:custGeom>
            <a:avLst/>
            <a:gdLst/>
            <a:ahLst/>
            <a:cxnLst/>
            <a:rect l="l" t="t" r="r" b="b"/>
            <a:pathLst>
              <a:path w="824829" h="34368">
                <a:moveTo>
                  <a:pt x="0" y="0"/>
                </a:moveTo>
                <a:lnTo>
                  <a:pt x="824829" y="0"/>
                </a:lnTo>
                <a:lnTo>
                  <a:pt x="824829" y="34368"/>
                </a:lnTo>
                <a:lnTo>
                  <a:pt x="0" y="3436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47975" y="932228"/>
            <a:ext cx="4510782" cy="2242503"/>
          </a:xfrm>
          <a:custGeom>
            <a:avLst/>
            <a:gdLst/>
            <a:ahLst/>
            <a:cxnLst/>
            <a:rect l="l" t="t" r="r" b="b"/>
            <a:pathLst>
              <a:path w="4510782" h="2242503">
                <a:moveTo>
                  <a:pt x="103110" y="0"/>
                </a:moveTo>
                <a:lnTo>
                  <a:pt x="4407672" y="0"/>
                </a:lnTo>
                <a:cubicBezTo>
                  <a:pt x="4464618" y="0"/>
                  <a:pt x="4510782" y="46164"/>
                  <a:pt x="4510782" y="103110"/>
                </a:cubicBezTo>
                <a:lnTo>
                  <a:pt x="4510782" y="2139393"/>
                </a:lnTo>
                <a:cubicBezTo>
                  <a:pt x="4510782" y="2196339"/>
                  <a:pt x="4464618" y="2242503"/>
                  <a:pt x="4407672" y="2242503"/>
                </a:cubicBezTo>
                <a:lnTo>
                  <a:pt x="103110" y="2242503"/>
                </a:lnTo>
                <a:cubicBezTo>
                  <a:pt x="46164" y="2242503"/>
                  <a:pt x="0" y="2196339"/>
                  <a:pt x="0" y="2139393"/>
                </a:cubicBezTo>
                <a:lnTo>
                  <a:pt x="0" y="103110"/>
                </a:lnTo>
                <a:cubicBezTo>
                  <a:pt x="0" y="46202"/>
                  <a:pt x="46202" y="0"/>
                  <a:pt x="10311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9742" y="1073996"/>
            <a:ext cx="481150" cy="481150"/>
          </a:xfrm>
          <a:custGeom>
            <a:avLst/>
            <a:gdLst/>
            <a:ahLst/>
            <a:cxnLst/>
            <a:rect l="l" t="t" r="r" b="b"/>
            <a:pathLst>
              <a:path w="481150" h="481150">
                <a:moveTo>
                  <a:pt x="103106" y="0"/>
                </a:moveTo>
                <a:lnTo>
                  <a:pt x="378044" y="0"/>
                </a:lnTo>
                <a:cubicBezTo>
                  <a:pt x="434988" y="0"/>
                  <a:pt x="481150" y="46162"/>
                  <a:pt x="481150" y="103106"/>
                </a:cubicBezTo>
                <a:lnTo>
                  <a:pt x="481150" y="378044"/>
                </a:lnTo>
                <a:cubicBezTo>
                  <a:pt x="481150" y="434988"/>
                  <a:pt x="434988" y="481150"/>
                  <a:pt x="378044" y="481150"/>
                </a:cubicBezTo>
                <a:lnTo>
                  <a:pt x="103106" y="481150"/>
                </a:lnTo>
                <a:cubicBezTo>
                  <a:pt x="46162" y="481150"/>
                  <a:pt x="0" y="434988"/>
                  <a:pt x="0" y="378044"/>
                </a:cubicBezTo>
                <a:lnTo>
                  <a:pt x="0" y="103106"/>
                </a:lnTo>
                <a:cubicBezTo>
                  <a:pt x="0" y="46200"/>
                  <a:pt x="46200" y="0"/>
                  <a:pt x="103106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627214" y="1211467"/>
            <a:ext cx="206207" cy="206207"/>
          </a:xfrm>
          <a:custGeom>
            <a:avLst/>
            <a:gdLst/>
            <a:ahLst/>
            <a:cxnLst/>
            <a:rect l="l" t="t" r="r" b="b"/>
            <a:pathLst>
              <a:path w="206207" h="206207">
                <a:moveTo>
                  <a:pt x="93639" y="2094"/>
                </a:moveTo>
                <a:cubicBezTo>
                  <a:pt x="99640" y="-685"/>
                  <a:pt x="106567" y="-685"/>
                  <a:pt x="112568" y="2094"/>
                </a:cubicBezTo>
                <a:lnTo>
                  <a:pt x="200609" y="42772"/>
                </a:lnTo>
                <a:cubicBezTo>
                  <a:pt x="204032" y="44343"/>
                  <a:pt x="206207" y="47766"/>
                  <a:pt x="206207" y="51552"/>
                </a:cubicBezTo>
                <a:cubicBezTo>
                  <a:pt x="206207" y="55338"/>
                  <a:pt x="204032" y="58761"/>
                  <a:pt x="200609" y="60332"/>
                </a:cubicBezTo>
                <a:lnTo>
                  <a:pt x="112568" y="101009"/>
                </a:lnTo>
                <a:cubicBezTo>
                  <a:pt x="106567" y="103788"/>
                  <a:pt x="99640" y="103788"/>
                  <a:pt x="93639" y="101009"/>
                </a:cubicBezTo>
                <a:lnTo>
                  <a:pt x="5598" y="60332"/>
                </a:lnTo>
                <a:cubicBezTo>
                  <a:pt x="2175" y="58721"/>
                  <a:pt x="0" y="55297"/>
                  <a:pt x="0" y="51552"/>
                </a:cubicBezTo>
                <a:cubicBezTo>
                  <a:pt x="0" y="47806"/>
                  <a:pt x="2175" y="44343"/>
                  <a:pt x="5598" y="42772"/>
                </a:cubicBezTo>
                <a:lnTo>
                  <a:pt x="93639" y="2094"/>
                </a:lnTo>
                <a:close/>
                <a:moveTo>
                  <a:pt x="19372" y="87960"/>
                </a:moveTo>
                <a:lnTo>
                  <a:pt x="85544" y="118529"/>
                </a:lnTo>
                <a:cubicBezTo>
                  <a:pt x="96700" y="123684"/>
                  <a:pt x="109548" y="123684"/>
                  <a:pt x="120704" y="118529"/>
                </a:cubicBezTo>
                <a:lnTo>
                  <a:pt x="186875" y="87960"/>
                </a:lnTo>
                <a:lnTo>
                  <a:pt x="200609" y="94324"/>
                </a:lnTo>
                <a:cubicBezTo>
                  <a:pt x="204032" y="95894"/>
                  <a:pt x="206207" y="99318"/>
                  <a:pt x="206207" y="103104"/>
                </a:cubicBezTo>
                <a:cubicBezTo>
                  <a:pt x="206207" y="106889"/>
                  <a:pt x="204032" y="110313"/>
                  <a:pt x="200609" y="111884"/>
                </a:cubicBezTo>
                <a:lnTo>
                  <a:pt x="112568" y="152561"/>
                </a:lnTo>
                <a:cubicBezTo>
                  <a:pt x="106567" y="155340"/>
                  <a:pt x="99640" y="155340"/>
                  <a:pt x="93639" y="152561"/>
                </a:cubicBezTo>
                <a:lnTo>
                  <a:pt x="5598" y="111884"/>
                </a:lnTo>
                <a:cubicBezTo>
                  <a:pt x="2175" y="110273"/>
                  <a:pt x="0" y="106849"/>
                  <a:pt x="0" y="103104"/>
                </a:cubicBezTo>
                <a:cubicBezTo>
                  <a:pt x="0" y="99358"/>
                  <a:pt x="2175" y="95894"/>
                  <a:pt x="5598" y="94324"/>
                </a:cubicBezTo>
                <a:lnTo>
                  <a:pt x="19332" y="87960"/>
                </a:lnTo>
                <a:close/>
                <a:moveTo>
                  <a:pt x="5598" y="145875"/>
                </a:moveTo>
                <a:lnTo>
                  <a:pt x="19332" y="139512"/>
                </a:lnTo>
                <a:lnTo>
                  <a:pt x="85503" y="170081"/>
                </a:lnTo>
                <a:cubicBezTo>
                  <a:pt x="96660" y="175236"/>
                  <a:pt x="109507" y="175236"/>
                  <a:pt x="120663" y="170081"/>
                </a:cubicBezTo>
                <a:lnTo>
                  <a:pt x="186835" y="139512"/>
                </a:lnTo>
                <a:lnTo>
                  <a:pt x="200569" y="145875"/>
                </a:lnTo>
                <a:cubicBezTo>
                  <a:pt x="203992" y="147446"/>
                  <a:pt x="206167" y="150870"/>
                  <a:pt x="206167" y="154655"/>
                </a:cubicBezTo>
                <a:cubicBezTo>
                  <a:pt x="206167" y="158441"/>
                  <a:pt x="203992" y="161865"/>
                  <a:pt x="200569" y="163435"/>
                </a:cubicBezTo>
                <a:lnTo>
                  <a:pt x="112528" y="204113"/>
                </a:lnTo>
                <a:cubicBezTo>
                  <a:pt x="106527" y="206892"/>
                  <a:pt x="99600" y="206892"/>
                  <a:pt x="93599" y="204113"/>
                </a:cubicBezTo>
                <a:lnTo>
                  <a:pt x="5598" y="163435"/>
                </a:lnTo>
                <a:cubicBezTo>
                  <a:pt x="2175" y="161824"/>
                  <a:pt x="0" y="158401"/>
                  <a:pt x="0" y="154655"/>
                </a:cubicBezTo>
                <a:cubicBezTo>
                  <a:pt x="0" y="150910"/>
                  <a:pt x="2175" y="147446"/>
                  <a:pt x="5598" y="145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73996" y="1194283"/>
            <a:ext cx="1142732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OSI?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742" y="1658249"/>
            <a:ext cx="4295983" cy="44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08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Systems Interconnection (OSI) Model</a:t>
            </a:r>
            <a:pPr>
              <a:lnSpc>
                <a:spcPct val="140000"/>
              </a:lnSpc>
            </a:pPr>
            <a:r>
              <a:rPr lang="en-US" sz="10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conceptual framework that organizes network functions into seven distinct layers.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6926" y="2208135"/>
            <a:ext cx="4210063" cy="824829"/>
          </a:xfrm>
          <a:custGeom>
            <a:avLst/>
            <a:gdLst/>
            <a:ahLst/>
            <a:cxnLst/>
            <a:rect l="l" t="t" r="r" b="b"/>
            <a:pathLst>
              <a:path w="4210063" h="824829">
                <a:moveTo>
                  <a:pt x="34368" y="0"/>
                </a:moveTo>
                <a:lnTo>
                  <a:pt x="4141330" y="0"/>
                </a:lnTo>
                <a:cubicBezTo>
                  <a:pt x="4179291" y="0"/>
                  <a:pt x="4210063" y="30773"/>
                  <a:pt x="4210063" y="68733"/>
                </a:cubicBezTo>
                <a:lnTo>
                  <a:pt x="4210063" y="756096"/>
                </a:lnTo>
                <a:cubicBezTo>
                  <a:pt x="4210063" y="794056"/>
                  <a:pt x="4179291" y="824829"/>
                  <a:pt x="4141330" y="824829"/>
                </a:cubicBezTo>
                <a:lnTo>
                  <a:pt x="34368" y="824829"/>
                </a:lnTo>
                <a:cubicBezTo>
                  <a:pt x="15387" y="824829"/>
                  <a:pt x="0" y="809442"/>
                  <a:pt x="0" y="79046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06926" y="2208135"/>
            <a:ext cx="34368" cy="824829"/>
          </a:xfrm>
          <a:custGeom>
            <a:avLst/>
            <a:gdLst/>
            <a:ahLst/>
            <a:cxnLst/>
            <a:rect l="l" t="t" r="r" b="b"/>
            <a:pathLst>
              <a:path w="34368" h="824829">
                <a:moveTo>
                  <a:pt x="34368" y="0"/>
                </a:moveTo>
                <a:lnTo>
                  <a:pt x="34368" y="0"/>
                </a:lnTo>
                <a:lnTo>
                  <a:pt x="34368" y="824829"/>
                </a:lnTo>
                <a:lnTo>
                  <a:pt x="34368" y="824829"/>
                </a:lnTo>
                <a:cubicBezTo>
                  <a:pt x="15387" y="824829"/>
                  <a:pt x="0" y="809442"/>
                  <a:pt x="0" y="79046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14" y="2311239"/>
            <a:ext cx="4055408" cy="618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Standardize network communication and ensure interoperability between different hardware, software, and protocols.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7975" y="3320795"/>
            <a:ext cx="4510782" cy="2775205"/>
          </a:xfrm>
          <a:custGeom>
            <a:avLst/>
            <a:gdLst/>
            <a:ahLst/>
            <a:cxnLst/>
            <a:rect l="l" t="t" r="r" b="b"/>
            <a:pathLst>
              <a:path w="4510782" h="2775205">
                <a:moveTo>
                  <a:pt x="103099" y="0"/>
                </a:moveTo>
                <a:lnTo>
                  <a:pt x="4407683" y="0"/>
                </a:lnTo>
                <a:cubicBezTo>
                  <a:pt x="4464623" y="0"/>
                  <a:pt x="4510782" y="46159"/>
                  <a:pt x="4510782" y="103099"/>
                </a:cubicBezTo>
                <a:lnTo>
                  <a:pt x="4510782" y="2672106"/>
                </a:lnTo>
                <a:cubicBezTo>
                  <a:pt x="4510782" y="2729046"/>
                  <a:pt x="4464623" y="2775205"/>
                  <a:pt x="4407683" y="2775205"/>
                </a:cubicBezTo>
                <a:lnTo>
                  <a:pt x="103099" y="2775205"/>
                </a:lnTo>
                <a:cubicBezTo>
                  <a:pt x="46159" y="2775205"/>
                  <a:pt x="0" y="2729046"/>
                  <a:pt x="0" y="2672106"/>
                </a:cubicBezTo>
                <a:lnTo>
                  <a:pt x="0" y="103099"/>
                </a:lnTo>
                <a:cubicBezTo>
                  <a:pt x="0" y="46197"/>
                  <a:pt x="46197" y="0"/>
                  <a:pt x="1030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1556" y="3505522"/>
            <a:ext cx="173987" cy="154655"/>
          </a:xfrm>
          <a:custGeom>
            <a:avLst/>
            <a:gdLst/>
            <a:ahLst/>
            <a:cxnLst/>
            <a:rect l="l" t="t" r="r" b="b"/>
            <a:pathLst>
              <a:path w="173987" h="154655">
                <a:moveTo>
                  <a:pt x="86994" y="19332"/>
                </a:moveTo>
                <a:cubicBezTo>
                  <a:pt x="119012" y="19332"/>
                  <a:pt x="144989" y="45309"/>
                  <a:pt x="144989" y="77328"/>
                </a:cubicBezTo>
                <a:cubicBezTo>
                  <a:pt x="144989" y="109346"/>
                  <a:pt x="119012" y="135323"/>
                  <a:pt x="86994" y="135323"/>
                </a:cubicBezTo>
                <a:cubicBezTo>
                  <a:pt x="67299" y="135323"/>
                  <a:pt x="49870" y="125506"/>
                  <a:pt x="39389" y="110464"/>
                </a:cubicBezTo>
                <a:cubicBezTo>
                  <a:pt x="36338" y="106084"/>
                  <a:pt x="30297" y="105027"/>
                  <a:pt x="25917" y="108078"/>
                </a:cubicBezTo>
                <a:cubicBezTo>
                  <a:pt x="21537" y="111128"/>
                  <a:pt x="20480" y="117170"/>
                  <a:pt x="23531" y="121549"/>
                </a:cubicBezTo>
                <a:cubicBezTo>
                  <a:pt x="37486" y="141546"/>
                  <a:pt x="60714" y="154655"/>
                  <a:pt x="86994" y="154655"/>
                </a:cubicBezTo>
                <a:cubicBezTo>
                  <a:pt x="129705" y="154655"/>
                  <a:pt x="164321" y="120039"/>
                  <a:pt x="164321" y="77328"/>
                </a:cubicBezTo>
                <a:cubicBezTo>
                  <a:pt x="164321" y="34616"/>
                  <a:pt x="129705" y="0"/>
                  <a:pt x="86994" y="0"/>
                </a:cubicBezTo>
                <a:cubicBezTo>
                  <a:pt x="61107" y="0"/>
                  <a:pt x="38211" y="12717"/>
                  <a:pt x="24165" y="32230"/>
                </a:cubicBezTo>
                <a:lnTo>
                  <a:pt x="24165" y="24165"/>
                </a:lnTo>
                <a:cubicBezTo>
                  <a:pt x="24165" y="18818"/>
                  <a:pt x="19845" y="14499"/>
                  <a:pt x="14499" y="14499"/>
                </a:cubicBezTo>
                <a:cubicBezTo>
                  <a:pt x="9152" y="14499"/>
                  <a:pt x="4833" y="18818"/>
                  <a:pt x="4833" y="24165"/>
                </a:cubicBezTo>
                <a:lnTo>
                  <a:pt x="4833" y="57996"/>
                </a:lnTo>
                <a:cubicBezTo>
                  <a:pt x="4833" y="63342"/>
                  <a:pt x="9152" y="67662"/>
                  <a:pt x="14499" y="67662"/>
                </a:cubicBezTo>
                <a:lnTo>
                  <a:pt x="21930" y="67662"/>
                </a:lnTo>
                <a:cubicBezTo>
                  <a:pt x="22081" y="67662"/>
                  <a:pt x="22232" y="67662"/>
                  <a:pt x="22383" y="67662"/>
                </a:cubicBezTo>
                <a:lnTo>
                  <a:pt x="48360" y="67662"/>
                </a:lnTo>
                <a:cubicBezTo>
                  <a:pt x="53707" y="67662"/>
                  <a:pt x="58026" y="63342"/>
                  <a:pt x="58026" y="57996"/>
                </a:cubicBezTo>
                <a:cubicBezTo>
                  <a:pt x="58026" y="52649"/>
                  <a:pt x="53707" y="48330"/>
                  <a:pt x="48360" y="48330"/>
                </a:cubicBezTo>
                <a:lnTo>
                  <a:pt x="36791" y="48330"/>
                </a:lnTo>
                <a:cubicBezTo>
                  <a:pt x="46789" y="30991"/>
                  <a:pt x="65547" y="19332"/>
                  <a:pt x="86994" y="19332"/>
                </a:cubicBezTo>
                <a:close/>
                <a:moveTo>
                  <a:pt x="94243" y="45913"/>
                </a:moveTo>
                <a:cubicBezTo>
                  <a:pt x="94243" y="41896"/>
                  <a:pt x="91011" y="38664"/>
                  <a:pt x="86994" y="38664"/>
                </a:cubicBezTo>
                <a:cubicBezTo>
                  <a:pt x="82976" y="38664"/>
                  <a:pt x="79744" y="41896"/>
                  <a:pt x="79744" y="45913"/>
                </a:cubicBezTo>
                <a:lnTo>
                  <a:pt x="79744" y="77328"/>
                </a:lnTo>
                <a:cubicBezTo>
                  <a:pt x="79744" y="79261"/>
                  <a:pt x="80499" y="81103"/>
                  <a:pt x="81859" y="82463"/>
                </a:cubicBezTo>
                <a:lnTo>
                  <a:pt x="103607" y="104211"/>
                </a:lnTo>
                <a:cubicBezTo>
                  <a:pt x="106446" y="107051"/>
                  <a:pt x="111038" y="107051"/>
                  <a:pt x="113847" y="104211"/>
                </a:cubicBezTo>
                <a:cubicBezTo>
                  <a:pt x="116656" y="101372"/>
                  <a:pt x="116686" y="96780"/>
                  <a:pt x="113847" y="93971"/>
                </a:cubicBezTo>
                <a:lnTo>
                  <a:pt x="94213" y="74337"/>
                </a:lnTo>
                <a:lnTo>
                  <a:pt x="94213" y="4591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87357" y="3462562"/>
            <a:ext cx="410696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Context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926" y="3840609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68736" y="137471"/>
                </a:moveTo>
                <a:cubicBezTo>
                  <a:pt x="106672" y="137471"/>
                  <a:pt x="137471" y="106672"/>
                  <a:pt x="137471" y="68736"/>
                </a:cubicBezTo>
                <a:cubicBezTo>
                  <a:pt x="137471" y="30799"/>
                  <a:pt x="106672" y="0"/>
                  <a:pt x="68736" y="0"/>
                </a:cubicBezTo>
                <a:cubicBezTo>
                  <a:pt x="30799" y="0"/>
                  <a:pt x="0" y="30799"/>
                  <a:pt x="0" y="68736"/>
                </a:cubicBezTo>
                <a:cubicBezTo>
                  <a:pt x="0" y="106672"/>
                  <a:pt x="30799" y="137471"/>
                  <a:pt x="68736" y="137471"/>
                </a:cubicBezTo>
                <a:close/>
                <a:moveTo>
                  <a:pt x="44839" y="44839"/>
                </a:moveTo>
                <a:cubicBezTo>
                  <a:pt x="47363" y="42315"/>
                  <a:pt x="51444" y="42315"/>
                  <a:pt x="53941" y="44839"/>
                </a:cubicBezTo>
                <a:lnTo>
                  <a:pt x="68709" y="59607"/>
                </a:lnTo>
                <a:lnTo>
                  <a:pt x="83476" y="44839"/>
                </a:lnTo>
                <a:cubicBezTo>
                  <a:pt x="86000" y="42315"/>
                  <a:pt x="90081" y="42315"/>
                  <a:pt x="92578" y="44839"/>
                </a:cubicBezTo>
                <a:cubicBezTo>
                  <a:pt x="95075" y="47363"/>
                  <a:pt x="95102" y="51444"/>
                  <a:pt x="92578" y="53941"/>
                </a:cubicBezTo>
                <a:lnTo>
                  <a:pt x="77811" y="68709"/>
                </a:lnTo>
                <a:lnTo>
                  <a:pt x="92578" y="83476"/>
                </a:lnTo>
                <a:cubicBezTo>
                  <a:pt x="95102" y="86000"/>
                  <a:pt x="95102" y="90081"/>
                  <a:pt x="92578" y="92578"/>
                </a:cubicBezTo>
                <a:cubicBezTo>
                  <a:pt x="90055" y="95075"/>
                  <a:pt x="85973" y="95102"/>
                  <a:pt x="83476" y="92578"/>
                </a:cubicBezTo>
                <a:lnTo>
                  <a:pt x="68709" y="77811"/>
                </a:lnTo>
                <a:lnTo>
                  <a:pt x="53941" y="92578"/>
                </a:lnTo>
                <a:cubicBezTo>
                  <a:pt x="51418" y="95102"/>
                  <a:pt x="47336" y="95102"/>
                  <a:pt x="44839" y="92578"/>
                </a:cubicBezTo>
                <a:cubicBezTo>
                  <a:pt x="42342" y="90055"/>
                  <a:pt x="42315" y="85973"/>
                  <a:pt x="44839" y="83476"/>
                </a:cubicBezTo>
                <a:lnTo>
                  <a:pt x="59607" y="68709"/>
                </a:lnTo>
                <a:lnTo>
                  <a:pt x="44839" y="53941"/>
                </a:lnTo>
                <a:cubicBezTo>
                  <a:pt x="42315" y="51418"/>
                  <a:pt x="42315" y="47336"/>
                  <a:pt x="44839" y="4483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730317" y="3806241"/>
            <a:ext cx="4046816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OSI: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Proprietary architectures (IBM's SNA, DECnet) created compatibility issues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6926" y="4253023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68736" y="137471"/>
                </a:moveTo>
                <a:cubicBezTo>
                  <a:pt x="106672" y="137471"/>
                  <a:pt x="137471" y="106672"/>
                  <a:pt x="137471" y="68736"/>
                </a:cubicBezTo>
                <a:cubicBezTo>
                  <a:pt x="137471" y="30799"/>
                  <a:pt x="106672" y="0"/>
                  <a:pt x="68736" y="0"/>
                </a:cubicBezTo>
                <a:cubicBezTo>
                  <a:pt x="30799" y="0"/>
                  <a:pt x="0" y="30799"/>
                  <a:pt x="0" y="68736"/>
                </a:cubicBezTo>
                <a:cubicBezTo>
                  <a:pt x="0" y="106672"/>
                  <a:pt x="30799" y="137471"/>
                  <a:pt x="68736" y="137471"/>
                </a:cubicBezTo>
                <a:close/>
                <a:moveTo>
                  <a:pt x="91397" y="57110"/>
                </a:moveTo>
                <a:lnTo>
                  <a:pt x="69917" y="91478"/>
                </a:lnTo>
                <a:cubicBezTo>
                  <a:pt x="68789" y="93277"/>
                  <a:pt x="66856" y="94404"/>
                  <a:pt x="64735" y="94512"/>
                </a:cubicBezTo>
                <a:cubicBezTo>
                  <a:pt x="62614" y="94619"/>
                  <a:pt x="60573" y="93652"/>
                  <a:pt x="59311" y="91934"/>
                </a:cubicBezTo>
                <a:lnTo>
                  <a:pt x="46423" y="74750"/>
                </a:lnTo>
                <a:cubicBezTo>
                  <a:pt x="44275" y="71904"/>
                  <a:pt x="44866" y="67877"/>
                  <a:pt x="47712" y="65729"/>
                </a:cubicBezTo>
                <a:cubicBezTo>
                  <a:pt x="50558" y="63581"/>
                  <a:pt x="54586" y="64171"/>
                  <a:pt x="56734" y="67017"/>
                </a:cubicBezTo>
                <a:lnTo>
                  <a:pt x="63983" y="76683"/>
                </a:lnTo>
                <a:lnTo>
                  <a:pt x="80469" y="50290"/>
                </a:lnTo>
                <a:cubicBezTo>
                  <a:pt x="82349" y="47283"/>
                  <a:pt x="86322" y="46343"/>
                  <a:pt x="89356" y="48249"/>
                </a:cubicBezTo>
                <a:cubicBezTo>
                  <a:pt x="92390" y="50156"/>
                  <a:pt x="93303" y="54103"/>
                  <a:pt x="91397" y="5713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30317" y="4218655"/>
            <a:ext cx="3728913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 Solution: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Developed in late 1970s, published 1984 as ISO 7498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6926" y="4493598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120288" y="68736"/>
                </a:moveTo>
                <a:cubicBezTo>
                  <a:pt x="120288" y="40284"/>
                  <a:pt x="97188" y="17184"/>
                  <a:pt x="68736" y="17184"/>
                </a:cubicBezTo>
                <a:cubicBezTo>
                  <a:pt x="40284" y="17184"/>
                  <a:pt x="17184" y="40284"/>
                  <a:pt x="17184" y="68736"/>
                </a:cubicBezTo>
                <a:cubicBezTo>
                  <a:pt x="17184" y="97188"/>
                  <a:pt x="40284" y="120288"/>
                  <a:pt x="68736" y="120288"/>
                </a:cubicBezTo>
                <a:cubicBezTo>
                  <a:pt x="97188" y="120288"/>
                  <a:pt x="120288" y="97188"/>
                  <a:pt x="120288" y="68736"/>
                </a:cubicBezTo>
                <a:close/>
                <a:moveTo>
                  <a:pt x="0" y="68736"/>
                </a:moveTo>
                <a:cubicBezTo>
                  <a:pt x="0" y="30799"/>
                  <a:pt x="30799" y="0"/>
                  <a:pt x="68736" y="0"/>
                </a:cubicBezTo>
                <a:cubicBezTo>
                  <a:pt x="106672" y="0"/>
                  <a:pt x="137471" y="30799"/>
                  <a:pt x="137471" y="68736"/>
                </a:cubicBezTo>
                <a:cubicBezTo>
                  <a:pt x="137471" y="106672"/>
                  <a:pt x="106672" y="137471"/>
                  <a:pt x="68736" y="137471"/>
                </a:cubicBezTo>
                <a:cubicBezTo>
                  <a:pt x="30799" y="137471"/>
                  <a:pt x="0" y="106672"/>
                  <a:pt x="0" y="68736"/>
                </a:cubicBezTo>
                <a:close/>
                <a:moveTo>
                  <a:pt x="68736" y="90216"/>
                </a:moveTo>
                <a:cubicBezTo>
                  <a:pt x="80591" y="90216"/>
                  <a:pt x="90216" y="80591"/>
                  <a:pt x="90216" y="68736"/>
                </a:cubicBezTo>
                <a:cubicBezTo>
                  <a:pt x="90216" y="56881"/>
                  <a:pt x="80591" y="47256"/>
                  <a:pt x="68736" y="47256"/>
                </a:cubicBezTo>
                <a:cubicBezTo>
                  <a:pt x="56881" y="47256"/>
                  <a:pt x="47256" y="56881"/>
                  <a:pt x="47256" y="68736"/>
                </a:cubicBezTo>
                <a:cubicBezTo>
                  <a:pt x="47256" y="80591"/>
                  <a:pt x="56881" y="90216"/>
                  <a:pt x="68736" y="90216"/>
                </a:cubicBezTo>
                <a:close/>
                <a:moveTo>
                  <a:pt x="68736" y="30072"/>
                </a:moveTo>
                <a:cubicBezTo>
                  <a:pt x="90075" y="30072"/>
                  <a:pt x="107400" y="47397"/>
                  <a:pt x="107400" y="68736"/>
                </a:cubicBezTo>
                <a:cubicBezTo>
                  <a:pt x="107400" y="90075"/>
                  <a:pt x="90075" y="107400"/>
                  <a:pt x="68736" y="107400"/>
                </a:cubicBezTo>
                <a:cubicBezTo>
                  <a:pt x="47397" y="107400"/>
                  <a:pt x="30072" y="90075"/>
                  <a:pt x="30072" y="68736"/>
                </a:cubicBezTo>
                <a:cubicBezTo>
                  <a:pt x="30072" y="47397"/>
                  <a:pt x="47397" y="30072"/>
                  <a:pt x="68736" y="30072"/>
                </a:cubicBezTo>
                <a:close/>
                <a:moveTo>
                  <a:pt x="60144" y="68736"/>
                </a:moveTo>
                <a:cubicBezTo>
                  <a:pt x="60144" y="63994"/>
                  <a:pt x="63994" y="60144"/>
                  <a:pt x="68736" y="60144"/>
                </a:cubicBezTo>
                <a:cubicBezTo>
                  <a:pt x="73478" y="60144"/>
                  <a:pt x="77328" y="63994"/>
                  <a:pt x="77328" y="68736"/>
                </a:cubicBezTo>
                <a:cubicBezTo>
                  <a:pt x="77328" y="73478"/>
                  <a:pt x="73478" y="77328"/>
                  <a:pt x="68736" y="77328"/>
                </a:cubicBezTo>
                <a:cubicBezTo>
                  <a:pt x="63994" y="77328"/>
                  <a:pt x="60144" y="73478"/>
                  <a:pt x="60144" y="6873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2" name="Text 20"/>
          <p:cNvSpPr/>
          <p:nvPr/>
        </p:nvSpPr>
        <p:spPr>
          <a:xfrm>
            <a:off x="730317" y="4459230"/>
            <a:ext cx="3024372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Universal rules so all devices could communicate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03612" y="932228"/>
            <a:ext cx="6839205" cy="5163772"/>
          </a:xfrm>
          <a:custGeom>
            <a:avLst/>
            <a:gdLst/>
            <a:ahLst/>
            <a:cxnLst/>
            <a:rect l="l" t="t" r="r" b="b"/>
            <a:pathLst>
              <a:path w="6839205" h="5163772">
                <a:moveTo>
                  <a:pt x="103121" y="0"/>
                </a:moveTo>
                <a:lnTo>
                  <a:pt x="6736085" y="0"/>
                </a:lnTo>
                <a:cubicBezTo>
                  <a:pt x="6793036" y="0"/>
                  <a:pt x="6839205" y="46169"/>
                  <a:pt x="6839205" y="103121"/>
                </a:cubicBezTo>
                <a:lnTo>
                  <a:pt x="6839205" y="5060651"/>
                </a:lnTo>
                <a:cubicBezTo>
                  <a:pt x="6839205" y="5117603"/>
                  <a:pt x="6793036" y="5163772"/>
                  <a:pt x="6736085" y="5163772"/>
                </a:cubicBezTo>
                <a:lnTo>
                  <a:pt x="103121" y="5163772"/>
                </a:lnTo>
                <a:cubicBezTo>
                  <a:pt x="46169" y="5163772"/>
                  <a:pt x="0" y="5117603"/>
                  <a:pt x="0" y="5060651"/>
                </a:cubicBezTo>
                <a:lnTo>
                  <a:pt x="0" y="103121"/>
                </a:lnTo>
                <a:cubicBezTo>
                  <a:pt x="0" y="46207"/>
                  <a:pt x="46207" y="0"/>
                  <a:pt x="10312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859" y="1108364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64440" y="21480"/>
                </a:moveTo>
                <a:cubicBezTo>
                  <a:pt x="64440" y="15539"/>
                  <a:pt x="69239" y="10740"/>
                  <a:pt x="75180" y="10740"/>
                </a:cubicBezTo>
                <a:lnTo>
                  <a:pt x="96660" y="10740"/>
                </a:lnTo>
                <a:cubicBezTo>
                  <a:pt x="102600" y="10740"/>
                  <a:pt x="107400" y="15539"/>
                  <a:pt x="107400" y="21480"/>
                </a:cubicBezTo>
                <a:lnTo>
                  <a:pt x="107400" y="42960"/>
                </a:lnTo>
                <a:cubicBezTo>
                  <a:pt x="107400" y="48900"/>
                  <a:pt x="102600" y="53700"/>
                  <a:pt x="96660" y="53700"/>
                </a:cubicBezTo>
                <a:lnTo>
                  <a:pt x="93975" y="53700"/>
                </a:lnTo>
                <a:lnTo>
                  <a:pt x="93975" y="75180"/>
                </a:lnTo>
                <a:lnTo>
                  <a:pt x="134249" y="75180"/>
                </a:lnTo>
                <a:cubicBezTo>
                  <a:pt x="147607" y="75180"/>
                  <a:pt x="158414" y="85987"/>
                  <a:pt x="158414" y="99345"/>
                </a:cubicBezTo>
                <a:lnTo>
                  <a:pt x="158414" y="118140"/>
                </a:lnTo>
                <a:lnTo>
                  <a:pt x="161099" y="118140"/>
                </a:lnTo>
                <a:cubicBezTo>
                  <a:pt x="167040" y="118140"/>
                  <a:pt x="171839" y="122939"/>
                  <a:pt x="171839" y="128879"/>
                </a:cubicBezTo>
                <a:lnTo>
                  <a:pt x="171839" y="150359"/>
                </a:lnTo>
                <a:cubicBezTo>
                  <a:pt x="171839" y="156300"/>
                  <a:pt x="167040" y="161099"/>
                  <a:pt x="161099" y="161099"/>
                </a:cubicBezTo>
                <a:lnTo>
                  <a:pt x="139619" y="161099"/>
                </a:lnTo>
                <a:cubicBezTo>
                  <a:pt x="133679" y="161099"/>
                  <a:pt x="128879" y="156300"/>
                  <a:pt x="128879" y="150359"/>
                </a:cubicBezTo>
                <a:lnTo>
                  <a:pt x="128879" y="128879"/>
                </a:lnTo>
                <a:cubicBezTo>
                  <a:pt x="128879" y="122939"/>
                  <a:pt x="133679" y="118140"/>
                  <a:pt x="139619" y="118140"/>
                </a:cubicBezTo>
                <a:lnTo>
                  <a:pt x="142304" y="118140"/>
                </a:lnTo>
                <a:lnTo>
                  <a:pt x="142304" y="99345"/>
                </a:lnTo>
                <a:cubicBezTo>
                  <a:pt x="142304" y="94881"/>
                  <a:pt x="138713" y="91290"/>
                  <a:pt x="134249" y="91290"/>
                </a:cubicBezTo>
                <a:lnTo>
                  <a:pt x="93975" y="91290"/>
                </a:lnTo>
                <a:lnTo>
                  <a:pt x="93975" y="118140"/>
                </a:lnTo>
                <a:lnTo>
                  <a:pt x="96660" y="118140"/>
                </a:lnTo>
                <a:cubicBezTo>
                  <a:pt x="102600" y="118140"/>
                  <a:pt x="107400" y="122939"/>
                  <a:pt x="107400" y="128879"/>
                </a:cubicBezTo>
                <a:lnTo>
                  <a:pt x="107400" y="150359"/>
                </a:lnTo>
                <a:cubicBezTo>
                  <a:pt x="107400" y="156300"/>
                  <a:pt x="102600" y="161099"/>
                  <a:pt x="96660" y="161099"/>
                </a:cubicBezTo>
                <a:lnTo>
                  <a:pt x="75180" y="161099"/>
                </a:lnTo>
                <a:cubicBezTo>
                  <a:pt x="69239" y="161099"/>
                  <a:pt x="64440" y="156300"/>
                  <a:pt x="64440" y="150359"/>
                </a:cubicBezTo>
                <a:lnTo>
                  <a:pt x="64440" y="128879"/>
                </a:lnTo>
                <a:cubicBezTo>
                  <a:pt x="64440" y="122939"/>
                  <a:pt x="69239" y="118140"/>
                  <a:pt x="75180" y="118140"/>
                </a:cubicBezTo>
                <a:lnTo>
                  <a:pt x="77865" y="118140"/>
                </a:lnTo>
                <a:lnTo>
                  <a:pt x="77865" y="91290"/>
                </a:lnTo>
                <a:lnTo>
                  <a:pt x="37590" y="91290"/>
                </a:lnTo>
                <a:cubicBezTo>
                  <a:pt x="33126" y="91290"/>
                  <a:pt x="29535" y="94881"/>
                  <a:pt x="29535" y="99345"/>
                </a:cubicBezTo>
                <a:lnTo>
                  <a:pt x="29535" y="118140"/>
                </a:lnTo>
                <a:lnTo>
                  <a:pt x="32220" y="118140"/>
                </a:lnTo>
                <a:cubicBezTo>
                  <a:pt x="38160" y="118140"/>
                  <a:pt x="42960" y="122939"/>
                  <a:pt x="42960" y="128879"/>
                </a:cubicBezTo>
                <a:lnTo>
                  <a:pt x="42960" y="150359"/>
                </a:lnTo>
                <a:cubicBezTo>
                  <a:pt x="42960" y="156300"/>
                  <a:pt x="38160" y="161099"/>
                  <a:pt x="32220" y="161099"/>
                </a:cubicBezTo>
                <a:lnTo>
                  <a:pt x="10740" y="161099"/>
                </a:lnTo>
                <a:cubicBezTo>
                  <a:pt x="4799" y="161099"/>
                  <a:pt x="0" y="156300"/>
                  <a:pt x="0" y="150359"/>
                </a:cubicBezTo>
                <a:lnTo>
                  <a:pt x="0" y="128879"/>
                </a:lnTo>
                <a:cubicBezTo>
                  <a:pt x="0" y="122939"/>
                  <a:pt x="4799" y="118140"/>
                  <a:pt x="10740" y="118140"/>
                </a:cubicBezTo>
                <a:lnTo>
                  <a:pt x="13425" y="118140"/>
                </a:lnTo>
                <a:lnTo>
                  <a:pt x="13425" y="99345"/>
                </a:lnTo>
                <a:cubicBezTo>
                  <a:pt x="13425" y="85987"/>
                  <a:pt x="24232" y="75180"/>
                  <a:pt x="37590" y="75180"/>
                </a:cubicBezTo>
                <a:lnTo>
                  <a:pt x="77865" y="75180"/>
                </a:lnTo>
                <a:lnTo>
                  <a:pt x="77865" y="53700"/>
                </a:lnTo>
                <a:lnTo>
                  <a:pt x="75180" y="53700"/>
                </a:lnTo>
                <a:cubicBezTo>
                  <a:pt x="69239" y="53700"/>
                  <a:pt x="64440" y="48900"/>
                  <a:pt x="64440" y="42960"/>
                </a:cubicBezTo>
                <a:lnTo>
                  <a:pt x="64440" y="2148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5360179" y="1073996"/>
            <a:ext cx="6426791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7-Layer Stack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62563" y="1452042"/>
            <a:ext cx="6538486" cy="584254"/>
          </a:xfrm>
          <a:custGeom>
            <a:avLst/>
            <a:gdLst/>
            <a:ahLst/>
            <a:cxnLst/>
            <a:rect l="l" t="t" r="r" b="b"/>
            <a:pathLst>
              <a:path w="6538486" h="584254">
                <a:moveTo>
                  <a:pt x="0" y="0"/>
                </a:moveTo>
                <a:lnTo>
                  <a:pt x="6469749" y="0"/>
                </a:lnTo>
                <a:cubicBezTo>
                  <a:pt x="6507711" y="0"/>
                  <a:pt x="6538486" y="30775"/>
                  <a:pt x="6538486" y="68737"/>
                </a:cubicBezTo>
                <a:lnTo>
                  <a:pt x="6538486" y="515516"/>
                </a:lnTo>
                <a:cubicBezTo>
                  <a:pt x="6538486" y="553479"/>
                  <a:pt x="6507711" y="584254"/>
                  <a:pt x="6469749" y="584254"/>
                </a:cubicBezTo>
                <a:lnTo>
                  <a:pt x="0" y="58425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E07A5F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5162563" y="1452042"/>
            <a:ext cx="34368" cy="584254"/>
          </a:xfrm>
          <a:custGeom>
            <a:avLst/>
            <a:gdLst/>
            <a:ahLst/>
            <a:cxnLst/>
            <a:rect l="l" t="t" r="r" b="b"/>
            <a:pathLst>
              <a:path w="34368" h="584254">
                <a:moveTo>
                  <a:pt x="0" y="0"/>
                </a:moveTo>
                <a:lnTo>
                  <a:pt x="34368" y="0"/>
                </a:lnTo>
                <a:lnTo>
                  <a:pt x="34368" y="584254"/>
                </a:lnTo>
                <a:lnTo>
                  <a:pt x="0" y="584254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5282851" y="1572330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68736" y="0"/>
                </a:moveTo>
                <a:lnTo>
                  <a:pt x="274943" y="0"/>
                </a:lnTo>
                <a:cubicBezTo>
                  <a:pt x="312879" y="0"/>
                  <a:pt x="343679" y="30799"/>
                  <a:pt x="343679" y="68736"/>
                </a:cubicBezTo>
                <a:lnTo>
                  <a:pt x="343679" y="274943"/>
                </a:lnTo>
                <a:cubicBezTo>
                  <a:pt x="343679" y="312879"/>
                  <a:pt x="312879" y="343679"/>
                  <a:pt x="274943" y="343679"/>
                </a:cubicBezTo>
                <a:lnTo>
                  <a:pt x="68736" y="343679"/>
                </a:lnTo>
                <a:cubicBezTo>
                  <a:pt x="30799" y="343679"/>
                  <a:pt x="0" y="312879"/>
                  <a:pt x="0" y="274943"/>
                </a:cubicBezTo>
                <a:lnTo>
                  <a:pt x="0" y="68736"/>
                </a:lnTo>
                <a:cubicBezTo>
                  <a:pt x="0" y="30799"/>
                  <a:pt x="30799" y="0"/>
                  <a:pt x="68736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248483" y="1572330"/>
            <a:ext cx="412414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29633" y="1555146"/>
            <a:ext cx="593704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29633" y="1761353"/>
            <a:ext cx="592845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HTTP, FTP, SMTP, DNS — User interfaces and network services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62563" y="2105032"/>
            <a:ext cx="6538486" cy="584254"/>
          </a:xfrm>
          <a:custGeom>
            <a:avLst/>
            <a:gdLst/>
            <a:ahLst/>
            <a:cxnLst/>
            <a:rect l="l" t="t" r="r" b="b"/>
            <a:pathLst>
              <a:path w="6538486" h="584254">
                <a:moveTo>
                  <a:pt x="0" y="0"/>
                </a:moveTo>
                <a:lnTo>
                  <a:pt x="6469749" y="0"/>
                </a:lnTo>
                <a:cubicBezTo>
                  <a:pt x="6507711" y="0"/>
                  <a:pt x="6538486" y="30775"/>
                  <a:pt x="6538486" y="68737"/>
                </a:cubicBezTo>
                <a:lnTo>
                  <a:pt x="6538486" y="515516"/>
                </a:lnTo>
                <a:cubicBezTo>
                  <a:pt x="6538486" y="553479"/>
                  <a:pt x="6507711" y="584254"/>
                  <a:pt x="6469749" y="584254"/>
                </a:cubicBezTo>
                <a:lnTo>
                  <a:pt x="0" y="58425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33" name="Shape 31"/>
          <p:cNvSpPr/>
          <p:nvPr/>
        </p:nvSpPr>
        <p:spPr>
          <a:xfrm>
            <a:off x="5162563" y="2105032"/>
            <a:ext cx="34368" cy="584254"/>
          </a:xfrm>
          <a:custGeom>
            <a:avLst/>
            <a:gdLst/>
            <a:ahLst/>
            <a:cxnLst/>
            <a:rect l="l" t="t" r="r" b="b"/>
            <a:pathLst>
              <a:path w="34368" h="584254">
                <a:moveTo>
                  <a:pt x="0" y="0"/>
                </a:moveTo>
                <a:lnTo>
                  <a:pt x="34368" y="0"/>
                </a:lnTo>
                <a:lnTo>
                  <a:pt x="34368" y="584254"/>
                </a:lnTo>
                <a:lnTo>
                  <a:pt x="0" y="584254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4" name="Shape 32"/>
          <p:cNvSpPr/>
          <p:nvPr/>
        </p:nvSpPr>
        <p:spPr>
          <a:xfrm>
            <a:off x="5282851" y="2225319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68736" y="0"/>
                </a:moveTo>
                <a:lnTo>
                  <a:pt x="274943" y="0"/>
                </a:lnTo>
                <a:cubicBezTo>
                  <a:pt x="312879" y="0"/>
                  <a:pt x="343679" y="30799"/>
                  <a:pt x="343679" y="68736"/>
                </a:cubicBezTo>
                <a:lnTo>
                  <a:pt x="343679" y="274943"/>
                </a:lnTo>
                <a:cubicBezTo>
                  <a:pt x="343679" y="312879"/>
                  <a:pt x="312879" y="343679"/>
                  <a:pt x="274943" y="343679"/>
                </a:cubicBezTo>
                <a:lnTo>
                  <a:pt x="68736" y="343679"/>
                </a:lnTo>
                <a:cubicBezTo>
                  <a:pt x="30799" y="343679"/>
                  <a:pt x="0" y="312879"/>
                  <a:pt x="0" y="274943"/>
                </a:cubicBezTo>
                <a:lnTo>
                  <a:pt x="0" y="68736"/>
                </a:lnTo>
                <a:cubicBezTo>
                  <a:pt x="0" y="30799"/>
                  <a:pt x="30799" y="0"/>
                  <a:pt x="68736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5" name="Text 33"/>
          <p:cNvSpPr/>
          <p:nvPr/>
        </p:nvSpPr>
        <p:spPr>
          <a:xfrm>
            <a:off x="5248483" y="2225319"/>
            <a:ext cx="412414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29633" y="2208135"/>
            <a:ext cx="593704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29633" y="2414342"/>
            <a:ext cx="592845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SSL/TLS, MIME — Data formatting, encryption, compression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62563" y="2758021"/>
            <a:ext cx="6538486" cy="584254"/>
          </a:xfrm>
          <a:custGeom>
            <a:avLst/>
            <a:gdLst/>
            <a:ahLst/>
            <a:cxnLst/>
            <a:rect l="l" t="t" r="r" b="b"/>
            <a:pathLst>
              <a:path w="6538486" h="584254">
                <a:moveTo>
                  <a:pt x="0" y="0"/>
                </a:moveTo>
                <a:lnTo>
                  <a:pt x="6469749" y="0"/>
                </a:lnTo>
                <a:cubicBezTo>
                  <a:pt x="6507711" y="0"/>
                  <a:pt x="6538486" y="30775"/>
                  <a:pt x="6538486" y="68737"/>
                </a:cubicBezTo>
                <a:lnTo>
                  <a:pt x="6538486" y="515516"/>
                </a:lnTo>
                <a:cubicBezTo>
                  <a:pt x="6538486" y="553479"/>
                  <a:pt x="6507711" y="584254"/>
                  <a:pt x="6469749" y="584254"/>
                </a:cubicBezTo>
                <a:lnTo>
                  <a:pt x="0" y="58425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E07A5F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39" name="Shape 37"/>
          <p:cNvSpPr/>
          <p:nvPr/>
        </p:nvSpPr>
        <p:spPr>
          <a:xfrm>
            <a:off x="5162563" y="2758021"/>
            <a:ext cx="34368" cy="584254"/>
          </a:xfrm>
          <a:custGeom>
            <a:avLst/>
            <a:gdLst/>
            <a:ahLst/>
            <a:cxnLst/>
            <a:rect l="l" t="t" r="r" b="b"/>
            <a:pathLst>
              <a:path w="34368" h="584254">
                <a:moveTo>
                  <a:pt x="0" y="0"/>
                </a:moveTo>
                <a:lnTo>
                  <a:pt x="34368" y="0"/>
                </a:lnTo>
                <a:lnTo>
                  <a:pt x="34368" y="584254"/>
                </a:lnTo>
                <a:lnTo>
                  <a:pt x="0" y="584254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5282851" y="2878309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68736" y="0"/>
                </a:moveTo>
                <a:lnTo>
                  <a:pt x="274943" y="0"/>
                </a:lnTo>
                <a:cubicBezTo>
                  <a:pt x="312879" y="0"/>
                  <a:pt x="343679" y="30799"/>
                  <a:pt x="343679" y="68736"/>
                </a:cubicBezTo>
                <a:lnTo>
                  <a:pt x="343679" y="274943"/>
                </a:lnTo>
                <a:cubicBezTo>
                  <a:pt x="343679" y="312879"/>
                  <a:pt x="312879" y="343679"/>
                  <a:pt x="274943" y="343679"/>
                </a:cubicBezTo>
                <a:lnTo>
                  <a:pt x="68736" y="343679"/>
                </a:lnTo>
                <a:cubicBezTo>
                  <a:pt x="30799" y="343679"/>
                  <a:pt x="0" y="312879"/>
                  <a:pt x="0" y="274943"/>
                </a:cubicBezTo>
                <a:lnTo>
                  <a:pt x="0" y="68736"/>
                </a:lnTo>
                <a:cubicBezTo>
                  <a:pt x="0" y="30799"/>
                  <a:pt x="30799" y="0"/>
                  <a:pt x="68736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1" name="Text 39"/>
          <p:cNvSpPr/>
          <p:nvPr/>
        </p:nvSpPr>
        <p:spPr>
          <a:xfrm>
            <a:off x="5248483" y="2878309"/>
            <a:ext cx="412414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729633" y="2861125"/>
            <a:ext cx="593704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Layer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729633" y="3067332"/>
            <a:ext cx="592845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NetBIOS, RPC — Session management and control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162563" y="3411011"/>
            <a:ext cx="6538486" cy="584254"/>
          </a:xfrm>
          <a:custGeom>
            <a:avLst/>
            <a:gdLst/>
            <a:ahLst/>
            <a:cxnLst/>
            <a:rect l="l" t="t" r="r" b="b"/>
            <a:pathLst>
              <a:path w="6538486" h="584254">
                <a:moveTo>
                  <a:pt x="0" y="0"/>
                </a:moveTo>
                <a:lnTo>
                  <a:pt x="6469749" y="0"/>
                </a:lnTo>
                <a:cubicBezTo>
                  <a:pt x="6507711" y="0"/>
                  <a:pt x="6538486" y="30775"/>
                  <a:pt x="6538486" y="68737"/>
                </a:cubicBezTo>
                <a:lnTo>
                  <a:pt x="6538486" y="515516"/>
                </a:lnTo>
                <a:cubicBezTo>
                  <a:pt x="6538486" y="553479"/>
                  <a:pt x="6507711" y="584254"/>
                  <a:pt x="6469749" y="584254"/>
                </a:cubicBezTo>
                <a:lnTo>
                  <a:pt x="0" y="58425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5" name="Shape 43"/>
          <p:cNvSpPr/>
          <p:nvPr/>
        </p:nvSpPr>
        <p:spPr>
          <a:xfrm>
            <a:off x="5162563" y="3411011"/>
            <a:ext cx="34368" cy="584254"/>
          </a:xfrm>
          <a:custGeom>
            <a:avLst/>
            <a:gdLst/>
            <a:ahLst/>
            <a:cxnLst/>
            <a:rect l="l" t="t" r="r" b="b"/>
            <a:pathLst>
              <a:path w="34368" h="584254">
                <a:moveTo>
                  <a:pt x="0" y="0"/>
                </a:moveTo>
                <a:lnTo>
                  <a:pt x="34368" y="0"/>
                </a:lnTo>
                <a:lnTo>
                  <a:pt x="34368" y="584254"/>
                </a:lnTo>
                <a:lnTo>
                  <a:pt x="0" y="584254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6" name="Shape 44"/>
          <p:cNvSpPr/>
          <p:nvPr/>
        </p:nvSpPr>
        <p:spPr>
          <a:xfrm>
            <a:off x="5282851" y="3531298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68736" y="0"/>
                </a:moveTo>
                <a:lnTo>
                  <a:pt x="274943" y="0"/>
                </a:lnTo>
                <a:cubicBezTo>
                  <a:pt x="312879" y="0"/>
                  <a:pt x="343679" y="30799"/>
                  <a:pt x="343679" y="68736"/>
                </a:cubicBezTo>
                <a:lnTo>
                  <a:pt x="343679" y="274943"/>
                </a:lnTo>
                <a:cubicBezTo>
                  <a:pt x="343679" y="312879"/>
                  <a:pt x="312879" y="343679"/>
                  <a:pt x="274943" y="343679"/>
                </a:cubicBezTo>
                <a:lnTo>
                  <a:pt x="68736" y="343679"/>
                </a:lnTo>
                <a:cubicBezTo>
                  <a:pt x="30799" y="343679"/>
                  <a:pt x="0" y="312879"/>
                  <a:pt x="0" y="274943"/>
                </a:cubicBezTo>
                <a:lnTo>
                  <a:pt x="0" y="68736"/>
                </a:lnTo>
                <a:cubicBezTo>
                  <a:pt x="0" y="30799"/>
                  <a:pt x="30799" y="0"/>
                  <a:pt x="68736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7" name="Text 45"/>
          <p:cNvSpPr/>
          <p:nvPr/>
        </p:nvSpPr>
        <p:spPr>
          <a:xfrm>
            <a:off x="5248483" y="3531298"/>
            <a:ext cx="412414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729633" y="3514114"/>
            <a:ext cx="593704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Transport Layer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729633" y="3720321"/>
            <a:ext cx="592845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TCP, UDP — End-to-end communication and reliability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162563" y="4064000"/>
            <a:ext cx="6538486" cy="584254"/>
          </a:xfrm>
          <a:custGeom>
            <a:avLst/>
            <a:gdLst/>
            <a:ahLst/>
            <a:cxnLst/>
            <a:rect l="l" t="t" r="r" b="b"/>
            <a:pathLst>
              <a:path w="6538486" h="584254">
                <a:moveTo>
                  <a:pt x="0" y="0"/>
                </a:moveTo>
                <a:lnTo>
                  <a:pt x="6469749" y="0"/>
                </a:lnTo>
                <a:cubicBezTo>
                  <a:pt x="6507711" y="0"/>
                  <a:pt x="6538486" y="30775"/>
                  <a:pt x="6538486" y="68737"/>
                </a:cubicBezTo>
                <a:lnTo>
                  <a:pt x="6538486" y="515516"/>
                </a:lnTo>
                <a:cubicBezTo>
                  <a:pt x="6538486" y="553479"/>
                  <a:pt x="6507711" y="584254"/>
                  <a:pt x="6469749" y="584254"/>
                </a:cubicBezTo>
                <a:lnTo>
                  <a:pt x="0" y="58425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E07A5F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5162563" y="4064000"/>
            <a:ext cx="34368" cy="584254"/>
          </a:xfrm>
          <a:custGeom>
            <a:avLst/>
            <a:gdLst/>
            <a:ahLst/>
            <a:cxnLst/>
            <a:rect l="l" t="t" r="r" b="b"/>
            <a:pathLst>
              <a:path w="34368" h="584254">
                <a:moveTo>
                  <a:pt x="0" y="0"/>
                </a:moveTo>
                <a:lnTo>
                  <a:pt x="34368" y="0"/>
                </a:lnTo>
                <a:lnTo>
                  <a:pt x="34368" y="584254"/>
                </a:lnTo>
                <a:lnTo>
                  <a:pt x="0" y="584254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2" name="Shape 50"/>
          <p:cNvSpPr/>
          <p:nvPr/>
        </p:nvSpPr>
        <p:spPr>
          <a:xfrm>
            <a:off x="5282851" y="4184288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68736" y="0"/>
                </a:moveTo>
                <a:lnTo>
                  <a:pt x="274943" y="0"/>
                </a:lnTo>
                <a:cubicBezTo>
                  <a:pt x="312879" y="0"/>
                  <a:pt x="343679" y="30799"/>
                  <a:pt x="343679" y="68736"/>
                </a:cubicBezTo>
                <a:lnTo>
                  <a:pt x="343679" y="274943"/>
                </a:lnTo>
                <a:cubicBezTo>
                  <a:pt x="343679" y="312879"/>
                  <a:pt x="312879" y="343679"/>
                  <a:pt x="274943" y="343679"/>
                </a:cubicBezTo>
                <a:lnTo>
                  <a:pt x="68736" y="343679"/>
                </a:lnTo>
                <a:cubicBezTo>
                  <a:pt x="30799" y="343679"/>
                  <a:pt x="0" y="312879"/>
                  <a:pt x="0" y="274943"/>
                </a:cubicBezTo>
                <a:lnTo>
                  <a:pt x="0" y="68736"/>
                </a:lnTo>
                <a:cubicBezTo>
                  <a:pt x="0" y="30799"/>
                  <a:pt x="30799" y="0"/>
                  <a:pt x="68736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3" name="Text 51"/>
          <p:cNvSpPr/>
          <p:nvPr/>
        </p:nvSpPr>
        <p:spPr>
          <a:xfrm>
            <a:off x="5248483" y="4184288"/>
            <a:ext cx="412414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729633" y="4167104"/>
            <a:ext cx="593704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Layer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729633" y="4373311"/>
            <a:ext cx="592845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IP, ICMP, Routing — Logical addressing and path determination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162563" y="4716989"/>
            <a:ext cx="6538486" cy="584254"/>
          </a:xfrm>
          <a:custGeom>
            <a:avLst/>
            <a:gdLst/>
            <a:ahLst/>
            <a:cxnLst/>
            <a:rect l="l" t="t" r="r" b="b"/>
            <a:pathLst>
              <a:path w="6538486" h="584254">
                <a:moveTo>
                  <a:pt x="0" y="0"/>
                </a:moveTo>
                <a:lnTo>
                  <a:pt x="6469749" y="0"/>
                </a:lnTo>
                <a:cubicBezTo>
                  <a:pt x="6507711" y="0"/>
                  <a:pt x="6538486" y="30775"/>
                  <a:pt x="6538486" y="68737"/>
                </a:cubicBezTo>
                <a:lnTo>
                  <a:pt x="6538486" y="515516"/>
                </a:lnTo>
                <a:cubicBezTo>
                  <a:pt x="6538486" y="553479"/>
                  <a:pt x="6507711" y="584254"/>
                  <a:pt x="6469749" y="584254"/>
                </a:cubicBezTo>
                <a:lnTo>
                  <a:pt x="0" y="58425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57" name="Shape 55"/>
          <p:cNvSpPr/>
          <p:nvPr/>
        </p:nvSpPr>
        <p:spPr>
          <a:xfrm>
            <a:off x="5162563" y="4716989"/>
            <a:ext cx="34368" cy="584254"/>
          </a:xfrm>
          <a:custGeom>
            <a:avLst/>
            <a:gdLst/>
            <a:ahLst/>
            <a:cxnLst/>
            <a:rect l="l" t="t" r="r" b="b"/>
            <a:pathLst>
              <a:path w="34368" h="584254">
                <a:moveTo>
                  <a:pt x="0" y="0"/>
                </a:moveTo>
                <a:lnTo>
                  <a:pt x="34368" y="0"/>
                </a:lnTo>
                <a:lnTo>
                  <a:pt x="34368" y="584254"/>
                </a:lnTo>
                <a:lnTo>
                  <a:pt x="0" y="584254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8" name="Shape 56"/>
          <p:cNvSpPr/>
          <p:nvPr/>
        </p:nvSpPr>
        <p:spPr>
          <a:xfrm>
            <a:off x="5282851" y="4837277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68736" y="0"/>
                </a:moveTo>
                <a:lnTo>
                  <a:pt x="274943" y="0"/>
                </a:lnTo>
                <a:cubicBezTo>
                  <a:pt x="312879" y="0"/>
                  <a:pt x="343679" y="30799"/>
                  <a:pt x="343679" y="68736"/>
                </a:cubicBezTo>
                <a:lnTo>
                  <a:pt x="343679" y="274943"/>
                </a:lnTo>
                <a:cubicBezTo>
                  <a:pt x="343679" y="312879"/>
                  <a:pt x="312879" y="343679"/>
                  <a:pt x="274943" y="343679"/>
                </a:cubicBezTo>
                <a:lnTo>
                  <a:pt x="68736" y="343679"/>
                </a:lnTo>
                <a:cubicBezTo>
                  <a:pt x="30799" y="343679"/>
                  <a:pt x="0" y="312879"/>
                  <a:pt x="0" y="274943"/>
                </a:cubicBezTo>
                <a:lnTo>
                  <a:pt x="0" y="68736"/>
                </a:lnTo>
                <a:cubicBezTo>
                  <a:pt x="0" y="30799"/>
                  <a:pt x="30799" y="0"/>
                  <a:pt x="68736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9" name="Text 57"/>
          <p:cNvSpPr/>
          <p:nvPr/>
        </p:nvSpPr>
        <p:spPr>
          <a:xfrm>
            <a:off x="5248483" y="4837277"/>
            <a:ext cx="412414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729633" y="4820093"/>
            <a:ext cx="593704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Link Layer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729633" y="5026300"/>
            <a:ext cx="592845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Ethernet, Wi-Fi, PPP — Node-to-node data transfer, MAC addressing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162563" y="5369979"/>
            <a:ext cx="6538486" cy="584254"/>
          </a:xfrm>
          <a:custGeom>
            <a:avLst/>
            <a:gdLst/>
            <a:ahLst/>
            <a:cxnLst/>
            <a:rect l="l" t="t" r="r" b="b"/>
            <a:pathLst>
              <a:path w="6538486" h="584254">
                <a:moveTo>
                  <a:pt x="0" y="0"/>
                </a:moveTo>
                <a:lnTo>
                  <a:pt x="6469749" y="0"/>
                </a:lnTo>
                <a:cubicBezTo>
                  <a:pt x="6507711" y="0"/>
                  <a:pt x="6538486" y="30775"/>
                  <a:pt x="6538486" y="68737"/>
                </a:cubicBezTo>
                <a:lnTo>
                  <a:pt x="6538486" y="515516"/>
                </a:lnTo>
                <a:cubicBezTo>
                  <a:pt x="6538486" y="553479"/>
                  <a:pt x="6507711" y="584254"/>
                  <a:pt x="6469749" y="584254"/>
                </a:cubicBezTo>
                <a:lnTo>
                  <a:pt x="0" y="58425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E07A5F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63" name="Shape 61"/>
          <p:cNvSpPr/>
          <p:nvPr/>
        </p:nvSpPr>
        <p:spPr>
          <a:xfrm>
            <a:off x="5162563" y="5369979"/>
            <a:ext cx="34368" cy="584254"/>
          </a:xfrm>
          <a:custGeom>
            <a:avLst/>
            <a:gdLst/>
            <a:ahLst/>
            <a:cxnLst/>
            <a:rect l="l" t="t" r="r" b="b"/>
            <a:pathLst>
              <a:path w="34368" h="584254">
                <a:moveTo>
                  <a:pt x="0" y="0"/>
                </a:moveTo>
                <a:lnTo>
                  <a:pt x="34368" y="0"/>
                </a:lnTo>
                <a:lnTo>
                  <a:pt x="34368" y="584254"/>
                </a:lnTo>
                <a:lnTo>
                  <a:pt x="0" y="584254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4" name="Shape 62"/>
          <p:cNvSpPr/>
          <p:nvPr/>
        </p:nvSpPr>
        <p:spPr>
          <a:xfrm>
            <a:off x="5282851" y="5490266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68736" y="0"/>
                </a:moveTo>
                <a:lnTo>
                  <a:pt x="274943" y="0"/>
                </a:lnTo>
                <a:cubicBezTo>
                  <a:pt x="312879" y="0"/>
                  <a:pt x="343679" y="30799"/>
                  <a:pt x="343679" y="68736"/>
                </a:cubicBezTo>
                <a:lnTo>
                  <a:pt x="343679" y="274943"/>
                </a:lnTo>
                <a:cubicBezTo>
                  <a:pt x="343679" y="312879"/>
                  <a:pt x="312879" y="343679"/>
                  <a:pt x="274943" y="343679"/>
                </a:cubicBezTo>
                <a:lnTo>
                  <a:pt x="68736" y="343679"/>
                </a:lnTo>
                <a:cubicBezTo>
                  <a:pt x="30799" y="343679"/>
                  <a:pt x="0" y="312879"/>
                  <a:pt x="0" y="274943"/>
                </a:cubicBezTo>
                <a:lnTo>
                  <a:pt x="0" y="68736"/>
                </a:lnTo>
                <a:cubicBezTo>
                  <a:pt x="0" y="30799"/>
                  <a:pt x="30799" y="0"/>
                  <a:pt x="68736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5" name="Text 63"/>
          <p:cNvSpPr/>
          <p:nvPr/>
        </p:nvSpPr>
        <p:spPr>
          <a:xfrm>
            <a:off x="5248483" y="5490266"/>
            <a:ext cx="412414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729633" y="5473082"/>
            <a:ext cx="593704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Layer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729633" y="5679290"/>
            <a:ext cx="592845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Cables, radio signals — Physical transmission of raw bits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60863" y="6237767"/>
            <a:ext cx="11487459" cy="412414"/>
          </a:xfrm>
          <a:custGeom>
            <a:avLst/>
            <a:gdLst/>
            <a:ahLst/>
            <a:cxnLst/>
            <a:rect l="l" t="t" r="r" b="b"/>
            <a:pathLst>
              <a:path w="11487459" h="412414">
                <a:moveTo>
                  <a:pt x="0" y="0"/>
                </a:moveTo>
                <a:lnTo>
                  <a:pt x="11418722" y="0"/>
                </a:lnTo>
                <a:cubicBezTo>
                  <a:pt x="11456684" y="0"/>
                  <a:pt x="11487459" y="30775"/>
                  <a:pt x="11487459" y="68737"/>
                </a:cubicBezTo>
                <a:lnTo>
                  <a:pt x="11487459" y="343677"/>
                </a:lnTo>
                <a:cubicBezTo>
                  <a:pt x="11487459" y="381640"/>
                  <a:pt x="11456684" y="412414"/>
                  <a:pt x="11418722" y="412414"/>
                </a:cubicBezTo>
                <a:lnTo>
                  <a:pt x="0" y="41241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9" name="Shape 67"/>
          <p:cNvSpPr/>
          <p:nvPr/>
        </p:nvSpPr>
        <p:spPr>
          <a:xfrm>
            <a:off x="360863" y="6237767"/>
            <a:ext cx="34368" cy="412414"/>
          </a:xfrm>
          <a:custGeom>
            <a:avLst/>
            <a:gdLst/>
            <a:ahLst/>
            <a:cxnLst/>
            <a:rect l="l" t="t" r="r" b="b"/>
            <a:pathLst>
              <a:path w="34368" h="412414">
                <a:moveTo>
                  <a:pt x="0" y="0"/>
                </a:moveTo>
                <a:lnTo>
                  <a:pt x="34368" y="0"/>
                </a:lnTo>
                <a:lnTo>
                  <a:pt x="34368" y="412414"/>
                </a:lnTo>
                <a:lnTo>
                  <a:pt x="0" y="412414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0" name="Shape 68"/>
          <p:cNvSpPr/>
          <p:nvPr/>
        </p:nvSpPr>
        <p:spPr>
          <a:xfrm>
            <a:off x="498334" y="6375239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68736" y="137471"/>
                </a:moveTo>
                <a:cubicBezTo>
                  <a:pt x="106672" y="137471"/>
                  <a:pt x="137471" y="106672"/>
                  <a:pt x="137471" y="68736"/>
                </a:cubicBezTo>
                <a:cubicBezTo>
                  <a:pt x="137471" y="30799"/>
                  <a:pt x="106672" y="0"/>
                  <a:pt x="68736" y="0"/>
                </a:cubicBezTo>
                <a:cubicBezTo>
                  <a:pt x="30799" y="0"/>
                  <a:pt x="0" y="30799"/>
                  <a:pt x="0" y="68736"/>
                </a:cubicBezTo>
                <a:cubicBezTo>
                  <a:pt x="0" y="106672"/>
                  <a:pt x="30799" y="137471"/>
                  <a:pt x="68736" y="137471"/>
                </a:cubicBezTo>
                <a:close/>
                <a:moveTo>
                  <a:pt x="60144" y="42960"/>
                </a:moveTo>
                <a:cubicBezTo>
                  <a:pt x="60144" y="38218"/>
                  <a:pt x="63994" y="34368"/>
                  <a:pt x="68736" y="34368"/>
                </a:cubicBezTo>
                <a:cubicBezTo>
                  <a:pt x="73478" y="34368"/>
                  <a:pt x="77328" y="38218"/>
                  <a:pt x="77328" y="42960"/>
                </a:cubicBezTo>
                <a:cubicBezTo>
                  <a:pt x="77328" y="47702"/>
                  <a:pt x="73478" y="51552"/>
                  <a:pt x="68736" y="51552"/>
                </a:cubicBezTo>
                <a:cubicBezTo>
                  <a:pt x="63994" y="51552"/>
                  <a:pt x="60144" y="47702"/>
                  <a:pt x="60144" y="42960"/>
                </a:cubicBezTo>
                <a:close/>
                <a:moveTo>
                  <a:pt x="57996" y="60144"/>
                </a:moveTo>
                <a:lnTo>
                  <a:pt x="70884" y="60144"/>
                </a:lnTo>
                <a:cubicBezTo>
                  <a:pt x="74455" y="60144"/>
                  <a:pt x="77328" y="63017"/>
                  <a:pt x="77328" y="66588"/>
                </a:cubicBezTo>
                <a:lnTo>
                  <a:pt x="77328" y="90216"/>
                </a:lnTo>
                <a:lnTo>
                  <a:pt x="79476" y="90216"/>
                </a:lnTo>
                <a:cubicBezTo>
                  <a:pt x="83047" y="90216"/>
                  <a:pt x="85920" y="93089"/>
                  <a:pt x="85920" y="96660"/>
                </a:cubicBezTo>
                <a:cubicBezTo>
                  <a:pt x="85920" y="100231"/>
                  <a:pt x="83047" y="103104"/>
                  <a:pt x="79476" y="103104"/>
                </a:cubicBezTo>
                <a:lnTo>
                  <a:pt x="57996" y="103104"/>
                </a:lnTo>
                <a:cubicBezTo>
                  <a:pt x="54425" y="103104"/>
                  <a:pt x="51552" y="100231"/>
                  <a:pt x="51552" y="96660"/>
                </a:cubicBezTo>
                <a:cubicBezTo>
                  <a:pt x="51552" y="93089"/>
                  <a:pt x="54425" y="90216"/>
                  <a:pt x="57996" y="90216"/>
                </a:cubicBezTo>
                <a:lnTo>
                  <a:pt x="64440" y="90216"/>
                </a:lnTo>
                <a:lnTo>
                  <a:pt x="64440" y="73032"/>
                </a:lnTo>
                <a:lnTo>
                  <a:pt x="57996" y="73032"/>
                </a:lnTo>
                <a:cubicBezTo>
                  <a:pt x="54425" y="73032"/>
                  <a:pt x="51552" y="70159"/>
                  <a:pt x="51552" y="66588"/>
                </a:cubicBezTo>
                <a:cubicBezTo>
                  <a:pt x="51552" y="63017"/>
                  <a:pt x="54425" y="60144"/>
                  <a:pt x="57996" y="6014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1" name="Text 69"/>
          <p:cNvSpPr/>
          <p:nvPr/>
        </p:nvSpPr>
        <p:spPr>
          <a:xfrm>
            <a:off x="699491" y="6340871"/>
            <a:ext cx="1111446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OSI Model is a </a:t>
            </a:r>
            <a:pPr>
              <a:lnSpc>
                <a:spcPct val="130000"/>
              </a:lnSpc>
            </a:pPr>
            <a:r>
              <a:rPr lang="en-US" sz="108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 model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a protocol suite. TCP/IP is used more in practice, but OSI remains vital for teaching and conceptual clarity.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76101" y="43815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371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OSI Layers Deep Dive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033462"/>
            <a:ext cx="3695700" cy="1733550"/>
          </a:xfrm>
          <a:custGeom>
            <a:avLst/>
            <a:gdLst/>
            <a:ahLst/>
            <a:cxnLst/>
            <a:rect l="l" t="t" r="r" b="b"/>
            <a:pathLst>
              <a:path w="3695700" h="1733550">
                <a:moveTo>
                  <a:pt x="114293" y="0"/>
                </a:moveTo>
                <a:lnTo>
                  <a:pt x="3581407" y="0"/>
                </a:lnTo>
                <a:cubicBezTo>
                  <a:pt x="3644529" y="0"/>
                  <a:pt x="3695700" y="51171"/>
                  <a:pt x="3695700" y="114293"/>
                </a:cubicBezTo>
                <a:lnTo>
                  <a:pt x="3695700" y="1619257"/>
                </a:lnTo>
                <a:cubicBezTo>
                  <a:pt x="3695700" y="1682379"/>
                  <a:pt x="3644529" y="1733550"/>
                  <a:pt x="3581407" y="1733550"/>
                </a:cubicBezTo>
                <a:lnTo>
                  <a:pt x="114293" y="1733550"/>
                </a:lnTo>
                <a:cubicBezTo>
                  <a:pt x="51171" y="1733550"/>
                  <a:pt x="0" y="1682379"/>
                  <a:pt x="0" y="16192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E07A5F">
                  <a:alpha val="10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4825" y="1152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471488" y="11525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5825" y="1171575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4825" y="1533525"/>
            <a:ext cx="352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Closest to end users. Provides network services to applications.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4825" y="2043113"/>
            <a:ext cx="3457575" cy="495300"/>
          </a:xfrm>
          <a:custGeom>
            <a:avLst/>
            <a:gdLst/>
            <a:ahLst/>
            <a:cxnLst/>
            <a:rect l="l" t="t" r="r" b="b"/>
            <a:pathLst>
              <a:path w="3457575" h="495300">
                <a:moveTo>
                  <a:pt x="38098" y="0"/>
                </a:moveTo>
                <a:lnTo>
                  <a:pt x="3419477" y="0"/>
                </a:lnTo>
                <a:cubicBezTo>
                  <a:pt x="3440518" y="0"/>
                  <a:pt x="3457575" y="17057"/>
                  <a:pt x="3457575" y="38098"/>
                </a:cubicBezTo>
                <a:lnTo>
                  <a:pt x="3457575" y="457202"/>
                </a:lnTo>
                <a:cubicBezTo>
                  <a:pt x="3457575" y="478243"/>
                  <a:pt x="3440518" y="495300"/>
                  <a:pt x="34194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81025" y="2119313"/>
            <a:ext cx="3362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1025" y="2309813"/>
            <a:ext cx="3362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HTTP, FTP, SMTP, DNS, Telnet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2887563"/>
            <a:ext cx="3695700" cy="1733550"/>
          </a:xfrm>
          <a:custGeom>
            <a:avLst/>
            <a:gdLst/>
            <a:ahLst/>
            <a:cxnLst/>
            <a:rect l="l" t="t" r="r" b="b"/>
            <a:pathLst>
              <a:path w="3695700" h="1733550">
                <a:moveTo>
                  <a:pt x="114293" y="0"/>
                </a:moveTo>
                <a:lnTo>
                  <a:pt x="3581407" y="0"/>
                </a:lnTo>
                <a:cubicBezTo>
                  <a:pt x="3644529" y="0"/>
                  <a:pt x="3695700" y="51171"/>
                  <a:pt x="3695700" y="114293"/>
                </a:cubicBezTo>
                <a:lnTo>
                  <a:pt x="3695700" y="1619257"/>
                </a:lnTo>
                <a:cubicBezTo>
                  <a:pt x="3695700" y="1682379"/>
                  <a:pt x="3644529" y="1733550"/>
                  <a:pt x="3581407" y="1733550"/>
                </a:cubicBezTo>
                <a:lnTo>
                  <a:pt x="114293" y="1733550"/>
                </a:lnTo>
                <a:cubicBezTo>
                  <a:pt x="51171" y="1733550"/>
                  <a:pt x="0" y="1682379"/>
                  <a:pt x="0" y="16192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4825" y="300662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6" name="Text 14"/>
          <p:cNvSpPr/>
          <p:nvPr/>
        </p:nvSpPr>
        <p:spPr>
          <a:xfrm>
            <a:off x="471488" y="3006626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5825" y="3025676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4825" y="3387626"/>
            <a:ext cx="352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formatting, encryption, compression. Ensures readability.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4825" y="3897213"/>
            <a:ext cx="3457575" cy="495300"/>
          </a:xfrm>
          <a:custGeom>
            <a:avLst/>
            <a:gdLst/>
            <a:ahLst/>
            <a:cxnLst/>
            <a:rect l="l" t="t" r="r" b="b"/>
            <a:pathLst>
              <a:path w="3457575" h="495300">
                <a:moveTo>
                  <a:pt x="38098" y="0"/>
                </a:moveTo>
                <a:lnTo>
                  <a:pt x="3419477" y="0"/>
                </a:lnTo>
                <a:cubicBezTo>
                  <a:pt x="3440518" y="0"/>
                  <a:pt x="3457575" y="17057"/>
                  <a:pt x="3457575" y="38098"/>
                </a:cubicBezTo>
                <a:lnTo>
                  <a:pt x="3457575" y="457202"/>
                </a:lnTo>
                <a:cubicBezTo>
                  <a:pt x="3457575" y="478243"/>
                  <a:pt x="3440518" y="495300"/>
                  <a:pt x="34194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81025" y="3973413"/>
            <a:ext cx="3362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1025" y="4163913"/>
            <a:ext cx="3362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SSL/TLS, MIME, ASCII/Unicode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5763" y="4741813"/>
            <a:ext cx="3695700" cy="1733550"/>
          </a:xfrm>
          <a:custGeom>
            <a:avLst/>
            <a:gdLst/>
            <a:ahLst/>
            <a:cxnLst/>
            <a:rect l="l" t="t" r="r" b="b"/>
            <a:pathLst>
              <a:path w="3695700" h="1733550">
                <a:moveTo>
                  <a:pt x="114293" y="0"/>
                </a:moveTo>
                <a:lnTo>
                  <a:pt x="3581407" y="0"/>
                </a:lnTo>
                <a:cubicBezTo>
                  <a:pt x="3644529" y="0"/>
                  <a:pt x="3695700" y="51171"/>
                  <a:pt x="3695700" y="114293"/>
                </a:cubicBezTo>
                <a:lnTo>
                  <a:pt x="3695700" y="1619257"/>
                </a:lnTo>
                <a:cubicBezTo>
                  <a:pt x="3695700" y="1682379"/>
                  <a:pt x="3644529" y="1733550"/>
                  <a:pt x="3581407" y="1733550"/>
                </a:cubicBezTo>
                <a:lnTo>
                  <a:pt x="114293" y="1733550"/>
                </a:lnTo>
                <a:cubicBezTo>
                  <a:pt x="51171" y="1733550"/>
                  <a:pt x="0" y="1682379"/>
                  <a:pt x="0" y="16192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E07A5F">
                  <a:alpha val="10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825" y="48608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71488" y="486087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5825" y="4879925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4825" y="5241875"/>
            <a:ext cx="352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 sessions between applications — establishment, maintenance, termination.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4825" y="5751463"/>
            <a:ext cx="3457575" cy="495300"/>
          </a:xfrm>
          <a:custGeom>
            <a:avLst/>
            <a:gdLst/>
            <a:ahLst/>
            <a:cxnLst/>
            <a:rect l="l" t="t" r="r" b="b"/>
            <a:pathLst>
              <a:path w="3457575" h="495300">
                <a:moveTo>
                  <a:pt x="38098" y="0"/>
                </a:moveTo>
                <a:lnTo>
                  <a:pt x="3419477" y="0"/>
                </a:lnTo>
                <a:cubicBezTo>
                  <a:pt x="3440518" y="0"/>
                  <a:pt x="3457575" y="17057"/>
                  <a:pt x="3457575" y="38098"/>
                </a:cubicBezTo>
                <a:lnTo>
                  <a:pt x="3457575" y="457202"/>
                </a:lnTo>
                <a:cubicBezTo>
                  <a:pt x="3457575" y="478243"/>
                  <a:pt x="3440518" y="495300"/>
                  <a:pt x="34194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81025" y="5827663"/>
            <a:ext cx="3362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Protocols: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1025" y="6018163"/>
            <a:ext cx="3362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NetBIOS, RPC, APIs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46513" y="1033462"/>
            <a:ext cx="3695700" cy="2657475"/>
          </a:xfrm>
          <a:custGeom>
            <a:avLst/>
            <a:gdLst/>
            <a:ahLst/>
            <a:cxnLst/>
            <a:rect l="l" t="t" r="r" b="b"/>
            <a:pathLst>
              <a:path w="3695700" h="2657475">
                <a:moveTo>
                  <a:pt x="114298" y="0"/>
                </a:moveTo>
                <a:lnTo>
                  <a:pt x="3581402" y="0"/>
                </a:lnTo>
                <a:cubicBezTo>
                  <a:pt x="3644485" y="0"/>
                  <a:pt x="3695700" y="51215"/>
                  <a:pt x="3695700" y="114298"/>
                </a:cubicBezTo>
                <a:lnTo>
                  <a:pt x="3695700" y="2543177"/>
                </a:lnTo>
                <a:cubicBezTo>
                  <a:pt x="3695700" y="2606260"/>
                  <a:pt x="3644485" y="2657475"/>
                  <a:pt x="3581402" y="2657475"/>
                </a:cubicBezTo>
                <a:lnTo>
                  <a:pt x="114298" y="2657475"/>
                </a:lnTo>
                <a:cubicBezTo>
                  <a:pt x="51215" y="2657475"/>
                  <a:pt x="0" y="2606260"/>
                  <a:pt x="0" y="254317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65575" y="1152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2" name="Text 30"/>
          <p:cNvSpPr/>
          <p:nvPr/>
        </p:nvSpPr>
        <p:spPr>
          <a:xfrm>
            <a:off x="4332238" y="11525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46575" y="1171575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65575" y="1533525"/>
            <a:ext cx="352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communication, reliability, flow control, error checking.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65575" y="2043113"/>
            <a:ext cx="1695450" cy="495300"/>
          </a:xfrm>
          <a:custGeom>
            <a:avLst/>
            <a:gdLst/>
            <a:ahLst/>
            <a:cxnLst/>
            <a:rect l="l" t="t" r="r" b="b"/>
            <a:pathLst>
              <a:path w="1695450" h="495300">
                <a:moveTo>
                  <a:pt x="38098" y="0"/>
                </a:moveTo>
                <a:lnTo>
                  <a:pt x="1657352" y="0"/>
                </a:lnTo>
                <a:cubicBezTo>
                  <a:pt x="1678393" y="0"/>
                  <a:pt x="1695450" y="17057"/>
                  <a:pt x="1695450" y="38098"/>
                </a:cubicBezTo>
                <a:lnTo>
                  <a:pt x="1695450" y="457202"/>
                </a:lnTo>
                <a:cubicBezTo>
                  <a:pt x="1695450" y="478243"/>
                  <a:pt x="1678393" y="495300"/>
                  <a:pt x="165735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441775" y="2119313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41775" y="2309813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Reliable, ordered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33951" y="2043113"/>
            <a:ext cx="1695450" cy="495300"/>
          </a:xfrm>
          <a:custGeom>
            <a:avLst/>
            <a:gdLst/>
            <a:ahLst/>
            <a:cxnLst/>
            <a:rect l="l" t="t" r="r" b="b"/>
            <a:pathLst>
              <a:path w="1695450" h="495300">
                <a:moveTo>
                  <a:pt x="38098" y="0"/>
                </a:moveTo>
                <a:lnTo>
                  <a:pt x="1657352" y="0"/>
                </a:lnTo>
                <a:cubicBezTo>
                  <a:pt x="1678393" y="0"/>
                  <a:pt x="1695450" y="17057"/>
                  <a:pt x="1695450" y="38098"/>
                </a:cubicBezTo>
                <a:lnTo>
                  <a:pt x="1695450" y="457202"/>
                </a:lnTo>
                <a:cubicBezTo>
                  <a:pt x="1695450" y="478243"/>
                  <a:pt x="1678393" y="495300"/>
                  <a:pt x="165735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210151" y="2119313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UDP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10151" y="2309813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Fast, no guarantee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46513" y="3814763"/>
            <a:ext cx="3695700" cy="2657475"/>
          </a:xfrm>
          <a:custGeom>
            <a:avLst/>
            <a:gdLst/>
            <a:ahLst/>
            <a:cxnLst/>
            <a:rect l="l" t="t" r="r" b="b"/>
            <a:pathLst>
              <a:path w="3695700" h="2657475">
                <a:moveTo>
                  <a:pt x="114298" y="0"/>
                </a:moveTo>
                <a:lnTo>
                  <a:pt x="3581402" y="0"/>
                </a:lnTo>
                <a:cubicBezTo>
                  <a:pt x="3644485" y="0"/>
                  <a:pt x="3695700" y="51215"/>
                  <a:pt x="3695700" y="114298"/>
                </a:cubicBezTo>
                <a:lnTo>
                  <a:pt x="3695700" y="2543177"/>
                </a:lnTo>
                <a:cubicBezTo>
                  <a:pt x="3695700" y="2606260"/>
                  <a:pt x="3644485" y="2657475"/>
                  <a:pt x="3581402" y="2657475"/>
                </a:cubicBezTo>
                <a:lnTo>
                  <a:pt x="114298" y="2657475"/>
                </a:lnTo>
                <a:cubicBezTo>
                  <a:pt x="51215" y="2657475"/>
                  <a:pt x="0" y="2606260"/>
                  <a:pt x="0" y="254317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E07A5F">
                  <a:alpha val="10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65575" y="39338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3" name="Text 41"/>
          <p:cNvSpPr/>
          <p:nvPr/>
        </p:nvSpPr>
        <p:spPr>
          <a:xfrm>
            <a:off x="4332238" y="39338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746575" y="3952875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365575" y="4314825"/>
            <a:ext cx="352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Routing, logical addressing (IP), path determination across networks.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65575" y="4824413"/>
            <a:ext cx="3457575" cy="495300"/>
          </a:xfrm>
          <a:custGeom>
            <a:avLst/>
            <a:gdLst/>
            <a:ahLst/>
            <a:cxnLst/>
            <a:rect l="l" t="t" r="r" b="b"/>
            <a:pathLst>
              <a:path w="3457575" h="495300">
                <a:moveTo>
                  <a:pt x="38098" y="0"/>
                </a:moveTo>
                <a:lnTo>
                  <a:pt x="3419477" y="0"/>
                </a:lnTo>
                <a:cubicBezTo>
                  <a:pt x="3440518" y="0"/>
                  <a:pt x="3457575" y="17057"/>
                  <a:pt x="3457575" y="38098"/>
                </a:cubicBezTo>
                <a:lnTo>
                  <a:pt x="3457575" y="457202"/>
                </a:lnTo>
                <a:cubicBezTo>
                  <a:pt x="3457575" y="478243"/>
                  <a:pt x="3440518" y="495300"/>
                  <a:pt x="34194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441775" y="4900613"/>
            <a:ext cx="3362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Protocols: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441775" y="5091113"/>
            <a:ext cx="3362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IP, ICMP, IPsec, OSPF, BGP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07263" y="1033462"/>
            <a:ext cx="3695700" cy="2000250"/>
          </a:xfrm>
          <a:custGeom>
            <a:avLst/>
            <a:gdLst/>
            <a:ahLst/>
            <a:cxnLst/>
            <a:rect l="l" t="t" r="r" b="b"/>
            <a:pathLst>
              <a:path w="3695700" h="2000250">
                <a:moveTo>
                  <a:pt x="114294" y="0"/>
                </a:moveTo>
                <a:lnTo>
                  <a:pt x="3581406" y="0"/>
                </a:lnTo>
                <a:cubicBezTo>
                  <a:pt x="3644486" y="0"/>
                  <a:pt x="3695700" y="51214"/>
                  <a:pt x="3695700" y="114294"/>
                </a:cubicBezTo>
                <a:lnTo>
                  <a:pt x="3695700" y="1885956"/>
                </a:lnTo>
                <a:cubicBezTo>
                  <a:pt x="3695700" y="1949036"/>
                  <a:pt x="3644486" y="2000250"/>
                  <a:pt x="3581406" y="2000250"/>
                </a:cubicBezTo>
                <a:lnTo>
                  <a:pt x="114294" y="2000250"/>
                </a:lnTo>
                <a:cubicBezTo>
                  <a:pt x="51214" y="2000250"/>
                  <a:pt x="0" y="1949036"/>
                  <a:pt x="0" y="188595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6326" y="1152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1" name="Text 49"/>
          <p:cNvSpPr/>
          <p:nvPr/>
        </p:nvSpPr>
        <p:spPr>
          <a:xfrm>
            <a:off x="8192988" y="11525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07326" y="117157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Link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26326" y="1533525"/>
            <a:ext cx="352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Node-to-node transfer, MAC addressing, error detection on physical layer.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26326" y="2043113"/>
            <a:ext cx="3457575" cy="495300"/>
          </a:xfrm>
          <a:custGeom>
            <a:avLst/>
            <a:gdLst/>
            <a:ahLst/>
            <a:cxnLst/>
            <a:rect l="l" t="t" r="r" b="b"/>
            <a:pathLst>
              <a:path w="3457575" h="495300">
                <a:moveTo>
                  <a:pt x="38098" y="0"/>
                </a:moveTo>
                <a:lnTo>
                  <a:pt x="3419477" y="0"/>
                </a:lnTo>
                <a:cubicBezTo>
                  <a:pt x="3440518" y="0"/>
                  <a:pt x="3457575" y="17057"/>
                  <a:pt x="3457575" y="38098"/>
                </a:cubicBezTo>
                <a:lnTo>
                  <a:pt x="3457575" y="457202"/>
                </a:lnTo>
                <a:cubicBezTo>
                  <a:pt x="3457575" y="478243"/>
                  <a:pt x="3440518" y="495300"/>
                  <a:pt x="34194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302526" y="2119313"/>
            <a:ext cx="3362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Technologies: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02526" y="2309813"/>
            <a:ext cx="3362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Ethernet, Wi-Fi, PPP, VLANs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07263" y="3156347"/>
            <a:ext cx="3695700" cy="2000250"/>
          </a:xfrm>
          <a:custGeom>
            <a:avLst/>
            <a:gdLst/>
            <a:ahLst/>
            <a:cxnLst/>
            <a:rect l="l" t="t" r="r" b="b"/>
            <a:pathLst>
              <a:path w="3695700" h="2000250">
                <a:moveTo>
                  <a:pt x="114294" y="0"/>
                </a:moveTo>
                <a:lnTo>
                  <a:pt x="3581406" y="0"/>
                </a:lnTo>
                <a:cubicBezTo>
                  <a:pt x="3644486" y="0"/>
                  <a:pt x="3695700" y="51214"/>
                  <a:pt x="3695700" y="114294"/>
                </a:cubicBezTo>
                <a:lnTo>
                  <a:pt x="3695700" y="1885956"/>
                </a:lnTo>
                <a:cubicBezTo>
                  <a:pt x="3695700" y="1949036"/>
                  <a:pt x="3644486" y="2000250"/>
                  <a:pt x="3581406" y="2000250"/>
                </a:cubicBezTo>
                <a:lnTo>
                  <a:pt x="114294" y="2000250"/>
                </a:lnTo>
                <a:cubicBezTo>
                  <a:pt x="51214" y="2000250"/>
                  <a:pt x="0" y="1949036"/>
                  <a:pt x="0" y="188595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E07A5F">
                  <a:alpha val="10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26326" y="327540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9" name="Text 57"/>
          <p:cNvSpPr/>
          <p:nvPr/>
        </p:nvSpPr>
        <p:spPr>
          <a:xfrm>
            <a:off x="8192988" y="327540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07326" y="3294459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Physical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226326" y="3656409"/>
            <a:ext cx="352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transmission of raw bits — cables, signals, connectors, radio waves.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26326" y="4165997"/>
            <a:ext cx="3457575" cy="495300"/>
          </a:xfrm>
          <a:custGeom>
            <a:avLst/>
            <a:gdLst/>
            <a:ahLst/>
            <a:cxnLst/>
            <a:rect l="l" t="t" r="r" b="b"/>
            <a:pathLst>
              <a:path w="3457575" h="495300">
                <a:moveTo>
                  <a:pt x="38098" y="0"/>
                </a:moveTo>
                <a:lnTo>
                  <a:pt x="3419477" y="0"/>
                </a:lnTo>
                <a:cubicBezTo>
                  <a:pt x="3440518" y="0"/>
                  <a:pt x="3457575" y="17057"/>
                  <a:pt x="3457575" y="38098"/>
                </a:cubicBezTo>
                <a:lnTo>
                  <a:pt x="3457575" y="457202"/>
                </a:lnTo>
                <a:cubicBezTo>
                  <a:pt x="3457575" y="478243"/>
                  <a:pt x="3440518" y="495300"/>
                  <a:pt x="34194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302526" y="4242197"/>
            <a:ext cx="3362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Media: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02526" y="4432697"/>
            <a:ext cx="3362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Fiber, twisted pair, Wi-Fi signals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107263" y="5279231"/>
            <a:ext cx="3695700" cy="1190625"/>
          </a:xfrm>
          <a:custGeom>
            <a:avLst/>
            <a:gdLst/>
            <a:ahLst/>
            <a:cxnLst/>
            <a:rect l="l" t="t" r="r" b="b"/>
            <a:pathLst>
              <a:path w="3695700" h="1190625">
                <a:moveTo>
                  <a:pt x="114300" y="0"/>
                </a:moveTo>
                <a:lnTo>
                  <a:pt x="3581400" y="0"/>
                </a:lnTo>
                <a:cubicBezTo>
                  <a:pt x="3644484" y="0"/>
                  <a:pt x="3695700" y="51216"/>
                  <a:pt x="3695700" y="114300"/>
                </a:cubicBezTo>
                <a:lnTo>
                  <a:pt x="3695700" y="1076325"/>
                </a:lnTo>
                <a:cubicBezTo>
                  <a:pt x="3695700" y="1139409"/>
                  <a:pt x="3644484" y="1190625"/>
                  <a:pt x="3581400" y="1190625"/>
                </a:cubicBezTo>
                <a:lnTo>
                  <a:pt x="114300" y="1190625"/>
                </a:lnTo>
                <a:cubicBezTo>
                  <a:pt x="51216" y="1190625"/>
                  <a:pt x="0" y="1139409"/>
                  <a:pt x="0" y="10763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45376" y="543639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7" name="Text 65"/>
          <p:cNvSpPr/>
          <p:nvPr/>
        </p:nvSpPr>
        <p:spPr>
          <a:xfrm>
            <a:off x="8416826" y="5398294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Encapsulation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226326" y="5703094"/>
            <a:ext cx="3524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layer adds its own header information as data moves down the stack — like putting a letter in increasingly larger envelopes.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96751" y="365125"/>
            <a:ext cx="230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0250" y="317500"/>
            <a:ext cx="3714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TCP/IP Model Comparison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69850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21469" y="861219"/>
            <a:ext cx="5707063" cy="1881187"/>
          </a:xfrm>
          <a:custGeom>
            <a:avLst/>
            <a:gdLst/>
            <a:ahLst/>
            <a:cxnLst/>
            <a:rect l="l" t="t" r="r" b="b"/>
            <a:pathLst>
              <a:path w="5707063" h="1881187">
                <a:moveTo>
                  <a:pt x="95245" y="0"/>
                </a:moveTo>
                <a:lnTo>
                  <a:pt x="5611818" y="0"/>
                </a:lnTo>
                <a:cubicBezTo>
                  <a:pt x="5664420" y="0"/>
                  <a:pt x="5707063" y="42642"/>
                  <a:pt x="5707063" y="95245"/>
                </a:cubicBezTo>
                <a:lnTo>
                  <a:pt x="5707063" y="1785943"/>
                </a:lnTo>
                <a:cubicBezTo>
                  <a:pt x="5707063" y="1838545"/>
                  <a:pt x="5664420" y="1881187"/>
                  <a:pt x="5611818" y="1881188"/>
                </a:cubicBezTo>
                <a:lnTo>
                  <a:pt x="95245" y="1881187"/>
                </a:lnTo>
                <a:cubicBezTo>
                  <a:pt x="42642" y="1881188"/>
                  <a:pt x="0" y="1838545"/>
                  <a:pt x="0" y="1785943"/>
                </a:cubicBezTo>
                <a:lnTo>
                  <a:pt x="0" y="95245"/>
                </a:lnTo>
                <a:cubicBezTo>
                  <a:pt x="0" y="42642"/>
                  <a:pt x="42642" y="0"/>
                  <a:pt x="9524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2438" y="99218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567531" y="111918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92188" y="1023938"/>
            <a:ext cx="142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TCP/IP Model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2188" y="1246188"/>
            <a:ext cx="139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Facto Internet Standard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438" y="1531938"/>
            <a:ext cx="5508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TCP/IP Model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practical standard suite of protocols that governs how data moves across the Internet.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8313" y="2039938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31750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08001"/>
                </a:lnTo>
                <a:cubicBezTo>
                  <a:pt x="5429250" y="543070"/>
                  <a:pt x="5400820" y="571500"/>
                  <a:pt x="5365751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68313" y="2039938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587375" y="216693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15875"/>
                </a:moveTo>
                <a:cubicBezTo>
                  <a:pt x="97730" y="15875"/>
                  <a:pt x="119063" y="37207"/>
                  <a:pt x="119063" y="63500"/>
                </a:cubicBezTo>
                <a:cubicBezTo>
                  <a:pt x="119063" y="89793"/>
                  <a:pt x="97730" y="111125"/>
                  <a:pt x="71438" y="111125"/>
                </a:cubicBezTo>
                <a:cubicBezTo>
                  <a:pt x="55265" y="111125"/>
                  <a:pt x="40953" y="103063"/>
                  <a:pt x="32345" y="90711"/>
                </a:cubicBezTo>
                <a:cubicBezTo>
                  <a:pt x="29840" y="87114"/>
                  <a:pt x="24879" y="86246"/>
                  <a:pt x="21282" y="88751"/>
                </a:cubicBezTo>
                <a:cubicBezTo>
                  <a:pt x="17686" y="91256"/>
                  <a:pt x="16818" y="96217"/>
                  <a:pt x="19323" y="99814"/>
                </a:cubicBezTo>
                <a:cubicBezTo>
                  <a:pt x="30783" y="116235"/>
                  <a:pt x="49857" y="127000"/>
                  <a:pt x="71438" y="127000"/>
                </a:cubicBezTo>
                <a:cubicBezTo>
                  <a:pt x="106511" y="127000"/>
                  <a:pt x="134938" y="98574"/>
                  <a:pt x="134938" y="63500"/>
                </a:cubicBezTo>
                <a:cubicBezTo>
                  <a:pt x="134938" y="28426"/>
                  <a:pt x="106511" y="0"/>
                  <a:pt x="71438" y="0"/>
                </a:cubicBezTo>
                <a:cubicBezTo>
                  <a:pt x="50180" y="0"/>
                  <a:pt x="31378" y="10443"/>
                  <a:pt x="19844" y="26467"/>
                </a:cubicBezTo>
                <a:lnTo>
                  <a:pt x="19844" y="19844"/>
                </a:lnTo>
                <a:cubicBezTo>
                  <a:pt x="19844" y="15453"/>
                  <a:pt x="16297" y="11906"/>
                  <a:pt x="11906" y="11906"/>
                </a:cubicBezTo>
                <a:cubicBezTo>
                  <a:pt x="7516" y="11906"/>
                  <a:pt x="3969" y="15453"/>
                  <a:pt x="3969" y="19844"/>
                </a:cubicBezTo>
                <a:lnTo>
                  <a:pt x="3969" y="47625"/>
                </a:lnTo>
                <a:cubicBezTo>
                  <a:pt x="3969" y="52015"/>
                  <a:pt x="7516" y="55563"/>
                  <a:pt x="11906" y="55563"/>
                </a:cubicBezTo>
                <a:lnTo>
                  <a:pt x="18008" y="55563"/>
                </a:lnTo>
                <a:cubicBezTo>
                  <a:pt x="18132" y="55563"/>
                  <a:pt x="18256" y="55563"/>
                  <a:pt x="18380" y="55563"/>
                </a:cubicBezTo>
                <a:lnTo>
                  <a:pt x="39712" y="55563"/>
                </a:lnTo>
                <a:cubicBezTo>
                  <a:pt x="44103" y="55563"/>
                  <a:pt x="47650" y="52015"/>
                  <a:pt x="47650" y="47625"/>
                </a:cubicBezTo>
                <a:cubicBezTo>
                  <a:pt x="47650" y="43235"/>
                  <a:pt x="44103" y="39688"/>
                  <a:pt x="39712" y="39688"/>
                </a:cubicBezTo>
                <a:lnTo>
                  <a:pt x="30212" y="39688"/>
                </a:lnTo>
                <a:cubicBezTo>
                  <a:pt x="38422" y="25450"/>
                  <a:pt x="53826" y="15875"/>
                  <a:pt x="71438" y="15875"/>
                </a:cubicBezTo>
                <a:close/>
                <a:moveTo>
                  <a:pt x="77391" y="37703"/>
                </a:moveTo>
                <a:cubicBezTo>
                  <a:pt x="77391" y="34404"/>
                  <a:pt x="74737" y="31750"/>
                  <a:pt x="71438" y="31750"/>
                </a:cubicBezTo>
                <a:cubicBezTo>
                  <a:pt x="68138" y="31750"/>
                  <a:pt x="65484" y="34404"/>
                  <a:pt x="65484" y="37703"/>
                </a:cubicBezTo>
                <a:lnTo>
                  <a:pt x="65484" y="63500"/>
                </a:lnTo>
                <a:cubicBezTo>
                  <a:pt x="65484" y="65088"/>
                  <a:pt x="66104" y="66601"/>
                  <a:pt x="67221" y="67717"/>
                </a:cubicBezTo>
                <a:lnTo>
                  <a:pt x="85080" y="85576"/>
                </a:lnTo>
                <a:cubicBezTo>
                  <a:pt x="87412" y="87908"/>
                  <a:pt x="91182" y="87908"/>
                  <a:pt x="93489" y="85576"/>
                </a:cubicBezTo>
                <a:cubicBezTo>
                  <a:pt x="95796" y="83245"/>
                  <a:pt x="95821" y="79474"/>
                  <a:pt x="93489" y="77167"/>
                </a:cubicBezTo>
                <a:lnTo>
                  <a:pt x="77366" y="61044"/>
                </a:lnTo>
                <a:lnTo>
                  <a:pt x="77366" y="3770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875" y="2135188"/>
            <a:ext cx="50879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Created by DARPA in the 1970s, officially adopted January 1, 1983 ("Flag Day")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1469" y="2877344"/>
            <a:ext cx="5707063" cy="3595688"/>
          </a:xfrm>
          <a:custGeom>
            <a:avLst/>
            <a:gdLst/>
            <a:ahLst/>
            <a:cxnLst/>
            <a:rect l="l" t="t" r="r" b="b"/>
            <a:pathLst>
              <a:path w="5707063" h="3595688">
                <a:moveTo>
                  <a:pt x="95250" y="0"/>
                </a:moveTo>
                <a:lnTo>
                  <a:pt x="5611813" y="0"/>
                </a:lnTo>
                <a:cubicBezTo>
                  <a:pt x="5664418" y="0"/>
                  <a:pt x="5707063" y="42645"/>
                  <a:pt x="5707063" y="95250"/>
                </a:cubicBezTo>
                <a:lnTo>
                  <a:pt x="5707063" y="3500438"/>
                </a:lnTo>
                <a:cubicBezTo>
                  <a:pt x="5707063" y="3553043"/>
                  <a:pt x="5664418" y="3595687"/>
                  <a:pt x="5611813" y="3595688"/>
                </a:cubicBezTo>
                <a:lnTo>
                  <a:pt x="95250" y="3595688"/>
                </a:lnTo>
                <a:cubicBezTo>
                  <a:pt x="42645" y="3595688"/>
                  <a:pt x="0" y="3553043"/>
                  <a:pt x="0" y="3500438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2281" y="304800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53578" y="17859"/>
                </a:moveTo>
                <a:cubicBezTo>
                  <a:pt x="53578" y="12920"/>
                  <a:pt x="57569" y="8930"/>
                  <a:pt x="62508" y="8930"/>
                </a:cubicBezTo>
                <a:lnTo>
                  <a:pt x="80367" y="8930"/>
                </a:lnTo>
                <a:cubicBezTo>
                  <a:pt x="85306" y="8930"/>
                  <a:pt x="89297" y="12920"/>
                  <a:pt x="89297" y="17859"/>
                </a:cubicBezTo>
                <a:lnTo>
                  <a:pt x="89297" y="35719"/>
                </a:lnTo>
                <a:cubicBezTo>
                  <a:pt x="89297" y="40658"/>
                  <a:pt x="85306" y="44648"/>
                  <a:pt x="80367" y="44648"/>
                </a:cubicBezTo>
                <a:lnTo>
                  <a:pt x="78135" y="44648"/>
                </a:lnTo>
                <a:lnTo>
                  <a:pt x="78135" y="62508"/>
                </a:lnTo>
                <a:lnTo>
                  <a:pt x="111621" y="62508"/>
                </a:lnTo>
                <a:cubicBezTo>
                  <a:pt x="122727" y="62508"/>
                  <a:pt x="131713" y="71493"/>
                  <a:pt x="131713" y="82600"/>
                </a:cubicBezTo>
                <a:lnTo>
                  <a:pt x="131713" y="98227"/>
                </a:lnTo>
                <a:lnTo>
                  <a:pt x="133945" y="98227"/>
                </a:lnTo>
                <a:cubicBezTo>
                  <a:pt x="138885" y="98227"/>
                  <a:pt x="142875" y="102217"/>
                  <a:pt x="142875" y="107156"/>
                </a:cubicBezTo>
                <a:lnTo>
                  <a:pt x="142875" y="125016"/>
                </a:lnTo>
                <a:cubicBezTo>
                  <a:pt x="142875" y="129955"/>
                  <a:pt x="138885" y="133945"/>
                  <a:pt x="133945" y="133945"/>
                </a:cubicBezTo>
                <a:lnTo>
                  <a:pt x="116086" y="133945"/>
                </a:lnTo>
                <a:cubicBezTo>
                  <a:pt x="111147" y="133945"/>
                  <a:pt x="107156" y="129955"/>
                  <a:pt x="107156" y="125016"/>
                </a:cubicBezTo>
                <a:lnTo>
                  <a:pt x="107156" y="107156"/>
                </a:lnTo>
                <a:cubicBezTo>
                  <a:pt x="107156" y="102217"/>
                  <a:pt x="111147" y="98227"/>
                  <a:pt x="116086" y="98227"/>
                </a:cubicBezTo>
                <a:lnTo>
                  <a:pt x="118318" y="98227"/>
                </a:lnTo>
                <a:lnTo>
                  <a:pt x="118318" y="82600"/>
                </a:lnTo>
                <a:cubicBezTo>
                  <a:pt x="118318" y="78888"/>
                  <a:pt x="115332" y="75902"/>
                  <a:pt x="111621" y="75902"/>
                </a:cubicBezTo>
                <a:lnTo>
                  <a:pt x="78135" y="75902"/>
                </a:lnTo>
                <a:lnTo>
                  <a:pt x="78135" y="98227"/>
                </a:lnTo>
                <a:lnTo>
                  <a:pt x="80367" y="98227"/>
                </a:lnTo>
                <a:cubicBezTo>
                  <a:pt x="85306" y="98227"/>
                  <a:pt x="89297" y="102217"/>
                  <a:pt x="89297" y="107156"/>
                </a:cubicBezTo>
                <a:lnTo>
                  <a:pt x="89297" y="125016"/>
                </a:lnTo>
                <a:cubicBezTo>
                  <a:pt x="89297" y="129955"/>
                  <a:pt x="85306" y="133945"/>
                  <a:pt x="80367" y="133945"/>
                </a:cubicBezTo>
                <a:lnTo>
                  <a:pt x="62508" y="133945"/>
                </a:lnTo>
                <a:cubicBezTo>
                  <a:pt x="57569" y="133945"/>
                  <a:pt x="53578" y="129955"/>
                  <a:pt x="53578" y="125016"/>
                </a:cubicBezTo>
                <a:lnTo>
                  <a:pt x="53578" y="107156"/>
                </a:lnTo>
                <a:cubicBezTo>
                  <a:pt x="53578" y="102217"/>
                  <a:pt x="57569" y="98227"/>
                  <a:pt x="62508" y="98227"/>
                </a:cubicBezTo>
                <a:lnTo>
                  <a:pt x="64740" y="98227"/>
                </a:lnTo>
                <a:lnTo>
                  <a:pt x="64740" y="75902"/>
                </a:lnTo>
                <a:lnTo>
                  <a:pt x="31254" y="75902"/>
                </a:lnTo>
                <a:cubicBezTo>
                  <a:pt x="27543" y="75902"/>
                  <a:pt x="24557" y="78888"/>
                  <a:pt x="24557" y="82600"/>
                </a:cubicBezTo>
                <a:lnTo>
                  <a:pt x="24557" y="98227"/>
                </a:lnTo>
                <a:lnTo>
                  <a:pt x="26789" y="98227"/>
                </a:lnTo>
                <a:cubicBezTo>
                  <a:pt x="31728" y="98227"/>
                  <a:pt x="35719" y="102217"/>
                  <a:pt x="35719" y="107156"/>
                </a:cubicBezTo>
                <a:lnTo>
                  <a:pt x="35719" y="125016"/>
                </a:lnTo>
                <a:cubicBezTo>
                  <a:pt x="35719" y="129955"/>
                  <a:pt x="31728" y="133945"/>
                  <a:pt x="26789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107156"/>
                </a:lnTo>
                <a:cubicBezTo>
                  <a:pt x="0" y="102217"/>
                  <a:pt x="3990" y="98227"/>
                  <a:pt x="8930" y="98227"/>
                </a:cubicBezTo>
                <a:lnTo>
                  <a:pt x="11162" y="98227"/>
                </a:lnTo>
                <a:lnTo>
                  <a:pt x="11162" y="82600"/>
                </a:lnTo>
                <a:cubicBezTo>
                  <a:pt x="11162" y="71493"/>
                  <a:pt x="20148" y="62508"/>
                  <a:pt x="31254" y="62508"/>
                </a:cubicBezTo>
                <a:lnTo>
                  <a:pt x="64740" y="62508"/>
                </a:lnTo>
                <a:lnTo>
                  <a:pt x="64740" y="44648"/>
                </a:lnTo>
                <a:lnTo>
                  <a:pt x="62508" y="44648"/>
                </a:lnTo>
                <a:cubicBezTo>
                  <a:pt x="57569" y="44648"/>
                  <a:pt x="53578" y="40658"/>
                  <a:pt x="53578" y="35719"/>
                </a:cubicBezTo>
                <a:lnTo>
                  <a:pt x="53578" y="1785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35000" y="3008313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TCP/IP 4-Layer Architecture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8313" y="3325813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476248"/>
                </a:lnTo>
                <a:cubicBezTo>
                  <a:pt x="5429250" y="511319"/>
                  <a:pt x="5400819" y="539750"/>
                  <a:pt x="5365748" y="539750"/>
                </a:cubicBez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468313" y="332581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579438" y="3436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2" name="Text 20"/>
          <p:cNvSpPr/>
          <p:nvPr/>
        </p:nvSpPr>
        <p:spPr>
          <a:xfrm>
            <a:off x="547688" y="3436938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2188" y="3421063"/>
            <a:ext cx="129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2188" y="3611563"/>
            <a:ext cx="128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HTTP, FTP, SMTP, DNS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8313" y="3929063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476248"/>
                </a:lnTo>
                <a:cubicBezTo>
                  <a:pt x="5429250" y="511319"/>
                  <a:pt x="5400819" y="539750"/>
                  <a:pt x="5365748" y="539750"/>
                </a:cubicBez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468313" y="392906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7" name="Shape 25"/>
          <p:cNvSpPr/>
          <p:nvPr/>
        </p:nvSpPr>
        <p:spPr>
          <a:xfrm>
            <a:off x="579438" y="40401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547688" y="4040188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2188" y="4024313"/>
            <a:ext cx="103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Transport Layer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2188" y="4214813"/>
            <a:ext cx="102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TCP, UDP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8313" y="4532313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476248"/>
                </a:lnTo>
                <a:cubicBezTo>
                  <a:pt x="5429250" y="511319"/>
                  <a:pt x="5400819" y="539750"/>
                  <a:pt x="5365748" y="539750"/>
                </a:cubicBez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468313" y="453231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579438" y="4643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4" name="Text 32"/>
          <p:cNvSpPr/>
          <p:nvPr/>
        </p:nvSpPr>
        <p:spPr>
          <a:xfrm>
            <a:off x="547688" y="4643438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2188" y="4627563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 Layer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92188" y="4818063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IP, ICMP, Routing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8313" y="5135563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476248"/>
                </a:lnTo>
                <a:cubicBezTo>
                  <a:pt x="5429250" y="511319"/>
                  <a:pt x="5400819" y="539750"/>
                  <a:pt x="5365748" y="539750"/>
                </a:cubicBez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468313" y="513556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9" name="Shape 37"/>
          <p:cNvSpPr/>
          <p:nvPr/>
        </p:nvSpPr>
        <p:spPr>
          <a:xfrm>
            <a:off x="579438" y="52466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0" name="Text 38"/>
          <p:cNvSpPr/>
          <p:nvPr/>
        </p:nvSpPr>
        <p:spPr>
          <a:xfrm>
            <a:off x="547688" y="5246688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92188" y="5230813"/>
            <a:ext cx="127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Access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92188" y="5421313"/>
            <a:ext cx="127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Ethernet, Wi-Fi, Physical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3469" y="861219"/>
            <a:ext cx="5707063" cy="4071938"/>
          </a:xfrm>
          <a:custGeom>
            <a:avLst/>
            <a:gdLst/>
            <a:ahLst/>
            <a:cxnLst/>
            <a:rect l="l" t="t" r="r" b="b"/>
            <a:pathLst>
              <a:path w="5707063" h="4071938">
                <a:moveTo>
                  <a:pt x="95243" y="0"/>
                </a:moveTo>
                <a:lnTo>
                  <a:pt x="5611820" y="0"/>
                </a:lnTo>
                <a:cubicBezTo>
                  <a:pt x="5664421" y="0"/>
                  <a:pt x="5707063" y="42642"/>
                  <a:pt x="5707063" y="95243"/>
                </a:cubicBezTo>
                <a:lnTo>
                  <a:pt x="5707063" y="3976695"/>
                </a:lnTo>
                <a:cubicBezTo>
                  <a:pt x="5707063" y="4029296"/>
                  <a:pt x="5664421" y="4071938"/>
                  <a:pt x="5611820" y="4071938"/>
                </a:cubicBezTo>
                <a:lnTo>
                  <a:pt x="95243" y="4071938"/>
                </a:lnTo>
                <a:cubicBezTo>
                  <a:pt x="42642" y="4071938"/>
                  <a:pt x="0" y="4029296"/>
                  <a:pt x="0" y="3976695"/>
                </a:cubicBezTo>
                <a:lnTo>
                  <a:pt x="0" y="95243"/>
                </a:lnTo>
                <a:cubicBezTo>
                  <a:pt x="0" y="42642"/>
                  <a:pt x="42642" y="0"/>
                  <a:pt x="952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14281" y="10318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0252" y="42025"/>
                </a:moveTo>
                <a:lnTo>
                  <a:pt x="113463" y="68814"/>
                </a:lnTo>
                <a:cubicBezTo>
                  <a:pt x="110896" y="71382"/>
                  <a:pt x="107073" y="72135"/>
                  <a:pt x="103724" y="70740"/>
                </a:cubicBezTo>
                <a:cubicBezTo>
                  <a:pt x="100375" y="69345"/>
                  <a:pt x="98227" y="66108"/>
                  <a:pt x="98227" y="62508"/>
                </a:cubicBezTo>
                <a:lnTo>
                  <a:pt x="98227" y="44648"/>
                </a:ln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98227" y="26789"/>
                </a:lnTo>
                <a:lnTo>
                  <a:pt x="98227" y="8930"/>
                </a:lnTo>
                <a:cubicBezTo>
                  <a:pt x="98227" y="5330"/>
                  <a:pt x="100403" y="2065"/>
                  <a:pt x="103752" y="670"/>
                </a:cubicBezTo>
                <a:cubicBezTo>
                  <a:pt x="107100" y="-726"/>
                  <a:pt x="110923" y="56"/>
                  <a:pt x="113491" y="2595"/>
                </a:cubicBezTo>
                <a:lnTo>
                  <a:pt x="140280" y="29384"/>
                </a:lnTo>
                <a:cubicBezTo>
                  <a:pt x="143768" y="32872"/>
                  <a:pt x="143768" y="38537"/>
                  <a:pt x="140280" y="42025"/>
                </a:cubicBezTo>
                <a:close/>
                <a:moveTo>
                  <a:pt x="29384" y="140252"/>
                </a:moveTo>
                <a:lnTo>
                  <a:pt x="2595" y="113463"/>
                </a:lnTo>
                <a:cubicBezTo>
                  <a:pt x="-893" y="109975"/>
                  <a:pt x="-893" y="104310"/>
                  <a:pt x="2595" y="100822"/>
                </a:cubicBezTo>
                <a:lnTo>
                  <a:pt x="29384" y="74033"/>
                </a:lnTo>
                <a:cubicBezTo>
                  <a:pt x="31952" y="71465"/>
                  <a:pt x="35775" y="70712"/>
                  <a:pt x="39123" y="72107"/>
                </a:cubicBezTo>
                <a:cubicBezTo>
                  <a:pt x="42472" y="73502"/>
                  <a:pt x="44648" y="76767"/>
                  <a:pt x="44648" y="80367"/>
                </a:cubicBezTo>
                <a:lnTo>
                  <a:pt x="44648" y="98227"/>
                </a:lnTo>
                <a:lnTo>
                  <a:pt x="133945" y="98227"/>
                </a:lnTo>
                <a:cubicBezTo>
                  <a:pt x="138885" y="98227"/>
                  <a:pt x="142875" y="102217"/>
                  <a:pt x="142875" y="107156"/>
                </a:cubicBezTo>
                <a:cubicBezTo>
                  <a:pt x="142875" y="112095"/>
                  <a:pt x="138885" y="116086"/>
                  <a:pt x="133945" y="116086"/>
                </a:cubicBezTo>
                <a:lnTo>
                  <a:pt x="44648" y="116086"/>
                </a:lnTo>
                <a:lnTo>
                  <a:pt x="44648" y="133945"/>
                </a:lnTo>
                <a:cubicBezTo>
                  <a:pt x="44648" y="137545"/>
                  <a:pt x="42472" y="140810"/>
                  <a:pt x="39123" y="142205"/>
                </a:cubicBezTo>
                <a:cubicBezTo>
                  <a:pt x="35775" y="143601"/>
                  <a:pt x="31952" y="142819"/>
                  <a:pt x="29384" y="14028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5" name="Text 43"/>
          <p:cNvSpPr/>
          <p:nvPr/>
        </p:nvSpPr>
        <p:spPr>
          <a:xfrm>
            <a:off x="6477000" y="992188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OSI vs TCP/IP Mapping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94438" y="1309688"/>
            <a:ext cx="2690813" cy="381000"/>
          </a:xfrm>
          <a:custGeom>
            <a:avLst/>
            <a:gdLst/>
            <a:ahLst/>
            <a:cxnLst/>
            <a:rect l="l" t="t" r="r" b="b"/>
            <a:pathLst>
              <a:path w="2690813" h="381000">
                <a:moveTo>
                  <a:pt x="63501" y="0"/>
                </a:moveTo>
                <a:lnTo>
                  <a:pt x="2627311" y="0"/>
                </a:lnTo>
                <a:cubicBezTo>
                  <a:pt x="2662382" y="0"/>
                  <a:pt x="2690813" y="28430"/>
                  <a:pt x="2690813" y="63501"/>
                </a:cubicBezTo>
                <a:lnTo>
                  <a:pt x="2690813" y="317499"/>
                </a:lnTo>
                <a:cubicBezTo>
                  <a:pt x="2690813" y="352570"/>
                  <a:pt x="2662382" y="381000"/>
                  <a:pt x="2627311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334125" y="13731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OSI Layers 5-7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34125" y="15001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Session, Presentation, Application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64625" y="1436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100856"/>
                </a:moveTo>
                <a:lnTo>
                  <a:pt x="100856" y="124668"/>
                </a:lnTo>
                <a:cubicBezTo>
                  <a:pt x="98574" y="126950"/>
                  <a:pt x="95176" y="127620"/>
                  <a:pt x="92199" y="126380"/>
                </a:cubicBezTo>
                <a:cubicBezTo>
                  <a:pt x="89222" y="125140"/>
                  <a:pt x="87313" y="122262"/>
                  <a:pt x="87313" y="119063"/>
                </a:cubicBezTo>
                <a:lnTo>
                  <a:pt x="87313" y="103188"/>
                </a:lnTo>
                <a:lnTo>
                  <a:pt x="7938" y="103188"/>
                </a:lnTo>
                <a:cubicBezTo>
                  <a:pt x="3547" y="103188"/>
                  <a:pt x="0" y="99640"/>
                  <a:pt x="0" y="95250"/>
                </a:cubicBezTo>
                <a:cubicBezTo>
                  <a:pt x="0" y="90860"/>
                  <a:pt x="3547" y="87313"/>
                  <a:pt x="7938" y="87313"/>
                </a:cubicBezTo>
                <a:lnTo>
                  <a:pt x="87313" y="87313"/>
                </a:lnTo>
                <a:lnTo>
                  <a:pt x="87313" y="71438"/>
                </a:lnTo>
                <a:cubicBezTo>
                  <a:pt x="87313" y="68238"/>
                  <a:pt x="89247" y="65336"/>
                  <a:pt x="92224" y="64095"/>
                </a:cubicBezTo>
                <a:cubicBezTo>
                  <a:pt x="95200" y="62855"/>
                  <a:pt x="98599" y="63550"/>
                  <a:pt x="100881" y="65807"/>
                </a:cubicBezTo>
                <a:lnTo>
                  <a:pt x="124693" y="89619"/>
                </a:lnTo>
                <a:cubicBezTo>
                  <a:pt x="127794" y="92720"/>
                  <a:pt x="127794" y="97755"/>
                  <a:pt x="124693" y="100856"/>
                </a:cubicBezTo>
                <a:close/>
                <a:moveTo>
                  <a:pt x="2332" y="37356"/>
                </a:moveTo>
                <a:cubicBezTo>
                  <a:pt x="-769" y="34255"/>
                  <a:pt x="-769" y="29220"/>
                  <a:pt x="2332" y="26119"/>
                </a:cubicBezTo>
                <a:lnTo>
                  <a:pt x="26144" y="2307"/>
                </a:lnTo>
                <a:cubicBezTo>
                  <a:pt x="28426" y="25"/>
                  <a:pt x="31824" y="-645"/>
                  <a:pt x="34801" y="595"/>
                </a:cubicBezTo>
                <a:cubicBezTo>
                  <a:pt x="37778" y="1836"/>
                  <a:pt x="39688" y="4738"/>
                  <a:pt x="39688" y="7938"/>
                </a:cubicBezTo>
                <a:lnTo>
                  <a:pt x="39688" y="23812"/>
                </a:lnTo>
                <a:lnTo>
                  <a:pt x="119063" y="23812"/>
                </a:lnTo>
                <a:cubicBezTo>
                  <a:pt x="123453" y="23812"/>
                  <a:pt x="127000" y="27360"/>
                  <a:pt x="127000" y="31750"/>
                </a:cubicBezTo>
                <a:cubicBezTo>
                  <a:pt x="127000" y="36140"/>
                  <a:pt x="123453" y="39688"/>
                  <a:pt x="119063" y="39688"/>
                </a:cubicBezTo>
                <a:lnTo>
                  <a:pt x="39688" y="39688"/>
                </a:lnTo>
                <a:lnTo>
                  <a:pt x="39688" y="55563"/>
                </a:lnTo>
                <a:cubicBezTo>
                  <a:pt x="39688" y="58762"/>
                  <a:pt x="37753" y="61664"/>
                  <a:pt x="34776" y="62905"/>
                </a:cubicBezTo>
                <a:cubicBezTo>
                  <a:pt x="31800" y="64145"/>
                  <a:pt x="28401" y="63450"/>
                  <a:pt x="26119" y="61193"/>
                </a:cubicBezTo>
                <a:lnTo>
                  <a:pt x="2307" y="37381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0" name="Shape 48"/>
          <p:cNvSpPr/>
          <p:nvPr/>
        </p:nvSpPr>
        <p:spPr>
          <a:xfrm>
            <a:off x="6294438" y="1754188"/>
            <a:ext cx="2690813" cy="381000"/>
          </a:xfrm>
          <a:custGeom>
            <a:avLst/>
            <a:gdLst/>
            <a:ahLst/>
            <a:cxnLst/>
            <a:rect l="l" t="t" r="r" b="b"/>
            <a:pathLst>
              <a:path w="2690813" h="381000">
                <a:moveTo>
                  <a:pt x="63501" y="0"/>
                </a:moveTo>
                <a:lnTo>
                  <a:pt x="2627311" y="0"/>
                </a:lnTo>
                <a:cubicBezTo>
                  <a:pt x="2662382" y="0"/>
                  <a:pt x="2690813" y="28430"/>
                  <a:pt x="2690813" y="63501"/>
                </a:cubicBezTo>
                <a:lnTo>
                  <a:pt x="2690813" y="317499"/>
                </a:lnTo>
                <a:cubicBezTo>
                  <a:pt x="2690813" y="352570"/>
                  <a:pt x="2662382" y="381000"/>
                  <a:pt x="2627311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334125" y="18176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TCP/IP Layer 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34125" y="19446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94438" y="2198688"/>
            <a:ext cx="2690813" cy="381000"/>
          </a:xfrm>
          <a:custGeom>
            <a:avLst/>
            <a:gdLst/>
            <a:ahLst/>
            <a:cxnLst/>
            <a:rect l="l" t="t" r="r" b="b"/>
            <a:pathLst>
              <a:path w="2690813" h="381000">
                <a:moveTo>
                  <a:pt x="63501" y="0"/>
                </a:moveTo>
                <a:lnTo>
                  <a:pt x="2627311" y="0"/>
                </a:lnTo>
                <a:cubicBezTo>
                  <a:pt x="2662382" y="0"/>
                  <a:pt x="2690813" y="28430"/>
                  <a:pt x="2690813" y="63501"/>
                </a:cubicBezTo>
                <a:lnTo>
                  <a:pt x="2690813" y="317499"/>
                </a:lnTo>
                <a:cubicBezTo>
                  <a:pt x="2690813" y="352570"/>
                  <a:pt x="2662382" y="381000"/>
                  <a:pt x="2627311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334125" y="22621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OSI Layer 4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34125" y="23891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64625" y="2325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100856"/>
                </a:moveTo>
                <a:lnTo>
                  <a:pt x="100856" y="124668"/>
                </a:lnTo>
                <a:cubicBezTo>
                  <a:pt x="98574" y="126950"/>
                  <a:pt x="95176" y="127620"/>
                  <a:pt x="92199" y="126380"/>
                </a:cubicBezTo>
                <a:cubicBezTo>
                  <a:pt x="89222" y="125140"/>
                  <a:pt x="87313" y="122262"/>
                  <a:pt x="87313" y="119063"/>
                </a:cubicBezTo>
                <a:lnTo>
                  <a:pt x="87313" y="103188"/>
                </a:lnTo>
                <a:lnTo>
                  <a:pt x="7938" y="103188"/>
                </a:lnTo>
                <a:cubicBezTo>
                  <a:pt x="3547" y="103188"/>
                  <a:pt x="0" y="99640"/>
                  <a:pt x="0" y="95250"/>
                </a:cubicBezTo>
                <a:cubicBezTo>
                  <a:pt x="0" y="90860"/>
                  <a:pt x="3547" y="87313"/>
                  <a:pt x="7938" y="87313"/>
                </a:cubicBezTo>
                <a:lnTo>
                  <a:pt x="87313" y="87313"/>
                </a:lnTo>
                <a:lnTo>
                  <a:pt x="87313" y="71438"/>
                </a:lnTo>
                <a:cubicBezTo>
                  <a:pt x="87313" y="68238"/>
                  <a:pt x="89247" y="65336"/>
                  <a:pt x="92224" y="64095"/>
                </a:cubicBezTo>
                <a:cubicBezTo>
                  <a:pt x="95200" y="62855"/>
                  <a:pt x="98599" y="63550"/>
                  <a:pt x="100881" y="65807"/>
                </a:cubicBezTo>
                <a:lnTo>
                  <a:pt x="124693" y="89619"/>
                </a:lnTo>
                <a:cubicBezTo>
                  <a:pt x="127794" y="92720"/>
                  <a:pt x="127794" y="97755"/>
                  <a:pt x="124693" y="100856"/>
                </a:cubicBezTo>
                <a:close/>
                <a:moveTo>
                  <a:pt x="2332" y="37356"/>
                </a:moveTo>
                <a:cubicBezTo>
                  <a:pt x="-769" y="34255"/>
                  <a:pt x="-769" y="29220"/>
                  <a:pt x="2332" y="26119"/>
                </a:cubicBezTo>
                <a:lnTo>
                  <a:pt x="26144" y="2307"/>
                </a:lnTo>
                <a:cubicBezTo>
                  <a:pt x="28426" y="25"/>
                  <a:pt x="31824" y="-645"/>
                  <a:pt x="34801" y="595"/>
                </a:cubicBezTo>
                <a:cubicBezTo>
                  <a:pt x="37778" y="1836"/>
                  <a:pt x="39688" y="4738"/>
                  <a:pt x="39688" y="7938"/>
                </a:cubicBezTo>
                <a:lnTo>
                  <a:pt x="39688" y="23812"/>
                </a:lnTo>
                <a:lnTo>
                  <a:pt x="119063" y="23812"/>
                </a:lnTo>
                <a:cubicBezTo>
                  <a:pt x="123453" y="23812"/>
                  <a:pt x="127000" y="27360"/>
                  <a:pt x="127000" y="31750"/>
                </a:cubicBezTo>
                <a:cubicBezTo>
                  <a:pt x="127000" y="36140"/>
                  <a:pt x="123453" y="39688"/>
                  <a:pt x="119063" y="39688"/>
                </a:cubicBezTo>
                <a:lnTo>
                  <a:pt x="39688" y="39688"/>
                </a:lnTo>
                <a:lnTo>
                  <a:pt x="39688" y="55563"/>
                </a:lnTo>
                <a:cubicBezTo>
                  <a:pt x="39688" y="58762"/>
                  <a:pt x="37753" y="61664"/>
                  <a:pt x="34776" y="62905"/>
                </a:cubicBezTo>
                <a:cubicBezTo>
                  <a:pt x="31800" y="64145"/>
                  <a:pt x="28401" y="63450"/>
                  <a:pt x="26119" y="61193"/>
                </a:cubicBezTo>
                <a:lnTo>
                  <a:pt x="2307" y="37381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7" name="Shape 55"/>
          <p:cNvSpPr/>
          <p:nvPr/>
        </p:nvSpPr>
        <p:spPr>
          <a:xfrm>
            <a:off x="6294438" y="2643188"/>
            <a:ext cx="2690813" cy="381000"/>
          </a:xfrm>
          <a:custGeom>
            <a:avLst/>
            <a:gdLst/>
            <a:ahLst/>
            <a:cxnLst/>
            <a:rect l="l" t="t" r="r" b="b"/>
            <a:pathLst>
              <a:path w="2690813" h="381000">
                <a:moveTo>
                  <a:pt x="63501" y="0"/>
                </a:moveTo>
                <a:lnTo>
                  <a:pt x="2627311" y="0"/>
                </a:lnTo>
                <a:cubicBezTo>
                  <a:pt x="2662382" y="0"/>
                  <a:pt x="2690813" y="28430"/>
                  <a:pt x="2690813" y="63501"/>
                </a:cubicBezTo>
                <a:lnTo>
                  <a:pt x="2690813" y="317499"/>
                </a:lnTo>
                <a:cubicBezTo>
                  <a:pt x="2690813" y="352570"/>
                  <a:pt x="2662382" y="381000"/>
                  <a:pt x="2627311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334125" y="27066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TCP/IP Layer 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34125" y="28336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94438" y="3087688"/>
            <a:ext cx="2690813" cy="381000"/>
          </a:xfrm>
          <a:custGeom>
            <a:avLst/>
            <a:gdLst/>
            <a:ahLst/>
            <a:cxnLst/>
            <a:rect l="l" t="t" r="r" b="b"/>
            <a:pathLst>
              <a:path w="2690813" h="381000">
                <a:moveTo>
                  <a:pt x="63501" y="0"/>
                </a:moveTo>
                <a:lnTo>
                  <a:pt x="2627311" y="0"/>
                </a:lnTo>
                <a:cubicBezTo>
                  <a:pt x="2662382" y="0"/>
                  <a:pt x="2690813" y="28430"/>
                  <a:pt x="2690813" y="63501"/>
                </a:cubicBezTo>
                <a:lnTo>
                  <a:pt x="2690813" y="317499"/>
                </a:lnTo>
                <a:cubicBezTo>
                  <a:pt x="2690813" y="352570"/>
                  <a:pt x="2662382" y="381000"/>
                  <a:pt x="2627311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334125" y="31511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OSI Layer 3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34125" y="32781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064625" y="3214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100856"/>
                </a:moveTo>
                <a:lnTo>
                  <a:pt x="100856" y="124668"/>
                </a:lnTo>
                <a:cubicBezTo>
                  <a:pt x="98574" y="126950"/>
                  <a:pt x="95176" y="127620"/>
                  <a:pt x="92199" y="126380"/>
                </a:cubicBezTo>
                <a:cubicBezTo>
                  <a:pt x="89222" y="125140"/>
                  <a:pt x="87313" y="122262"/>
                  <a:pt x="87313" y="119063"/>
                </a:cubicBezTo>
                <a:lnTo>
                  <a:pt x="87313" y="103188"/>
                </a:lnTo>
                <a:lnTo>
                  <a:pt x="7938" y="103188"/>
                </a:lnTo>
                <a:cubicBezTo>
                  <a:pt x="3547" y="103188"/>
                  <a:pt x="0" y="99640"/>
                  <a:pt x="0" y="95250"/>
                </a:cubicBezTo>
                <a:cubicBezTo>
                  <a:pt x="0" y="90860"/>
                  <a:pt x="3547" y="87313"/>
                  <a:pt x="7938" y="87313"/>
                </a:cubicBezTo>
                <a:lnTo>
                  <a:pt x="87313" y="87313"/>
                </a:lnTo>
                <a:lnTo>
                  <a:pt x="87313" y="71438"/>
                </a:lnTo>
                <a:cubicBezTo>
                  <a:pt x="87313" y="68238"/>
                  <a:pt x="89247" y="65336"/>
                  <a:pt x="92224" y="64095"/>
                </a:cubicBezTo>
                <a:cubicBezTo>
                  <a:pt x="95200" y="62855"/>
                  <a:pt x="98599" y="63550"/>
                  <a:pt x="100881" y="65807"/>
                </a:cubicBezTo>
                <a:lnTo>
                  <a:pt x="124693" y="89619"/>
                </a:lnTo>
                <a:cubicBezTo>
                  <a:pt x="127794" y="92720"/>
                  <a:pt x="127794" y="97755"/>
                  <a:pt x="124693" y="100856"/>
                </a:cubicBezTo>
                <a:close/>
                <a:moveTo>
                  <a:pt x="2332" y="37356"/>
                </a:moveTo>
                <a:cubicBezTo>
                  <a:pt x="-769" y="34255"/>
                  <a:pt x="-769" y="29220"/>
                  <a:pt x="2332" y="26119"/>
                </a:cubicBezTo>
                <a:lnTo>
                  <a:pt x="26144" y="2307"/>
                </a:lnTo>
                <a:cubicBezTo>
                  <a:pt x="28426" y="25"/>
                  <a:pt x="31824" y="-645"/>
                  <a:pt x="34801" y="595"/>
                </a:cubicBezTo>
                <a:cubicBezTo>
                  <a:pt x="37778" y="1836"/>
                  <a:pt x="39688" y="4738"/>
                  <a:pt x="39688" y="7938"/>
                </a:cubicBezTo>
                <a:lnTo>
                  <a:pt x="39688" y="23812"/>
                </a:lnTo>
                <a:lnTo>
                  <a:pt x="119063" y="23812"/>
                </a:lnTo>
                <a:cubicBezTo>
                  <a:pt x="123453" y="23812"/>
                  <a:pt x="127000" y="27360"/>
                  <a:pt x="127000" y="31750"/>
                </a:cubicBezTo>
                <a:cubicBezTo>
                  <a:pt x="127000" y="36140"/>
                  <a:pt x="123453" y="39688"/>
                  <a:pt x="119063" y="39688"/>
                </a:cubicBezTo>
                <a:lnTo>
                  <a:pt x="39688" y="39688"/>
                </a:lnTo>
                <a:lnTo>
                  <a:pt x="39688" y="55563"/>
                </a:lnTo>
                <a:cubicBezTo>
                  <a:pt x="39688" y="58762"/>
                  <a:pt x="37753" y="61664"/>
                  <a:pt x="34776" y="62905"/>
                </a:cubicBezTo>
                <a:cubicBezTo>
                  <a:pt x="31800" y="64145"/>
                  <a:pt x="28401" y="63450"/>
                  <a:pt x="26119" y="61193"/>
                </a:cubicBezTo>
                <a:lnTo>
                  <a:pt x="2307" y="37381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4" name="Shape 62"/>
          <p:cNvSpPr/>
          <p:nvPr/>
        </p:nvSpPr>
        <p:spPr>
          <a:xfrm>
            <a:off x="6294438" y="3532188"/>
            <a:ext cx="2690813" cy="381000"/>
          </a:xfrm>
          <a:custGeom>
            <a:avLst/>
            <a:gdLst/>
            <a:ahLst/>
            <a:cxnLst/>
            <a:rect l="l" t="t" r="r" b="b"/>
            <a:pathLst>
              <a:path w="2690813" h="381000">
                <a:moveTo>
                  <a:pt x="63501" y="0"/>
                </a:moveTo>
                <a:lnTo>
                  <a:pt x="2627311" y="0"/>
                </a:lnTo>
                <a:cubicBezTo>
                  <a:pt x="2662382" y="0"/>
                  <a:pt x="2690813" y="28430"/>
                  <a:pt x="2690813" y="63501"/>
                </a:cubicBezTo>
                <a:lnTo>
                  <a:pt x="2690813" y="317499"/>
                </a:lnTo>
                <a:cubicBezTo>
                  <a:pt x="2690813" y="352570"/>
                  <a:pt x="2662382" y="381000"/>
                  <a:pt x="2627311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334125" y="35956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TCP/IP Layer 2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34125" y="37226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294438" y="3976687"/>
            <a:ext cx="2690813" cy="381000"/>
          </a:xfrm>
          <a:custGeom>
            <a:avLst/>
            <a:gdLst/>
            <a:ahLst/>
            <a:cxnLst/>
            <a:rect l="l" t="t" r="r" b="b"/>
            <a:pathLst>
              <a:path w="2690813" h="381000">
                <a:moveTo>
                  <a:pt x="63501" y="0"/>
                </a:moveTo>
                <a:lnTo>
                  <a:pt x="2627311" y="0"/>
                </a:lnTo>
                <a:cubicBezTo>
                  <a:pt x="2662382" y="0"/>
                  <a:pt x="2690813" y="28430"/>
                  <a:pt x="2690813" y="63501"/>
                </a:cubicBezTo>
                <a:lnTo>
                  <a:pt x="2690813" y="317499"/>
                </a:lnTo>
                <a:cubicBezTo>
                  <a:pt x="2690813" y="352570"/>
                  <a:pt x="2662382" y="381000"/>
                  <a:pt x="2627311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334125" y="40401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OSI Layers 1-2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334125" y="41671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Physical, Data Link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064625" y="4103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100856"/>
                </a:moveTo>
                <a:lnTo>
                  <a:pt x="100856" y="124668"/>
                </a:lnTo>
                <a:cubicBezTo>
                  <a:pt x="98574" y="126950"/>
                  <a:pt x="95176" y="127620"/>
                  <a:pt x="92199" y="126380"/>
                </a:cubicBezTo>
                <a:cubicBezTo>
                  <a:pt x="89222" y="125140"/>
                  <a:pt x="87313" y="122262"/>
                  <a:pt x="87313" y="119063"/>
                </a:cubicBezTo>
                <a:lnTo>
                  <a:pt x="87313" y="103188"/>
                </a:lnTo>
                <a:lnTo>
                  <a:pt x="7938" y="103188"/>
                </a:lnTo>
                <a:cubicBezTo>
                  <a:pt x="3547" y="103188"/>
                  <a:pt x="0" y="99640"/>
                  <a:pt x="0" y="95250"/>
                </a:cubicBezTo>
                <a:cubicBezTo>
                  <a:pt x="0" y="90860"/>
                  <a:pt x="3547" y="87313"/>
                  <a:pt x="7938" y="87313"/>
                </a:cubicBezTo>
                <a:lnTo>
                  <a:pt x="87313" y="87313"/>
                </a:lnTo>
                <a:lnTo>
                  <a:pt x="87313" y="71438"/>
                </a:lnTo>
                <a:cubicBezTo>
                  <a:pt x="87313" y="68238"/>
                  <a:pt x="89247" y="65336"/>
                  <a:pt x="92224" y="64095"/>
                </a:cubicBezTo>
                <a:cubicBezTo>
                  <a:pt x="95200" y="62855"/>
                  <a:pt x="98599" y="63550"/>
                  <a:pt x="100881" y="65807"/>
                </a:cubicBezTo>
                <a:lnTo>
                  <a:pt x="124693" y="89619"/>
                </a:lnTo>
                <a:cubicBezTo>
                  <a:pt x="127794" y="92720"/>
                  <a:pt x="127794" y="97755"/>
                  <a:pt x="124693" y="100856"/>
                </a:cubicBezTo>
                <a:close/>
                <a:moveTo>
                  <a:pt x="2332" y="37356"/>
                </a:moveTo>
                <a:cubicBezTo>
                  <a:pt x="-769" y="34255"/>
                  <a:pt x="-769" y="29220"/>
                  <a:pt x="2332" y="26119"/>
                </a:cubicBezTo>
                <a:lnTo>
                  <a:pt x="26144" y="2307"/>
                </a:lnTo>
                <a:cubicBezTo>
                  <a:pt x="28426" y="25"/>
                  <a:pt x="31824" y="-645"/>
                  <a:pt x="34801" y="595"/>
                </a:cubicBezTo>
                <a:cubicBezTo>
                  <a:pt x="37778" y="1836"/>
                  <a:pt x="39688" y="4738"/>
                  <a:pt x="39688" y="7938"/>
                </a:cubicBezTo>
                <a:lnTo>
                  <a:pt x="39688" y="23812"/>
                </a:lnTo>
                <a:lnTo>
                  <a:pt x="119063" y="23812"/>
                </a:lnTo>
                <a:cubicBezTo>
                  <a:pt x="123453" y="23812"/>
                  <a:pt x="127000" y="27360"/>
                  <a:pt x="127000" y="31750"/>
                </a:cubicBezTo>
                <a:cubicBezTo>
                  <a:pt x="127000" y="36140"/>
                  <a:pt x="123453" y="39688"/>
                  <a:pt x="119063" y="39688"/>
                </a:cubicBezTo>
                <a:lnTo>
                  <a:pt x="39688" y="39688"/>
                </a:lnTo>
                <a:lnTo>
                  <a:pt x="39688" y="55563"/>
                </a:lnTo>
                <a:cubicBezTo>
                  <a:pt x="39688" y="58762"/>
                  <a:pt x="37753" y="61664"/>
                  <a:pt x="34776" y="62905"/>
                </a:cubicBezTo>
                <a:cubicBezTo>
                  <a:pt x="31800" y="64145"/>
                  <a:pt x="28401" y="63450"/>
                  <a:pt x="26119" y="61193"/>
                </a:cubicBezTo>
                <a:lnTo>
                  <a:pt x="2307" y="37381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71" name="Shape 69"/>
          <p:cNvSpPr/>
          <p:nvPr/>
        </p:nvSpPr>
        <p:spPr>
          <a:xfrm>
            <a:off x="6294438" y="4421188"/>
            <a:ext cx="2690813" cy="381000"/>
          </a:xfrm>
          <a:custGeom>
            <a:avLst/>
            <a:gdLst/>
            <a:ahLst/>
            <a:cxnLst/>
            <a:rect l="l" t="t" r="r" b="b"/>
            <a:pathLst>
              <a:path w="2690813" h="381000">
                <a:moveTo>
                  <a:pt x="63501" y="0"/>
                </a:moveTo>
                <a:lnTo>
                  <a:pt x="2627311" y="0"/>
                </a:lnTo>
                <a:cubicBezTo>
                  <a:pt x="2662382" y="0"/>
                  <a:pt x="2690813" y="28430"/>
                  <a:pt x="2690813" y="63501"/>
                </a:cubicBezTo>
                <a:lnTo>
                  <a:pt x="2690813" y="317499"/>
                </a:lnTo>
                <a:cubicBezTo>
                  <a:pt x="2690813" y="352570"/>
                  <a:pt x="2662382" y="381000"/>
                  <a:pt x="2627311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334125" y="44846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TCP/IP Layer 1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334125" y="46116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Access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163469" y="5068094"/>
            <a:ext cx="5707063" cy="1404938"/>
          </a:xfrm>
          <a:custGeom>
            <a:avLst/>
            <a:gdLst/>
            <a:ahLst/>
            <a:cxnLst/>
            <a:rect l="l" t="t" r="r" b="b"/>
            <a:pathLst>
              <a:path w="5707063" h="1404938">
                <a:moveTo>
                  <a:pt x="95255" y="0"/>
                </a:moveTo>
                <a:lnTo>
                  <a:pt x="5611808" y="0"/>
                </a:lnTo>
                <a:cubicBezTo>
                  <a:pt x="5664415" y="0"/>
                  <a:pt x="5707063" y="42647"/>
                  <a:pt x="5707063" y="95255"/>
                </a:cubicBezTo>
                <a:lnTo>
                  <a:pt x="5707063" y="1309683"/>
                </a:lnTo>
                <a:cubicBezTo>
                  <a:pt x="5707063" y="1362290"/>
                  <a:pt x="5664415" y="1404938"/>
                  <a:pt x="5611808" y="1404938"/>
                </a:cubicBezTo>
                <a:lnTo>
                  <a:pt x="95255" y="1404938"/>
                </a:lnTo>
                <a:cubicBezTo>
                  <a:pt x="42647" y="1404938"/>
                  <a:pt x="0" y="1362290"/>
                  <a:pt x="0" y="1309683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05352" y="523875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6367" y="-5274"/>
                </a:moveTo>
                <a:cubicBezTo>
                  <a:pt x="85223" y="-7507"/>
                  <a:pt x="82907" y="-8930"/>
                  <a:pt x="80395" y="-8930"/>
                </a:cubicBezTo>
                <a:cubicBezTo>
                  <a:pt x="77884" y="-8930"/>
                  <a:pt x="75567" y="-7507"/>
                  <a:pt x="74423" y="-5274"/>
                </a:cubicBezTo>
                <a:lnTo>
                  <a:pt x="53885" y="34965"/>
                </a:lnTo>
                <a:lnTo>
                  <a:pt x="9265" y="42053"/>
                </a:lnTo>
                <a:cubicBezTo>
                  <a:pt x="6781" y="42444"/>
                  <a:pt x="4716" y="44202"/>
                  <a:pt x="3935" y="46602"/>
                </a:cubicBezTo>
                <a:cubicBezTo>
                  <a:pt x="3153" y="49002"/>
                  <a:pt x="3795" y="51625"/>
                  <a:pt x="5553" y="53411"/>
                </a:cubicBezTo>
                <a:lnTo>
                  <a:pt x="37477" y="85362"/>
                </a:lnTo>
                <a:lnTo>
                  <a:pt x="30445" y="129983"/>
                </a:lnTo>
                <a:cubicBezTo>
                  <a:pt x="30054" y="132466"/>
                  <a:pt x="31086" y="134978"/>
                  <a:pt x="33124" y="136457"/>
                </a:cubicBezTo>
                <a:cubicBezTo>
                  <a:pt x="35161" y="137936"/>
                  <a:pt x="37840" y="138159"/>
                  <a:pt x="40100" y="137015"/>
                </a:cubicBezTo>
                <a:lnTo>
                  <a:pt x="80395" y="116532"/>
                </a:lnTo>
                <a:lnTo>
                  <a:pt x="120662" y="137015"/>
                </a:lnTo>
                <a:cubicBezTo>
                  <a:pt x="122895" y="138159"/>
                  <a:pt x="125602" y="137936"/>
                  <a:pt x="127639" y="136457"/>
                </a:cubicBezTo>
                <a:cubicBezTo>
                  <a:pt x="129676" y="134978"/>
                  <a:pt x="130708" y="132494"/>
                  <a:pt x="130318" y="129983"/>
                </a:cubicBezTo>
                <a:lnTo>
                  <a:pt x="123258" y="85362"/>
                </a:lnTo>
                <a:lnTo>
                  <a:pt x="155181" y="53411"/>
                </a:lnTo>
                <a:cubicBezTo>
                  <a:pt x="156967" y="51625"/>
                  <a:pt x="157581" y="49002"/>
                  <a:pt x="156800" y="46602"/>
                </a:cubicBezTo>
                <a:cubicBezTo>
                  <a:pt x="156018" y="44202"/>
                  <a:pt x="153981" y="42444"/>
                  <a:pt x="151470" y="42053"/>
                </a:cubicBezTo>
                <a:lnTo>
                  <a:pt x="106877" y="34965"/>
                </a:lnTo>
                <a:lnTo>
                  <a:pt x="86367" y="-527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6" name="Text 74"/>
          <p:cNvSpPr/>
          <p:nvPr/>
        </p:nvSpPr>
        <p:spPr>
          <a:xfrm>
            <a:off x="6477000" y="5199063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TCP/IP Won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310313" y="55483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8" name="Text 76"/>
          <p:cNvSpPr/>
          <p:nvPr/>
        </p:nvSpPr>
        <p:spPr>
          <a:xfrm>
            <a:off x="6516688" y="5516563"/>
            <a:ext cx="276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Implementation: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Actually built and deployed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310313" y="5770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0" name="Text 78"/>
          <p:cNvSpPr/>
          <p:nvPr/>
        </p:nvSpPr>
        <p:spPr>
          <a:xfrm>
            <a:off x="6516688" y="5738813"/>
            <a:ext cx="2635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Backing: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DARPA funding and support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10313" y="59928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2" name="Text 80"/>
          <p:cNvSpPr/>
          <p:nvPr/>
        </p:nvSpPr>
        <p:spPr>
          <a:xfrm>
            <a:off x="6516688" y="5961063"/>
            <a:ext cx="230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Simplicity: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 layers vs 7, easier to implement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310313" y="6215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4" name="Text 82"/>
          <p:cNvSpPr/>
          <p:nvPr/>
        </p:nvSpPr>
        <p:spPr>
          <a:xfrm>
            <a:off x="6516688" y="6183313"/>
            <a:ext cx="2873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Success: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Powered ARPANET and early Internet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333375" y="6604000"/>
            <a:ext cx="11541125" cy="381000"/>
          </a:xfrm>
          <a:custGeom>
            <a:avLst/>
            <a:gdLst/>
            <a:ahLst/>
            <a:cxnLst/>
            <a:rect l="l" t="t" r="r" b="b"/>
            <a:pathLst>
              <a:path w="11541125" h="381000">
                <a:moveTo>
                  <a:pt x="0" y="0"/>
                </a:moveTo>
                <a:lnTo>
                  <a:pt x="11477624" y="0"/>
                </a:lnTo>
                <a:cubicBezTo>
                  <a:pt x="11512695" y="0"/>
                  <a:pt x="11541125" y="28430"/>
                  <a:pt x="11541125" y="63501"/>
                </a:cubicBezTo>
                <a:lnTo>
                  <a:pt x="11541125" y="317499"/>
                </a:lnTo>
                <a:cubicBezTo>
                  <a:pt x="11541125" y="352570"/>
                  <a:pt x="11512695" y="381000"/>
                  <a:pt x="11477624" y="381000"/>
                </a:cubicBez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6" name="Shape 84"/>
          <p:cNvSpPr/>
          <p:nvPr/>
        </p:nvSpPr>
        <p:spPr>
          <a:xfrm>
            <a:off x="333375" y="6604000"/>
            <a:ext cx="31750" cy="381000"/>
          </a:xfrm>
          <a:custGeom>
            <a:avLst/>
            <a:gdLst/>
            <a:ahLst/>
            <a:cxnLst/>
            <a:rect l="l" t="t" r="r" b="b"/>
            <a:pathLst>
              <a:path w="31750" h="381000">
                <a:moveTo>
                  <a:pt x="0" y="0"/>
                </a:moveTo>
                <a:lnTo>
                  <a:pt x="31750" y="0"/>
                </a:lnTo>
                <a:lnTo>
                  <a:pt x="317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7" name="Shape 85"/>
          <p:cNvSpPr/>
          <p:nvPr/>
        </p:nvSpPr>
        <p:spPr>
          <a:xfrm>
            <a:off x="476250" y="67310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8" name="Text 86"/>
          <p:cNvSpPr/>
          <p:nvPr/>
        </p:nvSpPr>
        <p:spPr>
          <a:xfrm>
            <a:off x="642938" y="6699250"/>
            <a:ext cx="1119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TCP/IP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practical standard used today, the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OSI Model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remains essential for teaching, troubleshooting, and conceptual understanding of network architecture.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7c96d8bd0d68b2c16a033c084c1161d710d63906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5C6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2181225" cy="390525"/>
          </a:xfrm>
          <a:custGeom>
            <a:avLst/>
            <a:gdLst/>
            <a:ahLst/>
            <a:cxnLst/>
            <a:rect l="l" t="t" r="r" b="b"/>
            <a:pathLst>
              <a:path w="2181225" h="390525">
                <a:moveTo>
                  <a:pt x="76199" y="0"/>
                </a:moveTo>
                <a:lnTo>
                  <a:pt x="2105026" y="0"/>
                </a:lnTo>
                <a:cubicBezTo>
                  <a:pt x="2147109" y="0"/>
                  <a:pt x="2181225" y="34116"/>
                  <a:pt x="2181225" y="76199"/>
                </a:cubicBezTo>
                <a:lnTo>
                  <a:pt x="2181225" y="314326"/>
                </a:lnTo>
                <a:cubicBezTo>
                  <a:pt x="2181225" y="356409"/>
                  <a:pt x="2147109" y="390525"/>
                  <a:pt x="21050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495300"/>
            <a:ext cx="19459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JOURNEY COMPLETE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933450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"lo" to Global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Connectivity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2288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2419350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began as a defense project with a crashed "login" attempt has evolved into the backbone of global communication.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5763" y="3271838"/>
            <a:ext cx="3695700" cy="1666875"/>
          </a:xfrm>
          <a:custGeom>
            <a:avLst/>
            <a:gdLst/>
            <a:ahLst/>
            <a:cxnLst/>
            <a:rect l="l" t="t" r="r" b="b"/>
            <a:pathLst>
              <a:path w="3695700" h="1666875">
                <a:moveTo>
                  <a:pt x="114298" y="0"/>
                </a:moveTo>
                <a:lnTo>
                  <a:pt x="3581402" y="0"/>
                </a:lnTo>
                <a:cubicBezTo>
                  <a:pt x="3644527" y="0"/>
                  <a:pt x="3695700" y="51173"/>
                  <a:pt x="3695700" y="114298"/>
                </a:cubicBezTo>
                <a:lnTo>
                  <a:pt x="3695700" y="1552577"/>
                </a:lnTo>
                <a:cubicBezTo>
                  <a:pt x="3695700" y="1615702"/>
                  <a:pt x="3644527" y="1666875"/>
                  <a:pt x="3581402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2925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1" name="Shape 8"/>
          <p:cNvSpPr/>
          <p:nvPr/>
        </p:nvSpPr>
        <p:spPr>
          <a:xfrm>
            <a:off x="676275" y="3562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42925" y="4000500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Layered Architecture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2925" y="4343400"/>
            <a:ext cx="3448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OSI and TCP/IP models provide structured frameworks for understanding complex network interactions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46513" y="3271838"/>
            <a:ext cx="3695700" cy="1666875"/>
          </a:xfrm>
          <a:custGeom>
            <a:avLst/>
            <a:gdLst/>
            <a:ahLst/>
            <a:cxnLst/>
            <a:rect l="l" t="t" r="r" b="b"/>
            <a:pathLst>
              <a:path w="3695700" h="1666875">
                <a:moveTo>
                  <a:pt x="114298" y="0"/>
                </a:moveTo>
                <a:lnTo>
                  <a:pt x="3581402" y="0"/>
                </a:lnTo>
                <a:cubicBezTo>
                  <a:pt x="3644527" y="0"/>
                  <a:pt x="3695700" y="51173"/>
                  <a:pt x="3695700" y="114298"/>
                </a:cubicBezTo>
                <a:lnTo>
                  <a:pt x="3695700" y="1552577"/>
                </a:lnTo>
                <a:cubicBezTo>
                  <a:pt x="3695700" y="1615702"/>
                  <a:pt x="3644527" y="1666875"/>
                  <a:pt x="3581402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03675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/>
              </a:gs>
              <a:gs pos="100000">
                <a:srgbClr val="8D99AE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6" name="Shape 13"/>
          <p:cNvSpPr/>
          <p:nvPr/>
        </p:nvSpPr>
        <p:spPr>
          <a:xfrm>
            <a:off x="4537025" y="3562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455" y="-930"/>
                </a:moveTo>
                <a:cubicBezTo>
                  <a:pt x="90822" y="-5172"/>
                  <a:pt x="99901" y="-5172"/>
                  <a:pt x="107268" y="-930"/>
                </a:cubicBezTo>
                <a:lnTo>
                  <a:pt x="172715" y="36835"/>
                </a:lnTo>
                <a:cubicBezTo>
                  <a:pt x="180082" y="41077"/>
                  <a:pt x="184621" y="48964"/>
                  <a:pt x="184621" y="57448"/>
                </a:cubicBezTo>
                <a:lnTo>
                  <a:pt x="184621" y="132978"/>
                </a:lnTo>
                <a:cubicBezTo>
                  <a:pt x="184621" y="141498"/>
                  <a:pt x="180082" y="149349"/>
                  <a:pt x="172715" y="153591"/>
                </a:cubicBezTo>
                <a:lnTo>
                  <a:pt x="107268" y="191430"/>
                </a:lnTo>
                <a:cubicBezTo>
                  <a:pt x="99901" y="195672"/>
                  <a:pt x="90822" y="195672"/>
                  <a:pt x="83455" y="191430"/>
                </a:cubicBezTo>
                <a:lnTo>
                  <a:pt x="18045" y="153665"/>
                </a:lnTo>
                <a:cubicBezTo>
                  <a:pt x="10678" y="149423"/>
                  <a:pt x="6139" y="141536"/>
                  <a:pt x="6139" y="133052"/>
                </a:cubicBezTo>
                <a:lnTo>
                  <a:pt x="6139" y="57522"/>
                </a:lnTo>
                <a:cubicBezTo>
                  <a:pt x="6139" y="49002"/>
                  <a:pt x="10678" y="41151"/>
                  <a:pt x="18045" y="36909"/>
                </a:cubicBezTo>
                <a:lnTo>
                  <a:pt x="83455" y="-930"/>
                </a:lnTo>
                <a:close/>
                <a:moveTo>
                  <a:pt x="160772" y="133015"/>
                </a:moveTo>
                <a:lnTo>
                  <a:pt x="160772" y="71214"/>
                </a:lnTo>
                <a:lnTo>
                  <a:pt x="107268" y="102096"/>
                </a:lnTo>
                <a:lnTo>
                  <a:pt x="107268" y="163897"/>
                </a:lnTo>
                <a:lnTo>
                  <a:pt x="160772" y="13301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4403675" y="4000500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Packet Switching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03675" y="4343400"/>
            <a:ext cx="3448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revolutionary concept that enables resilient, decentralized communication across global networks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07263" y="3271838"/>
            <a:ext cx="3695700" cy="1666875"/>
          </a:xfrm>
          <a:custGeom>
            <a:avLst/>
            <a:gdLst/>
            <a:ahLst/>
            <a:cxnLst/>
            <a:rect l="l" t="t" r="r" b="b"/>
            <a:pathLst>
              <a:path w="3695700" h="1666875">
                <a:moveTo>
                  <a:pt x="114298" y="0"/>
                </a:moveTo>
                <a:lnTo>
                  <a:pt x="3581402" y="0"/>
                </a:lnTo>
                <a:cubicBezTo>
                  <a:pt x="3644527" y="0"/>
                  <a:pt x="3695700" y="51173"/>
                  <a:pt x="3695700" y="114298"/>
                </a:cubicBezTo>
                <a:lnTo>
                  <a:pt x="3695700" y="1552577"/>
                </a:lnTo>
                <a:cubicBezTo>
                  <a:pt x="3695700" y="1615702"/>
                  <a:pt x="3644527" y="1666875"/>
                  <a:pt x="3581402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64426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/>
              </a:gs>
              <a:gs pos="100000">
                <a:srgbClr val="E07A5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1" name="Shape 18"/>
          <p:cNvSpPr/>
          <p:nvPr/>
        </p:nvSpPr>
        <p:spPr>
          <a:xfrm>
            <a:off x="8397776" y="3562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8264426" y="4000500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Standardized Protocols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264426" y="4343400"/>
            <a:ext cx="3448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TCP/IP provides the universal language enabling billions of devices to communicate seamlessly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00050" y="5167313"/>
            <a:ext cx="11410950" cy="866775"/>
          </a:xfrm>
          <a:custGeom>
            <a:avLst/>
            <a:gdLst/>
            <a:ahLst/>
            <a:cxnLst/>
            <a:rect l="l" t="t" r="r" b="b"/>
            <a:pathLst>
              <a:path w="11410950" h="866775">
                <a:moveTo>
                  <a:pt x="0" y="0"/>
                </a:moveTo>
                <a:lnTo>
                  <a:pt x="11334752" y="0"/>
                </a:lnTo>
                <a:cubicBezTo>
                  <a:pt x="11376835" y="0"/>
                  <a:pt x="11410950" y="34115"/>
                  <a:pt x="11410950" y="76198"/>
                </a:cubicBezTo>
                <a:lnTo>
                  <a:pt x="11410950" y="790577"/>
                </a:lnTo>
                <a:cubicBezTo>
                  <a:pt x="11410950" y="832660"/>
                  <a:pt x="11376835" y="866775"/>
                  <a:pt x="11334752" y="866775"/>
                </a:cubicBez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5" name="Shape 22"/>
          <p:cNvSpPr/>
          <p:nvPr/>
        </p:nvSpPr>
        <p:spPr>
          <a:xfrm>
            <a:off x="400050" y="5167313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6" name="Shape 23"/>
          <p:cNvSpPr/>
          <p:nvPr/>
        </p:nvSpPr>
        <p:spPr>
          <a:xfrm>
            <a:off x="606028" y="537686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72330"/>
                </a:moveTo>
                <a:cubicBezTo>
                  <a:pt x="0" y="50129"/>
                  <a:pt x="17982" y="32147"/>
                  <a:pt x="40184" y="32147"/>
                </a:cubicBezTo>
                <a:lnTo>
                  <a:pt x="42863" y="32147"/>
                </a:lnTo>
                <a:cubicBezTo>
                  <a:pt x="48790" y="32147"/>
                  <a:pt x="53578" y="36935"/>
                  <a:pt x="53578" y="42863"/>
                </a:cubicBezTo>
                <a:cubicBezTo>
                  <a:pt x="53578" y="48790"/>
                  <a:pt x="48790" y="53578"/>
                  <a:pt x="42863" y="53578"/>
                </a:cubicBezTo>
                <a:lnTo>
                  <a:pt x="40184" y="53578"/>
                </a:lnTo>
                <a:cubicBezTo>
                  <a:pt x="29836" y="53578"/>
                  <a:pt x="21431" y="61983"/>
                  <a:pt x="21431" y="72330"/>
                </a:cubicBezTo>
                <a:lnTo>
                  <a:pt x="21431" y="75009"/>
                </a:lnTo>
                <a:lnTo>
                  <a:pt x="42863" y="75009"/>
                </a:lnTo>
                <a:cubicBezTo>
                  <a:pt x="54683" y="75009"/>
                  <a:pt x="64294" y="84620"/>
                  <a:pt x="64294" y="96441"/>
                </a:cubicBezTo>
                <a:lnTo>
                  <a:pt x="64294" y="117872"/>
                </a:lnTo>
                <a:cubicBezTo>
                  <a:pt x="64294" y="129693"/>
                  <a:pt x="54683" y="139303"/>
                  <a:pt x="42863" y="139303"/>
                </a:cubicBezTo>
                <a:lnTo>
                  <a:pt x="21431" y="139303"/>
                </a:lnTo>
                <a:cubicBezTo>
                  <a:pt x="9611" y="139303"/>
                  <a:pt x="0" y="129693"/>
                  <a:pt x="0" y="117872"/>
                </a:cubicBezTo>
                <a:lnTo>
                  <a:pt x="0" y="72330"/>
                </a:lnTo>
                <a:close/>
                <a:moveTo>
                  <a:pt x="85725" y="72330"/>
                </a:moveTo>
                <a:cubicBezTo>
                  <a:pt x="85725" y="50129"/>
                  <a:pt x="103707" y="32147"/>
                  <a:pt x="125909" y="32147"/>
                </a:cubicBezTo>
                <a:lnTo>
                  <a:pt x="128588" y="32147"/>
                </a:lnTo>
                <a:cubicBezTo>
                  <a:pt x="134515" y="32147"/>
                  <a:pt x="139303" y="36935"/>
                  <a:pt x="139303" y="42863"/>
                </a:cubicBezTo>
                <a:cubicBezTo>
                  <a:pt x="139303" y="48790"/>
                  <a:pt x="134515" y="53578"/>
                  <a:pt x="128588" y="53578"/>
                </a:cubicBezTo>
                <a:lnTo>
                  <a:pt x="125909" y="53578"/>
                </a:lnTo>
                <a:cubicBezTo>
                  <a:pt x="115561" y="53578"/>
                  <a:pt x="107156" y="61983"/>
                  <a:pt x="107156" y="72330"/>
                </a:cubicBezTo>
                <a:lnTo>
                  <a:pt x="107156" y="75009"/>
                </a:lnTo>
                <a:lnTo>
                  <a:pt x="128588" y="75009"/>
                </a:lnTo>
                <a:cubicBezTo>
                  <a:pt x="140408" y="75009"/>
                  <a:pt x="150019" y="84620"/>
                  <a:pt x="150019" y="96441"/>
                </a:cubicBezTo>
                <a:lnTo>
                  <a:pt x="150019" y="117872"/>
                </a:lnTo>
                <a:cubicBezTo>
                  <a:pt x="150019" y="129693"/>
                  <a:pt x="140408" y="139303"/>
                  <a:pt x="128588" y="139303"/>
                </a:cubicBezTo>
                <a:lnTo>
                  <a:pt x="107156" y="139303"/>
                </a:lnTo>
                <a:cubicBezTo>
                  <a:pt x="95336" y="139303"/>
                  <a:pt x="85725" y="129693"/>
                  <a:pt x="85725" y="117872"/>
                </a:cubicBezTo>
                <a:lnTo>
                  <a:pt x="85725" y="7233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7" name="Text 24"/>
          <p:cNvSpPr/>
          <p:nvPr/>
        </p:nvSpPr>
        <p:spPr>
          <a:xfrm>
            <a:off x="847725" y="5319713"/>
            <a:ext cx="10896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Internet's Impact: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a military research project to the foundation of modern civilization — connecting people, enabling commerce, accelerating innovation, and transforming how we share knowledge across the planet.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81000" y="6210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9" name="Text 26"/>
          <p:cNvSpPr/>
          <p:nvPr/>
        </p:nvSpPr>
        <p:spPr>
          <a:xfrm>
            <a:off x="571500" y="6172200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1957 - 2025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435745" y="6191250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0" y="0"/>
                </a:moveTo>
                <a:lnTo>
                  <a:pt x="9525" y="0"/>
                </a:lnTo>
                <a:lnTo>
                  <a:pt x="9525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1" name="Text 28"/>
          <p:cNvSpPr/>
          <p:nvPr/>
        </p:nvSpPr>
        <p:spPr>
          <a:xfrm>
            <a:off x="1597670" y="617220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 Years of Innovation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839027" y="6057900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829502" y="62484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Networking Fundamentals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Fundamentals</dc:title>
  <dc:subject>Networking Fundamentals</dc:subject>
  <dc:creator>Kimi</dc:creator>
  <cp:lastModifiedBy>Kimi</cp:lastModifiedBy>
  <cp:revision>1</cp:revision>
  <dcterms:created xsi:type="dcterms:W3CDTF">2026-02-15T05:01:15Z</dcterms:created>
  <dcterms:modified xsi:type="dcterms:W3CDTF">2026-02-15T05:01:15Z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{"Label":"Networking Fundamentals","ContentProducer":"001191110108MACG2KBH8F10000","ProduceID":"19c5fa29-a472-8d6c-8000-0000b229f82a","ReservedCode1":"","ContentPropagator":"001191110108MACG2KBH8F20000","PropagateID":"19c5fa29-a472-8d6c-8000-0000b229f82a","ReservedCode2":""}</vt:lpwstr>
  </property>
</Properties>
</file>
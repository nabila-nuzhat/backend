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6256000" cy="9144000"/>
  <p:notesSz cx="9144000" cy="16256000"/>
  <p:embeddedFontLst>
    <p:embeddedFont>
      <p:font typeface="Liter" panose="020B0604020202020204" charset="0"/>
      <p:regular r:id="rId22"/>
    </p:embeddedFont>
    <p:embeddedFont>
      <p:font typeface="Quattrocento Sans" panose="020B0502050000020003" pitchFamily="34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9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4634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3tmzt32f22la/mnt/agents/output/api_design/images/3_Abstract_Digital_Network_Grid_With.png"/>
          <p:cNvPicPr>
            <a:picLocks noChangeAspect="1"/>
          </p:cNvPicPr>
          <p:nvPr/>
        </p:nvPicPr>
        <p:blipFill>
          <a:blip r:embed="rId3"/>
          <a:srcRect l="1481" r="14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B4D4D">
                  <a:alpha val="80000"/>
                </a:srgbClr>
              </a:gs>
              <a:gs pos="100000">
                <a:srgbClr val="1B4D4D">
                  <a:alpha val="95000"/>
                </a:srgbClr>
              </a:gs>
            </a:gsLst>
            <a:path path="circle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318000" y="2921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kern="0" spc="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COMPLETE GUIDE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778000" y="3429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kern="0" spc="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DESIGN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778000" y="4318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Fundamentals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175500" y="5080000"/>
            <a:ext cx="1905000" cy="381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048000" y="5334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Modern, Scalable, and Maintainable APIs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952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3429000" cy="5842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9500" y="2476500"/>
            <a:ext cx="12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079500" y="34925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Fundamentals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500" y="40005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APIs are, how they work, and the different types available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2159000"/>
            <a:ext cx="3429000" cy="5842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89500" y="2476500"/>
            <a:ext cx="12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889500" y="34925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Architecture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89500" y="40005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principles and constraints that define RESTful API design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382000" y="2159000"/>
            <a:ext cx="3429000" cy="5842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99500" y="2476500"/>
            <a:ext cx="12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699500" y="34925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Practices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99500" y="40005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clean, scalable, and maintainable APIs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192000" y="2159000"/>
            <a:ext cx="3429000" cy="5842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509500" y="2476500"/>
            <a:ext cx="12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12509500" y="34925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Docs &amp; Quality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509500" y="40005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Documentation, validation, and optimization</a:t>
            </a:r>
            <a:endParaRPr lang="en-US" sz="15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3tmzt32f22la/mnt/agents/output/api_design/images/7_Abstract_network_connections_with.png"/>
          <p:cNvPicPr>
            <a:picLocks noChangeAspect="1"/>
          </p:cNvPicPr>
          <p:nvPr/>
        </p:nvPicPr>
        <p:blipFill>
          <a:blip r:embed="rId3"/>
          <a:srcRect l="160" r="16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B4D4D">
                  <a:alpha val="90000"/>
                </a:srgbClr>
              </a:gs>
              <a:gs pos="100000">
                <a:srgbClr val="1B4D4D">
                  <a:alpha val="94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588000" y="2286000"/>
            <a:ext cx="508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7175500" y="3746500"/>
            <a:ext cx="1905000" cy="381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048000" y="40005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kern="0" spc="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FUNDAMENTALS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683000" y="4889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APIs, how they work, and their types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an API?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8382000" cy="1651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2000" y="1778000"/>
            <a:ext cx="63500" cy="1651000"/>
          </a:xfrm>
          <a:prstGeom prst="rect">
            <a:avLst/>
          </a:pr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79500" y="1905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9500" y="2260600"/>
            <a:ext cx="7810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</a:t>
            </a: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(Application Programming Interface) is a set of rules that allows different software applications to </a:t>
            </a: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communicate</a:t>
            </a: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each other.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2000" y="3810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4318000"/>
            <a:ext cx="101600" cy="101600"/>
          </a:xfrm>
          <a:prstGeom prst="rect">
            <a:avLst/>
          </a:pr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16000" y="4216400"/>
            <a:ext cx="812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Defines </a:t>
            </a: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requests and responses</a:t>
            </a: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should be structured between systems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62000" y="5080000"/>
            <a:ext cx="101600" cy="101600"/>
          </a:xfrm>
          <a:prstGeom prst="rect">
            <a:avLst/>
          </a:pr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16000" y="4978400"/>
            <a:ext cx="812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</a:t>
            </a: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integration</a:t>
            </a: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different software services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62000" y="5842000"/>
            <a:ext cx="101600" cy="101600"/>
          </a:xfrm>
          <a:prstGeom prst="rect">
            <a:avLst/>
          </a:pr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16000" y="5740400"/>
            <a:ext cx="812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Acts as a </a:t>
            </a: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bridge</a:t>
            </a: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one app requests data, another returns it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652000" y="1778000"/>
            <a:ext cx="5842000" cy="4953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33000" y="2032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API BRIDGE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414000" y="2667000"/>
            <a:ext cx="1778000" cy="762000"/>
          </a:xfrm>
          <a:prstGeom prst="roundRect">
            <a:avLst>
              <a:gd name="adj" fmla="val 10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414000" y="2667000"/>
            <a:ext cx="177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 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192000" y="2984500"/>
            <a:ext cx="762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954000" y="2667000"/>
            <a:ext cx="1778000" cy="762000"/>
          </a:xfrm>
          <a:prstGeom prst="roundRect">
            <a:avLst>
              <a:gd name="adj" fmla="val 10000"/>
            </a:avLst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954000" y="2667000"/>
            <a:ext cx="177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192000" y="3873500"/>
            <a:ext cx="762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414000" y="3556000"/>
            <a:ext cx="1778000" cy="762000"/>
          </a:xfrm>
          <a:prstGeom prst="roundRect">
            <a:avLst>
              <a:gd name="adj" fmla="val 10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414000" y="3556000"/>
            <a:ext cx="177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 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192000" y="27305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128500" y="4445000"/>
            <a:ext cx="88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33000" y="4826000"/>
            <a:ext cx="508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API sits between applications, translating requests into a format each system understands.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8A9B8C">
                <a:alpha val="3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APIs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APIs operate on a </a:t>
            </a: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client-server model</a:t>
            </a: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client sends a request, the server processes it, and returns a response.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2000" y="2667000"/>
            <a:ext cx="3302000" cy="3556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6000" y="2857500"/>
            <a:ext cx="69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16000" y="3492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Request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3937000"/>
            <a:ext cx="279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application making the request sends an HTTP request to a specific endpoint with required parameters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91000" y="4318000"/>
            <a:ext cx="508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26000" y="2667000"/>
            <a:ext cx="3302000" cy="3556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80000" y="2857500"/>
            <a:ext cx="69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080000" y="3492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Processes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80000" y="3937000"/>
            <a:ext cx="279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server receives the request, validates it, performs the required operation, and prepares a response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55000" y="4318000"/>
            <a:ext cx="508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890000" y="2667000"/>
            <a:ext cx="3302000" cy="3556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0" y="2857500"/>
            <a:ext cx="69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144000" y="3492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Sent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0" y="3937000"/>
            <a:ext cx="279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server sends back a response containing the requested data or a status message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319000" y="4318000"/>
            <a:ext cx="508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954000" y="2667000"/>
            <a:ext cx="2540000" cy="3556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208000" y="2857500"/>
            <a:ext cx="69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3208000" y="34925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Uses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08000" y="3937000"/>
            <a:ext cx="203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client receives and processes the response data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8A9B8C">
                <a:alpha val="3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APIs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2000" y="1714500"/>
            <a:ext cx="7175500" cy="15875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2000" y="1714500"/>
            <a:ext cx="63500" cy="15875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1400" y="190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44450"/>
                </a:moveTo>
                <a:cubicBezTo>
                  <a:pt x="0" y="19933"/>
                  <a:pt x="26577" y="0"/>
                  <a:pt x="59267" y="0"/>
                </a:cubicBezTo>
                <a:lnTo>
                  <a:pt x="197710" y="0"/>
                </a:lnTo>
                <a:cubicBezTo>
                  <a:pt x="213453" y="0"/>
                  <a:pt x="228547" y="4653"/>
                  <a:pt x="239660" y="12988"/>
                </a:cubicBezTo>
                <a:lnTo>
                  <a:pt x="338283" y="87025"/>
                </a:lnTo>
                <a:cubicBezTo>
                  <a:pt x="349396" y="95359"/>
                  <a:pt x="355600" y="106680"/>
                  <a:pt x="355600" y="118487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92617" y="40630"/>
                </a:moveTo>
                <a:lnTo>
                  <a:pt x="192617" y="105569"/>
                </a:lnTo>
                <a:cubicBezTo>
                  <a:pt x="192617" y="114806"/>
                  <a:pt x="202525" y="122238"/>
                  <a:pt x="214842" y="122238"/>
                </a:cubicBezTo>
                <a:lnTo>
                  <a:pt x="301427" y="122238"/>
                </a:lnTo>
                <a:lnTo>
                  <a:pt x="192617" y="40630"/>
                </a:lnTo>
                <a:close/>
                <a:moveTo>
                  <a:pt x="142796" y="205303"/>
                </a:moveTo>
                <a:cubicBezTo>
                  <a:pt x="150760" y="198289"/>
                  <a:pt x="149741" y="187801"/>
                  <a:pt x="140388" y="181828"/>
                </a:cubicBezTo>
                <a:cubicBezTo>
                  <a:pt x="131035" y="175855"/>
                  <a:pt x="117052" y="176619"/>
                  <a:pt x="109088" y="183634"/>
                </a:cubicBezTo>
                <a:lnTo>
                  <a:pt x="64638" y="222528"/>
                </a:lnTo>
                <a:cubicBezTo>
                  <a:pt x="57507" y="228779"/>
                  <a:pt x="57507" y="237946"/>
                  <a:pt x="64638" y="244197"/>
                </a:cubicBezTo>
                <a:lnTo>
                  <a:pt x="109088" y="283091"/>
                </a:lnTo>
                <a:cubicBezTo>
                  <a:pt x="117052" y="290106"/>
                  <a:pt x="131128" y="290870"/>
                  <a:pt x="140388" y="284897"/>
                </a:cubicBezTo>
                <a:cubicBezTo>
                  <a:pt x="149648" y="278924"/>
                  <a:pt x="150760" y="268367"/>
                  <a:pt x="142796" y="261422"/>
                </a:cubicBezTo>
                <a:lnTo>
                  <a:pt x="110755" y="233363"/>
                </a:lnTo>
                <a:lnTo>
                  <a:pt x="142796" y="205303"/>
                </a:lnTo>
                <a:close/>
                <a:moveTo>
                  <a:pt x="246512" y="183634"/>
                </a:moveTo>
                <a:cubicBezTo>
                  <a:pt x="238548" y="176619"/>
                  <a:pt x="224473" y="175855"/>
                  <a:pt x="215212" y="181828"/>
                </a:cubicBezTo>
                <a:cubicBezTo>
                  <a:pt x="205952" y="187801"/>
                  <a:pt x="204840" y="198358"/>
                  <a:pt x="212804" y="205303"/>
                </a:cubicBezTo>
                <a:lnTo>
                  <a:pt x="244845" y="233363"/>
                </a:lnTo>
                <a:lnTo>
                  <a:pt x="212804" y="261422"/>
                </a:lnTo>
                <a:cubicBezTo>
                  <a:pt x="204840" y="268436"/>
                  <a:pt x="205859" y="278924"/>
                  <a:pt x="215212" y="284897"/>
                </a:cubicBezTo>
                <a:cubicBezTo>
                  <a:pt x="224565" y="290870"/>
                  <a:pt x="238548" y="290106"/>
                  <a:pt x="246512" y="283091"/>
                </a:cubicBezTo>
                <a:lnTo>
                  <a:pt x="290962" y="244197"/>
                </a:lnTo>
                <a:cubicBezTo>
                  <a:pt x="298093" y="237946"/>
                  <a:pt x="298093" y="228779"/>
                  <a:pt x="290962" y="222528"/>
                </a:cubicBezTo>
                <a:lnTo>
                  <a:pt x="246512" y="183634"/>
                </a:lnTo>
                <a:close/>
              </a:path>
            </a:pathLst>
          </a:cu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24000" y="1879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SOAP APIs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41400" y="2349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type that uses </a:t>
            </a: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XML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exchange data. Highly structured and protocol-heavy, often used in enterprise systems.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18500" y="1714500"/>
            <a:ext cx="7175500" cy="15875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318500" y="1714500"/>
            <a:ext cx="63500" cy="15875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97900" y="190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529" y="82371"/>
                </a:moveTo>
                <a:cubicBezTo>
                  <a:pt x="-2153" y="73690"/>
                  <a:pt x="-2153" y="59591"/>
                  <a:pt x="6529" y="50909"/>
                </a:cubicBezTo>
                <a:cubicBezTo>
                  <a:pt x="15210" y="42228"/>
                  <a:pt x="29309" y="42228"/>
                  <a:pt x="37991" y="50909"/>
                </a:cubicBezTo>
                <a:lnTo>
                  <a:pt x="149116" y="162034"/>
                </a:lnTo>
                <a:cubicBezTo>
                  <a:pt x="157798" y="170716"/>
                  <a:pt x="157798" y="184815"/>
                  <a:pt x="149116" y="193496"/>
                </a:cubicBezTo>
                <a:lnTo>
                  <a:pt x="37991" y="304621"/>
                </a:lnTo>
                <a:cubicBezTo>
                  <a:pt x="29309" y="313303"/>
                  <a:pt x="15210" y="313303"/>
                  <a:pt x="6529" y="304621"/>
                </a:cubicBezTo>
                <a:cubicBezTo>
                  <a:pt x="-2153" y="295940"/>
                  <a:pt x="-2153" y="281841"/>
                  <a:pt x="6529" y="273159"/>
                </a:cubicBezTo>
                <a:lnTo>
                  <a:pt x="101888" y="177800"/>
                </a:lnTo>
                <a:lnTo>
                  <a:pt x="6529" y="82371"/>
                </a:lnTo>
                <a:close/>
                <a:moveTo>
                  <a:pt x="155575" y="266700"/>
                </a:move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55575" y="311150"/>
                </a:lnTo>
                <a:cubicBezTo>
                  <a:pt x="143282" y="311150"/>
                  <a:pt x="133350" y="301218"/>
                  <a:pt x="133350" y="288925"/>
                </a:cubicBezTo>
                <a:cubicBezTo>
                  <a:pt x="133350" y="276632"/>
                  <a:pt x="143282" y="266700"/>
                  <a:pt x="155575" y="266700"/>
                </a:cubicBezTo>
                <a:close/>
              </a:path>
            </a:pathLst>
          </a:cu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080500" y="1879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RPC APIs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597900" y="2349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client sends a request to execute a </a:t>
            </a: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procedure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server performs the task and returns the result.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2000" y="3619500"/>
            <a:ext cx="7175500" cy="15875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41400" y="381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24000" y="3784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APIs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842000" y="38100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kern="0" spc="1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COMMON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41400" y="4254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most widely used type. Client sends requests with data; server responds with data. Operates over </a:t>
            </a: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18500" y="3619500"/>
            <a:ext cx="7175500" cy="15875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18500" y="3619500"/>
            <a:ext cx="63500" cy="15875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597900" y="381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5770" y="158700"/>
                </a:moveTo>
                <a:cubicBezTo>
                  <a:pt x="55007" y="94109"/>
                  <a:pt x="110639" y="44450"/>
                  <a:pt x="177800" y="44450"/>
                </a:cubicBezTo>
                <a:cubicBezTo>
                  <a:pt x="214610" y="44450"/>
                  <a:pt x="247948" y="59382"/>
                  <a:pt x="272117" y="83483"/>
                </a:cubicBezTo>
                <a:cubicBezTo>
                  <a:pt x="272256" y="83622"/>
                  <a:pt x="272395" y="83760"/>
                  <a:pt x="272534" y="83899"/>
                </a:cubicBezTo>
                <a:lnTo>
                  <a:pt x="277813" y="88900"/>
                </a:lnTo>
                <a:lnTo>
                  <a:pt x="244544" y="88900"/>
                </a:lnTo>
                <a:cubicBezTo>
                  <a:pt x="232251" y="88900"/>
                  <a:pt x="222319" y="98832"/>
                  <a:pt x="222319" y="111125"/>
                </a:cubicBezTo>
                <a:cubicBezTo>
                  <a:pt x="222319" y="123418"/>
                  <a:pt x="232251" y="133350"/>
                  <a:pt x="244544" y="133350"/>
                </a:cubicBezTo>
                <a:lnTo>
                  <a:pt x="333444" y="133350"/>
                </a:lnTo>
                <a:cubicBezTo>
                  <a:pt x="345738" y="133350"/>
                  <a:pt x="355669" y="123418"/>
                  <a:pt x="355669" y="111125"/>
                </a:cubicBezTo>
                <a:lnTo>
                  <a:pt x="355669" y="22225"/>
                </a:lnTo>
                <a:cubicBezTo>
                  <a:pt x="355669" y="9932"/>
                  <a:pt x="345738" y="0"/>
                  <a:pt x="333444" y="0"/>
                </a:cubicBezTo>
                <a:cubicBezTo>
                  <a:pt x="321151" y="0"/>
                  <a:pt x="311219" y="9932"/>
                  <a:pt x="311219" y="22225"/>
                </a:cubicBezTo>
                <a:lnTo>
                  <a:pt x="311219" y="59313"/>
                </a:lnTo>
                <a:lnTo>
                  <a:pt x="303371" y="51881"/>
                </a:lnTo>
                <a:cubicBezTo>
                  <a:pt x="271214" y="19864"/>
                  <a:pt x="226764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lose/>
                <a:moveTo>
                  <a:pt x="353794" y="203150"/>
                </a:moveTo>
                <a:cubicBezTo>
                  <a:pt x="355531" y="190996"/>
                  <a:pt x="347057" y="179745"/>
                  <a:pt x="334972" y="178008"/>
                </a:cubicBezTo>
                <a:cubicBezTo>
                  <a:pt x="322888" y="176272"/>
                  <a:pt x="311567" y="184745"/>
                  <a:pt x="309830" y="196830"/>
                </a:cubicBezTo>
                <a:cubicBezTo>
                  <a:pt x="300593" y="261422"/>
                  <a:pt x="244961" y="311081"/>
                  <a:pt x="177800" y="311081"/>
                </a:cubicBezTo>
                <a:cubicBezTo>
                  <a:pt x="140990" y="311081"/>
                  <a:pt x="107652" y="296148"/>
                  <a:pt x="83483" y="272048"/>
                </a:cubicBezTo>
                <a:cubicBezTo>
                  <a:pt x="83344" y="271909"/>
                  <a:pt x="83205" y="271770"/>
                  <a:pt x="83066" y="271631"/>
                </a:cubicBezTo>
                <a:lnTo>
                  <a:pt x="77787" y="266631"/>
                </a:lnTo>
                <a:lnTo>
                  <a:pt x="111056" y="266631"/>
                </a:lnTo>
                <a:cubicBezTo>
                  <a:pt x="123349" y="266631"/>
                  <a:pt x="133281" y="256699"/>
                  <a:pt x="133281" y="244406"/>
                </a:cubicBezTo>
                <a:cubicBezTo>
                  <a:pt x="133281" y="232112"/>
                  <a:pt x="123349" y="222181"/>
                  <a:pt x="111056" y="222181"/>
                </a:cubicBezTo>
                <a:lnTo>
                  <a:pt x="22225" y="222250"/>
                </a:lnTo>
                <a:cubicBezTo>
                  <a:pt x="16321" y="222250"/>
                  <a:pt x="10626" y="224611"/>
                  <a:pt x="6459" y="228848"/>
                </a:cubicBezTo>
                <a:cubicBezTo>
                  <a:pt x="2292" y="233085"/>
                  <a:pt x="-69" y="238710"/>
                  <a:pt x="0" y="244683"/>
                </a:cubicBezTo>
                <a:lnTo>
                  <a:pt x="695" y="332889"/>
                </a:lnTo>
                <a:cubicBezTo>
                  <a:pt x="764" y="345182"/>
                  <a:pt x="10835" y="355044"/>
                  <a:pt x="23128" y="354905"/>
                </a:cubicBezTo>
                <a:cubicBezTo>
                  <a:pt x="35421" y="354767"/>
                  <a:pt x="45283" y="344765"/>
                  <a:pt x="45145" y="332472"/>
                </a:cubicBezTo>
                <a:lnTo>
                  <a:pt x="44867" y="296704"/>
                </a:lnTo>
                <a:lnTo>
                  <a:pt x="52298" y="303719"/>
                </a:lnTo>
                <a:cubicBezTo>
                  <a:pt x="84455" y="335736"/>
                  <a:pt x="128836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80500" y="37846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WebSocket APIs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597900" y="4254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Supports </a:t>
            </a: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two-way communication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client and server. The server can push real-time updates to the client.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62000" y="5651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D4943A">
              <a:alpha val="823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62000" y="5651500"/>
            <a:ext cx="63500" cy="10160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41400" y="590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2489" y="228600"/>
                </a:moveTo>
                <a:cubicBezTo>
                  <a:pt x="238284" y="215325"/>
                  <a:pt x="249872" y="203299"/>
                  <a:pt x="262969" y="192941"/>
                </a:cubicBezTo>
                <a:cubicBezTo>
                  <a:pt x="288925" y="172462"/>
                  <a:pt x="304800" y="144780"/>
                  <a:pt x="304800" y="114300"/>
                </a:cubicBezTo>
                <a:cubicBezTo>
                  <a:pt x="304800" y="51197"/>
                  <a:pt x="236537" y="0"/>
                  <a:pt x="152400" y="0"/>
                </a:cubicBezTo>
                <a:cubicBezTo>
                  <a:pt x="68262" y="0"/>
                  <a:pt x="0" y="51197"/>
                  <a:pt x="0" y="114300"/>
                </a:cubicBezTo>
                <a:cubicBezTo>
                  <a:pt x="0" y="144780"/>
                  <a:pt x="15875" y="172462"/>
                  <a:pt x="41831" y="192941"/>
                </a:cubicBezTo>
                <a:cubicBezTo>
                  <a:pt x="54928" y="203299"/>
                  <a:pt x="66596" y="215325"/>
                  <a:pt x="72311" y="228600"/>
                </a:cubicBezTo>
                <a:lnTo>
                  <a:pt x="232410" y="228600"/>
                </a:lnTo>
                <a:close/>
                <a:moveTo>
                  <a:pt x="228600" y="257175"/>
                </a:moveTo>
                <a:lnTo>
                  <a:pt x="76200" y="257175"/>
                </a:lnTo>
                <a:lnTo>
                  <a:pt x="76200" y="266700"/>
                </a:lnTo>
                <a:cubicBezTo>
                  <a:pt x="76200" y="293013"/>
                  <a:pt x="104616" y="314325"/>
                  <a:pt x="139700" y="314325"/>
                </a:cubicBezTo>
                <a:lnTo>
                  <a:pt x="165100" y="314325"/>
                </a:lnTo>
                <a:cubicBezTo>
                  <a:pt x="200184" y="314325"/>
                  <a:pt x="228600" y="293013"/>
                  <a:pt x="228600" y="266700"/>
                </a:cubicBezTo>
                <a:lnTo>
                  <a:pt x="228600" y="257175"/>
                </a:lnTo>
                <a:close/>
                <a:moveTo>
                  <a:pt x="146050" y="66675"/>
                </a:moveTo>
                <a:cubicBezTo>
                  <a:pt x="114459" y="66675"/>
                  <a:pt x="88900" y="85844"/>
                  <a:pt x="88900" y="109537"/>
                </a:cubicBezTo>
                <a:cubicBezTo>
                  <a:pt x="88900" y="117455"/>
                  <a:pt x="80407" y="123825"/>
                  <a:pt x="69850" y="123825"/>
                </a:cubicBezTo>
                <a:cubicBezTo>
                  <a:pt x="59293" y="123825"/>
                  <a:pt x="50800" y="117455"/>
                  <a:pt x="50800" y="109537"/>
                </a:cubicBezTo>
                <a:cubicBezTo>
                  <a:pt x="50800" y="70068"/>
                  <a:pt x="93424" y="38100"/>
                  <a:pt x="146050" y="38100"/>
                </a:cubicBezTo>
                <a:cubicBezTo>
                  <a:pt x="156607" y="38100"/>
                  <a:pt x="165100" y="44470"/>
                  <a:pt x="165100" y="52388"/>
                </a:cubicBezTo>
                <a:cubicBezTo>
                  <a:pt x="165100" y="60305"/>
                  <a:pt x="156607" y="66675"/>
                  <a:pt x="146050" y="66675"/>
                </a:cubicBezTo>
                <a:close/>
              </a:path>
            </a:pathLst>
          </a:cu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98600" y="58166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REST has become the dominant standard for web APIs due to its simplicity, scalability, and alignment with HTTP.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8A9B8C">
                <a:alpha val="3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3tmzt32f22la/mnt/agents/output/api_design/images/5_Abstract_Glowing_Digital_Networ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B4D4D">
                  <a:alpha val="90000"/>
                </a:srgbClr>
              </a:gs>
              <a:gs pos="100000">
                <a:srgbClr val="1B4D4D">
                  <a:alpha val="94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588000" y="2286000"/>
            <a:ext cx="508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7175500" y="3746500"/>
            <a:ext cx="1905000" cy="381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048000" y="40005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kern="0" spc="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ARCHITECTURE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048000" y="4889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Principles and constraints of RESTful design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Principles &amp; Constraints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(Representational State Transfer) defines </a:t>
            </a: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architectural constraints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designing networked applications.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222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60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84573" y="19050"/>
                </a:moveTo>
                <a:cubicBezTo>
                  <a:pt x="180287" y="27444"/>
                  <a:pt x="177800" y="37207"/>
                  <a:pt x="177800" y="47625"/>
                </a:cubicBezTo>
                <a:lnTo>
                  <a:pt x="177800" y="57150"/>
                </a:lnTo>
                <a:lnTo>
                  <a:pt x="33867" y="57150"/>
                </a:lnTo>
                <a:lnTo>
                  <a:pt x="33867" y="190500"/>
                </a:lnTo>
                <a:lnTo>
                  <a:pt x="177800" y="190500"/>
                </a:lnTo>
                <a:lnTo>
                  <a:pt x="177800" y="228600"/>
                </a:lnTo>
                <a:lnTo>
                  <a:pt x="33867" y="228600"/>
                </a:lnTo>
                <a:cubicBezTo>
                  <a:pt x="15187" y="228600"/>
                  <a:pt x="0" y="211515"/>
                  <a:pt x="0" y="190500"/>
                </a:cubicBezTo>
                <a:lnTo>
                  <a:pt x="0" y="57150"/>
                </a:lnTo>
                <a:cubicBezTo>
                  <a:pt x="0" y="36135"/>
                  <a:pt x="15187" y="19050"/>
                  <a:pt x="33867" y="19050"/>
                </a:cubicBezTo>
                <a:lnTo>
                  <a:pt x="184573" y="19050"/>
                </a:lnTo>
                <a:close/>
                <a:moveTo>
                  <a:pt x="177800" y="257175"/>
                </a:moveTo>
                <a:cubicBezTo>
                  <a:pt x="177800" y="267593"/>
                  <a:pt x="180287" y="277356"/>
                  <a:pt x="184573" y="285750"/>
                </a:cubicBezTo>
                <a:lnTo>
                  <a:pt x="63500" y="285750"/>
                </a:lnTo>
                <a:cubicBezTo>
                  <a:pt x="56462" y="285750"/>
                  <a:pt x="50800" y="279380"/>
                  <a:pt x="50800" y="271463"/>
                </a:cubicBezTo>
                <a:cubicBezTo>
                  <a:pt x="50800" y="263545"/>
                  <a:pt x="56462" y="257175"/>
                  <a:pt x="63500" y="257175"/>
                </a:cubicBezTo>
                <a:lnTo>
                  <a:pt x="177800" y="257175"/>
                </a:lnTo>
                <a:close/>
                <a:moveTo>
                  <a:pt x="228600" y="19050"/>
                </a:moveTo>
                <a:lnTo>
                  <a:pt x="279400" y="19050"/>
                </a:lnTo>
                <a:cubicBezTo>
                  <a:pt x="293423" y="19050"/>
                  <a:pt x="304800" y="31849"/>
                  <a:pt x="304800" y="47625"/>
                </a:cubicBezTo>
                <a:lnTo>
                  <a:pt x="304800" y="257175"/>
                </a:lnTo>
                <a:cubicBezTo>
                  <a:pt x="304800" y="272951"/>
                  <a:pt x="293423" y="285750"/>
                  <a:pt x="279400" y="285750"/>
                </a:cubicBezTo>
                <a:lnTo>
                  <a:pt x="228600" y="285750"/>
                </a:lnTo>
                <a:cubicBezTo>
                  <a:pt x="214577" y="285750"/>
                  <a:pt x="203200" y="272951"/>
                  <a:pt x="203200" y="257175"/>
                </a:cubicBezTo>
                <a:lnTo>
                  <a:pt x="203200" y="47625"/>
                </a:lnTo>
                <a:cubicBezTo>
                  <a:pt x="203200" y="31849"/>
                  <a:pt x="214577" y="19050"/>
                  <a:pt x="228600" y="19050"/>
                </a:cubicBezTo>
                <a:close/>
                <a:moveTo>
                  <a:pt x="241300" y="57150"/>
                </a:moveTo>
                <a:cubicBezTo>
                  <a:pt x="234262" y="57150"/>
                  <a:pt x="228600" y="63520"/>
                  <a:pt x="228600" y="71438"/>
                </a:cubicBezTo>
                <a:cubicBezTo>
                  <a:pt x="228600" y="79355"/>
                  <a:pt x="234262" y="85725"/>
                  <a:pt x="241300" y="85725"/>
                </a:cubicBezTo>
                <a:lnTo>
                  <a:pt x="266700" y="85725"/>
                </a:lnTo>
                <a:cubicBezTo>
                  <a:pt x="273738" y="85725"/>
                  <a:pt x="279400" y="79355"/>
                  <a:pt x="279400" y="71438"/>
                </a:cubicBezTo>
                <a:cubicBezTo>
                  <a:pt x="279400" y="63520"/>
                  <a:pt x="273738" y="57150"/>
                  <a:pt x="266700" y="57150"/>
                </a:cubicBezTo>
                <a:lnTo>
                  <a:pt x="241300" y="57150"/>
                </a:lnTo>
                <a:close/>
                <a:moveTo>
                  <a:pt x="241300" y="114300"/>
                </a:moveTo>
                <a:cubicBezTo>
                  <a:pt x="234262" y="114300"/>
                  <a:pt x="228600" y="120670"/>
                  <a:pt x="228600" y="128588"/>
                </a:cubicBezTo>
                <a:cubicBezTo>
                  <a:pt x="228600" y="136505"/>
                  <a:pt x="234262" y="142875"/>
                  <a:pt x="241300" y="142875"/>
                </a:cubicBezTo>
                <a:lnTo>
                  <a:pt x="266700" y="142875"/>
                </a:lnTo>
                <a:cubicBezTo>
                  <a:pt x="273738" y="142875"/>
                  <a:pt x="279400" y="136505"/>
                  <a:pt x="279400" y="128588"/>
                </a:cubicBezTo>
                <a:cubicBezTo>
                  <a:pt x="279400" y="120670"/>
                  <a:pt x="273738" y="114300"/>
                  <a:pt x="266700" y="114300"/>
                </a:cubicBezTo>
                <a:lnTo>
                  <a:pt x="241300" y="114300"/>
                </a:lnTo>
                <a:close/>
                <a:moveTo>
                  <a:pt x="270933" y="200025"/>
                </a:moveTo>
                <a:cubicBezTo>
                  <a:pt x="270933" y="189511"/>
                  <a:pt x="263346" y="180975"/>
                  <a:pt x="254000" y="180975"/>
                </a:cubicBezTo>
                <a:cubicBezTo>
                  <a:pt x="244654" y="180975"/>
                  <a:pt x="237067" y="189511"/>
                  <a:pt x="237067" y="200025"/>
                </a:cubicBezTo>
                <a:cubicBezTo>
                  <a:pt x="237067" y="210539"/>
                  <a:pt x="244654" y="219075"/>
                  <a:pt x="254000" y="219075"/>
                </a:cubicBezTo>
                <a:cubicBezTo>
                  <a:pt x="263346" y="219075"/>
                  <a:pt x="270933" y="210539"/>
                  <a:pt x="270933" y="200025"/>
                </a:cubicBezTo>
                <a:close/>
              </a:path>
            </a:pathLst>
          </a:cu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22400" y="2387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Client-Server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16000" y="28194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Separation of concerns between client (requesting) and server (providing) for better flexibility and scalability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78500" y="2222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325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1696" y="-14823"/>
                </a:moveTo>
                <a:cubicBezTo>
                  <a:pt x="16722" y="-20419"/>
                  <a:pt x="8678" y="-20419"/>
                  <a:pt x="3757" y="-14823"/>
                </a:cubicBezTo>
                <a:cubicBezTo>
                  <a:pt x="-1164" y="-9227"/>
                  <a:pt x="-1217" y="-179"/>
                  <a:pt x="3704" y="5417"/>
                </a:cubicBezTo>
                <a:lnTo>
                  <a:pt x="283104" y="319742"/>
                </a:lnTo>
                <a:cubicBezTo>
                  <a:pt x="288078" y="325338"/>
                  <a:pt x="296122" y="325338"/>
                  <a:pt x="301043" y="319742"/>
                </a:cubicBezTo>
                <a:cubicBezTo>
                  <a:pt x="305964" y="314146"/>
                  <a:pt x="306017" y="305098"/>
                  <a:pt x="301043" y="299561"/>
                </a:cubicBezTo>
                <a:lnTo>
                  <a:pt x="236485" y="226933"/>
                </a:lnTo>
                <a:cubicBezTo>
                  <a:pt x="238707" y="224909"/>
                  <a:pt x="240877" y="222706"/>
                  <a:pt x="242888" y="220444"/>
                </a:cubicBezTo>
                <a:lnTo>
                  <a:pt x="280511" y="178118"/>
                </a:lnTo>
                <a:cubicBezTo>
                  <a:pt x="296016" y="160675"/>
                  <a:pt x="304747" y="136981"/>
                  <a:pt x="304747" y="112276"/>
                </a:cubicBezTo>
                <a:cubicBezTo>
                  <a:pt x="304747" y="60841"/>
                  <a:pt x="267705" y="19110"/>
                  <a:pt x="221932" y="19110"/>
                </a:cubicBezTo>
                <a:cubicBezTo>
                  <a:pt x="202195" y="19110"/>
                  <a:pt x="183250" y="27027"/>
                  <a:pt x="168328" y="41255"/>
                </a:cubicBezTo>
                <a:cubicBezTo>
                  <a:pt x="179070" y="47268"/>
                  <a:pt x="188807" y="55245"/>
                  <a:pt x="197167" y="64770"/>
                </a:cubicBezTo>
                <a:cubicBezTo>
                  <a:pt x="204629" y="59829"/>
                  <a:pt x="213148" y="57210"/>
                  <a:pt x="221932" y="57210"/>
                </a:cubicBezTo>
                <a:cubicBezTo>
                  <a:pt x="248973" y="57210"/>
                  <a:pt x="270880" y="81855"/>
                  <a:pt x="270880" y="112276"/>
                </a:cubicBezTo>
                <a:cubicBezTo>
                  <a:pt x="270880" y="126861"/>
                  <a:pt x="265747" y="140851"/>
                  <a:pt x="256540" y="151209"/>
                </a:cubicBezTo>
                <a:lnTo>
                  <a:pt x="218916" y="193536"/>
                </a:lnTo>
                <a:cubicBezTo>
                  <a:pt x="216853" y="195858"/>
                  <a:pt x="214630" y="197941"/>
                  <a:pt x="212249" y="199787"/>
                </a:cubicBezTo>
                <a:lnTo>
                  <a:pt x="187113" y="171510"/>
                </a:lnTo>
                <a:cubicBezTo>
                  <a:pt x="195845" y="170974"/>
                  <a:pt x="202830" y="162937"/>
                  <a:pt x="203094" y="152995"/>
                </a:cubicBezTo>
                <a:cubicBezTo>
                  <a:pt x="203094" y="152221"/>
                  <a:pt x="203094" y="151448"/>
                  <a:pt x="203094" y="150674"/>
                </a:cubicBezTo>
                <a:cubicBezTo>
                  <a:pt x="203094" y="99298"/>
                  <a:pt x="166105" y="57269"/>
                  <a:pt x="120280" y="57269"/>
                </a:cubicBezTo>
                <a:cubicBezTo>
                  <a:pt x="110120" y="57269"/>
                  <a:pt x="100224" y="59353"/>
                  <a:pt x="90911" y="63341"/>
                </a:cubicBezTo>
                <a:lnTo>
                  <a:pt x="21696" y="-14823"/>
                </a:lnTo>
                <a:close/>
                <a:moveTo>
                  <a:pt x="119539" y="95250"/>
                </a:moveTo>
                <a:cubicBezTo>
                  <a:pt x="119856" y="95250"/>
                  <a:pt x="120121" y="95250"/>
                  <a:pt x="120438" y="95250"/>
                </a:cubicBezTo>
                <a:cubicBezTo>
                  <a:pt x="128429" y="95250"/>
                  <a:pt x="136049" y="97453"/>
                  <a:pt x="142716" y="101322"/>
                </a:cubicBezTo>
                <a:cubicBezTo>
                  <a:pt x="143669" y="102037"/>
                  <a:pt x="144621" y="102691"/>
                  <a:pt x="145627" y="103168"/>
                </a:cubicBezTo>
                <a:cubicBezTo>
                  <a:pt x="159808" y="112871"/>
                  <a:pt x="169333" y="130493"/>
                  <a:pt x="169333" y="150555"/>
                </a:cubicBezTo>
                <a:cubicBezTo>
                  <a:pt x="169333" y="150793"/>
                  <a:pt x="169333" y="151031"/>
                  <a:pt x="169333" y="151269"/>
                </a:cubicBezTo>
                <a:lnTo>
                  <a:pt x="119539" y="95250"/>
                </a:lnTo>
                <a:close/>
                <a:moveTo>
                  <a:pt x="183198" y="247650"/>
                </a:moveTo>
                <a:lnTo>
                  <a:pt x="101600" y="155853"/>
                </a:lnTo>
                <a:cubicBezTo>
                  <a:pt x="102235" y="206216"/>
                  <a:pt x="138430" y="246876"/>
                  <a:pt x="183145" y="247590"/>
                </a:cubicBezTo>
                <a:close/>
                <a:moveTo>
                  <a:pt x="73925" y="124718"/>
                </a:moveTo>
                <a:lnTo>
                  <a:pt x="49953" y="97750"/>
                </a:lnTo>
                <a:lnTo>
                  <a:pt x="24236" y="126682"/>
                </a:lnTo>
                <a:cubicBezTo>
                  <a:pt x="8731" y="144125"/>
                  <a:pt x="0" y="167819"/>
                  <a:pt x="0" y="192524"/>
                </a:cubicBezTo>
                <a:cubicBezTo>
                  <a:pt x="0" y="243959"/>
                  <a:pt x="37042" y="285690"/>
                  <a:pt x="82815" y="285690"/>
                </a:cubicBezTo>
                <a:cubicBezTo>
                  <a:pt x="102500" y="285690"/>
                  <a:pt x="121497" y="277773"/>
                  <a:pt x="136419" y="263545"/>
                </a:cubicBezTo>
                <a:cubicBezTo>
                  <a:pt x="125677" y="257532"/>
                  <a:pt x="115888" y="249555"/>
                  <a:pt x="107527" y="240030"/>
                </a:cubicBezTo>
                <a:cubicBezTo>
                  <a:pt x="100118" y="244912"/>
                  <a:pt x="91599" y="247531"/>
                  <a:pt x="82815" y="247531"/>
                </a:cubicBezTo>
                <a:cubicBezTo>
                  <a:pt x="55774" y="247531"/>
                  <a:pt x="33867" y="222885"/>
                  <a:pt x="33867" y="192465"/>
                </a:cubicBezTo>
                <a:cubicBezTo>
                  <a:pt x="33867" y="177879"/>
                  <a:pt x="39000" y="163890"/>
                  <a:pt x="48207" y="153531"/>
                </a:cubicBezTo>
                <a:lnTo>
                  <a:pt x="73925" y="124599"/>
                </a:lnTo>
                <a:close/>
              </a:path>
            </a:pathLst>
          </a:cu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38900" y="2387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Statelessness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32500" y="28194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request contains all info the server needs. No client state is stored between requests — every request is independent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95000" y="2222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0490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0505" y="-5894"/>
                </a:moveTo>
                <a:cubicBezTo>
                  <a:pt x="238601" y="-774"/>
                  <a:pt x="241595" y="8513"/>
                  <a:pt x="237921" y="16609"/>
                </a:cubicBezTo>
                <a:lnTo>
                  <a:pt x="184581" y="133350"/>
                </a:lnTo>
                <a:lnTo>
                  <a:pt x="283029" y="133350"/>
                </a:lnTo>
                <a:cubicBezTo>
                  <a:pt x="292213" y="133350"/>
                  <a:pt x="300378" y="138351"/>
                  <a:pt x="303507" y="145911"/>
                </a:cubicBezTo>
                <a:cubicBezTo>
                  <a:pt x="306637" y="153472"/>
                  <a:pt x="303984" y="161925"/>
                  <a:pt x="296976" y="167045"/>
                </a:cubicBezTo>
                <a:lnTo>
                  <a:pt x="101033" y="309920"/>
                </a:lnTo>
                <a:cubicBezTo>
                  <a:pt x="93345" y="315516"/>
                  <a:pt x="82391" y="315813"/>
                  <a:pt x="74295" y="310694"/>
                </a:cubicBezTo>
                <a:cubicBezTo>
                  <a:pt x="66199" y="305574"/>
                  <a:pt x="63205" y="296287"/>
                  <a:pt x="66879" y="288191"/>
                </a:cubicBezTo>
                <a:lnTo>
                  <a:pt x="120219" y="171450"/>
                </a:lnTo>
                <a:lnTo>
                  <a:pt x="21771" y="171450"/>
                </a:lnTo>
                <a:cubicBezTo>
                  <a:pt x="12587" y="171450"/>
                  <a:pt x="4422" y="166449"/>
                  <a:pt x="1293" y="158889"/>
                </a:cubicBezTo>
                <a:cubicBezTo>
                  <a:pt x="-1837" y="151328"/>
                  <a:pt x="816" y="142875"/>
                  <a:pt x="7824" y="137755"/>
                </a:cubicBezTo>
                <a:lnTo>
                  <a:pt x="203767" y="-5120"/>
                </a:lnTo>
                <a:cubicBezTo>
                  <a:pt x="211455" y="-10716"/>
                  <a:pt x="222409" y="-11013"/>
                  <a:pt x="230505" y="-5894"/>
                </a:cubicBezTo>
                <a:close/>
              </a:path>
            </a:pathLst>
          </a:cu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55400" y="2387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Cacheability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049000" y="28194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Responses can be marked as cacheable or non-cacheable. Clients can reuse cacheable responses to improve performance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" y="4508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16000" y="469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22400" y="4673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Uniform Interface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16000" y="51054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HTTP methods (GET, POST, PUT, DELETE) and standardized URLs to identify resources consistently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778500" y="4508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32500" y="469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43543" y="19050"/>
                </a:moveTo>
                <a:cubicBezTo>
                  <a:pt x="19526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9526" y="133350"/>
                  <a:pt x="43543" y="133350"/>
                </a:cubicBezTo>
                <a:lnTo>
                  <a:pt x="261257" y="133350"/>
                </a:lnTo>
                <a:cubicBezTo>
                  <a:pt x="285274" y="133350"/>
                  <a:pt x="304800" y="116265"/>
                  <a:pt x="304800" y="95250"/>
                </a:cubicBezTo>
                <a:lnTo>
                  <a:pt x="304800" y="57150"/>
                </a:lnTo>
                <a:cubicBezTo>
                  <a:pt x="304800" y="36135"/>
                  <a:pt x="285274" y="19050"/>
                  <a:pt x="261257" y="19050"/>
                </a:cubicBezTo>
                <a:lnTo>
                  <a:pt x="43543" y="19050"/>
                </a:lnTo>
                <a:close/>
                <a:moveTo>
                  <a:pt x="190500" y="61912"/>
                </a:moveTo>
                <a:cubicBezTo>
                  <a:pt x="199512" y="61912"/>
                  <a:pt x="206829" y="68315"/>
                  <a:pt x="206829" y="76200"/>
                </a:cubicBezTo>
                <a:cubicBezTo>
                  <a:pt x="206829" y="84085"/>
                  <a:pt x="199512" y="90488"/>
                  <a:pt x="190500" y="90488"/>
                </a:cubicBezTo>
                <a:cubicBezTo>
                  <a:pt x="181488" y="90488"/>
                  <a:pt x="174171" y="84085"/>
                  <a:pt x="174171" y="76200"/>
                </a:cubicBezTo>
                <a:cubicBezTo>
                  <a:pt x="174171" y="68315"/>
                  <a:pt x="181488" y="61912"/>
                  <a:pt x="190500" y="61912"/>
                </a:cubicBezTo>
                <a:close/>
                <a:moveTo>
                  <a:pt x="228600" y="76200"/>
                </a:moveTo>
                <a:cubicBezTo>
                  <a:pt x="228600" y="68315"/>
                  <a:pt x="235917" y="61912"/>
                  <a:pt x="244929" y="61912"/>
                </a:cubicBezTo>
                <a:cubicBezTo>
                  <a:pt x="253941" y="61912"/>
                  <a:pt x="261257" y="68315"/>
                  <a:pt x="261257" y="76200"/>
                </a:cubicBezTo>
                <a:cubicBezTo>
                  <a:pt x="261257" y="84085"/>
                  <a:pt x="253941" y="90488"/>
                  <a:pt x="244929" y="90488"/>
                </a:cubicBezTo>
                <a:cubicBezTo>
                  <a:pt x="235917" y="90488"/>
                  <a:pt x="228600" y="84085"/>
                  <a:pt x="228600" y="76200"/>
                </a:cubicBezTo>
                <a:close/>
                <a:moveTo>
                  <a:pt x="43543" y="171450"/>
                </a:moveTo>
                <a:cubicBezTo>
                  <a:pt x="19526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9526" y="285750"/>
                  <a:pt x="43543" y="285750"/>
                </a:cubicBezTo>
                <a:lnTo>
                  <a:pt x="261257" y="285750"/>
                </a:lnTo>
                <a:cubicBezTo>
                  <a:pt x="285274" y="285750"/>
                  <a:pt x="304800" y="268665"/>
                  <a:pt x="304800" y="247650"/>
                </a:cubicBezTo>
                <a:lnTo>
                  <a:pt x="304800" y="209550"/>
                </a:lnTo>
                <a:cubicBezTo>
                  <a:pt x="304800" y="188535"/>
                  <a:pt x="285274" y="171450"/>
                  <a:pt x="261257" y="171450"/>
                </a:cubicBezTo>
                <a:lnTo>
                  <a:pt x="43543" y="171450"/>
                </a:lnTo>
                <a:close/>
                <a:moveTo>
                  <a:pt x="190500" y="214313"/>
                </a:moveTo>
                <a:cubicBezTo>
                  <a:pt x="199512" y="214313"/>
                  <a:pt x="206829" y="220715"/>
                  <a:pt x="206829" y="228600"/>
                </a:cubicBezTo>
                <a:cubicBezTo>
                  <a:pt x="206829" y="236485"/>
                  <a:pt x="199512" y="242888"/>
                  <a:pt x="190500" y="242888"/>
                </a:cubicBezTo>
                <a:cubicBezTo>
                  <a:pt x="181488" y="242888"/>
                  <a:pt x="174171" y="236485"/>
                  <a:pt x="174171" y="228600"/>
                </a:cubicBezTo>
                <a:cubicBezTo>
                  <a:pt x="174171" y="220715"/>
                  <a:pt x="181488" y="214313"/>
                  <a:pt x="190500" y="214313"/>
                </a:cubicBezTo>
                <a:close/>
                <a:moveTo>
                  <a:pt x="228600" y="228600"/>
                </a:moveTo>
                <a:cubicBezTo>
                  <a:pt x="228600" y="220715"/>
                  <a:pt x="235917" y="214313"/>
                  <a:pt x="244929" y="214313"/>
                </a:cubicBezTo>
                <a:cubicBezTo>
                  <a:pt x="253941" y="214313"/>
                  <a:pt x="261257" y="220715"/>
                  <a:pt x="261257" y="228600"/>
                </a:cubicBezTo>
                <a:cubicBezTo>
                  <a:pt x="261257" y="236485"/>
                  <a:pt x="253941" y="242888"/>
                  <a:pt x="244929" y="242888"/>
                </a:cubicBezTo>
                <a:cubicBezTo>
                  <a:pt x="235917" y="242888"/>
                  <a:pt x="228600" y="236485"/>
                  <a:pt x="228600" y="228600"/>
                </a:cubicBezTo>
                <a:close/>
              </a:path>
            </a:pathLst>
          </a:cu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38900" y="4673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Layered System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032500" y="51054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composed of multiple layers (proxies, gateways). Each layer only knows about the adjacent layer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795000" y="4508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1049000" y="469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923" y="714"/>
                </a:moveTo>
                <a:cubicBezTo>
                  <a:pt x="181928" y="-2203"/>
                  <a:pt x="172561" y="3691"/>
                  <a:pt x="169968" y="13811"/>
                </a:cubicBezTo>
                <a:lnTo>
                  <a:pt x="102235" y="280511"/>
                </a:lnTo>
                <a:cubicBezTo>
                  <a:pt x="99642" y="290632"/>
                  <a:pt x="104881" y="301169"/>
                  <a:pt x="113877" y="304086"/>
                </a:cubicBezTo>
                <a:cubicBezTo>
                  <a:pt x="122872" y="307003"/>
                  <a:pt x="132239" y="301109"/>
                  <a:pt x="134832" y="290989"/>
                </a:cubicBezTo>
                <a:lnTo>
                  <a:pt x="202565" y="24289"/>
                </a:lnTo>
                <a:cubicBezTo>
                  <a:pt x="205158" y="14168"/>
                  <a:pt x="199919" y="3631"/>
                  <a:pt x="190923" y="714"/>
                </a:cubicBezTo>
                <a:close/>
                <a:moveTo>
                  <a:pt x="225108" y="81736"/>
                </a:moveTo>
                <a:cubicBezTo>
                  <a:pt x="218493" y="89178"/>
                  <a:pt x="218493" y="101263"/>
                  <a:pt x="225108" y="108704"/>
                </a:cubicBezTo>
                <a:lnTo>
                  <a:pt x="263948" y="152400"/>
                </a:lnTo>
                <a:lnTo>
                  <a:pt x="225108" y="196096"/>
                </a:lnTo>
                <a:cubicBezTo>
                  <a:pt x="218493" y="203537"/>
                  <a:pt x="218493" y="215622"/>
                  <a:pt x="225108" y="223064"/>
                </a:cubicBezTo>
                <a:cubicBezTo>
                  <a:pt x="231722" y="230505"/>
                  <a:pt x="242464" y="230505"/>
                  <a:pt x="249079" y="223064"/>
                </a:cubicBezTo>
                <a:lnTo>
                  <a:pt x="299879" y="165914"/>
                </a:lnTo>
                <a:cubicBezTo>
                  <a:pt x="306493" y="158472"/>
                  <a:pt x="306493" y="146387"/>
                  <a:pt x="299879" y="138946"/>
                </a:cubicBezTo>
                <a:lnTo>
                  <a:pt x="249079" y="81796"/>
                </a:lnTo>
                <a:cubicBezTo>
                  <a:pt x="242464" y="74355"/>
                  <a:pt x="231722" y="74355"/>
                  <a:pt x="225108" y="81796"/>
                </a:cubicBezTo>
                <a:close/>
                <a:moveTo>
                  <a:pt x="79745" y="81736"/>
                </a:moveTo>
                <a:cubicBezTo>
                  <a:pt x="73131" y="74295"/>
                  <a:pt x="62389" y="74295"/>
                  <a:pt x="55774" y="81736"/>
                </a:cubicBezTo>
                <a:lnTo>
                  <a:pt x="4974" y="138886"/>
                </a:lnTo>
                <a:cubicBezTo>
                  <a:pt x="-1640" y="146328"/>
                  <a:pt x="-1640" y="158413"/>
                  <a:pt x="4974" y="165854"/>
                </a:cubicBezTo>
                <a:lnTo>
                  <a:pt x="55774" y="223004"/>
                </a:lnTo>
                <a:cubicBezTo>
                  <a:pt x="62389" y="230445"/>
                  <a:pt x="73131" y="230445"/>
                  <a:pt x="79745" y="223004"/>
                </a:cubicBezTo>
                <a:cubicBezTo>
                  <a:pt x="86360" y="215563"/>
                  <a:pt x="86360" y="203478"/>
                  <a:pt x="79745" y="196036"/>
                </a:cubicBezTo>
                <a:lnTo>
                  <a:pt x="40905" y="152400"/>
                </a:lnTo>
                <a:lnTo>
                  <a:pt x="79693" y="108704"/>
                </a:lnTo>
                <a:cubicBezTo>
                  <a:pt x="86307" y="101263"/>
                  <a:pt x="86307" y="89178"/>
                  <a:pt x="79693" y="81736"/>
                </a:cubicBezTo>
                <a:close/>
              </a:path>
            </a:pathLst>
          </a:cu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455400" y="4673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on Demand</a:t>
            </a:r>
            <a:r>
              <a:rPr lang="en-US" sz="17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(optional)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1049000" y="51054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Servers can provide executable code (like JavaScript) to extend client functionality. This constraint is optional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62000" y="6858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 API that follows these constraints is called </a:t>
            </a: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"RESTful"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operates over HTTP.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8A9B8C">
                <a:alpha val="3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verbs map directly to </a:t>
            </a: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CRUD operations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resources. These are the building blocks of RESTful APIs.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22500"/>
          <a:ext cx="14732000" cy="48260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564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Method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Operation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Description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Example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D494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GET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Read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Retrieve a resource or collection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GET /users/123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D494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POST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Create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Create a new resource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POST /users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D494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PUT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Update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Replace an existing resource entirely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PUT /users/123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D494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PATCH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Partial Update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Apply partial modifications to a resource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PATCH /users/123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D494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DELETE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Delete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Remove a resource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DELETE /users/123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7302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nouns (not verbs) in your URLs. Say /users not /getUsers — the HTTP method already tells us the action.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8A9B8C">
                <a:alpha val="3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Status Codes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15494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codes tell the client </a:t>
            </a: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happened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their request. They are grouped into 5 classes.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133600"/>
          <a:ext cx="14732000" cy="3689985"/>
        </p:xfrm>
        <a:graphic>
          <a:graphicData uri="http://schemas.openxmlformats.org/drawingml/2006/table">
            <a:tbl>
              <a:tblPr/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Code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Class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Meaning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Common Examples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4A9B6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2xx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Success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Request succeeded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200</a:t>
                      </a:r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OK, </a:t>
                      </a:r>
                      <a:r>
                        <a:rPr lang="en-US" sz="1500" b="1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201</a:t>
                      </a:r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Created, </a:t>
                      </a:r>
                      <a:r>
                        <a:rPr lang="en-US" sz="1500" b="1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204</a:t>
                      </a:r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No Content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D494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3xx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Redirection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Further action needed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301</a:t>
                      </a:r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Moved Permanently, </a:t>
                      </a:r>
                      <a:r>
                        <a:rPr lang="en-US" sz="1500" b="1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304</a:t>
                      </a:r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Not Modified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C44D4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4xx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Client Error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Client made a mistake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400</a:t>
                      </a:r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Bad Request, </a:t>
                      </a:r>
                      <a:r>
                        <a:rPr lang="en-US" sz="1500" b="1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401</a:t>
                      </a:r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Unauthorized, </a:t>
                      </a:r>
                      <a:r>
                        <a:rPr lang="en-US" sz="1500" b="1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403</a:t>
                      </a:r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Forbidden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C44D4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4xx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Client Error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Resource not found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404</a:t>
                      </a:r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Not Found, </a:t>
                      </a:r>
                      <a:r>
                        <a:rPr lang="en-US" sz="1500" b="1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409</a:t>
                      </a:r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Conflict, </a:t>
                      </a:r>
                      <a:r>
                        <a:rPr lang="en-US" sz="1500" b="1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422</a:t>
                      </a:r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Unprocessable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8B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5xx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Server Error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Server failed to process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500</a:t>
                      </a:r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Internal Error, </a:t>
                      </a:r>
                      <a:r>
                        <a:rPr lang="en-US" sz="1500" b="1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502</a:t>
                      </a:r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Bad Gateway, </a:t>
                      </a:r>
                      <a:r>
                        <a:rPr lang="en-US" sz="1500" b="1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503</a:t>
                      </a:r>
                      <a:r>
                        <a:rPr lang="en-US" sz="1500" dirty="0">
                          <a:solidFill>
                            <a:srgbClr val="1C1C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Unavailable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7366000"/>
            <a:ext cx="14732000" cy="825500"/>
          </a:xfrm>
          <a:prstGeom prst="roundRect">
            <a:avLst>
              <a:gd name="adj" fmla="val 6000"/>
            </a:avLst>
          </a:prstGeom>
          <a:solidFill>
            <a:srgbClr val="D4943A">
              <a:alpha val="823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62000" y="7366000"/>
            <a:ext cx="63500" cy="8255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41400" y="7594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22238" y="87313"/>
                </a:moveTo>
                <a:cubicBezTo>
                  <a:pt x="122238" y="77675"/>
                  <a:pt x="130062" y="69850"/>
                  <a:pt x="139700" y="69850"/>
                </a:cubicBezTo>
                <a:cubicBezTo>
                  <a:pt x="149338" y="69850"/>
                  <a:pt x="157163" y="77675"/>
                  <a:pt x="157163" y="87313"/>
                </a:cubicBezTo>
                <a:cubicBezTo>
                  <a:pt x="157163" y="96950"/>
                  <a:pt x="149338" y="104775"/>
                  <a:pt x="139700" y="104775"/>
                </a:cubicBezTo>
                <a:cubicBezTo>
                  <a:pt x="130062" y="104775"/>
                  <a:pt x="122238" y="96950"/>
                  <a:pt x="122238" y="87313"/>
                </a:cubicBezTo>
                <a:close/>
                <a:moveTo>
                  <a:pt x="117872" y="122238"/>
                </a:moveTo>
                <a:lnTo>
                  <a:pt x="144066" y="122238"/>
                </a:lnTo>
                <a:cubicBezTo>
                  <a:pt x="151323" y="122238"/>
                  <a:pt x="157163" y="128077"/>
                  <a:pt x="157163" y="135334"/>
                </a:cubicBezTo>
                <a:lnTo>
                  <a:pt x="157163" y="183356"/>
                </a:lnTo>
                <a:lnTo>
                  <a:pt x="161528" y="183356"/>
                </a:lnTo>
                <a:cubicBezTo>
                  <a:pt x="168786" y="183356"/>
                  <a:pt x="174625" y="189195"/>
                  <a:pt x="174625" y="196453"/>
                </a:cubicBezTo>
                <a:cubicBezTo>
                  <a:pt x="174625" y="203711"/>
                  <a:pt x="168786" y="209550"/>
                  <a:pt x="161528" y="209550"/>
                </a:cubicBezTo>
                <a:lnTo>
                  <a:pt x="117872" y="209550"/>
                </a:lnTo>
                <a:cubicBezTo>
                  <a:pt x="110614" y="209550"/>
                  <a:pt x="104775" y="203711"/>
                  <a:pt x="104775" y="196453"/>
                </a:cubicBezTo>
                <a:cubicBezTo>
                  <a:pt x="104775" y="189195"/>
                  <a:pt x="110614" y="183356"/>
                  <a:pt x="117872" y="183356"/>
                </a:cubicBezTo>
                <a:lnTo>
                  <a:pt x="130969" y="183356"/>
                </a:lnTo>
                <a:lnTo>
                  <a:pt x="130969" y="148431"/>
                </a:lnTo>
                <a:lnTo>
                  <a:pt x="117872" y="148431"/>
                </a:lnTo>
                <a:cubicBezTo>
                  <a:pt x="110614" y="148431"/>
                  <a:pt x="104775" y="142592"/>
                  <a:pt x="104775" y="135334"/>
                </a:cubicBezTo>
                <a:cubicBezTo>
                  <a:pt x="104775" y="128077"/>
                  <a:pt x="110614" y="122238"/>
                  <a:pt x="117872" y="122238"/>
                </a:cubicBezTo>
                <a:close/>
              </a:path>
            </a:pathLst>
          </a:cu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473200" y="74676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2xx = success, 4xx = check your request, 5xx = server issue. Always return the most accurate status code.</a:t>
            </a:r>
            <a:endParaRPr lang="en-US" sz="1600" dirty="0"/>
          </a:p>
        </p:txBody>
      </p:sp>
      <p:sp>
        <p:nvSpPr>
          <p:cNvPr id="6" name="Shape 8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8A9B8C">
                <a:alpha val="3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3tmzt32f22la/mnt/agents/output/api_design/images/1_Futuristic_Data_Center_Server_Racks.png"/>
          <p:cNvPicPr>
            <a:picLocks noChangeAspect="1"/>
          </p:cNvPicPr>
          <p:nvPr/>
        </p:nvPicPr>
        <p:blipFill>
          <a:blip r:embed="rId3"/>
          <a:srcRect t="9821" b="982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B4D4D">
                  <a:alpha val="90000"/>
                </a:srgbClr>
              </a:gs>
              <a:gs pos="100000">
                <a:srgbClr val="1B4D4D">
                  <a:alpha val="94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588000" y="2286000"/>
            <a:ext cx="508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7175500" y="3746500"/>
            <a:ext cx="1905000" cy="381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413000" y="40005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kern="0" spc="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DESIGN PRACTICES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048000" y="4889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clean, scalable, and maintainable APIs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DESIGN PRACTICES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Versioning Strategies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VERSION?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2000" y="20320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0600" y="2286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99100" y="23520"/>
                </a:moveTo>
                <a:cubicBezTo>
                  <a:pt x="104726" y="17463"/>
                  <a:pt x="113021" y="15771"/>
                  <a:pt x="120152" y="19209"/>
                </a:cubicBezTo>
                <a:cubicBezTo>
                  <a:pt x="127282" y="22647"/>
                  <a:pt x="131939" y="30559"/>
                  <a:pt x="131939" y="39291"/>
                </a:cubicBezTo>
                <a:lnTo>
                  <a:pt x="131939" y="113670"/>
                </a:lnTo>
                <a:lnTo>
                  <a:pt x="215516" y="23574"/>
                </a:lnTo>
                <a:cubicBezTo>
                  <a:pt x="221143" y="17463"/>
                  <a:pt x="229438" y="15771"/>
                  <a:pt x="236568" y="19209"/>
                </a:cubicBezTo>
                <a:cubicBezTo>
                  <a:pt x="243699" y="22647"/>
                  <a:pt x="248356" y="30559"/>
                  <a:pt x="248356" y="39291"/>
                </a:cubicBezTo>
                <a:lnTo>
                  <a:pt x="248356" y="240109"/>
                </a:lnTo>
                <a:cubicBezTo>
                  <a:pt x="248356" y="248841"/>
                  <a:pt x="243699" y="256753"/>
                  <a:pt x="236568" y="260191"/>
                </a:cubicBezTo>
                <a:cubicBezTo>
                  <a:pt x="229438" y="263629"/>
                  <a:pt x="221143" y="261938"/>
                  <a:pt x="215516" y="255880"/>
                </a:cubicBezTo>
                <a:lnTo>
                  <a:pt x="131939" y="165730"/>
                </a:lnTo>
                <a:lnTo>
                  <a:pt x="131939" y="240109"/>
                </a:lnTo>
                <a:cubicBezTo>
                  <a:pt x="131939" y="248841"/>
                  <a:pt x="127282" y="256753"/>
                  <a:pt x="120152" y="260191"/>
                </a:cubicBezTo>
                <a:cubicBezTo>
                  <a:pt x="113021" y="263629"/>
                  <a:pt x="104726" y="261938"/>
                  <a:pt x="99100" y="255880"/>
                </a:cubicBezTo>
                <a:lnTo>
                  <a:pt x="5966" y="155471"/>
                </a:lnTo>
                <a:cubicBezTo>
                  <a:pt x="2183" y="151323"/>
                  <a:pt x="0" y="145648"/>
                  <a:pt x="0" y="139700"/>
                </a:cubicBezTo>
                <a:cubicBezTo>
                  <a:pt x="0" y="133752"/>
                  <a:pt x="2183" y="128077"/>
                  <a:pt x="5966" y="123929"/>
                </a:cubicBezTo>
                <a:lnTo>
                  <a:pt x="99100" y="23520"/>
                </a:lnTo>
                <a:close/>
              </a:path>
            </a:pathLst>
          </a:cu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97000" y="21336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Backward Compatibility</a:t>
            </a: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older versions keep working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78500" y="20320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07100" y="2286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52388" y="17463"/>
                </a:moveTo>
                <a:cubicBezTo>
                  <a:pt x="42729" y="17463"/>
                  <a:pt x="34925" y="25266"/>
                  <a:pt x="34925" y="34925"/>
                </a:cubicBezTo>
                <a:cubicBezTo>
                  <a:pt x="34925" y="44584"/>
                  <a:pt x="42729" y="52388"/>
                  <a:pt x="52388" y="52388"/>
                </a:cubicBezTo>
                <a:lnTo>
                  <a:pt x="62592" y="52388"/>
                </a:lnTo>
                <a:lnTo>
                  <a:pt x="5130" y="109905"/>
                </a:lnTo>
                <a:cubicBezTo>
                  <a:pt x="-1692" y="116726"/>
                  <a:pt x="-1692" y="127804"/>
                  <a:pt x="5130" y="134625"/>
                </a:cubicBezTo>
                <a:cubicBezTo>
                  <a:pt x="11951" y="141446"/>
                  <a:pt x="23029" y="141446"/>
                  <a:pt x="29850" y="134625"/>
                </a:cubicBezTo>
                <a:lnTo>
                  <a:pt x="87313" y="77108"/>
                </a:lnTo>
                <a:lnTo>
                  <a:pt x="87313" y="87313"/>
                </a:lnTo>
                <a:cubicBezTo>
                  <a:pt x="87313" y="96971"/>
                  <a:pt x="95116" y="104775"/>
                  <a:pt x="104775" y="104775"/>
                </a:cubicBezTo>
                <a:cubicBezTo>
                  <a:pt x="114434" y="104775"/>
                  <a:pt x="122238" y="96971"/>
                  <a:pt x="122238" y="87313"/>
                </a:cubicBezTo>
                <a:lnTo>
                  <a:pt x="122238" y="34925"/>
                </a:lnTo>
                <a:cubicBezTo>
                  <a:pt x="122238" y="25266"/>
                  <a:pt x="114434" y="17463"/>
                  <a:pt x="104775" y="17463"/>
                </a:cubicBezTo>
                <a:lnTo>
                  <a:pt x="52388" y="17463"/>
                </a:lnTo>
                <a:close/>
                <a:moveTo>
                  <a:pt x="220355" y="38254"/>
                </a:moveTo>
                <a:cubicBezTo>
                  <a:pt x="220355" y="45682"/>
                  <a:pt x="224318" y="52546"/>
                  <a:pt x="230751" y="56260"/>
                </a:cubicBezTo>
                <a:cubicBezTo>
                  <a:pt x="237183" y="59974"/>
                  <a:pt x="245109" y="59974"/>
                  <a:pt x="251542" y="56260"/>
                </a:cubicBezTo>
                <a:cubicBezTo>
                  <a:pt x="257975" y="52546"/>
                  <a:pt x="261938" y="45682"/>
                  <a:pt x="261938" y="38254"/>
                </a:cubicBezTo>
                <a:cubicBezTo>
                  <a:pt x="261938" y="30826"/>
                  <a:pt x="257975" y="23962"/>
                  <a:pt x="251542" y="20248"/>
                </a:cubicBezTo>
                <a:cubicBezTo>
                  <a:pt x="245109" y="16534"/>
                  <a:pt x="237183" y="16534"/>
                  <a:pt x="230751" y="20248"/>
                </a:cubicBezTo>
                <a:cubicBezTo>
                  <a:pt x="224318" y="23962"/>
                  <a:pt x="220355" y="30826"/>
                  <a:pt x="220355" y="38254"/>
                </a:cubicBezTo>
                <a:close/>
                <a:moveTo>
                  <a:pt x="152633" y="105976"/>
                </a:moveTo>
                <a:cubicBezTo>
                  <a:pt x="152633" y="113404"/>
                  <a:pt x="156596" y="120267"/>
                  <a:pt x="163029" y="123981"/>
                </a:cubicBezTo>
                <a:cubicBezTo>
                  <a:pt x="169462" y="127695"/>
                  <a:pt x="177387" y="127695"/>
                  <a:pt x="183820" y="123981"/>
                </a:cubicBezTo>
                <a:cubicBezTo>
                  <a:pt x="190253" y="120267"/>
                  <a:pt x="194216" y="113404"/>
                  <a:pt x="194216" y="105976"/>
                </a:cubicBezTo>
                <a:cubicBezTo>
                  <a:pt x="194216" y="98548"/>
                  <a:pt x="190253" y="91684"/>
                  <a:pt x="183820" y="87970"/>
                </a:cubicBezTo>
                <a:cubicBezTo>
                  <a:pt x="177387" y="84256"/>
                  <a:pt x="169462" y="84256"/>
                  <a:pt x="163029" y="87970"/>
                </a:cubicBezTo>
                <a:cubicBezTo>
                  <a:pt x="156596" y="91684"/>
                  <a:pt x="152633" y="98548"/>
                  <a:pt x="152633" y="105976"/>
                </a:cubicBezTo>
                <a:close/>
                <a:moveTo>
                  <a:pt x="241146" y="85184"/>
                </a:moveTo>
                <a:cubicBezTo>
                  <a:pt x="229671" y="85184"/>
                  <a:pt x="220355" y="94501"/>
                  <a:pt x="220355" y="105976"/>
                </a:cubicBezTo>
                <a:cubicBezTo>
                  <a:pt x="220355" y="117451"/>
                  <a:pt x="229671" y="126767"/>
                  <a:pt x="241146" y="126767"/>
                </a:cubicBezTo>
                <a:cubicBezTo>
                  <a:pt x="248574" y="126767"/>
                  <a:pt x="255438" y="122804"/>
                  <a:pt x="259152" y="116371"/>
                </a:cubicBezTo>
                <a:cubicBezTo>
                  <a:pt x="262866" y="109938"/>
                  <a:pt x="262866" y="102013"/>
                  <a:pt x="259152" y="95580"/>
                </a:cubicBezTo>
                <a:cubicBezTo>
                  <a:pt x="255438" y="89147"/>
                  <a:pt x="248574" y="85184"/>
                  <a:pt x="241146" y="85184"/>
                </a:cubicBezTo>
                <a:close/>
                <a:moveTo>
                  <a:pt x="85239" y="173424"/>
                </a:moveTo>
                <a:cubicBezTo>
                  <a:pt x="85239" y="180852"/>
                  <a:pt x="89202" y="187716"/>
                  <a:pt x="95634" y="191430"/>
                </a:cubicBezTo>
                <a:cubicBezTo>
                  <a:pt x="102067" y="195144"/>
                  <a:pt x="109993" y="195144"/>
                  <a:pt x="116426" y="191430"/>
                </a:cubicBezTo>
                <a:cubicBezTo>
                  <a:pt x="122859" y="187716"/>
                  <a:pt x="126821" y="180852"/>
                  <a:pt x="126821" y="173424"/>
                </a:cubicBezTo>
                <a:cubicBezTo>
                  <a:pt x="126821" y="165996"/>
                  <a:pt x="122859" y="159133"/>
                  <a:pt x="116426" y="155419"/>
                </a:cubicBezTo>
                <a:cubicBezTo>
                  <a:pt x="109993" y="151705"/>
                  <a:pt x="102067" y="151705"/>
                  <a:pt x="95634" y="155419"/>
                </a:cubicBezTo>
                <a:cubicBezTo>
                  <a:pt x="89202" y="159133"/>
                  <a:pt x="85239" y="165996"/>
                  <a:pt x="85239" y="173424"/>
                </a:cubicBezTo>
                <a:close/>
                <a:moveTo>
                  <a:pt x="173424" y="152633"/>
                </a:moveTo>
                <a:cubicBezTo>
                  <a:pt x="165996" y="152633"/>
                  <a:pt x="159133" y="156596"/>
                  <a:pt x="155419" y="163029"/>
                </a:cubicBezTo>
                <a:cubicBezTo>
                  <a:pt x="151705" y="169462"/>
                  <a:pt x="151705" y="177387"/>
                  <a:pt x="155419" y="183820"/>
                </a:cubicBezTo>
                <a:cubicBezTo>
                  <a:pt x="159133" y="190253"/>
                  <a:pt x="165996" y="194216"/>
                  <a:pt x="173424" y="194216"/>
                </a:cubicBezTo>
                <a:cubicBezTo>
                  <a:pt x="180852" y="194216"/>
                  <a:pt x="187716" y="190253"/>
                  <a:pt x="191430" y="183820"/>
                </a:cubicBezTo>
                <a:cubicBezTo>
                  <a:pt x="195144" y="177387"/>
                  <a:pt x="195144" y="169462"/>
                  <a:pt x="191430" y="163029"/>
                </a:cubicBezTo>
                <a:cubicBezTo>
                  <a:pt x="187716" y="156596"/>
                  <a:pt x="180852" y="152633"/>
                  <a:pt x="173424" y="152633"/>
                </a:cubicBezTo>
                <a:close/>
                <a:moveTo>
                  <a:pt x="220409" y="173424"/>
                </a:moveTo>
                <a:cubicBezTo>
                  <a:pt x="220409" y="180852"/>
                  <a:pt x="224372" y="187716"/>
                  <a:pt x="230805" y="191430"/>
                </a:cubicBezTo>
                <a:cubicBezTo>
                  <a:pt x="237238" y="195144"/>
                  <a:pt x="245164" y="195144"/>
                  <a:pt x="251596" y="191430"/>
                </a:cubicBezTo>
                <a:cubicBezTo>
                  <a:pt x="258029" y="187716"/>
                  <a:pt x="261992" y="180852"/>
                  <a:pt x="261992" y="173424"/>
                </a:cubicBezTo>
                <a:cubicBezTo>
                  <a:pt x="261992" y="161949"/>
                  <a:pt x="252676" y="152633"/>
                  <a:pt x="241201" y="152633"/>
                </a:cubicBezTo>
                <a:cubicBezTo>
                  <a:pt x="229726" y="152633"/>
                  <a:pt x="220409" y="161949"/>
                  <a:pt x="220409" y="173424"/>
                </a:cubicBezTo>
                <a:close/>
                <a:moveTo>
                  <a:pt x="38254" y="220355"/>
                </a:moveTo>
                <a:cubicBezTo>
                  <a:pt x="30826" y="220355"/>
                  <a:pt x="23962" y="224318"/>
                  <a:pt x="20248" y="230751"/>
                </a:cubicBezTo>
                <a:cubicBezTo>
                  <a:pt x="16534" y="237183"/>
                  <a:pt x="16534" y="245109"/>
                  <a:pt x="20248" y="251542"/>
                </a:cubicBezTo>
                <a:cubicBezTo>
                  <a:pt x="23962" y="257975"/>
                  <a:pt x="30826" y="261938"/>
                  <a:pt x="38254" y="261938"/>
                </a:cubicBezTo>
                <a:cubicBezTo>
                  <a:pt x="45682" y="261938"/>
                  <a:pt x="52546" y="257975"/>
                  <a:pt x="56260" y="251542"/>
                </a:cubicBezTo>
                <a:cubicBezTo>
                  <a:pt x="59974" y="245109"/>
                  <a:pt x="59974" y="237183"/>
                  <a:pt x="56260" y="230751"/>
                </a:cubicBezTo>
                <a:cubicBezTo>
                  <a:pt x="52546" y="224318"/>
                  <a:pt x="45682" y="220355"/>
                  <a:pt x="38254" y="220355"/>
                </a:cubicBezTo>
                <a:close/>
                <a:moveTo>
                  <a:pt x="85239" y="241146"/>
                </a:moveTo>
                <a:cubicBezTo>
                  <a:pt x="85239" y="248574"/>
                  <a:pt x="89202" y="255438"/>
                  <a:pt x="95634" y="259152"/>
                </a:cubicBezTo>
                <a:cubicBezTo>
                  <a:pt x="102067" y="262866"/>
                  <a:pt x="109993" y="262866"/>
                  <a:pt x="116426" y="259152"/>
                </a:cubicBezTo>
                <a:cubicBezTo>
                  <a:pt x="122859" y="255438"/>
                  <a:pt x="126821" y="248574"/>
                  <a:pt x="126821" y="241146"/>
                </a:cubicBezTo>
                <a:cubicBezTo>
                  <a:pt x="126821" y="233718"/>
                  <a:pt x="122859" y="226854"/>
                  <a:pt x="116426" y="223140"/>
                </a:cubicBezTo>
                <a:cubicBezTo>
                  <a:pt x="109993" y="219426"/>
                  <a:pt x="102067" y="219426"/>
                  <a:pt x="95634" y="223140"/>
                </a:cubicBezTo>
                <a:cubicBezTo>
                  <a:pt x="89202" y="226854"/>
                  <a:pt x="85239" y="233718"/>
                  <a:pt x="85239" y="241146"/>
                </a:cubicBezTo>
                <a:close/>
                <a:moveTo>
                  <a:pt x="173424" y="220355"/>
                </a:moveTo>
                <a:cubicBezTo>
                  <a:pt x="165996" y="220355"/>
                  <a:pt x="159133" y="224318"/>
                  <a:pt x="155419" y="230751"/>
                </a:cubicBezTo>
                <a:cubicBezTo>
                  <a:pt x="151705" y="237183"/>
                  <a:pt x="151705" y="245109"/>
                  <a:pt x="155419" y="251542"/>
                </a:cubicBezTo>
                <a:cubicBezTo>
                  <a:pt x="159133" y="257975"/>
                  <a:pt x="165996" y="261938"/>
                  <a:pt x="173424" y="261938"/>
                </a:cubicBezTo>
                <a:cubicBezTo>
                  <a:pt x="180852" y="261938"/>
                  <a:pt x="187716" y="257975"/>
                  <a:pt x="191430" y="251542"/>
                </a:cubicBezTo>
                <a:cubicBezTo>
                  <a:pt x="195144" y="245109"/>
                  <a:pt x="195144" y="237183"/>
                  <a:pt x="191430" y="230751"/>
                </a:cubicBezTo>
                <a:cubicBezTo>
                  <a:pt x="187716" y="224318"/>
                  <a:pt x="180852" y="220355"/>
                  <a:pt x="173424" y="220355"/>
                </a:cubicBezTo>
                <a:close/>
                <a:moveTo>
                  <a:pt x="220409" y="241146"/>
                </a:moveTo>
                <a:cubicBezTo>
                  <a:pt x="220409" y="248574"/>
                  <a:pt x="224372" y="255438"/>
                  <a:pt x="230805" y="259152"/>
                </a:cubicBezTo>
                <a:cubicBezTo>
                  <a:pt x="237238" y="262866"/>
                  <a:pt x="245164" y="262866"/>
                  <a:pt x="251596" y="259152"/>
                </a:cubicBezTo>
                <a:cubicBezTo>
                  <a:pt x="258029" y="255438"/>
                  <a:pt x="261992" y="248574"/>
                  <a:pt x="261992" y="241146"/>
                </a:cubicBezTo>
                <a:cubicBezTo>
                  <a:pt x="261992" y="229671"/>
                  <a:pt x="252676" y="220355"/>
                  <a:pt x="241201" y="220355"/>
                </a:cubicBezTo>
                <a:cubicBezTo>
                  <a:pt x="229726" y="220355"/>
                  <a:pt x="220409" y="229671"/>
                  <a:pt x="220409" y="241146"/>
                </a:cubicBezTo>
                <a:close/>
              </a:path>
            </a:pathLst>
          </a:cu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13500" y="21336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Controlled Upgrades</a:t>
            </a: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introduce changes gradually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795000" y="20320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023600" y="2286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34925"/>
                </a:moveTo>
                <a:cubicBezTo>
                  <a:pt x="191117" y="34925"/>
                  <a:pt x="232833" y="81855"/>
                  <a:pt x="232833" y="139700"/>
                </a:cubicBezTo>
                <a:cubicBezTo>
                  <a:pt x="232833" y="197545"/>
                  <a:pt x="191117" y="244475"/>
                  <a:pt x="139700" y="244475"/>
                </a:cubicBezTo>
                <a:cubicBezTo>
                  <a:pt x="108073" y="244475"/>
                  <a:pt x="80085" y="226740"/>
                  <a:pt x="63253" y="199564"/>
                </a:cubicBezTo>
                <a:cubicBezTo>
                  <a:pt x="58354" y="191651"/>
                  <a:pt x="48652" y="189741"/>
                  <a:pt x="41619" y="195253"/>
                </a:cubicBezTo>
                <a:cubicBezTo>
                  <a:pt x="34585" y="200764"/>
                  <a:pt x="32888" y="211678"/>
                  <a:pt x="37787" y="219591"/>
                </a:cubicBezTo>
                <a:cubicBezTo>
                  <a:pt x="60197" y="255716"/>
                  <a:pt x="97499" y="279400"/>
                  <a:pt x="139700" y="279400"/>
                </a:cubicBezTo>
                <a:cubicBezTo>
                  <a:pt x="208289" y="279400"/>
                  <a:pt x="263878" y="216862"/>
                  <a:pt x="263878" y="139700"/>
                </a:cubicBezTo>
                <a:cubicBezTo>
                  <a:pt x="263878" y="62538"/>
                  <a:pt x="208289" y="0"/>
                  <a:pt x="139700" y="0"/>
                </a:cubicBezTo>
                <a:cubicBezTo>
                  <a:pt x="98130" y="0"/>
                  <a:pt x="61361" y="22974"/>
                  <a:pt x="38806" y="58227"/>
                </a:cubicBezTo>
                <a:lnTo>
                  <a:pt x="38806" y="43656"/>
                </a:lnTo>
                <a:cubicBezTo>
                  <a:pt x="38806" y="33997"/>
                  <a:pt x="31869" y="26194"/>
                  <a:pt x="23283" y="26194"/>
                </a:cubicBezTo>
                <a:cubicBezTo>
                  <a:pt x="14698" y="26194"/>
                  <a:pt x="7761" y="33997"/>
                  <a:pt x="7761" y="43656"/>
                </a:cubicBezTo>
                <a:lnTo>
                  <a:pt x="7761" y="104775"/>
                </a:lnTo>
                <a:cubicBezTo>
                  <a:pt x="7761" y="114434"/>
                  <a:pt x="14698" y="122238"/>
                  <a:pt x="23283" y="122238"/>
                </a:cubicBezTo>
                <a:lnTo>
                  <a:pt x="35216" y="122238"/>
                </a:lnTo>
                <a:cubicBezTo>
                  <a:pt x="35459" y="122238"/>
                  <a:pt x="35701" y="122238"/>
                  <a:pt x="35944" y="122238"/>
                </a:cubicBezTo>
                <a:lnTo>
                  <a:pt x="77660" y="122238"/>
                </a:lnTo>
                <a:cubicBezTo>
                  <a:pt x="86245" y="122238"/>
                  <a:pt x="93182" y="114434"/>
                  <a:pt x="93182" y="104775"/>
                </a:cubicBezTo>
                <a:cubicBezTo>
                  <a:pt x="93182" y="95116"/>
                  <a:pt x="86245" y="87313"/>
                  <a:pt x="77660" y="87313"/>
                </a:cubicBezTo>
                <a:lnTo>
                  <a:pt x="59081" y="87313"/>
                </a:lnTo>
                <a:cubicBezTo>
                  <a:pt x="75137" y="55989"/>
                  <a:pt x="105260" y="34925"/>
                  <a:pt x="139700" y="34925"/>
                </a:cubicBezTo>
                <a:close/>
                <a:moveTo>
                  <a:pt x="151342" y="82947"/>
                </a:moveTo>
                <a:cubicBezTo>
                  <a:pt x="151342" y="75689"/>
                  <a:pt x="146151" y="69850"/>
                  <a:pt x="139700" y="69850"/>
                </a:cubicBezTo>
                <a:cubicBezTo>
                  <a:pt x="133249" y="69850"/>
                  <a:pt x="128058" y="75689"/>
                  <a:pt x="128058" y="82947"/>
                </a:cubicBezTo>
                <a:lnTo>
                  <a:pt x="128058" y="139700"/>
                </a:lnTo>
                <a:cubicBezTo>
                  <a:pt x="128058" y="143192"/>
                  <a:pt x="129271" y="146521"/>
                  <a:pt x="131454" y="148977"/>
                </a:cubicBezTo>
                <a:lnTo>
                  <a:pt x="166379" y="188268"/>
                </a:lnTo>
                <a:cubicBezTo>
                  <a:pt x="170938" y="193397"/>
                  <a:pt x="178312" y="193397"/>
                  <a:pt x="182823" y="188268"/>
                </a:cubicBezTo>
                <a:cubicBezTo>
                  <a:pt x="187334" y="183138"/>
                  <a:pt x="187382" y="174843"/>
                  <a:pt x="182823" y="169768"/>
                </a:cubicBezTo>
                <a:lnTo>
                  <a:pt x="151293" y="134298"/>
                </a:lnTo>
                <a:lnTo>
                  <a:pt x="151293" y="82947"/>
                </a:lnTo>
                <a:close/>
              </a:path>
            </a:pathLst>
          </a:cu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0" y="21336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Deprecation Strategy</a:t>
            </a: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graceful phase-out of old features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2000" y="3238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VERSIONING STRATEGIES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2000" y="36830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16000" y="38735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1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COMMON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16000" y="42164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URL-Based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16000" y="4699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/v1/users, /v2/users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16000" y="51435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Pros: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Simple, explicit, easy to understand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Cons: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Alters URL structure, can clutter routes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778500" y="36830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32500" y="3937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Header-Based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032500" y="44196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Accept: application/vnd.v2+json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2500" y="4889500"/>
            <a:ext cx="419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Pros:</a:t>
            </a: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Keeps URLs clean and unchanged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Cons:</a:t>
            </a: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Requires header management, more complex setup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795000" y="36830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049000" y="3937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 Parameter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049000" y="44196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/users?version=2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049000" y="4889500"/>
            <a:ext cx="419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Pros:</a:t>
            </a: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Easy to implement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Cons:</a:t>
            </a: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Less common for public APIs, can be misused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8A9B8C">
                <a:alpha val="3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DESIGN PRACTICES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URL Structure &amp; Pagination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URL DESIGN RULES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2000" y="2095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nouns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verbs — /products not /getProducts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7940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Keep it </a:t>
            </a: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/users/{id}/orders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492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plural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nouns consistently — /users, /orders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1910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Avoid </a:t>
            </a: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nesting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max 2-3 resource levels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080000"/>
            <a:ext cx="6858000" cy="1651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16000" y="52324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100" dirty="0">
                <a:solidFill>
                  <a:srgbClr val="4A9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16000" y="5562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/users/123/orders?limit=10&amp;page=2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16000" y="59944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100" dirty="0">
                <a:solidFill>
                  <a:srgbClr val="C4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16000" y="6324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/getAllTheUsers?id=123&amp;action=orders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2000" y="1651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PAGINATION STRATEGIES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82000" y="2095500"/>
            <a:ext cx="7112000" cy="22225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36000" y="2260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Offset-Based Pagination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36000" y="26670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/users?offset=20&amp;limit=10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36000" y="30480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but can be slow for large datasets. Like flipping to page 100 — you must turn every page before it.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82000" y="4572000"/>
            <a:ext cx="7112000" cy="22225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36000" y="47371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Cursor-Based Pagination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36000" y="51435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/users?cursor=abc123&amp;limit=10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36000" y="55245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and more efficient for large datasets. Uses a unique ID from the last item to fetch the next set.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8A9B8C">
                <a:alpha val="3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DESIGN PRACTICES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Authentication &amp; Security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15494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 verifies </a:t>
            </a: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making the request. Authorization determines </a:t>
            </a: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they can access.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1844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2000" y="2184400"/>
            <a:ext cx="4699000" cy="635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16000" y="247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3363" y="244475"/>
                </a:moveTo>
                <a:cubicBezTo>
                  <a:pt x="300871" y="244475"/>
                  <a:pt x="355600" y="189746"/>
                  <a:pt x="355600" y="122238"/>
                </a:cubicBezTo>
                <a:cubicBezTo>
                  <a:pt x="355600" y="54729"/>
                  <a:pt x="300871" y="0"/>
                  <a:pt x="233363" y="0"/>
                </a:cubicBezTo>
                <a:cubicBezTo>
                  <a:pt x="165854" y="0"/>
                  <a:pt x="111125" y="54729"/>
                  <a:pt x="111125" y="122238"/>
                </a:cubicBezTo>
                <a:cubicBezTo>
                  <a:pt x="111125" y="135225"/>
                  <a:pt x="113139" y="147796"/>
                  <a:pt x="116890" y="159534"/>
                </a:cubicBezTo>
                <a:lnTo>
                  <a:pt x="4862" y="271562"/>
                </a:lnTo>
                <a:cubicBezTo>
                  <a:pt x="1736" y="274687"/>
                  <a:pt x="0" y="278924"/>
                  <a:pt x="0" y="283369"/>
                </a:cubicBezTo>
                <a:lnTo>
                  <a:pt x="0" y="338931"/>
                </a:lnTo>
                <a:cubicBezTo>
                  <a:pt x="0" y="348169"/>
                  <a:pt x="7431" y="355600"/>
                  <a:pt x="16669" y="355600"/>
                </a:cubicBezTo>
                <a:lnTo>
                  <a:pt x="72231" y="355600"/>
                </a:lnTo>
                <a:cubicBezTo>
                  <a:pt x="81469" y="355600"/>
                  <a:pt x="88900" y="348169"/>
                  <a:pt x="88900" y="338931"/>
                </a:cubicBezTo>
                <a:lnTo>
                  <a:pt x="88900" y="311150"/>
                </a:lnTo>
                <a:lnTo>
                  <a:pt x="116681" y="311150"/>
                </a:lnTo>
                <a:cubicBezTo>
                  <a:pt x="125919" y="311150"/>
                  <a:pt x="133350" y="303719"/>
                  <a:pt x="133350" y="294481"/>
                </a:cubicBezTo>
                <a:lnTo>
                  <a:pt x="133350" y="266700"/>
                </a:lnTo>
                <a:lnTo>
                  <a:pt x="161131" y="266700"/>
                </a:lnTo>
                <a:cubicBezTo>
                  <a:pt x="165576" y="266700"/>
                  <a:pt x="169813" y="264964"/>
                  <a:pt x="172938" y="261838"/>
                </a:cubicBezTo>
                <a:lnTo>
                  <a:pt x="196066" y="238710"/>
                </a:lnTo>
                <a:cubicBezTo>
                  <a:pt x="207804" y="242461"/>
                  <a:pt x="220375" y="244475"/>
                  <a:pt x="233363" y="244475"/>
                </a:cubicBezTo>
                <a:close/>
                <a:moveTo>
                  <a:pt x="261144" y="66675"/>
                </a:moveTo>
                <a:cubicBezTo>
                  <a:pt x="276477" y="66675"/>
                  <a:pt x="288925" y="79123"/>
                  <a:pt x="288925" y="94456"/>
                </a:cubicBezTo>
                <a:cubicBezTo>
                  <a:pt x="288925" y="109789"/>
                  <a:pt x="276477" y="122238"/>
                  <a:pt x="261144" y="122238"/>
                </a:cubicBezTo>
                <a:cubicBezTo>
                  <a:pt x="245811" y="122238"/>
                  <a:pt x="233363" y="109789"/>
                  <a:pt x="233363" y="94456"/>
                </a:cubicBezTo>
                <a:cubicBezTo>
                  <a:pt x="233363" y="79123"/>
                  <a:pt x="245811" y="66675"/>
                  <a:pt x="261144" y="66675"/>
                </a:cubicBezTo>
                <a:close/>
              </a:path>
            </a:pathLst>
          </a:cu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98600" y="2476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Keys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16000" y="2984500"/>
            <a:ext cx="419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simple token sent in the header to identify the client.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Public APIs, rate limiting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C4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Limitation: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user identity, easy to leak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78500" y="21844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32500" y="247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15100" y="2476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OAuth 2.0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398000" y="25146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kern="0" spc="1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2500" y="2984500"/>
            <a:ext cx="419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Delegated authorization framework. Users grant limited access without sharing passwords.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Social login, third-party apps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9EC6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Flow: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Auth code → Token → API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795000" y="21844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795000" y="2184400"/>
            <a:ext cx="4699000" cy="635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049000" y="247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18533" y="66675"/>
                </a:moveTo>
                <a:lnTo>
                  <a:pt x="118533" y="111125"/>
                </a:lnTo>
                <a:lnTo>
                  <a:pt x="237067" y="111125"/>
                </a:lnTo>
                <a:lnTo>
                  <a:pt x="237067" y="66675"/>
                </a:lnTo>
                <a:cubicBezTo>
                  <a:pt x="237067" y="42158"/>
                  <a:pt x="210489" y="22225"/>
                  <a:pt x="177800" y="22225"/>
                </a:cubicBezTo>
                <a:cubicBezTo>
                  <a:pt x="145111" y="22225"/>
                  <a:pt x="118533" y="42158"/>
                  <a:pt x="118533" y="66675"/>
                </a:cubicBezTo>
                <a:close/>
                <a:moveTo>
                  <a:pt x="59267" y="111125"/>
                </a:moveTo>
                <a:lnTo>
                  <a:pt x="59267" y="66675"/>
                </a:lnTo>
                <a:cubicBezTo>
                  <a:pt x="59267" y="17572"/>
                  <a:pt x="112329" y="-22225"/>
                  <a:pt x="177800" y="-22225"/>
                </a:cubicBezTo>
                <a:cubicBezTo>
                  <a:pt x="243271" y="-22225"/>
                  <a:pt x="296333" y="17572"/>
                  <a:pt x="296333" y="66675"/>
                </a:cubicBezTo>
                <a:lnTo>
                  <a:pt x="296333" y="111125"/>
                </a:lnTo>
                <a:cubicBezTo>
                  <a:pt x="329023" y="111125"/>
                  <a:pt x="355600" y="131058"/>
                  <a:pt x="355600" y="155575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26577" y="111125"/>
                  <a:pt x="59267" y="111125"/>
                </a:cubicBezTo>
                <a:close/>
              </a:path>
            </a:pathLst>
          </a:cu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531600" y="2476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JWT Tokens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049000" y="2984500"/>
            <a:ext cx="419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Self-contained tokens with user info and expiry. Signed by the server.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Stateless auth, microservices</a:t>
            </a:r>
            <a:endParaRPr lang="en-US" sz="15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9EC6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Format: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dirty="0" err="1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Header.Payload.Signature</a:t>
            </a:r>
            <a:b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</a:b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Hashing Algorithm, .Payload, Signature (sir point)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2000" y="5842000"/>
            <a:ext cx="14732000" cy="1524000"/>
          </a:xfrm>
          <a:prstGeom prst="roundRect">
            <a:avLst>
              <a:gd name="adj" fmla="val 6000"/>
            </a:avLst>
          </a:prstGeom>
          <a:solidFill>
            <a:srgbClr val="D4943A">
              <a:alpha val="823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2000" y="5842000"/>
            <a:ext cx="63500" cy="15240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41400" y="596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BEST PRACTICES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1400" y="6286500"/>
            <a:ext cx="1409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 only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never send tokens over HTTP  |  </a:t>
            </a: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Rate limiting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prevent abuse and DDoS  |  </a:t>
            </a: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validation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sanitize all user data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Least privilege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grant minimum necessary access  |  </a:t>
            </a: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 expiry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short-lived tokens reduce risk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8A9B8C">
                <a:alpha val="3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3tmzt32f22la/mnt/agents/output/api_design/images/6_29_253_Server_Room_Background_Royalty.png"/>
          <p:cNvPicPr>
            <a:picLocks noChangeAspect="1"/>
          </p:cNvPicPr>
          <p:nvPr/>
        </p:nvPicPr>
        <p:blipFill>
          <a:blip r:embed="rId3"/>
          <a:srcRect t="6607" b="6607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B4D4D">
                  <a:alpha val="90000"/>
                </a:srgbClr>
              </a:gs>
              <a:gs pos="100000">
                <a:srgbClr val="1B4D4D">
                  <a:alpha val="94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588000" y="2286000"/>
            <a:ext cx="508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7175500" y="3746500"/>
            <a:ext cx="1905000" cy="381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778000" y="40005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kern="0" spc="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 &amp; QUALITY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048000" y="4889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Ensuring APIs are well-documented, validated, and optimized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 &amp; QUALITY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Documentation with OpenAPI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OpenAPI</a:t>
            </a: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(formerly Swagger) is a machine-readable format for describing REST APIs in YAML or JSON. </a:t>
            </a:r>
            <a:r>
              <a:rPr lang="en-US" sz="170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2000" y="2476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2000" y="2895600"/>
            <a:ext cx="3429000" cy="1397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16000" y="3073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43543" y="19050"/>
                </a:moveTo>
                <a:cubicBezTo>
                  <a:pt x="19526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9526" y="133350"/>
                  <a:pt x="43543" y="133350"/>
                </a:cubicBezTo>
                <a:lnTo>
                  <a:pt x="261257" y="133350"/>
                </a:lnTo>
                <a:cubicBezTo>
                  <a:pt x="285274" y="133350"/>
                  <a:pt x="304800" y="116265"/>
                  <a:pt x="304800" y="95250"/>
                </a:cubicBezTo>
                <a:lnTo>
                  <a:pt x="304800" y="57150"/>
                </a:lnTo>
                <a:cubicBezTo>
                  <a:pt x="304800" y="36135"/>
                  <a:pt x="285274" y="19050"/>
                  <a:pt x="261257" y="19050"/>
                </a:cubicBezTo>
                <a:lnTo>
                  <a:pt x="43543" y="19050"/>
                </a:lnTo>
                <a:close/>
                <a:moveTo>
                  <a:pt x="190500" y="61912"/>
                </a:moveTo>
                <a:cubicBezTo>
                  <a:pt x="199512" y="61912"/>
                  <a:pt x="206829" y="68315"/>
                  <a:pt x="206829" y="76200"/>
                </a:cubicBezTo>
                <a:cubicBezTo>
                  <a:pt x="206829" y="84085"/>
                  <a:pt x="199512" y="90488"/>
                  <a:pt x="190500" y="90488"/>
                </a:cubicBezTo>
                <a:cubicBezTo>
                  <a:pt x="181488" y="90488"/>
                  <a:pt x="174171" y="84085"/>
                  <a:pt x="174171" y="76200"/>
                </a:cubicBezTo>
                <a:cubicBezTo>
                  <a:pt x="174171" y="68315"/>
                  <a:pt x="181488" y="61912"/>
                  <a:pt x="190500" y="61912"/>
                </a:cubicBezTo>
                <a:close/>
                <a:moveTo>
                  <a:pt x="228600" y="76200"/>
                </a:moveTo>
                <a:cubicBezTo>
                  <a:pt x="228600" y="68315"/>
                  <a:pt x="235917" y="61912"/>
                  <a:pt x="244929" y="61912"/>
                </a:cubicBezTo>
                <a:cubicBezTo>
                  <a:pt x="253941" y="61912"/>
                  <a:pt x="261257" y="68315"/>
                  <a:pt x="261257" y="76200"/>
                </a:cubicBezTo>
                <a:cubicBezTo>
                  <a:pt x="261257" y="84085"/>
                  <a:pt x="253941" y="90488"/>
                  <a:pt x="244929" y="90488"/>
                </a:cubicBezTo>
                <a:cubicBezTo>
                  <a:pt x="235917" y="90488"/>
                  <a:pt x="228600" y="84085"/>
                  <a:pt x="228600" y="76200"/>
                </a:cubicBezTo>
                <a:close/>
                <a:moveTo>
                  <a:pt x="43543" y="171450"/>
                </a:moveTo>
                <a:cubicBezTo>
                  <a:pt x="19526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9526" y="285750"/>
                  <a:pt x="43543" y="285750"/>
                </a:cubicBezTo>
                <a:lnTo>
                  <a:pt x="261257" y="285750"/>
                </a:lnTo>
                <a:cubicBezTo>
                  <a:pt x="285274" y="285750"/>
                  <a:pt x="304800" y="268665"/>
                  <a:pt x="304800" y="247650"/>
                </a:cubicBezTo>
                <a:lnTo>
                  <a:pt x="304800" y="209550"/>
                </a:lnTo>
                <a:cubicBezTo>
                  <a:pt x="304800" y="188535"/>
                  <a:pt x="285274" y="171450"/>
                  <a:pt x="261257" y="171450"/>
                </a:cubicBezTo>
                <a:lnTo>
                  <a:pt x="43543" y="171450"/>
                </a:lnTo>
                <a:close/>
                <a:moveTo>
                  <a:pt x="190500" y="214313"/>
                </a:moveTo>
                <a:cubicBezTo>
                  <a:pt x="199512" y="214313"/>
                  <a:pt x="206829" y="220715"/>
                  <a:pt x="206829" y="228600"/>
                </a:cubicBezTo>
                <a:cubicBezTo>
                  <a:pt x="206829" y="236485"/>
                  <a:pt x="199512" y="242888"/>
                  <a:pt x="190500" y="242888"/>
                </a:cubicBezTo>
                <a:cubicBezTo>
                  <a:pt x="181488" y="242888"/>
                  <a:pt x="174171" y="236485"/>
                  <a:pt x="174171" y="228600"/>
                </a:cubicBezTo>
                <a:cubicBezTo>
                  <a:pt x="174171" y="220715"/>
                  <a:pt x="181488" y="214313"/>
                  <a:pt x="190500" y="214313"/>
                </a:cubicBezTo>
                <a:close/>
                <a:moveTo>
                  <a:pt x="228600" y="228600"/>
                </a:moveTo>
                <a:cubicBezTo>
                  <a:pt x="228600" y="220715"/>
                  <a:pt x="235917" y="214313"/>
                  <a:pt x="244929" y="214313"/>
                </a:cubicBezTo>
                <a:cubicBezTo>
                  <a:pt x="253941" y="214313"/>
                  <a:pt x="261257" y="220715"/>
                  <a:pt x="261257" y="228600"/>
                </a:cubicBezTo>
                <a:cubicBezTo>
                  <a:pt x="261257" y="236485"/>
                  <a:pt x="253941" y="242888"/>
                  <a:pt x="244929" y="242888"/>
                </a:cubicBezTo>
                <a:cubicBezTo>
                  <a:pt x="235917" y="242888"/>
                  <a:pt x="228600" y="236485"/>
                  <a:pt x="228600" y="228600"/>
                </a:cubicBezTo>
                <a:close/>
              </a:path>
            </a:pathLst>
          </a:cu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16000" y="34544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Stubs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16000" y="3784600"/>
            <a:ext cx="29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Auto-generate backend code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08500" y="2895600"/>
            <a:ext cx="3429000" cy="1397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62500" y="3073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923" y="714"/>
                </a:moveTo>
                <a:cubicBezTo>
                  <a:pt x="181928" y="-2203"/>
                  <a:pt x="172561" y="3691"/>
                  <a:pt x="169968" y="13811"/>
                </a:cubicBezTo>
                <a:lnTo>
                  <a:pt x="102235" y="280511"/>
                </a:lnTo>
                <a:cubicBezTo>
                  <a:pt x="99642" y="290632"/>
                  <a:pt x="104881" y="301169"/>
                  <a:pt x="113877" y="304086"/>
                </a:cubicBezTo>
                <a:cubicBezTo>
                  <a:pt x="122872" y="307003"/>
                  <a:pt x="132239" y="301109"/>
                  <a:pt x="134832" y="290989"/>
                </a:cubicBezTo>
                <a:lnTo>
                  <a:pt x="202565" y="24289"/>
                </a:lnTo>
                <a:cubicBezTo>
                  <a:pt x="205158" y="14168"/>
                  <a:pt x="199919" y="3631"/>
                  <a:pt x="190923" y="714"/>
                </a:cubicBezTo>
                <a:close/>
                <a:moveTo>
                  <a:pt x="225108" y="81736"/>
                </a:moveTo>
                <a:cubicBezTo>
                  <a:pt x="218493" y="89178"/>
                  <a:pt x="218493" y="101263"/>
                  <a:pt x="225108" y="108704"/>
                </a:cubicBezTo>
                <a:lnTo>
                  <a:pt x="263948" y="152400"/>
                </a:lnTo>
                <a:lnTo>
                  <a:pt x="225108" y="196096"/>
                </a:lnTo>
                <a:cubicBezTo>
                  <a:pt x="218493" y="203537"/>
                  <a:pt x="218493" y="215622"/>
                  <a:pt x="225108" y="223064"/>
                </a:cubicBezTo>
                <a:cubicBezTo>
                  <a:pt x="231722" y="230505"/>
                  <a:pt x="242464" y="230505"/>
                  <a:pt x="249079" y="223064"/>
                </a:cubicBezTo>
                <a:lnTo>
                  <a:pt x="299879" y="165914"/>
                </a:lnTo>
                <a:cubicBezTo>
                  <a:pt x="306493" y="158472"/>
                  <a:pt x="306493" y="146387"/>
                  <a:pt x="299879" y="138946"/>
                </a:cubicBezTo>
                <a:lnTo>
                  <a:pt x="249079" y="81796"/>
                </a:lnTo>
                <a:cubicBezTo>
                  <a:pt x="242464" y="74355"/>
                  <a:pt x="231722" y="74355"/>
                  <a:pt x="225108" y="81796"/>
                </a:cubicBezTo>
                <a:close/>
                <a:moveTo>
                  <a:pt x="79745" y="81736"/>
                </a:moveTo>
                <a:cubicBezTo>
                  <a:pt x="73131" y="74295"/>
                  <a:pt x="62389" y="74295"/>
                  <a:pt x="55774" y="81736"/>
                </a:cubicBezTo>
                <a:lnTo>
                  <a:pt x="4974" y="138886"/>
                </a:lnTo>
                <a:cubicBezTo>
                  <a:pt x="-1640" y="146328"/>
                  <a:pt x="-1640" y="158413"/>
                  <a:pt x="4974" y="165854"/>
                </a:cubicBezTo>
                <a:lnTo>
                  <a:pt x="55774" y="223004"/>
                </a:lnTo>
                <a:cubicBezTo>
                  <a:pt x="62389" y="230445"/>
                  <a:pt x="73131" y="230445"/>
                  <a:pt x="79745" y="223004"/>
                </a:cubicBezTo>
                <a:cubicBezTo>
                  <a:pt x="86360" y="215563"/>
                  <a:pt x="86360" y="203478"/>
                  <a:pt x="79745" y="196036"/>
                </a:cubicBezTo>
                <a:lnTo>
                  <a:pt x="40905" y="152400"/>
                </a:lnTo>
                <a:lnTo>
                  <a:pt x="79693" y="108704"/>
                </a:lnTo>
                <a:cubicBezTo>
                  <a:pt x="86307" y="101263"/>
                  <a:pt x="86307" y="89178"/>
                  <a:pt x="79693" y="81736"/>
                </a:cubicBezTo>
                <a:close/>
              </a:path>
            </a:pathLst>
          </a:cu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62500" y="34544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Libraries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62500" y="3784600"/>
            <a:ext cx="29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SDKs for multiple languages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2000" y="4546600"/>
            <a:ext cx="3429000" cy="1397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16000" y="4724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84118"/>
                </a:moveTo>
                <a:lnTo>
                  <a:pt x="152400" y="268248"/>
                </a:lnTo>
                <a:lnTo>
                  <a:pt x="152698" y="268129"/>
                </a:lnTo>
                <a:cubicBezTo>
                  <a:pt x="185202" y="254615"/>
                  <a:pt x="220087" y="247650"/>
                  <a:pt x="255270" y="247650"/>
                </a:cubicBezTo>
                <a:lnTo>
                  <a:pt x="266700" y="247650"/>
                </a:lnTo>
                <a:lnTo>
                  <a:pt x="266700" y="57150"/>
                </a:lnTo>
                <a:lnTo>
                  <a:pt x="255270" y="57150"/>
                </a:lnTo>
                <a:cubicBezTo>
                  <a:pt x="230148" y="57150"/>
                  <a:pt x="205204" y="62151"/>
                  <a:pt x="181987" y="71795"/>
                </a:cubicBezTo>
                <a:cubicBezTo>
                  <a:pt x="171986" y="75962"/>
                  <a:pt x="162104" y="80070"/>
                  <a:pt x="152400" y="84118"/>
                </a:cubicBezTo>
                <a:close/>
                <a:moveTo>
                  <a:pt x="137458" y="36612"/>
                </a:moveTo>
                <a:lnTo>
                  <a:pt x="152400" y="42863"/>
                </a:lnTo>
                <a:lnTo>
                  <a:pt x="167342" y="36612"/>
                </a:lnTo>
                <a:cubicBezTo>
                  <a:pt x="195203" y="25003"/>
                  <a:pt x="225088" y="19050"/>
                  <a:pt x="255270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257175"/>
                </a:lnTo>
                <a:cubicBezTo>
                  <a:pt x="304800" y="272951"/>
                  <a:pt x="292001" y="285750"/>
                  <a:pt x="276225" y="285750"/>
                </a:cubicBezTo>
                <a:lnTo>
                  <a:pt x="255270" y="285750"/>
                </a:lnTo>
                <a:cubicBezTo>
                  <a:pt x="225088" y="285750"/>
                  <a:pt x="195203" y="291703"/>
                  <a:pt x="167342" y="303312"/>
                </a:cubicBezTo>
                <a:lnTo>
                  <a:pt x="159722" y="306467"/>
                </a:lnTo>
                <a:cubicBezTo>
                  <a:pt x="155019" y="308431"/>
                  <a:pt x="149781" y="308431"/>
                  <a:pt x="145078" y="306467"/>
                </a:cubicBezTo>
                <a:lnTo>
                  <a:pt x="137458" y="303312"/>
                </a:lnTo>
                <a:cubicBezTo>
                  <a:pt x="109597" y="291703"/>
                  <a:pt x="79712" y="285750"/>
                  <a:pt x="49530" y="285750"/>
                </a:cubicBezTo>
                <a:lnTo>
                  <a:pt x="28575" y="285750"/>
                </a:lnTo>
                <a:cubicBezTo>
                  <a:pt x="12799" y="285750"/>
                  <a:pt x="0" y="272951"/>
                  <a:pt x="0" y="257175"/>
                </a:cubicBezTo>
                <a:lnTo>
                  <a:pt x="0" y="47625"/>
                </a:lnTo>
                <a:cubicBezTo>
                  <a:pt x="0" y="31849"/>
                  <a:pt x="12799" y="19050"/>
                  <a:pt x="28575" y="19050"/>
                </a:cubicBezTo>
                <a:lnTo>
                  <a:pt x="49530" y="19050"/>
                </a:lnTo>
                <a:cubicBezTo>
                  <a:pt x="79712" y="19050"/>
                  <a:pt x="109597" y="25003"/>
                  <a:pt x="137458" y="36612"/>
                </a:cubicBezTo>
                <a:close/>
              </a:path>
            </a:pathLst>
          </a:cu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16000" y="51054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Docs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16000" y="5435600"/>
            <a:ext cx="29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Swagger UI for exploration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08500" y="4546600"/>
            <a:ext cx="3429000" cy="1397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62500" y="4724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3954" y="5596"/>
                </a:moveTo>
                <a:cubicBezTo>
                  <a:pt x="196513" y="-1845"/>
                  <a:pt x="184428" y="-1845"/>
                  <a:pt x="176986" y="5596"/>
                </a:cubicBezTo>
                <a:cubicBezTo>
                  <a:pt x="169545" y="13037"/>
                  <a:pt x="169545" y="25122"/>
                  <a:pt x="176986" y="32564"/>
                </a:cubicBezTo>
                <a:lnTo>
                  <a:pt x="182582" y="38100"/>
                </a:lnTo>
                <a:lnTo>
                  <a:pt x="16728" y="203954"/>
                </a:lnTo>
                <a:cubicBezTo>
                  <a:pt x="6013" y="214670"/>
                  <a:pt x="0" y="229195"/>
                  <a:pt x="0" y="244376"/>
                </a:cubicBezTo>
                <a:lnTo>
                  <a:pt x="0" y="247650"/>
                </a:lnTo>
                <a:cubicBezTo>
                  <a:pt x="0" y="279202"/>
                  <a:pt x="25598" y="304800"/>
                  <a:pt x="57150" y="304800"/>
                </a:cubicBezTo>
                <a:lnTo>
                  <a:pt x="60424" y="304800"/>
                </a:lnTo>
                <a:cubicBezTo>
                  <a:pt x="75605" y="304800"/>
                  <a:pt x="90130" y="298787"/>
                  <a:pt x="100846" y="288072"/>
                </a:cubicBezTo>
                <a:lnTo>
                  <a:pt x="266700" y="122218"/>
                </a:lnTo>
                <a:lnTo>
                  <a:pt x="272296" y="127814"/>
                </a:lnTo>
                <a:cubicBezTo>
                  <a:pt x="279737" y="135255"/>
                  <a:pt x="291822" y="135255"/>
                  <a:pt x="299264" y="127814"/>
                </a:cubicBezTo>
                <a:cubicBezTo>
                  <a:pt x="306705" y="120372"/>
                  <a:pt x="306705" y="108287"/>
                  <a:pt x="299264" y="100846"/>
                </a:cubicBezTo>
                <a:lnTo>
                  <a:pt x="204014" y="5596"/>
                </a:lnTo>
                <a:close/>
                <a:moveTo>
                  <a:pt x="122218" y="152400"/>
                </a:moveTo>
                <a:lnTo>
                  <a:pt x="209550" y="65068"/>
                </a:lnTo>
                <a:lnTo>
                  <a:pt x="239732" y="95250"/>
                </a:lnTo>
                <a:lnTo>
                  <a:pt x="182582" y="152400"/>
                </a:lnTo>
                <a:lnTo>
                  <a:pt x="122158" y="152400"/>
                </a:lnTo>
                <a:close/>
              </a:path>
            </a:pathLst>
          </a:cu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62500" y="51054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Testing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62500" y="5435600"/>
            <a:ext cx="29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Simplified test workflows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82000" y="1587500"/>
            <a:ext cx="7112000" cy="4381500"/>
          </a:xfrm>
          <a:prstGeom prst="roundRect">
            <a:avLst>
              <a:gd name="adj" fmla="val 6000"/>
            </a:avLst>
          </a:prstGeom>
          <a:solidFill>
            <a:srgbClr val="163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36000" y="17526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SWAGGER.JSON EXAMPLE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36000" y="2095500"/>
            <a:ext cx="6604000" cy="374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r>
              <a:rPr lang="en-US" sz="120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"openapi"</a:t>
            </a:r>
            <a:r>
              <a:rPr lang="en-US" sz="12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200" dirty="0">
                <a:solidFill>
                  <a:srgbClr val="9EC6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"3.0.0"</a:t>
            </a:r>
            <a:r>
              <a:rPr lang="en-US" sz="12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r>
              <a:rPr lang="en-US" sz="120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"info"</a:t>
            </a:r>
            <a:r>
              <a:rPr lang="en-US" sz="12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{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</a:t>
            </a:r>
            <a:r>
              <a:rPr lang="en-US" sz="120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"title"</a:t>
            </a:r>
            <a:r>
              <a:rPr lang="en-US" sz="12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200" dirty="0">
                <a:solidFill>
                  <a:srgbClr val="9EC6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"User API"</a:t>
            </a:r>
            <a:r>
              <a:rPr lang="en-US" sz="12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</a:t>
            </a:r>
            <a:r>
              <a:rPr lang="en-US" sz="120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"version"</a:t>
            </a:r>
            <a:r>
              <a:rPr lang="en-US" sz="12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200" dirty="0">
                <a:solidFill>
                  <a:srgbClr val="9EC6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"1.0.0"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r>
              <a:rPr lang="en-US" sz="12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r>
              <a:rPr lang="en-US" sz="120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"paths"</a:t>
            </a:r>
            <a:r>
              <a:rPr lang="en-US" sz="12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{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</a:t>
            </a:r>
            <a:r>
              <a:rPr lang="en-US" sz="1200" dirty="0">
                <a:solidFill>
                  <a:srgbClr val="9EC6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"/api/users"</a:t>
            </a:r>
            <a:r>
              <a:rPr lang="en-US" sz="12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{ ... }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r>
              <a:rPr lang="en-US" sz="12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2000" y="6286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USE OPENAPI?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2000" y="66675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docs </a:t>
            </a:r>
            <a:r>
              <a:rPr lang="en-US" sz="160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Better developer experience </a:t>
            </a:r>
            <a:r>
              <a:rPr lang="en-US" sz="160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Reduced dev time </a:t>
            </a:r>
            <a:r>
              <a:rPr lang="en-US" sz="160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Multi-language support </a:t>
            </a:r>
            <a:r>
              <a:rPr lang="en-US" sz="160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Automated testing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8A9B8C">
                <a:alpha val="3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 &amp; QUALITY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Validation, Optimization &amp; Errors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VALIDATION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2000" y="2057400"/>
            <a:ext cx="4699000" cy="3937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6000" y="2260600"/>
            <a:ext cx="4191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 Checking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values match expected data types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 Fields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Verify all necessary fields are present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Format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email, date, phone formats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Rules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Enforce domain constraints (e.g., age &gt; 18)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78500" y="1651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OPTIMIZATION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78500" y="2057400"/>
            <a:ext cx="4699000" cy="3937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2500" y="2260600"/>
            <a:ext cx="4191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Pagination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subsets instead of all data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Compression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Gzip or Brotli to minimize payload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Caching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 frequently accessed data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Serialization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lightweight formats like MessagePack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95000" y="1651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795000" y="2057400"/>
            <a:ext cx="4699000" cy="3937000"/>
          </a:xfrm>
          <a:prstGeom prst="roundRect">
            <a:avLst>
              <a:gd name="adj" fmla="val 8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49000" y="2260600"/>
            <a:ext cx="4191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Codes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proper HTTP codes (400, 401, 404, 500)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Messages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Human-readable, not "Something went wrong!"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Consistency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error format across all endpoints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leak stack traces or internal details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2000" y="6350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D4943A">
              <a:alpha val="823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2000" y="6350000"/>
            <a:ext cx="63500" cy="10160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41400" y="660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98600" y="64770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First:</a:t>
            </a: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Validation protects against SQL injection, XSS, and other attacks. Never trust client input — always validate on the server side.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8A9B8C">
                <a:alpha val="3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 &amp; QUALITY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vs Bad API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15494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design decisions have a big impact on usability. Let's compare approaches side by side.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7175500" cy="508000"/>
          </a:xfrm>
          <a:prstGeom prst="rect">
            <a:avLst/>
          </a:prstGeom>
          <a:solidFill>
            <a:srgbClr val="4A9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2000" y="2159000"/>
            <a:ext cx="7175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DESIGN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18500" y="2159000"/>
            <a:ext cx="7175500" cy="508000"/>
          </a:xfrm>
          <a:prstGeom prst="rect">
            <a:avLst/>
          </a:prstGeom>
          <a:solidFill>
            <a:srgbClr val="C4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18500" y="2159000"/>
            <a:ext cx="7175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BAD DESIGN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2794000"/>
            <a:ext cx="7175500" cy="1143000"/>
          </a:xfrm>
          <a:prstGeom prst="rect">
            <a:avLst/>
          </a:prstGeom>
          <a:solidFill>
            <a:srgbClr val="4A9B6B">
              <a:alpha val="627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16000" y="28956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/users/123/orders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Nouns + hierarchy + HTTP method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18500" y="2794000"/>
            <a:ext cx="7175500" cy="1143000"/>
          </a:xfrm>
          <a:prstGeom prst="rect">
            <a:avLst/>
          </a:prstGeom>
          <a:solidFill>
            <a:srgbClr val="C44D4D">
              <a:alpha val="627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72500" y="28956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/getUserOrders?id=123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Verbs in URL + query params for IDs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2000" y="4064000"/>
            <a:ext cx="7175500" cy="1143000"/>
          </a:xfrm>
          <a:prstGeom prst="rect">
            <a:avLst/>
          </a:prstGeom>
          <a:solidFill>
            <a:srgbClr val="4A9B6B">
              <a:alpha val="627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16000" y="41656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 Created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Location header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 status code + resource location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318500" y="4064000"/>
            <a:ext cx="7175500" cy="1143000"/>
          </a:xfrm>
          <a:prstGeom prst="rect">
            <a:avLst/>
          </a:prstGeom>
          <a:solidFill>
            <a:srgbClr val="C44D4D">
              <a:alpha val="627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72500" y="41656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 OK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body says "created"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Generic status, logic in response body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2000" y="5334000"/>
            <a:ext cx="7175500" cy="1143000"/>
          </a:xfrm>
          <a:prstGeom prst="rect">
            <a:avLst/>
          </a:prstGeom>
          <a:solidFill>
            <a:srgbClr val="4A9B6B">
              <a:alpha val="627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16000" y="54356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error format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{"error": "Invalid email format"}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18500" y="5334000"/>
            <a:ext cx="7175500" cy="1143000"/>
          </a:xfrm>
          <a:prstGeom prst="rect">
            <a:avLst/>
          </a:prstGeom>
          <a:solidFill>
            <a:srgbClr val="C44D4D">
              <a:alpha val="627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72500" y="54356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Vague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leaking errors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"Something went wrong" or stack traces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62000" y="6604000"/>
            <a:ext cx="7175500" cy="1016000"/>
          </a:xfrm>
          <a:prstGeom prst="rect">
            <a:avLst/>
          </a:prstGeom>
          <a:solidFill>
            <a:srgbClr val="4A9B6B">
              <a:alpha val="627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16000" y="6667500"/>
            <a:ext cx="6667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Versioned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day one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/v1/users — explicit, predictable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318500" y="6604000"/>
            <a:ext cx="7175500" cy="1016000"/>
          </a:xfrm>
          <a:prstGeom prst="rect">
            <a:avLst/>
          </a:prstGeom>
          <a:solidFill>
            <a:srgbClr val="C44D4D">
              <a:alpha val="627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72500" y="6667500"/>
            <a:ext cx="6667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versioning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/users — breaks on changes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8A9B8C">
                <a:alpha val="3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3tmzt32f22la/mnt/agents/output/api_design/images/8_Abstract_Technology_Background_Digital.png"/>
          <p:cNvPicPr>
            <a:picLocks noChangeAspect="1"/>
          </p:cNvPicPr>
          <p:nvPr/>
        </p:nvPicPr>
        <p:blipFill>
          <a:blip r:embed="rId3"/>
          <a:srcRect l="111" r="11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B4D4D">
                  <a:alpha val="80000"/>
                </a:srgbClr>
              </a:gs>
              <a:gs pos="100000">
                <a:srgbClr val="1B4D4D">
                  <a:alpha val="95000"/>
                </a:srgbClr>
              </a:gs>
            </a:gsLst>
            <a:path path="circle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318000" y="2540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kern="0" spc="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175500" y="2984500"/>
            <a:ext cx="1905000" cy="38100"/>
          </a:xfrm>
          <a:prstGeom prst="rect">
            <a:avLst/>
          </a:prstGeom>
          <a:solidFill>
            <a:srgbClr val="D4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413000" y="3175000"/>
            <a:ext cx="11430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APIs connect the digital world.</a:t>
            </a:r>
            <a:endParaRPr lang="en-US" sz="2200" dirty="0"/>
          </a:p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them with </a:t>
            </a: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principles</a:t>
            </a: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</a:t>
            </a:r>
            <a:endParaRPr lang="en-US" sz="2200" dirty="0"/>
          </a:p>
          <a:p>
            <a:pPr algn="ctr">
              <a:lnSpc>
                <a:spcPct val="16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version wisely</a:t>
            </a: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thoroughly</a:t>
            </a: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</a:t>
            </a:r>
            <a:endParaRPr lang="en-US" sz="2200" dirty="0"/>
          </a:p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always </a:t>
            </a: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&amp; optimize</a:t>
            </a: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318000" y="5461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kern="0" spc="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32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1691</Words>
  <Application>Microsoft Office PowerPoint</Application>
  <PresentationFormat>Custom</PresentationFormat>
  <Paragraphs>302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Liter</vt:lpstr>
      <vt:lpstr>Arial</vt:lpstr>
      <vt:lpstr>Quattrocento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Design Fundamentals</dc:title>
  <dc:subject>API Design Fundamentals</dc:subject>
  <dc:creator>Kimi</dc:creator>
  <cp:lastModifiedBy>Nabila Nuzhat Moin</cp:lastModifiedBy>
  <cp:revision>5</cp:revision>
  <dcterms:created xsi:type="dcterms:W3CDTF">2026-06-25T06:47:20Z</dcterms:created>
  <dcterms:modified xsi:type="dcterms:W3CDTF">2026-07-29T05:10:34Z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{"Label":"API Design Fundamentals","ContentProducer":"001191110108MACG2KBH8F10000","ProduceID":"19eda92e-47f2-805e-8000-0000c8753157","ReservedCode1":"","ContentPropagator":"001191110108MACG2KBH8F20000","PropagateID":"19eda915-4fa2-85ae-8000-09ef77e3c9f6","ReservedCode2":""}</vt:lpwstr>
  </property>
</Properties>
</file>
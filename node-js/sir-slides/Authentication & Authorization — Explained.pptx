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2000" y="2286000"/>
            <a:ext cx="1219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STUDENT-FRIENDLY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032000" y="2921000"/>
            <a:ext cx="1219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&amp; Authorization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540000" y="4064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 simple password to OAuth2 and SSO — a visual tour of how systems answer </a:t>
            </a:r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"Who are you?"</a:t>
            </a:r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are you allowed to do?"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concepts, one workflow each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8382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Explained · Confidential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604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540000" y="1778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Why This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40000" y="2540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Authentication Foundations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40000" y="330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Token-Based Systems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40000" y="4064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Delegated Identity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40000" y="482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Authorization &amp; The Big Picture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app has to answer this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authentication wrong and any of these can happen. That's why so many mechanisms exist — each one is a trade-off between security, simplicity, and convenience.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286000"/>
            <a:ext cx="3238500" cy="304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Shape 4"/>
          <p:cNvSpPr/>
          <p:nvPr/>
        </p:nvSpPr>
        <p:spPr>
          <a:xfrm>
            <a:off x="21590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2682" y="-19050"/>
                </a:moveTo>
                <a:cubicBezTo>
                  <a:pt x="183152" y="-19050"/>
                  <a:pt x="154033" y="50363"/>
                  <a:pt x="139745" y="114300"/>
                </a:cubicBezTo>
                <a:lnTo>
                  <a:pt x="97971" y="114300"/>
                </a:lnTo>
                <a:cubicBezTo>
                  <a:pt x="79874" y="114300"/>
                  <a:pt x="65314" y="127040"/>
                  <a:pt x="65314" y="142875"/>
                </a:cubicBezTo>
                <a:cubicBezTo>
                  <a:pt x="65314" y="158710"/>
                  <a:pt x="79874" y="171450"/>
                  <a:pt x="97971" y="171450"/>
                </a:cubicBezTo>
                <a:lnTo>
                  <a:pt x="130629" y="171450"/>
                </a:lnTo>
                <a:lnTo>
                  <a:pt x="130629" y="209550"/>
                </a:lnTo>
                <a:cubicBezTo>
                  <a:pt x="130629" y="229791"/>
                  <a:pt x="135119" y="249079"/>
                  <a:pt x="143283" y="266700"/>
                </a:cubicBezTo>
                <a:lnTo>
                  <a:pt x="130629" y="266700"/>
                </a:lnTo>
                <a:lnTo>
                  <a:pt x="130629" y="266700"/>
                </a:lnTo>
                <a:lnTo>
                  <a:pt x="102734" y="266700"/>
                </a:lnTo>
                <a:cubicBezTo>
                  <a:pt x="82051" y="266700"/>
                  <a:pt x="65314" y="281345"/>
                  <a:pt x="65314" y="299442"/>
                </a:cubicBezTo>
                <a:cubicBezTo>
                  <a:pt x="65314" y="303014"/>
                  <a:pt x="65995" y="306467"/>
                  <a:pt x="67219" y="309801"/>
                </a:cubicBezTo>
                <a:lnTo>
                  <a:pt x="106544" y="412909"/>
                </a:lnTo>
                <a:cubicBezTo>
                  <a:pt x="54701" y="451961"/>
                  <a:pt x="21771" y="509707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509707"/>
                  <a:pt x="554899" y="451961"/>
                  <a:pt x="503056" y="413028"/>
                </a:cubicBezTo>
                <a:lnTo>
                  <a:pt x="542381" y="309920"/>
                </a:lnTo>
                <a:cubicBezTo>
                  <a:pt x="543605" y="306586"/>
                  <a:pt x="544286" y="303133"/>
                  <a:pt x="544286" y="299561"/>
                </a:cubicBezTo>
                <a:cubicBezTo>
                  <a:pt x="544286" y="281464"/>
                  <a:pt x="527549" y="266819"/>
                  <a:pt x="506866" y="266819"/>
                </a:cubicBezTo>
                <a:lnTo>
                  <a:pt x="478971" y="266819"/>
                </a:lnTo>
                <a:lnTo>
                  <a:pt x="478971" y="266819"/>
                </a:lnTo>
                <a:lnTo>
                  <a:pt x="466317" y="266819"/>
                </a:lnTo>
                <a:cubicBezTo>
                  <a:pt x="474481" y="249198"/>
                  <a:pt x="478971" y="229910"/>
                  <a:pt x="478971" y="209669"/>
                </a:cubicBezTo>
                <a:lnTo>
                  <a:pt x="478971" y="171569"/>
                </a:lnTo>
                <a:lnTo>
                  <a:pt x="511629" y="171569"/>
                </a:lnTo>
                <a:cubicBezTo>
                  <a:pt x="529726" y="171569"/>
                  <a:pt x="544286" y="158829"/>
                  <a:pt x="544286" y="142994"/>
                </a:cubicBezTo>
                <a:cubicBezTo>
                  <a:pt x="544286" y="127159"/>
                  <a:pt x="529726" y="114419"/>
                  <a:pt x="511629" y="114419"/>
                </a:cubicBezTo>
                <a:lnTo>
                  <a:pt x="469855" y="114419"/>
                </a:lnTo>
                <a:cubicBezTo>
                  <a:pt x="455703" y="50482"/>
                  <a:pt x="426448" y="-18931"/>
                  <a:pt x="376918" y="-18931"/>
                </a:cubicBezTo>
                <a:cubicBezTo>
                  <a:pt x="363855" y="-18931"/>
                  <a:pt x="351064" y="-14288"/>
                  <a:pt x="339498" y="-9168"/>
                </a:cubicBezTo>
                <a:cubicBezTo>
                  <a:pt x="328340" y="-4286"/>
                  <a:pt x="314461" y="119"/>
                  <a:pt x="304800" y="119"/>
                </a:cubicBezTo>
                <a:cubicBezTo>
                  <a:pt x="295139" y="119"/>
                  <a:pt x="281260" y="-4286"/>
                  <a:pt x="270102" y="-9168"/>
                </a:cubicBezTo>
                <a:cubicBezTo>
                  <a:pt x="258536" y="-14407"/>
                  <a:pt x="245745" y="-19050"/>
                  <a:pt x="232682" y="-19050"/>
                </a:cubicBezTo>
                <a:close/>
                <a:moveTo>
                  <a:pt x="360181" y="557689"/>
                </a:moveTo>
                <a:lnTo>
                  <a:pt x="326435" y="473273"/>
                </a:lnTo>
                <a:lnTo>
                  <a:pt x="364399" y="434578"/>
                </a:lnTo>
                <a:cubicBezTo>
                  <a:pt x="368073" y="430768"/>
                  <a:pt x="370114" y="426006"/>
                  <a:pt x="370114" y="421005"/>
                </a:cubicBezTo>
                <a:cubicBezTo>
                  <a:pt x="370114" y="409456"/>
                  <a:pt x="359501" y="400169"/>
                  <a:pt x="346302" y="400169"/>
                </a:cubicBezTo>
                <a:lnTo>
                  <a:pt x="263298" y="400169"/>
                </a:lnTo>
                <a:cubicBezTo>
                  <a:pt x="250099" y="400169"/>
                  <a:pt x="239486" y="409456"/>
                  <a:pt x="239486" y="421005"/>
                </a:cubicBezTo>
                <a:cubicBezTo>
                  <a:pt x="239486" y="426006"/>
                  <a:pt x="241527" y="430768"/>
                  <a:pt x="245201" y="434578"/>
                </a:cubicBezTo>
                <a:lnTo>
                  <a:pt x="283165" y="473273"/>
                </a:lnTo>
                <a:lnTo>
                  <a:pt x="249419" y="557689"/>
                </a:lnTo>
                <a:lnTo>
                  <a:pt x="171858" y="342900"/>
                </a:lnTo>
                <a:lnTo>
                  <a:pt x="220436" y="342900"/>
                </a:lnTo>
                <a:cubicBezTo>
                  <a:pt x="245473" y="355044"/>
                  <a:pt x="274184" y="361950"/>
                  <a:pt x="304800" y="361950"/>
                </a:cubicBezTo>
                <a:cubicBezTo>
                  <a:pt x="335416" y="361950"/>
                  <a:pt x="364127" y="355044"/>
                  <a:pt x="389164" y="342900"/>
                </a:cubicBezTo>
                <a:lnTo>
                  <a:pt x="437742" y="342900"/>
                </a:lnTo>
                <a:lnTo>
                  <a:pt x="360181" y="557689"/>
                </a:lnTo>
                <a:close/>
                <a:moveTo>
                  <a:pt x="304800" y="304800"/>
                </a:moveTo>
                <a:cubicBezTo>
                  <a:pt x="257583" y="304800"/>
                  <a:pt x="217442" y="278487"/>
                  <a:pt x="202338" y="241697"/>
                </a:cubicBezTo>
                <a:cubicBezTo>
                  <a:pt x="210094" y="245507"/>
                  <a:pt x="219075" y="247650"/>
                  <a:pt x="228600" y="247650"/>
                </a:cubicBezTo>
                <a:lnTo>
                  <a:pt x="245473" y="247650"/>
                </a:lnTo>
                <a:cubicBezTo>
                  <a:pt x="267925" y="247650"/>
                  <a:pt x="287791" y="235029"/>
                  <a:pt x="294867" y="216456"/>
                </a:cubicBezTo>
                <a:cubicBezTo>
                  <a:pt x="297996" y="208121"/>
                  <a:pt x="311467" y="208121"/>
                  <a:pt x="314597" y="216456"/>
                </a:cubicBezTo>
                <a:cubicBezTo>
                  <a:pt x="321673" y="235029"/>
                  <a:pt x="341675" y="247650"/>
                  <a:pt x="363991" y="247650"/>
                </a:cubicBezTo>
                <a:lnTo>
                  <a:pt x="380864" y="247650"/>
                </a:lnTo>
                <a:cubicBezTo>
                  <a:pt x="390389" y="247650"/>
                  <a:pt x="399370" y="245507"/>
                  <a:pt x="407126" y="241697"/>
                </a:cubicBezTo>
                <a:cubicBezTo>
                  <a:pt x="392022" y="278487"/>
                  <a:pt x="351881" y="304800"/>
                  <a:pt x="304664" y="3048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020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Impersonation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592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Someone pretends to be a user they're not.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08500" y="2286000"/>
            <a:ext cx="3238500" cy="304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0" name="Shape 8"/>
          <p:cNvSpPr/>
          <p:nvPr/>
        </p:nvSpPr>
        <p:spPr>
          <a:xfrm>
            <a:off x="56515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499586"/>
                </a:moveTo>
                <a:lnTo>
                  <a:pt x="0" y="130373"/>
                </a:lnTo>
                <a:cubicBezTo>
                  <a:pt x="0" y="102751"/>
                  <a:pt x="28694" y="84415"/>
                  <a:pt x="55126" y="92273"/>
                </a:cubicBezTo>
                <a:cubicBezTo>
                  <a:pt x="159544" y="123468"/>
                  <a:pt x="233363" y="98822"/>
                  <a:pt x="307658" y="74057"/>
                </a:cubicBezTo>
                <a:cubicBezTo>
                  <a:pt x="384453" y="48458"/>
                  <a:pt x="461724" y="22741"/>
                  <a:pt x="573524" y="58460"/>
                </a:cubicBezTo>
                <a:cubicBezTo>
                  <a:pt x="595551" y="65484"/>
                  <a:pt x="609600" y="86797"/>
                  <a:pt x="609600" y="110014"/>
                </a:cubicBezTo>
                <a:lnTo>
                  <a:pt x="609600" y="479227"/>
                </a:lnTo>
                <a:cubicBezTo>
                  <a:pt x="609600" y="506849"/>
                  <a:pt x="580906" y="525185"/>
                  <a:pt x="554593" y="517327"/>
                </a:cubicBezTo>
                <a:cubicBezTo>
                  <a:pt x="450175" y="486132"/>
                  <a:pt x="376238" y="510778"/>
                  <a:pt x="302062" y="535543"/>
                </a:cubicBezTo>
                <a:cubicBezTo>
                  <a:pt x="225266" y="561142"/>
                  <a:pt x="147995" y="586859"/>
                  <a:pt x="36195" y="551140"/>
                </a:cubicBezTo>
                <a:cubicBezTo>
                  <a:pt x="14168" y="544116"/>
                  <a:pt x="119" y="522803"/>
                  <a:pt x="119" y="499586"/>
                </a:cubicBezTo>
                <a:close/>
                <a:moveTo>
                  <a:pt x="400050" y="304800"/>
                </a:moveTo>
                <a:cubicBezTo>
                  <a:pt x="400050" y="241697"/>
                  <a:pt x="357426" y="190500"/>
                  <a:pt x="304800" y="190500"/>
                </a:cubicBezTo>
                <a:cubicBezTo>
                  <a:pt x="252174" y="190500"/>
                  <a:pt x="209550" y="241697"/>
                  <a:pt x="209550" y="304800"/>
                </a:cubicBezTo>
                <a:cubicBezTo>
                  <a:pt x="209550" y="367903"/>
                  <a:pt x="252174" y="419100"/>
                  <a:pt x="304800" y="419100"/>
                </a:cubicBezTo>
                <a:cubicBezTo>
                  <a:pt x="357426" y="419100"/>
                  <a:pt x="400050" y="367903"/>
                  <a:pt x="400050" y="304800"/>
                </a:cubicBezTo>
                <a:close/>
                <a:moveTo>
                  <a:pt x="142875" y="492443"/>
                </a:moveTo>
                <a:cubicBezTo>
                  <a:pt x="148114" y="492443"/>
                  <a:pt x="152281" y="487918"/>
                  <a:pt x="151448" y="482798"/>
                </a:cubicBezTo>
                <a:cubicBezTo>
                  <a:pt x="145971" y="449699"/>
                  <a:pt x="119301" y="423863"/>
                  <a:pt x="85725" y="419695"/>
                </a:cubicBezTo>
                <a:cubicBezTo>
                  <a:pt x="80486" y="419100"/>
                  <a:pt x="76200" y="423386"/>
                  <a:pt x="76200" y="428625"/>
                </a:cubicBezTo>
                <a:lnTo>
                  <a:pt x="76200" y="476131"/>
                </a:lnTo>
                <a:cubicBezTo>
                  <a:pt x="76200" y="480417"/>
                  <a:pt x="79058" y="484227"/>
                  <a:pt x="83344" y="485299"/>
                </a:cubicBezTo>
                <a:cubicBezTo>
                  <a:pt x="104656" y="490299"/>
                  <a:pt x="124182" y="492562"/>
                  <a:pt x="142875" y="492562"/>
                </a:cubicBezTo>
                <a:close/>
                <a:moveTo>
                  <a:pt x="522089" y="431602"/>
                </a:moveTo>
                <a:cubicBezTo>
                  <a:pt x="528042" y="432554"/>
                  <a:pt x="533400" y="428030"/>
                  <a:pt x="533400" y="422077"/>
                </a:cubicBezTo>
                <a:lnTo>
                  <a:pt x="533400" y="371356"/>
                </a:lnTo>
                <a:cubicBezTo>
                  <a:pt x="533400" y="366117"/>
                  <a:pt x="529114" y="361712"/>
                  <a:pt x="523875" y="362426"/>
                </a:cubicBezTo>
                <a:cubicBezTo>
                  <a:pt x="493871" y="366117"/>
                  <a:pt x="469225" y="387310"/>
                  <a:pt x="460534" y="415528"/>
                </a:cubicBezTo>
                <a:cubicBezTo>
                  <a:pt x="458867" y="421124"/>
                  <a:pt x="463272" y="426363"/>
                  <a:pt x="469106" y="426482"/>
                </a:cubicBezTo>
                <a:cubicBezTo>
                  <a:pt x="486013" y="426958"/>
                  <a:pt x="503634" y="428506"/>
                  <a:pt x="521970" y="431602"/>
                </a:cubicBezTo>
                <a:close/>
                <a:moveTo>
                  <a:pt x="533400" y="180975"/>
                </a:moveTo>
                <a:lnTo>
                  <a:pt x="533400" y="133469"/>
                </a:lnTo>
                <a:cubicBezTo>
                  <a:pt x="533400" y="129183"/>
                  <a:pt x="530423" y="125373"/>
                  <a:pt x="526256" y="124301"/>
                </a:cubicBezTo>
                <a:cubicBezTo>
                  <a:pt x="504944" y="119301"/>
                  <a:pt x="485418" y="117038"/>
                  <a:pt x="466725" y="117038"/>
                </a:cubicBezTo>
                <a:cubicBezTo>
                  <a:pt x="461486" y="117038"/>
                  <a:pt x="457319" y="121563"/>
                  <a:pt x="458153" y="126682"/>
                </a:cubicBezTo>
                <a:cubicBezTo>
                  <a:pt x="463629" y="159782"/>
                  <a:pt x="490299" y="185618"/>
                  <a:pt x="523875" y="189786"/>
                </a:cubicBezTo>
                <a:cubicBezTo>
                  <a:pt x="529114" y="190381"/>
                  <a:pt x="533400" y="186095"/>
                  <a:pt x="533400" y="180856"/>
                </a:cubicBezTo>
                <a:close/>
                <a:moveTo>
                  <a:pt x="149066" y="193953"/>
                </a:moveTo>
                <a:cubicBezTo>
                  <a:pt x="150733" y="188357"/>
                  <a:pt x="146328" y="183118"/>
                  <a:pt x="140494" y="182999"/>
                </a:cubicBezTo>
                <a:cubicBezTo>
                  <a:pt x="123587" y="182523"/>
                  <a:pt x="105966" y="180975"/>
                  <a:pt x="87630" y="177879"/>
                </a:cubicBezTo>
                <a:cubicBezTo>
                  <a:pt x="81677" y="176927"/>
                  <a:pt x="76319" y="181451"/>
                  <a:pt x="76319" y="187404"/>
                </a:cubicBezTo>
                <a:lnTo>
                  <a:pt x="76200" y="238125"/>
                </a:lnTo>
                <a:cubicBezTo>
                  <a:pt x="76200" y="243364"/>
                  <a:pt x="80486" y="247769"/>
                  <a:pt x="85725" y="247055"/>
                </a:cubicBezTo>
                <a:cubicBezTo>
                  <a:pt x="115729" y="243364"/>
                  <a:pt x="140375" y="222171"/>
                  <a:pt x="149066" y="19395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08500" y="33020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 Takeover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5500" y="37592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Stolen credentials used to drain accounts.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2286000"/>
            <a:ext cx="3238500" cy="304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571500"/>
                </a:moveTo>
                <a:cubicBezTo>
                  <a:pt x="68263" y="571500"/>
                  <a:pt x="0" y="494705"/>
                  <a:pt x="0" y="400050"/>
                </a:cubicBezTo>
                <a:cubicBezTo>
                  <a:pt x="0" y="324564"/>
                  <a:pt x="43392" y="260509"/>
                  <a:pt x="103611" y="237530"/>
                </a:cubicBezTo>
                <a:cubicBezTo>
                  <a:pt x="102235" y="228362"/>
                  <a:pt x="101600" y="219075"/>
                  <a:pt x="101600" y="209550"/>
                </a:cubicBezTo>
                <a:cubicBezTo>
                  <a:pt x="101600" y="114895"/>
                  <a:pt x="169862" y="38100"/>
                  <a:pt x="254000" y="38100"/>
                </a:cubicBezTo>
                <a:cubicBezTo>
                  <a:pt x="312632" y="38100"/>
                  <a:pt x="363538" y="75367"/>
                  <a:pt x="389043" y="129897"/>
                </a:cubicBezTo>
                <a:cubicBezTo>
                  <a:pt x="404072" y="120015"/>
                  <a:pt x="421640" y="114300"/>
                  <a:pt x="440267" y="114300"/>
                </a:cubicBezTo>
                <a:cubicBezTo>
                  <a:pt x="496358" y="114300"/>
                  <a:pt x="541867" y="165497"/>
                  <a:pt x="541867" y="228600"/>
                </a:cubicBezTo>
                <a:cubicBezTo>
                  <a:pt x="541867" y="247293"/>
                  <a:pt x="537845" y="265033"/>
                  <a:pt x="530754" y="280630"/>
                </a:cubicBezTo>
                <a:cubicBezTo>
                  <a:pt x="577321" y="304800"/>
                  <a:pt x="609600" y="357664"/>
                  <a:pt x="609600" y="419100"/>
                </a:cubicBezTo>
                <a:cubicBezTo>
                  <a:pt x="609600" y="503277"/>
                  <a:pt x="548958" y="571500"/>
                  <a:pt x="474133" y="571500"/>
                </a:cubicBezTo>
                <a:lnTo>
                  <a:pt x="152400" y="571500"/>
                </a:lnTo>
                <a:close/>
                <a:moveTo>
                  <a:pt x="322792" y="227409"/>
                </a:moveTo>
                <a:cubicBezTo>
                  <a:pt x="312843" y="216218"/>
                  <a:pt x="296757" y="216218"/>
                  <a:pt x="286914" y="227409"/>
                </a:cubicBezTo>
                <a:lnTo>
                  <a:pt x="210714" y="313134"/>
                </a:lnTo>
                <a:cubicBezTo>
                  <a:pt x="200766" y="324326"/>
                  <a:pt x="200766" y="342424"/>
                  <a:pt x="210714" y="353497"/>
                </a:cubicBezTo>
                <a:cubicBezTo>
                  <a:pt x="220663" y="364569"/>
                  <a:pt x="236749" y="364688"/>
                  <a:pt x="246592" y="353497"/>
                </a:cubicBezTo>
                <a:lnTo>
                  <a:pt x="279400" y="316587"/>
                </a:lnTo>
                <a:lnTo>
                  <a:pt x="279400" y="438150"/>
                </a:lnTo>
                <a:cubicBezTo>
                  <a:pt x="279400" y="453985"/>
                  <a:pt x="290724" y="466725"/>
                  <a:pt x="304800" y="466725"/>
                </a:cubicBezTo>
                <a:cubicBezTo>
                  <a:pt x="318876" y="466725"/>
                  <a:pt x="330200" y="453985"/>
                  <a:pt x="330200" y="438150"/>
                </a:cubicBezTo>
                <a:lnTo>
                  <a:pt x="330200" y="316587"/>
                </a:lnTo>
                <a:lnTo>
                  <a:pt x="363008" y="353497"/>
                </a:lnTo>
                <a:cubicBezTo>
                  <a:pt x="372957" y="364688"/>
                  <a:pt x="389043" y="364688"/>
                  <a:pt x="398886" y="353497"/>
                </a:cubicBezTo>
                <a:cubicBezTo>
                  <a:pt x="408728" y="342305"/>
                  <a:pt x="408834" y="324207"/>
                  <a:pt x="398886" y="313134"/>
                </a:cubicBezTo>
                <a:lnTo>
                  <a:pt x="322686" y="22740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33020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Leaks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0" y="37592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data exposed to the wrong person.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93500" y="2286000"/>
            <a:ext cx="3238500" cy="304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8" name="Shape 16"/>
          <p:cNvSpPr/>
          <p:nvPr/>
        </p:nvSpPr>
        <p:spPr>
          <a:xfrm>
            <a:off x="126365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65760" y="38100"/>
                </a:moveTo>
                <a:lnTo>
                  <a:pt x="487680" y="38100"/>
                </a:lnTo>
                <a:cubicBezTo>
                  <a:pt x="504539" y="38100"/>
                  <a:pt x="518160" y="55126"/>
                  <a:pt x="518160" y="76200"/>
                </a:cubicBezTo>
                <a:cubicBezTo>
                  <a:pt x="518160" y="97274"/>
                  <a:pt x="504539" y="114300"/>
                  <a:pt x="487680" y="114300"/>
                </a:cubicBezTo>
                <a:lnTo>
                  <a:pt x="379476" y="114300"/>
                </a:lnTo>
                <a:cubicBezTo>
                  <a:pt x="374523" y="145018"/>
                  <a:pt x="357664" y="170378"/>
                  <a:pt x="335280" y="182523"/>
                </a:cubicBezTo>
                <a:lnTo>
                  <a:pt x="335280" y="533400"/>
                </a:lnTo>
                <a:lnTo>
                  <a:pt x="487680" y="533400"/>
                </a:lnTo>
                <a:cubicBezTo>
                  <a:pt x="504539" y="533400"/>
                  <a:pt x="518160" y="550426"/>
                  <a:pt x="518160" y="571500"/>
                </a:cubicBezTo>
                <a:cubicBezTo>
                  <a:pt x="518160" y="592574"/>
                  <a:pt x="504539" y="609600"/>
                  <a:pt x="487680" y="609600"/>
                </a:cubicBezTo>
                <a:lnTo>
                  <a:pt x="121920" y="609600"/>
                </a:lnTo>
                <a:cubicBezTo>
                  <a:pt x="105061" y="609600"/>
                  <a:pt x="91440" y="592574"/>
                  <a:pt x="91440" y="571500"/>
                </a:cubicBezTo>
                <a:cubicBezTo>
                  <a:pt x="91440" y="550426"/>
                  <a:pt x="105061" y="533400"/>
                  <a:pt x="121920" y="533400"/>
                </a:cubicBezTo>
                <a:lnTo>
                  <a:pt x="274320" y="533400"/>
                </a:lnTo>
                <a:lnTo>
                  <a:pt x="274320" y="182523"/>
                </a:lnTo>
                <a:cubicBezTo>
                  <a:pt x="251936" y="170259"/>
                  <a:pt x="235077" y="144899"/>
                  <a:pt x="230124" y="114300"/>
                </a:cubicBezTo>
                <a:lnTo>
                  <a:pt x="121920" y="114300"/>
                </a:lnTo>
                <a:cubicBezTo>
                  <a:pt x="105061" y="114300"/>
                  <a:pt x="91440" y="97274"/>
                  <a:pt x="91440" y="76200"/>
                </a:cubicBezTo>
                <a:cubicBezTo>
                  <a:pt x="91440" y="55126"/>
                  <a:pt x="105061" y="38100"/>
                  <a:pt x="121920" y="38100"/>
                </a:cubicBezTo>
                <a:lnTo>
                  <a:pt x="243840" y="38100"/>
                </a:lnTo>
                <a:cubicBezTo>
                  <a:pt x="257747" y="15002"/>
                  <a:pt x="279845" y="0"/>
                  <a:pt x="304800" y="0"/>
                </a:cubicBezTo>
                <a:cubicBezTo>
                  <a:pt x="329756" y="0"/>
                  <a:pt x="351854" y="15002"/>
                  <a:pt x="365760" y="38100"/>
                </a:cubicBezTo>
                <a:close/>
                <a:moveTo>
                  <a:pt x="418719" y="381000"/>
                </a:moveTo>
                <a:lnTo>
                  <a:pt x="556641" y="381000"/>
                </a:lnTo>
                <a:lnTo>
                  <a:pt x="487680" y="233124"/>
                </a:lnTo>
                <a:lnTo>
                  <a:pt x="418719" y="381000"/>
                </a:lnTo>
                <a:close/>
                <a:moveTo>
                  <a:pt x="487680" y="495300"/>
                </a:moveTo>
                <a:cubicBezTo>
                  <a:pt x="427768" y="495300"/>
                  <a:pt x="377952" y="454819"/>
                  <a:pt x="367665" y="401360"/>
                </a:cubicBezTo>
                <a:cubicBezTo>
                  <a:pt x="365188" y="388263"/>
                  <a:pt x="368618" y="374809"/>
                  <a:pt x="374047" y="363141"/>
                </a:cubicBezTo>
                <a:lnTo>
                  <a:pt x="464725" y="168831"/>
                </a:lnTo>
                <a:cubicBezTo>
                  <a:pt x="469487" y="158591"/>
                  <a:pt x="478250" y="152400"/>
                  <a:pt x="487680" y="152400"/>
                </a:cubicBezTo>
                <a:cubicBezTo>
                  <a:pt x="497110" y="152400"/>
                  <a:pt x="505873" y="158710"/>
                  <a:pt x="510635" y="168831"/>
                </a:cubicBezTo>
                <a:lnTo>
                  <a:pt x="601313" y="363141"/>
                </a:lnTo>
                <a:cubicBezTo>
                  <a:pt x="606743" y="374809"/>
                  <a:pt x="610172" y="388263"/>
                  <a:pt x="607695" y="401360"/>
                </a:cubicBezTo>
                <a:cubicBezTo>
                  <a:pt x="597408" y="454700"/>
                  <a:pt x="547592" y="495300"/>
                  <a:pt x="487680" y="495300"/>
                </a:cubicBezTo>
                <a:close/>
                <a:moveTo>
                  <a:pt x="120777" y="233124"/>
                </a:moveTo>
                <a:lnTo>
                  <a:pt x="51816" y="381000"/>
                </a:lnTo>
                <a:lnTo>
                  <a:pt x="189833" y="381000"/>
                </a:lnTo>
                <a:lnTo>
                  <a:pt x="120777" y="233124"/>
                </a:lnTo>
                <a:close/>
                <a:moveTo>
                  <a:pt x="857" y="401360"/>
                </a:moveTo>
                <a:cubicBezTo>
                  <a:pt x="-1619" y="388263"/>
                  <a:pt x="1810" y="374809"/>
                  <a:pt x="7239" y="363141"/>
                </a:cubicBezTo>
                <a:lnTo>
                  <a:pt x="97917" y="168831"/>
                </a:lnTo>
                <a:cubicBezTo>
                  <a:pt x="102680" y="158591"/>
                  <a:pt x="111443" y="152400"/>
                  <a:pt x="120872" y="152400"/>
                </a:cubicBezTo>
                <a:cubicBezTo>
                  <a:pt x="130302" y="152400"/>
                  <a:pt x="139065" y="158710"/>
                  <a:pt x="143828" y="168831"/>
                </a:cubicBezTo>
                <a:lnTo>
                  <a:pt x="234505" y="363141"/>
                </a:lnTo>
                <a:cubicBezTo>
                  <a:pt x="239935" y="374809"/>
                  <a:pt x="243364" y="388263"/>
                  <a:pt x="240887" y="401360"/>
                </a:cubicBezTo>
                <a:cubicBezTo>
                  <a:pt x="230600" y="454700"/>
                  <a:pt x="180785" y="495300"/>
                  <a:pt x="120872" y="495300"/>
                </a:cubicBezTo>
                <a:cubicBezTo>
                  <a:pt x="60960" y="495300"/>
                  <a:pt x="11144" y="454819"/>
                  <a:pt x="857" y="4013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93500" y="33020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Risk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20500" y="37592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trouble for not protecting user data.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6000" y="5842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" y="5842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320800" y="5842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deck, you'll know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mechanism to reach for, and why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just the buzzwords.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Authentication?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is the process of proving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you are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It's a checkpoint, not a permission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2540000" cy="1270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0400" y="226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21456"/>
                </a:moveTo>
                <a:cubicBezTo>
                  <a:pt x="296190" y="221456"/>
                  <a:pt x="351064" y="173441"/>
                  <a:pt x="351064" y="114300"/>
                </a:cubicBezTo>
                <a:cubicBezTo>
                  <a:pt x="351064" y="55159"/>
                  <a:pt x="296190" y="7144"/>
                  <a:pt x="228600" y="7144"/>
                </a:cubicBezTo>
                <a:cubicBezTo>
                  <a:pt x="161010" y="7144"/>
                  <a:pt x="106136" y="55159"/>
                  <a:pt x="106136" y="114300"/>
                </a:cubicBezTo>
                <a:cubicBezTo>
                  <a:pt x="106136" y="173441"/>
                  <a:pt x="161010" y="221456"/>
                  <a:pt x="228600" y="221456"/>
                </a:cubicBezTo>
                <a:close/>
                <a:moveTo>
                  <a:pt x="198290" y="271463"/>
                </a:moveTo>
                <a:cubicBezTo>
                  <a:pt x="97767" y="271463"/>
                  <a:pt x="16329" y="342721"/>
                  <a:pt x="16329" y="430679"/>
                </a:cubicBezTo>
                <a:cubicBezTo>
                  <a:pt x="16329" y="445324"/>
                  <a:pt x="29902" y="457200"/>
                  <a:pt x="46638" y="457200"/>
                </a:cubicBezTo>
                <a:lnTo>
                  <a:pt x="410562" y="457200"/>
                </a:lnTo>
                <a:cubicBezTo>
                  <a:pt x="427298" y="457200"/>
                  <a:pt x="440871" y="445324"/>
                  <a:pt x="440871" y="430679"/>
                </a:cubicBezTo>
                <a:cubicBezTo>
                  <a:pt x="440871" y="342721"/>
                  <a:pt x="359433" y="271463"/>
                  <a:pt x="258910" y="271463"/>
                </a:cubicBezTo>
                <a:lnTo>
                  <a:pt x="198290" y="271463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76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3073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am Rayan"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56000" y="2667000"/>
            <a:ext cx="1524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556000" y="23876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80000" y="1968500"/>
            <a:ext cx="3302000" cy="1651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24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0" y="2603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verifies identity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80000" y="29210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 password / token / key against what's on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82000" y="2667000"/>
            <a:ext cx="1524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906000" y="2095500"/>
            <a:ext cx="2540000" cy="6985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0" y="215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0" y="24638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confirmed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06000" y="3048000"/>
            <a:ext cx="2540000" cy="6985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6000" y="311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Denied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06000" y="34163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not confirmed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16000" y="4191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4191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" y="4191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only proves identity. What that identity is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to do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separate question — that's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(concept #14).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2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vs Hashing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scramble data — but only one of them is meant to be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undone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distinction underlies almost every mechanism ahead.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032000"/>
            <a:ext cx="6731000" cy="4064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— Reversible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2692400"/>
            <a:ext cx="1905000" cy="762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0000" y="2768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0000" y="30988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5000" y="29464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3175000" y="27178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 + key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8000" y="2692400"/>
            <a:ext cx="1905000" cy="7620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8000" y="2768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8000" y="30988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"x7K9$mP@"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5000" y="33274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arrow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175000" y="34036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decrypt + key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70000" y="3683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the right key, you always get "Hello" 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0000" y="4445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data so it can be read again later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a key to encrypt and decrypt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key (symmetric) or key pair (asymmetric)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48600" y="3810000"/>
            <a:ext cx="558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000" y="2032000"/>
            <a:ext cx="6731000" cy="4064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Hashing — One-Way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63000" y="2692400"/>
            <a:ext cx="1905000" cy="7620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3000" y="2768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63000" y="30988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"hunter2"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68000" y="29464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10668000" y="27178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11000" y="2692400"/>
            <a:ext cx="1905000" cy="7620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11000" y="2768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11000" y="30988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9f86d08...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63000" y="3683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key reverses this back — only re-hash a guess and compare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63000" y="4445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data so it never needs to be read again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verify by re-hashing and comparing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Passwords are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hashed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never just encrypted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16000" y="6477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6000" y="6477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1320800" y="6477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data so it can be read again later, with a key.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Hashing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data so it never needs to be read again — only verified.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3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Authentication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oldest, simplest scheme: send the username and password on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single request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22860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4200" y="226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768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3022600"/>
            <a:ext cx="228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user:pass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2000" y="2603500"/>
            <a:ext cx="1651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302000" y="2286000"/>
            <a:ext cx="165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Authorization: Basic</a:t>
            </a:r>
            <a:endParaRPr lang="en-US" sz="10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base64(user:pass)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53000" y="1968500"/>
            <a:ext cx="3048000" cy="15240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68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4218" y="8483"/>
                </a:moveTo>
                <a:cubicBezTo>
                  <a:pt x="176897" y="-4733"/>
                  <a:pt x="188595" y="-14287"/>
                  <a:pt x="202168" y="-14287"/>
                </a:cubicBezTo>
                <a:lnTo>
                  <a:pt x="255568" y="-14287"/>
                </a:lnTo>
                <a:cubicBezTo>
                  <a:pt x="269141" y="-14287"/>
                  <a:pt x="280839" y="-4733"/>
                  <a:pt x="283518" y="8483"/>
                </a:cubicBezTo>
                <a:lnTo>
                  <a:pt x="296466" y="70991"/>
                </a:lnTo>
                <a:cubicBezTo>
                  <a:pt x="309056" y="76349"/>
                  <a:pt x="320844" y="83225"/>
                  <a:pt x="331559" y="91351"/>
                </a:cubicBezTo>
                <a:lnTo>
                  <a:pt x="392103" y="71259"/>
                </a:lnTo>
                <a:cubicBezTo>
                  <a:pt x="404961" y="66973"/>
                  <a:pt x="419070" y="72330"/>
                  <a:pt x="425857" y="84118"/>
                </a:cubicBezTo>
                <a:lnTo>
                  <a:pt x="452557" y="130373"/>
                </a:lnTo>
                <a:cubicBezTo>
                  <a:pt x="459343" y="142161"/>
                  <a:pt x="456932" y="156984"/>
                  <a:pt x="446752" y="166003"/>
                </a:cubicBezTo>
                <a:lnTo>
                  <a:pt x="399157" y="208330"/>
                </a:lnTo>
                <a:cubicBezTo>
                  <a:pt x="399961" y="214938"/>
                  <a:pt x="400318" y="221724"/>
                  <a:pt x="400318" y="228600"/>
                </a:cubicBezTo>
                <a:cubicBezTo>
                  <a:pt x="400318" y="235476"/>
                  <a:pt x="399871" y="242262"/>
                  <a:pt x="399157" y="248870"/>
                </a:cubicBezTo>
                <a:lnTo>
                  <a:pt x="446842" y="291286"/>
                </a:lnTo>
                <a:cubicBezTo>
                  <a:pt x="457021" y="300305"/>
                  <a:pt x="459343" y="315218"/>
                  <a:pt x="452646" y="326916"/>
                </a:cubicBezTo>
                <a:lnTo>
                  <a:pt x="425946" y="373172"/>
                </a:lnTo>
                <a:cubicBezTo>
                  <a:pt x="419160" y="384870"/>
                  <a:pt x="405051" y="390317"/>
                  <a:pt x="392192" y="386030"/>
                </a:cubicBezTo>
                <a:lnTo>
                  <a:pt x="331649" y="365939"/>
                </a:lnTo>
                <a:cubicBezTo>
                  <a:pt x="320844" y="374065"/>
                  <a:pt x="309056" y="380851"/>
                  <a:pt x="296555" y="386298"/>
                </a:cubicBezTo>
                <a:lnTo>
                  <a:pt x="283696" y="448717"/>
                </a:lnTo>
                <a:cubicBezTo>
                  <a:pt x="280928" y="462022"/>
                  <a:pt x="269230" y="471488"/>
                  <a:pt x="255746" y="471488"/>
                </a:cubicBezTo>
                <a:lnTo>
                  <a:pt x="202347" y="471488"/>
                </a:lnTo>
                <a:cubicBezTo>
                  <a:pt x="188774" y="471488"/>
                  <a:pt x="177076" y="461933"/>
                  <a:pt x="174397" y="448717"/>
                </a:cubicBezTo>
                <a:lnTo>
                  <a:pt x="161538" y="386298"/>
                </a:lnTo>
                <a:cubicBezTo>
                  <a:pt x="148947" y="380940"/>
                  <a:pt x="137249" y="374065"/>
                  <a:pt x="126444" y="365939"/>
                </a:cubicBezTo>
                <a:lnTo>
                  <a:pt x="65633" y="386030"/>
                </a:lnTo>
                <a:cubicBezTo>
                  <a:pt x="52774" y="390317"/>
                  <a:pt x="38666" y="384959"/>
                  <a:pt x="31879" y="373172"/>
                </a:cubicBezTo>
                <a:lnTo>
                  <a:pt x="5179" y="326916"/>
                </a:lnTo>
                <a:cubicBezTo>
                  <a:pt x="-1607" y="315129"/>
                  <a:pt x="804" y="300305"/>
                  <a:pt x="10984" y="291286"/>
                </a:cubicBezTo>
                <a:lnTo>
                  <a:pt x="58668" y="248870"/>
                </a:lnTo>
                <a:cubicBezTo>
                  <a:pt x="57864" y="242262"/>
                  <a:pt x="57507" y="235476"/>
                  <a:pt x="57507" y="228600"/>
                </a:cubicBezTo>
                <a:cubicBezTo>
                  <a:pt x="57507" y="221724"/>
                  <a:pt x="57954" y="214938"/>
                  <a:pt x="58668" y="208330"/>
                </a:cubicBezTo>
                <a:lnTo>
                  <a:pt x="10984" y="165914"/>
                </a:lnTo>
                <a:cubicBezTo>
                  <a:pt x="804" y="156895"/>
                  <a:pt x="-1518" y="141982"/>
                  <a:pt x="5179" y="130284"/>
                </a:cubicBezTo>
                <a:lnTo>
                  <a:pt x="31879" y="84028"/>
                </a:lnTo>
                <a:cubicBezTo>
                  <a:pt x="38666" y="72241"/>
                  <a:pt x="52774" y="66883"/>
                  <a:pt x="65633" y="71170"/>
                </a:cubicBezTo>
                <a:lnTo>
                  <a:pt x="126176" y="91261"/>
                </a:lnTo>
                <a:cubicBezTo>
                  <a:pt x="136981" y="83135"/>
                  <a:pt x="148769" y="76349"/>
                  <a:pt x="161270" y="70902"/>
                </a:cubicBezTo>
                <a:lnTo>
                  <a:pt x="174218" y="8483"/>
                </a:lnTo>
                <a:close/>
                <a:moveTo>
                  <a:pt x="228868" y="300038"/>
                </a:moveTo>
                <a:cubicBezTo>
                  <a:pt x="254390" y="299942"/>
                  <a:pt x="277922" y="286237"/>
                  <a:pt x="290601" y="264087"/>
                </a:cubicBezTo>
                <a:cubicBezTo>
                  <a:pt x="303279" y="241936"/>
                  <a:pt x="303177" y="214704"/>
                  <a:pt x="290333" y="192649"/>
                </a:cubicBezTo>
                <a:cubicBezTo>
                  <a:pt x="277489" y="170594"/>
                  <a:pt x="253854" y="157067"/>
                  <a:pt x="228332" y="157162"/>
                </a:cubicBezTo>
                <a:cubicBezTo>
                  <a:pt x="202810" y="157258"/>
                  <a:pt x="179278" y="170963"/>
                  <a:pt x="166599" y="193113"/>
                </a:cubicBezTo>
                <a:cubicBezTo>
                  <a:pt x="153921" y="215264"/>
                  <a:pt x="154023" y="242496"/>
                  <a:pt x="166867" y="264551"/>
                </a:cubicBezTo>
                <a:cubicBezTo>
                  <a:pt x="179711" y="286606"/>
                  <a:pt x="203346" y="300133"/>
                  <a:pt x="228868" y="300038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0" y="2603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decodes &amp; checks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3000" y="28956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against the user database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603500"/>
            <a:ext cx="1651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652000" y="2159000"/>
            <a:ext cx="2540000" cy="1143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2000" y="2438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OK / 401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52000" y="27940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repeated on EVERY request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0000" y="3937000"/>
            <a:ext cx="0" cy="508000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540000" y="4546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base64 is not encryption — HTTPS is mandatory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16000" y="5207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" y="5207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320800" y="5207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to implement, but credentials travel on every call.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safe over HTTPS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rarely used for anything beyond internal tools or APIs.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4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Digest Authentication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upgrade on Basic Auth: the password itself is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sent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only a hash of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4064000" cy="1016000"/>
          </a:xfrm>
          <a:prstGeom prst="rect">
            <a:avLst/>
          </a:prstGeom>
          <a:solidFill>
            <a:srgbClr val="17171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22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7500" y="2260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Server: 401 + nonce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7500" y="25908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"prove it, here's a random challenge"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80000" y="2667000"/>
            <a:ext cx="762000" cy="508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842000" y="2921000"/>
            <a:ext cx="4064000" cy="1016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9000" y="2984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13500" y="3022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hashes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3500" y="33528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hash(password + nonce) → sends hash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7874000" y="2159000"/>
            <a:ext cx="762000" cy="762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arrow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906000" y="2159000"/>
            <a:ext cx="4064000" cy="1016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33000" y="2222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0" y="2260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recomputes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77500" y="25908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hash locally, compares → grant/deny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6000" y="4699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000" y="4699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800" y="4699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secure than Basic Auth in transit, but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rarely used today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modern HTTPS + tokens solve the same problem more simply.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5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Keys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long, unique string that identifies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app or project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a specific person.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2413000" cy="10795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1000" y="226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7178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2971800"/>
            <a:ext cx="241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registers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5000" y="2603500"/>
            <a:ext cx="1143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175000" y="23622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gets a key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8000" y="2159000"/>
            <a:ext cx="2667000" cy="10795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6700" y="226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6700" y="279400"/>
                </a:moveTo>
                <a:cubicBezTo>
                  <a:pt x="343853" y="279400"/>
                  <a:pt x="406400" y="216853"/>
                  <a:pt x="406400" y="139700"/>
                </a:cubicBezTo>
                <a:cubicBezTo>
                  <a:pt x="406400" y="62548"/>
                  <a:pt x="343853" y="0"/>
                  <a:pt x="266700" y="0"/>
                </a:cubicBezTo>
                <a:cubicBezTo>
                  <a:pt x="189548" y="0"/>
                  <a:pt x="127000" y="62547"/>
                  <a:pt x="127000" y="139700"/>
                </a:cubicBezTo>
                <a:cubicBezTo>
                  <a:pt x="127000" y="154543"/>
                  <a:pt x="129302" y="168910"/>
                  <a:pt x="133588" y="182324"/>
                </a:cubicBezTo>
                <a:lnTo>
                  <a:pt x="5556" y="310356"/>
                </a:lnTo>
                <a:cubicBezTo>
                  <a:pt x="1984" y="313928"/>
                  <a:pt x="0" y="318770"/>
                  <a:pt x="0" y="323850"/>
                </a:cubicBezTo>
                <a:lnTo>
                  <a:pt x="0" y="387350"/>
                </a:lnTo>
                <a:cubicBezTo>
                  <a:pt x="0" y="397907"/>
                  <a:pt x="8493" y="406400"/>
                  <a:pt x="19050" y="406400"/>
                </a:cubicBezTo>
                <a:lnTo>
                  <a:pt x="82550" y="406400"/>
                </a:lnTo>
                <a:cubicBezTo>
                  <a:pt x="93107" y="406400"/>
                  <a:pt x="101600" y="397907"/>
                  <a:pt x="101600" y="387350"/>
                </a:cubicBezTo>
                <a:lnTo>
                  <a:pt x="101600" y="355600"/>
                </a:lnTo>
                <a:lnTo>
                  <a:pt x="133350" y="355600"/>
                </a:lnTo>
                <a:cubicBezTo>
                  <a:pt x="143907" y="355600"/>
                  <a:pt x="152400" y="347107"/>
                  <a:pt x="152400" y="336550"/>
                </a:cubicBezTo>
                <a:lnTo>
                  <a:pt x="152400" y="304800"/>
                </a:lnTo>
                <a:lnTo>
                  <a:pt x="184150" y="304800"/>
                </a:lnTo>
                <a:cubicBezTo>
                  <a:pt x="189230" y="304800"/>
                  <a:pt x="194072" y="302816"/>
                  <a:pt x="197644" y="299244"/>
                </a:cubicBezTo>
                <a:lnTo>
                  <a:pt x="224076" y="272812"/>
                </a:lnTo>
                <a:cubicBezTo>
                  <a:pt x="237490" y="277098"/>
                  <a:pt x="251857" y="279400"/>
                  <a:pt x="266700" y="279400"/>
                </a:cubicBezTo>
                <a:close/>
                <a:moveTo>
                  <a:pt x="298450" y="76200"/>
                </a:moveTo>
                <a:cubicBezTo>
                  <a:pt x="315973" y="76200"/>
                  <a:pt x="330200" y="90427"/>
                  <a:pt x="330200" y="107950"/>
                </a:cubicBezTo>
                <a:cubicBezTo>
                  <a:pt x="330200" y="125473"/>
                  <a:pt x="315973" y="139700"/>
                  <a:pt x="298450" y="139700"/>
                </a:cubicBezTo>
                <a:cubicBezTo>
                  <a:pt x="280927" y="139700"/>
                  <a:pt x="266700" y="125473"/>
                  <a:pt x="266700" y="107950"/>
                </a:cubicBezTo>
                <a:cubicBezTo>
                  <a:pt x="266700" y="90427"/>
                  <a:pt x="280927" y="76200"/>
                  <a:pt x="298450" y="7620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318000" y="27178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sk_live_8f2c...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8000" y="29718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embedded in every 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85000" y="2603500"/>
            <a:ext cx="1143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6985000" y="23622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x-api-key: 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28000" y="1968500"/>
            <a:ext cx="3556000" cy="14605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04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26035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55000" y="28956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key, checks quota &amp; rate limits, then forwards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6000" y="4191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" y="4191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320800" y="4191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 for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machine-to-machine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traffic and metering usage — but a leaked key acts as the app itself, so it must be kept secret and rotated.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6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Session-Based Authentication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in once — the server remembers you via 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pointing to server-side state.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2159000" cy="1079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1300" y="226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7178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1000" y="2540000"/>
            <a:ext cx="1270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2921000" y="2286000"/>
            <a:ext cx="127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91000" y="1968500"/>
            <a:ext cx="2921000" cy="12700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1000" y="20955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Server verifies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4500" y="23876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a session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4500" y="26416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Cookie: sid=abc123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91000" y="3556000"/>
            <a:ext cx="0" cy="508000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191000" y="4191000"/>
            <a:ext cx="2921000" cy="101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300" y="429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191000" y="47498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4500" y="50038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 → {user, expiry}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12000" y="2540000"/>
            <a:ext cx="1524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7112000" y="22860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cookie sent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36000" y="1968500"/>
            <a:ext cx="2921000" cy="1270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6000" y="21590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Server looks 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99500" y="2463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by sid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99500" y="27178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serves the request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2000" y="5588000"/>
            <a:ext cx="1143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Cookie sent automatically on every later request — the browser handles 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6000" y="6223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000" y="6223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" y="6223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and battle-tested, but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stateful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server must store and scale every active session.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7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Symmetric vs Asymmetric Encryption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ways to use keys —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shared secret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matched pair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decides how JWTs and TLS actually get signed and verified.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032000"/>
            <a:ext cx="6731000" cy="431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Symmetric (e.g. HS256)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51200"/>
            <a:ext cx="622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secret key, shared by both sides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key encrypts AND decrypts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 — great for bulk data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Risk: every verifier must hold the secret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key leaks, attackers can forge tokens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48600" y="3937000"/>
            <a:ext cx="558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2032000"/>
            <a:ext cx="6731000" cy="4318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Asymmetric (e.g. RS256)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63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3251200"/>
            <a:ext cx="622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key pair: private + public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 key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signs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public key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public key can be shared freely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Slower, but only the issuer can forge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by OAuth/OIDC via public JWKS endpoint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6731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" y="6731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320800" y="6731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exactly why an OAuth provider can publish its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key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anyone to verify a token with — while only the provider's private key can ever create a valid one.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8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Bearer Tokens &amp; JWTs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"Whoever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bears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token gets access." A JWT packs identity right into the token itself.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2032000" cy="952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2324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96850"/>
                </a:moveTo>
                <a:cubicBezTo>
                  <a:pt x="263280" y="196850"/>
                  <a:pt x="312057" y="154170"/>
                  <a:pt x="312057" y="101600"/>
                </a:cubicBezTo>
                <a:cubicBezTo>
                  <a:pt x="312057" y="49030"/>
                  <a:pt x="263280" y="6350"/>
                  <a:pt x="203200" y="6350"/>
                </a:cubicBezTo>
                <a:cubicBezTo>
                  <a:pt x="143120" y="6350"/>
                  <a:pt x="94343" y="49030"/>
                  <a:pt x="94343" y="101600"/>
                </a:cubicBezTo>
                <a:cubicBezTo>
                  <a:pt x="94343" y="154170"/>
                  <a:pt x="143120" y="196850"/>
                  <a:pt x="203200" y="196850"/>
                </a:cubicBezTo>
                <a:close/>
                <a:moveTo>
                  <a:pt x="176258" y="241300"/>
                </a:moveTo>
                <a:cubicBezTo>
                  <a:pt x="86904" y="241300"/>
                  <a:pt x="14514" y="304641"/>
                  <a:pt x="14514" y="382826"/>
                </a:cubicBezTo>
                <a:cubicBezTo>
                  <a:pt x="14514" y="395843"/>
                  <a:pt x="26579" y="406400"/>
                  <a:pt x="41456" y="406400"/>
                </a:cubicBezTo>
                <a:lnTo>
                  <a:pt x="364944" y="406400"/>
                </a:lnTo>
                <a:cubicBezTo>
                  <a:pt x="379821" y="406400"/>
                  <a:pt x="391886" y="395843"/>
                  <a:pt x="391886" y="382826"/>
                </a:cubicBezTo>
                <a:cubicBezTo>
                  <a:pt x="391886" y="304641"/>
                  <a:pt x="319496" y="241300"/>
                  <a:pt x="230142" y="241300"/>
                </a:cubicBezTo>
                <a:lnTo>
                  <a:pt x="176258" y="2413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794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4000" y="26035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810000" y="1968500"/>
            <a:ext cx="3302000" cy="6985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0000" y="20320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CA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0" y="23114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alg,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0000" y="2857500"/>
            <a:ext cx="3302000" cy="6985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000" y="29210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CD3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0000" y="32004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id, role, expiry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12000" y="25400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3000" y="2349500"/>
            <a:ext cx="1270000" cy="825500"/>
          </a:xfrm>
          <a:prstGeom prst="rect">
            <a:avLst/>
          </a:prstGeom>
          <a:solidFill>
            <a:srgbClr val="262626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3000" y="254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</a:t>
            </a:r>
            <a:endParaRPr lang="en-US" sz="1100" dirty="0"/>
          </a:p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63000" y="26670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8763000" y="24384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signed JWT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79000" y="2095500"/>
            <a:ext cx="3048000" cy="12065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9000" y="22860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Authorization: Bearer ...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42500" y="266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checks signature — no database lookup. Stateless.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0000" y="1828800"/>
            <a:ext cx="33020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6000" y="4318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000" y="4318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320800" y="4318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signature proves the token wasn't tampered with —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anyone holding the token can use it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so it must travel over HTTPS and shouldn't live forever.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9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&amp; Refresh Tokens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short-lived token for daily use, one long-lived token to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quietly get a new one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re-login needed.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3302000"/>
            <a:ext cx="14224000" cy="0"/>
          </a:xfrm>
          <a:prstGeom prst="straightConnector1">
            <a:avLst/>
          </a:prstGeom>
          <a:noFill/>
          <a:ln w="254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3200400"/>
            <a:ext cx="203200" cy="203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2667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3556000"/>
            <a:ext cx="12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 both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349500"/>
            <a:ext cx="2794000" cy="6985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4130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692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calls · ~15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83000" y="3048000"/>
            <a:ext cx="0" cy="25400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232400" y="3200400"/>
            <a:ext cx="203200" cy="203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699000" y="3556000"/>
            <a:ext cx="12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token expires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5600" y="3302000"/>
            <a:ext cx="1778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366000" y="3556000"/>
            <a:ext cx="3048000" cy="698500"/>
          </a:xfrm>
          <a:prstGeom prst="rect">
            <a:avLst/>
          </a:prstGeom>
          <a:solidFill>
            <a:srgbClr val="1A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6000" y="3619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Refresh Token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6000" y="38989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 to auth server · days/weeks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90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414000" y="3302000"/>
            <a:ext cx="1778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0541000" y="2819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access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344400" y="3200400"/>
            <a:ext cx="203200" cy="20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1938000" y="2413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11000" y="35560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6000" y="4826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000" y="4826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1320800" y="4826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the refresh token itself expires or is revoked, the user is dropped back to 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login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pairing is the backbone of OAuth2 and JWT-based systems.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10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Lets an app access your data on another service —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ever seeing your password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2794000" cy="88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2860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"Login with Google"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9500" y="2590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Your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10000" y="2476500"/>
            <a:ext cx="762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572000" y="2159000"/>
            <a:ext cx="3048000" cy="8890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5500" y="22860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Redirected to Google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5500" y="25908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consents — on Google's site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0" y="3683000"/>
            <a:ext cx="3048000" cy="889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5500" y="38100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Google redirects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35500" y="41148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one-time auth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10000" y="4127500"/>
            <a:ext cx="762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arrow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16000" y="3683000"/>
            <a:ext cx="2794000" cy="8890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500" y="38100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App exchanges 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9500" y="4114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secret → access token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7620000" y="2476500"/>
            <a:ext cx="1524000" cy="1651000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dash"/>
            <a:headEnd type="arrow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747000" y="2921000"/>
            <a:ext cx="139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calls API with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0" y="2159000"/>
            <a:ext cx="2540000" cy="8890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7500" y="22860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7500" y="25908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returned to the app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6000" y="5334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000" y="5334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1320800" y="5334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 Code flow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most common OAuth2 pattern, used anywhere you see "Sign in with Google / Facebook / GitHub."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11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OpenID Connect (OIDC)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OAuth2 was built for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identity. OIDC adds identity on top of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6096000" cy="2286000"/>
          </a:xfrm>
          <a:prstGeom prst="rect">
            <a:avLst/>
          </a:prstGeom>
          <a:solidFill>
            <a:srgbClr val="171717"/>
          </a:solidFill>
          <a:ln w="127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0000" y="2260600"/>
            <a:ext cx="558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OAuth2 (underneath)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70000" y="2641600"/>
            <a:ext cx="2540000" cy="10160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35200" y="274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200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Token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0000" y="3479800"/>
            <a:ext cx="25400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you can use"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7000" y="29210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08500" y="2641600"/>
            <a:ext cx="2349500" cy="10160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4800" y="274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76200"/>
                </a:moveTo>
                <a:cubicBezTo>
                  <a:pt x="0" y="48181"/>
                  <a:pt x="20249" y="25400"/>
                  <a:pt x="45156" y="25400"/>
                </a:cubicBezTo>
                <a:lnTo>
                  <a:pt x="361244" y="25400"/>
                </a:lnTo>
                <a:cubicBezTo>
                  <a:pt x="386151" y="25400"/>
                  <a:pt x="406400" y="48181"/>
                  <a:pt x="406400" y="76200"/>
                </a:cubicBezTo>
                <a:lnTo>
                  <a:pt x="0" y="76200"/>
                </a:lnTo>
                <a:close/>
                <a:moveTo>
                  <a:pt x="0" y="114300"/>
                </a:moveTo>
                <a:lnTo>
                  <a:pt x="406400" y="114300"/>
                </a:lnTo>
                <a:lnTo>
                  <a:pt x="406400" y="330200"/>
                </a:lnTo>
                <a:cubicBezTo>
                  <a:pt x="406400" y="358219"/>
                  <a:pt x="386151" y="381000"/>
                  <a:pt x="361244" y="381000"/>
                </a:cubicBezTo>
                <a:lnTo>
                  <a:pt x="45156" y="381000"/>
                </a:lnTo>
                <a:cubicBezTo>
                  <a:pt x="20249" y="381000"/>
                  <a:pt x="0" y="358219"/>
                  <a:pt x="0" y="330200"/>
                </a:cubicBezTo>
                <a:lnTo>
                  <a:pt x="0" y="114300"/>
                </a:lnTo>
                <a:close/>
                <a:moveTo>
                  <a:pt x="174484" y="330200"/>
                </a:moveTo>
                <a:cubicBezTo>
                  <a:pt x="188736" y="330200"/>
                  <a:pt x="199390" y="314801"/>
                  <a:pt x="190288" y="302419"/>
                </a:cubicBezTo>
                <a:cubicBezTo>
                  <a:pt x="179917" y="288369"/>
                  <a:pt x="164253" y="279400"/>
                  <a:pt x="146756" y="279400"/>
                </a:cubicBezTo>
                <a:lnTo>
                  <a:pt x="101600" y="279400"/>
                </a:lnTo>
                <a:cubicBezTo>
                  <a:pt x="84102" y="279400"/>
                  <a:pt x="68439" y="288369"/>
                  <a:pt x="58067" y="302419"/>
                </a:cubicBezTo>
                <a:cubicBezTo>
                  <a:pt x="48966" y="314801"/>
                  <a:pt x="59619" y="330200"/>
                  <a:pt x="73872" y="330200"/>
                </a:cubicBezTo>
                <a:lnTo>
                  <a:pt x="174413" y="330200"/>
                </a:lnTo>
                <a:close/>
                <a:moveTo>
                  <a:pt x="124178" y="247650"/>
                </a:moveTo>
                <a:cubicBezTo>
                  <a:pt x="145985" y="247650"/>
                  <a:pt x="163689" y="227733"/>
                  <a:pt x="163689" y="203200"/>
                </a:cubicBezTo>
                <a:cubicBezTo>
                  <a:pt x="163689" y="178667"/>
                  <a:pt x="145985" y="158750"/>
                  <a:pt x="124178" y="158750"/>
                </a:cubicBezTo>
                <a:cubicBezTo>
                  <a:pt x="102371" y="158750"/>
                  <a:pt x="84667" y="178667"/>
                  <a:pt x="84667" y="203200"/>
                </a:cubicBezTo>
                <a:cubicBezTo>
                  <a:pt x="84667" y="227733"/>
                  <a:pt x="102371" y="247650"/>
                  <a:pt x="124178" y="247650"/>
                </a:cubicBezTo>
                <a:close/>
                <a:moveTo>
                  <a:pt x="254000" y="165100"/>
                </a:moveTo>
                <a:cubicBezTo>
                  <a:pt x="244616" y="165100"/>
                  <a:pt x="237067" y="173593"/>
                  <a:pt x="237067" y="184150"/>
                </a:cubicBezTo>
                <a:cubicBezTo>
                  <a:pt x="237067" y="194707"/>
                  <a:pt x="244616" y="203200"/>
                  <a:pt x="254000" y="203200"/>
                </a:cubicBezTo>
                <a:lnTo>
                  <a:pt x="333022" y="203200"/>
                </a:lnTo>
                <a:cubicBezTo>
                  <a:pt x="342406" y="203200"/>
                  <a:pt x="349956" y="194707"/>
                  <a:pt x="349956" y="184150"/>
                </a:cubicBezTo>
                <a:cubicBezTo>
                  <a:pt x="349956" y="173593"/>
                  <a:pt x="342406" y="165100"/>
                  <a:pt x="333022" y="165100"/>
                </a:cubicBezTo>
                <a:lnTo>
                  <a:pt x="254000" y="165100"/>
                </a:lnTo>
                <a:close/>
                <a:moveTo>
                  <a:pt x="254000" y="241300"/>
                </a:moveTo>
                <a:cubicBezTo>
                  <a:pt x="244616" y="241300"/>
                  <a:pt x="237067" y="249793"/>
                  <a:pt x="237067" y="260350"/>
                </a:cubicBezTo>
                <a:cubicBezTo>
                  <a:pt x="237067" y="270907"/>
                  <a:pt x="244616" y="279400"/>
                  <a:pt x="254000" y="279400"/>
                </a:cubicBezTo>
                <a:lnTo>
                  <a:pt x="333022" y="279400"/>
                </a:lnTo>
                <a:cubicBezTo>
                  <a:pt x="342406" y="279400"/>
                  <a:pt x="349956" y="270907"/>
                  <a:pt x="349956" y="260350"/>
                </a:cubicBezTo>
                <a:cubicBezTo>
                  <a:pt x="349956" y="249793"/>
                  <a:pt x="342406" y="241300"/>
                  <a:pt x="333022" y="241300"/>
                </a:cubicBezTo>
                <a:lnTo>
                  <a:pt x="254000" y="2413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08500" y="3200400"/>
            <a:ext cx="2349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 Token (JWT)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08500" y="3479800"/>
            <a:ext cx="2349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email, "who you are"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2000" y="31750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128000" y="2159000"/>
            <a:ext cx="5080000" cy="2286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24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30480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App now knows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0" y="34036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WHO the user is (ID Token)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36830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WHAT it can fetch (Access Token)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6000" y="5080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5080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" y="5080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OAuth2 = delegated access.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OIDC = delegated access + verified identity.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Almost every modern "social login" actually uses OIDC, not plain OAuth2.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12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Sign-On (SSO)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in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central Identity Provider, and walk into every connected app — no second login.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23000" y="2540000"/>
            <a:ext cx="2794000" cy="1270000"/>
          </a:xfrm>
          <a:prstGeom prst="rect">
            <a:avLst/>
          </a:prstGeom>
          <a:solidFill>
            <a:srgbClr val="2E1A3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223000" y="3251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23000" y="35306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login, one 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70000" y="2159000"/>
            <a:ext cx="2286000" cy="698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2349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Mail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3556000" y="2476500"/>
            <a:ext cx="2667000" cy="381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270000" y="3556000"/>
            <a:ext cx="2286000" cy="698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0000" y="3746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56000" y="3556000"/>
            <a:ext cx="2667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arrow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70000" y="4953000"/>
            <a:ext cx="2286000" cy="698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000" y="5143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3556000" y="4318000"/>
            <a:ext cx="2667000" cy="762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017000" y="3048000"/>
            <a:ext cx="1270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414000" y="2667000"/>
            <a:ext cx="2540000" cy="10160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792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7155" y="114300"/>
                </a:moveTo>
                <a:cubicBezTo>
                  <a:pt x="97155" y="55159"/>
                  <a:pt x="135567" y="7144"/>
                  <a:pt x="182880" y="7144"/>
                </a:cubicBezTo>
                <a:cubicBezTo>
                  <a:pt x="230193" y="7144"/>
                  <a:pt x="268605" y="55159"/>
                  <a:pt x="268605" y="114300"/>
                </a:cubicBezTo>
                <a:cubicBezTo>
                  <a:pt x="268605" y="173441"/>
                  <a:pt x="230193" y="221456"/>
                  <a:pt x="182880" y="221456"/>
                </a:cubicBezTo>
                <a:cubicBezTo>
                  <a:pt x="135567" y="221456"/>
                  <a:pt x="97155" y="173441"/>
                  <a:pt x="97155" y="114300"/>
                </a:cubicBezTo>
                <a:close/>
                <a:moveTo>
                  <a:pt x="34290" y="430679"/>
                </a:moveTo>
                <a:cubicBezTo>
                  <a:pt x="34290" y="342721"/>
                  <a:pt x="91297" y="271463"/>
                  <a:pt x="161663" y="271463"/>
                </a:cubicBezTo>
                <a:lnTo>
                  <a:pt x="204097" y="271463"/>
                </a:lnTo>
                <a:cubicBezTo>
                  <a:pt x="274463" y="271463"/>
                  <a:pt x="331470" y="342721"/>
                  <a:pt x="331470" y="430679"/>
                </a:cubicBezTo>
                <a:cubicBezTo>
                  <a:pt x="331470" y="445324"/>
                  <a:pt x="321969" y="457200"/>
                  <a:pt x="310253" y="457200"/>
                </a:cubicBezTo>
                <a:lnTo>
                  <a:pt x="55507" y="457200"/>
                </a:lnTo>
                <a:cubicBezTo>
                  <a:pt x="43791" y="457200"/>
                  <a:pt x="34290" y="445324"/>
                  <a:pt x="34290" y="430679"/>
                </a:cubicBezTo>
                <a:close/>
                <a:moveTo>
                  <a:pt x="437483" y="118497"/>
                </a:moveTo>
                <a:lnTo>
                  <a:pt x="380333" y="232797"/>
                </a:lnTo>
                <a:cubicBezTo>
                  <a:pt x="377333" y="238780"/>
                  <a:pt x="372189" y="242530"/>
                  <a:pt x="366546" y="242888"/>
                </a:cubicBezTo>
                <a:cubicBezTo>
                  <a:pt x="360902" y="243245"/>
                  <a:pt x="355473" y="240030"/>
                  <a:pt x="352115" y="234315"/>
                </a:cubicBezTo>
                <a:lnTo>
                  <a:pt x="317825" y="177165"/>
                </a:lnTo>
                <a:cubicBezTo>
                  <a:pt x="312110" y="167700"/>
                  <a:pt x="313682" y="154305"/>
                  <a:pt x="321254" y="147161"/>
                </a:cubicBezTo>
                <a:cubicBezTo>
                  <a:pt x="328827" y="140017"/>
                  <a:pt x="339542" y="141982"/>
                  <a:pt x="345257" y="151448"/>
                </a:cubicBezTo>
                <a:lnTo>
                  <a:pt x="364546" y="183594"/>
                </a:lnTo>
                <a:lnTo>
                  <a:pt x="408408" y="95816"/>
                </a:lnTo>
                <a:cubicBezTo>
                  <a:pt x="413409" y="85814"/>
                  <a:pt x="423982" y="82689"/>
                  <a:pt x="432054" y="89029"/>
                </a:cubicBezTo>
                <a:cubicBezTo>
                  <a:pt x="440126" y="95369"/>
                  <a:pt x="442555" y="108496"/>
                  <a:pt x="437483" y="118586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0" y="330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logs in once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6000" y="6350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00" y="6350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" y="6350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why logging into your company Google account unlocks Gmail, Drive, and Calendar at once —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app trusts the same Identity Provider.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13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Protocols: SAML vs OIDC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SSO needs a shared language for "I vouch for this user." Two protocols dominate.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2032000"/>
            <a:ext cx="6731000" cy="3937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34171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34171" y="457200"/>
                  <a:pt x="76200" y="457200"/>
                </a:cubicBezTo>
                <a:lnTo>
                  <a:pt x="381000" y="457200"/>
                </a:lnTo>
                <a:cubicBezTo>
                  <a:pt x="423029" y="457200"/>
                  <a:pt x="457200" y="431572"/>
                  <a:pt x="457200" y="400050"/>
                </a:cubicBezTo>
                <a:lnTo>
                  <a:pt x="457200" y="57150"/>
                </a:lnTo>
                <a:cubicBezTo>
                  <a:pt x="457200" y="25628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209550" y="314325"/>
                </a:moveTo>
                <a:lnTo>
                  <a:pt x="247650" y="314325"/>
                </a:lnTo>
                <a:cubicBezTo>
                  <a:pt x="268724" y="314325"/>
                  <a:pt x="285750" y="327094"/>
                  <a:pt x="285750" y="342900"/>
                </a:cubicBezTo>
                <a:lnTo>
                  <a:pt x="285750" y="414338"/>
                </a:lnTo>
                <a:lnTo>
                  <a:pt x="171450" y="414338"/>
                </a:lnTo>
                <a:lnTo>
                  <a:pt x="171450" y="342900"/>
                </a:lnTo>
                <a:cubicBezTo>
                  <a:pt x="171450" y="327094"/>
                  <a:pt x="188476" y="314325"/>
                  <a:pt x="209550" y="314325"/>
                </a:cubicBezTo>
                <a:close/>
                <a:moveTo>
                  <a:pt x="114300" y="100013"/>
                </a:moveTo>
                <a:cubicBezTo>
                  <a:pt x="114300" y="92154"/>
                  <a:pt x="122873" y="85725"/>
                  <a:pt x="133350" y="85725"/>
                </a:cubicBezTo>
                <a:lnTo>
                  <a:pt x="171450" y="85725"/>
                </a:lnTo>
                <a:cubicBezTo>
                  <a:pt x="181928" y="85725"/>
                  <a:pt x="190500" y="92154"/>
                  <a:pt x="190500" y="100013"/>
                </a:cubicBezTo>
                <a:lnTo>
                  <a:pt x="190500" y="128588"/>
                </a:lnTo>
                <a:cubicBezTo>
                  <a:pt x="190500" y="136446"/>
                  <a:pt x="181928" y="142875"/>
                  <a:pt x="171450" y="142875"/>
                </a:cubicBezTo>
                <a:lnTo>
                  <a:pt x="133350" y="142875"/>
                </a:lnTo>
                <a:cubicBezTo>
                  <a:pt x="122873" y="142875"/>
                  <a:pt x="114300" y="136446"/>
                  <a:pt x="114300" y="128588"/>
                </a:cubicBezTo>
                <a:lnTo>
                  <a:pt x="114300" y="100013"/>
                </a:lnTo>
                <a:close/>
                <a:moveTo>
                  <a:pt x="285750" y="85725"/>
                </a:moveTo>
                <a:lnTo>
                  <a:pt x="323850" y="85725"/>
                </a:lnTo>
                <a:cubicBezTo>
                  <a:pt x="334328" y="85725"/>
                  <a:pt x="342900" y="92154"/>
                  <a:pt x="342900" y="100013"/>
                </a:cubicBezTo>
                <a:lnTo>
                  <a:pt x="342900" y="128588"/>
                </a:lnTo>
                <a:cubicBezTo>
                  <a:pt x="342900" y="136446"/>
                  <a:pt x="334328" y="142875"/>
                  <a:pt x="323850" y="142875"/>
                </a:cubicBezTo>
                <a:lnTo>
                  <a:pt x="285750" y="142875"/>
                </a:lnTo>
                <a:cubicBezTo>
                  <a:pt x="275273" y="142875"/>
                  <a:pt x="266700" y="136446"/>
                  <a:pt x="266700" y="128588"/>
                </a:cubicBezTo>
                <a:lnTo>
                  <a:pt x="266700" y="100013"/>
                </a:lnTo>
                <a:cubicBezTo>
                  <a:pt x="266700" y="92154"/>
                  <a:pt x="275273" y="85725"/>
                  <a:pt x="285750" y="85725"/>
                </a:cubicBezTo>
                <a:close/>
                <a:moveTo>
                  <a:pt x="114300" y="214313"/>
                </a:moveTo>
                <a:cubicBezTo>
                  <a:pt x="114300" y="206454"/>
                  <a:pt x="122873" y="200025"/>
                  <a:pt x="133350" y="200025"/>
                </a:cubicBezTo>
                <a:lnTo>
                  <a:pt x="171450" y="200025"/>
                </a:lnTo>
                <a:cubicBezTo>
                  <a:pt x="181928" y="200025"/>
                  <a:pt x="190500" y="206454"/>
                  <a:pt x="190500" y="214313"/>
                </a:cubicBezTo>
                <a:lnTo>
                  <a:pt x="190500" y="242888"/>
                </a:lnTo>
                <a:cubicBezTo>
                  <a:pt x="190500" y="250746"/>
                  <a:pt x="181928" y="257175"/>
                  <a:pt x="171450" y="257175"/>
                </a:cubicBezTo>
                <a:lnTo>
                  <a:pt x="133350" y="257175"/>
                </a:lnTo>
                <a:cubicBezTo>
                  <a:pt x="122873" y="257175"/>
                  <a:pt x="114300" y="250746"/>
                  <a:pt x="114300" y="242888"/>
                </a:cubicBezTo>
                <a:lnTo>
                  <a:pt x="114300" y="214313"/>
                </a:lnTo>
                <a:close/>
                <a:moveTo>
                  <a:pt x="285750" y="200025"/>
                </a:moveTo>
                <a:lnTo>
                  <a:pt x="323850" y="200025"/>
                </a:lnTo>
                <a:cubicBezTo>
                  <a:pt x="334328" y="200025"/>
                  <a:pt x="342900" y="206454"/>
                  <a:pt x="342900" y="214313"/>
                </a:cubicBezTo>
                <a:lnTo>
                  <a:pt x="342900" y="242888"/>
                </a:lnTo>
                <a:cubicBezTo>
                  <a:pt x="342900" y="250746"/>
                  <a:pt x="334328" y="257175"/>
                  <a:pt x="323850" y="257175"/>
                </a:cubicBezTo>
                <a:lnTo>
                  <a:pt x="285750" y="257175"/>
                </a:lnTo>
                <a:cubicBezTo>
                  <a:pt x="275273" y="257175"/>
                  <a:pt x="266700" y="250746"/>
                  <a:pt x="266700" y="242888"/>
                </a:cubicBezTo>
                <a:lnTo>
                  <a:pt x="266700" y="214313"/>
                </a:lnTo>
                <a:cubicBezTo>
                  <a:pt x="266700" y="206454"/>
                  <a:pt x="275273" y="200025"/>
                  <a:pt x="285750" y="2000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51200"/>
            <a:ext cx="622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XML-based "assertions"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Works via browser redirects &amp; POSTs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Enterprise standard since the 2000s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in corporate / legacy systems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Awkward on mobile apps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48600" y="3746500"/>
            <a:ext cx="558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2032000"/>
            <a:ext cx="6731000" cy="39370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184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OIDC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63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" y="57150"/>
                </a:moveTo>
                <a:cubicBezTo>
                  <a:pt x="19050" y="25628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25628"/>
                  <a:pt x="438150" y="57150"/>
                </a:cubicBezTo>
                <a:lnTo>
                  <a:pt x="438150" y="400050"/>
                </a:lnTo>
                <a:cubicBezTo>
                  <a:pt x="438150" y="431572"/>
                  <a:pt x="403979" y="457200"/>
                  <a:pt x="361950" y="457200"/>
                </a:cubicBezTo>
                <a:lnTo>
                  <a:pt x="95250" y="457200"/>
                </a:lnTo>
                <a:cubicBezTo>
                  <a:pt x="53221" y="457200"/>
                  <a:pt x="19050" y="431572"/>
                  <a:pt x="19050" y="400050"/>
                </a:cubicBezTo>
                <a:lnTo>
                  <a:pt x="19050" y="57150"/>
                </a:lnTo>
                <a:close/>
                <a:moveTo>
                  <a:pt x="152400" y="392906"/>
                </a:moveTo>
                <a:cubicBezTo>
                  <a:pt x="152400" y="404783"/>
                  <a:pt x="165140" y="414338"/>
                  <a:pt x="180975" y="414338"/>
                </a:cubicBezTo>
                <a:lnTo>
                  <a:pt x="276225" y="414338"/>
                </a:lnTo>
                <a:cubicBezTo>
                  <a:pt x="292060" y="414338"/>
                  <a:pt x="304800" y="404783"/>
                  <a:pt x="304800" y="392906"/>
                </a:cubicBezTo>
                <a:cubicBezTo>
                  <a:pt x="304800" y="381030"/>
                  <a:pt x="292060" y="371475"/>
                  <a:pt x="276225" y="371475"/>
                </a:cubicBezTo>
                <a:lnTo>
                  <a:pt x="180975" y="371475"/>
                </a:lnTo>
                <a:cubicBezTo>
                  <a:pt x="165140" y="371475"/>
                  <a:pt x="152400" y="381030"/>
                  <a:pt x="152400" y="392906"/>
                </a:cubicBezTo>
                <a:close/>
                <a:moveTo>
                  <a:pt x="361950" y="57150"/>
                </a:moveTo>
                <a:lnTo>
                  <a:pt x="95250" y="57150"/>
                </a:lnTo>
                <a:lnTo>
                  <a:pt x="95250" y="328613"/>
                </a:lnTo>
                <a:lnTo>
                  <a:pt x="361950" y="328613"/>
                </a:lnTo>
                <a:lnTo>
                  <a:pt x="361950" y="571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3251200"/>
            <a:ext cx="622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JSON / JWT-based ID tokens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REST-friendly, works great over APIs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 on top of OAuth2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Default choice for modern apps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 and SPA friendly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6350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" y="6350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320800" y="6350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solve the same problem —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proving identity across systems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SAML for the enterprise era, OIDC for the API/mobile era.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14 OF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16000" y="1371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answered "who are you?". Authorization answers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are you allowed to do?"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2286000" cy="9525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360" y="101600"/>
                </a:moveTo>
                <a:cubicBezTo>
                  <a:pt x="86360" y="49030"/>
                  <a:pt x="120504" y="6350"/>
                  <a:pt x="162560" y="6350"/>
                </a:cubicBezTo>
                <a:cubicBezTo>
                  <a:pt x="204616" y="6350"/>
                  <a:pt x="238760" y="49030"/>
                  <a:pt x="238760" y="101600"/>
                </a:cubicBezTo>
                <a:cubicBezTo>
                  <a:pt x="238760" y="154170"/>
                  <a:pt x="204616" y="196850"/>
                  <a:pt x="162560" y="196850"/>
                </a:cubicBezTo>
                <a:cubicBezTo>
                  <a:pt x="120504" y="196850"/>
                  <a:pt x="86360" y="154170"/>
                  <a:pt x="86360" y="101600"/>
                </a:cubicBezTo>
                <a:close/>
                <a:moveTo>
                  <a:pt x="30480" y="382826"/>
                </a:moveTo>
                <a:cubicBezTo>
                  <a:pt x="30480" y="304641"/>
                  <a:pt x="81153" y="241300"/>
                  <a:pt x="143701" y="241300"/>
                </a:cubicBezTo>
                <a:lnTo>
                  <a:pt x="181420" y="241300"/>
                </a:lnTo>
                <a:cubicBezTo>
                  <a:pt x="243967" y="241300"/>
                  <a:pt x="294640" y="304641"/>
                  <a:pt x="294640" y="382826"/>
                </a:cubicBezTo>
                <a:cubicBezTo>
                  <a:pt x="294640" y="395843"/>
                  <a:pt x="286195" y="406400"/>
                  <a:pt x="275781" y="406400"/>
                </a:cubicBezTo>
                <a:lnTo>
                  <a:pt x="49340" y="406400"/>
                </a:lnTo>
                <a:cubicBezTo>
                  <a:pt x="38926" y="406400"/>
                  <a:pt x="30480" y="395843"/>
                  <a:pt x="30480" y="382826"/>
                </a:cubicBezTo>
                <a:close/>
                <a:moveTo>
                  <a:pt x="388874" y="105331"/>
                </a:moveTo>
                <a:lnTo>
                  <a:pt x="338074" y="206931"/>
                </a:lnTo>
                <a:cubicBezTo>
                  <a:pt x="335407" y="212249"/>
                  <a:pt x="330835" y="215582"/>
                  <a:pt x="325819" y="215900"/>
                </a:cubicBezTo>
                <a:cubicBezTo>
                  <a:pt x="320802" y="216218"/>
                  <a:pt x="315976" y="213360"/>
                  <a:pt x="312992" y="208280"/>
                </a:cubicBezTo>
                <a:lnTo>
                  <a:pt x="282512" y="157480"/>
                </a:lnTo>
                <a:cubicBezTo>
                  <a:pt x="277432" y="149066"/>
                  <a:pt x="278829" y="137160"/>
                  <a:pt x="285560" y="130810"/>
                </a:cubicBezTo>
                <a:cubicBezTo>
                  <a:pt x="292291" y="124460"/>
                  <a:pt x="301816" y="126206"/>
                  <a:pt x="306896" y="134620"/>
                </a:cubicBezTo>
                <a:lnTo>
                  <a:pt x="324041" y="163195"/>
                </a:lnTo>
                <a:lnTo>
                  <a:pt x="363030" y="85169"/>
                </a:lnTo>
                <a:cubicBezTo>
                  <a:pt x="367475" y="76279"/>
                  <a:pt x="376873" y="73501"/>
                  <a:pt x="384048" y="79137"/>
                </a:cubicBezTo>
                <a:cubicBezTo>
                  <a:pt x="391224" y="84773"/>
                  <a:pt x="393383" y="96441"/>
                  <a:pt x="388874" y="10541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946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 user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48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349500"/>
            <a:ext cx="2286000" cy="952500"/>
          </a:xfrm>
          <a:prstGeom prst="rect">
            <a:avLst/>
          </a:prstGeom>
          <a:solidFill>
            <a:srgbClr val="3D2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2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797" y="76200"/>
                </a:moveTo>
                <a:lnTo>
                  <a:pt x="25797" y="194866"/>
                </a:lnTo>
                <a:cubicBezTo>
                  <a:pt x="25797" y="208359"/>
                  <a:pt x="31115" y="221298"/>
                  <a:pt x="40640" y="230823"/>
                </a:cubicBezTo>
                <a:lnTo>
                  <a:pt x="193040" y="383223"/>
                </a:lnTo>
                <a:cubicBezTo>
                  <a:pt x="212884" y="403066"/>
                  <a:pt x="245031" y="403066"/>
                  <a:pt x="264874" y="383223"/>
                </a:cubicBezTo>
                <a:lnTo>
                  <a:pt x="383540" y="264557"/>
                </a:lnTo>
                <a:cubicBezTo>
                  <a:pt x="403384" y="244713"/>
                  <a:pt x="403384" y="212566"/>
                  <a:pt x="383540" y="192723"/>
                </a:cubicBezTo>
                <a:lnTo>
                  <a:pt x="231140" y="40323"/>
                </a:lnTo>
                <a:cubicBezTo>
                  <a:pt x="221615" y="30718"/>
                  <a:pt x="208756" y="25400"/>
                  <a:pt x="195263" y="25400"/>
                </a:cubicBezTo>
                <a:lnTo>
                  <a:pt x="76597" y="25400"/>
                </a:lnTo>
                <a:cubicBezTo>
                  <a:pt x="48578" y="25400"/>
                  <a:pt x="25797" y="48181"/>
                  <a:pt x="25797" y="76200"/>
                </a:cubicBezTo>
                <a:close/>
                <a:moveTo>
                  <a:pt x="114697" y="88900"/>
                </a:moveTo>
                <a:cubicBezTo>
                  <a:pt x="128716" y="88900"/>
                  <a:pt x="140097" y="100281"/>
                  <a:pt x="140097" y="114300"/>
                </a:cubicBezTo>
                <a:cubicBezTo>
                  <a:pt x="140097" y="128319"/>
                  <a:pt x="128716" y="139700"/>
                  <a:pt x="114697" y="139700"/>
                </a:cubicBezTo>
                <a:cubicBezTo>
                  <a:pt x="100678" y="139700"/>
                  <a:pt x="89297" y="128319"/>
                  <a:pt x="89297" y="114300"/>
                </a:cubicBezTo>
                <a:cubicBezTo>
                  <a:pt x="89297" y="100281"/>
                  <a:pt x="100678" y="88900"/>
                  <a:pt x="114697" y="8890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064000" y="29464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 "Editor"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0000" y="2730500"/>
            <a:ext cx="1016000" cy="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366000" y="2349500"/>
            <a:ext cx="2540000" cy="952500"/>
          </a:xfrm>
          <a:prstGeom prst="rect">
            <a:avLst/>
          </a:prstGeom>
          <a:solidFill>
            <a:srgbClr val="1A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1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9565" y="25400"/>
                </a:moveTo>
                <a:lnTo>
                  <a:pt x="338667" y="25400"/>
                </a:lnTo>
                <a:cubicBezTo>
                  <a:pt x="376026" y="25400"/>
                  <a:pt x="406400" y="48181"/>
                  <a:pt x="406400" y="762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30374" y="25400"/>
                  <a:pt x="67733" y="25400"/>
                </a:cubicBezTo>
                <a:lnTo>
                  <a:pt x="76835" y="25400"/>
                </a:lnTo>
                <a:cubicBezTo>
                  <a:pt x="88477" y="10239"/>
                  <a:pt x="110384" y="0"/>
                  <a:pt x="135467" y="0"/>
                </a:cubicBezTo>
                <a:lnTo>
                  <a:pt x="270933" y="0"/>
                </a:lnTo>
                <a:cubicBezTo>
                  <a:pt x="296016" y="0"/>
                  <a:pt x="317923" y="10239"/>
                  <a:pt x="329565" y="25400"/>
                </a:cubicBezTo>
                <a:close/>
                <a:moveTo>
                  <a:pt x="262467" y="88900"/>
                </a:moveTo>
                <a:cubicBezTo>
                  <a:pt x="276543" y="88900"/>
                  <a:pt x="287867" y="80407"/>
                  <a:pt x="287867" y="69850"/>
                </a:cubicBezTo>
                <a:cubicBezTo>
                  <a:pt x="287867" y="59293"/>
                  <a:pt x="276543" y="50800"/>
                  <a:pt x="262467" y="50800"/>
                </a:cubicBezTo>
                <a:lnTo>
                  <a:pt x="143933" y="50800"/>
                </a:lnTo>
                <a:cubicBezTo>
                  <a:pt x="129858" y="50800"/>
                  <a:pt x="118533" y="59293"/>
                  <a:pt x="118533" y="69850"/>
                </a:cubicBezTo>
                <a:cubicBezTo>
                  <a:pt x="118533" y="80407"/>
                  <a:pt x="129858" y="88900"/>
                  <a:pt x="143933" y="88900"/>
                </a:cubicBezTo>
                <a:lnTo>
                  <a:pt x="262467" y="88900"/>
                </a:lnTo>
                <a:close/>
                <a:moveTo>
                  <a:pt x="135467" y="203200"/>
                </a:moveTo>
                <a:cubicBezTo>
                  <a:pt x="135467" y="189181"/>
                  <a:pt x="120292" y="177800"/>
                  <a:pt x="101600" y="177800"/>
                </a:cubicBezTo>
                <a:cubicBezTo>
                  <a:pt x="82908" y="177800"/>
                  <a:pt x="67733" y="189181"/>
                  <a:pt x="67733" y="203200"/>
                </a:cubicBezTo>
                <a:cubicBezTo>
                  <a:pt x="67733" y="217219"/>
                  <a:pt x="82908" y="228600"/>
                  <a:pt x="101600" y="228600"/>
                </a:cubicBezTo>
                <a:cubicBezTo>
                  <a:pt x="120292" y="228600"/>
                  <a:pt x="135467" y="217219"/>
                  <a:pt x="135467" y="203200"/>
                </a:cubicBezTo>
                <a:close/>
                <a:moveTo>
                  <a:pt x="169333" y="203200"/>
                </a:moveTo>
                <a:cubicBezTo>
                  <a:pt x="169333" y="213757"/>
                  <a:pt x="180657" y="222250"/>
                  <a:pt x="194733" y="222250"/>
                </a:cubicBezTo>
                <a:lnTo>
                  <a:pt x="313267" y="222250"/>
                </a:lnTo>
                <a:cubicBezTo>
                  <a:pt x="327343" y="222250"/>
                  <a:pt x="338667" y="213757"/>
                  <a:pt x="338667" y="203200"/>
                </a:cubicBezTo>
                <a:cubicBezTo>
                  <a:pt x="338667" y="192643"/>
                  <a:pt x="327343" y="184150"/>
                  <a:pt x="313267" y="184150"/>
                </a:cubicBezTo>
                <a:lnTo>
                  <a:pt x="194733" y="184150"/>
                </a:lnTo>
                <a:cubicBezTo>
                  <a:pt x="180657" y="184150"/>
                  <a:pt x="169333" y="192643"/>
                  <a:pt x="169333" y="203200"/>
                </a:cubicBezTo>
                <a:close/>
                <a:moveTo>
                  <a:pt x="169333" y="304800"/>
                </a:moveTo>
                <a:cubicBezTo>
                  <a:pt x="169333" y="315357"/>
                  <a:pt x="180657" y="323850"/>
                  <a:pt x="194733" y="323850"/>
                </a:cubicBezTo>
                <a:lnTo>
                  <a:pt x="313267" y="323850"/>
                </a:lnTo>
                <a:cubicBezTo>
                  <a:pt x="327343" y="323850"/>
                  <a:pt x="338667" y="315357"/>
                  <a:pt x="338667" y="304800"/>
                </a:cubicBezTo>
                <a:cubicBezTo>
                  <a:pt x="338667" y="294243"/>
                  <a:pt x="327343" y="285750"/>
                  <a:pt x="313267" y="285750"/>
                </a:cubicBezTo>
                <a:lnTo>
                  <a:pt x="194733" y="285750"/>
                </a:lnTo>
                <a:cubicBezTo>
                  <a:pt x="180657" y="285750"/>
                  <a:pt x="169333" y="294243"/>
                  <a:pt x="169333" y="304800"/>
                </a:cubicBezTo>
                <a:close/>
                <a:moveTo>
                  <a:pt x="101600" y="330200"/>
                </a:moveTo>
                <a:cubicBezTo>
                  <a:pt x="120292" y="330200"/>
                  <a:pt x="135467" y="318819"/>
                  <a:pt x="135467" y="304800"/>
                </a:cubicBezTo>
                <a:cubicBezTo>
                  <a:pt x="135467" y="290781"/>
                  <a:pt x="120292" y="279400"/>
                  <a:pt x="101600" y="279400"/>
                </a:cubicBezTo>
                <a:cubicBezTo>
                  <a:pt x="82908" y="279400"/>
                  <a:pt x="67733" y="290781"/>
                  <a:pt x="67733" y="304800"/>
                </a:cubicBezTo>
                <a:cubicBezTo>
                  <a:pt x="67733" y="318819"/>
                  <a:pt x="82908" y="330200"/>
                  <a:pt x="101600" y="33020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66000" y="2946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06000" y="2476500"/>
            <a:ext cx="1270000" cy="508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 flipV="1">
            <a:off x="9906000" y="3048000"/>
            <a:ext cx="1270000" cy="508000"/>
          </a:xfrm>
          <a:prstGeom prst="straightConnector1">
            <a:avLst/>
          </a:prstGeom>
          <a:noFill/>
          <a:ln w="25400">
            <a:solidFill>
              <a:srgbClr val="A3A3A3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303000" y="2222500"/>
            <a:ext cx="2032000" cy="698500"/>
          </a:xfrm>
          <a:prstGeom prst="rect">
            <a:avLst/>
          </a:prstGeom>
          <a:solidFill>
            <a:srgbClr val="1A3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03000" y="2438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303000" y="3238500"/>
            <a:ext cx="2032000" cy="698500"/>
          </a:xfrm>
          <a:prstGeom prst="rect">
            <a:avLst/>
          </a:prstGeom>
          <a:solidFill>
            <a:srgbClr val="3D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03000" y="3454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2000" y="4572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Role-Based Access Control (RBAC) — the most common authorization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6000" y="5334000"/>
            <a:ext cx="14224000" cy="889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000" y="5334000"/>
            <a:ext cx="50800" cy="889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320800" y="5334000"/>
            <a:ext cx="1366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pattern — Roles mapped to Permissions — is called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(Role-Based Access Control), the most common authorization model in real systems.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16000" y="660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whole map, in one place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24000"/>
          <a:ext cx="14224000" cy="5842000"/>
        </p:xfrm>
        <a:graphic>
          <a:graphicData uri="http://schemas.openxmlformats.org/drawingml/2006/table">
            <a:tbl>
              <a:tblPr/>
              <a:tblGrid>
                <a:gridCol w="568960"/>
                <a:gridCol w="4267200"/>
                <a:gridCol w="9387840"/>
              </a:tblGrid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Authentication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proves who you are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Encryption vs Hashing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reversible with a key, vs one-way and unverifiable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Basic Auth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username:password, sent every request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Digest Auth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sends a hash, never the raw password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API Keys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identifies an app, not a person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Session-Based Auth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server remembers you via a cookie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Symmetric vs Asymmetric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one shared key, vs a public/private key pair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Bearer Tokens / JWT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stateless, self-contained proof of identity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Access / Refresh Tokens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short-lived + long-lived, no re-login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OAuth2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delegated access, without sharing passwords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OpenID Connect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OAuth2 + a verified identity layer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 Sign-On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one login, many trusted apps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SAML / OIDC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 protocols that make SSO interoperable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171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Authorization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8FAF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decides what you're allowed to do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16000" y="7620000"/>
            <a:ext cx="14224000" cy="635000"/>
          </a:xfrm>
          <a:prstGeom prst="rect">
            <a:avLst/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6000" y="7620000"/>
            <a:ext cx="508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1320800" y="7620000"/>
            <a:ext cx="1366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checks the ID at the door. Authorization decides which rooms it can walk into.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05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&amp; Authorization — Explained</dc:title>
  <dc:subject>Authentication &amp; Authorization — Explained</dc:subject>
  <dc:creator>Kimi</dc:creator>
  <cp:lastModifiedBy>Kimi</cp:lastModifiedBy>
  <cp:revision>1</cp:revision>
  <dcterms:created xsi:type="dcterms:W3CDTF">2026-06-30T06:31:15Z</dcterms:created>
  <dcterms:modified xsi:type="dcterms:W3CDTF">2026-06-30T06:31:15Z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{"Label":"Authentication &amp; Authorization — Explained","ContentProducer":"001191110108MACG2KBH8F10000","ProduceID":"19f171d7-dc22-8875-8000-0000ba5f4f6b","ReservedCode1":"","ContentPropagator":"001191110108MACG2KBH8F20000","PropagateID":"19f17190-93f2-89a3-8000-09ef4f6b3b02","ReservedCode2":""}</vt:lpwstr>
  </property>
</Properties>
</file>
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24384000" cy="13716000"/>
  <p:notesSz cx="13716000" cy="2438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49" d="100"/>
          <a:sy n="49" d="100"/>
        </p:scale>
        <p:origin x="115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542863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gradFill flip="none" rotWithShape="1">
            <a:gsLst>
              <a:gs pos="0">
                <a:srgbClr val="111827"/>
              </a:gs>
              <a:gs pos="60000">
                <a:srgbClr val="0A0E1A"/>
              </a:gs>
              <a:gs pos="100000">
                <a:srgbClr val="0A0E1A"/>
              </a:gs>
            </a:gsLst>
            <a:path path="circle"/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371600" y="1371600"/>
            <a:ext cx="21640800" cy="0"/>
          </a:xfrm>
          <a:prstGeom prst="straightConnector1">
            <a:avLst/>
          </a:prstGeom>
          <a:noFill/>
          <a:ln w="19050">
            <a:solidFill>
              <a:srgbClr val="00D4FF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https://kimi-img.moonshot.cn/pub/slides/okc/dv33sntvow2p2/mnt/agents/output/http-methods-cookies/images/8_Servers_Background_Over_314_268_Royalty.png"/>
          <p:cNvPicPr>
            <a:picLocks noChangeAspect="1"/>
          </p:cNvPicPr>
          <p:nvPr/>
        </p:nvPicPr>
        <p:blipFill>
          <a:blip r:embed="rId3">
            <a:alphaModFix amt="40000"/>
          </a:blip>
          <a:srcRect/>
          <a:stretch/>
        </p:blipFill>
        <p:spPr>
          <a:xfrm>
            <a:off x="12192000" y="1524000"/>
            <a:ext cx="10820400" cy="6096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2192000" y="1524000"/>
            <a:ext cx="10820400" cy="6096000"/>
          </a:xfrm>
          <a:prstGeom prst="rect">
            <a:avLst/>
          </a:prstGeom>
          <a:gradFill flip="none" rotWithShape="1">
            <a:gsLst>
              <a:gs pos="0">
                <a:srgbClr val="0A0E1A"/>
              </a:gs>
              <a:gs pos="50000">
                <a:srgbClr val="0A0E1A">
                  <a:alpha val="50000"/>
                </a:srgbClr>
              </a:gs>
              <a:gs pos="100000">
                <a:srgbClr val="0A0E1A">
                  <a:alpha val="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1244600" y="2540000"/>
            <a:ext cx="10795000" cy="330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8800" b="1" dirty="0">
                <a:solidFill>
                  <a:srgbClr val="E8EC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HTTP METHODS</a:t>
            </a:r>
            <a:endParaRPr lang="en-US" sz="8800" dirty="0"/>
          </a:p>
          <a:p>
            <a:pPr algn="l">
              <a:lnSpc>
                <a:spcPct val="120000"/>
              </a:lnSpc>
            </a:pPr>
            <a:r>
              <a:rPr lang="en-US" sz="8800" b="1" dirty="0">
                <a:solidFill>
                  <a:srgbClr val="00D4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&amp; COOKIES</a:t>
            </a:r>
            <a:endParaRPr lang="en-US" sz="8800" dirty="0"/>
          </a:p>
        </p:txBody>
      </p:sp>
      <p:sp>
        <p:nvSpPr>
          <p:cNvPr id="7" name="Text 4"/>
          <p:cNvSpPr/>
          <p:nvPr/>
        </p:nvSpPr>
        <p:spPr>
          <a:xfrm>
            <a:off x="1244600" y="6096000"/>
            <a:ext cx="1016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600" dirty="0">
                <a:solidFill>
                  <a:srgbClr val="8B95A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 Complete Guide to Web Communication</a:t>
            </a:r>
            <a:endParaRPr lang="en-US" sz="3600" dirty="0"/>
          </a:p>
        </p:txBody>
      </p:sp>
      <p:sp>
        <p:nvSpPr>
          <p:cNvPr id="8" name="Shape 5"/>
          <p:cNvSpPr/>
          <p:nvPr/>
        </p:nvSpPr>
        <p:spPr>
          <a:xfrm>
            <a:off x="1371600" y="7112000"/>
            <a:ext cx="5080000" cy="0"/>
          </a:xfrm>
          <a:prstGeom prst="straightConnector1">
            <a:avLst/>
          </a:prstGeom>
          <a:noFill/>
          <a:ln w="25400">
            <a:solidFill>
              <a:srgbClr val="00D4FF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1371600" y="8128000"/>
            <a:ext cx="5689600" cy="863600"/>
          </a:xfrm>
          <a:prstGeom prst="rect">
            <a:avLst/>
          </a:prstGeom>
          <a:solidFill>
            <a:srgbClr val="1118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1371600" y="8128000"/>
            <a:ext cx="76200" cy="863600"/>
          </a:xfrm>
          <a:prstGeom prst="rect">
            <a:avLst/>
          </a:prstGeom>
          <a:solidFill>
            <a:srgbClr val="00D4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1701800" y="8128000"/>
            <a:ext cx="5080000" cy="863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400" dirty="0">
                <a:solidFill>
                  <a:srgbClr val="E8EC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Web Development Fundamentals</a:t>
            </a:r>
            <a:endParaRPr lang="en-US" sz="2400" dirty="0"/>
          </a:p>
        </p:txBody>
      </p:sp>
      <p:sp>
        <p:nvSpPr>
          <p:cNvPr id="12" name="Shape 9"/>
          <p:cNvSpPr/>
          <p:nvPr/>
        </p:nvSpPr>
        <p:spPr>
          <a:xfrm>
            <a:off x="7696200" y="8128000"/>
            <a:ext cx="5689600" cy="863600"/>
          </a:xfrm>
          <a:prstGeom prst="rect">
            <a:avLst/>
          </a:prstGeom>
          <a:solidFill>
            <a:srgbClr val="1118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7696200" y="8128000"/>
            <a:ext cx="76200" cy="863600"/>
          </a:xfrm>
          <a:prstGeom prst="rect">
            <a:avLst/>
          </a:prstGeom>
          <a:solidFill>
            <a:srgbClr val="00D4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8026400" y="8128000"/>
            <a:ext cx="5080000" cy="863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400" dirty="0">
                <a:solidFill>
                  <a:srgbClr val="E8EC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For Students &amp; Beginners</a:t>
            </a:r>
            <a:endParaRPr lang="en-US" sz="2400" dirty="0"/>
          </a:p>
        </p:txBody>
      </p:sp>
      <p:sp>
        <p:nvSpPr>
          <p:cNvPr id="15" name="Shape 12"/>
          <p:cNvSpPr/>
          <p:nvPr/>
        </p:nvSpPr>
        <p:spPr>
          <a:xfrm>
            <a:off x="1371600" y="12192000"/>
            <a:ext cx="21640800" cy="0"/>
          </a:xfrm>
          <a:prstGeom prst="straightConnector1">
            <a:avLst/>
          </a:prstGeom>
          <a:noFill/>
          <a:ln w="19050">
            <a:solidFill>
              <a:srgbClr val="00D4FF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1371600" y="12446000"/>
            <a:ext cx="762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dirty="0">
                <a:solidFill>
                  <a:srgbClr val="8B95A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HTTP | Headers | Status Codes | Cookies</a:t>
            </a:r>
            <a:endParaRPr lang="en-US" sz="2000" dirty="0"/>
          </a:p>
        </p:txBody>
      </p:sp>
      <p:sp>
        <p:nvSpPr>
          <p:cNvPr id="17" name="Text 14"/>
          <p:cNvSpPr/>
          <p:nvPr/>
        </p:nvSpPr>
        <p:spPr>
          <a:xfrm>
            <a:off x="16510000" y="12446000"/>
            <a:ext cx="65024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2000" dirty="0">
                <a:solidFill>
                  <a:srgbClr val="8B95A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Web Communication Essentials</a:t>
            </a:r>
            <a:endParaRPr lang="en-US" sz="2000" dirty="0"/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gradFill flip="none" rotWithShape="1">
            <a:gsLst>
              <a:gs pos="0">
                <a:srgbClr val="111827"/>
              </a:gs>
              <a:gs pos="60000">
                <a:srgbClr val="0A0E1A"/>
              </a:gs>
              <a:gs pos="100000">
                <a:srgbClr val="0A0E1A"/>
              </a:gs>
            </a:gsLst>
            <a:path path="circle"/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244600" y="1524000"/>
            <a:ext cx="10160000" cy="2413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2000" dirty="0">
                <a:solidFill>
                  <a:srgbClr val="E8EC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CONTENTS</a:t>
            </a:r>
            <a:endParaRPr lang="en-US" sz="12000" dirty="0"/>
          </a:p>
        </p:txBody>
      </p:sp>
      <p:sp>
        <p:nvSpPr>
          <p:cNvPr id="4" name="Text 2"/>
          <p:cNvSpPr/>
          <p:nvPr/>
        </p:nvSpPr>
        <p:spPr>
          <a:xfrm>
            <a:off x="1244600" y="5270500"/>
            <a:ext cx="2082800" cy="1714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9700" dirty="0">
                <a:solidFill>
                  <a:srgbClr val="00D4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01</a:t>
            </a:r>
            <a:endParaRPr lang="en-US" sz="9700" dirty="0"/>
          </a:p>
        </p:txBody>
      </p:sp>
      <p:sp>
        <p:nvSpPr>
          <p:cNvPr id="5" name="Shape 3"/>
          <p:cNvSpPr/>
          <p:nvPr/>
        </p:nvSpPr>
        <p:spPr>
          <a:xfrm>
            <a:off x="1371600" y="7023100"/>
            <a:ext cx="4318000" cy="0"/>
          </a:xfrm>
          <a:prstGeom prst="straightConnector1">
            <a:avLst/>
          </a:prstGeom>
          <a:noFill/>
          <a:ln w="19050">
            <a:solidFill>
              <a:srgbClr val="00D4FF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244600" y="7251700"/>
            <a:ext cx="4572000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4200" dirty="0">
                <a:solidFill>
                  <a:srgbClr val="E8EC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HTTP</a:t>
            </a:r>
            <a:endParaRPr lang="en-US" sz="4200" dirty="0"/>
          </a:p>
          <a:p>
            <a:pPr algn="l">
              <a:lnSpc>
                <a:spcPct val="120000"/>
              </a:lnSpc>
            </a:pPr>
            <a:r>
              <a:rPr lang="en-US" sz="4200" dirty="0">
                <a:solidFill>
                  <a:srgbClr val="E8EC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Request Methods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1244600" y="9906000"/>
            <a:ext cx="4572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400" dirty="0">
                <a:solidFill>
                  <a:srgbClr val="8B95A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GET, POST, PUT, and more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756400" y="5270500"/>
            <a:ext cx="2082800" cy="1714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9700" dirty="0">
                <a:solidFill>
                  <a:srgbClr val="00D4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02</a:t>
            </a:r>
            <a:endParaRPr lang="en-US" sz="9700" dirty="0"/>
          </a:p>
        </p:txBody>
      </p:sp>
      <p:sp>
        <p:nvSpPr>
          <p:cNvPr id="9" name="Shape 7"/>
          <p:cNvSpPr/>
          <p:nvPr/>
        </p:nvSpPr>
        <p:spPr>
          <a:xfrm>
            <a:off x="6883400" y="7023100"/>
            <a:ext cx="4318000" cy="0"/>
          </a:xfrm>
          <a:prstGeom prst="straightConnector1">
            <a:avLst/>
          </a:prstGeom>
          <a:noFill/>
          <a:ln w="19050">
            <a:solidFill>
              <a:srgbClr val="00D4FF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756400" y="7251700"/>
            <a:ext cx="4572000" cy="1866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5100" dirty="0">
                <a:solidFill>
                  <a:srgbClr val="E8EC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HTTP</a:t>
            </a:r>
            <a:endParaRPr lang="en-US" sz="5100" dirty="0"/>
          </a:p>
          <a:p>
            <a:pPr algn="l">
              <a:lnSpc>
                <a:spcPct val="120000"/>
              </a:lnSpc>
            </a:pPr>
            <a:r>
              <a:rPr lang="en-US" sz="5100" dirty="0">
                <a:solidFill>
                  <a:srgbClr val="E8EC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Headers</a:t>
            </a:r>
            <a:endParaRPr lang="en-US" sz="5100" dirty="0"/>
          </a:p>
        </p:txBody>
      </p:sp>
      <p:sp>
        <p:nvSpPr>
          <p:cNvPr id="11" name="Text 9"/>
          <p:cNvSpPr/>
          <p:nvPr/>
        </p:nvSpPr>
        <p:spPr>
          <a:xfrm>
            <a:off x="6756400" y="9906000"/>
            <a:ext cx="4572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400" dirty="0">
                <a:solidFill>
                  <a:srgbClr val="8B95A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Request &amp; Response metadata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2280900" y="5270500"/>
            <a:ext cx="2082800" cy="1714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9700" dirty="0">
                <a:solidFill>
                  <a:srgbClr val="00D4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03</a:t>
            </a:r>
            <a:endParaRPr lang="en-US" sz="9700" dirty="0"/>
          </a:p>
        </p:txBody>
      </p:sp>
      <p:sp>
        <p:nvSpPr>
          <p:cNvPr id="13" name="Shape 11"/>
          <p:cNvSpPr/>
          <p:nvPr/>
        </p:nvSpPr>
        <p:spPr>
          <a:xfrm>
            <a:off x="12395200" y="7023100"/>
            <a:ext cx="4318000" cy="0"/>
          </a:xfrm>
          <a:prstGeom prst="straightConnector1">
            <a:avLst/>
          </a:prstGeom>
          <a:noFill/>
          <a:ln w="19050">
            <a:solidFill>
              <a:srgbClr val="00D4FF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2280900" y="7251700"/>
            <a:ext cx="4572000" cy="1866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5100" dirty="0">
                <a:solidFill>
                  <a:srgbClr val="E8EC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HTTP Status</a:t>
            </a:r>
            <a:endParaRPr lang="en-US" sz="5100" dirty="0"/>
          </a:p>
          <a:p>
            <a:pPr algn="l">
              <a:lnSpc>
                <a:spcPct val="120000"/>
              </a:lnSpc>
            </a:pPr>
            <a:r>
              <a:rPr lang="en-US" sz="5100" dirty="0">
                <a:solidFill>
                  <a:srgbClr val="E8EC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Codes</a:t>
            </a:r>
            <a:endParaRPr lang="en-US" sz="5100" dirty="0"/>
          </a:p>
        </p:txBody>
      </p:sp>
      <p:sp>
        <p:nvSpPr>
          <p:cNvPr id="15" name="Text 13"/>
          <p:cNvSpPr/>
          <p:nvPr/>
        </p:nvSpPr>
        <p:spPr>
          <a:xfrm>
            <a:off x="12280900" y="9906000"/>
            <a:ext cx="4826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400" dirty="0">
                <a:solidFill>
                  <a:srgbClr val="8B95A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Understanding server responses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17792700" y="5270500"/>
            <a:ext cx="2082800" cy="1714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9700" dirty="0">
                <a:solidFill>
                  <a:srgbClr val="00D4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04</a:t>
            </a:r>
            <a:endParaRPr lang="en-US" sz="9700" dirty="0"/>
          </a:p>
        </p:txBody>
      </p:sp>
      <p:sp>
        <p:nvSpPr>
          <p:cNvPr id="17" name="Shape 15"/>
          <p:cNvSpPr/>
          <p:nvPr/>
        </p:nvSpPr>
        <p:spPr>
          <a:xfrm>
            <a:off x="17907000" y="7023100"/>
            <a:ext cx="4318000" cy="0"/>
          </a:xfrm>
          <a:prstGeom prst="straightConnector1">
            <a:avLst/>
          </a:prstGeom>
          <a:noFill/>
          <a:ln w="19050">
            <a:solidFill>
              <a:srgbClr val="00D4FF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17792700" y="7251700"/>
            <a:ext cx="4572000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4200" dirty="0">
                <a:solidFill>
                  <a:srgbClr val="E8EC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Cookies &amp; Web</a:t>
            </a:r>
            <a:endParaRPr lang="en-US" sz="4200" dirty="0"/>
          </a:p>
          <a:p>
            <a:pPr algn="l">
              <a:lnSpc>
                <a:spcPct val="120000"/>
              </a:lnSpc>
            </a:pPr>
            <a:r>
              <a:rPr lang="en-US" sz="4200" dirty="0">
                <a:solidFill>
                  <a:srgbClr val="E8EC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Security</a:t>
            </a:r>
            <a:endParaRPr lang="en-US" sz="4200" dirty="0"/>
          </a:p>
        </p:txBody>
      </p:sp>
      <p:sp>
        <p:nvSpPr>
          <p:cNvPr id="19" name="Text 17"/>
          <p:cNvSpPr/>
          <p:nvPr/>
        </p:nvSpPr>
        <p:spPr>
          <a:xfrm>
            <a:off x="17792700" y="9906000"/>
            <a:ext cx="4572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400" dirty="0">
                <a:solidFill>
                  <a:srgbClr val="8B95A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Sessions, ETag &amp; TLS</a:t>
            </a:r>
            <a:endParaRPr lang="en-US" sz="2400" dirty="0"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gradFill flip="none" rotWithShape="1">
            <a:gsLst>
              <a:gs pos="0">
                <a:srgbClr val="111827"/>
              </a:gs>
              <a:gs pos="60000">
                <a:srgbClr val="0A0E1A"/>
              </a:gs>
              <a:gs pos="100000">
                <a:srgbClr val="0A0E1A"/>
              </a:gs>
            </a:gsLst>
            <a:path path="circle"/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9232900" y="2819400"/>
            <a:ext cx="5918200" cy="4432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ct val="120000"/>
              </a:lnSpc>
            </a:pPr>
            <a:r>
              <a:rPr lang="en-US" sz="24400" dirty="0">
                <a:solidFill>
                  <a:srgbClr val="00D4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01</a:t>
            </a:r>
            <a:endParaRPr lang="en-US" sz="24400" dirty="0"/>
          </a:p>
        </p:txBody>
      </p:sp>
      <p:sp>
        <p:nvSpPr>
          <p:cNvPr id="4" name="Shape 2"/>
          <p:cNvSpPr/>
          <p:nvPr/>
        </p:nvSpPr>
        <p:spPr>
          <a:xfrm>
            <a:off x="8382000" y="8458200"/>
            <a:ext cx="7607300" cy="0"/>
          </a:xfrm>
          <a:prstGeom prst="straightConnector1">
            <a:avLst/>
          </a:prstGeom>
          <a:noFill/>
          <a:ln w="28575">
            <a:solidFill>
              <a:srgbClr val="00D4FF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565900" y="6616700"/>
            <a:ext cx="11239500" cy="1587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ct val="120000"/>
              </a:lnSpc>
            </a:pPr>
            <a:r>
              <a:rPr lang="en-US" sz="8500" b="1" dirty="0">
                <a:solidFill>
                  <a:srgbClr val="E8EC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HTTP Request Methods</a:t>
            </a:r>
            <a:endParaRPr lang="en-US" sz="8500" dirty="0"/>
          </a:p>
        </p:txBody>
      </p:sp>
      <p:sp>
        <p:nvSpPr>
          <p:cNvPr id="6" name="Text 4"/>
          <p:cNvSpPr/>
          <p:nvPr/>
        </p:nvSpPr>
        <p:spPr>
          <a:xfrm>
            <a:off x="5842000" y="8763000"/>
            <a:ext cx="1270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ct val="120000"/>
              </a:lnSpc>
            </a:pPr>
            <a:r>
              <a:rPr lang="en-US" sz="3600" dirty="0">
                <a:solidFill>
                  <a:srgbClr val="8B95A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Understanding client-server communication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18161000" y="800100"/>
            <a:ext cx="5207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2900" kern="0" spc="400" dirty="0">
                <a:solidFill>
                  <a:srgbClr val="E8EC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PART 01</a:t>
            </a:r>
            <a:endParaRPr lang="en-US" sz="2900" dirty="0"/>
          </a:p>
        </p:txBody>
      </p:sp>
      <p:sp>
        <p:nvSpPr>
          <p:cNvPr id="8" name="Text 6"/>
          <p:cNvSpPr/>
          <p:nvPr/>
        </p:nvSpPr>
        <p:spPr>
          <a:xfrm>
            <a:off x="1016000" y="800100"/>
            <a:ext cx="110363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900" kern="0" spc="400" dirty="0">
                <a:solidFill>
                  <a:srgbClr val="E8EC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WEB COMMUNICATION</a:t>
            </a:r>
            <a:endParaRPr lang="en-US" sz="2900" dirty="0"/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44600" y="1282700"/>
            <a:ext cx="11049000" cy="1079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6800" b="1" dirty="0">
                <a:solidFill>
                  <a:srgbClr val="E8EC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HTTP METHODS EXPLAINED</a:t>
            </a:r>
            <a:endParaRPr lang="en-US" sz="6800" dirty="0"/>
          </a:p>
        </p:txBody>
      </p:sp>
      <p:sp>
        <p:nvSpPr>
          <p:cNvPr id="3" name="Shape 1"/>
          <p:cNvSpPr/>
          <p:nvPr/>
        </p:nvSpPr>
        <p:spPr>
          <a:xfrm>
            <a:off x="12192000" y="1219200"/>
            <a:ext cx="5334000" cy="0"/>
          </a:xfrm>
          <a:prstGeom prst="straightConnector1">
            <a:avLst/>
          </a:prstGeom>
          <a:noFill/>
          <a:ln w="9525">
            <a:solidFill>
              <a:srgbClr val="E8ECF1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8161000" y="1244600"/>
            <a:ext cx="5207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2900" kern="0" spc="400" dirty="0">
                <a:solidFill>
                  <a:srgbClr val="E8EC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PART 01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 rot="5400000">
            <a:off x="1346200" y="3835400"/>
            <a:ext cx="368300" cy="330200"/>
          </a:xfrm>
          <a:prstGeom prst="triangle">
            <a:avLst>
              <a:gd name="adj" fmla="val 50000"/>
            </a:avLst>
          </a:prstGeom>
          <a:solidFill>
            <a:srgbClr val="00D4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 rot="5400000">
            <a:off x="1854200" y="3835400"/>
            <a:ext cx="368300" cy="330200"/>
          </a:xfrm>
          <a:prstGeom prst="triangle">
            <a:avLst>
              <a:gd name="adj" fmla="val 50000"/>
            </a:avLst>
          </a:prstGeom>
          <a:solidFill>
            <a:srgbClr val="00D4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 rot="5400000">
            <a:off x="2349500" y="3835400"/>
            <a:ext cx="368300" cy="330200"/>
          </a:xfrm>
          <a:prstGeom prst="triangle">
            <a:avLst>
              <a:gd name="adj" fmla="val 50000"/>
            </a:avLst>
          </a:prstGeom>
          <a:solidFill>
            <a:srgbClr val="00D4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 rot="5400000">
            <a:off x="2857500" y="3835400"/>
            <a:ext cx="368300" cy="330200"/>
          </a:xfrm>
          <a:prstGeom prst="triangle">
            <a:avLst>
              <a:gd name="adj" fmla="val 50000"/>
            </a:avLst>
          </a:prstGeom>
          <a:solidFill>
            <a:srgbClr val="00D4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 rot="5400000">
            <a:off x="3352800" y="3835400"/>
            <a:ext cx="368300" cy="330200"/>
          </a:xfrm>
          <a:prstGeom prst="triangle">
            <a:avLst>
              <a:gd name="adj" fmla="val 50000"/>
            </a:avLst>
          </a:prstGeom>
          <a:solidFill>
            <a:srgbClr val="00D4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 rot="5400000">
            <a:off x="3860800" y="3835400"/>
            <a:ext cx="368300" cy="330200"/>
          </a:xfrm>
          <a:prstGeom prst="triangle">
            <a:avLst>
              <a:gd name="adj" fmla="val 50000"/>
            </a:avLst>
          </a:prstGeom>
          <a:solidFill>
            <a:srgbClr val="00D4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1371600" y="4826000"/>
            <a:ext cx="5969000" cy="863600"/>
          </a:xfrm>
          <a:prstGeom prst="rect">
            <a:avLst/>
          </a:prstGeom>
          <a:solidFill>
            <a:srgbClr val="1118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1371600" y="4826000"/>
            <a:ext cx="190500" cy="863600"/>
          </a:xfrm>
          <a:prstGeom prst="rect">
            <a:avLst/>
          </a:prstGeom>
          <a:solidFill>
            <a:srgbClr val="00D4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803400" y="4953000"/>
            <a:ext cx="5334000" cy="609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3500" b="1" dirty="0">
                <a:solidFill>
                  <a:srgbClr val="E8EC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HTTP Methods Overview</a:t>
            </a:r>
            <a:endParaRPr lang="en-US" sz="3500" dirty="0"/>
          </a:p>
        </p:txBody>
      </p:sp>
      <p:sp>
        <p:nvSpPr>
          <p:cNvPr id="14" name="Text 12"/>
          <p:cNvSpPr/>
          <p:nvPr/>
        </p:nvSpPr>
        <p:spPr>
          <a:xfrm>
            <a:off x="1371600" y="6096000"/>
            <a:ext cx="9804400" cy="330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E8EC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HTTP request methods tell the server </a:t>
            </a:r>
            <a:r>
              <a:rPr lang="en-US" sz="2000" b="1" dirty="0">
                <a:solidFill>
                  <a:srgbClr val="E8EC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what action</a:t>
            </a:r>
            <a:r>
              <a:rPr lang="en-US" sz="2000" dirty="0">
                <a:solidFill>
                  <a:srgbClr val="E8EC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the client wants to perform. Each method has a different purpose and behavior.</a:t>
            </a:r>
            <a:endParaRPr lang="en-US" sz="2000" dirty="0"/>
          </a:p>
          <a:p>
            <a:pPr algn="l">
              <a:lnSpc>
                <a:spcPct val="160000"/>
              </a:lnSpc>
              <a:spcBef>
                <a:spcPts val="1200"/>
              </a:spcBef>
            </a:pPr>
            <a:r>
              <a:rPr lang="en-US" sz="2000" dirty="0">
                <a:solidFill>
                  <a:srgbClr val="E8EC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They define the action the client wants to perform on the server — helping manage data </a:t>
            </a:r>
            <a:r>
              <a:rPr lang="en-US" sz="2000" dirty="0">
                <a:solidFill>
                  <a:srgbClr val="00D4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retrieval</a:t>
            </a:r>
            <a:r>
              <a:rPr lang="en-US" sz="2000" dirty="0">
                <a:solidFill>
                  <a:srgbClr val="E8EC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, </a:t>
            </a:r>
            <a:r>
              <a:rPr lang="en-US" sz="2000" dirty="0">
                <a:solidFill>
                  <a:srgbClr val="00FF8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creation</a:t>
            </a:r>
            <a:r>
              <a:rPr lang="en-US" sz="2000" dirty="0">
                <a:solidFill>
                  <a:srgbClr val="E8EC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, </a:t>
            </a:r>
            <a:r>
              <a:rPr lang="en-US" sz="2000" dirty="0">
                <a:solidFill>
                  <a:srgbClr val="00D4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modification</a:t>
            </a:r>
            <a:r>
              <a:rPr lang="en-US" sz="2000" dirty="0">
                <a:solidFill>
                  <a:srgbClr val="E8EC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, and </a:t>
            </a:r>
            <a:r>
              <a:rPr lang="en-US" sz="2000" dirty="0">
                <a:solidFill>
                  <a:srgbClr val="FF6B6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deletion</a:t>
            </a:r>
            <a:r>
              <a:rPr lang="en-US" sz="2000" dirty="0">
                <a:solidFill>
                  <a:srgbClr val="E8EC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efficiently.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371600" y="9779000"/>
            <a:ext cx="98044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00D4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Think of methods as verbs in a sentence</a:t>
            </a:r>
            <a:r>
              <a:rPr lang="en-US" sz="2000" dirty="0">
                <a:solidFill>
                  <a:srgbClr val="E8EC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they describe what you want to do with a resource on the server.</a:t>
            </a:r>
            <a:endParaRPr lang="en-US" sz="2000" dirty="0"/>
          </a:p>
        </p:txBody>
      </p:sp>
      <p:pic>
        <p:nvPicPr>
          <p:cNvPr id="16" name="Image 0" descr="https://kimi-img.moonshot.cn/pub/slides/okc/dv33sntvow2p2/mnt/agents/output/http-methods-cookies/images/7_Learning_About_the_Foundations_Core.png"/>
          <p:cNvPicPr>
            <a:picLocks noChangeAspect="1"/>
          </p:cNvPicPr>
          <p:nvPr/>
        </p:nvPicPr>
        <p:blipFill>
          <a:blip r:embed="rId3">
            <a:alphaModFix amt="50000"/>
          </a:blip>
          <a:srcRect/>
          <a:stretch/>
        </p:blipFill>
        <p:spPr>
          <a:xfrm>
            <a:off x="12192000" y="4318000"/>
            <a:ext cx="10820400" cy="7112000"/>
          </a:xfrm>
          <a:prstGeom prst="rect">
            <a:avLst/>
          </a:prstGeom>
        </p:spPr>
      </p:pic>
      <p:sp>
        <p:nvSpPr>
          <p:cNvPr id="17" name="Shape 14"/>
          <p:cNvSpPr/>
          <p:nvPr/>
        </p:nvSpPr>
        <p:spPr>
          <a:xfrm>
            <a:off x="12192000" y="4318000"/>
            <a:ext cx="10820400" cy="7112000"/>
          </a:xfrm>
          <a:prstGeom prst="rect">
            <a:avLst/>
          </a:prstGeom>
          <a:gradFill flip="none" rotWithShape="1">
            <a:gsLst>
              <a:gs pos="0">
                <a:srgbClr val="0A0E1A"/>
              </a:gs>
              <a:gs pos="30000">
                <a:srgbClr val="0A0E1A">
                  <a:alpha val="50000"/>
                </a:srgbClr>
              </a:gs>
              <a:gs pos="100000">
                <a:srgbClr val="0A0E1A">
                  <a:alpha val="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44600" y="1282700"/>
            <a:ext cx="10795000" cy="1079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6800" b="1" dirty="0">
                <a:solidFill>
                  <a:srgbClr val="E8EC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7 HTTP METHODS</a:t>
            </a:r>
            <a:endParaRPr lang="en-US" sz="6800" dirty="0"/>
          </a:p>
        </p:txBody>
      </p:sp>
      <p:sp>
        <p:nvSpPr>
          <p:cNvPr id="3" name="Shape 1"/>
          <p:cNvSpPr/>
          <p:nvPr/>
        </p:nvSpPr>
        <p:spPr>
          <a:xfrm>
            <a:off x="12192000" y="1498600"/>
            <a:ext cx="5334000" cy="0"/>
          </a:xfrm>
          <a:prstGeom prst="straightConnector1">
            <a:avLst/>
          </a:prstGeom>
          <a:noFill/>
          <a:ln w="9525">
            <a:solidFill>
              <a:srgbClr val="E8ECF1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8161000" y="1244600"/>
            <a:ext cx="5207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2900" kern="0" spc="400" dirty="0">
                <a:solidFill>
                  <a:srgbClr val="E8EC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PART 01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1371600" y="4318000"/>
            <a:ext cx="6858000" cy="8128000"/>
          </a:xfrm>
          <a:prstGeom prst="rect">
            <a:avLst/>
          </a:prstGeom>
          <a:solidFill>
            <a:srgbClr val="1118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371600" y="4318000"/>
            <a:ext cx="76200" cy="8128000"/>
          </a:xfrm>
          <a:prstGeom prst="rect">
            <a:avLst/>
          </a:prstGeom>
          <a:solidFill>
            <a:srgbClr val="00D4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803400" y="46990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90286" y="31750"/>
                </a:moveTo>
                <a:cubicBezTo>
                  <a:pt x="290286" y="14188"/>
                  <a:pt x="274071" y="0"/>
                  <a:pt x="254000" y="0"/>
                </a:cubicBezTo>
                <a:cubicBezTo>
                  <a:pt x="233929" y="0"/>
                  <a:pt x="217714" y="14188"/>
                  <a:pt x="217714" y="31750"/>
                </a:cubicBezTo>
                <a:lnTo>
                  <a:pt x="217714" y="240804"/>
                </a:lnTo>
                <a:lnTo>
                  <a:pt x="170770" y="199727"/>
                </a:lnTo>
                <a:cubicBezTo>
                  <a:pt x="156596" y="187325"/>
                  <a:pt x="133577" y="187325"/>
                  <a:pt x="119403" y="199727"/>
                </a:cubicBezTo>
                <a:cubicBezTo>
                  <a:pt x="105229" y="212130"/>
                  <a:pt x="105229" y="232271"/>
                  <a:pt x="119403" y="244673"/>
                </a:cubicBezTo>
                <a:lnTo>
                  <a:pt x="228260" y="339923"/>
                </a:lnTo>
                <a:cubicBezTo>
                  <a:pt x="242434" y="352326"/>
                  <a:pt x="265453" y="352326"/>
                  <a:pt x="279627" y="339923"/>
                </a:cubicBezTo>
                <a:lnTo>
                  <a:pt x="388484" y="244673"/>
                </a:lnTo>
                <a:cubicBezTo>
                  <a:pt x="402658" y="232271"/>
                  <a:pt x="402658" y="212130"/>
                  <a:pt x="388484" y="199727"/>
                </a:cubicBezTo>
                <a:cubicBezTo>
                  <a:pt x="374310" y="187325"/>
                  <a:pt x="351291" y="187325"/>
                  <a:pt x="337117" y="199727"/>
                </a:cubicBezTo>
                <a:lnTo>
                  <a:pt x="290286" y="240804"/>
                </a:lnTo>
                <a:lnTo>
                  <a:pt x="290286" y="31750"/>
                </a:lnTo>
                <a:close/>
                <a:moveTo>
                  <a:pt x="72571" y="317500"/>
                </a:moveTo>
                <a:cubicBezTo>
                  <a:pt x="32544" y="317500"/>
                  <a:pt x="0" y="345976"/>
                  <a:pt x="0" y="381000"/>
                </a:cubicBezTo>
                <a:lnTo>
                  <a:pt x="0" y="412750"/>
                </a:lnTo>
                <a:cubicBezTo>
                  <a:pt x="0" y="447774"/>
                  <a:pt x="32544" y="476250"/>
                  <a:pt x="72571" y="476250"/>
                </a:cubicBezTo>
                <a:lnTo>
                  <a:pt x="435429" y="476250"/>
                </a:lnTo>
                <a:cubicBezTo>
                  <a:pt x="475456" y="476250"/>
                  <a:pt x="508000" y="447774"/>
                  <a:pt x="508000" y="412750"/>
                </a:cubicBezTo>
                <a:lnTo>
                  <a:pt x="508000" y="381000"/>
                </a:lnTo>
                <a:cubicBezTo>
                  <a:pt x="508000" y="345976"/>
                  <a:pt x="475456" y="317500"/>
                  <a:pt x="435429" y="317500"/>
                </a:cubicBezTo>
                <a:lnTo>
                  <a:pt x="382247" y="317500"/>
                </a:lnTo>
                <a:lnTo>
                  <a:pt x="318067" y="373658"/>
                </a:lnTo>
                <a:cubicBezTo>
                  <a:pt x="282688" y="404614"/>
                  <a:pt x="225198" y="404614"/>
                  <a:pt x="189820" y="373658"/>
                </a:cubicBezTo>
                <a:lnTo>
                  <a:pt x="125753" y="317500"/>
                </a:lnTo>
                <a:lnTo>
                  <a:pt x="72571" y="317500"/>
                </a:lnTo>
                <a:close/>
                <a:moveTo>
                  <a:pt x="417286" y="373063"/>
                </a:moveTo>
                <a:cubicBezTo>
                  <a:pt x="432306" y="373063"/>
                  <a:pt x="444500" y="383733"/>
                  <a:pt x="444500" y="396875"/>
                </a:cubicBezTo>
                <a:cubicBezTo>
                  <a:pt x="444500" y="410017"/>
                  <a:pt x="432306" y="420688"/>
                  <a:pt x="417286" y="420688"/>
                </a:cubicBezTo>
                <a:cubicBezTo>
                  <a:pt x="402266" y="420688"/>
                  <a:pt x="390071" y="410017"/>
                  <a:pt x="390071" y="396875"/>
                </a:cubicBezTo>
                <a:cubicBezTo>
                  <a:pt x="390071" y="383733"/>
                  <a:pt x="402266" y="373063"/>
                  <a:pt x="417286" y="373063"/>
                </a:cubicBezTo>
                <a:close/>
              </a:path>
            </a:pathLst>
          </a:custGeom>
          <a:solidFill>
            <a:srgbClr val="00D4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540000" y="4699000"/>
            <a:ext cx="5334000" cy="609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3500" b="1" dirty="0">
                <a:solidFill>
                  <a:srgbClr val="E8EC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GET</a:t>
            </a:r>
            <a:endParaRPr lang="en-US" sz="3500" dirty="0"/>
          </a:p>
        </p:txBody>
      </p:sp>
      <p:sp>
        <p:nvSpPr>
          <p:cNvPr id="9" name="Text 7"/>
          <p:cNvSpPr/>
          <p:nvPr/>
        </p:nvSpPr>
        <p:spPr>
          <a:xfrm>
            <a:off x="1803400" y="5461000"/>
            <a:ext cx="6096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E8EC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Retrieves data from the server. The most common method — used every time you load a webpage. </a:t>
            </a:r>
            <a:r>
              <a:rPr lang="en-US" sz="2000" b="1" dirty="0">
                <a:solidFill>
                  <a:srgbClr val="E8EC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No request body</a:t>
            </a:r>
            <a:r>
              <a:rPr lang="en-US" sz="2000" dirty="0">
                <a:solidFill>
                  <a:srgbClr val="E8EC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is allowed.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803400" y="7112000"/>
            <a:ext cx="6096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dirty="0">
                <a:solidFill>
                  <a:srgbClr val="00D4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GET /users/123 HTTP/1.1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8712200" y="4318000"/>
            <a:ext cx="6858000" cy="812800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8712200" y="4318000"/>
            <a:ext cx="76200" cy="8128000"/>
          </a:xfrm>
          <a:prstGeom prst="rect">
            <a:avLst/>
          </a:prstGeom>
          <a:solidFill>
            <a:srgbClr val="00FF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9144000" y="46990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90286" y="108446"/>
                </a:moveTo>
                <a:lnTo>
                  <a:pt x="290286" y="317500"/>
                </a:lnTo>
                <a:cubicBezTo>
                  <a:pt x="290286" y="335062"/>
                  <a:pt x="274071" y="349250"/>
                  <a:pt x="254000" y="349250"/>
                </a:cubicBezTo>
                <a:cubicBezTo>
                  <a:pt x="233929" y="349250"/>
                  <a:pt x="217714" y="335062"/>
                  <a:pt x="217714" y="317500"/>
                </a:cubicBezTo>
                <a:lnTo>
                  <a:pt x="217714" y="108446"/>
                </a:lnTo>
                <a:lnTo>
                  <a:pt x="170770" y="149523"/>
                </a:lnTo>
                <a:cubicBezTo>
                  <a:pt x="156596" y="161925"/>
                  <a:pt x="133577" y="161925"/>
                  <a:pt x="119403" y="149523"/>
                </a:cubicBezTo>
                <a:cubicBezTo>
                  <a:pt x="105229" y="137120"/>
                  <a:pt x="105229" y="116979"/>
                  <a:pt x="119403" y="104577"/>
                </a:cubicBezTo>
                <a:lnTo>
                  <a:pt x="228260" y="9327"/>
                </a:lnTo>
                <a:cubicBezTo>
                  <a:pt x="242434" y="-3076"/>
                  <a:pt x="265453" y="-3076"/>
                  <a:pt x="279627" y="9327"/>
                </a:cubicBezTo>
                <a:lnTo>
                  <a:pt x="388484" y="104577"/>
                </a:lnTo>
                <a:cubicBezTo>
                  <a:pt x="402658" y="116979"/>
                  <a:pt x="402658" y="137120"/>
                  <a:pt x="388484" y="149523"/>
                </a:cubicBezTo>
                <a:cubicBezTo>
                  <a:pt x="374310" y="161925"/>
                  <a:pt x="351291" y="161925"/>
                  <a:pt x="337117" y="149523"/>
                </a:cubicBezTo>
                <a:lnTo>
                  <a:pt x="290286" y="108446"/>
                </a:lnTo>
                <a:close/>
                <a:moveTo>
                  <a:pt x="254000" y="396875"/>
                </a:moveTo>
                <a:cubicBezTo>
                  <a:pt x="304120" y="396875"/>
                  <a:pt x="344714" y="361355"/>
                  <a:pt x="344714" y="317500"/>
                </a:cubicBezTo>
                <a:lnTo>
                  <a:pt x="435429" y="317500"/>
                </a:lnTo>
                <a:cubicBezTo>
                  <a:pt x="475456" y="317500"/>
                  <a:pt x="508000" y="345976"/>
                  <a:pt x="508000" y="381000"/>
                </a:cubicBezTo>
                <a:lnTo>
                  <a:pt x="508000" y="412750"/>
                </a:lnTo>
                <a:cubicBezTo>
                  <a:pt x="508000" y="447774"/>
                  <a:pt x="475456" y="476250"/>
                  <a:pt x="435429" y="476250"/>
                </a:cubicBezTo>
                <a:lnTo>
                  <a:pt x="72571" y="476250"/>
                </a:lnTo>
                <a:cubicBezTo>
                  <a:pt x="32544" y="476250"/>
                  <a:pt x="0" y="447774"/>
                  <a:pt x="0" y="412750"/>
                </a:cubicBezTo>
                <a:lnTo>
                  <a:pt x="0" y="381000"/>
                </a:lnTo>
                <a:cubicBezTo>
                  <a:pt x="0" y="345976"/>
                  <a:pt x="32544" y="317500"/>
                  <a:pt x="72571" y="317500"/>
                </a:cubicBezTo>
                <a:lnTo>
                  <a:pt x="163286" y="317500"/>
                </a:lnTo>
                <a:cubicBezTo>
                  <a:pt x="163286" y="361355"/>
                  <a:pt x="203880" y="396875"/>
                  <a:pt x="254000" y="396875"/>
                </a:cubicBezTo>
                <a:close/>
                <a:moveTo>
                  <a:pt x="417286" y="420688"/>
                </a:moveTo>
                <a:cubicBezTo>
                  <a:pt x="432306" y="420688"/>
                  <a:pt x="444500" y="410017"/>
                  <a:pt x="444500" y="396875"/>
                </a:cubicBezTo>
                <a:cubicBezTo>
                  <a:pt x="444500" y="383733"/>
                  <a:pt x="432306" y="373063"/>
                  <a:pt x="417286" y="373063"/>
                </a:cubicBezTo>
                <a:cubicBezTo>
                  <a:pt x="402266" y="373063"/>
                  <a:pt x="390071" y="383733"/>
                  <a:pt x="390071" y="396875"/>
                </a:cubicBezTo>
                <a:cubicBezTo>
                  <a:pt x="390071" y="410017"/>
                  <a:pt x="402266" y="420688"/>
                  <a:pt x="417286" y="420688"/>
                </a:cubicBezTo>
                <a:close/>
              </a:path>
            </a:pathLst>
          </a:custGeom>
          <a:solidFill>
            <a:srgbClr val="00FF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9880600" y="4699000"/>
            <a:ext cx="5334000" cy="609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3500" b="1" dirty="0">
                <a:solidFill>
                  <a:srgbClr val="E8EC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POST</a:t>
            </a:r>
            <a:endParaRPr lang="en-US" sz="3500" dirty="0"/>
          </a:p>
        </p:txBody>
      </p:sp>
      <p:sp>
        <p:nvSpPr>
          <p:cNvPr id="15" name="Text 13"/>
          <p:cNvSpPr/>
          <p:nvPr/>
        </p:nvSpPr>
        <p:spPr>
          <a:xfrm>
            <a:off x="9144000" y="5461000"/>
            <a:ext cx="6096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E8EC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Sends new data to the server. Used for form submissions, creating resources, and actions that </a:t>
            </a:r>
            <a:r>
              <a:rPr lang="en-US" sz="2000" b="1" dirty="0">
                <a:solidFill>
                  <a:srgbClr val="E8EC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change server state</a:t>
            </a:r>
            <a:r>
              <a:rPr lang="en-US" sz="2000" dirty="0">
                <a:solidFill>
                  <a:srgbClr val="E8EC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.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9144000" y="7112000"/>
            <a:ext cx="6096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dirty="0">
                <a:solidFill>
                  <a:srgbClr val="00D4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POST /users HTTP/1.1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16052800" y="4318000"/>
            <a:ext cx="6858000" cy="8128000"/>
          </a:xfrm>
          <a:prstGeom prst="rect">
            <a:avLst/>
          </a:prstGeom>
          <a:solidFill>
            <a:srgbClr val="1118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16052800" y="4318000"/>
            <a:ext cx="76200" cy="8128000"/>
          </a:xfrm>
          <a:prstGeom prst="rect">
            <a:avLst/>
          </a:prstGeom>
          <a:solidFill>
            <a:srgbClr val="00D4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16484600" y="46990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65385" y="226715"/>
                </a:moveTo>
                <a:cubicBezTo>
                  <a:pt x="78581" y="134441"/>
                  <a:pt x="158055" y="63500"/>
                  <a:pt x="254000" y="63500"/>
                </a:cubicBezTo>
                <a:cubicBezTo>
                  <a:pt x="306586" y="63500"/>
                  <a:pt x="354211" y="84832"/>
                  <a:pt x="388739" y="119261"/>
                </a:cubicBezTo>
                <a:cubicBezTo>
                  <a:pt x="388938" y="119459"/>
                  <a:pt x="389136" y="119658"/>
                  <a:pt x="389334" y="119856"/>
                </a:cubicBezTo>
                <a:lnTo>
                  <a:pt x="396875" y="127000"/>
                </a:lnTo>
                <a:lnTo>
                  <a:pt x="349349" y="127000"/>
                </a:lnTo>
                <a:cubicBezTo>
                  <a:pt x="331788" y="127000"/>
                  <a:pt x="317599" y="141188"/>
                  <a:pt x="317599" y="158750"/>
                </a:cubicBezTo>
                <a:cubicBezTo>
                  <a:pt x="317599" y="176312"/>
                  <a:pt x="331788" y="190500"/>
                  <a:pt x="349349" y="190500"/>
                </a:cubicBezTo>
                <a:lnTo>
                  <a:pt x="476349" y="190500"/>
                </a:lnTo>
                <a:cubicBezTo>
                  <a:pt x="493911" y="190500"/>
                  <a:pt x="508099" y="176312"/>
                  <a:pt x="508099" y="158750"/>
                </a:cubicBezTo>
                <a:lnTo>
                  <a:pt x="508099" y="31750"/>
                </a:lnTo>
                <a:cubicBezTo>
                  <a:pt x="508099" y="14188"/>
                  <a:pt x="493911" y="0"/>
                  <a:pt x="476349" y="0"/>
                </a:cubicBezTo>
                <a:cubicBezTo>
                  <a:pt x="458788" y="0"/>
                  <a:pt x="444599" y="14188"/>
                  <a:pt x="444599" y="31750"/>
                </a:cubicBezTo>
                <a:lnTo>
                  <a:pt x="444599" y="84733"/>
                </a:lnTo>
                <a:lnTo>
                  <a:pt x="433388" y="74116"/>
                </a:lnTo>
                <a:cubicBezTo>
                  <a:pt x="387449" y="28377"/>
                  <a:pt x="323949" y="0"/>
                  <a:pt x="254000" y="0"/>
                </a:cubicBezTo>
                <a:cubicBezTo>
                  <a:pt x="126008" y="0"/>
                  <a:pt x="20141" y="94655"/>
                  <a:pt x="2580" y="217785"/>
                </a:cubicBezTo>
                <a:cubicBezTo>
                  <a:pt x="99" y="235148"/>
                  <a:pt x="12105" y="251222"/>
                  <a:pt x="29468" y="253702"/>
                </a:cubicBezTo>
                <a:cubicBezTo>
                  <a:pt x="46831" y="256183"/>
                  <a:pt x="62905" y="244078"/>
                  <a:pt x="65385" y="226814"/>
                </a:cubicBezTo>
                <a:close/>
                <a:moveTo>
                  <a:pt x="505420" y="290215"/>
                </a:moveTo>
                <a:cubicBezTo>
                  <a:pt x="507901" y="272852"/>
                  <a:pt x="495796" y="256778"/>
                  <a:pt x="478532" y="254298"/>
                </a:cubicBezTo>
                <a:cubicBezTo>
                  <a:pt x="461268" y="251817"/>
                  <a:pt x="445095" y="263922"/>
                  <a:pt x="442615" y="281186"/>
                </a:cubicBezTo>
                <a:cubicBezTo>
                  <a:pt x="429419" y="373459"/>
                  <a:pt x="349945" y="444401"/>
                  <a:pt x="254000" y="444401"/>
                </a:cubicBezTo>
                <a:cubicBezTo>
                  <a:pt x="201414" y="444401"/>
                  <a:pt x="153789" y="423069"/>
                  <a:pt x="119261" y="388640"/>
                </a:cubicBezTo>
                <a:cubicBezTo>
                  <a:pt x="119062" y="388441"/>
                  <a:pt x="118864" y="388243"/>
                  <a:pt x="118666" y="388045"/>
                </a:cubicBezTo>
                <a:lnTo>
                  <a:pt x="111125" y="380901"/>
                </a:lnTo>
                <a:lnTo>
                  <a:pt x="158651" y="380901"/>
                </a:lnTo>
                <a:cubicBezTo>
                  <a:pt x="176212" y="380901"/>
                  <a:pt x="190401" y="366713"/>
                  <a:pt x="190401" y="349151"/>
                </a:cubicBezTo>
                <a:cubicBezTo>
                  <a:pt x="190401" y="331589"/>
                  <a:pt x="176212" y="317401"/>
                  <a:pt x="158651" y="317401"/>
                </a:cubicBezTo>
                <a:lnTo>
                  <a:pt x="31750" y="317500"/>
                </a:lnTo>
                <a:cubicBezTo>
                  <a:pt x="23316" y="317500"/>
                  <a:pt x="15180" y="320873"/>
                  <a:pt x="9227" y="326926"/>
                </a:cubicBezTo>
                <a:cubicBezTo>
                  <a:pt x="3274" y="332978"/>
                  <a:pt x="-99" y="341015"/>
                  <a:pt x="0" y="349548"/>
                </a:cubicBezTo>
                <a:lnTo>
                  <a:pt x="992" y="475555"/>
                </a:lnTo>
                <a:cubicBezTo>
                  <a:pt x="1091" y="493117"/>
                  <a:pt x="15478" y="507206"/>
                  <a:pt x="33040" y="507008"/>
                </a:cubicBezTo>
                <a:cubicBezTo>
                  <a:pt x="50602" y="506809"/>
                  <a:pt x="64691" y="492522"/>
                  <a:pt x="64492" y="474960"/>
                </a:cubicBezTo>
                <a:lnTo>
                  <a:pt x="64095" y="423863"/>
                </a:lnTo>
                <a:lnTo>
                  <a:pt x="74712" y="433884"/>
                </a:lnTo>
                <a:cubicBezTo>
                  <a:pt x="120650" y="479623"/>
                  <a:pt x="184051" y="508000"/>
                  <a:pt x="254000" y="508000"/>
                </a:cubicBezTo>
                <a:cubicBezTo>
                  <a:pt x="381992" y="508000"/>
                  <a:pt x="487859" y="413345"/>
                  <a:pt x="505420" y="290215"/>
                </a:cubicBezTo>
                <a:close/>
              </a:path>
            </a:pathLst>
          </a:custGeom>
          <a:solidFill>
            <a:srgbClr val="00D4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17221200" y="4699000"/>
            <a:ext cx="5334000" cy="609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3500" b="1" dirty="0">
                <a:solidFill>
                  <a:srgbClr val="E8EC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PUT</a:t>
            </a:r>
            <a:endParaRPr lang="en-US" sz="3500" dirty="0"/>
          </a:p>
        </p:txBody>
      </p:sp>
      <p:sp>
        <p:nvSpPr>
          <p:cNvPr id="21" name="Text 19"/>
          <p:cNvSpPr/>
          <p:nvPr/>
        </p:nvSpPr>
        <p:spPr>
          <a:xfrm>
            <a:off x="16484600" y="5461000"/>
            <a:ext cx="6096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E8EC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Updates existing data by </a:t>
            </a:r>
            <a:r>
              <a:rPr lang="en-US" sz="2000" b="1" dirty="0">
                <a:solidFill>
                  <a:srgbClr val="E8EC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replacing the entire resource</a:t>
            </a:r>
            <a:r>
              <a:rPr lang="en-US" sz="2000" dirty="0">
                <a:solidFill>
                  <a:srgbClr val="E8EC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. Think of it as overwriting a file with a new version.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6484600" y="7112000"/>
            <a:ext cx="6096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dirty="0">
                <a:solidFill>
                  <a:srgbClr val="00D4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PUT /users/123 HTTP/1.1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1371600" y="9144000"/>
            <a:ext cx="6858000" cy="330200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1371600" y="9144000"/>
            <a:ext cx="76200" cy="3302000"/>
          </a:xfrm>
          <a:prstGeom prst="rect">
            <a:avLst/>
          </a:prstGeom>
          <a:solidFill>
            <a:srgbClr val="4A90D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1803400" y="93980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467916" y="21530"/>
                </a:moveTo>
                <a:cubicBezTo>
                  <a:pt x="446187" y="-198"/>
                  <a:pt x="411063" y="-198"/>
                  <a:pt x="389334" y="21530"/>
                </a:cubicBezTo>
                <a:lnTo>
                  <a:pt x="365125" y="45740"/>
                </a:lnTo>
                <a:lnTo>
                  <a:pt x="462260" y="142875"/>
                </a:lnTo>
                <a:lnTo>
                  <a:pt x="486470" y="118666"/>
                </a:lnTo>
                <a:cubicBezTo>
                  <a:pt x="508198" y="96937"/>
                  <a:pt x="508198" y="61813"/>
                  <a:pt x="486470" y="40084"/>
                </a:cubicBezTo>
                <a:lnTo>
                  <a:pt x="467916" y="21530"/>
                </a:lnTo>
                <a:close/>
                <a:moveTo>
                  <a:pt x="171053" y="239812"/>
                </a:moveTo>
                <a:cubicBezTo>
                  <a:pt x="165001" y="245864"/>
                  <a:pt x="160338" y="253305"/>
                  <a:pt x="157659" y="261541"/>
                </a:cubicBezTo>
                <a:lnTo>
                  <a:pt x="128290" y="349647"/>
                </a:lnTo>
                <a:cubicBezTo>
                  <a:pt x="125413" y="358180"/>
                  <a:pt x="127695" y="367605"/>
                  <a:pt x="134045" y="374055"/>
                </a:cubicBezTo>
                <a:cubicBezTo>
                  <a:pt x="140395" y="380504"/>
                  <a:pt x="149820" y="382687"/>
                  <a:pt x="158452" y="379809"/>
                </a:cubicBezTo>
                <a:lnTo>
                  <a:pt x="246559" y="350441"/>
                </a:lnTo>
                <a:cubicBezTo>
                  <a:pt x="254695" y="347762"/>
                  <a:pt x="262136" y="343098"/>
                  <a:pt x="268288" y="337046"/>
                </a:cubicBezTo>
                <a:lnTo>
                  <a:pt x="428625" y="176510"/>
                </a:lnTo>
                <a:lnTo>
                  <a:pt x="331490" y="79375"/>
                </a:lnTo>
                <a:lnTo>
                  <a:pt x="171053" y="239812"/>
                </a:lnTo>
                <a:close/>
                <a:moveTo>
                  <a:pt x="95250" y="63500"/>
                </a:moveTo>
                <a:cubicBezTo>
                  <a:pt x="42664" y="63500"/>
                  <a:pt x="0" y="106164"/>
                  <a:pt x="0" y="158750"/>
                </a:cubicBezTo>
                <a:lnTo>
                  <a:pt x="0" y="412750"/>
                </a:lnTo>
                <a:cubicBezTo>
                  <a:pt x="0" y="465336"/>
                  <a:pt x="42664" y="508000"/>
                  <a:pt x="95250" y="508000"/>
                </a:cubicBezTo>
                <a:lnTo>
                  <a:pt x="349250" y="508000"/>
                </a:lnTo>
                <a:cubicBezTo>
                  <a:pt x="401836" y="508000"/>
                  <a:pt x="444500" y="465336"/>
                  <a:pt x="444500" y="412750"/>
                </a:cubicBezTo>
                <a:lnTo>
                  <a:pt x="444500" y="317500"/>
                </a:lnTo>
                <a:cubicBezTo>
                  <a:pt x="444500" y="299938"/>
                  <a:pt x="430312" y="285750"/>
                  <a:pt x="412750" y="285750"/>
                </a:cubicBezTo>
                <a:cubicBezTo>
                  <a:pt x="395188" y="285750"/>
                  <a:pt x="381000" y="299938"/>
                  <a:pt x="381000" y="317500"/>
                </a:cubicBezTo>
                <a:lnTo>
                  <a:pt x="381000" y="412750"/>
                </a:lnTo>
                <a:cubicBezTo>
                  <a:pt x="381000" y="430312"/>
                  <a:pt x="366812" y="444500"/>
                  <a:pt x="349250" y="444500"/>
                </a:cubicBezTo>
                <a:lnTo>
                  <a:pt x="95250" y="444500"/>
                </a:lnTo>
                <a:cubicBezTo>
                  <a:pt x="77688" y="444500"/>
                  <a:pt x="63500" y="430312"/>
                  <a:pt x="63500" y="412750"/>
                </a:cubicBezTo>
                <a:lnTo>
                  <a:pt x="63500" y="158750"/>
                </a:lnTo>
                <a:cubicBezTo>
                  <a:pt x="63500" y="141188"/>
                  <a:pt x="77688" y="127000"/>
                  <a:pt x="95250" y="127000"/>
                </a:cubicBezTo>
                <a:lnTo>
                  <a:pt x="190500" y="127000"/>
                </a:lnTo>
                <a:cubicBezTo>
                  <a:pt x="208062" y="127000"/>
                  <a:pt x="222250" y="112812"/>
                  <a:pt x="222250" y="95250"/>
                </a:cubicBezTo>
                <a:cubicBezTo>
                  <a:pt x="222250" y="77688"/>
                  <a:pt x="208062" y="63500"/>
                  <a:pt x="190500" y="63500"/>
                </a:cubicBezTo>
                <a:lnTo>
                  <a:pt x="95250" y="63500"/>
                </a:lnTo>
                <a:close/>
              </a:path>
            </a:pathLst>
          </a:custGeom>
          <a:solidFill>
            <a:srgbClr val="4A90D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2540000" y="9398000"/>
            <a:ext cx="5334000" cy="609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3500" b="1" dirty="0">
                <a:solidFill>
                  <a:srgbClr val="E8EC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PATCH</a:t>
            </a:r>
            <a:endParaRPr lang="en-US" sz="3500" dirty="0"/>
          </a:p>
        </p:txBody>
      </p:sp>
      <p:sp>
        <p:nvSpPr>
          <p:cNvPr id="27" name="Text 25"/>
          <p:cNvSpPr/>
          <p:nvPr/>
        </p:nvSpPr>
        <p:spPr>
          <a:xfrm>
            <a:off x="1803400" y="10096500"/>
            <a:ext cx="6096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E8EC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Partially updates existing data, modifying only </a:t>
            </a:r>
            <a:r>
              <a:rPr lang="en-US" sz="2000" b="1" dirty="0">
                <a:solidFill>
                  <a:srgbClr val="E8EC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specific fields</a:t>
            </a:r>
            <a:r>
              <a:rPr lang="en-US" sz="2000" dirty="0">
                <a:solidFill>
                  <a:srgbClr val="E8EC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.</a:t>
            </a:r>
            <a:endParaRPr lang="en-US" sz="2000" dirty="0"/>
          </a:p>
        </p:txBody>
      </p:sp>
      <p:sp>
        <p:nvSpPr>
          <p:cNvPr id="28" name="Shape 26"/>
          <p:cNvSpPr/>
          <p:nvPr/>
        </p:nvSpPr>
        <p:spPr>
          <a:xfrm>
            <a:off x="8712200" y="9144000"/>
            <a:ext cx="6858000" cy="3302000"/>
          </a:xfrm>
          <a:prstGeom prst="rect">
            <a:avLst/>
          </a:prstGeom>
          <a:solidFill>
            <a:srgbClr val="1118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8712200" y="9144000"/>
            <a:ext cx="76200" cy="3302000"/>
          </a:xfrm>
          <a:prstGeom prst="rect">
            <a:avLst/>
          </a:prstGeom>
          <a:solidFill>
            <a:srgbClr val="FF6B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9144000" y="93980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155008" y="5854"/>
                </a:moveTo>
                <a:lnTo>
                  <a:pt x="145143" y="31750"/>
                </a:lnTo>
                <a:lnTo>
                  <a:pt x="36286" y="31750"/>
                </a:lnTo>
                <a:cubicBezTo>
                  <a:pt x="16215" y="31750"/>
                  <a:pt x="0" y="45938"/>
                  <a:pt x="0" y="63500"/>
                </a:cubicBezTo>
                <a:cubicBezTo>
                  <a:pt x="0" y="81062"/>
                  <a:pt x="16215" y="95250"/>
                  <a:pt x="36286" y="95250"/>
                </a:cubicBezTo>
                <a:lnTo>
                  <a:pt x="471714" y="95250"/>
                </a:lnTo>
                <a:cubicBezTo>
                  <a:pt x="491785" y="95250"/>
                  <a:pt x="508000" y="81062"/>
                  <a:pt x="508000" y="63500"/>
                </a:cubicBezTo>
                <a:cubicBezTo>
                  <a:pt x="508000" y="45938"/>
                  <a:pt x="491785" y="31750"/>
                  <a:pt x="471714" y="31750"/>
                </a:cubicBezTo>
                <a:lnTo>
                  <a:pt x="362857" y="31750"/>
                </a:lnTo>
                <a:lnTo>
                  <a:pt x="352992" y="5854"/>
                </a:lnTo>
                <a:cubicBezTo>
                  <a:pt x="348003" y="-7144"/>
                  <a:pt x="334169" y="-15875"/>
                  <a:pt x="318521" y="-15875"/>
                </a:cubicBezTo>
                <a:lnTo>
                  <a:pt x="189479" y="-15875"/>
                </a:lnTo>
                <a:cubicBezTo>
                  <a:pt x="173831" y="-15875"/>
                  <a:pt x="159997" y="-7144"/>
                  <a:pt x="155008" y="5854"/>
                </a:cubicBezTo>
                <a:close/>
                <a:moveTo>
                  <a:pt x="471714" y="142875"/>
                </a:moveTo>
                <a:lnTo>
                  <a:pt x="36286" y="142875"/>
                </a:lnTo>
                <a:lnTo>
                  <a:pt x="60212" y="463451"/>
                </a:lnTo>
                <a:cubicBezTo>
                  <a:pt x="62026" y="488553"/>
                  <a:pt x="85838" y="508000"/>
                  <a:pt x="114527" y="508000"/>
                </a:cubicBezTo>
                <a:lnTo>
                  <a:pt x="393473" y="508000"/>
                </a:lnTo>
                <a:cubicBezTo>
                  <a:pt x="422162" y="508000"/>
                  <a:pt x="445974" y="488553"/>
                  <a:pt x="447788" y="463451"/>
                </a:cubicBezTo>
                <a:lnTo>
                  <a:pt x="471714" y="142875"/>
                </a:lnTo>
                <a:close/>
              </a:path>
            </a:pathLst>
          </a:custGeom>
          <a:solidFill>
            <a:srgbClr val="FF6B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9880600" y="9398000"/>
            <a:ext cx="5334000" cy="609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3500" b="1" dirty="0">
                <a:solidFill>
                  <a:srgbClr val="E8EC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DELETE</a:t>
            </a:r>
            <a:endParaRPr lang="en-US" sz="3500" dirty="0"/>
          </a:p>
        </p:txBody>
      </p:sp>
      <p:sp>
        <p:nvSpPr>
          <p:cNvPr id="32" name="Text 30"/>
          <p:cNvSpPr/>
          <p:nvPr/>
        </p:nvSpPr>
        <p:spPr>
          <a:xfrm>
            <a:off x="9144000" y="10096500"/>
            <a:ext cx="6096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E8EC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Removes data from the server. </a:t>
            </a:r>
            <a:r>
              <a:rPr lang="en-US" sz="2000" b="1" dirty="0">
                <a:solidFill>
                  <a:srgbClr val="E8EC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No request body</a:t>
            </a:r>
            <a:r>
              <a:rPr lang="en-US" sz="2000" dirty="0">
                <a:solidFill>
                  <a:srgbClr val="E8EC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is allowed.</a:t>
            </a:r>
            <a:endParaRPr lang="en-US" sz="2000" dirty="0"/>
          </a:p>
        </p:txBody>
      </p:sp>
      <p:sp>
        <p:nvSpPr>
          <p:cNvPr id="33" name="Shape 31"/>
          <p:cNvSpPr/>
          <p:nvPr/>
        </p:nvSpPr>
        <p:spPr>
          <a:xfrm>
            <a:off x="16052800" y="9144000"/>
            <a:ext cx="6858000" cy="330200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16052800" y="9144000"/>
            <a:ext cx="76200" cy="3302000"/>
          </a:xfrm>
          <a:prstGeom prst="rect">
            <a:avLst/>
          </a:prstGeom>
          <a:solidFill>
            <a:srgbClr val="8B95A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16484600" y="93980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193576" y="9426"/>
                </a:moveTo>
                <a:cubicBezTo>
                  <a:pt x="196552" y="-5259"/>
                  <a:pt x="209550" y="-15875"/>
                  <a:pt x="224631" y="-15875"/>
                </a:cubicBezTo>
                <a:lnTo>
                  <a:pt x="283964" y="-15875"/>
                </a:lnTo>
                <a:cubicBezTo>
                  <a:pt x="299045" y="-15875"/>
                  <a:pt x="312043" y="-5259"/>
                  <a:pt x="315020" y="9426"/>
                </a:cubicBezTo>
                <a:lnTo>
                  <a:pt x="329406" y="78879"/>
                </a:lnTo>
                <a:cubicBezTo>
                  <a:pt x="343396" y="84832"/>
                  <a:pt x="356493" y="92472"/>
                  <a:pt x="368399" y="101501"/>
                </a:cubicBezTo>
                <a:lnTo>
                  <a:pt x="435670" y="79177"/>
                </a:lnTo>
                <a:cubicBezTo>
                  <a:pt x="449957" y="74414"/>
                  <a:pt x="465634" y="80367"/>
                  <a:pt x="473174" y="93464"/>
                </a:cubicBezTo>
                <a:lnTo>
                  <a:pt x="502841" y="144859"/>
                </a:lnTo>
                <a:cubicBezTo>
                  <a:pt x="510381" y="157956"/>
                  <a:pt x="507702" y="174427"/>
                  <a:pt x="496391" y="184448"/>
                </a:cubicBezTo>
                <a:lnTo>
                  <a:pt x="443508" y="231477"/>
                </a:lnTo>
                <a:cubicBezTo>
                  <a:pt x="444401" y="238820"/>
                  <a:pt x="444798" y="246360"/>
                  <a:pt x="444798" y="254000"/>
                </a:cubicBezTo>
                <a:cubicBezTo>
                  <a:pt x="444798" y="261640"/>
                  <a:pt x="444302" y="269180"/>
                  <a:pt x="443508" y="276523"/>
                </a:cubicBezTo>
                <a:lnTo>
                  <a:pt x="496491" y="323652"/>
                </a:lnTo>
                <a:cubicBezTo>
                  <a:pt x="507802" y="333673"/>
                  <a:pt x="510381" y="350242"/>
                  <a:pt x="502940" y="363240"/>
                </a:cubicBezTo>
                <a:lnTo>
                  <a:pt x="473273" y="414635"/>
                </a:lnTo>
                <a:cubicBezTo>
                  <a:pt x="465733" y="427633"/>
                  <a:pt x="450056" y="433685"/>
                  <a:pt x="435769" y="428923"/>
                </a:cubicBezTo>
                <a:lnTo>
                  <a:pt x="368498" y="406598"/>
                </a:lnTo>
                <a:cubicBezTo>
                  <a:pt x="356493" y="415627"/>
                  <a:pt x="343396" y="423168"/>
                  <a:pt x="329505" y="429220"/>
                </a:cubicBezTo>
                <a:lnTo>
                  <a:pt x="315218" y="498574"/>
                </a:lnTo>
                <a:cubicBezTo>
                  <a:pt x="312142" y="513358"/>
                  <a:pt x="299145" y="523875"/>
                  <a:pt x="284162" y="523875"/>
                </a:cubicBezTo>
                <a:lnTo>
                  <a:pt x="224830" y="523875"/>
                </a:lnTo>
                <a:cubicBezTo>
                  <a:pt x="209748" y="523875"/>
                  <a:pt x="196751" y="513259"/>
                  <a:pt x="193774" y="498574"/>
                </a:cubicBezTo>
                <a:lnTo>
                  <a:pt x="179487" y="429220"/>
                </a:lnTo>
                <a:cubicBezTo>
                  <a:pt x="165497" y="423267"/>
                  <a:pt x="152499" y="415627"/>
                  <a:pt x="140494" y="406598"/>
                </a:cubicBezTo>
                <a:lnTo>
                  <a:pt x="72926" y="428923"/>
                </a:lnTo>
                <a:cubicBezTo>
                  <a:pt x="58638" y="433685"/>
                  <a:pt x="42962" y="427732"/>
                  <a:pt x="35421" y="414635"/>
                </a:cubicBezTo>
                <a:lnTo>
                  <a:pt x="5755" y="363240"/>
                </a:lnTo>
                <a:cubicBezTo>
                  <a:pt x="-1786" y="350143"/>
                  <a:pt x="893" y="333673"/>
                  <a:pt x="12204" y="323652"/>
                </a:cubicBezTo>
                <a:lnTo>
                  <a:pt x="65187" y="276523"/>
                </a:lnTo>
                <a:cubicBezTo>
                  <a:pt x="64294" y="269180"/>
                  <a:pt x="63897" y="261640"/>
                  <a:pt x="63897" y="254000"/>
                </a:cubicBezTo>
                <a:cubicBezTo>
                  <a:pt x="63897" y="246360"/>
                  <a:pt x="64393" y="238820"/>
                  <a:pt x="65187" y="231477"/>
                </a:cubicBezTo>
                <a:lnTo>
                  <a:pt x="12204" y="184348"/>
                </a:lnTo>
                <a:cubicBezTo>
                  <a:pt x="893" y="174327"/>
                  <a:pt x="-1687" y="157758"/>
                  <a:pt x="5755" y="144760"/>
                </a:cubicBezTo>
                <a:lnTo>
                  <a:pt x="35421" y="93365"/>
                </a:lnTo>
                <a:cubicBezTo>
                  <a:pt x="42962" y="80268"/>
                  <a:pt x="58638" y="74315"/>
                  <a:pt x="72926" y="79077"/>
                </a:cubicBezTo>
                <a:lnTo>
                  <a:pt x="140196" y="101402"/>
                </a:lnTo>
                <a:cubicBezTo>
                  <a:pt x="152202" y="92373"/>
                  <a:pt x="165298" y="84832"/>
                  <a:pt x="179189" y="78780"/>
                </a:cubicBezTo>
                <a:lnTo>
                  <a:pt x="193576" y="9426"/>
                </a:lnTo>
                <a:close/>
                <a:moveTo>
                  <a:pt x="254298" y="333375"/>
                </a:moveTo>
                <a:cubicBezTo>
                  <a:pt x="282656" y="333269"/>
                  <a:pt x="308803" y="318042"/>
                  <a:pt x="322890" y="293430"/>
                </a:cubicBezTo>
                <a:cubicBezTo>
                  <a:pt x="336976" y="268818"/>
                  <a:pt x="336863" y="238560"/>
                  <a:pt x="322592" y="214055"/>
                </a:cubicBezTo>
                <a:cubicBezTo>
                  <a:pt x="308321" y="189549"/>
                  <a:pt x="282060" y="174519"/>
                  <a:pt x="253702" y="174625"/>
                </a:cubicBezTo>
                <a:cubicBezTo>
                  <a:pt x="225344" y="174731"/>
                  <a:pt x="199197" y="189958"/>
                  <a:pt x="185110" y="214570"/>
                </a:cubicBezTo>
                <a:cubicBezTo>
                  <a:pt x="171024" y="239182"/>
                  <a:pt x="171137" y="269440"/>
                  <a:pt x="185408" y="293945"/>
                </a:cubicBezTo>
                <a:cubicBezTo>
                  <a:pt x="199679" y="318451"/>
                  <a:pt x="225940" y="333481"/>
                  <a:pt x="254298" y="333375"/>
                </a:cubicBezTo>
                <a:close/>
              </a:path>
            </a:pathLst>
          </a:custGeom>
          <a:solidFill>
            <a:srgbClr val="8B95A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17221200" y="9398000"/>
            <a:ext cx="5334000" cy="609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3500" b="1" dirty="0">
                <a:solidFill>
                  <a:srgbClr val="E8EC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HEAD &amp; OPTIONS</a:t>
            </a:r>
            <a:endParaRPr lang="en-US" sz="3500" dirty="0"/>
          </a:p>
        </p:txBody>
      </p:sp>
      <p:sp>
        <p:nvSpPr>
          <p:cNvPr id="37" name="Text 35"/>
          <p:cNvSpPr/>
          <p:nvPr/>
        </p:nvSpPr>
        <p:spPr>
          <a:xfrm>
            <a:off x="16484600" y="10096500"/>
            <a:ext cx="6096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E8EC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HEAD</a:t>
            </a:r>
            <a:r>
              <a:rPr lang="en-US" sz="2000" dirty="0">
                <a:solidFill>
                  <a:srgbClr val="E8EC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: Like GET but returns headers only. </a:t>
            </a:r>
            <a:r>
              <a:rPr lang="en-US" sz="2000" b="1" dirty="0">
                <a:solidFill>
                  <a:srgbClr val="E8EC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OPTIONS</a:t>
            </a:r>
            <a:r>
              <a:rPr lang="en-US" sz="2000" dirty="0">
                <a:solidFill>
                  <a:srgbClr val="E8EC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: Gets allowed methods for CORS.</a:t>
            </a:r>
            <a:endParaRPr lang="en-US" sz="2000" dirty="0"/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44600" y="1282700"/>
            <a:ext cx="10795000" cy="1079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6800" b="1" dirty="0">
                <a:solidFill>
                  <a:srgbClr val="E8EC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GET VS POST</a:t>
            </a:r>
            <a:endParaRPr lang="en-US" sz="6800" dirty="0"/>
          </a:p>
        </p:txBody>
      </p:sp>
      <p:sp>
        <p:nvSpPr>
          <p:cNvPr id="3" name="Shape 1"/>
          <p:cNvSpPr/>
          <p:nvPr/>
        </p:nvSpPr>
        <p:spPr>
          <a:xfrm>
            <a:off x="12192000" y="1498600"/>
            <a:ext cx="5334000" cy="0"/>
          </a:xfrm>
          <a:prstGeom prst="straightConnector1">
            <a:avLst/>
          </a:prstGeom>
          <a:noFill/>
          <a:ln w="9525">
            <a:solidFill>
              <a:srgbClr val="E8ECF1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8161000" y="1244600"/>
            <a:ext cx="5207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2900" kern="0" spc="400" dirty="0">
                <a:solidFill>
                  <a:srgbClr val="E8EC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PART 01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 rot="5400000">
            <a:off x="1346200" y="3835400"/>
            <a:ext cx="368300" cy="330200"/>
          </a:xfrm>
          <a:prstGeom prst="triangle">
            <a:avLst>
              <a:gd name="adj" fmla="val 50000"/>
            </a:avLst>
          </a:prstGeom>
          <a:solidFill>
            <a:srgbClr val="00D4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 rot="5400000">
            <a:off x="1854200" y="3835400"/>
            <a:ext cx="368300" cy="330200"/>
          </a:xfrm>
          <a:prstGeom prst="triangle">
            <a:avLst>
              <a:gd name="adj" fmla="val 50000"/>
            </a:avLst>
          </a:prstGeom>
          <a:solidFill>
            <a:srgbClr val="00D4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 rot="5400000">
            <a:off x="2349500" y="3835400"/>
            <a:ext cx="368300" cy="330200"/>
          </a:xfrm>
          <a:prstGeom prst="triangle">
            <a:avLst>
              <a:gd name="adj" fmla="val 50000"/>
            </a:avLst>
          </a:prstGeom>
          <a:solidFill>
            <a:srgbClr val="00D4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 rot="5400000">
            <a:off x="2857500" y="3835400"/>
            <a:ext cx="368300" cy="330200"/>
          </a:xfrm>
          <a:prstGeom prst="triangle">
            <a:avLst>
              <a:gd name="adj" fmla="val 50000"/>
            </a:avLst>
          </a:prstGeom>
          <a:solidFill>
            <a:srgbClr val="00D4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 rot="5400000">
            <a:off x="3352800" y="3835400"/>
            <a:ext cx="368300" cy="330200"/>
          </a:xfrm>
          <a:prstGeom prst="triangle">
            <a:avLst>
              <a:gd name="adj" fmla="val 50000"/>
            </a:avLst>
          </a:prstGeom>
          <a:solidFill>
            <a:srgbClr val="00D4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 rot="5400000">
            <a:off x="3860800" y="3835400"/>
            <a:ext cx="368300" cy="330200"/>
          </a:xfrm>
          <a:prstGeom prst="triangle">
            <a:avLst>
              <a:gd name="adj" fmla="val 50000"/>
            </a:avLst>
          </a:prstGeom>
          <a:solidFill>
            <a:srgbClr val="00D4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1371600" y="4826000"/>
            <a:ext cx="10160000" cy="863600"/>
          </a:xfrm>
          <a:prstGeom prst="rect">
            <a:avLst/>
          </a:prstGeom>
          <a:solidFill>
            <a:srgbClr val="1118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1371600" y="4826000"/>
            <a:ext cx="190500" cy="863600"/>
          </a:xfrm>
          <a:prstGeom prst="rect">
            <a:avLst/>
          </a:prstGeom>
          <a:solidFill>
            <a:srgbClr val="00FF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803400" y="4864100"/>
            <a:ext cx="9525000" cy="711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3500" b="1" dirty="0">
                <a:solidFill>
                  <a:srgbClr val="00FF8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Scenario:</a:t>
            </a:r>
            <a:r>
              <a:rPr lang="en-US" sz="3500" b="1" dirty="0">
                <a:solidFill>
                  <a:srgbClr val="E8EC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Search API for E-Commerce</a:t>
            </a:r>
            <a:endParaRPr lang="en-US" sz="3500" dirty="0"/>
          </a:p>
        </p:txBody>
      </p:sp>
      <p:sp>
        <p:nvSpPr>
          <p:cNvPr id="14" name="Text 12"/>
          <p:cNvSpPr/>
          <p:nvPr/>
        </p:nvSpPr>
        <p:spPr>
          <a:xfrm>
            <a:off x="1371600" y="6096000"/>
            <a:ext cx="10795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E8EC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Question:</a:t>
            </a:r>
            <a:r>
              <a:rPr lang="en-US" sz="2000" dirty="0">
                <a:solidFill>
                  <a:srgbClr val="E8EC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Which request method should be used for a search API with multiple filters?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1371600" y="7239000"/>
            <a:ext cx="5334000" cy="3556000"/>
          </a:xfrm>
          <a:prstGeom prst="rect">
            <a:avLst/>
          </a:prstGeom>
          <a:solidFill>
            <a:srgbClr val="1118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1371600" y="7239000"/>
            <a:ext cx="5334000" cy="76200"/>
          </a:xfrm>
          <a:prstGeom prst="rect">
            <a:avLst/>
          </a:prstGeom>
          <a:solidFill>
            <a:srgbClr val="00D4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701800" y="7493000"/>
            <a:ext cx="4699000" cy="609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3500" b="1" dirty="0">
                <a:solidFill>
                  <a:srgbClr val="00D4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GET Approach</a:t>
            </a:r>
            <a:endParaRPr lang="en-US" sz="3500" dirty="0"/>
          </a:p>
        </p:txBody>
      </p:sp>
      <p:sp>
        <p:nvSpPr>
          <p:cNvPr id="18" name="Text 16"/>
          <p:cNvSpPr/>
          <p:nvPr/>
        </p:nvSpPr>
        <p:spPr>
          <a:xfrm>
            <a:off x="1701800" y="8255000"/>
            <a:ext cx="4699000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E8EC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Seems appropriate, but has a </a:t>
            </a:r>
            <a:r>
              <a:rPr lang="en-US" sz="2000" b="1" dirty="0">
                <a:solidFill>
                  <a:srgbClr val="FF6B6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256-byte URL limit</a:t>
            </a:r>
            <a:r>
              <a:rPr lang="en-US" sz="2000" dirty="0">
                <a:solidFill>
                  <a:srgbClr val="E8EC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. Complex filters exceed this.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959600" y="8382000"/>
            <a:ext cx="1016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3500" b="1" dirty="0">
                <a:solidFill>
                  <a:srgbClr val="8B95A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VS</a:t>
            </a:r>
            <a:endParaRPr lang="en-US" sz="3500" dirty="0"/>
          </a:p>
        </p:txBody>
      </p:sp>
      <p:sp>
        <p:nvSpPr>
          <p:cNvPr id="20" name="Shape 18"/>
          <p:cNvSpPr/>
          <p:nvPr/>
        </p:nvSpPr>
        <p:spPr>
          <a:xfrm>
            <a:off x="8331200" y="7239000"/>
            <a:ext cx="5334000" cy="3556000"/>
          </a:xfrm>
          <a:prstGeom prst="rect">
            <a:avLst/>
          </a:prstGeom>
          <a:solidFill>
            <a:srgbClr val="1118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8331200" y="7239000"/>
            <a:ext cx="5334000" cy="76200"/>
          </a:xfrm>
          <a:prstGeom prst="rect">
            <a:avLst/>
          </a:prstGeom>
          <a:solidFill>
            <a:srgbClr val="00FF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8661400" y="7493000"/>
            <a:ext cx="4699000" cy="609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3500" b="1" dirty="0">
                <a:solidFill>
                  <a:srgbClr val="00FF8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POST Approach</a:t>
            </a:r>
            <a:endParaRPr lang="en-US" sz="3500" dirty="0"/>
          </a:p>
        </p:txBody>
      </p:sp>
      <p:sp>
        <p:nvSpPr>
          <p:cNvPr id="23" name="Text 21"/>
          <p:cNvSpPr/>
          <p:nvPr/>
        </p:nvSpPr>
        <p:spPr>
          <a:xfrm>
            <a:off x="8661400" y="8255000"/>
            <a:ext cx="4699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E8EC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 </a:t>
            </a:r>
            <a:r>
              <a:rPr lang="en-US" sz="2000" b="1" dirty="0">
                <a:solidFill>
                  <a:srgbClr val="00FF8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better choice</a:t>
            </a:r>
            <a:r>
              <a:rPr lang="en-US" sz="2000" dirty="0">
                <a:solidFill>
                  <a:srgbClr val="E8EC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for search APIs with multiple filters.</a:t>
            </a:r>
            <a:endParaRPr lang="en-US" sz="2000" dirty="0"/>
          </a:p>
          <a:p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2000" dirty="0">
                <a:solidFill>
                  <a:srgbClr val="E8EC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Filters go in the request body, not the URL — no length constraints.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1371600" y="11303000"/>
            <a:ext cx="12293600" cy="863600"/>
          </a:xfrm>
          <a:prstGeom prst="rect">
            <a:avLst/>
          </a:prstGeom>
          <a:solidFill>
            <a:srgbClr val="00FF88">
              <a:alpha val="12549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1371600" y="11303000"/>
            <a:ext cx="190500" cy="863600"/>
          </a:xfrm>
          <a:prstGeom prst="rect">
            <a:avLst/>
          </a:prstGeom>
          <a:solidFill>
            <a:srgbClr val="00FF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1803400" y="11341100"/>
            <a:ext cx="115570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00FF8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Answer:</a:t>
            </a:r>
            <a:r>
              <a:rPr lang="en-US" sz="2000" dirty="0">
                <a:solidFill>
                  <a:srgbClr val="E8EC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Use </a:t>
            </a:r>
            <a:r>
              <a:rPr lang="en-US" sz="2000" b="1" dirty="0">
                <a:solidFill>
                  <a:srgbClr val="E8EC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POST</a:t>
            </a:r>
            <a:r>
              <a:rPr lang="en-US" sz="2000" dirty="0">
                <a:solidFill>
                  <a:srgbClr val="E8EC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for complex search queries. Use </a:t>
            </a:r>
            <a:r>
              <a:rPr lang="en-US" sz="2000" b="1" dirty="0">
                <a:solidFill>
                  <a:srgbClr val="E8EC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GET</a:t>
            </a:r>
            <a:r>
              <a:rPr lang="en-US" sz="2000" dirty="0">
                <a:solidFill>
                  <a:srgbClr val="E8EC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for simple data retrieval.</a:t>
            </a:r>
            <a:endParaRPr lang="en-US" sz="2000" dirty="0"/>
          </a:p>
        </p:txBody>
      </p:sp>
      <p:pic>
        <p:nvPicPr>
          <p:cNvPr id="27" name="Image 0" descr="https://kimi-img.moonshot.cn/pub/slides/okc/dv33sntvow2p2/mnt/agents/output/http-methods-cookies/images/5_Abstract_3D_Interface_of_Web_Development.png"/>
          <p:cNvPicPr>
            <a:picLocks noChangeAspect="1"/>
          </p:cNvPicPr>
          <p:nvPr/>
        </p:nvPicPr>
        <p:blipFill>
          <a:blip r:embed="rId3">
            <a:alphaModFix amt="30000"/>
          </a:blip>
          <a:srcRect/>
          <a:stretch/>
        </p:blipFill>
        <p:spPr>
          <a:xfrm>
            <a:off x="14605000" y="4826000"/>
            <a:ext cx="8407400" cy="7340600"/>
          </a:xfrm>
          <a:prstGeom prst="rect">
            <a:avLst/>
          </a:prstGeom>
        </p:spPr>
      </p:pic>
      <p:sp>
        <p:nvSpPr>
          <p:cNvPr id="28" name="Shape 25"/>
          <p:cNvSpPr/>
          <p:nvPr/>
        </p:nvSpPr>
        <p:spPr>
          <a:xfrm>
            <a:off x="14605000" y="4826000"/>
            <a:ext cx="8407400" cy="7340600"/>
          </a:xfrm>
          <a:prstGeom prst="rect">
            <a:avLst/>
          </a:prstGeom>
          <a:gradFill flip="none" rotWithShape="1">
            <a:gsLst>
              <a:gs pos="0">
                <a:srgbClr val="0A0E1A"/>
              </a:gs>
              <a:gs pos="40000">
                <a:srgbClr val="0A0E1A">
                  <a:alpha val="50000"/>
                </a:srgbClr>
              </a:gs>
              <a:gs pos="100000">
                <a:srgbClr val="0A0E1A">
                  <a:alpha val="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gradFill flip="none" rotWithShape="1">
            <a:gsLst>
              <a:gs pos="0">
                <a:srgbClr val="111827"/>
              </a:gs>
              <a:gs pos="60000">
                <a:srgbClr val="0A0E1A"/>
              </a:gs>
              <a:gs pos="100000">
                <a:srgbClr val="0A0E1A"/>
              </a:gs>
            </a:gsLst>
            <a:path path="circle"/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9232900" y="2819400"/>
            <a:ext cx="5918200" cy="4432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ct val="120000"/>
              </a:lnSpc>
            </a:pPr>
            <a:r>
              <a:rPr lang="en-US" sz="24400" dirty="0">
                <a:solidFill>
                  <a:srgbClr val="00D4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02</a:t>
            </a:r>
            <a:endParaRPr lang="en-US" sz="24400" dirty="0"/>
          </a:p>
        </p:txBody>
      </p:sp>
      <p:sp>
        <p:nvSpPr>
          <p:cNvPr id="4" name="Shape 2"/>
          <p:cNvSpPr/>
          <p:nvPr/>
        </p:nvSpPr>
        <p:spPr>
          <a:xfrm>
            <a:off x="8382000" y="8458200"/>
            <a:ext cx="7607300" cy="0"/>
          </a:xfrm>
          <a:prstGeom prst="straightConnector1">
            <a:avLst/>
          </a:prstGeom>
          <a:noFill/>
          <a:ln w="28575">
            <a:solidFill>
              <a:srgbClr val="00D4FF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565900" y="6616700"/>
            <a:ext cx="11239500" cy="1587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ct val="120000"/>
              </a:lnSpc>
            </a:pPr>
            <a:r>
              <a:rPr lang="en-US" sz="8500" b="1" dirty="0">
                <a:solidFill>
                  <a:srgbClr val="E8EC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HTTP Headers</a:t>
            </a:r>
            <a:endParaRPr lang="en-US" sz="8500" dirty="0"/>
          </a:p>
        </p:txBody>
      </p:sp>
      <p:sp>
        <p:nvSpPr>
          <p:cNvPr id="6" name="Text 4"/>
          <p:cNvSpPr/>
          <p:nvPr/>
        </p:nvSpPr>
        <p:spPr>
          <a:xfrm>
            <a:off x="6477000" y="8763000"/>
            <a:ext cx="1143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ct val="120000"/>
              </a:lnSpc>
            </a:pPr>
            <a:r>
              <a:rPr lang="en-US" sz="3600" dirty="0">
                <a:solidFill>
                  <a:srgbClr val="8B95A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metadata behind every request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18161000" y="800100"/>
            <a:ext cx="5207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2900" kern="0" spc="400" dirty="0">
                <a:solidFill>
                  <a:srgbClr val="E8EC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PART 02</a:t>
            </a:r>
            <a:endParaRPr lang="en-US" sz="2900" dirty="0"/>
          </a:p>
        </p:txBody>
      </p:sp>
      <p:sp>
        <p:nvSpPr>
          <p:cNvPr id="8" name="Text 6"/>
          <p:cNvSpPr/>
          <p:nvPr/>
        </p:nvSpPr>
        <p:spPr>
          <a:xfrm>
            <a:off x="1016000" y="800100"/>
            <a:ext cx="110363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900" kern="0" spc="400" dirty="0">
                <a:solidFill>
                  <a:srgbClr val="E8EC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WEB COMMUNICATION</a:t>
            </a:r>
            <a:endParaRPr lang="en-US" sz="2900" dirty="0"/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44600" y="1282700"/>
            <a:ext cx="10795000" cy="1079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6800" b="1" dirty="0">
                <a:solidFill>
                  <a:srgbClr val="E8EC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HTTP HEADERS EXPLAINED</a:t>
            </a:r>
            <a:endParaRPr lang="en-US" sz="6800" dirty="0"/>
          </a:p>
        </p:txBody>
      </p:sp>
      <p:sp>
        <p:nvSpPr>
          <p:cNvPr id="3" name="Shape 1"/>
          <p:cNvSpPr/>
          <p:nvPr/>
        </p:nvSpPr>
        <p:spPr>
          <a:xfrm>
            <a:off x="12192000" y="1498600"/>
            <a:ext cx="5334000" cy="0"/>
          </a:xfrm>
          <a:prstGeom prst="straightConnector1">
            <a:avLst/>
          </a:prstGeom>
          <a:noFill/>
          <a:ln w="9525">
            <a:solidFill>
              <a:srgbClr val="E8ECF1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8161000" y="1244600"/>
            <a:ext cx="5207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2900" kern="0" spc="400" dirty="0">
                <a:solidFill>
                  <a:srgbClr val="E8EC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PART 02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 rot="5400000">
            <a:off x="1346200" y="3835400"/>
            <a:ext cx="368300" cy="330200"/>
          </a:xfrm>
          <a:prstGeom prst="triangle">
            <a:avLst>
              <a:gd name="adj" fmla="val 50000"/>
            </a:avLst>
          </a:prstGeom>
          <a:solidFill>
            <a:srgbClr val="00D4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 rot="5400000">
            <a:off x="1854200" y="3835400"/>
            <a:ext cx="368300" cy="330200"/>
          </a:xfrm>
          <a:prstGeom prst="triangle">
            <a:avLst>
              <a:gd name="adj" fmla="val 50000"/>
            </a:avLst>
          </a:prstGeom>
          <a:solidFill>
            <a:srgbClr val="00D4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 rot="5400000">
            <a:off x="2349500" y="3835400"/>
            <a:ext cx="368300" cy="330200"/>
          </a:xfrm>
          <a:prstGeom prst="triangle">
            <a:avLst>
              <a:gd name="adj" fmla="val 50000"/>
            </a:avLst>
          </a:prstGeom>
          <a:solidFill>
            <a:srgbClr val="00D4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 rot="5400000">
            <a:off x="2857500" y="3835400"/>
            <a:ext cx="368300" cy="330200"/>
          </a:xfrm>
          <a:prstGeom prst="triangle">
            <a:avLst>
              <a:gd name="adj" fmla="val 50000"/>
            </a:avLst>
          </a:prstGeom>
          <a:solidFill>
            <a:srgbClr val="00D4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 rot="5400000">
            <a:off x="3352800" y="3835400"/>
            <a:ext cx="368300" cy="330200"/>
          </a:xfrm>
          <a:prstGeom prst="triangle">
            <a:avLst>
              <a:gd name="adj" fmla="val 50000"/>
            </a:avLst>
          </a:prstGeom>
          <a:solidFill>
            <a:srgbClr val="00D4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 rot="5400000">
            <a:off x="3860800" y="3835400"/>
            <a:ext cx="368300" cy="330200"/>
          </a:xfrm>
          <a:prstGeom prst="triangle">
            <a:avLst>
              <a:gd name="adj" fmla="val 50000"/>
            </a:avLst>
          </a:prstGeom>
          <a:solidFill>
            <a:srgbClr val="00D4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1371600" y="4826000"/>
            <a:ext cx="6350000" cy="863600"/>
          </a:xfrm>
          <a:prstGeom prst="rect">
            <a:avLst/>
          </a:prstGeom>
          <a:solidFill>
            <a:srgbClr val="1118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1371600" y="4826000"/>
            <a:ext cx="190500" cy="863600"/>
          </a:xfrm>
          <a:prstGeom prst="rect">
            <a:avLst/>
          </a:prstGeom>
          <a:solidFill>
            <a:srgbClr val="00D4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803400" y="4864100"/>
            <a:ext cx="5715000" cy="711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3500" b="1" dirty="0">
                <a:solidFill>
                  <a:srgbClr val="E8EC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Headers Overview</a:t>
            </a:r>
            <a:endParaRPr lang="en-US" sz="3500" dirty="0"/>
          </a:p>
        </p:txBody>
      </p:sp>
      <p:sp>
        <p:nvSpPr>
          <p:cNvPr id="14" name="Text 12"/>
          <p:cNvSpPr/>
          <p:nvPr/>
        </p:nvSpPr>
        <p:spPr>
          <a:xfrm>
            <a:off x="1371600" y="6096000"/>
            <a:ext cx="10795000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E8EC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HTTP headers are </a:t>
            </a:r>
            <a:r>
              <a:rPr lang="en-US" sz="2000" b="1" dirty="0">
                <a:solidFill>
                  <a:srgbClr val="E8EC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key-value pairs</a:t>
            </a:r>
            <a:r>
              <a:rPr lang="en-US" sz="2000" dirty="0">
                <a:solidFill>
                  <a:srgbClr val="E8EC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sent between the client and server to provide additional information about the request or response.</a:t>
            </a:r>
            <a:endParaRPr lang="en-US" sz="2000" dirty="0"/>
          </a:p>
          <a:p>
            <a:pPr algn="l">
              <a:lnSpc>
                <a:spcPct val="160000"/>
              </a:lnSpc>
              <a:spcBef>
                <a:spcPts val="1200"/>
              </a:spcBef>
            </a:pPr>
            <a:r>
              <a:rPr lang="en-US" sz="2000" dirty="0">
                <a:solidFill>
                  <a:srgbClr val="E8EC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Two main types: </a:t>
            </a:r>
            <a:r>
              <a:rPr lang="en-US" sz="2000" b="1" dirty="0">
                <a:solidFill>
                  <a:srgbClr val="00D4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Request Headers</a:t>
            </a:r>
            <a:r>
              <a:rPr lang="en-US" sz="2000" dirty="0">
                <a:solidFill>
                  <a:srgbClr val="E8EC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(client → server) and </a:t>
            </a:r>
            <a:r>
              <a:rPr lang="en-US" sz="2000" b="1" dirty="0">
                <a:solidFill>
                  <a:srgbClr val="00FF8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Response Headers</a:t>
            </a:r>
            <a:r>
              <a:rPr lang="en-US" sz="2000" dirty="0">
                <a:solidFill>
                  <a:srgbClr val="E8EC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(server → client).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1371600" y="9144000"/>
            <a:ext cx="10795000" cy="3048000"/>
          </a:xfrm>
          <a:prstGeom prst="rect">
            <a:avLst/>
          </a:prstGeom>
          <a:solidFill>
            <a:srgbClr val="1118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1371600" y="9144000"/>
            <a:ext cx="190500" cy="3048000"/>
          </a:xfrm>
          <a:prstGeom prst="rect">
            <a:avLst/>
          </a:prstGeom>
          <a:solidFill>
            <a:srgbClr val="00FF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803400" y="9271000"/>
            <a:ext cx="5080000" cy="609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3500" b="1" dirty="0">
                <a:solidFill>
                  <a:srgbClr val="00FF8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Why Headers Matter</a:t>
            </a:r>
            <a:endParaRPr lang="en-US" sz="3500" dirty="0"/>
          </a:p>
        </p:txBody>
      </p:sp>
      <p:sp>
        <p:nvSpPr>
          <p:cNvPr id="18" name="Text 16"/>
          <p:cNvSpPr/>
          <p:nvPr/>
        </p:nvSpPr>
        <p:spPr>
          <a:xfrm>
            <a:off x="1803400" y="10033000"/>
            <a:ext cx="100330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E8EC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HTTP is a </a:t>
            </a:r>
            <a:r>
              <a:rPr lang="en-US" sz="2000" b="1" dirty="0">
                <a:solidFill>
                  <a:srgbClr val="E8EC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stateless protocol</a:t>
            </a:r>
            <a:r>
              <a:rPr lang="en-US" sz="2000" dirty="0">
                <a:solidFill>
                  <a:srgbClr val="E8EC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the server doesn't retain session info. Headers provide metadata to make requests stateful, enabling:</a:t>
            </a:r>
            <a:endParaRPr lang="en-US" sz="2000" dirty="0"/>
          </a:p>
          <a:p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2000" dirty="0">
                <a:solidFill>
                  <a:srgbClr val="00D4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■</a:t>
            </a:r>
            <a:r>
              <a:rPr lang="en-US" sz="2000" dirty="0">
                <a:solidFill>
                  <a:srgbClr val="E8EC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Authentication  </a:t>
            </a:r>
            <a:r>
              <a:rPr lang="en-US" sz="2000" dirty="0">
                <a:solidFill>
                  <a:srgbClr val="00D4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■</a:t>
            </a:r>
            <a:r>
              <a:rPr lang="en-US" sz="2000" dirty="0">
                <a:solidFill>
                  <a:srgbClr val="E8EC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Caching  </a:t>
            </a:r>
            <a:r>
              <a:rPr lang="en-US" sz="2000" dirty="0">
                <a:solidFill>
                  <a:srgbClr val="00D4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■</a:t>
            </a:r>
            <a:r>
              <a:rPr lang="en-US" sz="2000" dirty="0">
                <a:solidFill>
                  <a:srgbClr val="E8EC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Content Negotiation  </a:t>
            </a:r>
            <a:r>
              <a:rPr lang="en-US" sz="2000" dirty="0">
                <a:solidFill>
                  <a:srgbClr val="00D4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■</a:t>
            </a:r>
            <a:r>
              <a:rPr lang="en-US" sz="2000" dirty="0">
                <a:solidFill>
                  <a:srgbClr val="E8EC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Real-time Communication</a:t>
            </a:r>
            <a:endParaRPr lang="en-US" sz="2000" dirty="0"/>
          </a:p>
        </p:txBody>
      </p:sp>
      <p:pic>
        <p:nvPicPr>
          <p:cNvPr id="19" name="Image 0" descr="https://kimi-img.moonshot.cn/pub/slides/okc/dv33sntvow2p2/mnt/agents/output/http-methods-cookies/images/2_Ethernet_blue_network_stock_illustration.png"/>
          <p:cNvPicPr>
            <a:picLocks noChangeAspect="1"/>
          </p:cNvPicPr>
          <p:nvPr/>
        </p:nvPicPr>
        <p:blipFill>
          <a:blip r:embed="rId3">
            <a:alphaModFix amt="35000"/>
          </a:blip>
          <a:srcRect/>
          <a:stretch/>
        </p:blipFill>
        <p:spPr>
          <a:xfrm>
            <a:off x="12954000" y="4826000"/>
            <a:ext cx="10058400" cy="7366000"/>
          </a:xfrm>
          <a:prstGeom prst="rect">
            <a:avLst/>
          </a:prstGeom>
        </p:spPr>
      </p:pic>
      <p:sp>
        <p:nvSpPr>
          <p:cNvPr id="20" name="Shape 17"/>
          <p:cNvSpPr/>
          <p:nvPr/>
        </p:nvSpPr>
        <p:spPr>
          <a:xfrm>
            <a:off x="12954000" y="4826000"/>
            <a:ext cx="10058400" cy="7366000"/>
          </a:xfrm>
          <a:prstGeom prst="rect">
            <a:avLst/>
          </a:prstGeom>
          <a:gradFill flip="none" rotWithShape="1">
            <a:gsLst>
              <a:gs pos="0">
                <a:srgbClr val="0A0E1A"/>
              </a:gs>
              <a:gs pos="40000">
                <a:srgbClr val="0A0E1A">
                  <a:alpha val="50000"/>
                </a:srgbClr>
              </a:gs>
              <a:gs pos="100000">
                <a:srgbClr val="0A0E1A">
                  <a:alpha val="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44600" y="1282700"/>
            <a:ext cx="10795000" cy="1079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6800" b="1" dirty="0">
                <a:solidFill>
                  <a:srgbClr val="E8EC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REQUEST HEADERS</a:t>
            </a:r>
            <a:endParaRPr lang="en-US" sz="6800" dirty="0"/>
          </a:p>
        </p:txBody>
      </p:sp>
      <p:sp>
        <p:nvSpPr>
          <p:cNvPr id="3" name="Shape 1"/>
          <p:cNvSpPr/>
          <p:nvPr/>
        </p:nvSpPr>
        <p:spPr>
          <a:xfrm>
            <a:off x="12192000" y="1498600"/>
            <a:ext cx="5334000" cy="0"/>
          </a:xfrm>
          <a:prstGeom prst="straightConnector1">
            <a:avLst/>
          </a:prstGeom>
          <a:noFill/>
          <a:ln w="9525">
            <a:solidFill>
              <a:srgbClr val="E8ECF1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8161000" y="1244600"/>
            <a:ext cx="5207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2900" kern="0" spc="400" dirty="0">
                <a:solidFill>
                  <a:srgbClr val="E8EC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PART 02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 rot="5400000">
            <a:off x="1346200" y="3835400"/>
            <a:ext cx="368300" cy="330200"/>
          </a:xfrm>
          <a:prstGeom prst="triangle">
            <a:avLst>
              <a:gd name="adj" fmla="val 50000"/>
            </a:avLst>
          </a:prstGeom>
          <a:solidFill>
            <a:srgbClr val="00D4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 rot="5400000">
            <a:off x="1854200" y="3835400"/>
            <a:ext cx="368300" cy="330200"/>
          </a:xfrm>
          <a:prstGeom prst="triangle">
            <a:avLst>
              <a:gd name="adj" fmla="val 50000"/>
            </a:avLst>
          </a:prstGeom>
          <a:solidFill>
            <a:srgbClr val="00D4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 rot="5400000">
            <a:off x="2349500" y="3835400"/>
            <a:ext cx="368300" cy="330200"/>
          </a:xfrm>
          <a:prstGeom prst="triangle">
            <a:avLst>
              <a:gd name="adj" fmla="val 50000"/>
            </a:avLst>
          </a:prstGeom>
          <a:solidFill>
            <a:srgbClr val="00D4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 rot="5400000">
            <a:off x="2857500" y="3835400"/>
            <a:ext cx="368300" cy="330200"/>
          </a:xfrm>
          <a:prstGeom prst="triangle">
            <a:avLst>
              <a:gd name="adj" fmla="val 50000"/>
            </a:avLst>
          </a:prstGeom>
          <a:solidFill>
            <a:srgbClr val="00D4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 rot="5400000">
            <a:off x="3352800" y="3835400"/>
            <a:ext cx="368300" cy="330200"/>
          </a:xfrm>
          <a:prstGeom prst="triangle">
            <a:avLst>
              <a:gd name="adj" fmla="val 50000"/>
            </a:avLst>
          </a:prstGeom>
          <a:solidFill>
            <a:srgbClr val="00D4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 rot="5400000">
            <a:off x="3860800" y="3835400"/>
            <a:ext cx="368300" cy="330200"/>
          </a:xfrm>
          <a:prstGeom prst="triangle">
            <a:avLst>
              <a:gd name="adj" fmla="val 50000"/>
            </a:avLst>
          </a:prstGeom>
          <a:solidFill>
            <a:srgbClr val="00D4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371600" y="4826000"/>
            <a:ext cx="825500" cy="711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ct val="120000"/>
              </a:lnSpc>
            </a:pPr>
            <a:r>
              <a:rPr lang="en-US" sz="3500" dirty="0">
                <a:solidFill>
                  <a:srgbClr val="00D4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01</a:t>
            </a:r>
            <a:endParaRPr lang="en-US" sz="3500" dirty="0"/>
          </a:p>
        </p:txBody>
      </p:sp>
      <p:sp>
        <p:nvSpPr>
          <p:cNvPr id="12" name="Shape 10"/>
          <p:cNvSpPr/>
          <p:nvPr/>
        </p:nvSpPr>
        <p:spPr>
          <a:xfrm>
            <a:off x="2286000" y="5181600"/>
            <a:ext cx="508000" cy="0"/>
          </a:xfrm>
          <a:prstGeom prst="straightConnector1">
            <a:avLst/>
          </a:prstGeom>
          <a:noFill/>
          <a:ln w="38100">
            <a:solidFill>
              <a:srgbClr val="00D4FF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921000" y="4826000"/>
            <a:ext cx="3810000" cy="609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3500" b="1" dirty="0">
                <a:solidFill>
                  <a:srgbClr val="E8EC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Connection</a:t>
            </a:r>
            <a:endParaRPr lang="en-US" sz="3500" dirty="0"/>
          </a:p>
        </p:txBody>
      </p:sp>
      <p:sp>
        <p:nvSpPr>
          <p:cNvPr id="14" name="Text 12"/>
          <p:cNvSpPr/>
          <p:nvPr/>
        </p:nvSpPr>
        <p:spPr>
          <a:xfrm>
            <a:off x="2921000" y="5537200"/>
            <a:ext cx="20066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E8EC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Keep-Alive / Close</a:t>
            </a:r>
            <a:r>
              <a:rPr lang="en-US" sz="2000" dirty="0">
                <a:solidFill>
                  <a:srgbClr val="E8EC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Allows HTTP connection to persist. If Keep-Alive is set, subsequent requests don't need a new connection. Can be used for SSE.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371600" y="6731000"/>
            <a:ext cx="825500" cy="711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ct val="120000"/>
              </a:lnSpc>
            </a:pPr>
            <a:r>
              <a:rPr lang="en-US" sz="3500" dirty="0">
                <a:solidFill>
                  <a:srgbClr val="00D4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02</a:t>
            </a:r>
            <a:endParaRPr lang="en-US" sz="3500" dirty="0"/>
          </a:p>
        </p:txBody>
      </p:sp>
      <p:sp>
        <p:nvSpPr>
          <p:cNvPr id="16" name="Shape 14"/>
          <p:cNvSpPr/>
          <p:nvPr/>
        </p:nvSpPr>
        <p:spPr>
          <a:xfrm>
            <a:off x="2286000" y="7086600"/>
            <a:ext cx="508000" cy="0"/>
          </a:xfrm>
          <a:prstGeom prst="straightConnector1">
            <a:avLst/>
          </a:prstGeom>
          <a:noFill/>
          <a:ln w="38100">
            <a:solidFill>
              <a:srgbClr val="00D4FF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2921000" y="6731000"/>
            <a:ext cx="3810000" cy="609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3500" b="1" dirty="0">
                <a:solidFill>
                  <a:srgbClr val="E8EC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Accept</a:t>
            </a:r>
            <a:endParaRPr lang="en-US" sz="3500" dirty="0"/>
          </a:p>
        </p:txBody>
      </p:sp>
      <p:sp>
        <p:nvSpPr>
          <p:cNvPr id="18" name="Text 16"/>
          <p:cNvSpPr/>
          <p:nvPr/>
        </p:nvSpPr>
        <p:spPr>
          <a:xfrm>
            <a:off x="2921000" y="7442200"/>
            <a:ext cx="20066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E8EC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Specifies the types of content the client can process. </a:t>
            </a:r>
            <a:r>
              <a:rPr lang="en-US" sz="2000" dirty="0">
                <a:solidFill>
                  <a:srgbClr val="00D4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Example: Accept: text/html, application/json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371600" y="8636000"/>
            <a:ext cx="825500" cy="711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ct val="120000"/>
              </a:lnSpc>
            </a:pPr>
            <a:r>
              <a:rPr lang="en-US" sz="3500" dirty="0">
                <a:solidFill>
                  <a:srgbClr val="00D4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03</a:t>
            </a:r>
            <a:endParaRPr lang="en-US" sz="3500" dirty="0"/>
          </a:p>
        </p:txBody>
      </p:sp>
      <p:sp>
        <p:nvSpPr>
          <p:cNvPr id="20" name="Shape 18"/>
          <p:cNvSpPr/>
          <p:nvPr/>
        </p:nvSpPr>
        <p:spPr>
          <a:xfrm>
            <a:off x="2286000" y="8991600"/>
            <a:ext cx="508000" cy="0"/>
          </a:xfrm>
          <a:prstGeom prst="straightConnector1">
            <a:avLst/>
          </a:prstGeom>
          <a:noFill/>
          <a:ln w="38100">
            <a:solidFill>
              <a:srgbClr val="00D4FF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2921000" y="8636000"/>
            <a:ext cx="3810000" cy="609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3500" b="1" dirty="0">
                <a:solidFill>
                  <a:srgbClr val="E8EC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Authorization</a:t>
            </a:r>
            <a:endParaRPr lang="en-US" sz="3500" dirty="0"/>
          </a:p>
        </p:txBody>
      </p:sp>
      <p:sp>
        <p:nvSpPr>
          <p:cNvPr id="22" name="Text 20"/>
          <p:cNvSpPr/>
          <p:nvPr/>
        </p:nvSpPr>
        <p:spPr>
          <a:xfrm>
            <a:off x="2921000" y="9347200"/>
            <a:ext cx="20066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E8EC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Contains credentials for authenticating the client. </a:t>
            </a:r>
            <a:r>
              <a:rPr lang="en-US" sz="2000" dirty="0">
                <a:solidFill>
                  <a:srgbClr val="00D4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Example: Authorization: Bearer &lt;token&gt;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1371600" y="10541000"/>
            <a:ext cx="825500" cy="711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ct val="120000"/>
              </a:lnSpc>
            </a:pPr>
            <a:r>
              <a:rPr lang="en-US" sz="3500" dirty="0">
                <a:solidFill>
                  <a:srgbClr val="00D4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04</a:t>
            </a:r>
            <a:endParaRPr lang="en-US" sz="3500" dirty="0"/>
          </a:p>
        </p:txBody>
      </p:sp>
      <p:sp>
        <p:nvSpPr>
          <p:cNvPr id="24" name="Shape 22"/>
          <p:cNvSpPr/>
          <p:nvPr/>
        </p:nvSpPr>
        <p:spPr>
          <a:xfrm>
            <a:off x="2286000" y="10896600"/>
            <a:ext cx="508000" cy="0"/>
          </a:xfrm>
          <a:prstGeom prst="straightConnector1">
            <a:avLst/>
          </a:prstGeom>
          <a:noFill/>
          <a:ln w="38100">
            <a:solidFill>
              <a:srgbClr val="00D4FF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2921000" y="10541000"/>
            <a:ext cx="4826000" cy="609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3500" b="1" dirty="0">
                <a:solidFill>
                  <a:srgbClr val="E8EC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Cookie &amp; User-Agent</a:t>
            </a:r>
            <a:endParaRPr lang="en-US" sz="3500" dirty="0"/>
          </a:p>
        </p:txBody>
      </p:sp>
      <p:sp>
        <p:nvSpPr>
          <p:cNvPr id="26" name="Text 24"/>
          <p:cNvSpPr/>
          <p:nvPr/>
        </p:nvSpPr>
        <p:spPr>
          <a:xfrm>
            <a:off x="2921000" y="11252200"/>
            <a:ext cx="20066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E8EC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Cookie</a:t>
            </a:r>
            <a:r>
              <a:rPr lang="en-US" sz="2000" dirty="0">
                <a:solidFill>
                  <a:srgbClr val="E8EC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: Sends stored cookies to the server. </a:t>
            </a:r>
            <a:r>
              <a:rPr lang="en-US" sz="2000" b="1" dirty="0">
                <a:solidFill>
                  <a:srgbClr val="E8EC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User-Agent</a:t>
            </a:r>
            <a:r>
              <a:rPr lang="en-US" sz="2000" dirty="0">
                <a:solidFill>
                  <a:srgbClr val="E8EC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: Provides client information. </a:t>
            </a:r>
            <a:r>
              <a:rPr lang="en-US" sz="2000" dirty="0">
                <a:solidFill>
                  <a:srgbClr val="00D4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Example: Cookie: sessionId=abc123</a:t>
            </a:r>
            <a:endParaRPr lang="en-US" sz="2000" dirty="0"/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44600" y="1282700"/>
            <a:ext cx="10795000" cy="1079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6800" b="1" dirty="0">
                <a:solidFill>
                  <a:srgbClr val="E8EC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RESPONSE HEADERS</a:t>
            </a:r>
            <a:endParaRPr lang="en-US" sz="6800" dirty="0"/>
          </a:p>
        </p:txBody>
      </p:sp>
      <p:sp>
        <p:nvSpPr>
          <p:cNvPr id="3" name="Shape 1"/>
          <p:cNvSpPr/>
          <p:nvPr/>
        </p:nvSpPr>
        <p:spPr>
          <a:xfrm>
            <a:off x="12192000" y="1498600"/>
            <a:ext cx="5334000" cy="0"/>
          </a:xfrm>
          <a:prstGeom prst="straightConnector1">
            <a:avLst/>
          </a:prstGeom>
          <a:noFill/>
          <a:ln w="9525">
            <a:solidFill>
              <a:srgbClr val="E8ECF1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8161000" y="1244600"/>
            <a:ext cx="5207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2900" kern="0" spc="400" dirty="0">
                <a:solidFill>
                  <a:srgbClr val="E8EC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PART 02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 rot="5400000">
            <a:off x="1346200" y="3835400"/>
            <a:ext cx="368300" cy="330200"/>
          </a:xfrm>
          <a:prstGeom prst="triangle">
            <a:avLst>
              <a:gd name="adj" fmla="val 50000"/>
            </a:avLst>
          </a:prstGeom>
          <a:solidFill>
            <a:srgbClr val="00D4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 rot="5400000">
            <a:off x="1854200" y="3835400"/>
            <a:ext cx="368300" cy="330200"/>
          </a:xfrm>
          <a:prstGeom prst="triangle">
            <a:avLst>
              <a:gd name="adj" fmla="val 50000"/>
            </a:avLst>
          </a:prstGeom>
          <a:solidFill>
            <a:srgbClr val="00D4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 rot="5400000">
            <a:off x="2349500" y="3835400"/>
            <a:ext cx="368300" cy="330200"/>
          </a:xfrm>
          <a:prstGeom prst="triangle">
            <a:avLst>
              <a:gd name="adj" fmla="val 50000"/>
            </a:avLst>
          </a:prstGeom>
          <a:solidFill>
            <a:srgbClr val="00D4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 rot="5400000">
            <a:off x="2857500" y="3835400"/>
            <a:ext cx="368300" cy="330200"/>
          </a:xfrm>
          <a:prstGeom prst="triangle">
            <a:avLst>
              <a:gd name="adj" fmla="val 50000"/>
            </a:avLst>
          </a:prstGeom>
          <a:solidFill>
            <a:srgbClr val="00D4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 rot="5400000">
            <a:off x="3352800" y="3835400"/>
            <a:ext cx="368300" cy="330200"/>
          </a:xfrm>
          <a:prstGeom prst="triangle">
            <a:avLst>
              <a:gd name="adj" fmla="val 50000"/>
            </a:avLst>
          </a:prstGeom>
          <a:solidFill>
            <a:srgbClr val="00D4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 rot="5400000">
            <a:off x="3860800" y="3835400"/>
            <a:ext cx="368300" cy="330200"/>
          </a:xfrm>
          <a:prstGeom prst="triangle">
            <a:avLst>
              <a:gd name="adj" fmla="val 50000"/>
            </a:avLst>
          </a:prstGeom>
          <a:solidFill>
            <a:srgbClr val="00D4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1371600" y="4826000"/>
            <a:ext cx="6858000" cy="3810000"/>
          </a:xfrm>
          <a:prstGeom prst="rect">
            <a:avLst/>
          </a:prstGeom>
          <a:solidFill>
            <a:srgbClr val="1118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1371600" y="4826000"/>
            <a:ext cx="76200" cy="3810000"/>
          </a:xfrm>
          <a:prstGeom prst="rect">
            <a:avLst/>
          </a:prstGeom>
          <a:solidFill>
            <a:srgbClr val="00FF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1803400" y="50800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55488" y="27384"/>
                </a:moveTo>
                <a:cubicBezTo>
                  <a:pt x="254695" y="22027"/>
                  <a:pt x="250627" y="17661"/>
                  <a:pt x="245269" y="16867"/>
                </a:cubicBezTo>
                <a:cubicBezTo>
                  <a:pt x="223341" y="13791"/>
                  <a:pt x="201017" y="17760"/>
                  <a:pt x="181372" y="28178"/>
                </a:cubicBezTo>
                <a:lnTo>
                  <a:pt x="107950" y="67370"/>
                </a:lnTo>
                <a:cubicBezTo>
                  <a:pt x="88404" y="77788"/>
                  <a:pt x="72628" y="94159"/>
                  <a:pt x="62905" y="114102"/>
                </a:cubicBezTo>
                <a:lnTo>
                  <a:pt x="26491" y="189111"/>
                </a:lnTo>
                <a:cubicBezTo>
                  <a:pt x="16768" y="209054"/>
                  <a:pt x="13593" y="231676"/>
                  <a:pt x="17463" y="253504"/>
                </a:cubicBezTo>
                <a:lnTo>
                  <a:pt x="31849" y="335657"/>
                </a:lnTo>
                <a:cubicBezTo>
                  <a:pt x="35719" y="357584"/>
                  <a:pt x="46335" y="377627"/>
                  <a:pt x="62309" y="393105"/>
                </a:cubicBezTo>
                <a:lnTo>
                  <a:pt x="122138" y="451048"/>
                </a:lnTo>
                <a:cubicBezTo>
                  <a:pt x="138113" y="466527"/>
                  <a:pt x="158452" y="476448"/>
                  <a:pt x="180380" y="479524"/>
                </a:cubicBezTo>
                <a:lnTo>
                  <a:pt x="262731" y="491133"/>
                </a:lnTo>
                <a:cubicBezTo>
                  <a:pt x="284659" y="494209"/>
                  <a:pt x="306983" y="490240"/>
                  <a:pt x="326628" y="479822"/>
                </a:cubicBezTo>
                <a:lnTo>
                  <a:pt x="400050" y="440630"/>
                </a:lnTo>
                <a:cubicBezTo>
                  <a:pt x="419596" y="430213"/>
                  <a:pt x="435372" y="413841"/>
                  <a:pt x="445095" y="393799"/>
                </a:cubicBezTo>
                <a:lnTo>
                  <a:pt x="481509" y="318889"/>
                </a:lnTo>
                <a:cubicBezTo>
                  <a:pt x="491232" y="298946"/>
                  <a:pt x="494407" y="276324"/>
                  <a:pt x="490538" y="254496"/>
                </a:cubicBezTo>
                <a:cubicBezTo>
                  <a:pt x="489645" y="249237"/>
                  <a:pt x="485279" y="245269"/>
                  <a:pt x="480020" y="244475"/>
                </a:cubicBezTo>
                <a:cubicBezTo>
                  <a:pt x="428923" y="236339"/>
                  <a:pt x="387945" y="197743"/>
                  <a:pt x="376337" y="147836"/>
                </a:cubicBezTo>
                <a:cubicBezTo>
                  <a:pt x="374551" y="140295"/>
                  <a:pt x="368399" y="134541"/>
                  <a:pt x="360759" y="133350"/>
                </a:cubicBezTo>
                <a:cubicBezTo>
                  <a:pt x="306586" y="124718"/>
                  <a:pt x="263823" y="81756"/>
                  <a:pt x="255389" y="27384"/>
                </a:cubicBezTo>
                <a:close/>
                <a:moveTo>
                  <a:pt x="206375" y="142875"/>
                </a:moveTo>
                <a:cubicBezTo>
                  <a:pt x="223898" y="142875"/>
                  <a:pt x="238125" y="157102"/>
                  <a:pt x="238125" y="174625"/>
                </a:cubicBezTo>
                <a:cubicBezTo>
                  <a:pt x="238125" y="192148"/>
                  <a:pt x="223898" y="206375"/>
                  <a:pt x="206375" y="206375"/>
                </a:cubicBezTo>
                <a:cubicBezTo>
                  <a:pt x="188852" y="206375"/>
                  <a:pt x="174625" y="192148"/>
                  <a:pt x="174625" y="174625"/>
                </a:cubicBezTo>
                <a:cubicBezTo>
                  <a:pt x="174625" y="157102"/>
                  <a:pt x="188852" y="142875"/>
                  <a:pt x="206375" y="142875"/>
                </a:cubicBezTo>
                <a:close/>
                <a:moveTo>
                  <a:pt x="142875" y="333375"/>
                </a:moveTo>
                <a:cubicBezTo>
                  <a:pt x="142875" y="315852"/>
                  <a:pt x="157102" y="301625"/>
                  <a:pt x="174625" y="301625"/>
                </a:cubicBezTo>
                <a:cubicBezTo>
                  <a:pt x="192148" y="301625"/>
                  <a:pt x="206375" y="315852"/>
                  <a:pt x="206375" y="333375"/>
                </a:cubicBezTo>
                <a:cubicBezTo>
                  <a:pt x="206375" y="350898"/>
                  <a:pt x="192148" y="365125"/>
                  <a:pt x="174625" y="365125"/>
                </a:cubicBezTo>
                <a:cubicBezTo>
                  <a:pt x="157102" y="365125"/>
                  <a:pt x="142875" y="350898"/>
                  <a:pt x="142875" y="333375"/>
                </a:cubicBezTo>
                <a:close/>
                <a:moveTo>
                  <a:pt x="365125" y="269875"/>
                </a:moveTo>
                <a:cubicBezTo>
                  <a:pt x="382648" y="269875"/>
                  <a:pt x="396875" y="284102"/>
                  <a:pt x="396875" y="301625"/>
                </a:cubicBezTo>
                <a:cubicBezTo>
                  <a:pt x="396875" y="319148"/>
                  <a:pt x="382648" y="333375"/>
                  <a:pt x="365125" y="333375"/>
                </a:cubicBezTo>
                <a:cubicBezTo>
                  <a:pt x="347602" y="333375"/>
                  <a:pt x="333375" y="319148"/>
                  <a:pt x="333375" y="301625"/>
                </a:cubicBezTo>
                <a:cubicBezTo>
                  <a:pt x="333375" y="284102"/>
                  <a:pt x="347602" y="269875"/>
                  <a:pt x="365125" y="269875"/>
                </a:cubicBezTo>
                <a:close/>
              </a:path>
            </a:pathLst>
          </a:custGeom>
          <a:solidFill>
            <a:srgbClr val="00FF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2540000" y="5080000"/>
            <a:ext cx="5334000" cy="609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3500" b="1" dirty="0">
                <a:solidFill>
                  <a:srgbClr val="E8EC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Set-Cookie</a:t>
            </a:r>
            <a:endParaRPr lang="en-US" sz="3500" dirty="0"/>
          </a:p>
        </p:txBody>
      </p:sp>
      <p:sp>
        <p:nvSpPr>
          <p:cNvPr id="15" name="Text 13"/>
          <p:cNvSpPr/>
          <p:nvPr/>
        </p:nvSpPr>
        <p:spPr>
          <a:xfrm>
            <a:off x="1803400" y="5842000"/>
            <a:ext cx="6096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E8EC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Used by the server to set cookies on the client browser.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803400" y="7366000"/>
            <a:ext cx="6096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dirty="0">
                <a:solidFill>
                  <a:srgbClr val="00D4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Set-Cookie: sessionId=abc123; HttpOnly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8712200" y="4826000"/>
            <a:ext cx="6858000" cy="381000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8712200" y="4826000"/>
            <a:ext cx="76200" cy="3810000"/>
          </a:xfrm>
          <a:prstGeom prst="rect">
            <a:avLst/>
          </a:prstGeom>
          <a:solidFill>
            <a:srgbClr val="00D4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9144000" y="50800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0" y="63500"/>
                </a:moveTo>
                <a:cubicBezTo>
                  <a:pt x="0" y="28476"/>
                  <a:pt x="37968" y="0"/>
                  <a:pt x="84667" y="0"/>
                </a:cubicBezTo>
                <a:lnTo>
                  <a:pt x="282443" y="0"/>
                </a:lnTo>
                <a:cubicBezTo>
                  <a:pt x="304932" y="0"/>
                  <a:pt x="326496" y="6648"/>
                  <a:pt x="342371" y="18554"/>
                </a:cubicBezTo>
                <a:lnTo>
                  <a:pt x="483261" y="124321"/>
                </a:lnTo>
                <a:cubicBezTo>
                  <a:pt x="499136" y="136227"/>
                  <a:pt x="508000" y="152400"/>
                  <a:pt x="508000" y="169267"/>
                </a:cubicBezTo>
                <a:lnTo>
                  <a:pt x="508000" y="444500"/>
                </a:lnTo>
                <a:cubicBezTo>
                  <a:pt x="508000" y="479524"/>
                  <a:pt x="470032" y="508000"/>
                  <a:pt x="423333" y="508000"/>
                </a:cubicBezTo>
                <a:lnTo>
                  <a:pt x="84667" y="508000"/>
                </a:lnTo>
                <a:cubicBezTo>
                  <a:pt x="37968" y="508000"/>
                  <a:pt x="0" y="479524"/>
                  <a:pt x="0" y="444500"/>
                </a:cubicBezTo>
                <a:lnTo>
                  <a:pt x="0" y="63500"/>
                </a:lnTo>
                <a:close/>
                <a:moveTo>
                  <a:pt x="275167" y="58043"/>
                </a:moveTo>
                <a:lnTo>
                  <a:pt x="275167" y="150813"/>
                </a:lnTo>
                <a:cubicBezTo>
                  <a:pt x="275167" y="164009"/>
                  <a:pt x="289322" y="174625"/>
                  <a:pt x="306917" y="174625"/>
                </a:cubicBezTo>
                <a:lnTo>
                  <a:pt x="430609" y="174625"/>
                </a:lnTo>
                <a:lnTo>
                  <a:pt x="275167" y="58043"/>
                </a:lnTo>
                <a:close/>
                <a:moveTo>
                  <a:pt x="203994" y="293291"/>
                </a:moveTo>
                <a:cubicBezTo>
                  <a:pt x="215371" y="283270"/>
                  <a:pt x="213916" y="268288"/>
                  <a:pt x="200554" y="259755"/>
                </a:cubicBezTo>
                <a:cubicBezTo>
                  <a:pt x="187193" y="251222"/>
                  <a:pt x="167217" y="252313"/>
                  <a:pt x="155840" y="262334"/>
                </a:cubicBezTo>
                <a:lnTo>
                  <a:pt x="92340" y="317897"/>
                </a:lnTo>
                <a:cubicBezTo>
                  <a:pt x="82153" y="326827"/>
                  <a:pt x="82153" y="339923"/>
                  <a:pt x="92340" y="348853"/>
                </a:cubicBezTo>
                <a:lnTo>
                  <a:pt x="155840" y="404416"/>
                </a:lnTo>
                <a:cubicBezTo>
                  <a:pt x="167217" y="414437"/>
                  <a:pt x="187325" y="415528"/>
                  <a:pt x="200554" y="406995"/>
                </a:cubicBezTo>
                <a:cubicBezTo>
                  <a:pt x="213783" y="398463"/>
                  <a:pt x="215371" y="383381"/>
                  <a:pt x="203994" y="373459"/>
                </a:cubicBezTo>
                <a:lnTo>
                  <a:pt x="158221" y="333375"/>
                </a:lnTo>
                <a:lnTo>
                  <a:pt x="203994" y="293291"/>
                </a:lnTo>
                <a:close/>
                <a:moveTo>
                  <a:pt x="352160" y="262334"/>
                </a:moveTo>
                <a:cubicBezTo>
                  <a:pt x="340783" y="252313"/>
                  <a:pt x="320675" y="251222"/>
                  <a:pt x="307446" y="259755"/>
                </a:cubicBezTo>
                <a:cubicBezTo>
                  <a:pt x="294217" y="268287"/>
                  <a:pt x="292629" y="283369"/>
                  <a:pt x="304006" y="293291"/>
                </a:cubicBezTo>
                <a:lnTo>
                  <a:pt x="349779" y="333375"/>
                </a:lnTo>
                <a:lnTo>
                  <a:pt x="304006" y="373459"/>
                </a:lnTo>
                <a:cubicBezTo>
                  <a:pt x="292629" y="383480"/>
                  <a:pt x="294084" y="398462"/>
                  <a:pt x="307446" y="406995"/>
                </a:cubicBezTo>
                <a:cubicBezTo>
                  <a:pt x="320807" y="415528"/>
                  <a:pt x="340783" y="414437"/>
                  <a:pt x="352160" y="404416"/>
                </a:cubicBezTo>
                <a:lnTo>
                  <a:pt x="415660" y="348853"/>
                </a:lnTo>
                <a:cubicBezTo>
                  <a:pt x="425847" y="339923"/>
                  <a:pt x="425847" y="326827"/>
                  <a:pt x="415660" y="317897"/>
                </a:cubicBezTo>
                <a:lnTo>
                  <a:pt x="352160" y="262334"/>
                </a:lnTo>
                <a:close/>
              </a:path>
            </a:pathLst>
          </a:custGeom>
          <a:solidFill>
            <a:srgbClr val="00D4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9880600" y="5080000"/>
            <a:ext cx="5334000" cy="609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3500" b="1" dirty="0">
                <a:solidFill>
                  <a:srgbClr val="E8EC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Content-Type</a:t>
            </a:r>
            <a:endParaRPr lang="en-US" sz="3500" dirty="0"/>
          </a:p>
        </p:txBody>
      </p:sp>
      <p:sp>
        <p:nvSpPr>
          <p:cNvPr id="21" name="Text 19"/>
          <p:cNvSpPr/>
          <p:nvPr/>
        </p:nvSpPr>
        <p:spPr>
          <a:xfrm>
            <a:off x="9144000" y="5842000"/>
            <a:ext cx="6096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E8EC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Specifies the type of content being returned in the response body.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9144000" y="7366000"/>
            <a:ext cx="6096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dirty="0">
                <a:solidFill>
                  <a:srgbClr val="00D4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Content-Type: application/json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16052800" y="4826000"/>
            <a:ext cx="6858000" cy="3810000"/>
          </a:xfrm>
          <a:prstGeom prst="rect">
            <a:avLst/>
          </a:prstGeom>
          <a:solidFill>
            <a:srgbClr val="1118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16052800" y="4826000"/>
            <a:ext cx="76200" cy="3810000"/>
          </a:xfrm>
          <a:prstGeom prst="rect">
            <a:avLst/>
          </a:prstGeom>
          <a:solidFill>
            <a:srgbClr val="4A90D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16484600" y="50800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32246" y="95250"/>
                </a:moveTo>
                <a:lnTo>
                  <a:pt x="32246" y="243582"/>
                </a:lnTo>
                <a:cubicBezTo>
                  <a:pt x="32246" y="260449"/>
                  <a:pt x="38894" y="276622"/>
                  <a:pt x="50800" y="288528"/>
                </a:cubicBezTo>
                <a:lnTo>
                  <a:pt x="241300" y="479028"/>
                </a:lnTo>
                <a:cubicBezTo>
                  <a:pt x="266105" y="503833"/>
                  <a:pt x="306288" y="503833"/>
                  <a:pt x="331093" y="479028"/>
                </a:cubicBezTo>
                <a:lnTo>
                  <a:pt x="479425" y="330696"/>
                </a:lnTo>
                <a:cubicBezTo>
                  <a:pt x="504230" y="305891"/>
                  <a:pt x="504230" y="265708"/>
                  <a:pt x="479425" y="240903"/>
                </a:cubicBezTo>
                <a:lnTo>
                  <a:pt x="288925" y="50403"/>
                </a:lnTo>
                <a:cubicBezTo>
                  <a:pt x="277019" y="38398"/>
                  <a:pt x="260945" y="31750"/>
                  <a:pt x="244078" y="31750"/>
                </a:cubicBezTo>
                <a:lnTo>
                  <a:pt x="95746" y="31750"/>
                </a:lnTo>
                <a:cubicBezTo>
                  <a:pt x="60722" y="31750"/>
                  <a:pt x="32246" y="60226"/>
                  <a:pt x="32246" y="95250"/>
                </a:cubicBezTo>
                <a:close/>
                <a:moveTo>
                  <a:pt x="143371" y="111125"/>
                </a:moveTo>
                <a:cubicBezTo>
                  <a:pt x="160894" y="111125"/>
                  <a:pt x="175121" y="125352"/>
                  <a:pt x="175121" y="142875"/>
                </a:cubicBezTo>
                <a:cubicBezTo>
                  <a:pt x="175121" y="160398"/>
                  <a:pt x="160894" y="174625"/>
                  <a:pt x="143371" y="174625"/>
                </a:cubicBezTo>
                <a:cubicBezTo>
                  <a:pt x="125848" y="174625"/>
                  <a:pt x="111621" y="160398"/>
                  <a:pt x="111621" y="142875"/>
                </a:cubicBezTo>
                <a:cubicBezTo>
                  <a:pt x="111621" y="125352"/>
                  <a:pt x="125848" y="111125"/>
                  <a:pt x="143371" y="111125"/>
                </a:cubicBezTo>
                <a:close/>
              </a:path>
            </a:pathLst>
          </a:custGeom>
          <a:solidFill>
            <a:srgbClr val="4A90D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17221200" y="5080000"/>
            <a:ext cx="5334000" cy="609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3500" b="1" dirty="0">
                <a:solidFill>
                  <a:srgbClr val="E8EC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ETag</a:t>
            </a:r>
            <a:endParaRPr lang="en-US" sz="3500" dirty="0"/>
          </a:p>
        </p:txBody>
      </p:sp>
      <p:sp>
        <p:nvSpPr>
          <p:cNvPr id="27" name="Text 25"/>
          <p:cNvSpPr/>
          <p:nvPr/>
        </p:nvSpPr>
        <p:spPr>
          <a:xfrm>
            <a:off x="16484600" y="5842000"/>
            <a:ext cx="6096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E8EC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Used for cache validation and content optimization. Helps browsers determine if content has changed.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16484600" y="7366000"/>
            <a:ext cx="6096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dirty="0">
                <a:solidFill>
                  <a:srgbClr val="00D4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ETag: "33a64df5"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1371600" y="9144000"/>
            <a:ext cx="6858000" cy="304800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1371600" y="9144000"/>
            <a:ext cx="76200" cy="3048000"/>
          </a:xfrm>
          <a:prstGeom prst="rect">
            <a:avLst/>
          </a:prstGeom>
          <a:solidFill>
            <a:srgbClr val="8B95A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1803400" y="93980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449263" y="97830"/>
                </a:moveTo>
                <a:cubicBezTo>
                  <a:pt x="455965" y="90289"/>
                  <a:pt x="467166" y="92174"/>
                  <a:pt x="470517" y="102096"/>
                </a:cubicBezTo>
                <a:cubicBezTo>
                  <a:pt x="476515" y="119658"/>
                  <a:pt x="479778" y="138807"/>
                  <a:pt x="479778" y="158750"/>
                </a:cubicBezTo>
                <a:cubicBezTo>
                  <a:pt x="479778" y="246459"/>
                  <a:pt x="416631" y="317500"/>
                  <a:pt x="338667" y="317500"/>
                </a:cubicBezTo>
                <a:cubicBezTo>
                  <a:pt x="323233" y="317500"/>
                  <a:pt x="308328" y="314722"/>
                  <a:pt x="294393" y="309562"/>
                </a:cubicBezTo>
                <a:lnTo>
                  <a:pt x="129558" y="495002"/>
                </a:lnTo>
                <a:cubicBezTo>
                  <a:pt x="104775" y="522883"/>
                  <a:pt x="64558" y="522883"/>
                  <a:pt x="39776" y="495002"/>
                </a:cubicBezTo>
                <a:cubicBezTo>
                  <a:pt x="14993" y="467122"/>
                  <a:pt x="14993" y="421878"/>
                  <a:pt x="39776" y="393998"/>
                </a:cubicBezTo>
                <a:lnTo>
                  <a:pt x="204611" y="208558"/>
                </a:lnTo>
                <a:cubicBezTo>
                  <a:pt x="200025" y="192881"/>
                  <a:pt x="197556" y="176213"/>
                  <a:pt x="197556" y="158750"/>
                </a:cubicBezTo>
                <a:cubicBezTo>
                  <a:pt x="197556" y="71041"/>
                  <a:pt x="260703" y="0"/>
                  <a:pt x="338667" y="0"/>
                </a:cubicBezTo>
                <a:cubicBezTo>
                  <a:pt x="356394" y="0"/>
                  <a:pt x="373415" y="3671"/>
                  <a:pt x="389026" y="10418"/>
                </a:cubicBezTo>
                <a:cubicBezTo>
                  <a:pt x="397845" y="14188"/>
                  <a:pt x="399433" y="26789"/>
                  <a:pt x="392818" y="34330"/>
                </a:cubicBezTo>
                <a:lnTo>
                  <a:pt x="314590" y="122337"/>
                </a:lnTo>
                <a:cubicBezTo>
                  <a:pt x="311944" y="125313"/>
                  <a:pt x="310444" y="129381"/>
                  <a:pt x="310444" y="133548"/>
                </a:cubicBezTo>
                <a:lnTo>
                  <a:pt x="310444" y="174625"/>
                </a:lnTo>
                <a:cubicBezTo>
                  <a:pt x="310444" y="183356"/>
                  <a:pt x="316794" y="190500"/>
                  <a:pt x="324556" y="190500"/>
                </a:cubicBezTo>
                <a:lnTo>
                  <a:pt x="361068" y="190500"/>
                </a:lnTo>
                <a:cubicBezTo>
                  <a:pt x="364772" y="190500"/>
                  <a:pt x="368388" y="188813"/>
                  <a:pt x="371034" y="185837"/>
                </a:cubicBezTo>
                <a:lnTo>
                  <a:pt x="449263" y="97830"/>
                </a:lnTo>
                <a:close/>
              </a:path>
            </a:pathLst>
          </a:custGeom>
          <a:solidFill>
            <a:srgbClr val="8B95A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2540000" y="9398000"/>
            <a:ext cx="5334000" cy="609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3500" b="1" dirty="0">
                <a:solidFill>
                  <a:srgbClr val="E8EC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Custom Headers</a:t>
            </a:r>
            <a:endParaRPr lang="en-US" sz="3500" dirty="0"/>
          </a:p>
        </p:txBody>
      </p:sp>
      <p:sp>
        <p:nvSpPr>
          <p:cNvPr id="33" name="Text 31"/>
          <p:cNvSpPr/>
          <p:nvPr/>
        </p:nvSpPr>
        <p:spPr>
          <a:xfrm>
            <a:off x="1803400" y="10160000"/>
            <a:ext cx="6096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E8EC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Developers can define custom headers for application-specific needs.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1803400" y="11303000"/>
            <a:ext cx="6096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dirty="0">
                <a:solidFill>
                  <a:srgbClr val="00D4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X-Custom-Header: customValue</a:t>
            </a:r>
            <a:endParaRPr lang="en-US" sz="1800" dirty="0"/>
          </a:p>
        </p:txBody>
      </p:sp>
      <p:sp>
        <p:nvSpPr>
          <p:cNvPr id="35" name="Shape 33"/>
          <p:cNvSpPr/>
          <p:nvPr/>
        </p:nvSpPr>
        <p:spPr>
          <a:xfrm>
            <a:off x="8712200" y="9144000"/>
            <a:ext cx="14198600" cy="3048000"/>
          </a:xfrm>
          <a:prstGeom prst="rect">
            <a:avLst/>
          </a:prstGeom>
          <a:solidFill>
            <a:srgbClr val="00D4FF">
              <a:alpha val="8235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8712200" y="9144000"/>
            <a:ext cx="76200" cy="3048000"/>
          </a:xfrm>
          <a:prstGeom prst="rect">
            <a:avLst/>
          </a:prstGeom>
          <a:solidFill>
            <a:srgbClr val="00D4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9144000" y="9398000"/>
            <a:ext cx="5080000" cy="609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3500" b="1" dirty="0">
                <a:solidFill>
                  <a:srgbClr val="00D4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Insight</a:t>
            </a:r>
            <a:endParaRPr lang="en-US" sz="3500" dirty="0"/>
          </a:p>
        </p:txBody>
      </p:sp>
      <p:sp>
        <p:nvSpPr>
          <p:cNvPr id="38" name="Text 36"/>
          <p:cNvSpPr/>
          <p:nvPr/>
        </p:nvSpPr>
        <p:spPr>
          <a:xfrm>
            <a:off x="9144000" y="10160000"/>
            <a:ext cx="133350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E8EC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Response headers are the server's way of </a:t>
            </a:r>
            <a:r>
              <a:rPr lang="en-US" sz="2000" b="1" dirty="0">
                <a:solidFill>
                  <a:srgbClr val="E8EC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controlling client behavior</a:t>
            </a:r>
            <a:r>
              <a:rPr lang="en-US" sz="2000" dirty="0">
                <a:solidFill>
                  <a:srgbClr val="E8EC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setting cookies, specifying content types, enabling caching via ETag, and allowing custom application logic.</a:t>
            </a:r>
            <a:endParaRPr lang="en-US" sz="2000" dirty="0"/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gradFill flip="none" rotWithShape="1">
            <a:gsLst>
              <a:gs pos="0">
                <a:srgbClr val="111827"/>
              </a:gs>
              <a:gs pos="60000">
                <a:srgbClr val="0A0E1A"/>
              </a:gs>
              <a:gs pos="100000">
                <a:srgbClr val="0A0E1A"/>
              </a:gs>
            </a:gsLst>
            <a:path path="circle"/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9232900" y="2819400"/>
            <a:ext cx="5918200" cy="4432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ct val="120000"/>
              </a:lnSpc>
            </a:pPr>
            <a:r>
              <a:rPr lang="en-US" sz="24400" dirty="0">
                <a:solidFill>
                  <a:srgbClr val="00D4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03</a:t>
            </a:r>
            <a:endParaRPr lang="en-US" sz="24400" dirty="0"/>
          </a:p>
        </p:txBody>
      </p:sp>
      <p:sp>
        <p:nvSpPr>
          <p:cNvPr id="4" name="Shape 2"/>
          <p:cNvSpPr/>
          <p:nvPr/>
        </p:nvSpPr>
        <p:spPr>
          <a:xfrm>
            <a:off x="8382000" y="8458200"/>
            <a:ext cx="7607300" cy="0"/>
          </a:xfrm>
          <a:prstGeom prst="straightConnector1">
            <a:avLst/>
          </a:prstGeom>
          <a:noFill/>
          <a:ln w="28575">
            <a:solidFill>
              <a:srgbClr val="00D4FF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565900" y="6616700"/>
            <a:ext cx="11239500" cy="1587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ct val="120000"/>
              </a:lnSpc>
            </a:pPr>
            <a:r>
              <a:rPr lang="en-US" sz="8500" b="1" dirty="0">
                <a:solidFill>
                  <a:srgbClr val="E8EC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HTTP Status Codes</a:t>
            </a:r>
            <a:endParaRPr lang="en-US" sz="8500" dirty="0"/>
          </a:p>
        </p:txBody>
      </p:sp>
      <p:sp>
        <p:nvSpPr>
          <p:cNvPr id="6" name="Text 4"/>
          <p:cNvSpPr/>
          <p:nvPr/>
        </p:nvSpPr>
        <p:spPr>
          <a:xfrm>
            <a:off x="6477000" y="8763000"/>
            <a:ext cx="1143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ct val="120000"/>
              </a:lnSpc>
            </a:pPr>
            <a:r>
              <a:rPr lang="en-US" sz="3600" dirty="0">
                <a:solidFill>
                  <a:srgbClr val="8B95A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Understanding server responses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18161000" y="800100"/>
            <a:ext cx="5207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2900" kern="0" spc="400" dirty="0">
                <a:solidFill>
                  <a:srgbClr val="E8EC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PART 03</a:t>
            </a:r>
            <a:endParaRPr lang="en-US" sz="2900" dirty="0"/>
          </a:p>
        </p:txBody>
      </p:sp>
      <p:sp>
        <p:nvSpPr>
          <p:cNvPr id="8" name="Text 6"/>
          <p:cNvSpPr/>
          <p:nvPr/>
        </p:nvSpPr>
        <p:spPr>
          <a:xfrm>
            <a:off x="1016000" y="800100"/>
            <a:ext cx="110363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900" kern="0" spc="400" dirty="0">
                <a:solidFill>
                  <a:srgbClr val="E8EC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WEB COMMUNICATION</a:t>
            </a:r>
            <a:endParaRPr lang="en-US" sz="2900" dirty="0"/>
          </a:p>
        </p:txBody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44600" y="1282700"/>
            <a:ext cx="10795000" cy="1079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6800" b="1" dirty="0">
                <a:solidFill>
                  <a:srgbClr val="E8EC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STATUS CODES</a:t>
            </a:r>
            <a:endParaRPr lang="en-US" sz="6800" dirty="0"/>
          </a:p>
        </p:txBody>
      </p:sp>
      <p:sp>
        <p:nvSpPr>
          <p:cNvPr id="3" name="Shape 1"/>
          <p:cNvSpPr/>
          <p:nvPr/>
        </p:nvSpPr>
        <p:spPr>
          <a:xfrm>
            <a:off x="12192000" y="1498600"/>
            <a:ext cx="5334000" cy="0"/>
          </a:xfrm>
          <a:prstGeom prst="straightConnector1">
            <a:avLst/>
          </a:prstGeom>
          <a:noFill/>
          <a:ln w="9525">
            <a:solidFill>
              <a:srgbClr val="E8ECF1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8161000" y="1244600"/>
            <a:ext cx="5207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2900" kern="0" spc="400" dirty="0">
                <a:solidFill>
                  <a:srgbClr val="E8EC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PART 03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 rot="5400000">
            <a:off x="1346200" y="3835400"/>
            <a:ext cx="368300" cy="330200"/>
          </a:xfrm>
          <a:prstGeom prst="triangle">
            <a:avLst>
              <a:gd name="adj" fmla="val 50000"/>
            </a:avLst>
          </a:prstGeom>
          <a:solidFill>
            <a:srgbClr val="00D4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 rot="5400000">
            <a:off x="1854200" y="3835400"/>
            <a:ext cx="368300" cy="330200"/>
          </a:xfrm>
          <a:prstGeom prst="triangle">
            <a:avLst>
              <a:gd name="adj" fmla="val 50000"/>
            </a:avLst>
          </a:prstGeom>
          <a:solidFill>
            <a:srgbClr val="00D4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 rot="5400000">
            <a:off x="2349500" y="3835400"/>
            <a:ext cx="368300" cy="330200"/>
          </a:xfrm>
          <a:prstGeom prst="triangle">
            <a:avLst>
              <a:gd name="adj" fmla="val 50000"/>
            </a:avLst>
          </a:prstGeom>
          <a:solidFill>
            <a:srgbClr val="00D4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 rot="5400000">
            <a:off x="2857500" y="3835400"/>
            <a:ext cx="368300" cy="330200"/>
          </a:xfrm>
          <a:prstGeom prst="triangle">
            <a:avLst>
              <a:gd name="adj" fmla="val 50000"/>
            </a:avLst>
          </a:prstGeom>
          <a:solidFill>
            <a:srgbClr val="00D4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 rot="5400000">
            <a:off x="3352800" y="3835400"/>
            <a:ext cx="368300" cy="330200"/>
          </a:xfrm>
          <a:prstGeom prst="triangle">
            <a:avLst>
              <a:gd name="adj" fmla="val 50000"/>
            </a:avLst>
          </a:prstGeom>
          <a:solidFill>
            <a:srgbClr val="00D4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 rot="5400000">
            <a:off x="3860800" y="3835400"/>
            <a:ext cx="368300" cy="330200"/>
          </a:xfrm>
          <a:prstGeom prst="triangle">
            <a:avLst>
              <a:gd name="adj" fmla="val 50000"/>
            </a:avLst>
          </a:prstGeom>
          <a:solidFill>
            <a:srgbClr val="00D4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1371600" y="4826000"/>
            <a:ext cx="4318000" cy="3175000"/>
          </a:xfrm>
          <a:prstGeom prst="rect">
            <a:avLst/>
          </a:prstGeom>
          <a:solidFill>
            <a:srgbClr val="1118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1371600" y="4826000"/>
            <a:ext cx="4318000" cy="76200"/>
          </a:xfrm>
          <a:prstGeom prst="rect">
            <a:avLst/>
          </a:prstGeom>
          <a:solidFill>
            <a:srgbClr val="8B95A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701800" y="5080000"/>
            <a:ext cx="1270000" cy="711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4800" b="1" dirty="0">
                <a:solidFill>
                  <a:srgbClr val="8B95A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1xx</a:t>
            </a:r>
            <a:endParaRPr lang="en-US" sz="4800" dirty="0"/>
          </a:p>
        </p:txBody>
      </p:sp>
      <p:sp>
        <p:nvSpPr>
          <p:cNvPr id="14" name="Text 12"/>
          <p:cNvSpPr/>
          <p:nvPr/>
        </p:nvSpPr>
        <p:spPr>
          <a:xfrm>
            <a:off x="1701800" y="5842000"/>
            <a:ext cx="3683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3500" b="1" dirty="0">
                <a:solidFill>
                  <a:srgbClr val="E8EC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Informational</a:t>
            </a:r>
            <a:endParaRPr lang="en-US" sz="3500" dirty="0"/>
          </a:p>
        </p:txBody>
      </p:sp>
      <p:sp>
        <p:nvSpPr>
          <p:cNvPr id="15" name="Text 13"/>
          <p:cNvSpPr/>
          <p:nvPr/>
        </p:nvSpPr>
        <p:spPr>
          <a:xfrm>
            <a:off x="1701800" y="6477000"/>
            <a:ext cx="3683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E8EC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Server has received the request and is continuing to process it.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6070600" y="4826000"/>
            <a:ext cx="4318000" cy="3175000"/>
          </a:xfrm>
          <a:prstGeom prst="rect">
            <a:avLst/>
          </a:prstGeom>
          <a:solidFill>
            <a:srgbClr val="1118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070600" y="4826000"/>
            <a:ext cx="4318000" cy="76200"/>
          </a:xfrm>
          <a:prstGeom prst="rect">
            <a:avLst/>
          </a:prstGeom>
          <a:solidFill>
            <a:srgbClr val="00FF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400800" y="5080000"/>
            <a:ext cx="1270000" cy="711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4800" b="1" dirty="0">
                <a:solidFill>
                  <a:srgbClr val="00FF8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2xx</a:t>
            </a:r>
            <a:endParaRPr lang="en-US" sz="4800" dirty="0"/>
          </a:p>
        </p:txBody>
      </p:sp>
      <p:sp>
        <p:nvSpPr>
          <p:cNvPr id="19" name="Text 17"/>
          <p:cNvSpPr/>
          <p:nvPr/>
        </p:nvSpPr>
        <p:spPr>
          <a:xfrm>
            <a:off x="6400800" y="5842000"/>
            <a:ext cx="3683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3500" b="1" dirty="0">
                <a:solidFill>
                  <a:srgbClr val="E8EC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Success</a:t>
            </a:r>
            <a:endParaRPr lang="en-US" sz="3500" dirty="0"/>
          </a:p>
        </p:txBody>
      </p:sp>
      <p:sp>
        <p:nvSpPr>
          <p:cNvPr id="20" name="Text 18"/>
          <p:cNvSpPr/>
          <p:nvPr/>
        </p:nvSpPr>
        <p:spPr>
          <a:xfrm>
            <a:off x="6400800" y="6477000"/>
            <a:ext cx="3683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E8EC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request was successfully received, understood, and accepted.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10769600" y="4826000"/>
            <a:ext cx="4318000" cy="3175000"/>
          </a:xfrm>
          <a:prstGeom prst="rect">
            <a:avLst/>
          </a:prstGeom>
          <a:solidFill>
            <a:srgbClr val="1118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10769600" y="4826000"/>
            <a:ext cx="4318000" cy="76200"/>
          </a:xfrm>
          <a:prstGeom prst="rect">
            <a:avLst/>
          </a:prstGeom>
          <a:solidFill>
            <a:srgbClr val="00D4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11099800" y="5080000"/>
            <a:ext cx="1270000" cy="711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4800" b="1" dirty="0">
                <a:solidFill>
                  <a:srgbClr val="00D4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3xx</a:t>
            </a:r>
            <a:endParaRPr lang="en-US" sz="4800" dirty="0"/>
          </a:p>
        </p:txBody>
      </p:sp>
      <p:sp>
        <p:nvSpPr>
          <p:cNvPr id="24" name="Text 22"/>
          <p:cNvSpPr/>
          <p:nvPr/>
        </p:nvSpPr>
        <p:spPr>
          <a:xfrm>
            <a:off x="11099800" y="5842000"/>
            <a:ext cx="3683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3500" b="1" dirty="0">
                <a:solidFill>
                  <a:srgbClr val="E8EC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Redirection</a:t>
            </a:r>
            <a:endParaRPr lang="en-US" sz="3500" dirty="0"/>
          </a:p>
        </p:txBody>
      </p:sp>
      <p:sp>
        <p:nvSpPr>
          <p:cNvPr id="25" name="Text 23"/>
          <p:cNvSpPr/>
          <p:nvPr/>
        </p:nvSpPr>
        <p:spPr>
          <a:xfrm>
            <a:off x="11099800" y="6477000"/>
            <a:ext cx="3683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E8EC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Further action needs to be taken to complete the request.</a:t>
            </a:r>
            <a:endParaRPr lang="en-US" sz="2000" dirty="0"/>
          </a:p>
        </p:txBody>
      </p:sp>
      <p:sp>
        <p:nvSpPr>
          <p:cNvPr id="26" name="Shape 24"/>
          <p:cNvSpPr/>
          <p:nvPr/>
        </p:nvSpPr>
        <p:spPr>
          <a:xfrm>
            <a:off x="15468600" y="4826000"/>
            <a:ext cx="4318000" cy="3175000"/>
          </a:xfrm>
          <a:prstGeom prst="rect">
            <a:avLst/>
          </a:prstGeom>
          <a:solidFill>
            <a:srgbClr val="1118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15468600" y="4826000"/>
            <a:ext cx="4318000" cy="76200"/>
          </a:xfrm>
          <a:prstGeom prst="rect">
            <a:avLst/>
          </a:prstGeom>
          <a:solidFill>
            <a:srgbClr val="FF6B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15798800" y="5080000"/>
            <a:ext cx="1270000" cy="711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4800" b="1" dirty="0">
                <a:solidFill>
                  <a:srgbClr val="FF6B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4xx</a:t>
            </a:r>
            <a:endParaRPr lang="en-US" sz="4800" dirty="0"/>
          </a:p>
        </p:txBody>
      </p:sp>
      <p:sp>
        <p:nvSpPr>
          <p:cNvPr id="29" name="Text 27"/>
          <p:cNvSpPr/>
          <p:nvPr/>
        </p:nvSpPr>
        <p:spPr>
          <a:xfrm>
            <a:off x="15798800" y="5842000"/>
            <a:ext cx="3683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3500" b="1" dirty="0">
                <a:solidFill>
                  <a:srgbClr val="E8EC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Client Error</a:t>
            </a:r>
            <a:endParaRPr lang="en-US" sz="3500" dirty="0"/>
          </a:p>
        </p:txBody>
      </p:sp>
      <p:sp>
        <p:nvSpPr>
          <p:cNvPr id="30" name="Text 28"/>
          <p:cNvSpPr/>
          <p:nvPr/>
        </p:nvSpPr>
        <p:spPr>
          <a:xfrm>
            <a:off x="15798800" y="6477000"/>
            <a:ext cx="3683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E8EC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request contains bad syntax or cannot be fulfilled. </a:t>
            </a:r>
            <a:r>
              <a:rPr lang="en-US" sz="2000" dirty="0">
                <a:solidFill>
                  <a:srgbClr val="FF6B6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Your fault!</a:t>
            </a:r>
            <a:endParaRPr lang="en-US" sz="2000" dirty="0"/>
          </a:p>
        </p:txBody>
      </p:sp>
      <p:sp>
        <p:nvSpPr>
          <p:cNvPr id="31" name="Shape 29"/>
          <p:cNvSpPr/>
          <p:nvPr/>
        </p:nvSpPr>
        <p:spPr>
          <a:xfrm>
            <a:off x="20167600" y="4826000"/>
            <a:ext cx="3175000" cy="3175000"/>
          </a:xfrm>
          <a:prstGeom prst="rect">
            <a:avLst/>
          </a:prstGeom>
          <a:solidFill>
            <a:srgbClr val="1118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20167600" y="4826000"/>
            <a:ext cx="2844800" cy="76200"/>
          </a:xfrm>
          <a:prstGeom prst="rect">
            <a:avLst/>
          </a:prstGeom>
          <a:solidFill>
            <a:srgbClr val="FF95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20497800" y="5080000"/>
            <a:ext cx="1270000" cy="711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4800" b="1" dirty="0">
                <a:solidFill>
                  <a:srgbClr val="FF95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5xx</a:t>
            </a:r>
            <a:endParaRPr lang="en-US" sz="4800" dirty="0"/>
          </a:p>
        </p:txBody>
      </p:sp>
      <p:sp>
        <p:nvSpPr>
          <p:cNvPr id="34" name="Text 32"/>
          <p:cNvSpPr/>
          <p:nvPr/>
        </p:nvSpPr>
        <p:spPr>
          <a:xfrm>
            <a:off x="20497800" y="5842000"/>
            <a:ext cx="2794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3500" b="1" dirty="0">
                <a:solidFill>
                  <a:srgbClr val="E8EC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Server Error</a:t>
            </a:r>
            <a:endParaRPr lang="en-US" sz="3500" dirty="0"/>
          </a:p>
        </p:txBody>
      </p:sp>
      <p:sp>
        <p:nvSpPr>
          <p:cNvPr id="35" name="Text 33"/>
          <p:cNvSpPr/>
          <p:nvPr/>
        </p:nvSpPr>
        <p:spPr>
          <a:xfrm>
            <a:off x="20497800" y="6477000"/>
            <a:ext cx="2794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E8EC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Server failed to fulfill request. </a:t>
            </a:r>
            <a:r>
              <a:rPr lang="en-US" sz="2000" dirty="0">
                <a:solidFill>
                  <a:srgbClr val="FF95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Server's fault!</a:t>
            </a:r>
            <a:endParaRPr lang="en-US" sz="2000" dirty="0"/>
          </a:p>
        </p:txBody>
      </p:sp>
      <p:sp>
        <p:nvSpPr>
          <p:cNvPr id="36" name="Shape 34"/>
          <p:cNvSpPr/>
          <p:nvPr/>
        </p:nvSpPr>
        <p:spPr>
          <a:xfrm>
            <a:off x="1371600" y="8636000"/>
            <a:ext cx="21640800" cy="3302000"/>
          </a:xfrm>
          <a:prstGeom prst="rect">
            <a:avLst/>
          </a:prstGeom>
          <a:solidFill>
            <a:srgbClr val="00D4FF">
              <a:alpha val="8235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1371600" y="8636000"/>
            <a:ext cx="190500" cy="3302000"/>
          </a:xfrm>
          <a:prstGeom prst="rect">
            <a:avLst/>
          </a:prstGeom>
          <a:solidFill>
            <a:srgbClr val="00D4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1803400" y="8890000"/>
            <a:ext cx="5080000" cy="609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3500" b="1" dirty="0">
                <a:solidFill>
                  <a:srgbClr val="00D4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Quick Mnemonic</a:t>
            </a:r>
            <a:endParaRPr lang="en-US" sz="3500" dirty="0"/>
          </a:p>
        </p:txBody>
      </p:sp>
      <p:sp>
        <p:nvSpPr>
          <p:cNvPr id="39" name="Text 37"/>
          <p:cNvSpPr/>
          <p:nvPr/>
        </p:nvSpPr>
        <p:spPr>
          <a:xfrm>
            <a:off x="1803400" y="9652000"/>
            <a:ext cx="20828000" cy="203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8B95A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1xx</a:t>
            </a:r>
            <a:r>
              <a:rPr lang="en-US" sz="2000" dirty="0">
                <a:solidFill>
                  <a:srgbClr val="E8EC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= Hold on  |  </a:t>
            </a:r>
            <a:r>
              <a:rPr lang="en-US" sz="2000" b="1" dirty="0">
                <a:solidFill>
                  <a:srgbClr val="00FF8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2xx</a:t>
            </a:r>
            <a:r>
              <a:rPr lang="en-US" sz="2000" dirty="0">
                <a:solidFill>
                  <a:srgbClr val="E8EC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= Here you go  |  </a:t>
            </a:r>
            <a:r>
              <a:rPr lang="en-US" sz="2000" b="1" dirty="0">
                <a:solidFill>
                  <a:srgbClr val="00D4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3xx</a:t>
            </a:r>
            <a:r>
              <a:rPr lang="en-US" sz="2000" dirty="0">
                <a:solidFill>
                  <a:srgbClr val="E8EC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= Go away  |  </a:t>
            </a:r>
            <a:r>
              <a:rPr lang="en-US" sz="2000" b="1" dirty="0">
                <a:solidFill>
                  <a:srgbClr val="FF6B6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4xx</a:t>
            </a:r>
            <a:r>
              <a:rPr lang="en-US" sz="2000" dirty="0">
                <a:solidFill>
                  <a:srgbClr val="E8EC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= You messed up  |  </a:t>
            </a:r>
            <a:r>
              <a:rPr lang="en-US" sz="2000" b="1" dirty="0">
                <a:solidFill>
                  <a:srgbClr val="FF95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5xx</a:t>
            </a:r>
            <a:r>
              <a:rPr lang="en-US" sz="2000" dirty="0">
                <a:solidFill>
                  <a:srgbClr val="E8EC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= I messed up</a:t>
            </a:r>
            <a:endParaRPr lang="en-US" sz="2000" dirty="0"/>
          </a:p>
          <a:p>
            <a:pPr algn="l">
              <a:lnSpc>
                <a:spcPct val="160000"/>
              </a:lnSpc>
              <a:spcBef>
                <a:spcPts val="1600"/>
              </a:spcBef>
            </a:pPr>
            <a:r>
              <a:rPr lang="en-US" sz="2000" dirty="0">
                <a:solidFill>
                  <a:srgbClr val="E8EC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HTTP status codes are </a:t>
            </a:r>
            <a:r>
              <a:rPr lang="en-US" sz="2000" b="1" dirty="0">
                <a:solidFill>
                  <a:srgbClr val="E8EC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three-digit numbers</a:t>
            </a:r>
            <a:r>
              <a:rPr lang="en-US" sz="2000" dirty="0">
                <a:solidFill>
                  <a:srgbClr val="E8EC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included in the response to indicate the result of the request. The first digit defines the class of response.</a:t>
            </a:r>
            <a:endParaRPr lang="en-US" sz="2000" dirty="0"/>
          </a:p>
        </p:txBody>
      </p:sp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44600" y="1282700"/>
            <a:ext cx="10795000" cy="1079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6800" b="1" dirty="0">
                <a:solidFill>
                  <a:srgbClr val="E8EC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STATUS CODE REFERENCE</a:t>
            </a:r>
            <a:endParaRPr lang="en-US" sz="6800" dirty="0"/>
          </a:p>
        </p:txBody>
      </p:sp>
      <p:sp>
        <p:nvSpPr>
          <p:cNvPr id="3" name="Shape 1"/>
          <p:cNvSpPr/>
          <p:nvPr/>
        </p:nvSpPr>
        <p:spPr>
          <a:xfrm>
            <a:off x="12192000" y="1498600"/>
            <a:ext cx="5334000" cy="0"/>
          </a:xfrm>
          <a:prstGeom prst="straightConnector1">
            <a:avLst/>
          </a:prstGeom>
          <a:noFill/>
          <a:ln w="9525">
            <a:solidFill>
              <a:srgbClr val="E8ECF1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8161000" y="1244600"/>
            <a:ext cx="5207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2900" kern="0" spc="400" dirty="0">
                <a:solidFill>
                  <a:srgbClr val="E8EC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PART 03</a:t>
            </a:r>
            <a:endParaRPr lang="en-US" sz="29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0" y="4064000"/>
          <a:ext cx="21640800" cy="8128000"/>
        </p:xfrm>
        <a:graphic>
          <a:graphicData uri="http://schemas.openxmlformats.org/drawingml/2006/table">
            <a:tbl>
              <a:tblPr/>
              <a:tblGrid>
                <a:gridCol w="25968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594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28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6563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812800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0A0E1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Code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D4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0A0E1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Meaning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D4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0A0E1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Category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D4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0A0E1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When You'll See It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D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12800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00FF88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200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E8ECF1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OK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00FF88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2xx Success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E8ECF1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The request succeeded. Most common success response.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12800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00FF88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201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E8ECF1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Created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00FF88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2xx Success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E8ECF1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A new resource was successfully created (POST/PUT).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12800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00D4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301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E8ECF1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Moved Permanently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00D4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3xx Redirect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E8ECF1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The resource has been moved to a new permanent URL.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12800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00D4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304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E8ECF1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Not Modified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00D4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3xx Redirect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E8ECF1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Cached version is still valid. No need to re-download.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12800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6B6B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400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E8ECF1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Bad Request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FF6B6B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4xx Client Error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E8ECF1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The server cannot process the request due to client error.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812800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6B6B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401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E8ECF1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Unauthorized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FF6B6B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4xx Client Error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E8ECF1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Authentication is required but has failed or not been provided.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812800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6B6B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403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E8ECF1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Forbidden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FF6B6B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4xx Client Error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E8ECF1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Server understood the request but refuses to authorize it.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812800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6B6B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404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E8ECF1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Not Found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FF6B6B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4xx Client Error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E8ECF1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The requested resource could not be found. Most famous error!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812800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9500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500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E8ECF1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Internal Server Error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FF9500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5xx Server Error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E8ECF1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The server encountered an unexpected condition.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gradFill flip="none" rotWithShape="1">
            <a:gsLst>
              <a:gs pos="0">
                <a:srgbClr val="111827"/>
              </a:gs>
              <a:gs pos="60000">
                <a:srgbClr val="0A0E1A"/>
              </a:gs>
              <a:gs pos="100000">
                <a:srgbClr val="0A0E1A"/>
              </a:gs>
            </a:gsLst>
            <a:path path="circle"/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9232900" y="2819400"/>
            <a:ext cx="5918200" cy="4432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ct val="120000"/>
              </a:lnSpc>
            </a:pPr>
            <a:r>
              <a:rPr lang="en-US" sz="24400" dirty="0">
                <a:solidFill>
                  <a:srgbClr val="00D4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04</a:t>
            </a:r>
            <a:endParaRPr lang="en-US" sz="24400" dirty="0"/>
          </a:p>
        </p:txBody>
      </p:sp>
      <p:sp>
        <p:nvSpPr>
          <p:cNvPr id="4" name="Shape 2"/>
          <p:cNvSpPr/>
          <p:nvPr/>
        </p:nvSpPr>
        <p:spPr>
          <a:xfrm>
            <a:off x="8382000" y="8458200"/>
            <a:ext cx="7607300" cy="0"/>
          </a:xfrm>
          <a:prstGeom prst="straightConnector1">
            <a:avLst/>
          </a:prstGeom>
          <a:noFill/>
          <a:ln w="28575">
            <a:solidFill>
              <a:srgbClr val="00D4FF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295900" y="6616700"/>
            <a:ext cx="13779500" cy="1587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ct val="120000"/>
              </a:lnSpc>
            </a:pPr>
            <a:r>
              <a:rPr lang="en-US" sz="8500" b="1" dirty="0">
                <a:solidFill>
                  <a:srgbClr val="E8EC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Cookies &amp; Web Security</a:t>
            </a:r>
            <a:endParaRPr lang="en-US" sz="8500" dirty="0"/>
          </a:p>
        </p:txBody>
      </p:sp>
      <p:sp>
        <p:nvSpPr>
          <p:cNvPr id="6" name="Text 4"/>
          <p:cNvSpPr/>
          <p:nvPr/>
        </p:nvSpPr>
        <p:spPr>
          <a:xfrm>
            <a:off x="5842000" y="8763000"/>
            <a:ext cx="1270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ct val="120000"/>
              </a:lnSpc>
            </a:pPr>
            <a:r>
              <a:rPr lang="en-US" sz="3600" dirty="0">
                <a:solidFill>
                  <a:srgbClr val="8B95A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Managing state and securing applications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18161000" y="800100"/>
            <a:ext cx="5207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2900" kern="0" spc="400" dirty="0">
                <a:solidFill>
                  <a:srgbClr val="E8EC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PART 04</a:t>
            </a:r>
            <a:endParaRPr lang="en-US" sz="2900" dirty="0"/>
          </a:p>
        </p:txBody>
      </p:sp>
      <p:sp>
        <p:nvSpPr>
          <p:cNvPr id="8" name="Text 6"/>
          <p:cNvSpPr/>
          <p:nvPr/>
        </p:nvSpPr>
        <p:spPr>
          <a:xfrm>
            <a:off x="1016000" y="800100"/>
            <a:ext cx="110363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900" kern="0" spc="400" dirty="0">
                <a:solidFill>
                  <a:srgbClr val="E8EC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WEB COMMUNICATION</a:t>
            </a:r>
            <a:endParaRPr lang="en-US" sz="2900" dirty="0"/>
          </a:p>
        </p:txBody>
      </p:sp>
    </p:spTree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44600" y="1282700"/>
            <a:ext cx="10795000" cy="1079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6800" b="1" dirty="0">
                <a:solidFill>
                  <a:srgbClr val="E8EC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COOKIES EXPLAINED</a:t>
            </a:r>
            <a:endParaRPr lang="en-US" sz="6800" dirty="0"/>
          </a:p>
        </p:txBody>
      </p:sp>
      <p:sp>
        <p:nvSpPr>
          <p:cNvPr id="3" name="Shape 1"/>
          <p:cNvSpPr/>
          <p:nvPr/>
        </p:nvSpPr>
        <p:spPr>
          <a:xfrm>
            <a:off x="12192000" y="1498600"/>
            <a:ext cx="5334000" cy="0"/>
          </a:xfrm>
          <a:prstGeom prst="straightConnector1">
            <a:avLst/>
          </a:prstGeom>
          <a:noFill/>
          <a:ln w="9525">
            <a:solidFill>
              <a:srgbClr val="E8ECF1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8161000" y="1244600"/>
            <a:ext cx="5207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2900" kern="0" spc="400" dirty="0">
                <a:solidFill>
                  <a:srgbClr val="E8EC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PART 04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 rot="5400000">
            <a:off x="1346200" y="3835400"/>
            <a:ext cx="368300" cy="330200"/>
          </a:xfrm>
          <a:prstGeom prst="triangle">
            <a:avLst>
              <a:gd name="adj" fmla="val 50000"/>
            </a:avLst>
          </a:prstGeom>
          <a:solidFill>
            <a:srgbClr val="00D4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 rot="5400000">
            <a:off x="1854200" y="3835400"/>
            <a:ext cx="368300" cy="330200"/>
          </a:xfrm>
          <a:prstGeom prst="triangle">
            <a:avLst>
              <a:gd name="adj" fmla="val 50000"/>
            </a:avLst>
          </a:prstGeom>
          <a:solidFill>
            <a:srgbClr val="00D4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 rot="5400000">
            <a:off x="2349500" y="3835400"/>
            <a:ext cx="368300" cy="330200"/>
          </a:xfrm>
          <a:prstGeom prst="triangle">
            <a:avLst>
              <a:gd name="adj" fmla="val 50000"/>
            </a:avLst>
          </a:prstGeom>
          <a:solidFill>
            <a:srgbClr val="00D4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 rot="5400000">
            <a:off x="2857500" y="3835400"/>
            <a:ext cx="368300" cy="330200"/>
          </a:xfrm>
          <a:prstGeom prst="triangle">
            <a:avLst>
              <a:gd name="adj" fmla="val 50000"/>
            </a:avLst>
          </a:prstGeom>
          <a:solidFill>
            <a:srgbClr val="00D4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 rot="5400000">
            <a:off x="3352800" y="3835400"/>
            <a:ext cx="368300" cy="330200"/>
          </a:xfrm>
          <a:prstGeom prst="triangle">
            <a:avLst>
              <a:gd name="adj" fmla="val 50000"/>
            </a:avLst>
          </a:prstGeom>
          <a:solidFill>
            <a:srgbClr val="00D4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 rot="5400000">
            <a:off x="3860800" y="3835400"/>
            <a:ext cx="368300" cy="330200"/>
          </a:xfrm>
          <a:prstGeom prst="triangle">
            <a:avLst>
              <a:gd name="adj" fmla="val 50000"/>
            </a:avLst>
          </a:prstGeom>
          <a:solidFill>
            <a:srgbClr val="00D4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1371600" y="4826000"/>
            <a:ext cx="5080000" cy="863600"/>
          </a:xfrm>
          <a:prstGeom prst="rect">
            <a:avLst/>
          </a:prstGeom>
          <a:solidFill>
            <a:srgbClr val="1118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1371600" y="4826000"/>
            <a:ext cx="190500" cy="863600"/>
          </a:xfrm>
          <a:prstGeom prst="rect">
            <a:avLst/>
          </a:prstGeom>
          <a:solidFill>
            <a:srgbClr val="00D4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803400" y="4864100"/>
            <a:ext cx="4445000" cy="711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3500" b="1" dirty="0">
                <a:solidFill>
                  <a:srgbClr val="E8EC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What Are Cookies?</a:t>
            </a:r>
            <a:endParaRPr lang="en-US" sz="3500" dirty="0"/>
          </a:p>
        </p:txBody>
      </p:sp>
      <p:sp>
        <p:nvSpPr>
          <p:cNvPr id="14" name="Text 12"/>
          <p:cNvSpPr/>
          <p:nvPr/>
        </p:nvSpPr>
        <p:spPr>
          <a:xfrm>
            <a:off x="1371600" y="6096000"/>
            <a:ext cx="10795000" cy="279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E8EC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Cookies are a way to </a:t>
            </a:r>
            <a:r>
              <a:rPr lang="en-US" sz="2000" b="1" dirty="0">
                <a:solidFill>
                  <a:srgbClr val="E8EC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store data on the client side</a:t>
            </a:r>
            <a:r>
              <a:rPr lang="en-US" sz="2000" dirty="0">
                <a:solidFill>
                  <a:srgbClr val="E8EC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. They are key-value pairs (both stored as strings) with a max size of </a:t>
            </a:r>
            <a:r>
              <a:rPr lang="en-US" sz="2000" b="1" dirty="0">
                <a:solidFill>
                  <a:srgbClr val="00D4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4KB</a:t>
            </a:r>
            <a:r>
              <a:rPr lang="en-US" sz="2000" dirty="0">
                <a:solidFill>
                  <a:srgbClr val="E8EC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.</a:t>
            </a:r>
            <a:endParaRPr lang="en-US" sz="2000" dirty="0"/>
          </a:p>
          <a:p>
            <a:pPr algn="l">
              <a:lnSpc>
                <a:spcPct val="160000"/>
              </a:lnSpc>
              <a:spcBef>
                <a:spcPts val="1200"/>
              </a:spcBef>
            </a:pPr>
            <a:r>
              <a:rPr lang="en-US" sz="2000" dirty="0">
                <a:solidFill>
                  <a:srgbClr val="E8EC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Can be created by both </a:t>
            </a:r>
            <a:r>
              <a:rPr lang="en-US" sz="2000" b="1" dirty="0">
                <a:solidFill>
                  <a:srgbClr val="E8EC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client</a:t>
            </a:r>
            <a:r>
              <a:rPr lang="en-US" sz="2000" dirty="0">
                <a:solidFill>
                  <a:srgbClr val="E8EC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and </a:t>
            </a:r>
            <a:r>
              <a:rPr lang="en-US" sz="2000" b="1" dirty="0">
                <a:solidFill>
                  <a:srgbClr val="E8EC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server</a:t>
            </a:r>
            <a:r>
              <a:rPr lang="en-US" sz="2000" dirty="0">
                <a:solidFill>
                  <a:srgbClr val="E8EC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(server instructs the client to create cookies via Set-Cookie header).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1371600" y="9271000"/>
            <a:ext cx="10795000" cy="2921000"/>
          </a:xfrm>
          <a:prstGeom prst="rect">
            <a:avLst/>
          </a:prstGeom>
          <a:solidFill>
            <a:srgbClr val="1118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1371600" y="9271000"/>
            <a:ext cx="190500" cy="2921000"/>
          </a:xfrm>
          <a:prstGeom prst="rect">
            <a:avLst/>
          </a:prstGeom>
          <a:solidFill>
            <a:srgbClr val="00FF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803400" y="9398000"/>
            <a:ext cx="5080000" cy="609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3500" b="1" dirty="0">
                <a:solidFill>
                  <a:srgbClr val="00FF8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Properties</a:t>
            </a:r>
            <a:endParaRPr lang="en-US" sz="3500" dirty="0"/>
          </a:p>
        </p:txBody>
      </p:sp>
      <p:sp>
        <p:nvSpPr>
          <p:cNvPr id="18" name="Text 16"/>
          <p:cNvSpPr/>
          <p:nvPr/>
        </p:nvSpPr>
        <p:spPr>
          <a:xfrm>
            <a:off x="1803400" y="10160000"/>
            <a:ext cx="100330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00D4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■</a:t>
            </a:r>
            <a:r>
              <a:rPr lang="en-US" sz="2000" dirty="0">
                <a:solidFill>
                  <a:srgbClr val="E8EC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Sent with </a:t>
            </a:r>
            <a:r>
              <a:rPr lang="en-US" sz="2000" b="1" dirty="0">
                <a:solidFill>
                  <a:srgbClr val="E8EC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every HTTP request</a:t>
            </a:r>
            <a:r>
              <a:rPr lang="en-US" sz="2000" dirty="0">
                <a:solidFill>
                  <a:srgbClr val="E8EC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to the domain that set them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00D4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■</a:t>
            </a:r>
            <a:r>
              <a:rPr lang="en-US" sz="2000" dirty="0">
                <a:solidFill>
                  <a:srgbClr val="E8EC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Can impact performance and increase request sizes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00D4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■</a:t>
            </a:r>
            <a:r>
              <a:rPr lang="en-US" sz="2000" dirty="0">
                <a:solidFill>
                  <a:srgbClr val="E8EC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Used for authentication, preferences, and tracking</a:t>
            </a:r>
            <a:endParaRPr lang="en-US" sz="2000" dirty="0"/>
          </a:p>
        </p:txBody>
      </p:sp>
      <p:pic>
        <p:nvPicPr>
          <p:cNvPr id="19" name="Image 0" descr="https://kimi-img.moonshot.cn/pub/slides/okc/dv33sntvow2p2/mnt/agents/output/http-methods-cookies/images/4_15_775_Lock_Cybersecurity_Digital.png"/>
          <p:cNvPicPr>
            <a:picLocks noChangeAspect="1"/>
          </p:cNvPicPr>
          <p:nvPr/>
        </p:nvPicPr>
        <p:blipFill>
          <a:blip r:embed="rId3">
            <a:alphaModFix amt="35000"/>
          </a:blip>
          <a:srcRect/>
          <a:stretch/>
        </p:blipFill>
        <p:spPr>
          <a:xfrm>
            <a:off x="12954000" y="4826000"/>
            <a:ext cx="10058400" cy="7366000"/>
          </a:xfrm>
          <a:prstGeom prst="rect">
            <a:avLst/>
          </a:prstGeom>
        </p:spPr>
      </p:pic>
      <p:sp>
        <p:nvSpPr>
          <p:cNvPr id="20" name="Shape 17"/>
          <p:cNvSpPr/>
          <p:nvPr/>
        </p:nvSpPr>
        <p:spPr>
          <a:xfrm>
            <a:off x="12954000" y="4826000"/>
            <a:ext cx="10058400" cy="7366000"/>
          </a:xfrm>
          <a:prstGeom prst="rect">
            <a:avLst/>
          </a:prstGeom>
          <a:gradFill flip="none" rotWithShape="1">
            <a:gsLst>
              <a:gs pos="0">
                <a:srgbClr val="0A0E1A"/>
              </a:gs>
              <a:gs pos="40000">
                <a:srgbClr val="0A0E1A">
                  <a:alpha val="50000"/>
                </a:srgbClr>
              </a:gs>
              <a:gs pos="100000">
                <a:srgbClr val="0A0E1A">
                  <a:alpha val="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44600" y="1282700"/>
            <a:ext cx="10795000" cy="1079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6800" b="1" dirty="0">
                <a:solidFill>
                  <a:srgbClr val="E8EC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COOKIE SECURITY</a:t>
            </a:r>
            <a:endParaRPr lang="en-US" sz="6800" dirty="0"/>
          </a:p>
        </p:txBody>
      </p:sp>
      <p:sp>
        <p:nvSpPr>
          <p:cNvPr id="3" name="Shape 1"/>
          <p:cNvSpPr/>
          <p:nvPr/>
        </p:nvSpPr>
        <p:spPr>
          <a:xfrm>
            <a:off x="12192000" y="1498600"/>
            <a:ext cx="5334000" cy="0"/>
          </a:xfrm>
          <a:prstGeom prst="straightConnector1">
            <a:avLst/>
          </a:prstGeom>
          <a:noFill/>
          <a:ln w="9525">
            <a:solidFill>
              <a:srgbClr val="E8ECF1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8161000" y="1244600"/>
            <a:ext cx="5207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2900" kern="0" spc="400" dirty="0">
                <a:solidFill>
                  <a:srgbClr val="E8EC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PART 04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 rot="5400000">
            <a:off x="1346200" y="3835400"/>
            <a:ext cx="368300" cy="330200"/>
          </a:xfrm>
          <a:prstGeom prst="triangle">
            <a:avLst>
              <a:gd name="adj" fmla="val 50000"/>
            </a:avLst>
          </a:prstGeom>
          <a:solidFill>
            <a:srgbClr val="00D4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 rot="5400000">
            <a:off x="1854200" y="3835400"/>
            <a:ext cx="368300" cy="330200"/>
          </a:xfrm>
          <a:prstGeom prst="triangle">
            <a:avLst>
              <a:gd name="adj" fmla="val 50000"/>
            </a:avLst>
          </a:prstGeom>
          <a:solidFill>
            <a:srgbClr val="00D4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 rot="5400000">
            <a:off x="2349500" y="3835400"/>
            <a:ext cx="368300" cy="330200"/>
          </a:xfrm>
          <a:prstGeom prst="triangle">
            <a:avLst>
              <a:gd name="adj" fmla="val 50000"/>
            </a:avLst>
          </a:prstGeom>
          <a:solidFill>
            <a:srgbClr val="00D4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 rot="5400000">
            <a:off x="2857500" y="3835400"/>
            <a:ext cx="368300" cy="330200"/>
          </a:xfrm>
          <a:prstGeom prst="triangle">
            <a:avLst>
              <a:gd name="adj" fmla="val 50000"/>
            </a:avLst>
          </a:prstGeom>
          <a:solidFill>
            <a:srgbClr val="00D4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 rot="5400000">
            <a:off x="3352800" y="3835400"/>
            <a:ext cx="368300" cy="330200"/>
          </a:xfrm>
          <a:prstGeom prst="triangle">
            <a:avLst>
              <a:gd name="adj" fmla="val 50000"/>
            </a:avLst>
          </a:prstGeom>
          <a:solidFill>
            <a:srgbClr val="00D4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 rot="5400000">
            <a:off x="3860800" y="3835400"/>
            <a:ext cx="368300" cy="330200"/>
          </a:xfrm>
          <a:prstGeom prst="triangle">
            <a:avLst>
              <a:gd name="adj" fmla="val 50000"/>
            </a:avLst>
          </a:prstGeom>
          <a:solidFill>
            <a:srgbClr val="00D4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1371600" y="4826000"/>
            <a:ext cx="6858000" cy="3556000"/>
          </a:xfrm>
          <a:prstGeom prst="rect">
            <a:avLst/>
          </a:prstGeom>
          <a:solidFill>
            <a:srgbClr val="1118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1371600" y="4826000"/>
            <a:ext cx="76200" cy="3556000"/>
          </a:xfrm>
          <a:prstGeom prst="rect">
            <a:avLst/>
          </a:prstGeom>
          <a:solidFill>
            <a:srgbClr val="FF6B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1803400" y="50800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54000" y="0"/>
                </a:moveTo>
                <a:cubicBezTo>
                  <a:pt x="258564" y="0"/>
                  <a:pt x="263128" y="992"/>
                  <a:pt x="267295" y="2877"/>
                </a:cubicBezTo>
                <a:lnTo>
                  <a:pt x="454223" y="82153"/>
                </a:lnTo>
                <a:cubicBezTo>
                  <a:pt x="476052" y="91380"/>
                  <a:pt x="492323" y="112911"/>
                  <a:pt x="492224" y="138906"/>
                </a:cubicBezTo>
                <a:cubicBezTo>
                  <a:pt x="491728" y="237331"/>
                  <a:pt x="451247" y="417413"/>
                  <a:pt x="280293" y="499269"/>
                </a:cubicBezTo>
                <a:cubicBezTo>
                  <a:pt x="263723" y="507206"/>
                  <a:pt x="244475" y="507206"/>
                  <a:pt x="227905" y="499269"/>
                </a:cubicBezTo>
                <a:cubicBezTo>
                  <a:pt x="56852" y="417413"/>
                  <a:pt x="16470" y="237331"/>
                  <a:pt x="15974" y="138906"/>
                </a:cubicBezTo>
                <a:cubicBezTo>
                  <a:pt x="15875" y="112911"/>
                  <a:pt x="32147" y="91380"/>
                  <a:pt x="53975" y="82153"/>
                </a:cubicBezTo>
                <a:lnTo>
                  <a:pt x="240804" y="2877"/>
                </a:lnTo>
                <a:cubicBezTo>
                  <a:pt x="244971" y="992"/>
                  <a:pt x="249436" y="0"/>
                  <a:pt x="254000" y="0"/>
                </a:cubicBezTo>
                <a:close/>
                <a:moveTo>
                  <a:pt x="254000" y="66278"/>
                </a:moveTo>
                <a:lnTo>
                  <a:pt x="254000" y="441424"/>
                </a:lnTo>
                <a:cubicBezTo>
                  <a:pt x="390922" y="375146"/>
                  <a:pt x="427732" y="228302"/>
                  <a:pt x="428625" y="140395"/>
                </a:cubicBezTo>
                <a:lnTo>
                  <a:pt x="254000" y="66377"/>
                </a:lnTo>
                <a:lnTo>
                  <a:pt x="254000" y="66377"/>
                </a:lnTo>
                <a:close/>
              </a:path>
            </a:pathLst>
          </a:custGeom>
          <a:solidFill>
            <a:srgbClr val="FF6B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2540000" y="5080000"/>
            <a:ext cx="5334000" cy="609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3500" b="1" dirty="0">
                <a:solidFill>
                  <a:srgbClr val="E8EC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HttpOnly</a:t>
            </a:r>
            <a:endParaRPr lang="en-US" sz="3500" dirty="0"/>
          </a:p>
        </p:txBody>
      </p:sp>
      <p:sp>
        <p:nvSpPr>
          <p:cNvPr id="15" name="Text 13"/>
          <p:cNvSpPr/>
          <p:nvPr/>
        </p:nvSpPr>
        <p:spPr>
          <a:xfrm>
            <a:off x="1803400" y="5842000"/>
            <a:ext cx="6096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E8EC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Cannot be accessed by client-side JavaScript. Helps prevent </a:t>
            </a:r>
            <a:r>
              <a:rPr lang="en-US" sz="2000" b="1" dirty="0">
                <a:solidFill>
                  <a:srgbClr val="FF6B6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XSS attacks</a:t>
            </a:r>
            <a:r>
              <a:rPr lang="en-US" sz="2000" dirty="0">
                <a:solidFill>
                  <a:srgbClr val="E8EC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. To send them, use credentials: 'include' in fetch or withCredentials: true in axios.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8712200" y="4826000"/>
            <a:ext cx="6858000" cy="355600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8712200" y="4826000"/>
            <a:ext cx="76200" cy="3556000"/>
          </a:xfrm>
          <a:prstGeom prst="rect">
            <a:avLst/>
          </a:prstGeom>
          <a:solidFill>
            <a:srgbClr val="00FF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9144000" y="50800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169333" y="95250"/>
                </a:moveTo>
                <a:lnTo>
                  <a:pt x="169333" y="158750"/>
                </a:lnTo>
                <a:lnTo>
                  <a:pt x="338667" y="158750"/>
                </a:lnTo>
                <a:lnTo>
                  <a:pt x="338667" y="95250"/>
                </a:lnTo>
                <a:cubicBezTo>
                  <a:pt x="338667" y="60226"/>
                  <a:pt x="300699" y="31750"/>
                  <a:pt x="254000" y="31750"/>
                </a:cubicBezTo>
                <a:cubicBezTo>
                  <a:pt x="207301" y="31750"/>
                  <a:pt x="169333" y="60226"/>
                  <a:pt x="169333" y="95250"/>
                </a:cubicBezTo>
                <a:close/>
                <a:moveTo>
                  <a:pt x="84667" y="158750"/>
                </a:moveTo>
                <a:lnTo>
                  <a:pt x="84667" y="95250"/>
                </a:lnTo>
                <a:cubicBezTo>
                  <a:pt x="84667" y="25102"/>
                  <a:pt x="160470" y="-31750"/>
                  <a:pt x="254000" y="-31750"/>
                </a:cubicBezTo>
                <a:cubicBezTo>
                  <a:pt x="347530" y="-31750"/>
                  <a:pt x="423333" y="25102"/>
                  <a:pt x="423333" y="95250"/>
                </a:cubicBezTo>
                <a:lnTo>
                  <a:pt x="423333" y="158750"/>
                </a:lnTo>
                <a:cubicBezTo>
                  <a:pt x="470032" y="158750"/>
                  <a:pt x="508000" y="187226"/>
                  <a:pt x="508000" y="222250"/>
                </a:cubicBezTo>
                <a:lnTo>
                  <a:pt x="508000" y="444500"/>
                </a:lnTo>
                <a:cubicBezTo>
                  <a:pt x="508000" y="479524"/>
                  <a:pt x="470032" y="508000"/>
                  <a:pt x="423333" y="508000"/>
                </a:cubicBezTo>
                <a:lnTo>
                  <a:pt x="84667" y="508000"/>
                </a:lnTo>
                <a:cubicBezTo>
                  <a:pt x="37968" y="508000"/>
                  <a:pt x="0" y="479524"/>
                  <a:pt x="0" y="444500"/>
                </a:cubicBezTo>
                <a:lnTo>
                  <a:pt x="0" y="222250"/>
                </a:lnTo>
                <a:cubicBezTo>
                  <a:pt x="0" y="187226"/>
                  <a:pt x="37968" y="158750"/>
                  <a:pt x="84667" y="158750"/>
                </a:cubicBezTo>
                <a:close/>
              </a:path>
            </a:pathLst>
          </a:custGeom>
          <a:solidFill>
            <a:srgbClr val="00FF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9880600" y="5080000"/>
            <a:ext cx="5334000" cy="609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3500" b="1" dirty="0">
                <a:solidFill>
                  <a:srgbClr val="E8EC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SameSite</a:t>
            </a:r>
            <a:endParaRPr lang="en-US" sz="3500" dirty="0"/>
          </a:p>
        </p:txBody>
      </p:sp>
      <p:sp>
        <p:nvSpPr>
          <p:cNvPr id="20" name="Text 18"/>
          <p:cNvSpPr/>
          <p:nvPr/>
        </p:nvSpPr>
        <p:spPr>
          <a:xfrm>
            <a:off x="9144000" y="5842000"/>
            <a:ext cx="6096000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E8EC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Restricts how cookies are sent with cross-site requests to prevent </a:t>
            </a:r>
            <a:r>
              <a:rPr lang="en-US" sz="2000" b="1" dirty="0">
                <a:solidFill>
                  <a:srgbClr val="00FF8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CSRF attacks</a:t>
            </a:r>
            <a:r>
              <a:rPr lang="en-US" sz="2000" dirty="0">
                <a:solidFill>
                  <a:srgbClr val="E8EC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.</a:t>
            </a:r>
            <a:endParaRPr lang="en-US" sz="2000" dirty="0"/>
          </a:p>
          <a:p>
            <a:pPr algn="l">
              <a:lnSpc>
                <a:spcPct val="160000"/>
              </a:lnSpc>
              <a:spcBef>
                <a:spcPts val="400"/>
              </a:spcBef>
            </a:pPr>
            <a:r>
              <a:rPr lang="en-US" sz="2000" b="1" dirty="0">
                <a:solidFill>
                  <a:srgbClr val="E8EC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Strict</a:t>
            </a:r>
            <a:r>
              <a:rPr lang="en-US" sz="2000" dirty="0">
                <a:solidFill>
                  <a:srgbClr val="E8EC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: Same site only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E8EC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Lax</a:t>
            </a:r>
            <a:r>
              <a:rPr lang="en-US" sz="2000" dirty="0">
                <a:solidFill>
                  <a:srgbClr val="E8EC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: Some cross-site OK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E8EC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None</a:t>
            </a:r>
            <a:r>
              <a:rPr lang="en-US" sz="2000" dirty="0">
                <a:solidFill>
                  <a:srgbClr val="E8EC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: All + Secure required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16052800" y="4826000"/>
            <a:ext cx="6858000" cy="3556000"/>
          </a:xfrm>
          <a:prstGeom prst="rect">
            <a:avLst/>
          </a:prstGeom>
          <a:solidFill>
            <a:srgbClr val="1118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16052800" y="4826000"/>
            <a:ext cx="76200" cy="3556000"/>
          </a:xfrm>
          <a:prstGeom prst="rect">
            <a:avLst/>
          </a:prstGeom>
          <a:solidFill>
            <a:srgbClr val="00D4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16484600" y="50800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333375" y="349250"/>
                </a:moveTo>
                <a:cubicBezTo>
                  <a:pt x="429816" y="349250"/>
                  <a:pt x="508000" y="271066"/>
                  <a:pt x="508000" y="174625"/>
                </a:cubicBezTo>
                <a:cubicBezTo>
                  <a:pt x="508000" y="78184"/>
                  <a:pt x="429816" y="0"/>
                  <a:pt x="333375" y="0"/>
                </a:cubicBezTo>
                <a:cubicBezTo>
                  <a:pt x="236934" y="0"/>
                  <a:pt x="158750" y="78184"/>
                  <a:pt x="158750" y="174625"/>
                </a:cubicBezTo>
                <a:cubicBezTo>
                  <a:pt x="158750" y="193179"/>
                  <a:pt x="161627" y="211138"/>
                  <a:pt x="166985" y="227905"/>
                </a:cubicBezTo>
                <a:lnTo>
                  <a:pt x="6945" y="387945"/>
                </a:lnTo>
                <a:cubicBezTo>
                  <a:pt x="2480" y="392410"/>
                  <a:pt x="0" y="398463"/>
                  <a:pt x="0" y="404813"/>
                </a:cubicBezTo>
                <a:lnTo>
                  <a:pt x="0" y="484187"/>
                </a:lnTo>
                <a:cubicBezTo>
                  <a:pt x="0" y="497384"/>
                  <a:pt x="10616" y="508000"/>
                  <a:pt x="23812" y="508000"/>
                </a:cubicBezTo>
                <a:lnTo>
                  <a:pt x="103188" y="508000"/>
                </a:lnTo>
                <a:cubicBezTo>
                  <a:pt x="116384" y="508000"/>
                  <a:pt x="127000" y="497384"/>
                  <a:pt x="127000" y="484187"/>
                </a:cubicBezTo>
                <a:lnTo>
                  <a:pt x="127000" y="444500"/>
                </a:lnTo>
                <a:lnTo>
                  <a:pt x="166688" y="444500"/>
                </a:lnTo>
                <a:cubicBezTo>
                  <a:pt x="179884" y="444500"/>
                  <a:pt x="190500" y="433884"/>
                  <a:pt x="190500" y="420688"/>
                </a:cubicBezTo>
                <a:lnTo>
                  <a:pt x="190500" y="381000"/>
                </a:lnTo>
                <a:lnTo>
                  <a:pt x="230188" y="381000"/>
                </a:lnTo>
                <a:cubicBezTo>
                  <a:pt x="236538" y="381000"/>
                  <a:pt x="242590" y="378520"/>
                  <a:pt x="247055" y="374055"/>
                </a:cubicBezTo>
                <a:lnTo>
                  <a:pt x="280095" y="341015"/>
                </a:lnTo>
                <a:cubicBezTo>
                  <a:pt x="296862" y="346373"/>
                  <a:pt x="314821" y="349250"/>
                  <a:pt x="333375" y="349250"/>
                </a:cubicBezTo>
                <a:close/>
                <a:moveTo>
                  <a:pt x="373063" y="95250"/>
                </a:moveTo>
                <a:cubicBezTo>
                  <a:pt x="394967" y="95250"/>
                  <a:pt x="412750" y="113033"/>
                  <a:pt x="412750" y="134938"/>
                </a:cubicBezTo>
                <a:cubicBezTo>
                  <a:pt x="412750" y="156842"/>
                  <a:pt x="394967" y="174625"/>
                  <a:pt x="373063" y="174625"/>
                </a:cubicBezTo>
                <a:cubicBezTo>
                  <a:pt x="351158" y="174625"/>
                  <a:pt x="333375" y="156842"/>
                  <a:pt x="333375" y="134938"/>
                </a:cubicBezTo>
                <a:cubicBezTo>
                  <a:pt x="333375" y="113033"/>
                  <a:pt x="351158" y="95250"/>
                  <a:pt x="373063" y="95250"/>
                </a:cubicBezTo>
                <a:close/>
              </a:path>
            </a:pathLst>
          </a:custGeom>
          <a:solidFill>
            <a:srgbClr val="00D4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17221200" y="5080000"/>
            <a:ext cx="5334000" cy="609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3500" b="1" dirty="0">
                <a:solidFill>
                  <a:srgbClr val="E8EC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Secure</a:t>
            </a:r>
            <a:endParaRPr lang="en-US" sz="3500" dirty="0"/>
          </a:p>
        </p:txBody>
      </p:sp>
      <p:sp>
        <p:nvSpPr>
          <p:cNvPr id="25" name="Text 23"/>
          <p:cNvSpPr/>
          <p:nvPr/>
        </p:nvSpPr>
        <p:spPr>
          <a:xfrm>
            <a:off x="16484600" y="5842000"/>
            <a:ext cx="6096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E8EC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Ensures the cookie is only sent over </a:t>
            </a:r>
            <a:r>
              <a:rPr lang="en-US" sz="2000" b="1" dirty="0">
                <a:solidFill>
                  <a:srgbClr val="00D4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HTTPS</a:t>
            </a:r>
            <a:r>
              <a:rPr lang="en-US" sz="2000" dirty="0">
                <a:solidFill>
                  <a:srgbClr val="E8EC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. Required when SameSite=None is used. Prevents cookie theft over unencrypted connections.</a:t>
            </a:r>
            <a:endParaRPr lang="en-US" sz="2000" dirty="0"/>
          </a:p>
        </p:txBody>
      </p:sp>
      <p:sp>
        <p:nvSpPr>
          <p:cNvPr id="26" name="Shape 24"/>
          <p:cNvSpPr/>
          <p:nvPr/>
        </p:nvSpPr>
        <p:spPr>
          <a:xfrm>
            <a:off x="1371600" y="8890000"/>
            <a:ext cx="6858000" cy="330200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1371600" y="8890000"/>
            <a:ext cx="76200" cy="3302000"/>
          </a:xfrm>
          <a:prstGeom prst="rect">
            <a:avLst/>
          </a:prstGeom>
          <a:solidFill>
            <a:srgbClr val="4A90D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1803400" y="91440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54000" y="0"/>
                </a:moveTo>
                <a:cubicBezTo>
                  <a:pt x="394186" y="0"/>
                  <a:pt x="508000" y="113814"/>
                  <a:pt x="508000" y="254000"/>
                </a:cubicBezTo>
                <a:cubicBezTo>
                  <a:pt x="508000" y="394186"/>
                  <a:pt x="394186" y="508000"/>
                  <a:pt x="254000" y="508000"/>
                </a:cubicBezTo>
                <a:cubicBezTo>
                  <a:pt x="113814" y="508000"/>
                  <a:pt x="0" y="394186"/>
                  <a:pt x="0" y="254000"/>
                </a:cubicBezTo>
                <a:cubicBezTo>
                  <a:pt x="0" y="113814"/>
                  <a:pt x="113814" y="0"/>
                  <a:pt x="254000" y="0"/>
                </a:cubicBezTo>
                <a:close/>
                <a:moveTo>
                  <a:pt x="230188" y="119063"/>
                </a:moveTo>
                <a:lnTo>
                  <a:pt x="230188" y="254000"/>
                </a:lnTo>
                <a:cubicBezTo>
                  <a:pt x="230188" y="261937"/>
                  <a:pt x="234156" y="269379"/>
                  <a:pt x="240804" y="273844"/>
                </a:cubicBezTo>
                <a:lnTo>
                  <a:pt x="336054" y="337344"/>
                </a:lnTo>
                <a:cubicBezTo>
                  <a:pt x="346968" y="344686"/>
                  <a:pt x="361752" y="341709"/>
                  <a:pt x="369094" y="330696"/>
                </a:cubicBezTo>
                <a:cubicBezTo>
                  <a:pt x="376436" y="319683"/>
                  <a:pt x="373459" y="304998"/>
                  <a:pt x="362446" y="297656"/>
                </a:cubicBezTo>
                <a:lnTo>
                  <a:pt x="277813" y="241300"/>
                </a:lnTo>
                <a:lnTo>
                  <a:pt x="277813" y="119063"/>
                </a:lnTo>
                <a:cubicBezTo>
                  <a:pt x="277813" y="105866"/>
                  <a:pt x="267196" y="95250"/>
                  <a:pt x="254000" y="95250"/>
                </a:cubicBezTo>
                <a:cubicBezTo>
                  <a:pt x="240804" y="95250"/>
                  <a:pt x="230188" y="105866"/>
                  <a:pt x="230188" y="119063"/>
                </a:cubicBezTo>
                <a:close/>
              </a:path>
            </a:pathLst>
          </a:custGeom>
          <a:solidFill>
            <a:srgbClr val="4A90D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2540000" y="9144000"/>
            <a:ext cx="5334000" cy="609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3500" b="1" dirty="0">
                <a:solidFill>
                  <a:srgbClr val="E8EC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Max-Age / Expires</a:t>
            </a:r>
            <a:endParaRPr lang="en-US" sz="3500" dirty="0"/>
          </a:p>
        </p:txBody>
      </p:sp>
      <p:sp>
        <p:nvSpPr>
          <p:cNvPr id="30" name="Text 28"/>
          <p:cNvSpPr/>
          <p:nvPr/>
        </p:nvSpPr>
        <p:spPr>
          <a:xfrm>
            <a:off x="1803400" y="9906000"/>
            <a:ext cx="6096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E8EC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Max-Age</a:t>
            </a:r>
            <a:r>
              <a:rPr lang="en-US" sz="2000" dirty="0">
                <a:solidFill>
                  <a:srgbClr val="E8EC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: Duration in seconds until expiration. </a:t>
            </a:r>
            <a:r>
              <a:rPr lang="en-US" sz="2000" b="1" dirty="0">
                <a:solidFill>
                  <a:srgbClr val="E8EC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Expires</a:t>
            </a:r>
            <a:r>
              <a:rPr lang="en-US" sz="2000" dirty="0">
                <a:solidFill>
                  <a:srgbClr val="E8EC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: Specific date/time for expiration.</a:t>
            </a:r>
            <a:endParaRPr lang="en-US" sz="2000" dirty="0"/>
          </a:p>
        </p:txBody>
      </p:sp>
      <p:sp>
        <p:nvSpPr>
          <p:cNvPr id="31" name="Shape 29"/>
          <p:cNvSpPr/>
          <p:nvPr/>
        </p:nvSpPr>
        <p:spPr>
          <a:xfrm>
            <a:off x="8712200" y="8890000"/>
            <a:ext cx="6858000" cy="3302000"/>
          </a:xfrm>
          <a:prstGeom prst="rect">
            <a:avLst/>
          </a:prstGeom>
          <a:solidFill>
            <a:srgbClr val="1118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8712200" y="8890000"/>
            <a:ext cx="76200" cy="3302000"/>
          </a:xfrm>
          <a:prstGeom prst="rect">
            <a:avLst/>
          </a:prstGeom>
          <a:solidFill>
            <a:srgbClr val="8B95A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9144000" y="91440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508000" y="95250"/>
                </a:moveTo>
                <a:cubicBezTo>
                  <a:pt x="508000" y="145058"/>
                  <a:pt x="449362" y="219373"/>
                  <a:pt x="424061" y="249039"/>
                </a:cubicBezTo>
                <a:cubicBezTo>
                  <a:pt x="420291" y="253405"/>
                  <a:pt x="414734" y="255091"/>
                  <a:pt x="409674" y="254000"/>
                </a:cubicBezTo>
                <a:lnTo>
                  <a:pt x="317500" y="254000"/>
                </a:lnTo>
                <a:cubicBezTo>
                  <a:pt x="299938" y="254000"/>
                  <a:pt x="285750" y="268188"/>
                  <a:pt x="285750" y="285750"/>
                </a:cubicBezTo>
                <a:cubicBezTo>
                  <a:pt x="285750" y="303312"/>
                  <a:pt x="299938" y="317500"/>
                  <a:pt x="317500" y="317500"/>
                </a:cubicBezTo>
                <a:lnTo>
                  <a:pt x="412750" y="317500"/>
                </a:lnTo>
                <a:cubicBezTo>
                  <a:pt x="465336" y="317500"/>
                  <a:pt x="508000" y="360164"/>
                  <a:pt x="508000" y="412750"/>
                </a:cubicBezTo>
                <a:cubicBezTo>
                  <a:pt x="508000" y="465336"/>
                  <a:pt x="465336" y="508000"/>
                  <a:pt x="412750" y="508000"/>
                </a:cubicBezTo>
                <a:lnTo>
                  <a:pt x="138509" y="508000"/>
                </a:lnTo>
                <a:cubicBezTo>
                  <a:pt x="147141" y="498177"/>
                  <a:pt x="157659" y="485577"/>
                  <a:pt x="168275" y="471488"/>
                </a:cubicBezTo>
                <a:cubicBezTo>
                  <a:pt x="174526" y="463153"/>
                  <a:pt x="180975" y="454025"/>
                  <a:pt x="187127" y="444500"/>
                </a:cubicBezTo>
                <a:lnTo>
                  <a:pt x="412750" y="444500"/>
                </a:lnTo>
                <a:cubicBezTo>
                  <a:pt x="430312" y="444500"/>
                  <a:pt x="444500" y="430312"/>
                  <a:pt x="444500" y="412750"/>
                </a:cubicBezTo>
                <a:cubicBezTo>
                  <a:pt x="444500" y="395188"/>
                  <a:pt x="430312" y="381000"/>
                  <a:pt x="412750" y="381000"/>
                </a:cubicBezTo>
                <a:lnTo>
                  <a:pt x="317500" y="381000"/>
                </a:lnTo>
                <a:cubicBezTo>
                  <a:pt x="264914" y="381000"/>
                  <a:pt x="222250" y="338336"/>
                  <a:pt x="222250" y="285750"/>
                </a:cubicBezTo>
                <a:cubicBezTo>
                  <a:pt x="222250" y="233164"/>
                  <a:pt x="264914" y="190500"/>
                  <a:pt x="317500" y="190500"/>
                </a:cubicBezTo>
                <a:lnTo>
                  <a:pt x="356989" y="190500"/>
                </a:lnTo>
                <a:cubicBezTo>
                  <a:pt x="336153" y="159246"/>
                  <a:pt x="317500" y="123329"/>
                  <a:pt x="317500" y="95250"/>
                </a:cubicBezTo>
                <a:cubicBezTo>
                  <a:pt x="317500" y="42664"/>
                  <a:pt x="360164" y="0"/>
                  <a:pt x="412750" y="0"/>
                </a:cubicBezTo>
                <a:cubicBezTo>
                  <a:pt x="465336" y="0"/>
                  <a:pt x="508000" y="42664"/>
                  <a:pt x="508000" y="95250"/>
                </a:cubicBezTo>
                <a:close/>
                <a:moveTo>
                  <a:pt x="116185" y="485279"/>
                </a:moveTo>
                <a:cubicBezTo>
                  <a:pt x="112415" y="489545"/>
                  <a:pt x="109041" y="493316"/>
                  <a:pt x="106164" y="496491"/>
                </a:cubicBezTo>
                <a:lnTo>
                  <a:pt x="104378" y="498475"/>
                </a:lnTo>
                <a:lnTo>
                  <a:pt x="104180" y="498277"/>
                </a:lnTo>
                <a:cubicBezTo>
                  <a:pt x="98227" y="502841"/>
                  <a:pt x="89694" y="502245"/>
                  <a:pt x="84336" y="496491"/>
                </a:cubicBezTo>
                <a:cubicBezTo>
                  <a:pt x="59333" y="469305"/>
                  <a:pt x="0" y="399355"/>
                  <a:pt x="0" y="349250"/>
                </a:cubicBezTo>
                <a:cubicBezTo>
                  <a:pt x="0" y="296664"/>
                  <a:pt x="42664" y="254000"/>
                  <a:pt x="95250" y="254000"/>
                </a:cubicBezTo>
                <a:cubicBezTo>
                  <a:pt x="147836" y="254000"/>
                  <a:pt x="190500" y="296664"/>
                  <a:pt x="190500" y="349250"/>
                </a:cubicBezTo>
                <a:cubicBezTo>
                  <a:pt x="190500" y="379016"/>
                  <a:pt x="169565" y="415727"/>
                  <a:pt x="147340" y="446385"/>
                </a:cubicBezTo>
                <a:cubicBezTo>
                  <a:pt x="136723" y="460970"/>
                  <a:pt x="125809" y="474166"/>
                  <a:pt x="116780" y="484584"/>
                </a:cubicBezTo>
                <a:lnTo>
                  <a:pt x="116185" y="485279"/>
                </a:lnTo>
                <a:close/>
                <a:moveTo>
                  <a:pt x="127000" y="349250"/>
                </a:moveTo>
                <a:cubicBezTo>
                  <a:pt x="127000" y="331727"/>
                  <a:pt x="112773" y="317500"/>
                  <a:pt x="95250" y="317500"/>
                </a:cubicBezTo>
                <a:cubicBezTo>
                  <a:pt x="77727" y="317500"/>
                  <a:pt x="63500" y="331727"/>
                  <a:pt x="63500" y="349250"/>
                </a:cubicBezTo>
                <a:cubicBezTo>
                  <a:pt x="63500" y="366773"/>
                  <a:pt x="77727" y="381000"/>
                  <a:pt x="95250" y="381000"/>
                </a:cubicBezTo>
                <a:cubicBezTo>
                  <a:pt x="112773" y="381000"/>
                  <a:pt x="127000" y="366773"/>
                  <a:pt x="127000" y="349250"/>
                </a:cubicBezTo>
                <a:close/>
                <a:moveTo>
                  <a:pt x="412750" y="127000"/>
                </a:moveTo>
                <a:cubicBezTo>
                  <a:pt x="430273" y="127000"/>
                  <a:pt x="444500" y="112773"/>
                  <a:pt x="444500" y="95250"/>
                </a:cubicBezTo>
                <a:cubicBezTo>
                  <a:pt x="444500" y="77727"/>
                  <a:pt x="430273" y="63500"/>
                  <a:pt x="412750" y="63500"/>
                </a:cubicBezTo>
                <a:cubicBezTo>
                  <a:pt x="395227" y="63500"/>
                  <a:pt x="381000" y="77727"/>
                  <a:pt x="381000" y="95250"/>
                </a:cubicBezTo>
                <a:cubicBezTo>
                  <a:pt x="381000" y="112773"/>
                  <a:pt x="395227" y="127000"/>
                  <a:pt x="412750" y="127000"/>
                </a:cubicBezTo>
                <a:close/>
              </a:path>
            </a:pathLst>
          </a:custGeom>
          <a:solidFill>
            <a:srgbClr val="8B95A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9880600" y="9144000"/>
            <a:ext cx="5334000" cy="609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3500" b="1" dirty="0">
                <a:solidFill>
                  <a:srgbClr val="E8EC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Path &amp; Domain</a:t>
            </a:r>
            <a:endParaRPr lang="en-US" sz="3500" dirty="0"/>
          </a:p>
        </p:txBody>
      </p:sp>
      <p:sp>
        <p:nvSpPr>
          <p:cNvPr id="35" name="Text 33"/>
          <p:cNvSpPr/>
          <p:nvPr/>
        </p:nvSpPr>
        <p:spPr>
          <a:xfrm>
            <a:off x="9144000" y="9906000"/>
            <a:ext cx="6096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E8EC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Path</a:t>
            </a:r>
            <a:r>
              <a:rPr lang="en-US" sz="2000" dirty="0">
                <a:solidFill>
                  <a:srgbClr val="E8EC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: Specifies URL path scope. </a:t>
            </a:r>
            <a:r>
              <a:rPr lang="en-US" sz="2000" b="1" dirty="0">
                <a:solidFill>
                  <a:srgbClr val="E8EC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Domain</a:t>
            </a:r>
            <a:r>
              <a:rPr lang="en-US" sz="2000" dirty="0">
                <a:solidFill>
                  <a:srgbClr val="E8EC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: Sets valid domain. Use Domain=.example.com for subdomains.</a:t>
            </a:r>
            <a:endParaRPr lang="en-US" sz="2000" dirty="0"/>
          </a:p>
        </p:txBody>
      </p:sp>
      <p:sp>
        <p:nvSpPr>
          <p:cNvPr id="36" name="Shape 34"/>
          <p:cNvSpPr/>
          <p:nvPr/>
        </p:nvSpPr>
        <p:spPr>
          <a:xfrm>
            <a:off x="16052800" y="8890000"/>
            <a:ext cx="6858000" cy="3302000"/>
          </a:xfrm>
          <a:prstGeom prst="rect">
            <a:avLst/>
          </a:prstGeom>
          <a:solidFill>
            <a:srgbClr val="00FF88">
              <a:alpha val="12549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16052800" y="8890000"/>
            <a:ext cx="76200" cy="3302000"/>
          </a:xfrm>
          <a:prstGeom prst="rect">
            <a:avLst/>
          </a:prstGeom>
          <a:solidFill>
            <a:srgbClr val="00FF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16484600" y="91440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54000" y="508000"/>
                </a:moveTo>
                <a:cubicBezTo>
                  <a:pt x="394186" y="508000"/>
                  <a:pt x="508000" y="394186"/>
                  <a:pt x="508000" y="254000"/>
                </a:cubicBezTo>
                <a:cubicBezTo>
                  <a:pt x="508000" y="113814"/>
                  <a:pt x="394186" y="0"/>
                  <a:pt x="254000" y="0"/>
                </a:cubicBezTo>
                <a:cubicBezTo>
                  <a:pt x="113814" y="0"/>
                  <a:pt x="0" y="113814"/>
                  <a:pt x="0" y="254000"/>
                </a:cubicBezTo>
                <a:cubicBezTo>
                  <a:pt x="0" y="394186"/>
                  <a:pt x="113814" y="508000"/>
                  <a:pt x="254000" y="508000"/>
                </a:cubicBezTo>
                <a:close/>
                <a:moveTo>
                  <a:pt x="337741" y="211038"/>
                </a:moveTo>
                <a:lnTo>
                  <a:pt x="258366" y="338038"/>
                </a:lnTo>
                <a:cubicBezTo>
                  <a:pt x="254198" y="344686"/>
                  <a:pt x="247055" y="348853"/>
                  <a:pt x="239216" y="349250"/>
                </a:cubicBezTo>
                <a:cubicBezTo>
                  <a:pt x="231378" y="349647"/>
                  <a:pt x="223837" y="346075"/>
                  <a:pt x="219174" y="339725"/>
                </a:cubicBezTo>
                <a:lnTo>
                  <a:pt x="171549" y="276225"/>
                </a:lnTo>
                <a:cubicBezTo>
                  <a:pt x="163612" y="265708"/>
                  <a:pt x="165795" y="250825"/>
                  <a:pt x="176312" y="242888"/>
                </a:cubicBezTo>
                <a:cubicBezTo>
                  <a:pt x="186829" y="234950"/>
                  <a:pt x="201712" y="237133"/>
                  <a:pt x="209649" y="247650"/>
                </a:cubicBezTo>
                <a:lnTo>
                  <a:pt x="236438" y="283369"/>
                </a:lnTo>
                <a:lnTo>
                  <a:pt x="297359" y="185837"/>
                </a:lnTo>
                <a:cubicBezTo>
                  <a:pt x="304304" y="174724"/>
                  <a:pt x="318988" y="171252"/>
                  <a:pt x="330200" y="178296"/>
                </a:cubicBezTo>
                <a:cubicBezTo>
                  <a:pt x="341412" y="185341"/>
                  <a:pt x="344785" y="199926"/>
                  <a:pt x="337741" y="211138"/>
                </a:cubicBezTo>
                <a:close/>
              </a:path>
            </a:pathLst>
          </a:custGeom>
          <a:solidFill>
            <a:srgbClr val="00FF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17221200" y="9144000"/>
            <a:ext cx="5334000" cy="609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3500" b="1" dirty="0">
                <a:solidFill>
                  <a:srgbClr val="00FF8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Security Best Practice</a:t>
            </a:r>
            <a:endParaRPr lang="en-US" sz="3500" dirty="0"/>
          </a:p>
        </p:txBody>
      </p:sp>
      <p:sp>
        <p:nvSpPr>
          <p:cNvPr id="40" name="Text 38"/>
          <p:cNvSpPr/>
          <p:nvPr/>
        </p:nvSpPr>
        <p:spPr>
          <a:xfrm>
            <a:off x="16484600" y="9906000"/>
            <a:ext cx="6096000" cy="203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E8EC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Always combine </a:t>
            </a:r>
            <a:r>
              <a:rPr lang="en-US" sz="2000" b="1" dirty="0">
                <a:solidFill>
                  <a:srgbClr val="E8EC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HttpOnly + Secure + SameSite=Strict</a:t>
            </a:r>
            <a:r>
              <a:rPr lang="en-US" sz="2000" dirty="0">
                <a:solidFill>
                  <a:srgbClr val="E8EC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for session cookies. This is the gold standard for cookie security.</a:t>
            </a:r>
            <a:endParaRPr lang="en-US" sz="2000" dirty="0"/>
          </a:p>
        </p:txBody>
      </p:sp>
    </p:spTree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44600" y="1282700"/>
            <a:ext cx="10795000" cy="1079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6800" b="1" dirty="0">
                <a:solidFill>
                  <a:srgbClr val="E8EC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ETAG &amp; CACHING</a:t>
            </a:r>
            <a:endParaRPr lang="en-US" sz="6800" dirty="0"/>
          </a:p>
        </p:txBody>
      </p:sp>
      <p:sp>
        <p:nvSpPr>
          <p:cNvPr id="3" name="Shape 1"/>
          <p:cNvSpPr/>
          <p:nvPr/>
        </p:nvSpPr>
        <p:spPr>
          <a:xfrm>
            <a:off x="12192000" y="1498600"/>
            <a:ext cx="5334000" cy="0"/>
          </a:xfrm>
          <a:prstGeom prst="straightConnector1">
            <a:avLst/>
          </a:prstGeom>
          <a:noFill/>
          <a:ln w="9525">
            <a:solidFill>
              <a:srgbClr val="E8ECF1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8161000" y="1244600"/>
            <a:ext cx="5207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2900" kern="0" spc="400" dirty="0">
                <a:solidFill>
                  <a:srgbClr val="E8EC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PART 04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 rot="5400000">
            <a:off x="1346200" y="3835400"/>
            <a:ext cx="368300" cy="330200"/>
          </a:xfrm>
          <a:prstGeom prst="triangle">
            <a:avLst>
              <a:gd name="adj" fmla="val 50000"/>
            </a:avLst>
          </a:prstGeom>
          <a:solidFill>
            <a:srgbClr val="00D4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 rot="5400000">
            <a:off x="1854200" y="3835400"/>
            <a:ext cx="368300" cy="330200"/>
          </a:xfrm>
          <a:prstGeom prst="triangle">
            <a:avLst>
              <a:gd name="adj" fmla="val 50000"/>
            </a:avLst>
          </a:prstGeom>
          <a:solidFill>
            <a:srgbClr val="00D4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 rot="5400000">
            <a:off x="2349500" y="3835400"/>
            <a:ext cx="368300" cy="330200"/>
          </a:xfrm>
          <a:prstGeom prst="triangle">
            <a:avLst>
              <a:gd name="adj" fmla="val 50000"/>
            </a:avLst>
          </a:prstGeom>
          <a:solidFill>
            <a:srgbClr val="00D4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 rot="5400000">
            <a:off x="2857500" y="3835400"/>
            <a:ext cx="368300" cy="330200"/>
          </a:xfrm>
          <a:prstGeom prst="triangle">
            <a:avLst>
              <a:gd name="adj" fmla="val 50000"/>
            </a:avLst>
          </a:prstGeom>
          <a:solidFill>
            <a:srgbClr val="00D4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 rot="5400000">
            <a:off x="3352800" y="3835400"/>
            <a:ext cx="368300" cy="330200"/>
          </a:xfrm>
          <a:prstGeom prst="triangle">
            <a:avLst>
              <a:gd name="adj" fmla="val 50000"/>
            </a:avLst>
          </a:prstGeom>
          <a:solidFill>
            <a:srgbClr val="00D4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 rot="5400000">
            <a:off x="3860800" y="3835400"/>
            <a:ext cx="368300" cy="330200"/>
          </a:xfrm>
          <a:prstGeom prst="triangle">
            <a:avLst>
              <a:gd name="adj" fmla="val 50000"/>
            </a:avLst>
          </a:prstGeom>
          <a:solidFill>
            <a:srgbClr val="00D4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1371600" y="4826000"/>
            <a:ext cx="6350000" cy="863600"/>
          </a:xfrm>
          <a:prstGeom prst="rect">
            <a:avLst/>
          </a:prstGeom>
          <a:solidFill>
            <a:srgbClr val="1118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1371600" y="4826000"/>
            <a:ext cx="190500" cy="863600"/>
          </a:xfrm>
          <a:prstGeom prst="rect">
            <a:avLst/>
          </a:prstGeom>
          <a:solidFill>
            <a:srgbClr val="00D4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803400" y="4864100"/>
            <a:ext cx="5715000" cy="711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3500" b="1" dirty="0">
                <a:solidFill>
                  <a:srgbClr val="E8EC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How ETag Works</a:t>
            </a:r>
            <a:endParaRPr lang="en-US" sz="3500" dirty="0"/>
          </a:p>
        </p:txBody>
      </p:sp>
      <p:sp>
        <p:nvSpPr>
          <p:cNvPr id="14" name="Shape 12"/>
          <p:cNvSpPr/>
          <p:nvPr/>
        </p:nvSpPr>
        <p:spPr>
          <a:xfrm>
            <a:off x="1371600" y="6096000"/>
            <a:ext cx="5334000" cy="1016000"/>
          </a:xfrm>
          <a:prstGeom prst="rect">
            <a:avLst/>
          </a:prstGeom>
          <a:solidFill>
            <a:srgbClr val="1118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498600" y="6159500"/>
            <a:ext cx="635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800" dirty="0">
                <a:solidFill>
                  <a:srgbClr val="00D4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2260600" y="6223000"/>
            <a:ext cx="4191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E8EC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Client visits a web page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6832600" y="6540500"/>
            <a:ext cx="508000" cy="0"/>
          </a:xfrm>
          <a:prstGeom prst="straightConnector1">
            <a:avLst/>
          </a:prstGeom>
          <a:noFill/>
          <a:ln w="25400">
            <a:solidFill>
              <a:srgbClr val="00D4FF"/>
            </a:solidFill>
            <a:prstDash val="solid"/>
            <a:headEnd type="none"/>
            <a:tailEnd type="arrow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7594600" y="6096000"/>
            <a:ext cx="5334000" cy="1016000"/>
          </a:xfrm>
          <a:prstGeom prst="rect">
            <a:avLst/>
          </a:prstGeom>
          <a:solidFill>
            <a:srgbClr val="1118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7721600" y="6159500"/>
            <a:ext cx="635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800" dirty="0">
                <a:solidFill>
                  <a:srgbClr val="00D4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8483600" y="6223000"/>
            <a:ext cx="4191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E8EC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Server sends an </a:t>
            </a:r>
            <a:r>
              <a:rPr lang="en-US" sz="2000" b="1" dirty="0">
                <a:solidFill>
                  <a:srgbClr val="E8EC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ETag</a:t>
            </a:r>
            <a:r>
              <a:rPr lang="en-US" sz="2000" dirty="0">
                <a:solidFill>
                  <a:srgbClr val="E8EC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value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13055600" y="6540500"/>
            <a:ext cx="508000" cy="0"/>
          </a:xfrm>
          <a:prstGeom prst="straightConnector1">
            <a:avLst/>
          </a:prstGeom>
          <a:noFill/>
          <a:ln w="25400">
            <a:solidFill>
              <a:srgbClr val="00D4FF"/>
            </a:solidFill>
            <a:prstDash val="solid"/>
            <a:headEnd type="none"/>
            <a:tailEnd type="arrow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13817600" y="6096000"/>
            <a:ext cx="5334000" cy="1016000"/>
          </a:xfrm>
          <a:prstGeom prst="rect">
            <a:avLst/>
          </a:prstGeom>
          <a:solidFill>
            <a:srgbClr val="1118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13944600" y="6159500"/>
            <a:ext cx="635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800" dirty="0">
                <a:solidFill>
                  <a:srgbClr val="00D4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14706600" y="6223000"/>
            <a:ext cx="4191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E8EC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Client caches the resource + ETag</a:t>
            </a:r>
            <a:endParaRPr lang="en-US" sz="2000" dirty="0"/>
          </a:p>
        </p:txBody>
      </p:sp>
      <p:sp>
        <p:nvSpPr>
          <p:cNvPr id="25" name="Shape 23"/>
          <p:cNvSpPr/>
          <p:nvPr/>
        </p:nvSpPr>
        <p:spPr>
          <a:xfrm>
            <a:off x="1371600" y="7620000"/>
            <a:ext cx="5334000" cy="1016000"/>
          </a:xfrm>
          <a:prstGeom prst="rect">
            <a:avLst/>
          </a:prstGeom>
          <a:solidFill>
            <a:srgbClr val="1118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1498600" y="7683500"/>
            <a:ext cx="635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800" dirty="0">
                <a:solidFill>
                  <a:srgbClr val="00D4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2260600" y="7620000"/>
            <a:ext cx="4191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E8EC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Next request sends </a:t>
            </a:r>
            <a:r>
              <a:rPr lang="en-US" sz="2000" b="1" dirty="0">
                <a:solidFill>
                  <a:srgbClr val="E8EC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If-None-Match</a:t>
            </a:r>
            <a:r>
              <a:rPr lang="en-US" sz="2000" dirty="0">
                <a:solidFill>
                  <a:srgbClr val="E8EC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header</a:t>
            </a:r>
            <a:endParaRPr lang="en-US" sz="2000" dirty="0"/>
          </a:p>
        </p:txBody>
      </p:sp>
      <p:sp>
        <p:nvSpPr>
          <p:cNvPr id="28" name="Shape 26"/>
          <p:cNvSpPr/>
          <p:nvPr/>
        </p:nvSpPr>
        <p:spPr>
          <a:xfrm>
            <a:off x="6832600" y="8064500"/>
            <a:ext cx="508000" cy="0"/>
          </a:xfrm>
          <a:prstGeom prst="straightConnector1">
            <a:avLst/>
          </a:prstGeom>
          <a:noFill/>
          <a:ln w="25400">
            <a:solidFill>
              <a:srgbClr val="00D4FF"/>
            </a:solidFill>
            <a:prstDash val="solid"/>
            <a:headEnd type="none"/>
            <a:tailEnd type="arrow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7594600" y="7620000"/>
            <a:ext cx="5334000" cy="1016000"/>
          </a:xfrm>
          <a:prstGeom prst="rect">
            <a:avLst/>
          </a:prstGeom>
          <a:solidFill>
            <a:srgbClr val="1118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7721600" y="7683500"/>
            <a:ext cx="635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800" dirty="0">
                <a:solidFill>
                  <a:srgbClr val="00D4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</a:t>
            </a:r>
            <a:endParaRPr lang="en-US" sz="2800" dirty="0"/>
          </a:p>
        </p:txBody>
      </p:sp>
      <p:sp>
        <p:nvSpPr>
          <p:cNvPr id="31" name="Text 29"/>
          <p:cNvSpPr/>
          <p:nvPr/>
        </p:nvSpPr>
        <p:spPr>
          <a:xfrm>
            <a:off x="8483600" y="7747000"/>
            <a:ext cx="4191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E8EC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Server compares ETag values</a:t>
            </a:r>
            <a:endParaRPr lang="en-US" sz="2000" dirty="0"/>
          </a:p>
        </p:txBody>
      </p:sp>
      <p:sp>
        <p:nvSpPr>
          <p:cNvPr id="32" name="Shape 30"/>
          <p:cNvSpPr/>
          <p:nvPr/>
        </p:nvSpPr>
        <p:spPr>
          <a:xfrm>
            <a:off x="13055600" y="8064500"/>
            <a:ext cx="508000" cy="0"/>
          </a:xfrm>
          <a:prstGeom prst="straightConnector1">
            <a:avLst/>
          </a:prstGeom>
          <a:noFill/>
          <a:ln w="25400">
            <a:solidFill>
              <a:srgbClr val="00FF88"/>
            </a:solidFill>
            <a:prstDash val="solid"/>
            <a:headEnd type="none"/>
            <a:tailEnd type="arrow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13817600" y="7620000"/>
            <a:ext cx="5334000" cy="1016000"/>
          </a:xfrm>
          <a:prstGeom prst="rect">
            <a:avLst/>
          </a:prstGeom>
          <a:solidFill>
            <a:srgbClr val="00FF88">
              <a:alpha val="12549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13944600" y="7683500"/>
            <a:ext cx="635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800" dirty="0">
                <a:solidFill>
                  <a:srgbClr val="00FF8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6</a:t>
            </a:r>
            <a:endParaRPr lang="en-US" sz="2800" dirty="0"/>
          </a:p>
        </p:txBody>
      </p:sp>
      <p:sp>
        <p:nvSpPr>
          <p:cNvPr id="35" name="Text 33"/>
          <p:cNvSpPr/>
          <p:nvPr/>
        </p:nvSpPr>
        <p:spPr>
          <a:xfrm>
            <a:off x="14706600" y="7747000"/>
            <a:ext cx="4191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00FF8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304 Not Modified</a:t>
            </a:r>
            <a:r>
              <a:rPr lang="en-US" sz="2000" dirty="0">
                <a:solidFill>
                  <a:srgbClr val="E8EC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use cache!</a:t>
            </a:r>
            <a:endParaRPr lang="en-US" sz="2000" dirty="0"/>
          </a:p>
        </p:txBody>
      </p:sp>
      <p:sp>
        <p:nvSpPr>
          <p:cNvPr id="36" name="Shape 34"/>
          <p:cNvSpPr/>
          <p:nvPr/>
        </p:nvSpPr>
        <p:spPr>
          <a:xfrm>
            <a:off x="1371600" y="9271000"/>
            <a:ext cx="10795000" cy="2921000"/>
          </a:xfrm>
          <a:prstGeom prst="rect">
            <a:avLst/>
          </a:prstGeom>
          <a:solidFill>
            <a:srgbClr val="1118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1371600" y="9271000"/>
            <a:ext cx="190500" cy="2921000"/>
          </a:xfrm>
          <a:prstGeom prst="rect">
            <a:avLst/>
          </a:prstGeom>
          <a:solidFill>
            <a:srgbClr val="4A90D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1803400" y="9398000"/>
            <a:ext cx="5080000" cy="609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3500" b="1" dirty="0">
                <a:solidFill>
                  <a:srgbClr val="E8EC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Two Types of ETags</a:t>
            </a:r>
            <a:endParaRPr lang="en-US" sz="3500" dirty="0"/>
          </a:p>
        </p:txBody>
      </p:sp>
      <p:sp>
        <p:nvSpPr>
          <p:cNvPr id="39" name="Text 37"/>
          <p:cNvSpPr/>
          <p:nvPr/>
        </p:nvSpPr>
        <p:spPr>
          <a:xfrm>
            <a:off x="1803400" y="10160000"/>
            <a:ext cx="100330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4A90D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Weak ETags</a:t>
            </a:r>
            <a:r>
              <a:rPr lang="en-US" sz="2000" dirty="0">
                <a:solidFill>
                  <a:srgbClr val="E8EC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: Resources are semantically equivalent (may not be byte-for-byte identical)</a:t>
            </a:r>
            <a:endParaRPr lang="en-US" sz="2000" dirty="0"/>
          </a:p>
          <a:p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2000" b="1" dirty="0">
                <a:solidFill>
                  <a:srgbClr val="00D4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Strong ETags</a:t>
            </a:r>
            <a:r>
              <a:rPr lang="en-US" sz="2000" dirty="0">
                <a:solidFill>
                  <a:srgbClr val="E8EC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: Resources are byte-for-byte identical between cache and server</a:t>
            </a:r>
            <a:endParaRPr lang="en-US" sz="2000" dirty="0"/>
          </a:p>
        </p:txBody>
      </p:sp>
      <p:sp>
        <p:nvSpPr>
          <p:cNvPr id="40" name="Shape 38"/>
          <p:cNvSpPr/>
          <p:nvPr/>
        </p:nvSpPr>
        <p:spPr>
          <a:xfrm>
            <a:off x="12928600" y="9271000"/>
            <a:ext cx="10083800" cy="2921000"/>
          </a:xfrm>
          <a:prstGeom prst="rect">
            <a:avLst/>
          </a:prstGeom>
          <a:solidFill>
            <a:srgbClr val="00D4FF">
              <a:alpha val="8235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12928600" y="9271000"/>
            <a:ext cx="190500" cy="2921000"/>
          </a:xfrm>
          <a:prstGeom prst="rect">
            <a:avLst/>
          </a:prstGeom>
          <a:solidFill>
            <a:srgbClr val="00D4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13360400" y="9398000"/>
            <a:ext cx="5080000" cy="609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3500" b="1" dirty="0">
                <a:solidFill>
                  <a:srgbClr val="00D4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Why ETag Matters</a:t>
            </a:r>
            <a:endParaRPr lang="en-US" sz="3500" dirty="0"/>
          </a:p>
        </p:txBody>
      </p:sp>
      <p:sp>
        <p:nvSpPr>
          <p:cNvPr id="43" name="Text 41"/>
          <p:cNvSpPr/>
          <p:nvPr/>
        </p:nvSpPr>
        <p:spPr>
          <a:xfrm>
            <a:off x="13360400" y="10160000"/>
            <a:ext cx="92710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00D4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■</a:t>
            </a:r>
            <a:r>
              <a:rPr lang="en-US" sz="2000" dirty="0">
                <a:solidFill>
                  <a:srgbClr val="E8EC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Reduces bandwidth usage significantly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00D4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■</a:t>
            </a:r>
            <a:r>
              <a:rPr lang="en-US" sz="2000" dirty="0">
                <a:solidFill>
                  <a:srgbClr val="E8EC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Improves page load performance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00D4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■</a:t>
            </a:r>
            <a:r>
              <a:rPr lang="en-US" sz="2000" dirty="0">
                <a:solidFill>
                  <a:srgbClr val="E8EC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Efficient cache management</a:t>
            </a:r>
            <a:endParaRPr lang="en-US" sz="2000" dirty="0"/>
          </a:p>
        </p:txBody>
      </p:sp>
    </p:spTree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44600" y="1282700"/>
            <a:ext cx="10795000" cy="1079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6800" b="1" dirty="0">
                <a:solidFill>
                  <a:srgbClr val="E8EC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TLS SECURITY</a:t>
            </a:r>
            <a:endParaRPr lang="en-US" sz="6800" dirty="0"/>
          </a:p>
        </p:txBody>
      </p:sp>
      <p:sp>
        <p:nvSpPr>
          <p:cNvPr id="3" name="Shape 1"/>
          <p:cNvSpPr/>
          <p:nvPr/>
        </p:nvSpPr>
        <p:spPr>
          <a:xfrm>
            <a:off x="12192000" y="1498600"/>
            <a:ext cx="5334000" cy="0"/>
          </a:xfrm>
          <a:prstGeom prst="straightConnector1">
            <a:avLst/>
          </a:prstGeom>
          <a:noFill/>
          <a:ln w="9525">
            <a:solidFill>
              <a:srgbClr val="E8ECF1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8161000" y="1244600"/>
            <a:ext cx="5207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2900" kern="0" spc="400" dirty="0">
                <a:solidFill>
                  <a:srgbClr val="E8EC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PART 04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 rot="5400000">
            <a:off x="1346200" y="3835400"/>
            <a:ext cx="368300" cy="330200"/>
          </a:xfrm>
          <a:prstGeom prst="triangle">
            <a:avLst>
              <a:gd name="adj" fmla="val 50000"/>
            </a:avLst>
          </a:prstGeom>
          <a:solidFill>
            <a:srgbClr val="00D4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 rot="5400000">
            <a:off x="1854200" y="3835400"/>
            <a:ext cx="368300" cy="330200"/>
          </a:xfrm>
          <a:prstGeom prst="triangle">
            <a:avLst>
              <a:gd name="adj" fmla="val 50000"/>
            </a:avLst>
          </a:prstGeom>
          <a:solidFill>
            <a:srgbClr val="00D4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 rot="5400000">
            <a:off x="2349500" y="3835400"/>
            <a:ext cx="368300" cy="330200"/>
          </a:xfrm>
          <a:prstGeom prst="triangle">
            <a:avLst>
              <a:gd name="adj" fmla="val 50000"/>
            </a:avLst>
          </a:prstGeom>
          <a:solidFill>
            <a:srgbClr val="00D4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 rot="5400000">
            <a:off x="2857500" y="3835400"/>
            <a:ext cx="368300" cy="330200"/>
          </a:xfrm>
          <a:prstGeom prst="triangle">
            <a:avLst>
              <a:gd name="adj" fmla="val 50000"/>
            </a:avLst>
          </a:prstGeom>
          <a:solidFill>
            <a:srgbClr val="00D4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 rot="5400000">
            <a:off x="3352800" y="3835400"/>
            <a:ext cx="368300" cy="330200"/>
          </a:xfrm>
          <a:prstGeom prst="triangle">
            <a:avLst>
              <a:gd name="adj" fmla="val 50000"/>
            </a:avLst>
          </a:prstGeom>
          <a:solidFill>
            <a:srgbClr val="00D4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 rot="5400000">
            <a:off x="3860800" y="3835400"/>
            <a:ext cx="368300" cy="330200"/>
          </a:xfrm>
          <a:prstGeom prst="triangle">
            <a:avLst>
              <a:gd name="adj" fmla="val 50000"/>
            </a:avLst>
          </a:prstGeom>
          <a:solidFill>
            <a:srgbClr val="00D4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1371600" y="4826000"/>
            <a:ext cx="6350000" cy="863600"/>
          </a:xfrm>
          <a:prstGeom prst="rect">
            <a:avLst/>
          </a:prstGeom>
          <a:solidFill>
            <a:srgbClr val="1118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1371600" y="4826000"/>
            <a:ext cx="190500" cy="863600"/>
          </a:xfrm>
          <a:prstGeom prst="rect">
            <a:avLst/>
          </a:prstGeom>
          <a:solidFill>
            <a:srgbClr val="00D4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803400" y="4864100"/>
            <a:ext cx="5715000" cy="711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3500" b="1" dirty="0">
                <a:solidFill>
                  <a:srgbClr val="E8EC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TLS vs SSL</a:t>
            </a:r>
            <a:endParaRPr lang="en-US" sz="3500" dirty="0"/>
          </a:p>
        </p:txBody>
      </p:sp>
      <p:sp>
        <p:nvSpPr>
          <p:cNvPr id="14" name="Text 12"/>
          <p:cNvSpPr/>
          <p:nvPr/>
        </p:nvSpPr>
        <p:spPr>
          <a:xfrm>
            <a:off x="1371600" y="6096000"/>
            <a:ext cx="10795000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E8EC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TLS</a:t>
            </a:r>
            <a:r>
              <a:rPr lang="en-US" sz="2000" dirty="0">
                <a:solidFill>
                  <a:srgbClr val="E8EC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(Transport Layer Security) and </a:t>
            </a:r>
            <a:r>
              <a:rPr lang="en-US" sz="2000" b="1" dirty="0">
                <a:solidFill>
                  <a:srgbClr val="E8EC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SSL</a:t>
            </a:r>
            <a:r>
              <a:rPr lang="en-US" sz="2000" dirty="0">
                <a:solidFill>
                  <a:srgbClr val="E8EC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(Secure Sockets Layer) are cryptographic protocols that secure communication over a network.</a:t>
            </a:r>
            <a:endParaRPr lang="en-US" sz="2000" dirty="0"/>
          </a:p>
          <a:p>
            <a:pPr algn="l">
              <a:lnSpc>
                <a:spcPct val="160000"/>
              </a:lnSpc>
              <a:spcBef>
                <a:spcPts val="1200"/>
              </a:spcBef>
            </a:pPr>
            <a:r>
              <a:rPr lang="en-US" sz="2000" b="1" dirty="0">
                <a:solidFill>
                  <a:srgbClr val="00FF8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HTTPS uses TLS for encryption, NOT SSL.</a:t>
            </a:r>
            <a:r>
              <a:rPr lang="en-US" sz="2000" dirty="0">
                <a:solidFill>
                  <a:srgbClr val="E8EC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SSL is outdated and insecure. TLS is the modern standard.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1371600" y="9144000"/>
            <a:ext cx="10795000" cy="2921000"/>
          </a:xfrm>
          <a:prstGeom prst="rect">
            <a:avLst/>
          </a:prstGeom>
          <a:solidFill>
            <a:srgbClr val="1118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1371600" y="9144000"/>
            <a:ext cx="190500" cy="2921000"/>
          </a:xfrm>
          <a:prstGeom prst="rect">
            <a:avLst/>
          </a:prstGeom>
          <a:solidFill>
            <a:srgbClr val="00FF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803400" y="9271000"/>
            <a:ext cx="6350000" cy="609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3500" b="1" dirty="0">
                <a:solidFill>
                  <a:srgbClr val="00FF8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TLS Version Requirements</a:t>
            </a:r>
            <a:endParaRPr lang="en-US" sz="3500" dirty="0"/>
          </a:p>
        </p:txBody>
      </p:sp>
      <p:sp>
        <p:nvSpPr>
          <p:cNvPr id="18" name="Text 16"/>
          <p:cNvSpPr/>
          <p:nvPr/>
        </p:nvSpPr>
        <p:spPr>
          <a:xfrm>
            <a:off x="1803400" y="10033000"/>
            <a:ext cx="100330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00D4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■</a:t>
            </a:r>
            <a:r>
              <a:rPr lang="en-US" sz="2000" dirty="0">
                <a:solidFill>
                  <a:srgbClr val="E8EC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r>
              <a:rPr lang="en-US" sz="2000" b="1" dirty="0">
                <a:solidFill>
                  <a:srgbClr val="E8EC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HTTP/1.0 &amp; 1.1</a:t>
            </a:r>
            <a:r>
              <a:rPr lang="en-US" sz="2000" dirty="0">
                <a:solidFill>
                  <a:srgbClr val="E8EC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: TLS 1.0-1.3 (use 1.2+)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00D4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■</a:t>
            </a:r>
            <a:r>
              <a:rPr lang="en-US" sz="2000" dirty="0">
                <a:solidFill>
                  <a:srgbClr val="E8EC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r>
              <a:rPr lang="en-US" sz="2000" b="1" dirty="0">
                <a:solidFill>
                  <a:srgbClr val="E8EC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HTTP/2</a:t>
            </a:r>
            <a:r>
              <a:rPr lang="en-US" sz="2000" dirty="0">
                <a:solidFill>
                  <a:srgbClr val="E8EC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: Requires TLS 1.2 or 1.3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00D4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■</a:t>
            </a:r>
            <a:r>
              <a:rPr lang="en-US" sz="2000" dirty="0">
                <a:solidFill>
                  <a:srgbClr val="E8EC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r>
              <a:rPr lang="en-US" sz="2000" b="1" dirty="0">
                <a:solidFill>
                  <a:srgbClr val="E8EC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HTTP/3</a:t>
            </a:r>
            <a:r>
              <a:rPr lang="en-US" sz="2000" dirty="0">
                <a:solidFill>
                  <a:srgbClr val="E8EC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: Uses only TLS 1.3</a:t>
            </a:r>
            <a:endParaRPr lang="en-US" sz="2000" dirty="0"/>
          </a:p>
        </p:txBody>
      </p:sp>
      <p:pic>
        <p:nvPicPr>
          <p:cNvPr id="19" name="Image 0" descr="https://kimi-img.moonshot.cn/pub/slides/okc/dv33sntvow2p2/mnt/agents/output/http-methods-cookies/images/1_Tls_Images_Browse_3_523_Stock_Photos.png"/>
          <p:cNvPicPr>
            <a:picLocks noChangeAspect="1"/>
          </p:cNvPicPr>
          <p:nvPr/>
        </p:nvPicPr>
        <p:blipFill>
          <a:blip r:embed="rId3">
            <a:alphaModFix amt="40000"/>
          </a:blip>
          <a:srcRect/>
          <a:stretch/>
        </p:blipFill>
        <p:spPr>
          <a:xfrm>
            <a:off x="12954000" y="4826000"/>
            <a:ext cx="10058400" cy="7366000"/>
          </a:xfrm>
          <a:prstGeom prst="rect">
            <a:avLst/>
          </a:prstGeom>
        </p:spPr>
      </p:pic>
      <p:sp>
        <p:nvSpPr>
          <p:cNvPr id="20" name="Shape 17"/>
          <p:cNvSpPr/>
          <p:nvPr/>
        </p:nvSpPr>
        <p:spPr>
          <a:xfrm>
            <a:off x="12954000" y="4826000"/>
            <a:ext cx="10058400" cy="7366000"/>
          </a:xfrm>
          <a:prstGeom prst="rect">
            <a:avLst/>
          </a:prstGeom>
          <a:gradFill flip="none" rotWithShape="1">
            <a:gsLst>
              <a:gs pos="0">
                <a:srgbClr val="0A0E1A"/>
              </a:gs>
              <a:gs pos="40000">
                <a:srgbClr val="0A0E1A">
                  <a:alpha val="50000"/>
                </a:srgbClr>
              </a:gs>
              <a:gs pos="100000">
                <a:srgbClr val="0A0E1A">
                  <a:alpha val="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gradFill flip="none" rotWithShape="1">
            <a:gsLst>
              <a:gs pos="0">
                <a:srgbClr val="111827"/>
              </a:gs>
              <a:gs pos="60000">
                <a:srgbClr val="0A0E1A"/>
              </a:gs>
              <a:gs pos="100000">
                <a:srgbClr val="0A0E1A"/>
              </a:gs>
            </a:gsLst>
            <a:path path="circle"/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371600" y="1371600"/>
            <a:ext cx="21640800" cy="0"/>
          </a:xfrm>
          <a:prstGeom prst="straightConnector1">
            <a:avLst/>
          </a:prstGeom>
          <a:noFill/>
          <a:ln w="19050">
            <a:solidFill>
              <a:srgbClr val="00D4FF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244600" y="2032000"/>
            <a:ext cx="21894800" cy="152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ct val="120000"/>
              </a:lnSpc>
            </a:pPr>
            <a:r>
              <a:rPr lang="en-US" sz="8600" b="1" dirty="0">
                <a:solidFill>
                  <a:srgbClr val="E8EC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TAKEAWAYS</a:t>
            </a:r>
            <a:endParaRPr lang="en-US" sz="8600" dirty="0"/>
          </a:p>
        </p:txBody>
      </p:sp>
      <p:sp>
        <p:nvSpPr>
          <p:cNvPr id="5" name="Shape 3"/>
          <p:cNvSpPr/>
          <p:nvPr/>
        </p:nvSpPr>
        <p:spPr>
          <a:xfrm>
            <a:off x="7112000" y="3810000"/>
            <a:ext cx="10160000" cy="0"/>
          </a:xfrm>
          <a:prstGeom prst="straightConnector1">
            <a:avLst/>
          </a:prstGeom>
          <a:noFill/>
          <a:ln w="25400">
            <a:solidFill>
              <a:srgbClr val="00D4FF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879600" y="4445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314236" y="250031"/>
                </a:moveTo>
                <a:lnTo>
                  <a:pt x="143768" y="250031"/>
                </a:lnTo>
                <a:cubicBezTo>
                  <a:pt x="146358" y="307628"/>
                  <a:pt x="159127" y="360670"/>
                  <a:pt x="177254" y="399514"/>
                </a:cubicBezTo>
                <a:cubicBezTo>
                  <a:pt x="187434" y="421392"/>
                  <a:pt x="198418" y="436840"/>
                  <a:pt x="208597" y="446306"/>
                </a:cubicBezTo>
                <a:cubicBezTo>
                  <a:pt x="218599" y="455682"/>
                  <a:pt x="225475" y="457200"/>
                  <a:pt x="229046" y="457200"/>
                </a:cubicBezTo>
                <a:cubicBezTo>
                  <a:pt x="232618" y="457200"/>
                  <a:pt x="239494" y="455682"/>
                  <a:pt x="249495" y="446306"/>
                </a:cubicBezTo>
                <a:cubicBezTo>
                  <a:pt x="259675" y="436840"/>
                  <a:pt x="270659" y="421303"/>
                  <a:pt x="280839" y="399514"/>
                </a:cubicBezTo>
                <a:cubicBezTo>
                  <a:pt x="298966" y="360670"/>
                  <a:pt x="311735" y="307628"/>
                  <a:pt x="314325" y="250031"/>
                </a:cubicBezTo>
                <a:close/>
                <a:moveTo>
                  <a:pt x="143679" y="207169"/>
                </a:moveTo>
                <a:lnTo>
                  <a:pt x="314146" y="207169"/>
                </a:lnTo>
                <a:cubicBezTo>
                  <a:pt x="311646" y="149572"/>
                  <a:pt x="298877" y="96530"/>
                  <a:pt x="280749" y="57686"/>
                </a:cubicBezTo>
                <a:cubicBezTo>
                  <a:pt x="270570" y="35897"/>
                  <a:pt x="259586" y="20360"/>
                  <a:pt x="249406" y="10894"/>
                </a:cubicBezTo>
                <a:cubicBezTo>
                  <a:pt x="239405" y="1518"/>
                  <a:pt x="232529" y="0"/>
                  <a:pt x="228957" y="0"/>
                </a:cubicBezTo>
                <a:cubicBezTo>
                  <a:pt x="225385" y="0"/>
                  <a:pt x="218509" y="1518"/>
                  <a:pt x="208508" y="10894"/>
                </a:cubicBezTo>
                <a:cubicBezTo>
                  <a:pt x="198328" y="20360"/>
                  <a:pt x="187345" y="35897"/>
                  <a:pt x="177165" y="57686"/>
                </a:cubicBezTo>
                <a:cubicBezTo>
                  <a:pt x="159038" y="96530"/>
                  <a:pt x="146268" y="149572"/>
                  <a:pt x="143679" y="207169"/>
                </a:cubicBezTo>
                <a:close/>
                <a:moveTo>
                  <a:pt x="100816" y="207169"/>
                </a:moveTo>
                <a:cubicBezTo>
                  <a:pt x="103942" y="130731"/>
                  <a:pt x="123676" y="59740"/>
                  <a:pt x="152519" y="13127"/>
                </a:cubicBezTo>
                <a:cubicBezTo>
                  <a:pt x="70277" y="42237"/>
                  <a:pt x="9733" y="117157"/>
                  <a:pt x="1339" y="207169"/>
                </a:cubicBezTo>
                <a:lnTo>
                  <a:pt x="100816" y="207169"/>
                </a:lnTo>
                <a:close/>
                <a:moveTo>
                  <a:pt x="1339" y="250031"/>
                </a:moveTo>
                <a:cubicBezTo>
                  <a:pt x="9733" y="340043"/>
                  <a:pt x="70277" y="414963"/>
                  <a:pt x="152519" y="444073"/>
                </a:cubicBezTo>
                <a:cubicBezTo>
                  <a:pt x="123676" y="397460"/>
                  <a:pt x="103942" y="326469"/>
                  <a:pt x="100816" y="250031"/>
                </a:cubicBezTo>
                <a:lnTo>
                  <a:pt x="1339" y="250031"/>
                </a:lnTo>
                <a:close/>
                <a:moveTo>
                  <a:pt x="357098" y="250031"/>
                </a:moveTo>
                <a:cubicBezTo>
                  <a:pt x="353973" y="326469"/>
                  <a:pt x="334238" y="397460"/>
                  <a:pt x="305395" y="444073"/>
                </a:cubicBezTo>
                <a:cubicBezTo>
                  <a:pt x="387638" y="414873"/>
                  <a:pt x="448181" y="340043"/>
                  <a:pt x="456575" y="250031"/>
                </a:cubicBezTo>
                <a:lnTo>
                  <a:pt x="357098" y="250031"/>
                </a:lnTo>
                <a:close/>
                <a:moveTo>
                  <a:pt x="456575" y="207169"/>
                </a:moveTo>
                <a:cubicBezTo>
                  <a:pt x="448181" y="117157"/>
                  <a:pt x="387638" y="42237"/>
                  <a:pt x="305395" y="13127"/>
                </a:cubicBezTo>
                <a:cubicBezTo>
                  <a:pt x="334238" y="59740"/>
                  <a:pt x="353973" y="130731"/>
                  <a:pt x="357098" y="207169"/>
                </a:cubicBezTo>
                <a:lnTo>
                  <a:pt x="456575" y="207169"/>
                </a:lnTo>
                <a:close/>
              </a:path>
            </a:pathLst>
          </a:custGeom>
          <a:solidFill>
            <a:srgbClr val="00D4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540000" y="4318000"/>
            <a:ext cx="889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E8EC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7 HTTP Methods</a:t>
            </a:r>
            <a:r>
              <a:rPr lang="en-US" sz="2000" dirty="0">
                <a:solidFill>
                  <a:srgbClr val="E8EC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GET, POST, PUT, PATCH, DELETE, HEAD, OPTIONS for CRUD operations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1879600" y="5588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42863" y="57150"/>
                </a:moveTo>
                <a:cubicBezTo>
                  <a:pt x="19199" y="57150"/>
                  <a:pt x="0" y="76349"/>
                  <a:pt x="0" y="100013"/>
                </a:cubicBezTo>
                <a:cubicBezTo>
                  <a:pt x="0" y="113496"/>
                  <a:pt x="6340" y="126176"/>
                  <a:pt x="17145" y="134303"/>
                </a:cubicBezTo>
                <a:lnTo>
                  <a:pt x="202883" y="273606"/>
                </a:lnTo>
                <a:cubicBezTo>
                  <a:pt x="218152" y="285036"/>
                  <a:pt x="239048" y="285036"/>
                  <a:pt x="254318" y="273606"/>
                </a:cubicBezTo>
                <a:lnTo>
                  <a:pt x="440055" y="134302"/>
                </a:lnTo>
                <a:cubicBezTo>
                  <a:pt x="450860" y="126176"/>
                  <a:pt x="457200" y="113496"/>
                  <a:pt x="457200" y="100012"/>
                </a:cubicBezTo>
                <a:cubicBezTo>
                  <a:pt x="457200" y="76349"/>
                  <a:pt x="438001" y="57150"/>
                  <a:pt x="414338" y="57150"/>
                </a:cubicBezTo>
                <a:lnTo>
                  <a:pt x="42863" y="57150"/>
                </a:lnTo>
                <a:close/>
                <a:moveTo>
                  <a:pt x="0" y="175022"/>
                </a:moveTo>
                <a:lnTo>
                  <a:pt x="0" y="342900"/>
                </a:lnTo>
                <a:cubicBezTo>
                  <a:pt x="0" y="374422"/>
                  <a:pt x="25628" y="400050"/>
                  <a:pt x="57150" y="400050"/>
                </a:cubicBezTo>
                <a:lnTo>
                  <a:pt x="400050" y="400050"/>
                </a:lnTo>
                <a:cubicBezTo>
                  <a:pt x="431572" y="400050"/>
                  <a:pt x="457200" y="374422"/>
                  <a:pt x="457200" y="342900"/>
                </a:cubicBezTo>
                <a:lnTo>
                  <a:pt x="457200" y="175022"/>
                </a:lnTo>
                <a:lnTo>
                  <a:pt x="280035" y="307896"/>
                </a:lnTo>
                <a:cubicBezTo>
                  <a:pt x="249585" y="330756"/>
                  <a:pt x="207615" y="330756"/>
                  <a:pt x="177165" y="307896"/>
                </a:cubicBezTo>
                <a:lnTo>
                  <a:pt x="0" y="175022"/>
                </a:lnTo>
                <a:close/>
              </a:path>
            </a:pathLst>
          </a:custGeom>
          <a:solidFill>
            <a:srgbClr val="00D4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540000" y="5461000"/>
            <a:ext cx="889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E8EC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Headers</a:t>
            </a:r>
            <a:r>
              <a:rPr lang="en-US" sz="2000" dirty="0">
                <a:solidFill>
                  <a:srgbClr val="E8EC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enable stateful communication on a stateless protocol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1879600" y="6731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86385" y="1072"/>
                </a:moveTo>
                <a:cubicBezTo>
                  <a:pt x="272891" y="-3304"/>
                  <a:pt x="258842" y="5536"/>
                  <a:pt x="254953" y="20717"/>
                </a:cubicBezTo>
                <a:lnTo>
                  <a:pt x="153353" y="420767"/>
                </a:lnTo>
                <a:cubicBezTo>
                  <a:pt x="149463" y="435947"/>
                  <a:pt x="157321" y="451753"/>
                  <a:pt x="170815" y="456128"/>
                </a:cubicBezTo>
                <a:cubicBezTo>
                  <a:pt x="184309" y="460504"/>
                  <a:pt x="198358" y="451664"/>
                  <a:pt x="202248" y="436483"/>
                </a:cubicBezTo>
                <a:lnTo>
                  <a:pt x="303848" y="36433"/>
                </a:lnTo>
                <a:cubicBezTo>
                  <a:pt x="307737" y="21253"/>
                  <a:pt x="299879" y="5447"/>
                  <a:pt x="286385" y="1072"/>
                </a:cubicBezTo>
                <a:close/>
                <a:moveTo>
                  <a:pt x="337661" y="122605"/>
                </a:moveTo>
                <a:cubicBezTo>
                  <a:pt x="327739" y="133767"/>
                  <a:pt x="327739" y="151894"/>
                  <a:pt x="337661" y="163056"/>
                </a:cubicBezTo>
                <a:lnTo>
                  <a:pt x="395922" y="228600"/>
                </a:lnTo>
                <a:lnTo>
                  <a:pt x="337661" y="294144"/>
                </a:lnTo>
                <a:cubicBezTo>
                  <a:pt x="327739" y="305306"/>
                  <a:pt x="327739" y="323433"/>
                  <a:pt x="337661" y="334595"/>
                </a:cubicBezTo>
                <a:cubicBezTo>
                  <a:pt x="347583" y="345758"/>
                  <a:pt x="363696" y="345758"/>
                  <a:pt x="373618" y="334595"/>
                </a:cubicBezTo>
                <a:lnTo>
                  <a:pt x="449818" y="248870"/>
                </a:lnTo>
                <a:cubicBezTo>
                  <a:pt x="459740" y="237708"/>
                  <a:pt x="459740" y="219581"/>
                  <a:pt x="449818" y="208419"/>
                </a:cubicBezTo>
                <a:lnTo>
                  <a:pt x="373618" y="122694"/>
                </a:lnTo>
                <a:cubicBezTo>
                  <a:pt x="363696" y="111532"/>
                  <a:pt x="347583" y="111532"/>
                  <a:pt x="337661" y="122694"/>
                </a:cubicBezTo>
                <a:close/>
                <a:moveTo>
                  <a:pt x="119618" y="122605"/>
                </a:moveTo>
                <a:cubicBezTo>
                  <a:pt x="109696" y="111442"/>
                  <a:pt x="93583" y="111442"/>
                  <a:pt x="83661" y="122605"/>
                </a:cubicBezTo>
                <a:lnTo>
                  <a:pt x="7461" y="208330"/>
                </a:lnTo>
                <a:cubicBezTo>
                  <a:pt x="-2461" y="219492"/>
                  <a:pt x="-2461" y="237619"/>
                  <a:pt x="7461" y="248781"/>
                </a:cubicBezTo>
                <a:lnTo>
                  <a:pt x="83661" y="334506"/>
                </a:lnTo>
                <a:cubicBezTo>
                  <a:pt x="93583" y="345668"/>
                  <a:pt x="109696" y="345668"/>
                  <a:pt x="119618" y="334506"/>
                </a:cubicBezTo>
                <a:cubicBezTo>
                  <a:pt x="129540" y="323344"/>
                  <a:pt x="129540" y="305217"/>
                  <a:pt x="119618" y="294055"/>
                </a:cubicBezTo>
                <a:lnTo>
                  <a:pt x="61357" y="228600"/>
                </a:lnTo>
                <a:lnTo>
                  <a:pt x="119539" y="163056"/>
                </a:lnTo>
                <a:cubicBezTo>
                  <a:pt x="129461" y="151894"/>
                  <a:pt x="129461" y="133767"/>
                  <a:pt x="119539" y="122605"/>
                </a:cubicBezTo>
                <a:close/>
              </a:path>
            </a:pathLst>
          </a:custGeom>
          <a:solidFill>
            <a:srgbClr val="00D4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540000" y="6604000"/>
            <a:ext cx="889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E8EC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Status Codes</a:t>
            </a:r>
            <a:r>
              <a:rPr lang="en-US" sz="2000" dirty="0">
                <a:solidFill>
                  <a:srgbClr val="E8EC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4xx = your fault, 5xx = server's fault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1879600" y="7874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9939" y="24646"/>
                </a:moveTo>
                <a:cubicBezTo>
                  <a:pt x="229225" y="19824"/>
                  <a:pt x="225564" y="15895"/>
                  <a:pt x="220742" y="15180"/>
                </a:cubicBezTo>
                <a:cubicBezTo>
                  <a:pt x="201007" y="12412"/>
                  <a:pt x="180915" y="15984"/>
                  <a:pt x="163235" y="25360"/>
                </a:cubicBezTo>
                <a:lnTo>
                  <a:pt x="97155" y="60633"/>
                </a:lnTo>
                <a:cubicBezTo>
                  <a:pt x="79564" y="70009"/>
                  <a:pt x="65365" y="84743"/>
                  <a:pt x="56614" y="102691"/>
                </a:cubicBezTo>
                <a:lnTo>
                  <a:pt x="23842" y="170200"/>
                </a:lnTo>
                <a:cubicBezTo>
                  <a:pt x="15091" y="188149"/>
                  <a:pt x="12234" y="208508"/>
                  <a:pt x="15716" y="228154"/>
                </a:cubicBezTo>
                <a:lnTo>
                  <a:pt x="28664" y="302091"/>
                </a:lnTo>
                <a:cubicBezTo>
                  <a:pt x="32147" y="321826"/>
                  <a:pt x="41702" y="339864"/>
                  <a:pt x="56078" y="353794"/>
                </a:cubicBezTo>
                <a:lnTo>
                  <a:pt x="109924" y="405944"/>
                </a:lnTo>
                <a:cubicBezTo>
                  <a:pt x="124301" y="419874"/>
                  <a:pt x="142607" y="428804"/>
                  <a:pt x="162342" y="431572"/>
                </a:cubicBezTo>
                <a:lnTo>
                  <a:pt x="236458" y="442020"/>
                </a:lnTo>
                <a:cubicBezTo>
                  <a:pt x="256193" y="444788"/>
                  <a:pt x="276285" y="441216"/>
                  <a:pt x="293965" y="431840"/>
                </a:cubicBezTo>
                <a:lnTo>
                  <a:pt x="360045" y="396567"/>
                </a:lnTo>
                <a:cubicBezTo>
                  <a:pt x="377636" y="387191"/>
                  <a:pt x="391835" y="372457"/>
                  <a:pt x="400586" y="354419"/>
                </a:cubicBezTo>
                <a:lnTo>
                  <a:pt x="433358" y="287000"/>
                </a:lnTo>
                <a:cubicBezTo>
                  <a:pt x="442109" y="269051"/>
                  <a:pt x="444966" y="248692"/>
                  <a:pt x="441484" y="229046"/>
                </a:cubicBezTo>
                <a:cubicBezTo>
                  <a:pt x="440680" y="224314"/>
                  <a:pt x="436751" y="220742"/>
                  <a:pt x="432018" y="220028"/>
                </a:cubicBezTo>
                <a:cubicBezTo>
                  <a:pt x="386030" y="212705"/>
                  <a:pt x="349151" y="177969"/>
                  <a:pt x="338703" y="133052"/>
                </a:cubicBezTo>
                <a:cubicBezTo>
                  <a:pt x="337096" y="126266"/>
                  <a:pt x="331559" y="121087"/>
                  <a:pt x="324683" y="120015"/>
                </a:cubicBezTo>
                <a:cubicBezTo>
                  <a:pt x="275927" y="112246"/>
                  <a:pt x="237440" y="73581"/>
                  <a:pt x="229850" y="24646"/>
                </a:cubicBezTo>
                <a:close/>
                <a:moveTo>
                  <a:pt x="185738" y="128588"/>
                </a:moveTo>
                <a:cubicBezTo>
                  <a:pt x="201508" y="128588"/>
                  <a:pt x="214313" y="141392"/>
                  <a:pt x="214313" y="157163"/>
                </a:cubicBezTo>
                <a:cubicBezTo>
                  <a:pt x="214313" y="172933"/>
                  <a:pt x="201508" y="185738"/>
                  <a:pt x="185738" y="185738"/>
                </a:cubicBezTo>
                <a:cubicBezTo>
                  <a:pt x="169967" y="185738"/>
                  <a:pt x="157163" y="172933"/>
                  <a:pt x="157163" y="157163"/>
                </a:cubicBezTo>
                <a:cubicBezTo>
                  <a:pt x="157163" y="141392"/>
                  <a:pt x="169967" y="128588"/>
                  <a:pt x="185738" y="128588"/>
                </a:cubicBezTo>
                <a:close/>
                <a:moveTo>
                  <a:pt x="128588" y="300038"/>
                </a:moveTo>
                <a:cubicBezTo>
                  <a:pt x="128588" y="284267"/>
                  <a:pt x="141392" y="271463"/>
                  <a:pt x="157163" y="271463"/>
                </a:cubicBezTo>
                <a:cubicBezTo>
                  <a:pt x="172933" y="271463"/>
                  <a:pt x="185738" y="284267"/>
                  <a:pt x="185738" y="300038"/>
                </a:cubicBezTo>
                <a:cubicBezTo>
                  <a:pt x="185738" y="315808"/>
                  <a:pt x="172933" y="328613"/>
                  <a:pt x="157163" y="328613"/>
                </a:cubicBezTo>
                <a:cubicBezTo>
                  <a:pt x="141392" y="328613"/>
                  <a:pt x="128588" y="315808"/>
                  <a:pt x="128588" y="300038"/>
                </a:cubicBezTo>
                <a:close/>
                <a:moveTo>
                  <a:pt x="328613" y="242888"/>
                </a:moveTo>
                <a:cubicBezTo>
                  <a:pt x="344383" y="242888"/>
                  <a:pt x="357188" y="255692"/>
                  <a:pt x="357188" y="271463"/>
                </a:cubicBezTo>
                <a:cubicBezTo>
                  <a:pt x="357188" y="287233"/>
                  <a:pt x="344383" y="300038"/>
                  <a:pt x="328613" y="300038"/>
                </a:cubicBezTo>
                <a:cubicBezTo>
                  <a:pt x="312842" y="300038"/>
                  <a:pt x="300038" y="287233"/>
                  <a:pt x="300038" y="271463"/>
                </a:cubicBezTo>
                <a:cubicBezTo>
                  <a:pt x="300038" y="255692"/>
                  <a:pt x="312842" y="242888"/>
                  <a:pt x="328613" y="242888"/>
                </a:cubicBezTo>
                <a:close/>
              </a:path>
            </a:pathLst>
          </a:custGeom>
          <a:solidFill>
            <a:srgbClr val="00D4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540000" y="7747000"/>
            <a:ext cx="889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E8EC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Cookies</a:t>
            </a:r>
            <a:r>
              <a:rPr lang="en-US" sz="2000" dirty="0">
                <a:solidFill>
                  <a:srgbClr val="E8EC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manage sessions with HttpOnly, SameSite, and Secure protection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1879600" y="9017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52400" y="85725"/>
                </a:moveTo>
                <a:lnTo>
                  <a:pt x="152400" y="142875"/>
                </a:lnTo>
                <a:lnTo>
                  <a:pt x="304800" y="142875"/>
                </a:lnTo>
                <a:lnTo>
                  <a:pt x="304800" y="85725"/>
                </a:lnTo>
                <a:cubicBezTo>
                  <a:pt x="304800" y="54203"/>
                  <a:pt x="270629" y="28575"/>
                  <a:pt x="228600" y="28575"/>
                </a:cubicBezTo>
                <a:cubicBezTo>
                  <a:pt x="186571" y="28575"/>
                  <a:pt x="152400" y="54203"/>
                  <a:pt x="152400" y="85725"/>
                </a:cubicBezTo>
                <a:close/>
                <a:moveTo>
                  <a:pt x="76200" y="142875"/>
                </a:moveTo>
                <a:lnTo>
                  <a:pt x="76200" y="85725"/>
                </a:lnTo>
                <a:cubicBezTo>
                  <a:pt x="76200" y="22592"/>
                  <a:pt x="144423" y="-28575"/>
                  <a:pt x="228600" y="-28575"/>
                </a:cubicBezTo>
                <a:cubicBezTo>
                  <a:pt x="312777" y="-28575"/>
                  <a:pt x="381000" y="22592"/>
                  <a:pt x="381000" y="85725"/>
                </a:cubicBezTo>
                <a:lnTo>
                  <a:pt x="381000" y="142875"/>
                </a:lnTo>
                <a:cubicBezTo>
                  <a:pt x="423029" y="142875"/>
                  <a:pt x="457200" y="168503"/>
                  <a:pt x="457200" y="200025"/>
                </a:cubicBezTo>
                <a:lnTo>
                  <a:pt x="457200" y="400050"/>
                </a:lnTo>
                <a:cubicBezTo>
                  <a:pt x="457200" y="431572"/>
                  <a:pt x="423029" y="457200"/>
                  <a:pt x="381000" y="457200"/>
                </a:cubicBezTo>
                <a:lnTo>
                  <a:pt x="76200" y="457200"/>
                </a:lnTo>
                <a:cubicBezTo>
                  <a:pt x="34171" y="457200"/>
                  <a:pt x="0" y="431572"/>
                  <a:pt x="0" y="400050"/>
                </a:cubicBezTo>
                <a:lnTo>
                  <a:pt x="0" y="200025"/>
                </a:lnTo>
                <a:cubicBezTo>
                  <a:pt x="0" y="168503"/>
                  <a:pt x="34171" y="142875"/>
                  <a:pt x="76200" y="142875"/>
                </a:cubicBezTo>
                <a:close/>
              </a:path>
            </a:pathLst>
          </a:custGeom>
          <a:solidFill>
            <a:srgbClr val="00D4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2540000" y="8890000"/>
            <a:ext cx="889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E8EC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TLS</a:t>
            </a:r>
            <a:r>
              <a:rPr lang="en-US" sz="2000" dirty="0">
                <a:solidFill>
                  <a:srgbClr val="E8EC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encrypts all HTTP traffic — HTTPS is the standard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12827000" y="4318000"/>
            <a:ext cx="10185400" cy="5334000"/>
          </a:xfrm>
          <a:prstGeom prst="rect">
            <a:avLst/>
          </a:prstGeom>
          <a:solidFill>
            <a:srgbClr val="1118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12827000" y="4318000"/>
            <a:ext cx="190500" cy="5334000"/>
          </a:xfrm>
          <a:prstGeom prst="rect">
            <a:avLst/>
          </a:prstGeom>
          <a:solidFill>
            <a:srgbClr val="00FF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13335000" y="4699000"/>
            <a:ext cx="9144000" cy="711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3500" b="1" dirty="0">
                <a:solidFill>
                  <a:srgbClr val="00FF8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Keep Learning!</a:t>
            </a:r>
            <a:endParaRPr lang="en-US" sz="3500" dirty="0"/>
          </a:p>
        </p:txBody>
      </p:sp>
      <p:sp>
        <p:nvSpPr>
          <p:cNvPr id="19" name="Text 17"/>
          <p:cNvSpPr/>
          <p:nvPr/>
        </p:nvSpPr>
        <p:spPr>
          <a:xfrm>
            <a:off x="13335000" y="5588000"/>
            <a:ext cx="9271000" cy="368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E8EC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web is built on these fundamental concepts. Mastering HTTP methods, headers, status codes, cookies, and TLS security is essential for every web developer.</a:t>
            </a:r>
            <a:endParaRPr lang="en-US" sz="2000" dirty="0"/>
          </a:p>
          <a:p>
            <a:pPr algn="l">
              <a:lnSpc>
                <a:spcPct val="160000"/>
              </a:lnSpc>
              <a:spcBef>
                <a:spcPts val="1600"/>
              </a:spcBef>
            </a:pPr>
            <a:r>
              <a:rPr lang="en-US" sz="2000" b="1" dirty="0">
                <a:solidFill>
                  <a:srgbClr val="00D4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Next steps:</a:t>
            </a:r>
            <a:r>
              <a:rPr lang="en-US" sz="2000" dirty="0">
                <a:solidFill>
                  <a:srgbClr val="E8EC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Explore REST API design, dive into OAuth authentication, or learn about HTTP/3 and QUIC protocol.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1371600" y="10668000"/>
            <a:ext cx="21640800" cy="0"/>
          </a:xfrm>
          <a:prstGeom prst="straightConnector1">
            <a:avLst/>
          </a:prstGeom>
          <a:noFill/>
          <a:ln w="19050">
            <a:solidFill>
              <a:srgbClr val="00D4FF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1371600" y="11049000"/>
            <a:ext cx="216408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400" dirty="0">
                <a:solidFill>
                  <a:srgbClr val="8B95A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HTTP Methods &amp; Cookies — Web Development Fundamentals</a:t>
            </a:r>
            <a:endParaRPr lang="en-US" sz="2400" dirty="0"/>
          </a:p>
        </p:txBody>
      </p:sp>
    </p:spTree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gradFill flip="none" rotWithShape="1">
            <a:gsLst>
              <a:gs pos="0">
                <a:srgbClr val="111827"/>
              </a:gs>
              <a:gs pos="60000">
                <a:srgbClr val="0A0E1A"/>
              </a:gs>
              <a:gs pos="100000">
                <a:srgbClr val="0A0E1A"/>
              </a:gs>
            </a:gsLst>
            <a:path path="circle"/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371600" y="1371600"/>
            <a:ext cx="21640800" cy="0"/>
          </a:xfrm>
          <a:prstGeom prst="straightConnector1">
            <a:avLst/>
          </a:prstGeom>
          <a:noFill/>
          <a:ln w="19050">
            <a:solidFill>
              <a:srgbClr val="00D4FF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244600" y="3556000"/>
            <a:ext cx="21894800" cy="152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ct val="120000"/>
              </a:lnSpc>
            </a:pPr>
            <a:r>
              <a:rPr lang="en-US" sz="9400" b="1" kern="0" spc="1000" dirty="0">
                <a:solidFill>
                  <a:srgbClr val="E8EC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THANK YOU</a:t>
            </a:r>
            <a:endParaRPr lang="en-US" sz="9400" dirty="0"/>
          </a:p>
        </p:txBody>
      </p:sp>
      <p:sp>
        <p:nvSpPr>
          <p:cNvPr id="5" name="Text 3"/>
          <p:cNvSpPr/>
          <p:nvPr/>
        </p:nvSpPr>
        <p:spPr>
          <a:xfrm>
            <a:off x="1244600" y="5334000"/>
            <a:ext cx="218948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ct val="120000"/>
              </a:lnSpc>
            </a:pPr>
            <a:r>
              <a:rPr lang="en-US" sz="3600" dirty="0">
                <a:solidFill>
                  <a:srgbClr val="00D4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Questions &amp; Discussion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8382000" y="6604000"/>
            <a:ext cx="7620000" cy="0"/>
          </a:xfrm>
          <a:prstGeom prst="straightConnector1">
            <a:avLst/>
          </a:prstGeom>
          <a:noFill/>
          <a:ln w="25400">
            <a:solidFill>
              <a:srgbClr val="00D4FF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537200" y="7366000"/>
            <a:ext cx="5689600" cy="863600"/>
          </a:xfrm>
          <a:prstGeom prst="rect">
            <a:avLst/>
          </a:prstGeom>
          <a:solidFill>
            <a:srgbClr val="1118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537200" y="7366000"/>
            <a:ext cx="76200" cy="863600"/>
          </a:xfrm>
          <a:prstGeom prst="rect">
            <a:avLst/>
          </a:prstGeom>
          <a:solidFill>
            <a:srgbClr val="00D4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867400" y="7366000"/>
            <a:ext cx="5080000" cy="863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400" dirty="0">
                <a:solidFill>
                  <a:srgbClr val="E8EC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HTTP Methods &amp; Cookies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13157200" y="7366000"/>
            <a:ext cx="5689600" cy="863600"/>
          </a:xfrm>
          <a:prstGeom prst="rect">
            <a:avLst/>
          </a:prstGeom>
          <a:solidFill>
            <a:srgbClr val="1118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13157200" y="7366000"/>
            <a:ext cx="76200" cy="863600"/>
          </a:xfrm>
          <a:prstGeom prst="rect">
            <a:avLst/>
          </a:prstGeom>
          <a:solidFill>
            <a:srgbClr val="00D4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3487400" y="7366000"/>
            <a:ext cx="5080000" cy="863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400" dirty="0">
                <a:solidFill>
                  <a:srgbClr val="E8EC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Web Communication Guide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1371600" y="12192000"/>
            <a:ext cx="21640800" cy="0"/>
          </a:xfrm>
          <a:prstGeom prst="straightConnector1">
            <a:avLst/>
          </a:prstGeom>
          <a:noFill/>
          <a:ln w="19050">
            <a:solidFill>
              <a:srgbClr val="00D4FF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371600" y="12446000"/>
            <a:ext cx="762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dirty="0">
                <a:solidFill>
                  <a:srgbClr val="8B95A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HTTP | Headers | Status Codes | Cookies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6510000" y="12446000"/>
            <a:ext cx="65024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2000" dirty="0">
                <a:solidFill>
                  <a:srgbClr val="8B95A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Web Development Essentials</a:t>
            </a:r>
            <a:endParaRPr lang="en-US" sz="2000" dirty="0"/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1592</Words>
  <Application>Microsoft Office PowerPoint</Application>
  <PresentationFormat>Custom</PresentationFormat>
  <Paragraphs>271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Arial</vt:lpstr>
      <vt:lpstr>Liter</vt:lpstr>
      <vt:lpstr>Quattrocento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HTTP Methods &amp; Cookies</dc:title>
  <dc:subject>HTTP Methods &amp; Cookies</dc:subject>
  <dc:creator>Kimi</dc:creator>
  <cp:lastModifiedBy>Nabila Nuzhat Moin</cp:lastModifiedBy>
  <cp:revision>1</cp:revision>
  <dcterms:created xsi:type="dcterms:W3CDTF">2026-06-18T11:46:27Z</dcterms:created>
  <dcterms:modified xsi:type="dcterms:W3CDTF">2026-07-26T06:36:07Z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{"Label":"HTTP Methods &amp; Cookies","ContentProducer":"001191110108MACG2KBH8F10000","ProduceID":"19eda7ab-2ec2-8519-8000-000048f8fb3c","ReservedCode1":"","ContentPropagator":"001191110108MACG2KBH8F20000","PropagateID":"19eda767-a922-8b9c-8000-095cb8fd22e3","ReservedCode2":""}</vt:lpwstr>
  </property>
</Properties>
</file>
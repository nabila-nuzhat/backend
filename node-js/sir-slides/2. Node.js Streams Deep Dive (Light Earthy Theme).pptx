
<file path=[Content_Types].xml><?xml version="1.0" encoding="utf-8"?>
<Types xmlns="http://schemas.openxmlformats.org/package/2006/content-types">
  <Default Extension="fntdata" ContentType="application/x-fontdata"/>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embeddedFontLst>
    <p:embeddedFont>
      <p:font typeface="MiSans" panose="020B0604020202020204" charset="-122"/>
      <p:regular r:id="rId23"/>
    </p:embeddedFont>
    <p:embeddedFont>
      <p:font typeface="Liter" panose="020B0604020202020204" charset="0"/>
      <p:regular r:id="rId24"/>
    </p:embeddedFont>
    <p:embeddedFont>
      <p:font typeface="Quattrocento Sans" panose="020B0502050000020003" pitchFamily="34" charset="0"/>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978" autoAdjust="0"/>
    <p:restoredTop sz="94610"/>
  </p:normalViewPr>
  <p:slideViewPr>
    <p:cSldViewPr snapToGrid="0" snapToObjects="1">
      <p:cViewPr>
        <p:scale>
          <a:sx n="75" d="100"/>
          <a:sy n="75" d="100"/>
        </p:scale>
        <p:origin x="1550" y="6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67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142"/>
        </a:solidFill>
        <a:effectLst/>
      </p:bgPr>
    </p:bg>
    <p:spTree>
      <p:nvGrpSpPr>
        <p:cNvPr id="1" name=""/>
        <p:cNvGrpSpPr/>
        <p:nvPr/>
      </p:nvGrpSpPr>
      <p:grpSpPr>
        <a:xfrm>
          <a:off x="0" y="0"/>
          <a:ext cx="0" cy="0"/>
          <a:chOff x="0" y="0"/>
          <a:chExt cx="0" cy="0"/>
        </a:xfrm>
      </p:grpSpPr>
      <p:pic>
        <p:nvPicPr>
          <p:cNvPr id="2" name="Image 0" descr="https://kimi-web-img.moonshot.cn/img/img.freepik.com/a9bcd6e93b1110f24652ff35d6595066dc10ced9.jpg"/>
          <p:cNvPicPr>
            <a:picLocks noChangeAspect="1"/>
          </p:cNvPicPr>
          <p:nvPr/>
        </p:nvPicPr>
        <p:blipFill>
          <a:blip r:embed="rId3">
            <a:alphaModFix amt="30000"/>
          </a:blip>
          <a:srcRect l="160" r="16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D3142">
                  <a:alpha val="95000"/>
                </a:srgbClr>
              </a:gs>
              <a:gs pos="50000">
                <a:srgbClr val="2D3142">
                  <a:alpha val="85000"/>
                </a:srgbClr>
              </a:gs>
              <a:gs pos="100000">
                <a:srgbClr val="E07A5F">
                  <a:alpha val="30000"/>
                </a:srgbClr>
              </a:gs>
            </a:gsLst>
            <a:lin ang="2700000" scaled="1"/>
          </a:gradFill>
          <a:ln/>
        </p:spPr>
        <p:txBody>
          <a:bodyPr/>
          <a:lstStyle/>
          <a:p>
            <a:endParaRPr lang="en-US"/>
          </a:p>
        </p:txBody>
      </p:sp>
      <p:sp>
        <p:nvSpPr>
          <p:cNvPr id="4" name="Shape 1"/>
          <p:cNvSpPr/>
          <p:nvPr/>
        </p:nvSpPr>
        <p:spPr>
          <a:xfrm>
            <a:off x="381000" y="38100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5" name="Shape 2"/>
          <p:cNvSpPr/>
          <p:nvPr/>
        </p:nvSpPr>
        <p:spPr>
          <a:xfrm>
            <a:off x="525066" y="504825"/>
            <a:ext cx="250031" cy="285750"/>
          </a:xfrm>
          <a:custGeom>
            <a:avLst/>
            <a:gdLst/>
            <a:ahLst/>
            <a:cxnLst/>
            <a:rect l="l" t="t" r="r" b="b"/>
            <a:pathLst>
              <a:path w="250031" h="285750">
                <a:moveTo>
                  <a:pt x="125295" y="283518"/>
                </a:moveTo>
                <a:cubicBezTo>
                  <a:pt x="121555" y="283518"/>
                  <a:pt x="117760" y="282513"/>
                  <a:pt x="114467" y="280615"/>
                </a:cubicBezTo>
                <a:lnTo>
                  <a:pt x="80032" y="260245"/>
                </a:lnTo>
                <a:cubicBezTo>
                  <a:pt x="74898" y="257342"/>
                  <a:pt x="77409" y="256338"/>
                  <a:pt x="79084" y="255780"/>
                </a:cubicBezTo>
                <a:cubicBezTo>
                  <a:pt x="85948" y="253380"/>
                  <a:pt x="87344" y="252878"/>
                  <a:pt x="94655" y="248692"/>
                </a:cubicBezTo>
                <a:cubicBezTo>
                  <a:pt x="95436" y="248245"/>
                  <a:pt x="96441" y="248413"/>
                  <a:pt x="97222" y="248915"/>
                </a:cubicBezTo>
                <a:lnTo>
                  <a:pt x="123676" y="264598"/>
                </a:lnTo>
                <a:cubicBezTo>
                  <a:pt x="124625" y="265156"/>
                  <a:pt x="125964" y="265156"/>
                  <a:pt x="126857" y="264598"/>
                </a:cubicBezTo>
                <a:lnTo>
                  <a:pt x="229939" y="205104"/>
                </a:lnTo>
                <a:cubicBezTo>
                  <a:pt x="230888" y="204546"/>
                  <a:pt x="231502" y="203429"/>
                  <a:pt x="231502" y="202313"/>
                </a:cubicBezTo>
                <a:lnTo>
                  <a:pt x="231502" y="83325"/>
                </a:lnTo>
                <a:cubicBezTo>
                  <a:pt x="231502" y="82153"/>
                  <a:pt x="230888" y="81093"/>
                  <a:pt x="229884" y="80479"/>
                </a:cubicBezTo>
                <a:lnTo>
                  <a:pt x="126857" y="21041"/>
                </a:lnTo>
                <a:cubicBezTo>
                  <a:pt x="125909" y="20482"/>
                  <a:pt x="124625" y="20482"/>
                  <a:pt x="123676" y="21041"/>
                </a:cubicBezTo>
                <a:lnTo>
                  <a:pt x="20706" y="80535"/>
                </a:lnTo>
                <a:cubicBezTo>
                  <a:pt x="19701" y="81093"/>
                  <a:pt x="19087" y="82209"/>
                  <a:pt x="19087" y="83381"/>
                </a:cubicBezTo>
                <a:lnTo>
                  <a:pt x="19087" y="202313"/>
                </a:lnTo>
                <a:cubicBezTo>
                  <a:pt x="19087" y="203429"/>
                  <a:pt x="19701" y="204546"/>
                  <a:pt x="20706" y="205048"/>
                </a:cubicBezTo>
                <a:lnTo>
                  <a:pt x="48946" y="221345"/>
                </a:lnTo>
                <a:cubicBezTo>
                  <a:pt x="64294" y="228991"/>
                  <a:pt x="73670" y="220005"/>
                  <a:pt x="73670" y="210908"/>
                </a:cubicBezTo>
                <a:lnTo>
                  <a:pt x="73670" y="93483"/>
                </a:lnTo>
                <a:cubicBezTo>
                  <a:pt x="73670" y="91808"/>
                  <a:pt x="75009" y="90525"/>
                  <a:pt x="76684" y="90525"/>
                </a:cubicBezTo>
                <a:lnTo>
                  <a:pt x="89743" y="90525"/>
                </a:lnTo>
                <a:cubicBezTo>
                  <a:pt x="91362" y="90525"/>
                  <a:pt x="92757" y="91808"/>
                  <a:pt x="92757" y="93483"/>
                </a:cubicBezTo>
                <a:lnTo>
                  <a:pt x="92757" y="210964"/>
                </a:lnTo>
                <a:cubicBezTo>
                  <a:pt x="92757" y="231391"/>
                  <a:pt x="81595" y="243111"/>
                  <a:pt x="62229" y="243111"/>
                </a:cubicBezTo>
                <a:cubicBezTo>
                  <a:pt x="56257" y="243111"/>
                  <a:pt x="51569" y="243111"/>
                  <a:pt x="38509" y="236637"/>
                </a:cubicBezTo>
                <a:lnTo>
                  <a:pt x="11497" y="221066"/>
                </a:lnTo>
                <a:cubicBezTo>
                  <a:pt x="4800" y="217215"/>
                  <a:pt x="670" y="210015"/>
                  <a:pt x="670" y="202257"/>
                </a:cubicBezTo>
                <a:lnTo>
                  <a:pt x="670" y="83325"/>
                </a:lnTo>
                <a:cubicBezTo>
                  <a:pt x="670" y="75623"/>
                  <a:pt x="4800" y="68368"/>
                  <a:pt x="11497" y="64517"/>
                </a:cubicBezTo>
                <a:lnTo>
                  <a:pt x="114467" y="5023"/>
                </a:lnTo>
                <a:cubicBezTo>
                  <a:pt x="120997" y="1339"/>
                  <a:pt x="129648" y="1339"/>
                  <a:pt x="136122" y="5023"/>
                </a:cubicBezTo>
                <a:lnTo>
                  <a:pt x="239204" y="64573"/>
                </a:lnTo>
                <a:cubicBezTo>
                  <a:pt x="245901" y="68424"/>
                  <a:pt x="250031" y="75623"/>
                  <a:pt x="250031" y="83381"/>
                </a:cubicBezTo>
                <a:lnTo>
                  <a:pt x="250031" y="202313"/>
                </a:lnTo>
                <a:cubicBezTo>
                  <a:pt x="250031" y="210015"/>
                  <a:pt x="245901" y="217215"/>
                  <a:pt x="239204" y="221121"/>
                </a:cubicBezTo>
                <a:lnTo>
                  <a:pt x="136122" y="280615"/>
                </a:lnTo>
                <a:cubicBezTo>
                  <a:pt x="132829" y="282513"/>
                  <a:pt x="129090" y="283518"/>
                  <a:pt x="125295" y="283518"/>
                </a:cubicBezTo>
                <a:close/>
                <a:moveTo>
                  <a:pt x="208508" y="166260"/>
                </a:moveTo>
                <a:cubicBezTo>
                  <a:pt x="208508" y="143991"/>
                  <a:pt x="193439" y="138075"/>
                  <a:pt x="161795" y="133890"/>
                </a:cubicBezTo>
                <a:cubicBezTo>
                  <a:pt x="129760" y="129648"/>
                  <a:pt x="126523" y="127471"/>
                  <a:pt x="126523" y="119993"/>
                </a:cubicBezTo>
                <a:cubicBezTo>
                  <a:pt x="126523" y="113798"/>
                  <a:pt x="129257" y="105538"/>
                  <a:pt x="152977" y="105538"/>
                </a:cubicBezTo>
                <a:cubicBezTo>
                  <a:pt x="174129" y="105538"/>
                  <a:pt x="181942" y="110114"/>
                  <a:pt x="185179" y="124402"/>
                </a:cubicBezTo>
                <a:cubicBezTo>
                  <a:pt x="185458" y="125741"/>
                  <a:pt x="186686" y="126746"/>
                  <a:pt x="188082" y="126746"/>
                </a:cubicBezTo>
                <a:lnTo>
                  <a:pt x="201476" y="126746"/>
                </a:lnTo>
                <a:cubicBezTo>
                  <a:pt x="202313" y="126746"/>
                  <a:pt x="203095" y="126411"/>
                  <a:pt x="203653" y="125797"/>
                </a:cubicBezTo>
                <a:cubicBezTo>
                  <a:pt x="204211" y="125183"/>
                  <a:pt x="204490" y="124346"/>
                  <a:pt x="204434" y="123509"/>
                </a:cubicBezTo>
                <a:cubicBezTo>
                  <a:pt x="202369" y="98896"/>
                  <a:pt x="186017" y="87455"/>
                  <a:pt x="152977" y="87455"/>
                </a:cubicBezTo>
                <a:cubicBezTo>
                  <a:pt x="123565" y="87455"/>
                  <a:pt x="106040" y="99845"/>
                  <a:pt x="106040" y="120662"/>
                </a:cubicBezTo>
                <a:cubicBezTo>
                  <a:pt x="106040" y="143210"/>
                  <a:pt x="123509" y="149461"/>
                  <a:pt x="151693" y="152251"/>
                </a:cubicBezTo>
                <a:cubicBezTo>
                  <a:pt x="185458" y="155544"/>
                  <a:pt x="188082" y="160511"/>
                  <a:pt x="188082" y="167153"/>
                </a:cubicBezTo>
                <a:cubicBezTo>
                  <a:pt x="188082" y="178650"/>
                  <a:pt x="178817" y="183561"/>
                  <a:pt x="157107" y="183561"/>
                </a:cubicBezTo>
                <a:cubicBezTo>
                  <a:pt x="129815" y="183561"/>
                  <a:pt x="123844" y="176696"/>
                  <a:pt x="121834" y="163134"/>
                </a:cubicBezTo>
                <a:cubicBezTo>
                  <a:pt x="121611" y="161683"/>
                  <a:pt x="120383" y="160623"/>
                  <a:pt x="118876" y="160623"/>
                </a:cubicBezTo>
                <a:lnTo>
                  <a:pt x="105538" y="160623"/>
                </a:lnTo>
                <a:cubicBezTo>
                  <a:pt x="103863" y="160623"/>
                  <a:pt x="102580" y="161962"/>
                  <a:pt x="102580" y="163581"/>
                </a:cubicBezTo>
                <a:cubicBezTo>
                  <a:pt x="102580" y="180938"/>
                  <a:pt x="112012" y="201644"/>
                  <a:pt x="157162" y="201644"/>
                </a:cubicBezTo>
                <a:cubicBezTo>
                  <a:pt x="189756" y="201588"/>
                  <a:pt x="208508" y="188695"/>
                  <a:pt x="208508" y="166260"/>
                </a:cubicBezTo>
                <a:close/>
              </a:path>
            </a:pathLst>
          </a:custGeom>
          <a:solidFill>
            <a:srgbClr val="FFFFFF"/>
          </a:solidFill>
          <a:ln/>
        </p:spPr>
        <p:txBody>
          <a:bodyPr/>
          <a:lstStyle/>
          <a:p>
            <a:endParaRPr lang="en-US"/>
          </a:p>
        </p:txBody>
      </p:sp>
      <p:sp>
        <p:nvSpPr>
          <p:cNvPr id="6" name="Text 3"/>
          <p:cNvSpPr/>
          <p:nvPr/>
        </p:nvSpPr>
        <p:spPr>
          <a:xfrm>
            <a:off x="1028700" y="438150"/>
            <a:ext cx="1924050" cy="190500"/>
          </a:xfrm>
          <a:prstGeom prst="rect">
            <a:avLst/>
          </a:prstGeom>
          <a:noFill/>
          <a:ln/>
        </p:spPr>
        <p:txBody>
          <a:bodyPr wrap="square" lIns="0" tIns="0" rIns="0" bIns="0" rtlCol="0" anchor="ctr"/>
          <a:lstStyle/>
          <a:p>
            <a:pPr>
              <a:lnSpc>
                <a:spcPct val="120000"/>
              </a:lnSpc>
            </a:pPr>
            <a:r>
              <a:rPr lang="en-US" sz="1050" b="1" kern="0" spc="53" dirty="0">
                <a:solidFill>
                  <a:srgbClr val="8D99AE"/>
                </a:solidFill>
                <a:latin typeface="Quattrocento Sans" pitchFamily="34" charset="0"/>
                <a:ea typeface="Quattrocento Sans" pitchFamily="34" charset="-122"/>
                <a:cs typeface="Quattrocento Sans" pitchFamily="34" charset="-120"/>
              </a:rPr>
              <a:t>Senior Developer Track</a:t>
            </a:r>
            <a:endParaRPr lang="en-US" sz="1600" dirty="0"/>
          </a:p>
        </p:txBody>
      </p:sp>
      <p:sp>
        <p:nvSpPr>
          <p:cNvPr id="7" name="Text 4"/>
          <p:cNvSpPr/>
          <p:nvPr/>
        </p:nvSpPr>
        <p:spPr>
          <a:xfrm>
            <a:off x="1028700" y="628650"/>
            <a:ext cx="1933575" cy="228600"/>
          </a:xfrm>
          <a:prstGeom prst="rect">
            <a:avLst/>
          </a:prstGeom>
          <a:noFill/>
          <a:ln/>
        </p:spPr>
        <p:txBody>
          <a:bodyPr wrap="square" lIns="0" tIns="0" rIns="0" bIns="0" rtlCol="0" anchor="ctr"/>
          <a:lstStyle/>
          <a:p>
            <a:pPr>
              <a:lnSpc>
                <a:spcPct val="130000"/>
              </a:lnSpc>
            </a:pPr>
            <a:r>
              <a:rPr lang="en-US" sz="1200" dirty="0">
                <a:solidFill>
                  <a:srgbClr val="F4F1DE">
                    <a:alpha val="70000"/>
                  </a:srgbClr>
                </a:solidFill>
                <a:latin typeface="Quattrocento Sans" pitchFamily="34" charset="0"/>
                <a:ea typeface="Quattrocento Sans" pitchFamily="34" charset="-122"/>
                <a:cs typeface="Quattrocento Sans" pitchFamily="34" charset="-120"/>
              </a:rPr>
              <a:t>Interview Preparation Series</a:t>
            </a:r>
            <a:endParaRPr lang="en-US" sz="1600" dirty="0"/>
          </a:p>
        </p:txBody>
      </p:sp>
      <p:sp>
        <p:nvSpPr>
          <p:cNvPr id="8" name="Text 5"/>
          <p:cNvSpPr/>
          <p:nvPr/>
        </p:nvSpPr>
        <p:spPr>
          <a:xfrm>
            <a:off x="381000" y="1125885"/>
            <a:ext cx="8991600" cy="2609850"/>
          </a:xfrm>
          <a:prstGeom prst="rect">
            <a:avLst/>
          </a:prstGeom>
          <a:noFill/>
          <a:ln/>
        </p:spPr>
        <p:txBody>
          <a:bodyPr wrap="square" lIns="0" tIns="0" rIns="0" bIns="0" rtlCol="0" anchor="ctr"/>
          <a:lstStyle/>
          <a:p>
            <a:pPr>
              <a:lnSpc>
                <a:spcPct val="80000"/>
              </a:lnSpc>
            </a:pPr>
            <a:r>
              <a:rPr lang="en-US" sz="7200" b="1" dirty="0">
                <a:solidFill>
                  <a:srgbClr val="F4F1DE"/>
                </a:solidFill>
                <a:latin typeface="Liter" pitchFamily="34" charset="0"/>
                <a:ea typeface="Liter" pitchFamily="34" charset="-122"/>
                <a:cs typeface="Liter" pitchFamily="34" charset="-120"/>
              </a:rPr>
              <a:t>Node.js</a:t>
            </a:r>
            <a:endParaRPr lang="en-US" sz="1600" dirty="0"/>
          </a:p>
          <a:p>
            <a:pPr>
              <a:lnSpc>
                <a:spcPct val="80000"/>
              </a:lnSpc>
            </a:pPr>
            <a:r>
              <a:rPr lang="en-US" sz="7200" b="1" dirty="0">
                <a:solidFill>
                  <a:srgbClr val="E07A5F"/>
                </a:solidFill>
                <a:latin typeface="Liter" pitchFamily="34" charset="0"/>
                <a:ea typeface="Liter" pitchFamily="34" charset="-122"/>
                <a:cs typeface="Liter" pitchFamily="34" charset="-120"/>
              </a:rPr>
              <a:t>Streams</a:t>
            </a:r>
            <a:endParaRPr lang="en-US" sz="1600" dirty="0"/>
          </a:p>
          <a:p>
            <a:pPr>
              <a:lnSpc>
                <a:spcPct val="80000"/>
              </a:lnSpc>
            </a:pPr>
            <a:r>
              <a:rPr lang="en-US" sz="4500" b="1" dirty="0">
                <a:solidFill>
                  <a:srgbClr val="F4F1DE"/>
                </a:solidFill>
                <a:latin typeface="Liter" pitchFamily="34" charset="0"/>
                <a:ea typeface="Liter" pitchFamily="34" charset="-122"/>
                <a:cs typeface="Liter" pitchFamily="34" charset="-120"/>
              </a:rPr>
              <a:t>Deep Dive</a:t>
            </a:r>
            <a:endParaRPr lang="en-US" sz="1600" dirty="0"/>
          </a:p>
        </p:txBody>
      </p:sp>
      <p:sp>
        <p:nvSpPr>
          <p:cNvPr id="9" name="Shape 6"/>
          <p:cNvSpPr/>
          <p:nvPr/>
        </p:nvSpPr>
        <p:spPr>
          <a:xfrm>
            <a:off x="381000" y="4169941"/>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10" name="Text 7"/>
          <p:cNvSpPr/>
          <p:nvPr/>
        </p:nvSpPr>
        <p:spPr>
          <a:xfrm>
            <a:off x="1524000" y="4036591"/>
            <a:ext cx="4210050" cy="304800"/>
          </a:xfrm>
          <a:prstGeom prst="rect">
            <a:avLst/>
          </a:prstGeom>
          <a:noFill/>
          <a:ln/>
        </p:spPr>
        <p:txBody>
          <a:bodyPr wrap="square" lIns="0" tIns="0" rIns="0" bIns="0" rtlCol="0" anchor="ctr"/>
          <a:lstStyle/>
          <a:p>
            <a:pPr>
              <a:lnSpc>
                <a:spcPct val="110000"/>
              </a:lnSpc>
            </a:pPr>
            <a:r>
              <a:rPr lang="en-US" sz="1800" dirty="0">
                <a:solidFill>
                  <a:srgbClr val="F4F1DE">
                    <a:alpha val="80000"/>
                  </a:srgbClr>
                </a:solidFill>
                <a:latin typeface="Quattrocento Sans" pitchFamily="34" charset="0"/>
                <a:ea typeface="Quattrocento Sans" pitchFamily="34" charset="-122"/>
                <a:cs typeface="Quattrocento Sans" pitchFamily="34" charset="-120"/>
              </a:rPr>
              <a:t>Master Memory-Efficient Data Processing</a:t>
            </a:r>
            <a:endParaRPr lang="en-US" sz="1600" dirty="0"/>
          </a:p>
        </p:txBody>
      </p:sp>
      <p:sp>
        <p:nvSpPr>
          <p:cNvPr id="11" name="Shape 8"/>
          <p:cNvSpPr/>
          <p:nvPr/>
        </p:nvSpPr>
        <p:spPr>
          <a:xfrm>
            <a:off x="400050" y="4646191"/>
            <a:ext cx="2724150" cy="1028700"/>
          </a:xfrm>
          <a:custGeom>
            <a:avLst/>
            <a:gdLst/>
            <a:ahLst/>
            <a:cxnLst/>
            <a:rect l="l" t="t" r="r" b="b"/>
            <a:pathLst>
              <a:path w="2724150" h="1028700">
                <a:moveTo>
                  <a:pt x="38100" y="0"/>
                </a:moveTo>
                <a:lnTo>
                  <a:pt x="2647954" y="0"/>
                </a:lnTo>
                <a:cubicBezTo>
                  <a:pt x="2690036" y="0"/>
                  <a:pt x="2724150" y="34114"/>
                  <a:pt x="2724150" y="76196"/>
                </a:cubicBezTo>
                <a:lnTo>
                  <a:pt x="2724150" y="952504"/>
                </a:lnTo>
                <a:cubicBezTo>
                  <a:pt x="2724150" y="994586"/>
                  <a:pt x="2690036" y="1028700"/>
                  <a:pt x="2647954" y="1028700"/>
                </a:cubicBezTo>
                <a:lnTo>
                  <a:pt x="38100" y="1028700"/>
                </a:lnTo>
                <a:cubicBezTo>
                  <a:pt x="17072" y="1028700"/>
                  <a:pt x="0" y="1011628"/>
                  <a:pt x="0" y="990600"/>
                </a:cubicBezTo>
                <a:lnTo>
                  <a:pt x="0" y="38100"/>
                </a:lnTo>
                <a:cubicBezTo>
                  <a:pt x="0" y="17072"/>
                  <a:pt x="17072" y="0"/>
                  <a:pt x="38100" y="0"/>
                </a:cubicBezTo>
                <a:close/>
              </a:path>
            </a:pathLst>
          </a:custGeom>
          <a:solidFill>
            <a:srgbClr val="8D99AE">
              <a:alpha val="20000"/>
            </a:srgbClr>
          </a:solidFill>
          <a:ln/>
        </p:spPr>
        <p:txBody>
          <a:bodyPr/>
          <a:lstStyle/>
          <a:p>
            <a:endParaRPr lang="en-US"/>
          </a:p>
        </p:txBody>
      </p:sp>
      <p:sp>
        <p:nvSpPr>
          <p:cNvPr id="12" name="Shape 9"/>
          <p:cNvSpPr/>
          <p:nvPr/>
        </p:nvSpPr>
        <p:spPr>
          <a:xfrm>
            <a:off x="400050" y="464619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E07A5F"/>
          </a:solidFill>
          <a:ln/>
        </p:spPr>
        <p:txBody>
          <a:bodyPr/>
          <a:lstStyle/>
          <a:p>
            <a:endParaRPr lang="en-US"/>
          </a:p>
        </p:txBody>
      </p:sp>
      <p:sp>
        <p:nvSpPr>
          <p:cNvPr id="13" name="Shape 10"/>
          <p:cNvSpPr/>
          <p:nvPr/>
        </p:nvSpPr>
        <p:spPr>
          <a:xfrm>
            <a:off x="595313" y="4836691"/>
            <a:ext cx="190500" cy="190500"/>
          </a:xfrm>
          <a:custGeom>
            <a:avLst/>
            <a:gdLst/>
            <a:ahLst/>
            <a:cxnLst/>
            <a:rect l="l" t="t" r="r" b="b"/>
            <a:pathLst>
              <a:path w="190500" h="190500">
                <a:moveTo>
                  <a:pt x="23812" y="23812"/>
                </a:moveTo>
                <a:cubicBezTo>
                  <a:pt x="10678" y="23812"/>
                  <a:pt x="0" y="34491"/>
                  <a:pt x="0" y="47625"/>
                </a:cubicBezTo>
                <a:lnTo>
                  <a:pt x="0" y="50378"/>
                </a:lnTo>
                <a:cubicBezTo>
                  <a:pt x="0" y="52908"/>
                  <a:pt x="1637" y="55066"/>
                  <a:pt x="3758" y="56443"/>
                </a:cubicBezTo>
                <a:cubicBezTo>
                  <a:pt x="8669" y="59643"/>
                  <a:pt x="11906" y="65150"/>
                  <a:pt x="11906" y="71438"/>
                </a:cubicBezTo>
                <a:cubicBezTo>
                  <a:pt x="11906" y="77725"/>
                  <a:pt x="8669" y="83232"/>
                  <a:pt x="3758" y="86432"/>
                </a:cubicBezTo>
                <a:cubicBezTo>
                  <a:pt x="1637" y="87809"/>
                  <a:pt x="0" y="89967"/>
                  <a:pt x="0" y="92497"/>
                </a:cubicBezTo>
                <a:lnTo>
                  <a:pt x="0" y="113109"/>
                </a:lnTo>
                <a:lnTo>
                  <a:pt x="190500" y="113109"/>
                </a:lnTo>
                <a:lnTo>
                  <a:pt x="190500" y="92497"/>
                </a:lnTo>
                <a:cubicBezTo>
                  <a:pt x="190500" y="89967"/>
                  <a:pt x="188863" y="87809"/>
                  <a:pt x="186742" y="86432"/>
                </a:cubicBezTo>
                <a:cubicBezTo>
                  <a:pt x="181831" y="83232"/>
                  <a:pt x="178594" y="77725"/>
                  <a:pt x="178594" y="71438"/>
                </a:cubicBezTo>
                <a:cubicBezTo>
                  <a:pt x="178594" y="65150"/>
                  <a:pt x="181831" y="59643"/>
                  <a:pt x="186742" y="56443"/>
                </a:cubicBezTo>
                <a:cubicBezTo>
                  <a:pt x="188863" y="55066"/>
                  <a:pt x="190500" y="52908"/>
                  <a:pt x="190500" y="50378"/>
                </a:cubicBezTo>
                <a:lnTo>
                  <a:pt x="190500" y="47625"/>
                </a:lnTo>
                <a:cubicBezTo>
                  <a:pt x="190500" y="34491"/>
                  <a:pt x="179822" y="23812"/>
                  <a:pt x="166688" y="23812"/>
                </a:cubicBezTo>
                <a:lnTo>
                  <a:pt x="23812" y="23812"/>
                </a:lnTo>
                <a:close/>
                <a:moveTo>
                  <a:pt x="190500" y="154781"/>
                </a:moveTo>
                <a:lnTo>
                  <a:pt x="190500" y="130969"/>
                </a:lnTo>
                <a:lnTo>
                  <a:pt x="0" y="130969"/>
                </a:lnTo>
                <a:lnTo>
                  <a:pt x="0" y="154781"/>
                </a:lnTo>
                <a:cubicBezTo>
                  <a:pt x="0" y="161367"/>
                  <a:pt x="5321" y="166688"/>
                  <a:pt x="11906" y="166688"/>
                </a:cubicBezTo>
                <a:lnTo>
                  <a:pt x="35719" y="166688"/>
                </a:lnTo>
                <a:lnTo>
                  <a:pt x="35719" y="157758"/>
                </a:lnTo>
                <a:cubicBezTo>
                  <a:pt x="35719" y="152809"/>
                  <a:pt x="39700" y="148828"/>
                  <a:pt x="44648" y="148828"/>
                </a:cubicBezTo>
                <a:cubicBezTo>
                  <a:pt x="49597" y="148828"/>
                  <a:pt x="53578" y="152809"/>
                  <a:pt x="53578" y="157758"/>
                </a:cubicBezTo>
                <a:lnTo>
                  <a:pt x="53578" y="166688"/>
                </a:lnTo>
                <a:lnTo>
                  <a:pt x="86320" y="166688"/>
                </a:lnTo>
                <a:lnTo>
                  <a:pt x="86320" y="157758"/>
                </a:lnTo>
                <a:cubicBezTo>
                  <a:pt x="86320" y="152809"/>
                  <a:pt x="90301" y="148828"/>
                  <a:pt x="95250" y="148828"/>
                </a:cubicBezTo>
                <a:cubicBezTo>
                  <a:pt x="100199" y="148828"/>
                  <a:pt x="104180" y="152809"/>
                  <a:pt x="104180" y="157758"/>
                </a:cubicBezTo>
                <a:lnTo>
                  <a:pt x="104180" y="166688"/>
                </a:lnTo>
                <a:lnTo>
                  <a:pt x="136922" y="166688"/>
                </a:lnTo>
                <a:lnTo>
                  <a:pt x="136922" y="157758"/>
                </a:lnTo>
                <a:cubicBezTo>
                  <a:pt x="136922" y="152809"/>
                  <a:pt x="140903" y="148828"/>
                  <a:pt x="145852" y="148828"/>
                </a:cubicBezTo>
                <a:cubicBezTo>
                  <a:pt x="150800" y="148828"/>
                  <a:pt x="154781" y="152809"/>
                  <a:pt x="154781" y="157758"/>
                </a:cubicBezTo>
                <a:lnTo>
                  <a:pt x="154781" y="166688"/>
                </a:lnTo>
                <a:lnTo>
                  <a:pt x="178594" y="166688"/>
                </a:lnTo>
                <a:cubicBezTo>
                  <a:pt x="185179" y="166688"/>
                  <a:pt x="190500" y="161367"/>
                  <a:pt x="190500" y="154781"/>
                </a:cubicBezTo>
                <a:close/>
                <a:moveTo>
                  <a:pt x="59531" y="59531"/>
                </a:moveTo>
                <a:lnTo>
                  <a:pt x="59531" y="83344"/>
                </a:lnTo>
                <a:cubicBezTo>
                  <a:pt x="59531" y="89929"/>
                  <a:pt x="54211" y="95250"/>
                  <a:pt x="47625" y="95250"/>
                </a:cubicBezTo>
                <a:cubicBezTo>
                  <a:pt x="41039" y="95250"/>
                  <a:pt x="35719" y="89929"/>
                  <a:pt x="35719" y="83344"/>
                </a:cubicBezTo>
                <a:lnTo>
                  <a:pt x="35719" y="59531"/>
                </a:lnTo>
                <a:cubicBezTo>
                  <a:pt x="35719" y="52946"/>
                  <a:pt x="41039" y="47625"/>
                  <a:pt x="47625" y="47625"/>
                </a:cubicBezTo>
                <a:cubicBezTo>
                  <a:pt x="54211" y="47625"/>
                  <a:pt x="59531" y="52946"/>
                  <a:pt x="59531" y="59531"/>
                </a:cubicBezTo>
                <a:close/>
                <a:moveTo>
                  <a:pt x="107156" y="59531"/>
                </a:moveTo>
                <a:lnTo>
                  <a:pt x="107156" y="83344"/>
                </a:lnTo>
                <a:cubicBezTo>
                  <a:pt x="107156" y="89929"/>
                  <a:pt x="101836" y="95250"/>
                  <a:pt x="95250" y="95250"/>
                </a:cubicBezTo>
                <a:cubicBezTo>
                  <a:pt x="88664" y="95250"/>
                  <a:pt x="83344" y="89929"/>
                  <a:pt x="83344" y="83344"/>
                </a:cubicBezTo>
                <a:lnTo>
                  <a:pt x="83344" y="59531"/>
                </a:lnTo>
                <a:cubicBezTo>
                  <a:pt x="83344" y="52946"/>
                  <a:pt x="88664" y="47625"/>
                  <a:pt x="95250" y="47625"/>
                </a:cubicBezTo>
                <a:cubicBezTo>
                  <a:pt x="101836" y="47625"/>
                  <a:pt x="107156" y="52946"/>
                  <a:pt x="107156" y="59531"/>
                </a:cubicBezTo>
                <a:close/>
                <a:moveTo>
                  <a:pt x="154781" y="59531"/>
                </a:moveTo>
                <a:lnTo>
                  <a:pt x="154781" y="83344"/>
                </a:lnTo>
                <a:cubicBezTo>
                  <a:pt x="154781" y="89929"/>
                  <a:pt x="149461" y="95250"/>
                  <a:pt x="142875" y="95250"/>
                </a:cubicBezTo>
                <a:cubicBezTo>
                  <a:pt x="136289" y="95250"/>
                  <a:pt x="130969" y="89929"/>
                  <a:pt x="130969" y="83344"/>
                </a:cubicBezTo>
                <a:lnTo>
                  <a:pt x="130969" y="59531"/>
                </a:lnTo>
                <a:cubicBezTo>
                  <a:pt x="130969" y="52946"/>
                  <a:pt x="136289" y="47625"/>
                  <a:pt x="142875" y="47625"/>
                </a:cubicBezTo>
                <a:cubicBezTo>
                  <a:pt x="149461" y="47625"/>
                  <a:pt x="154781" y="52946"/>
                  <a:pt x="154781" y="59531"/>
                </a:cubicBezTo>
                <a:close/>
              </a:path>
            </a:pathLst>
          </a:custGeom>
          <a:solidFill>
            <a:srgbClr val="E07A5F"/>
          </a:solidFill>
          <a:ln/>
        </p:spPr>
        <p:txBody>
          <a:bodyPr/>
          <a:lstStyle/>
          <a:p>
            <a:endParaRPr lang="en-US"/>
          </a:p>
        </p:txBody>
      </p:sp>
      <p:sp>
        <p:nvSpPr>
          <p:cNvPr id="14" name="Text 11"/>
          <p:cNvSpPr/>
          <p:nvPr/>
        </p:nvSpPr>
        <p:spPr>
          <a:xfrm>
            <a:off x="923925" y="4798591"/>
            <a:ext cx="1343025" cy="266700"/>
          </a:xfrm>
          <a:prstGeom prst="rect">
            <a:avLst/>
          </a:prstGeom>
          <a:noFill/>
          <a:ln/>
        </p:spPr>
        <p:txBody>
          <a:bodyPr wrap="square" lIns="0" tIns="0" rIns="0" bIns="0" rtlCol="0" anchor="ctr"/>
          <a:lstStyle/>
          <a:p>
            <a:pPr>
              <a:lnSpc>
                <a:spcPct val="130000"/>
              </a:lnSpc>
            </a:pPr>
            <a:r>
              <a:rPr lang="en-US" sz="1350" b="1" dirty="0">
                <a:solidFill>
                  <a:srgbClr val="F4F1DE"/>
                </a:solidFill>
                <a:latin typeface="Quattrocento Sans" pitchFamily="34" charset="0"/>
                <a:ea typeface="Quattrocento Sans" pitchFamily="34" charset="-122"/>
                <a:cs typeface="Quattrocento Sans" pitchFamily="34" charset="-120"/>
              </a:rPr>
              <a:t>Memory Efficient</a:t>
            </a:r>
            <a:endParaRPr lang="en-US" sz="1600" dirty="0"/>
          </a:p>
        </p:txBody>
      </p:sp>
      <p:sp>
        <p:nvSpPr>
          <p:cNvPr id="15" name="Text 12"/>
          <p:cNvSpPr/>
          <p:nvPr/>
        </p:nvSpPr>
        <p:spPr>
          <a:xfrm>
            <a:off x="571500" y="5141491"/>
            <a:ext cx="2466975" cy="381000"/>
          </a:xfrm>
          <a:prstGeom prst="rect">
            <a:avLst/>
          </a:prstGeom>
          <a:noFill/>
          <a:ln/>
        </p:spPr>
        <p:txBody>
          <a:bodyPr wrap="square" lIns="0" tIns="0" rIns="0" bIns="0" rtlCol="0" anchor="ctr"/>
          <a:lstStyle/>
          <a:p>
            <a:pPr>
              <a:lnSpc>
                <a:spcPct val="120000"/>
              </a:lnSpc>
            </a:pPr>
            <a:r>
              <a:rPr lang="en-US" sz="1050" dirty="0">
                <a:solidFill>
                  <a:srgbClr val="F4F1DE">
                    <a:alpha val="70000"/>
                  </a:srgbClr>
                </a:solidFill>
                <a:latin typeface="Quattrocento Sans" pitchFamily="34" charset="0"/>
                <a:ea typeface="Quattrocento Sans" pitchFamily="34" charset="-122"/>
                <a:cs typeface="Quattrocento Sans" pitchFamily="34" charset="-120"/>
              </a:rPr>
              <a:t>Chunked data handling without loading entire datasets</a:t>
            </a:r>
            <a:endParaRPr lang="en-US" sz="1600" dirty="0"/>
          </a:p>
        </p:txBody>
      </p:sp>
      <p:sp>
        <p:nvSpPr>
          <p:cNvPr id="16" name="Shape 13"/>
          <p:cNvSpPr/>
          <p:nvPr/>
        </p:nvSpPr>
        <p:spPr>
          <a:xfrm>
            <a:off x="3295650" y="4646191"/>
            <a:ext cx="2724150" cy="1028700"/>
          </a:xfrm>
          <a:custGeom>
            <a:avLst/>
            <a:gdLst/>
            <a:ahLst/>
            <a:cxnLst/>
            <a:rect l="l" t="t" r="r" b="b"/>
            <a:pathLst>
              <a:path w="2724150" h="1028700">
                <a:moveTo>
                  <a:pt x="38100" y="0"/>
                </a:moveTo>
                <a:lnTo>
                  <a:pt x="2647954" y="0"/>
                </a:lnTo>
                <a:cubicBezTo>
                  <a:pt x="2690036" y="0"/>
                  <a:pt x="2724150" y="34114"/>
                  <a:pt x="2724150" y="76196"/>
                </a:cubicBezTo>
                <a:lnTo>
                  <a:pt x="2724150" y="952504"/>
                </a:lnTo>
                <a:cubicBezTo>
                  <a:pt x="2724150" y="994586"/>
                  <a:pt x="2690036" y="1028700"/>
                  <a:pt x="2647954" y="1028700"/>
                </a:cubicBezTo>
                <a:lnTo>
                  <a:pt x="38100" y="1028700"/>
                </a:lnTo>
                <a:cubicBezTo>
                  <a:pt x="17072" y="1028700"/>
                  <a:pt x="0" y="1011628"/>
                  <a:pt x="0" y="990600"/>
                </a:cubicBezTo>
                <a:lnTo>
                  <a:pt x="0" y="38100"/>
                </a:lnTo>
                <a:cubicBezTo>
                  <a:pt x="0" y="17072"/>
                  <a:pt x="17072" y="0"/>
                  <a:pt x="38100" y="0"/>
                </a:cubicBezTo>
                <a:close/>
              </a:path>
            </a:pathLst>
          </a:custGeom>
          <a:solidFill>
            <a:srgbClr val="8D99AE">
              <a:alpha val="20000"/>
            </a:srgbClr>
          </a:solidFill>
          <a:ln/>
        </p:spPr>
        <p:txBody>
          <a:bodyPr/>
          <a:lstStyle/>
          <a:p>
            <a:endParaRPr lang="en-US"/>
          </a:p>
        </p:txBody>
      </p:sp>
      <p:sp>
        <p:nvSpPr>
          <p:cNvPr id="17" name="Shape 14"/>
          <p:cNvSpPr/>
          <p:nvPr/>
        </p:nvSpPr>
        <p:spPr>
          <a:xfrm>
            <a:off x="3295650" y="464619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8D99AE"/>
          </a:solidFill>
          <a:ln/>
        </p:spPr>
        <p:txBody>
          <a:bodyPr/>
          <a:lstStyle/>
          <a:p>
            <a:endParaRPr lang="en-US"/>
          </a:p>
        </p:txBody>
      </p:sp>
      <p:sp>
        <p:nvSpPr>
          <p:cNvPr id="18" name="Shape 15"/>
          <p:cNvSpPr/>
          <p:nvPr/>
        </p:nvSpPr>
        <p:spPr>
          <a:xfrm>
            <a:off x="3490913" y="4836691"/>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8" y="53764"/>
                  <a:pt x="134987" y="51569"/>
                </a:cubicBezTo>
                <a:cubicBezTo>
                  <a:pt x="130597" y="49374"/>
                  <a:pt x="125202" y="51160"/>
                  <a:pt x="123006" y="55550"/>
                </a:cubicBezTo>
                <a:lnTo>
                  <a:pt x="97148" y="107231"/>
                </a:lnTo>
                <a:cubicBezTo>
                  <a:pt x="96515" y="107193"/>
                  <a:pt x="95883" y="107156"/>
                  <a:pt x="95250" y="107156"/>
                </a:cubicBezTo>
                <a:cubicBezTo>
                  <a:pt x="82116" y="107156"/>
                  <a:pt x="71438" y="117835"/>
                  <a:pt x="71438" y="130969"/>
                </a:cubicBezTo>
                <a:cubicBezTo>
                  <a:pt x="71438" y="144103"/>
                  <a:pt x="82116" y="154781"/>
                  <a:pt x="95250" y="154781"/>
                </a:cubicBezTo>
                <a:close/>
                <a:moveTo>
                  <a:pt x="65484" y="53578"/>
                </a:moveTo>
                <a:cubicBezTo>
                  <a:pt x="65484" y="47007"/>
                  <a:pt x="60149" y="41672"/>
                  <a:pt x="53578" y="41672"/>
                </a:cubicBezTo>
                <a:cubicBezTo>
                  <a:pt x="47007" y="41672"/>
                  <a:pt x="41672" y="47007"/>
                  <a:pt x="41672" y="53578"/>
                </a:cubicBezTo>
                <a:cubicBezTo>
                  <a:pt x="41672" y="60149"/>
                  <a:pt x="47007" y="65484"/>
                  <a:pt x="53578" y="65484"/>
                </a:cubicBezTo>
                <a:cubicBezTo>
                  <a:pt x="60149" y="65484"/>
                  <a:pt x="65484" y="60149"/>
                  <a:pt x="65484" y="53578"/>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8D99AE"/>
          </a:solidFill>
          <a:ln/>
        </p:spPr>
        <p:txBody>
          <a:bodyPr/>
          <a:lstStyle/>
          <a:p>
            <a:endParaRPr lang="en-US"/>
          </a:p>
        </p:txBody>
      </p:sp>
      <p:sp>
        <p:nvSpPr>
          <p:cNvPr id="19" name="Text 16"/>
          <p:cNvSpPr/>
          <p:nvPr/>
        </p:nvSpPr>
        <p:spPr>
          <a:xfrm>
            <a:off x="3819525" y="4798591"/>
            <a:ext cx="1076325" cy="266700"/>
          </a:xfrm>
          <a:prstGeom prst="rect">
            <a:avLst/>
          </a:prstGeom>
          <a:noFill/>
          <a:ln/>
        </p:spPr>
        <p:txBody>
          <a:bodyPr wrap="square" lIns="0" tIns="0" rIns="0" bIns="0" rtlCol="0" anchor="ctr"/>
          <a:lstStyle/>
          <a:p>
            <a:pPr>
              <a:lnSpc>
                <a:spcPct val="130000"/>
              </a:lnSpc>
            </a:pPr>
            <a:r>
              <a:rPr lang="en-US" sz="1350" b="1" dirty="0">
                <a:solidFill>
                  <a:srgbClr val="F4F1DE"/>
                </a:solidFill>
                <a:latin typeface="Quattrocento Sans" pitchFamily="34" charset="0"/>
                <a:ea typeface="Quattrocento Sans" pitchFamily="34" charset="-122"/>
                <a:cs typeface="Quattrocento Sans" pitchFamily="34" charset="-120"/>
              </a:rPr>
              <a:t>Backpressure</a:t>
            </a:r>
            <a:endParaRPr lang="en-US" sz="1600" dirty="0"/>
          </a:p>
        </p:txBody>
      </p:sp>
      <p:sp>
        <p:nvSpPr>
          <p:cNvPr id="20" name="Text 17"/>
          <p:cNvSpPr/>
          <p:nvPr/>
        </p:nvSpPr>
        <p:spPr>
          <a:xfrm>
            <a:off x="3467100" y="5141491"/>
            <a:ext cx="2466975" cy="381000"/>
          </a:xfrm>
          <a:prstGeom prst="rect">
            <a:avLst/>
          </a:prstGeom>
          <a:noFill/>
          <a:ln/>
        </p:spPr>
        <p:txBody>
          <a:bodyPr wrap="square" lIns="0" tIns="0" rIns="0" bIns="0" rtlCol="0" anchor="ctr"/>
          <a:lstStyle/>
          <a:p>
            <a:pPr>
              <a:lnSpc>
                <a:spcPct val="120000"/>
              </a:lnSpc>
            </a:pPr>
            <a:r>
              <a:rPr lang="en-US" sz="1050" dirty="0">
                <a:solidFill>
                  <a:srgbClr val="F4F1DE">
                    <a:alpha val="70000"/>
                  </a:srgbClr>
                </a:solidFill>
                <a:latin typeface="Quattrocento Sans" pitchFamily="34" charset="0"/>
                <a:ea typeface="Quattrocento Sans" pitchFamily="34" charset="-122"/>
                <a:cs typeface="Quattrocento Sans" pitchFamily="34" charset="-120"/>
              </a:rPr>
              <a:t>Flow control internals and optimization strategies</a:t>
            </a:r>
            <a:endParaRPr lang="en-US" sz="1600" dirty="0"/>
          </a:p>
        </p:txBody>
      </p:sp>
      <p:sp>
        <p:nvSpPr>
          <p:cNvPr id="21" name="Shape 18"/>
          <p:cNvSpPr/>
          <p:nvPr/>
        </p:nvSpPr>
        <p:spPr>
          <a:xfrm>
            <a:off x="6191250" y="4646191"/>
            <a:ext cx="2724150" cy="1028700"/>
          </a:xfrm>
          <a:custGeom>
            <a:avLst/>
            <a:gdLst/>
            <a:ahLst/>
            <a:cxnLst/>
            <a:rect l="l" t="t" r="r" b="b"/>
            <a:pathLst>
              <a:path w="2724150" h="1028700">
                <a:moveTo>
                  <a:pt x="38100" y="0"/>
                </a:moveTo>
                <a:lnTo>
                  <a:pt x="2647954" y="0"/>
                </a:lnTo>
                <a:cubicBezTo>
                  <a:pt x="2690036" y="0"/>
                  <a:pt x="2724150" y="34114"/>
                  <a:pt x="2724150" y="76196"/>
                </a:cubicBezTo>
                <a:lnTo>
                  <a:pt x="2724150" y="952504"/>
                </a:lnTo>
                <a:cubicBezTo>
                  <a:pt x="2724150" y="994586"/>
                  <a:pt x="2690036" y="1028700"/>
                  <a:pt x="2647954" y="1028700"/>
                </a:cubicBezTo>
                <a:lnTo>
                  <a:pt x="38100" y="1028700"/>
                </a:lnTo>
                <a:cubicBezTo>
                  <a:pt x="17072" y="1028700"/>
                  <a:pt x="0" y="1011628"/>
                  <a:pt x="0" y="990600"/>
                </a:cubicBezTo>
                <a:lnTo>
                  <a:pt x="0" y="38100"/>
                </a:lnTo>
                <a:cubicBezTo>
                  <a:pt x="0" y="17072"/>
                  <a:pt x="17072" y="0"/>
                  <a:pt x="38100" y="0"/>
                </a:cubicBezTo>
                <a:close/>
              </a:path>
            </a:pathLst>
          </a:custGeom>
          <a:solidFill>
            <a:srgbClr val="8D99AE">
              <a:alpha val="20000"/>
            </a:srgbClr>
          </a:solidFill>
          <a:ln/>
        </p:spPr>
        <p:txBody>
          <a:bodyPr/>
          <a:lstStyle/>
          <a:p>
            <a:endParaRPr lang="en-US"/>
          </a:p>
        </p:txBody>
      </p:sp>
      <p:sp>
        <p:nvSpPr>
          <p:cNvPr id="22" name="Shape 19"/>
          <p:cNvSpPr/>
          <p:nvPr/>
        </p:nvSpPr>
        <p:spPr>
          <a:xfrm>
            <a:off x="6191250" y="464619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E07A5F"/>
          </a:solidFill>
          <a:ln/>
        </p:spPr>
        <p:txBody>
          <a:bodyPr/>
          <a:lstStyle/>
          <a:p>
            <a:endParaRPr lang="en-US"/>
          </a:p>
        </p:txBody>
      </p:sp>
      <p:sp>
        <p:nvSpPr>
          <p:cNvPr id="23" name="Shape 20"/>
          <p:cNvSpPr/>
          <p:nvPr/>
        </p:nvSpPr>
        <p:spPr>
          <a:xfrm>
            <a:off x="6374606" y="4836691"/>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E07A5F"/>
          </a:solidFill>
          <a:ln/>
        </p:spPr>
        <p:txBody>
          <a:bodyPr/>
          <a:lstStyle/>
          <a:p>
            <a:endParaRPr lang="en-US"/>
          </a:p>
        </p:txBody>
      </p:sp>
      <p:sp>
        <p:nvSpPr>
          <p:cNvPr id="24" name="Text 21"/>
          <p:cNvSpPr/>
          <p:nvPr/>
        </p:nvSpPr>
        <p:spPr>
          <a:xfrm>
            <a:off x="6715125" y="4798591"/>
            <a:ext cx="1400175" cy="266700"/>
          </a:xfrm>
          <a:prstGeom prst="rect">
            <a:avLst/>
          </a:prstGeom>
          <a:noFill/>
          <a:ln/>
        </p:spPr>
        <p:txBody>
          <a:bodyPr wrap="square" lIns="0" tIns="0" rIns="0" bIns="0" rtlCol="0" anchor="ctr"/>
          <a:lstStyle/>
          <a:p>
            <a:pPr>
              <a:lnSpc>
                <a:spcPct val="130000"/>
              </a:lnSpc>
            </a:pPr>
            <a:r>
              <a:rPr lang="en-US" sz="1350" b="1" dirty="0">
                <a:solidFill>
                  <a:srgbClr val="F4F1DE"/>
                </a:solidFill>
                <a:latin typeface="Quattrocento Sans" pitchFamily="34" charset="0"/>
                <a:ea typeface="Quattrocento Sans" pitchFamily="34" charset="-122"/>
                <a:cs typeface="Quattrocento Sans" pitchFamily="34" charset="-120"/>
              </a:rPr>
              <a:t>Real-world Cases</a:t>
            </a:r>
            <a:endParaRPr lang="en-US" sz="1600" dirty="0"/>
          </a:p>
        </p:txBody>
      </p:sp>
      <p:sp>
        <p:nvSpPr>
          <p:cNvPr id="25" name="Text 22"/>
          <p:cNvSpPr/>
          <p:nvPr/>
        </p:nvSpPr>
        <p:spPr>
          <a:xfrm>
            <a:off x="6362700" y="5141491"/>
            <a:ext cx="2466975" cy="381000"/>
          </a:xfrm>
          <a:prstGeom prst="rect">
            <a:avLst/>
          </a:prstGeom>
          <a:noFill/>
          <a:ln/>
        </p:spPr>
        <p:txBody>
          <a:bodyPr wrap="square" lIns="0" tIns="0" rIns="0" bIns="0" rtlCol="0" anchor="ctr"/>
          <a:lstStyle/>
          <a:p>
            <a:pPr>
              <a:lnSpc>
                <a:spcPct val="120000"/>
              </a:lnSpc>
            </a:pPr>
            <a:r>
              <a:rPr lang="en-US" sz="1050" dirty="0">
                <a:solidFill>
                  <a:srgbClr val="F4F1DE">
                    <a:alpha val="70000"/>
                  </a:srgbClr>
                </a:solidFill>
                <a:latin typeface="Quattrocento Sans" pitchFamily="34" charset="0"/>
                <a:ea typeface="Quattrocento Sans" pitchFamily="34" charset="-122"/>
                <a:cs typeface="Quattrocento Sans" pitchFamily="34" charset="-120"/>
              </a:rPr>
              <a:t>Production scenarios and interview questions</a:t>
            </a:r>
            <a:endParaRPr lang="en-US" sz="1600" dirty="0"/>
          </a:p>
        </p:txBody>
      </p:sp>
      <p:sp>
        <p:nvSpPr>
          <p:cNvPr id="26" name="Shape 23"/>
          <p:cNvSpPr/>
          <p:nvPr/>
        </p:nvSpPr>
        <p:spPr>
          <a:xfrm>
            <a:off x="385763" y="5891213"/>
            <a:ext cx="1171575" cy="581025"/>
          </a:xfrm>
          <a:custGeom>
            <a:avLst/>
            <a:gdLst/>
            <a:ahLst/>
            <a:cxnLst/>
            <a:rect l="l" t="t" r="r" b="b"/>
            <a:pathLst>
              <a:path w="1171575" h="581025">
                <a:moveTo>
                  <a:pt x="76201" y="0"/>
                </a:moveTo>
                <a:lnTo>
                  <a:pt x="1095374" y="0"/>
                </a:lnTo>
                <a:cubicBezTo>
                  <a:pt x="1137430" y="0"/>
                  <a:pt x="1171575" y="34145"/>
                  <a:pt x="1171575" y="76201"/>
                </a:cubicBezTo>
                <a:lnTo>
                  <a:pt x="1171575" y="504824"/>
                </a:lnTo>
                <a:cubicBezTo>
                  <a:pt x="1171575" y="546880"/>
                  <a:pt x="1137430" y="581025"/>
                  <a:pt x="1095374" y="581025"/>
                </a:cubicBezTo>
                <a:lnTo>
                  <a:pt x="76201" y="581025"/>
                </a:lnTo>
                <a:cubicBezTo>
                  <a:pt x="34145" y="581025"/>
                  <a:pt x="0" y="546880"/>
                  <a:pt x="0" y="504824"/>
                </a:cubicBezTo>
                <a:lnTo>
                  <a:pt x="0" y="76201"/>
                </a:lnTo>
                <a:cubicBezTo>
                  <a:pt x="0" y="34145"/>
                  <a:pt x="34145" y="0"/>
                  <a:pt x="76201" y="0"/>
                </a:cubicBezTo>
                <a:close/>
              </a:path>
            </a:pathLst>
          </a:custGeom>
          <a:solidFill>
            <a:srgbClr val="E07A5F">
              <a:alpha val="20000"/>
            </a:srgbClr>
          </a:solidFill>
          <a:ln w="12700">
            <a:solidFill>
              <a:srgbClr val="E07A5F">
                <a:alpha val="40000"/>
              </a:srgbClr>
            </a:solidFill>
            <a:prstDash val="solid"/>
          </a:ln>
        </p:spPr>
        <p:txBody>
          <a:bodyPr/>
          <a:lstStyle/>
          <a:p>
            <a:endParaRPr lang="en-US"/>
          </a:p>
        </p:txBody>
      </p:sp>
      <p:sp>
        <p:nvSpPr>
          <p:cNvPr id="27" name="Text 24"/>
          <p:cNvSpPr/>
          <p:nvPr/>
        </p:nvSpPr>
        <p:spPr>
          <a:xfrm>
            <a:off x="542925" y="5972175"/>
            <a:ext cx="923925" cy="190500"/>
          </a:xfrm>
          <a:prstGeom prst="rect">
            <a:avLst/>
          </a:prstGeom>
          <a:noFill/>
          <a:ln/>
        </p:spPr>
        <p:txBody>
          <a:bodyPr wrap="square" lIns="0" tIns="0" rIns="0" bIns="0" rtlCol="0" anchor="ctr"/>
          <a:lstStyle/>
          <a:p>
            <a:pPr>
              <a:lnSpc>
                <a:spcPct val="120000"/>
              </a:lnSpc>
            </a:pPr>
            <a:r>
              <a:rPr lang="en-US" sz="1050" dirty="0">
                <a:solidFill>
                  <a:srgbClr val="F4F1DE">
                    <a:alpha val="60000"/>
                  </a:srgbClr>
                </a:solidFill>
                <a:latin typeface="Quattrocento Sans" pitchFamily="34" charset="0"/>
                <a:ea typeface="Quattrocento Sans" pitchFamily="34" charset="-122"/>
                <a:cs typeface="Quattrocento Sans" pitchFamily="34" charset="-120"/>
              </a:rPr>
              <a:t>Level</a:t>
            </a:r>
            <a:endParaRPr lang="en-US" sz="1600" dirty="0"/>
          </a:p>
        </p:txBody>
      </p:sp>
      <p:sp>
        <p:nvSpPr>
          <p:cNvPr id="28" name="Text 25"/>
          <p:cNvSpPr/>
          <p:nvPr/>
        </p:nvSpPr>
        <p:spPr>
          <a:xfrm>
            <a:off x="542925" y="6162675"/>
            <a:ext cx="933450" cy="228600"/>
          </a:xfrm>
          <a:prstGeom prst="rect">
            <a:avLst/>
          </a:prstGeom>
          <a:noFill/>
          <a:ln/>
        </p:spPr>
        <p:txBody>
          <a:bodyPr wrap="square" lIns="0" tIns="0" rIns="0" bIns="0" rtlCol="0" anchor="ctr"/>
          <a:lstStyle/>
          <a:p>
            <a:pPr>
              <a:lnSpc>
                <a:spcPct val="130000"/>
              </a:lnSpc>
            </a:pPr>
            <a:r>
              <a:rPr lang="en-US" sz="1200" b="1" dirty="0">
                <a:solidFill>
                  <a:srgbClr val="E07A5F"/>
                </a:solidFill>
                <a:latin typeface="Quattrocento Sans" pitchFamily="34" charset="0"/>
                <a:ea typeface="Quattrocento Sans" pitchFamily="34" charset="-122"/>
                <a:cs typeface="Quattrocento Sans" pitchFamily="34" charset="-120"/>
              </a:rPr>
              <a:t>Senior / Staff</a:t>
            </a:r>
            <a:endParaRPr lang="en-US" sz="1600" dirty="0"/>
          </a:p>
        </p:txBody>
      </p:sp>
      <p:sp>
        <p:nvSpPr>
          <p:cNvPr id="29" name="Shape 26"/>
          <p:cNvSpPr/>
          <p:nvPr/>
        </p:nvSpPr>
        <p:spPr>
          <a:xfrm>
            <a:off x="1719932" y="5891213"/>
            <a:ext cx="914400" cy="581025"/>
          </a:xfrm>
          <a:custGeom>
            <a:avLst/>
            <a:gdLst/>
            <a:ahLst/>
            <a:cxnLst/>
            <a:rect l="l" t="t" r="r" b="b"/>
            <a:pathLst>
              <a:path w="914400" h="581025">
                <a:moveTo>
                  <a:pt x="76201" y="0"/>
                </a:moveTo>
                <a:lnTo>
                  <a:pt x="838199" y="0"/>
                </a:lnTo>
                <a:cubicBezTo>
                  <a:pt x="880255" y="0"/>
                  <a:pt x="914400" y="34145"/>
                  <a:pt x="914400" y="76201"/>
                </a:cubicBezTo>
                <a:lnTo>
                  <a:pt x="914400" y="504824"/>
                </a:lnTo>
                <a:cubicBezTo>
                  <a:pt x="914400" y="546880"/>
                  <a:pt x="880255" y="581025"/>
                  <a:pt x="838199" y="581025"/>
                </a:cubicBezTo>
                <a:lnTo>
                  <a:pt x="76201" y="581025"/>
                </a:lnTo>
                <a:cubicBezTo>
                  <a:pt x="34145" y="581025"/>
                  <a:pt x="0" y="546880"/>
                  <a:pt x="0" y="504824"/>
                </a:cubicBezTo>
                <a:lnTo>
                  <a:pt x="0" y="76201"/>
                </a:lnTo>
                <a:cubicBezTo>
                  <a:pt x="0" y="34145"/>
                  <a:pt x="34145" y="0"/>
                  <a:pt x="76201" y="0"/>
                </a:cubicBezTo>
                <a:close/>
              </a:path>
            </a:pathLst>
          </a:custGeom>
          <a:solidFill>
            <a:srgbClr val="8D99AE">
              <a:alpha val="20000"/>
            </a:srgbClr>
          </a:solidFill>
          <a:ln w="12700">
            <a:solidFill>
              <a:srgbClr val="8D99AE">
                <a:alpha val="40000"/>
              </a:srgbClr>
            </a:solidFill>
            <a:prstDash val="solid"/>
          </a:ln>
        </p:spPr>
        <p:txBody>
          <a:bodyPr/>
          <a:lstStyle/>
          <a:p>
            <a:endParaRPr lang="en-US"/>
          </a:p>
        </p:txBody>
      </p:sp>
      <p:sp>
        <p:nvSpPr>
          <p:cNvPr id="30" name="Text 27"/>
          <p:cNvSpPr/>
          <p:nvPr/>
        </p:nvSpPr>
        <p:spPr>
          <a:xfrm>
            <a:off x="1877095" y="5972175"/>
            <a:ext cx="666750" cy="190500"/>
          </a:xfrm>
          <a:prstGeom prst="rect">
            <a:avLst/>
          </a:prstGeom>
          <a:noFill/>
          <a:ln/>
        </p:spPr>
        <p:txBody>
          <a:bodyPr wrap="square" lIns="0" tIns="0" rIns="0" bIns="0" rtlCol="0" anchor="ctr"/>
          <a:lstStyle/>
          <a:p>
            <a:pPr>
              <a:lnSpc>
                <a:spcPct val="120000"/>
              </a:lnSpc>
            </a:pPr>
            <a:r>
              <a:rPr lang="en-US" sz="1050" dirty="0">
                <a:solidFill>
                  <a:srgbClr val="F4F1DE">
                    <a:alpha val="60000"/>
                  </a:srgbClr>
                </a:solidFill>
                <a:latin typeface="Quattrocento Sans" pitchFamily="34" charset="0"/>
                <a:ea typeface="Quattrocento Sans" pitchFamily="34" charset="-122"/>
                <a:cs typeface="Quattrocento Sans" pitchFamily="34" charset="-120"/>
              </a:rPr>
              <a:t>Duration</a:t>
            </a:r>
            <a:endParaRPr lang="en-US" sz="1600" dirty="0"/>
          </a:p>
        </p:txBody>
      </p:sp>
      <p:sp>
        <p:nvSpPr>
          <p:cNvPr id="31" name="Text 28"/>
          <p:cNvSpPr/>
          <p:nvPr/>
        </p:nvSpPr>
        <p:spPr>
          <a:xfrm>
            <a:off x="1877095" y="6162675"/>
            <a:ext cx="676275"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Quattrocento Sans" pitchFamily="34" charset="0"/>
                <a:ea typeface="Quattrocento Sans" pitchFamily="34" charset="-122"/>
                <a:cs typeface="Quattrocento Sans" pitchFamily="34" charset="-120"/>
              </a:rPr>
              <a:t>20 Slides</a:t>
            </a:r>
            <a:endParaRPr lang="en-US" sz="1600" dirty="0"/>
          </a:p>
        </p:txBody>
      </p:sp>
      <p:sp>
        <p:nvSpPr>
          <p:cNvPr id="32" name="Text 29"/>
          <p:cNvSpPr/>
          <p:nvPr/>
        </p:nvSpPr>
        <p:spPr>
          <a:xfrm>
            <a:off x="9810899" y="6067425"/>
            <a:ext cx="2076450" cy="228600"/>
          </a:xfrm>
          <a:prstGeom prst="rect">
            <a:avLst/>
          </a:prstGeom>
          <a:noFill/>
          <a:ln/>
        </p:spPr>
        <p:txBody>
          <a:bodyPr wrap="square" lIns="0" tIns="0" rIns="0" bIns="0" rtlCol="0" anchor="ctr"/>
          <a:lstStyle/>
          <a:p>
            <a:pPr>
              <a:lnSpc>
                <a:spcPct val="130000"/>
              </a:lnSpc>
            </a:pPr>
            <a:r>
              <a:rPr lang="en-US" sz="1200" dirty="0">
                <a:solidFill>
                  <a:srgbClr val="F4F1DE">
                    <a:alpha val="50000"/>
                  </a:srgbClr>
                </a:solidFill>
                <a:latin typeface="Quattrocento Sans" pitchFamily="34" charset="0"/>
                <a:ea typeface="Quattrocento Sans" pitchFamily="34" charset="-122"/>
                <a:cs typeface="Quattrocento Sans" pitchFamily="34" charset="-120"/>
              </a:rPr>
              <a:t>2026 Technical Interview Prep</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81000" y="43815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514350" y="571500"/>
            <a:ext cx="190500" cy="190500"/>
          </a:xfrm>
          <a:custGeom>
            <a:avLst/>
            <a:gdLst/>
            <a:ahLst/>
            <a:cxnLst/>
            <a:rect l="l" t="t" r="r" b="b"/>
            <a:pathLst>
              <a:path w="190500" h="190500">
                <a:moveTo>
                  <a:pt x="0" y="35719"/>
                </a:moveTo>
                <a:cubicBezTo>
                  <a:pt x="0" y="29133"/>
                  <a:pt x="5321" y="23812"/>
                  <a:pt x="11906" y="23812"/>
                </a:cubicBezTo>
                <a:lnTo>
                  <a:pt x="154781" y="23812"/>
                </a:lnTo>
                <a:cubicBezTo>
                  <a:pt x="161367" y="23812"/>
                  <a:pt x="166688" y="29133"/>
                  <a:pt x="166688" y="35719"/>
                </a:cubicBezTo>
                <a:cubicBezTo>
                  <a:pt x="166688" y="42304"/>
                  <a:pt x="161367" y="47625"/>
                  <a:pt x="154781" y="47625"/>
                </a:cubicBezTo>
                <a:lnTo>
                  <a:pt x="11906" y="47625"/>
                </a:lnTo>
                <a:cubicBezTo>
                  <a:pt x="5321" y="47625"/>
                  <a:pt x="0" y="42304"/>
                  <a:pt x="0" y="35719"/>
                </a:cubicBezTo>
                <a:close/>
                <a:moveTo>
                  <a:pt x="23812" y="95250"/>
                </a:moveTo>
                <a:cubicBezTo>
                  <a:pt x="23812" y="88664"/>
                  <a:pt x="29133" y="83344"/>
                  <a:pt x="35719" y="83344"/>
                </a:cubicBezTo>
                <a:lnTo>
                  <a:pt x="178594" y="83344"/>
                </a:lnTo>
                <a:cubicBezTo>
                  <a:pt x="185179" y="83344"/>
                  <a:pt x="190500" y="88664"/>
                  <a:pt x="190500" y="95250"/>
                </a:cubicBezTo>
                <a:cubicBezTo>
                  <a:pt x="190500" y="101836"/>
                  <a:pt x="185179" y="107156"/>
                  <a:pt x="178594" y="107156"/>
                </a:cubicBezTo>
                <a:lnTo>
                  <a:pt x="35719" y="107156"/>
                </a:lnTo>
                <a:cubicBezTo>
                  <a:pt x="29133" y="107156"/>
                  <a:pt x="23812" y="101836"/>
                  <a:pt x="23812" y="95250"/>
                </a:cubicBezTo>
                <a:close/>
                <a:moveTo>
                  <a:pt x="166688" y="154781"/>
                </a:moveTo>
                <a:cubicBezTo>
                  <a:pt x="166688" y="161367"/>
                  <a:pt x="161367" y="166688"/>
                  <a:pt x="154781" y="166688"/>
                </a:cubicBezTo>
                <a:lnTo>
                  <a:pt x="11906" y="166688"/>
                </a:lnTo>
                <a:cubicBezTo>
                  <a:pt x="5321" y="166688"/>
                  <a:pt x="0" y="161367"/>
                  <a:pt x="0" y="154781"/>
                </a:cubicBezTo>
                <a:cubicBezTo>
                  <a:pt x="0" y="148196"/>
                  <a:pt x="5321" y="142875"/>
                  <a:pt x="11906" y="142875"/>
                </a:cubicBezTo>
                <a:lnTo>
                  <a:pt x="154781" y="142875"/>
                </a:lnTo>
                <a:cubicBezTo>
                  <a:pt x="161367" y="142875"/>
                  <a:pt x="166688" y="148196"/>
                  <a:pt x="166688" y="154781"/>
                </a:cubicBezTo>
                <a:close/>
              </a:path>
            </a:pathLst>
          </a:custGeom>
          <a:solidFill>
            <a:srgbClr val="FFFFFF"/>
          </a:solidFill>
          <a:ln/>
        </p:spPr>
        <p:txBody>
          <a:bodyPr/>
          <a:lstStyle/>
          <a:p>
            <a:endParaRPr lang="en-US"/>
          </a:p>
        </p:txBody>
      </p:sp>
      <p:sp>
        <p:nvSpPr>
          <p:cNvPr id="4" name="Text 2"/>
          <p:cNvSpPr/>
          <p:nvPr/>
        </p:nvSpPr>
        <p:spPr>
          <a:xfrm>
            <a:off x="952500" y="381000"/>
            <a:ext cx="2790825" cy="190500"/>
          </a:xfrm>
          <a:prstGeom prst="rect">
            <a:avLst/>
          </a:prstGeom>
          <a:noFill/>
          <a:ln/>
        </p:spPr>
        <p:txBody>
          <a:bodyPr wrap="square" lIns="0" tIns="0" rIns="0" bIns="0" rtlCol="0" anchor="ctr"/>
          <a:lstStyle/>
          <a:p>
            <a:pPr>
              <a:lnSpc>
                <a:spcPct val="120000"/>
              </a:lnSpc>
            </a:pPr>
            <a:r>
              <a:rPr lang="en-US" sz="1050" b="1" kern="0" spc="53" dirty="0">
                <a:solidFill>
                  <a:srgbClr val="8D99AE"/>
                </a:solidFill>
                <a:latin typeface="Quattrocento Sans" pitchFamily="34" charset="0"/>
                <a:ea typeface="Quattrocento Sans" pitchFamily="34" charset="-122"/>
                <a:cs typeface="Quattrocento Sans" pitchFamily="34" charset="-120"/>
              </a:rPr>
              <a:t>Core Concept</a:t>
            </a:r>
            <a:endParaRPr lang="en-US" sz="1600" dirty="0"/>
          </a:p>
        </p:txBody>
      </p:sp>
      <p:sp>
        <p:nvSpPr>
          <p:cNvPr id="5" name="Text 3"/>
          <p:cNvSpPr/>
          <p:nvPr/>
        </p:nvSpPr>
        <p:spPr>
          <a:xfrm>
            <a:off x="952500" y="571500"/>
            <a:ext cx="2895600" cy="381000"/>
          </a:xfrm>
          <a:prstGeom prst="rect">
            <a:avLst/>
          </a:prstGeom>
          <a:noFill/>
          <a:ln/>
        </p:spPr>
        <p:txBody>
          <a:bodyPr wrap="square" lIns="0" tIns="0" rIns="0" bIns="0" rtlCol="0" anchor="ctr"/>
          <a:lstStyle/>
          <a:p>
            <a:pPr>
              <a:lnSpc>
                <a:spcPct val="90000"/>
              </a:lnSpc>
            </a:pPr>
            <a:r>
              <a:rPr lang="en-US" sz="2700" b="1" dirty="0">
                <a:solidFill>
                  <a:srgbClr val="2D3142"/>
                </a:solidFill>
                <a:latin typeface="Liter" pitchFamily="34" charset="0"/>
                <a:ea typeface="Liter" pitchFamily="34" charset="-122"/>
                <a:cs typeface="Liter" pitchFamily="34" charset="-120"/>
              </a:rPr>
              <a:t>What is a Stream?</a:t>
            </a:r>
            <a:endParaRPr lang="en-US" sz="1600" dirty="0"/>
          </a:p>
        </p:txBody>
      </p:sp>
      <p:sp>
        <p:nvSpPr>
          <p:cNvPr id="6" name="Shape 4"/>
          <p:cNvSpPr/>
          <p:nvPr/>
        </p:nvSpPr>
        <p:spPr>
          <a:xfrm>
            <a:off x="381000" y="10668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85763" y="1338263"/>
            <a:ext cx="5591175" cy="1704975"/>
          </a:xfrm>
          <a:custGeom>
            <a:avLst/>
            <a:gdLst/>
            <a:ahLst/>
            <a:cxnLst/>
            <a:rect l="l" t="t" r="r" b="b"/>
            <a:pathLst>
              <a:path w="5591175" h="1704975">
                <a:moveTo>
                  <a:pt x="114302" y="0"/>
                </a:moveTo>
                <a:lnTo>
                  <a:pt x="5476873" y="0"/>
                </a:lnTo>
                <a:cubicBezTo>
                  <a:pt x="5540000" y="0"/>
                  <a:pt x="5591175" y="51175"/>
                  <a:pt x="5591175" y="114302"/>
                </a:cubicBezTo>
                <a:lnTo>
                  <a:pt x="5591175" y="1590673"/>
                </a:lnTo>
                <a:cubicBezTo>
                  <a:pt x="5591175" y="1653800"/>
                  <a:pt x="5540000" y="1704975"/>
                  <a:pt x="5476873" y="1704975"/>
                </a:cubicBezTo>
                <a:lnTo>
                  <a:pt x="114302" y="1704975"/>
                </a:lnTo>
                <a:cubicBezTo>
                  <a:pt x="51175" y="1704975"/>
                  <a:pt x="0" y="1653800"/>
                  <a:pt x="0" y="1590673"/>
                </a:cubicBezTo>
                <a:lnTo>
                  <a:pt x="0" y="114302"/>
                </a:lnTo>
                <a:cubicBezTo>
                  <a:pt x="0" y="51217"/>
                  <a:pt x="51217" y="0"/>
                  <a:pt x="114302" y="0"/>
                </a:cubicBezTo>
                <a:close/>
              </a:path>
            </a:pathLst>
          </a:custGeom>
          <a:solidFill>
            <a:srgbClr val="EAE7D6"/>
          </a:solidFill>
          <a:ln/>
        </p:spPr>
        <p:txBody>
          <a:bodyPr/>
          <a:lstStyle/>
          <a:p>
            <a:endParaRPr lang="en-US"/>
          </a:p>
        </p:txBody>
      </p:sp>
      <p:sp>
        <p:nvSpPr>
          <p:cNvPr id="8" name="Shape 6"/>
          <p:cNvSpPr/>
          <p:nvPr/>
        </p:nvSpPr>
        <p:spPr>
          <a:xfrm>
            <a:off x="619125" y="1571625"/>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07A5F">
              <a:alpha val="30196"/>
            </a:srgbClr>
          </a:solidFill>
          <a:ln/>
        </p:spPr>
        <p:txBody>
          <a:bodyPr/>
          <a:lstStyle/>
          <a:p>
            <a:endParaRPr lang="en-US"/>
          </a:p>
        </p:txBody>
      </p:sp>
      <p:sp>
        <p:nvSpPr>
          <p:cNvPr id="9" name="Shape 7"/>
          <p:cNvSpPr/>
          <p:nvPr/>
        </p:nvSpPr>
        <p:spPr>
          <a:xfrm>
            <a:off x="747713" y="1676400"/>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8D99AE"/>
          </a:solidFill>
          <a:ln/>
        </p:spPr>
        <p:txBody>
          <a:bodyPr/>
          <a:lstStyle/>
          <a:p>
            <a:endParaRPr lang="en-US"/>
          </a:p>
        </p:txBody>
      </p:sp>
      <p:sp>
        <p:nvSpPr>
          <p:cNvPr id="10" name="Text 8"/>
          <p:cNvSpPr/>
          <p:nvPr/>
        </p:nvSpPr>
        <p:spPr>
          <a:xfrm>
            <a:off x="1152525" y="1571625"/>
            <a:ext cx="4686300"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Definition</a:t>
            </a:r>
            <a:endParaRPr lang="en-US" sz="1600" dirty="0"/>
          </a:p>
        </p:txBody>
      </p:sp>
      <p:sp>
        <p:nvSpPr>
          <p:cNvPr id="11" name="Text 9"/>
          <p:cNvSpPr/>
          <p:nvPr/>
        </p:nvSpPr>
        <p:spPr>
          <a:xfrm>
            <a:off x="1152525" y="1914525"/>
            <a:ext cx="4667250" cy="74295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A stream is an abstract interface for working with </a:t>
            </a:r>
            <a:r>
              <a:rPr lang="en-US" sz="1200"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streaming data </a:t>
            </a:r>
            <a:r>
              <a:rPr lang="en-US" sz="1200" dirty="0">
                <a:solidFill>
                  <a:srgbClr val="2D3142"/>
                </a:solidFill>
                <a:latin typeface="Quattrocento Sans" pitchFamily="34" charset="0"/>
                <a:ea typeface="Quattrocento Sans" pitchFamily="34" charset="-122"/>
                <a:cs typeface="Quattrocento Sans" pitchFamily="34" charset="-120"/>
              </a:rPr>
              <a:t>in Node.js. It provides a way to process data in </a:t>
            </a:r>
            <a:r>
              <a:rPr lang="en-US" sz="1200" b="1" dirty="0">
                <a:solidFill>
                  <a:srgbClr val="E07A5F"/>
                </a:solidFill>
                <a:latin typeface="Quattrocento Sans" pitchFamily="34" charset="0"/>
                <a:ea typeface="Quattrocento Sans" pitchFamily="34" charset="-122"/>
                <a:cs typeface="Quattrocento Sans" pitchFamily="34" charset="-120"/>
              </a:rPr>
              <a:t>chunks</a:t>
            </a:r>
            <a:r>
              <a:rPr lang="en-US" sz="1200" dirty="0">
                <a:solidFill>
                  <a:srgbClr val="2D3142"/>
                </a:solidFill>
                <a:latin typeface="Quattrocento Sans" pitchFamily="34" charset="0"/>
                <a:ea typeface="Quattrocento Sans" pitchFamily="34" charset="-122"/>
                <a:cs typeface="Quattrocento Sans" pitchFamily="34" charset="-120"/>
              </a:rPr>
              <a:t> instead of loading the entire dataset into memory at once.</a:t>
            </a:r>
            <a:endParaRPr lang="en-US" sz="1600" dirty="0"/>
          </a:p>
        </p:txBody>
      </p:sp>
      <p:sp>
        <p:nvSpPr>
          <p:cNvPr id="12" name="Shape 10"/>
          <p:cNvSpPr/>
          <p:nvPr/>
        </p:nvSpPr>
        <p:spPr>
          <a:xfrm>
            <a:off x="385763" y="3205163"/>
            <a:ext cx="5591175" cy="3267075"/>
          </a:xfrm>
          <a:custGeom>
            <a:avLst/>
            <a:gdLst/>
            <a:ahLst/>
            <a:cxnLst/>
            <a:rect l="l" t="t" r="r" b="b"/>
            <a:pathLst>
              <a:path w="5591175" h="3267075">
                <a:moveTo>
                  <a:pt x="114315" y="0"/>
                </a:moveTo>
                <a:lnTo>
                  <a:pt x="5476860" y="0"/>
                </a:lnTo>
                <a:cubicBezTo>
                  <a:pt x="5539994" y="0"/>
                  <a:pt x="5591175" y="51181"/>
                  <a:pt x="5591175" y="114315"/>
                </a:cubicBezTo>
                <a:lnTo>
                  <a:pt x="5591175" y="3152760"/>
                </a:lnTo>
                <a:cubicBezTo>
                  <a:pt x="5591175" y="3215894"/>
                  <a:pt x="5539994" y="3267075"/>
                  <a:pt x="5476860" y="3267075"/>
                </a:cubicBezTo>
                <a:lnTo>
                  <a:pt x="114315" y="3267075"/>
                </a:lnTo>
                <a:cubicBezTo>
                  <a:pt x="51181" y="3267075"/>
                  <a:pt x="0" y="3215894"/>
                  <a:pt x="0" y="3152760"/>
                </a:cubicBezTo>
                <a:lnTo>
                  <a:pt x="0" y="114315"/>
                </a:lnTo>
                <a:cubicBezTo>
                  <a:pt x="0" y="51181"/>
                  <a:pt x="51181" y="0"/>
                  <a:pt x="114315" y="0"/>
                </a:cubicBezTo>
                <a:close/>
              </a:path>
            </a:pathLst>
          </a:custGeom>
          <a:solidFill>
            <a:srgbClr val="EAE7D6"/>
          </a:solidFill>
          <a:ln/>
        </p:spPr>
        <p:txBody>
          <a:bodyPr/>
          <a:lstStyle/>
          <a:p>
            <a:endParaRPr lang="en-US"/>
          </a:p>
        </p:txBody>
      </p:sp>
      <p:sp>
        <p:nvSpPr>
          <p:cNvPr id="13" name="Shape 11"/>
          <p:cNvSpPr/>
          <p:nvPr/>
        </p:nvSpPr>
        <p:spPr>
          <a:xfrm>
            <a:off x="642938" y="3476625"/>
            <a:ext cx="190500" cy="190500"/>
          </a:xfrm>
          <a:custGeom>
            <a:avLst/>
            <a:gdLst/>
            <a:ahLst/>
            <a:cxnLst/>
            <a:rect l="l" t="t" r="r" b="b"/>
            <a:pathLst>
              <a:path w="190500" h="190500">
                <a:moveTo>
                  <a:pt x="125016" y="130969"/>
                </a:moveTo>
                <a:cubicBezTo>
                  <a:pt x="161181" y="130969"/>
                  <a:pt x="190500" y="101650"/>
                  <a:pt x="190500" y="65484"/>
                </a:cubicBezTo>
                <a:cubicBezTo>
                  <a:pt x="190500" y="29319"/>
                  <a:pt x="161181" y="0"/>
                  <a:pt x="125016" y="0"/>
                </a:cubicBezTo>
                <a:cubicBezTo>
                  <a:pt x="88850" y="0"/>
                  <a:pt x="59531" y="29319"/>
                  <a:pt x="59531" y="65484"/>
                </a:cubicBezTo>
                <a:cubicBezTo>
                  <a:pt x="59531" y="72442"/>
                  <a:pt x="60610" y="79177"/>
                  <a:pt x="62619" y="85465"/>
                </a:cubicBezTo>
                <a:lnTo>
                  <a:pt x="2604" y="145479"/>
                </a:lnTo>
                <a:cubicBezTo>
                  <a:pt x="930" y="147154"/>
                  <a:pt x="0" y="149423"/>
                  <a:pt x="0" y="151805"/>
                </a:cubicBezTo>
                <a:lnTo>
                  <a:pt x="0" y="181570"/>
                </a:lnTo>
                <a:cubicBezTo>
                  <a:pt x="0" y="186519"/>
                  <a:pt x="3981" y="190500"/>
                  <a:pt x="8930" y="190500"/>
                </a:cubicBezTo>
                <a:lnTo>
                  <a:pt x="38695" y="190500"/>
                </a:lnTo>
                <a:cubicBezTo>
                  <a:pt x="43644" y="190500"/>
                  <a:pt x="47625" y="186519"/>
                  <a:pt x="47625" y="181570"/>
                </a:cubicBezTo>
                <a:lnTo>
                  <a:pt x="47625" y="166688"/>
                </a:lnTo>
                <a:lnTo>
                  <a:pt x="62508" y="166688"/>
                </a:lnTo>
                <a:cubicBezTo>
                  <a:pt x="67456" y="166688"/>
                  <a:pt x="71438" y="162706"/>
                  <a:pt x="71438" y="157758"/>
                </a:cubicBezTo>
                <a:lnTo>
                  <a:pt x="71438" y="142875"/>
                </a:lnTo>
                <a:lnTo>
                  <a:pt x="86320" y="142875"/>
                </a:lnTo>
                <a:cubicBezTo>
                  <a:pt x="88702" y="142875"/>
                  <a:pt x="90971" y="141945"/>
                  <a:pt x="92646" y="140271"/>
                </a:cubicBezTo>
                <a:lnTo>
                  <a:pt x="105035" y="127881"/>
                </a:lnTo>
                <a:cubicBezTo>
                  <a:pt x="111323" y="129890"/>
                  <a:pt x="118058" y="130969"/>
                  <a:pt x="125016" y="130969"/>
                </a:cubicBezTo>
                <a:close/>
                <a:moveTo>
                  <a:pt x="139898" y="35719"/>
                </a:moveTo>
                <a:cubicBezTo>
                  <a:pt x="148112" y="35719"/>
                  <a:pt x="154781" y="42388"/>
                  <a:pt x="154781" y="50602"/>
                </a:cubicBezTo>
                <a:cubicBezTo>
                  <a:pt x="154781" y="58816"/>
                  <a:pt x="148112" y="65484"/>
                  <a:pt x="139898" y="65484"/>
                </a:cubicBezTo>
                <a:cubicBezTo>
                  <a:pt x="131684" y="65484"/>
                  <a:pt x="125016" y="58816"/>
                  <a:pt x="125016" y="50602"/>
                </a:cubicBezTo>
                <a:cubicBezTo>
                  <a:pt x="125016" y="42388"/>
                  <a:pt x="131684" y="35719"/>
                  <a:pt x="139898" y="35719"/>
                </a:cubicBezTo>
                <a:close/>
              </a:path>
            </a:pathLst>
          </a:custGeom>
          <a:solidFill>
            <a:srgbClr val="8D99AE"/>
          </a:solidFill>
          <a:ln/>
        </p:spPr>
        <p:txBody>
          <a:bodyPr/>
          <a:lstStyle/>
          <a:p>
            <a:endParaRPr lang="en-US"/>
          </a:p>
        </p:txBody>
      </p:sp>
      <p:sp>
        <p:nvSpPr>
          <p:cNvPr id="14" name="Text 12"/>
          <p:cNvSpPr/>
          <p:nvPr/>
        </p:nvSpPr>
        <p:spPr>
          <a:xfrm>
            <a:off x="857250" y="3438525"/>
            <a:ext cx="498157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Key Ideas</a:t>
            </a:r>
            <a:endParaRPr lang="en-US" sz="1600" dirty="0"/>
          </a:p>
        </p:txBody>
      </p:sp>
      <p:sp>
        <p:nvSpPr>
          <p:cNvPr id="15" name="Shape 13"/>
          <p:cNvSpPr/>
          <p:nvPr/>
        </p:nvSpPr>
        <p:spPr>
          <a:xfrm>
            <a:off x="619125" y="38957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E07A5F">
              <a:alpha val="30196"/>
            </a:srgbClr>
          </a:solidFill>
          <a:ln/>
        </p:spPr>
        <p:txBody>
          <a:bodyPr/>
          <a:lstStyle/>
          <a:p>
            <a:endParaRPr lang="en-US"/>
          </a:p>
        </p:txBody>
      </p:sp>
      <p:sp>
        <p:nvSpPr>
          <p:cNvPr id="16" name="Text 14"/>
          <p:cNvSpPr/>
          <p:nvPr/>
        </p:nvSpPr>
        <p:spPr>
          <a:xfrm>
            <a:off x="750317" y="3952875"/>
            <a:ext cx="104775" cy="190500"/>
          </a:xfrm>
          <a:prstGeom prst="rect">
            <a:avLst/>
          </a:prstGeom>
          <a:noFill/>
          <a:ln/>
        </p:spPr>
        <p:txBody>
          <a:bodyPr wrap="square" lIns="0" tIns="0" rIns="0" bIns="0" rtlCol="0" anchor="ctr"/>
          <a:lstStyle/>
          <a:p>
            <a:pPr>
              <a:lnSpc>
                <a:spcPct val="120000"/>
              </a:lnSpc>
            </a:pPr>
            <a:r>
              <a:rPr lang="en-US" sz="1050" b="1" dirty="0">
                <a:solidFill>
                  <a:srgbClr val="E07A5F"/>
                </a:solidFill>
                <a:latin typeface="Quattrocento Sans" pitchFamily="34" charset="0"/>
                <a:ea typeface="Quattrocento Sans" pitchFamily="34" charset="-122"/>
                <a:cs typeface="Quattrocento Sans" pitchFamily="34" charset="-120"/>
              </a:rPr>
              <a:t>1</a:t>
            </a:r>
            <a:endParaRPr lang="en-US" sz="1600" dirty="0"/>
          </a:p>
        </p:txBody>
      </p:sp>
      <p:sp>
        <p:nvSpPr>
          <p:cNvPr id="17" name="Text 15"/>
          <p:cNvSpPr/>
          <p:nvPr/>
        </p:nvSpPr>
        <p:spPr>
          <a:xfrm>
            <a:off x="1038225" y="3857625"/>
            <a:ext cx="4410075" cy="266700"/>
          </a:xfrm>
          <a:prstGeom prst="rect">
            <a:avLst/>
          </a:prstGeom>
          <a:noFill/>
          <a:ln/>
        </p:spPr>
        <p:txBody>
          <a:bodyPr wrap="square" lIns="0" tIns="0" rIns="0" bIns="0" rtlCol="0" anchor="ctr"/>
          <a:lstStyle/>
          <a:p>
            <a:pPr>
              <a:lnSpc>
                <a:spcPct val="130000"/>
              </a:lnSpc>
            </a:pPr>
            <a:r>
              <a:rPr lang="en-US" sz="1350" b="1" dirty="0">
                <a:solidFill>
                  <a:srgbClr val="2D3142"/>
                </a:solidFill>
                <a:latin typeface="Quattrocento Sans" pitchFamily="34" charset="0"/>
                <a:ea typeface="Quattrocento Sans" pitchFamily="34" charset="-122"/>
                <a:cs typeface="Quattrocento Sans" pitchFamily="34" charset="-120"/>
              </a:rPr>
              <a:t>Data Flows Piece by Piece</a:t>
            </a:r>
            <a:endParaRPr lang="en-US" sz="1600" dirty="0"/>
          </a:p>
        </p:txBody>
      </p:sp>
      <p:sp>
        <p:nvSpPr>
          <p:cNvPr id="18" name="Text 16"/>
          <p:cNvSpPr/>
          <p:nvPr/>
        </p:nvSpPr>
        <p:spPr>
          <a:xfrm>
            <a:off x="1038225" y="4162425"/>
            <a:ext cx="440055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Quattrocento Sans" pitchFamily="34" charset="0"/>
                <a:ea typeface="Quattrocento Sans" pitchFamily="34" charset="-122"/>
                <a:cs typeface="Quattrocento Sans" pitchFamily="34" charset="-120"/>
              </a:rPr>
              <a:t>Information arrives and is processed incrementally, not all at once</a:t>
            </a:r>
            <a:endParaRPr lang="en-US" sz="1600" dirty="0"/>
          </a:p>
        </p:txBody>
      </p:sp>
      <p:sp>
        <p:nvSpPr>
          <p:cNvPr id="19" name="Shape 17"/>
          <p:cNvSpPr/>
          <p:nvPr/>
        </p:nvSpPr>
        <p:spPr>
          <a:xfrm>
            <a:off x="619125" y="45815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E07A5F">
              <a:alpha val="30196"/>
            </a:srgbClr>
          </a:solidFill>
          <a:ln/>
        </p:spPr>
        <p:txBody>
          <a:bodyPr/>
          <a:lstStyle/>
          <a:p>
            <a:endParaRPr lang="en-US"/>
          </a:p>
        </p:txBody>
      </p:sp>
      <p:sp>
        <p:nvSpPr>
          <p:cNvPr id="20" name="Text 18"/>
          <p:cNvSpPr/>
          <p:nvPr/>
        </p:nvSpPr>
        <p:spPr>
          <a:xfrm>
            <a:off x="737518" y="4638675"/>
            <a:ext cx="133350" cy="190500"/>
          </a:xfrm>
          <a:prstGeom prst="rect">
            <a:avLst/>
          </a:prstGeom>
          <a:noFill/>
          <a:ln/>
        </p:spPr>
        <p:txBody>
          <a:bodyPr wrap="square" lIns="0" tIns="0" rIns="0" bIns="0" rtlCol="0" anchor="ctr"/>
          <a:lstStyle/>
          <a:p>
            <a:pPr>
              <a:lnSpc>
                <a:spcPct val="120000"/>
              </a:lnSpc>
            </a:pPr>
            <a:r>
              <a:rPr lang="en-US" sz="1050" b="1" dirty="0">
                <a:solidFill>
                  <a:srgbClr val="E07A5F"/>
                </a:solidFill>
                <a:latin typeface="Quattrocento Sans" pitchFamily="34" charset="0"/>
                <a:ea typeface="Quattrocento Sans" pitchFamily="34" charset="-122"/>
                <a:cs typeface="Quattrocento Sans" pitchFamily="34" charset="-120"/>
              </a:rPr>
              <a:t>2</a:t>
            </a:r>
            <a:endParaRPr lang="en-US" sz="1600" dirty="0"/>
          </a:p>
        </p:txBody>
      </p:sp>
      <p:sp>
        <p:nvSpPr>
          <p:cNvPr id="21" name="Text 19"/>
          <p:cNvSpPr/>
          <p:nvPr/>
        </p:nvSpPr>
        <p:spPr>
          <a:xfrm>
            <a:off x="1038225" y="4543425"/>
            <a:ext cx="4276725" cy="266700"/>
          </a:xfrm>
          <a:prstGeom prst="rect">
            <a:avLst/>
          </a:prstGeom>
          <a:noFill/>
          <a:ln/>
        </p:spPr>
        <p:txBody>
          <a:bodyPr wrap="square" lIns="0" tIns="0" rIns="0" bIns="0" rtlCol="0" anchor="ctr"/>
          <a:lstStyle/>
          <a:p>
            <a:pPr>
              <a:lnSpc>
                <a:spcPct val="130000"/>
              </a:lnSpc>
            </a:pPr>
            <a:r>
              <a:rPr lang="en-US" sz="1350" b="1" dirty="0">
                <a:solidFill>
                  <a:srgbClr val="2D3142"/>
                </a:solidFill>
                <a:latin typeface="Quattrocento Sans" pitchFamily="34" charset="0"/>
                <a:ea typeface="Quattrocento Sans" pitchFamily="34" charset="-122"/>
                <a:cs typeface="Quattrocento Sans" pitchFamily="34" charset="-120"/>
              </a:rPr>
              <a:t>Not Stored Fully in RAM</a:t>
            </a:r>
            <a:endParaRPr lang="en-US" sz="1600" dirty="0"/>
          </a:p>
        </p:txBody>
      </p:sp>
      <p:sp>
        <p:nvSpPr>
          <p:cNvPr id="22" name="Text 20"/>
          <p:cNvSpPr/>
          <p:nvPr/>
        </p:nvSpPr>
        <p:spPr>
          <a:xfrm>
            <a:off x="1038225" y="4848225"/>
            <a:ext cx="426720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Quattrocento Sans" pitchFamily="34" charset="0"/>
                <a:ea typeface="Quattrocento Sans" pitchFamily="34" charset="-122"/>
                <a:cs typeface="Quattrocento Sans" pitchFamily="34" charset="-120"/>
              </a:rPr>
              <a:t>Only active chunks occupy memory, enabling large file handling</a:t>
            </a:r>
            <a:endParaRPr lang="en-US" sz="1600" dirty="0"/>
          </a:p>
        </p:txBody>
      </p:sp>
      <p:sp>
        <p:nvSpPr>
          <p:cNvPr id="23" name="Shape 21"/>
          <p:cNvSpPr/>
          <p:nvPr/>
        </p:nvSpPr>
        <p:spPr>
          <a:xfrm>
            <a:off x="619125" y="52673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E07A5F">
              <a:alpha val="30196"/>
            </a:srgbClr>
          </a:solidFill>
          <a:ln/>
        </p:spPr>
        <p:txBody>
          <a:bodyPr/>
          <a:lstStyle/>
          <a:p>
            <a:endParaRPr lang="en-US"/>
          </a:p>
        </p:txBody>
      </p:sp>
      <p:sp>
        <p:nvSpPr>
          <p:cNvPr id="24" name="Text 22"/>
          <p:cNvSpPr/>
          <p:nvPr/>
        </p:nvSpPr>
        <p:spPr>
          <a:xfrm>
            <a:off x="735806" y="5324475"/>
            <a:ext cx="133350" cy="190500"/>
          </a:xfrm>
          <a:prstGeom prst="rect">
            <a:avLst/>
          </a:prstGeom>
          <a:noFill/>
          <a:ln/>
        </p:spPr>
        <p:txBody>
          <a:bodyPr wrap="square" lIns="0" tIns="0" rIns="0" bIns="0" rtlCol="0" anchor="ctr"/>
          <a:lstStyle/>
          <a:p>
            <a:pPr>
              <a:lnSpc>
                <a:spcPct val="120000"/>
              </a:lnSpc>
            </a:pPr>
            <a:r>
              <a:rPr lang="en-US" sz="1050" b="1" dirty="0">
                <a:solidFill>
                  <a:srgbClr val="E07A5F"/>
                </a:solidFill>
                <a:latin typeface="Quattrocento Sans" pitchFamily="34" charset="0"/>
                <a:ea typeface="Quattrocento Sans" pitchFamily="34" charset="-122"/>
                <a:cs typeface="Quattrocento Sans" pitchFamily="34" charset="-120"/>
              </a:rPr>
              <a:t>3</a:t>
            </a:r>
            <a:endParaRPr lang="en-US" sz="1600" dirty="0"/>
          </a:p>
        </p:txBody>
      </p:sp>
      <p:sp>
        <p:nvSpPr>
          <p:cNvPr id="25" name="Text 23"/>
          <p:cNvSpPr/>
          <p:nvPr/>
        </p:nvSpPr>
        <p:spPr>
          <a:xfrm>
            <a:off x="1038225" y="5229225"/>
            <a:ext cx="3714750" cy="266700"/>
          </a:xfrm>
          <a:prstGeom prst="rect">
            <a:avLst/>
          </a:prstGeom>
          <a:noFill/>
          <a:ln/>
        </p:spPr>
        <p:txBody>
          <a:bodyPr wrap="square" lIns="0" tIns="0" rIns="0" bIns="0" rtlCol="0" anchor="ctr"/>
          <a:lstStyle/>
          <a:p>
            <a:pPr>
              <a:lnSpc>
                <a:spcPct val="130000"/>
              </a:lnSpc>
            </a:pPr>
            <a:r>
              <a:rPr lang="en-US" sz="1350" b="1" dirty="0">
                <a:solidFill>
                  <a:srgbClr val="2D3142"/>
                </a:solidFill>
                <a:latin typeface="Quattrocento Sans" pitchFamily="34" charset="0"/>
                <a:ea typeface="Quattrocento Sans" pitchFamily="34" charset="-122"/>
                <a:cs typeface="Quattrocento Sans" pitchFamily="34" charset="-120"/>
              </a:rPr>
              <a:t>Process Starts Before Full Data Arrives</a:t>
            </a:r>
            <a:endParaRPr lang="en-US" sz="1600" dirty="0"/>
          </a:p>
        </p:txBody>
      </p:sp>
      <p:sp>
        <p:nvSpPr>
          <p:cNvPr id="26" name="Text 24"/>
          <p:cNvSpPr/>
          <p:nvPr/>
        </p:nvSpPr>
        <p:spPr>
          <a:xfrm>
            <a:off x="1038225" y="5534025"/>
            <a:ext cx="3705225"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Quattrocento Sans" pitchFamily="34" charset="0"/>
                <a:ea typeface="Quattrocento Sans" pitchFamily="34" charset="-122"/>
                <a:cs typeface="Quattrocento Sans" pitchFamily="34" charset="-120"/>
              </a:rPr>
              <a:t>Enables real-time processing and faster response times</a:t>
            </a:r>
            <a:endParaRPr lang="en-US" sz="1600" dirty="0"/>
          </a:p>
        </p:txBody>
      </p:sp>
      <p:sp>
        <p:nvSpPr>
          <p:cNvPr id="27" name="Shape 25"/>
          <p:cNvSpPr/>
          <p:nvPr/>
        </p:nvSpPr>
        <p:spPr>
          <a:xfrm>
            <a:off x="6215063" y="1338263"/>
            <a:ext cx="5591175" cy="3324225"/>
          </a:xfrm>
          <a:custGeom>
            <a:avLst/>
            <a:gdLst/>
            <a:ahLst/>
            <a:cxnLst/>
            <a:rect l="l" t="t" r="r" b="b"/>
            <a:pathLst>
              <a:path w="5591175" h="3324225">
                <a:moveTo>
                  <a:pt x="114287" y="0"/>
                </a:moveTo>
                <a:lnTo>
                  <a:pt x="5476888" y="0"/>
                </a:lnTo>
                <a:cubicBezTo>
                  <a:pt x="5540007" y="0"/>
                  <a:pt x="5591175" y="51168"/>
                  <a:pt x="5591175" y="114287"/>
                </a:cubicBezTo>
                <a:lnTo>
                  <a:pt x="5591175" y="3209938"/>
                </a:lnTo>
                <a:cubicBezTo>
                  <a:pt x="5591175" y="3273057"/>
                  <a:pt x="5540007" y="3324225"/>
                  <a:pt x="5476888" y="3324225"/>
                </a:cubicBezTo>
                <a:lnTo>
                  <a:pt x="114287" y="3324225"/>
                </a:lnTo>
                <a:cubicBezTo>
                  <a:pt x="51210" y="3324225"/>
                  <a:pt x="0" y="3273015"/>
                  <a:pt x="0" y="3209938"/>
                </a:cubicBezTo>
                <a:lnTo>
                  <a:pt x="0" y="114287"/>
                </a:lnTo>
                <a:cubicBezTo>
                  <a:pt x="0" y="51210"/>
                  <a:pt x="51210" y="0"/>
                  <a:pt x="114287" y="0"/>
                </a:cubicBezTo>
                <a:close/>
              </a:path>
            </a:pathLst>
          </a:custGeom>
          <a:solidFill>
            <a:srgbClr val="EAE7D6"/>
          </a:solidFill>
          <a:ln/>
        </p:spPr>
        <p:txBody>
          <a:bodyPr/>
          <a:lstStyle/>
          <a:p>
            <a:endParaRPr lang="en-US"/>
          </a:p>
        </p:txBody>
      </p:sp>
      <p:sp>
        <p:nvSpPr>
          <p:cNvPr id="28" name="Shape 26"/>
          <p:cNvSpPr/>
          <p:nvPr/>
        </p:nvSpPr>
        <p:spPr>
          <a:xfrm>
            <a:off x="6505575" y="1590675"/>
            <a:ext cx="171450" cy="228600"/>
          </a:xfrm>
          <a:custGeom>
            <a:avLst/>
            <a:gdLst/>
            <a:ahLst/>
            <a:cxnLst/>
            <a:rect l="l" t="t" r="r" b="b"/>
            <a:pathLst>
              <a:path w="171450" h="228600">
                <a:moveTo>
                  <a:pt x="0" y="28575"/>
                </a:moveTo>
                <a:cubicBezTo>
                  <a:pt x="0" y="12814"/>
                  <a:pt x="12814" y="0"/>
                  <a:pt x="28575" y="0"/>
                </a:cubicBezTo>
                <a:lnTo>
                  <a:pt x="95324" y="0"/>
                </a:lnTo>
                <a:cubicBezTo>
                  <a:pt x="102915"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8" y="114300"/>
                </a:moveTo>
                <a:cubicBezTo>
                  <a:pt x="47640" y="114300"/>
                  <a:pt x="42863" y="119077"/>
                  <a:pt x="42863" y="125016"/>
                </a:cubicBezTo>
                <a:cubicBezTo>
                  <a:pt x="42863" y="130954"/>
                  <a:pt x="47640" y="135731"/>
                  <a:pt x="53578" y="135731"/>
                </a:cubicBezTo>
                <a:lnTo>
                  <a:pt x="117872" y="135731"/>
                </a:lnTo>
                <a:cubicBezTo>
                  <a:pt x="123810" y="135731"/>
                  <a:pt x="128588" y="130954"/>
                  <a:pt x="128588" y="125016"/>
                </a:cubicBezTo>
                <a:cubicBezTo>
                  <a:pt x="128588" y="119077"/>
                  <a:pt x="123810" y="114300"/>
                  <a:pt x="117872" y="114300"/>
                </a:cubicBezTo>
                <a:lnTo>
                  <a:pt x="53578" y="114300"/>
                </a:lnTo>
                <a:close/>
                <a:moveTo>
                  <a:pt x="53578" y="157163"/>
                </a:moveTo>
                <a:cubicBezTo>
                  <a:pt x="47640" y="157163"/>
                  <a:pt x="42863" y="161940"/>
                  <a:pt x="42863" y="167878"/>
                </a:cubicBezTo>
                <a:cubicBezTo>
                  <a:pt x="42863" y="173816"/>
                  <a:pt x="47640" y="178594"/>
                  <a:pt x="53578" y="178594"/>
                </a:cubicBezTo>
                <a:lnTo>
                  <a:pt x="117872" y="178594"/>
                </a:lnTo>
                <a:cubicBezTo>
                  <a:pt x="123810" y="178594"/>
                  <a:pt x="128588" y="173816"/>
                  <a:pt x="128588" y="167878"/>
                </a:cubicBezTo>
                <a:cubicBezTo>
                  <a:pt x="128588" y="161940"/>
                  <a:pt x="123810" y="157163"/>
                  <a:pt x="117872" y="157163"/>
                </a:cubicBezTo>
                <a:lnTo>
                  <a:pt x="53578" y="157163"/>
                </a:lnTo>
                <a:close/>
              </a:path>
            </a:pathLst>
          </a:custGeom>
          <a:solidFill>
            <a:srgbClr val="8D99AE"/>
          </a:solidFill>
          <a:ln/>
        </p:spPr>
        <p:txBody>
          <a:bodyPr/>
          <a:lstStyle/>
          <a:p>
            <a:endParaRPr lang="en-US"/>
          </a:p>
        </p:txBody>
      </p:sp>
      <p:sp>
        <p:nvSpPr>
          <p:cNvPr id="29" name="Text 27"/>
          <p:cNvSpPr/>
          <p:nvPr/>
        </p:nvSpPr>
        <p:spPr>
          <a:xfrm>
            <a:off x="6848475" y="1571625"/>
            <a:ext cx="155257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Practical Example</a:t>
            </a:r>
            <a:endParaRPr lang="en-US" sz="1600" dirty="0"/>
          </a:p>
        </p:txBody>
      </p:sp>
      <p:sp>
        <p:nvSpPr>
          <p:cNvPr id="30" name="Shape 28"/>
          <p:cNvSpPr/>
          <p:nvPr/>
        </p:nvSpPr>
        <p:spPr>
          <a:xfrm>
            <a:off x="6448425" y="1990725"/>
            <a:ext cx="5124450" cy="1143000"/>
          </a:xfrm>
          <a:custGeom>
            <a:avLst/>
            <a:gdLst/>
            <a:ahLst/>
            <a:cxnLst/>
            <a:rect l="l" t="t" r="r" b="b"/>
            <a:pathLst>
              <a:path w="5124450" h="1143000">
                <a:moveTo>
                  <a:pt x="76204" y="0"/>
                </a:moveTo>
                <a:lnTo>
                  <a:pt x="5048246" y="0"/>
                </a:lnTo>
                <a:cubicBezTo>
                  <a:pt x="5090332" y="0"/>
                  <a:pt x="5124450" y="34118"/>
                  <a:pt x="5124450" y="76204"/>
                </a:cubicBezTo>
                <a:lnTo>
                  <a:pt x="5124450" y="1066796"/>
                </a:lnTo>
                <a:cubicBezTo>
                  <a:pt x="5124450" y="1108882"/>
                  <a:pt x="5090332" y="1143000"/>
                  <a:pt x="5048246" y="1143000"/>
                </a:cubicBezTo>
                <a:lnTo>
                  <a:pt x="76204" y="1143000"/>
                </a:lnTo>
                <a:cubicBezTo>
                  <a:pt x="34118" y="1143000"/>
                  <a:pt x="0" y="1108882"/>
                  <a:pt x="0" y="1066796"/>
                </a:cubicBezTo>
                <a:lnTo>
                  <a:pt x="0" y="76204"/>
                </a:lnTo>
                <a:cubicBezTo>
                  <a:pt x="0" y="34146"/>
                  <a:pt x="34146" y="0"/>
                  <a:pt x="76204" y="0"/>
                </a:cubicBezTo>
                <a:close/>
              </a:path>
            </a:pathLst>
          </a:custGeom>
          <a:solidFill>
            <a:srgbClr val="EAE7D6"/>
          </a:solidFill>
          <a:ln/>
        </p:spPr>
        <p:txBody>
          <a:bodyPr/>
          <a:lstStyle/>
          <a:p>
            <a:endParaRPr lang="en-US"/>
          </a:p>
        </p:txBody>
      </p:sp>
      <p:sp>
        <p:nvSpPr>
          <p:cNvPr id="31" name="Text 29"/>
          <p:cNvSpPr/>
          <p:nvPr/>
        </p:nvSpPr>
        <p:spPr>
          <a:xfrm>
            <a:off x="6600825" y="2143125"/>
            <a:ext cx="4895850"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Reading a 5GB file:</a:t>
            </a:r>
            <a:endParaRPr lang="en-US" sz="1600" dirty="0"/>
          </a:p>
        </p:txBody>
      </p:sp>
      <p:sp>
        <p:nvSpPr>
          <p:cNvPr id="32" name="Shape 30"/>
          <p:cNvSpPr/>
          <p:nvPr/>
        </p:nvSpPr>
        <p:spPr>
          <a:xfrm>
            <a:off x="6619875" y="2486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B91C2B"/>
          </a:solidFill>
          <a:ln/>
        </p:spPr>
        <p:txBody>
          <a:bodyPr/>
          <a:lstStyle/>
          <a:p>
            <a:endParaRPr lang="en-US"/>
          </a:p>
        </p:txBody>
      </p:sp>
      <p:sp>
        <p:nvSpPr>
          <p:cNvPr id="33" name="Text 31"/>
          <p:cNvSpPr/>
          <p:nvPr/>
        </p:nvSpPr>
        <p:spPr>
          <a:xfrm>
            <a:off x="6867524" y="2447925"/>
            <a:ext cx="4471036" cy="209550"/>
          </a:xfrm>
          <a:prstGeom prst="rect">
            <a:avLst/>
          </a:prstGeom>
          <a:noFill/>
          <a:ln/>
        </p:spPr>
        <p:txBody>
          <a:bodyPr wrap="square" lIns="0" tIns="0" rIns="0" bIns="0" rtlCol="0" anchor="ctr"/>
          <a:lstStyle/>
          <a:p>
            <a:pPr>
              <a:lnSpc>
                <a:spcPct val="130000"/>
              </a:lnSpc>
            </a:pPr>
            <a:r>
              <a:rPr lang="en-US" sz="1200" b="1" dirty="0">
                <a:solidFill>
                  <a:srgbClr val="8D99AE"/>
                </a:solidFill>
                <a:latin typeface="Quattrocento Sans" pitchFamily="34" charset="0"/>
                <a:ea typeface="Quattrocento Sans" pitchFamily="34" charset="-122"/>
                <a:cs typeface="Quattrocento Sans" pitchFamily="34" charset="-120"/>
              </a:rPr>
              <a:t>Without streams:</a:t>
            </a:r>
            <a:r>
              <a:rPr lang="en-US" sz="1200" dirty="0">
                <a:solidFill>
                  <a:srgbClr val="8D99AE"/>
                </a:solidFill>
                <a:latin typeface="Quattrocento Sans" pitchFamily="34" charset="0"/>
                <a:ea typeface="Quattrocento Sans" pitchFamily="34" charset="-122"/>
                <a:cs typeface="Quattrocento Sans" pitchFamily="34" charset="-120"/>
              </a:rPr>
              <a:t> Load 5GB → Crash with OOM (Out of Memory)</a:t>
            </a:r>
            <a:endParaRPr lang="en-US" sz="1600" dirty="0"/>
          </a:p>
        </p:txBody>
      </p:sp>
      <p:sp>
        <p:nvSpPr>
          <p:cNvPr id="34" name="Shape 32"/>
          <p:cNvSpPr/>
          <p:nvPr/>
        </p:nvSpPr>
        <p:spPr>
          <a:xfrm>
            <a:off x="6619875" y="27908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E07A5F"/>
          </a:solidFill>
          <a:ln/>
        </p:spPr>
        <p:txBody>
          <a:bodyPr/>
          <a:lstStyle/>
          <a:p>
            <a:endParaRPr lang="en-US"/>
          </a:p>
        </p:txBody>
      </p:sp>
      <p:sp>
        <p:nvSpPr>
          <p:cNvPr id="35" name="Text 33"/>
          <p:cNvSpPr/>
          <p:nvPr/>
        </p:nvSpPr>
        <p:spPr>
          <a:xfrm>
            <a:off x="6867525" y="2752725"/>
            <a:ext cx="3152775" cy="228600"/>
          </a:xfrm>
          <a:prstGeom prst="rect">
            <a:avLst/>
          </a:prstGeom>
          <a:noFill/>
          <a:ln/>
        </p:spPr>
        <p:txBody>
          <a:bodyPr wrap="square" lIns="0" tIns="0" rIns="0" bIns="0" rtlCol="0" anchor="ctr"/>
          <a:lstStyle/>
          <a:p>
            <a:pPr>
              <a:lnSpc>
                <a:spcPct val="130000"/>
              </a:lnSpc>
            </a:pPr>
            <a:r>
              <a:rPr lang="en-US" sz="1200" b="1" dirty="0">
                <a:solidFill>
                  <a:srgbClr val="8D99AE"/>
                </a:solidFill>
                <a:latin typeface="Quattrocento Sans" pitchFamily="34" charset="0"/>
                <a:ea typeface="Quattrocento Sans" pitchFamily="34" charset="-122"/>
                <a:cs typeface="Quattrocento Sans" pitchFamily="34" charset="-120"/>
              </a:rPr>
              <a:t>With streams:</a:t>
            </a:r>
            <a:r>
              <a:rPr lang="en-US" sz="1200" dirty="0">
                <a:solidFill>
                  <a:srgbClr val="8D99AE"/>
                </a:solidFill>
                <a:latin typeface="Quattrocento Sans" pitchFamily="34" charset="0"/>
                <a:ea typeface="Quattrocento Sans" pitchFamily="34" charset="-122"/>
                <a:cs typeface="Quattrocento Sans" pitchFamily="34" charset="-120"/>
              </a:rPr>
              <a:t> Process 16KB chunks → Success</a:t>
            </a:r>
            <a:endParaRPr lang="en-US" sz="1600" dirty="0"/>
          </a:p>
        </p:txBody>
      </p:sp>
      <p:sp>
        <p:nvSpPr>
          <p:cNvPr id="36" name="Shape 34"/>
          <p:cNvSpPr/>
          <p:nvPr/>
        </p:nvSpPr>
        <p:spPr>
          <a:xfrm>
            <a:off x="6467475" y="3286125"/>
            <a:ext cx="5105400" cy="1143000"/>
          </a:xfrm>
          <a:custGeom>
            <a:avLst/>
            <a:gdLst/>
            <a:ahLst/>
            <a:cxnLst/>
            <a:rect l="l" t="t" r="r" b="b"/>
            <a:pathLst>
              <a:path w="5105400" h="1143000">
                <a:moveTo>
                  <a:pt x="38100" y="0"/>
                </a:moveTo>
                <a:lnTo>
                  <a:pt x="5029196" y="0"/>
                </a:lnTo>
                <a:cubicBezTo>
                  <a:pt x="5071282" y="0"/>
                  <a:pt x="5105400" y="34118"/>
                  <a:pt x="5105400" y="76204"/>
                </a:cubicBezTo>
                <a:lnTo>
                  <a:pt x="5105400" y="1066796"/>
                </a:lnTo>
                <a:cubicBezTo>
                  <a:pt x="5105400" y="1108882"/>
                  <a:pt x="5071282" y="1143000"/>
                  <a:pt x="5029196" y="1143000"/>
                </a:cubicBezTo>
                <a:lnTo>
                  <a:pt x="38100" y="1143000"/>
                </a:lnTo>
                <a:cubicBezTo>
                  <a:pt x="17072" y="1143000"/>
                  <a:pt x="0" y="1125928"/>
                  <a:pt x="0" y="1104900"/>
                </a:cubicBezTo>
                <a:lnTo>
                  <a:pt x="0" y="38100"/>
                </a:lnTo>
                <a:cubicBezTo>
                  <a:pt x="0" y="17072"/>
                  <a:pt x="17072" y="0"/>
                  <a:pt x="38100" y="0"/>
                </a:cubicBezTo>
                <a:close/>
              </a:path>
            </a:pathLst>
          </a:custGeom>
          <a:solidFill>
            <a:srgbClr val="EAE7D6"/>
          </a:solidFill>
          <a:ln/>
        </p:spPr>
        <p:txBody>
          <a:bodyPr/>
          <a:lstStyle/>
          <a:p>
            <a:endParaRPr lang="en-US"/>
          </a:p>
        </p:txBody>
      </p:sp>
      <p:sp>
        <p:nvSpPr>
          <p:cNvPr id="37" name="Shape 35"/>
          <p:cNvSpPr/>
          <p:nvPr/>
        </p:nvSpPr>
        <p:spPr>
          <a:xfrm>
            <a:off x="6467475" y="3286125"/>
            <a:ext cx="38100" cy="1143000"/>
          </a:xfrm>
          <a:custGeom>
            <a:avLst/>
            <a:gdLst/>
            <a:ahLst/>
            <a:cxnLst/>
            <a:rect l="l" t="t" r="r" b="b"/>
            <a:pathLst>
              <a:path w="38100" h="11430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E07A5F"/>
          </a:solidFill>
          <a:ln/>
        </p:spPr>
        <p:txBody>
          <a:bodyPr/>
          <a:lstStyle/>
          <a:p>
            <a:endParaRPr lang="en-US"/>
          </a:p>
        </p:txBody>
      </p:sp>
      <p:sp>
        <p:nvSpPr>
          <p:cNvPr id="38" name="Text 36"/>
          <p:cNvSpPr/>
          <p:nvPr/>
        </p:nvSpPr>
        <p:spPr>
          <a:xfrm>
            <a:off x="6638925" y="3438525"/>
            <a:ext cx="48482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Memory Usage</a:t>
            </a:r>
            <a:endParaRPr lang="en-US" sz="1600" dirty="0"/>
          </a:p>
        </p:txBody>
      </p:sp>
      <p:sp>
        <p:nvSpPr>
          <p:cNvPr id="39" name="Text 37"/>
          <p:cNvSpPr/>
          <p:nvPr/>
        </p:nvSpPr>
        <p:spPr>
          <a:xfrm>
            <a:off x="6638925" y="3667125"/>
            <a:ext cx="714375" cy="342900"/>
          </a:xfrm>
          <a:prstGeom prst="rect">
            <a:avLst/>
          </a:prstGeom>
          <a:noFill/>
          <a:ln/>
        </p:spPr>
        <p:txBody>
          <a:bodyPr wrap="square" lIns="0" tIns="0" rIns="0" bIns="0" rtlCol="0" anchor="ctr"/>
          <a:lstStyle/>
          <a:p>
            <a:pPr>
              <a:lnSpc>
                <a:spcPct val="100000"/>
              </a:lnSpc>
            </a:pPr>
            <a:r>
              <a:rPr lang="en-US" sz="2250" b="1" dirty="0">
                <a:solidFill>
                  <a:srgbClr val="B91C2B"/>
                </a:solidFill>
                <a:latin typeface="Quattrocento Sans" pitchFamily="34" charset="0"/>
                <a:ea typeface="Quattrocento Sans" pitchFamily="34" charset="-122"/>
                <a:cs typeface="Quattrocento Sans" pitchFamily="34" charset="-120"/>
              </a:rPr>
              <a:t>5 GB</a:t>
            </a:r>
            <a:endParaRPr lang="en-US" sz="1600" dirty="0"/>
          </a:p>
        </p:txBody>
      </p:sp>
      <p:sp>
        <p:nvSpPr>
          <p:cNvPr id="40" name="Shape 38"/>
          <p:cNvSpPr/>
          <p:nvPr/>
        </p:nvSpPr>
        <p:spPr>
          <a:xfrm>
            <a:off x="7385893" y="3762375"/>
            <a:ext cx="152400" cy="152400"/>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rgbClr val="8D99AE"/>
          </a:solidFill>
          <a:ln/>
        </p:spPr>
        <p:txBody>
          <a:bodyPr/>
          <a:lstStyle/>
          <a:p>
            <a:endParaRPr lang="en-US"/>
          </a:p>
        </p:txBody>
      </p:sp>
      <p:sp>
        <p:nvSpPr>
          <p:cNvPr id="41" name="Text 39"/>
          <p:cNvSpPr/>
          <p:nvPr/>
        </p:nvSpPr>
        <p:spPr>
          <a:xfrm>
            <a:off x="7709743" y="3667125"/>
            <a:ext cx="790575" cy="342900"/>
          </a:xfrm>
          <a:prstGeom prst="rect">
            <a:avLst/>
          </a:prstGeom>
          <a:noFill/>
          <a:ln/>
        </p:spPr>
        <p:txBody>
          <a:bodyPr wrap="square" lIns="0" tIns="0" rIns="0" bIns="0" rtlCol="0" anchor="ctr"/>
          <a:lstStyle/>
          <a:p>
            <a:pPr>
              <a:lnSpc>
                <a:spcPct val="100000"/>
              </a:lnSpc>
            </a:pPr>
            <a:r>
              <a:rPr lang="en-US" sz="2250" b="1" dirty="0">
                <a:solidFill>
                  <a:srgbClr val="E07A5F"/>
                </a:solidFill>
                <a:latin typeface="Quattrocento Sans" pitchFamily="34" charset="0"/>
                <a:ea typeface="Quattrocento Sans" pitchFamily="34" charset="-122"/>
                <a:cs typeface="Quattrocento Sans" pitchFamily="34" charset="-120"/>
              </a:rPr>
              <a:t>16 KB</a:t>
            </a:r>
            <a:endParaRPr lang="en-US" sz="1600" dirty="0"/>
          </a:p>
        </p:txBody>
      </p:sp>
      <p:sp>
        <p:nvSpPr>
          <p:cNvPr id="42" name="Text 40"/>
          <p:cNvSpPr/>
          <p:nvPr/>
        </p:nvSpPr>
        <p:spPr>
          <a:xfrm>
            <a:off x="6638925" y="4086225"/>
            <a:ext cx="48482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99.9997% memory reduction</a:t>
            </a:r>
            <a:endParaRPr lang="en-US" sz="1600" dirty="0"/>
          </a:p>
        </p:txBody>
      </p:sp>
      <p:sp>
        <p:nvSpPr>
          <p:cNvPr id="43" name="Shape 41"/>
          <p:cNvSpPr/>
          <p:nvPr/>
        </p:nvSpPr>
        <p:spPr>
          <a:xfrm>
            <a:off x="6215063" y="4824413"/>
            <a:ext cx="5591175" cy="1514475"/>
          </a:xfrm>
          <a:custGeom>
            <a:avLst/>
            <a:gdLst/>
            <a:ahLst/>
            <a:cxnLst/>
            <a:rect l="l" t="t" r="r" b="b"/>
            <a:pathLst>
              <a:path w="5591175" h="1514475">
                <a:moveTo>
                  <a:pt x="114297" y="0"/>
                </a:moveTo>
                <a:lnTo>
                  <a:pt x="5476878" y="0"/>
                </a:lnTo>
                <a:cubicBezTo>
                  <a:pt x="5539960" y="0"/>
                  <a:pt x="5591175" y="51215"/>
                  <a:pt x="5591175" y="114297"/>
                </a:cubicBezTo>
                <a:lnTo>
                  <a:pt x="5591175" y="1400178"/>
                </a:lnTo>
                <a:cubicBezTo>
                  <a:pt x="5591175" y="1463260"/>
                  <a:pt x="5539960" y="1514475"/>
                  <a:pt x="5476878" y="1514475"/>
                </a:cubicBezTo>
                <a:lnTo>
                  <a:pt x="114297" y="1514475"/>
                </a:lnTo>
                <a:cubicBezTo>
                  <a:pt x="51215" y="1514475"/>
                  <a:pt x="0" y="1463260"/>
                  <a:pt x="0" y="1400178"/>
                </a:cubicBezTo>
                <a:lnTo>
                  <a:pt x="0" y="114297"/>
                </a:lnTo>
                <a:cubicBezTo>
                  <a:pt x="0" y="51215"/>
                  <a:pt x="51215" y="0"/>
                  <a:pt x="114297" y="0"/>
                </a:cubicBezTo>
                <a:close/>
              </a:path>
            </a:pathLst>
          </a:custGeom>
          <a:solidFill>
            <a:srgbClr val="EAE7D6"/>
          </a:solidFill>
          <a:ln/>
        </p:spPr>
        <p:txBody>
          <a:bodyPr/>
          <a:lstStyle/>
          <a:p>
            <a:endParaRPr lang="en-US"/>
          </a:p>
        </p:txBody>
      </p:sp>
      <p:sp>
        <p:nvSpPr>
          <p:cNvPr id="44" name="Shape 42"/>
          <p:cNvSpPr/>
          <p:nvPr/>
        </p:nvSpPr>
        <p:spPr>
          <a:xfrm>
            <a:off x="6438900" y="5076825"/>
            <a:ext cx="133350" cy="152400"/>
          </a:xfrm>
          <a:custGeom>
            <a:avLst/>
            <a:gdLst/>
            <a:ahLst/>
            <a:cxnLst/>
            <a:rect l="l" t="t" r="r" b="b"/>
            <a:pathLst>
              <a:path w="133350" h="152400">
                <a:moveTo>
                  <a:pt x="0" y="64294"/>
                </a:moveTo>
                <a:cubicBezTo>
                  <a:pt x="0" y="44559"/>
                  <a:pt x="15984" y="28575"/>
                  <a:pt x="35719" y="28575"/>
                </a:cubicBezTo>
                <a:lnTo>
                  <a:pt x="38100" y="28575"/>
                </a:lnTo>
                <a:cubicBezTo>
                  <a:pt x="43369" y="28575"/>
                  <a:pt x="47625" y="32831"/>
                  <a:pt x="47625" y="38100"/>
                </a:cubicBezTo>
                <a:cubicBezTo>
                  <a:pt x="47625" y="43369"/>
                  <a:pt x="43369" y="47625"/>
                  <a:pt x="38100" y="47625"/>
                </a:cubicBezTo>
                <a:lnTo>
                  <a:pt x="35719" y="47625"/>
                </a:lnTo>
                <a:cubicBezTo>
                  <a:pt x="26521" y="47625"/>
                  <a:pt x="19050" y="55096"/>
                  <a:pt x="19050" y="64294"/>
                </a:cubicBezTo>
                <a:lnTo>
                  <a:pt x="19050" y="66675"/>
                </a:lnTo>
                <a:lnTo>
                  <a:pt x="38100" y="66675"/>
                </a:lnTo>
                <a:cubicBezTo>
                  <a:pt x="48607" y="66675"/>
                  <a:pt x="57150" y="75218"/>
                  <a:pt x="57150" y="85725"/>
                </a:cubicBezTo>
                <a:lnTo>
                  <a:pt x="57150" y="104775"/>
                </a:lnTo>
                <a:cubicBezTo>
                  <a:pt x="57150" y="115282"/>
                  <a:pt x="48607" y="123825"/>
                  <a:pt x="38100" y="123825"/>
                </a:cubicBezTo>
                <a:lnTo>
                  <a:pt x="19050" y="123825"/>
                </a:lnTo>
                <a:cubicBezTo>
                  <a:pt x="8543" y="123825"/>
                  <a:pt x="0" y="115282"/>
                  <a:pt x="0" y="104775"/>
                </a:cubicBezTo>
                <a:lnTo>
                  <a:pt x="0" y="64294"/>
                </a:lnTo>
                <a:close/>
                <a:moveTo>
                  <a:pt x="76200" y="64294"/>
                </a:moveTo>
                <a:cubicBezTo>
                  <a:pt x="76200" y="44559"/>
                  <a:pt x="92184" y="28575"/>
                  <a:pt x="111919" y="28575"/>
                </a:cubicBezTo>
                <a:lnTo>
                  <a:pt x="114300" y="28575"/>
                </a:lnTo>
                <a:cubicBezTo>
                  <a:pt x="119569" y="28575"/>
                  <a:pt x="123825" y="32831"/>
                  <a:pt x="123825" y="38100"/>
                </a:cubicBezTo>
                <a:cubicBezTo>
                  <a:pt x="123825" y="43369"/>
                  <a:pt x="119569" y="47625"/>
                  <a:pt x="114300" y="47625"/>
                </a:cubicBezTo>
                <a:lnTo>
                  <a:pt x="111919" y="47625"/>
                </a:lnTo>
                <a:cubicBezTo>
                  <a:pt x="102721" y="47625"/>
                  <a:pt x="95250" y="55096"/>
                  <a:pt x="95250" y="64294"/>
                </a:cubicBezTo>
                <a:lnTo>
                  <a:pt x="95250" y="66675"/>
                </a:lnTo>
                <a:lnTo>
                  <a:pt x="114300" y="66675"/>
                </a:lnTo>
                <a:cubicBezTo>
                  <a:pt x="124807" y="66675"/>
                  <a:pt x="133350" y="75218"/>
                  <a:pt x="133350" y="85725"/>
                </a:cubicBezTo>
                <a:lnTo>
                  <a:pt x="133350" y="104775"/>
                </a:lnTo>
                <a:cubicBezTo>
                  <a:pt x="133350" y="115282"/>
                  <a:pt x="124807" y="123825"/>
                  <a:pt x="114300" y="123825"/>
                </a:cubicBezTo>
                <a:lnTo>
                  <a:pt x="95250" y="123825"/>
                </a:lnTo>
                <a:cubicBezTo>
                  <a:pt x="84743" y="123825"/>
                  <a:pt x="76200" y="115282"/>
                  <a:pt x="76200" y="104775"/>
                </a:cubicBezTo>
                <a:lnTo>
                  <a:pt x="76200" y="64294"/>
                </a:lnTo>
                <a:close/>
              </a:path>
            </a:pathLst>
          </a:custGeom>
          <a:solidFill>
            <a:srgbClr val="8D99AE"/>
          </a:solidFill>
          <a:ln/>
        </p:spPr>
        <p:txBody>
          <a:bodyPr/>
          <a:lstStyle/>
          <a:p>
            <a:endParaRPr lang="en-US"/>
          </a:p>
        </p:txBody>
      </p:sp>
      <p:sp>
        <p:nvSpPr>
          <p:cNvPr id="45" name="Text 43"/>
          <p:cNvSpPr/>
          <p:nvPr/>
        </p:nvSpPr>
        <p:spPr>
          <a:xfrm>
            <a:off x="6677025" y="5019675"/>
            <a:ext cx="1314450" cy="266700"/>
          </a:xfrm>
          <a:prstGeom prst="rect">
            <a:avLst/>
          </a:prstGeom>
          <a:noFill/>
          <a:ln/>
        </p:spPr>
        <p:txBody>
          <a:bodyPr wrap="square" lIns="0" tIns="0" rIns="0" bIns="0" rtlCol="0" anchor="ctr"/>
          <a:lstStyle/>
          <a:p>
            <a:pPr>
              <a:lnSpc>
                <a:spcPct val="130000"/>
              </a:lnSpc>
            </a:pPr>
            <a:r>
              <a:rPr lang="en-US" sz="1350" b="1" dirty="0">
                <a:solidFill>
                  <a:srgbClr val="2D3142"/>
                </a:solidFill>
                <a:latin typeface="Quattrocento Sans" pitchFamily="34" charset="0"/>
                <a:ea typeface="Quattrocento Sans" pitchFamily="34" charset="-122"/>
                <a:cs typeface="Quattrocento Sans" pitchFamily="34" charset="-120"/>
              </a:rPr>
              <a:t>Interview Insight</a:t>
            </a:r>
            <a:endParaRPr lang="en-US" sz="1600" dirty="0"/>
          </a:p>
        </p:txBody>
      </p:sp>
      <p:sp>
        <p:nvSpPr>
          <p:cNvPr id="46" name="Text 44"/>
          <p:cNvSpPr/>
          <p:nvPr/>
        </p:nvSpPr>
        <p:spPr>
          <a:xfrm>
            <a:off x="6410325" y="5400675"/>
            <a:ext cx="5276850" cy="74295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"Streams are the foundation of Node.js's non-blocking I/O model. Understanding them demonstrates deep knowledge of how Node handles I/O efficiently."</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31304" y="381000"/>
            <a:ext cx="397565" cy="397565"/>
          </a:xfrm>
          <a:custGeom>
            <a:avLst/>
            <a:gdLst/>
            <a:ahLst/>
            <a:cxnLst/>
            <a:rect l="l" t="t" r="r" b="b"/>
            <a:pathLst>
              <a:path w="397565" h="397565">
                <a:moveTo>
                  <a:pt x="66262" y="0"/>
                </a:moveTo>
                <a:lnTo>
                  <a:pt x="331303" y="0"/>
                </a:lnTo>
                <a:cubicBezTo>
                  <a:pt x="367874" y="0"/>
                  <a:pt x="397565" y="29691"/>
                  <a:pt x="397565" y="66262"/>
                </a:cubicBezTo>
                <a:lnTo>
                  <a:pt x="397565" y="331303"/>
                </a:lnTo>
                <a:cubicBezTo>
                  <a:pt x="397565" y="367874"/>
                  <a:pt x="367874" y="397565"/>
                  <a:pt x="331303" y="397565"/>
                </a:cubicBezTo>
                <a:lnTo>
                  <a:pt x="66262" y="397565"/>
                </a:lnTo>
                <a:cubicBezTo>
                  <a:pt x="29691" y="397565"/>
                  <a:pt x="0" y="367874"/>
                  <a:pt x="0" y="331303"/>
                </a:cubicBezTo>
                <a:lnTo>
                  <a:pt x="0" y="66262"/>
                </a:lnTo>
                <a:cubicBezTo>
                  <a:pt x="0" y="29691"/>
                  <a:pt x="29691" y="0"/>
                  <a:pt x="66262" y="0"/>
                </a:cubicBezTo>
                <a:close/>
              </a:path>
            </a:pathLst>
          </a:custGeom>
          <a:gradFill flip="none" rotWithShape="1">
            <a:gsLst>
              <a:gs pos="0">
                <a:srgbClr val="8D99AE"/>
              </a:gs>
              <a:gs pos="100000">
                <a:srgbClr val="8D99AE"/>
              </a:gs>
            </a:gsLst>
            <a:lin ang="2700000" scaled="1"/>
          </a:gradFill>
          <a:ln/>
        </p:spPr>
        <p:txBody>
          <a:bodyPr/>
          <a:lstStyle/>
          <a:p>
            <a:endParaRPr lang="en-US"/>
          </a:p>
        </p:txBody>
      </p:sp>
      <p:sp>
        <p:nvSpPr>
          <p:cNvPr id="3" name="Shape 1"/>
          <p:cNvSpPr/>
          <p:nvPr/>
        </p:nvSpPr>
        <p:spPr>
          <a:xfrm>
            <a:off x="447261" y="496957"/>
            <a:ext cx="165652" cy="165652"/>
          </a:xfrm>
          <a:custGeom>
            <a:avLst/>
            <a:gdLst/>
            <a:ahLst/>
            <a:cxnLst/>
            <a:rect l="l" t="t" r="r" b="b"/>
            <a:pathLst>
              <a:path w="165652" h="165652">
                <a:moveTo>
                  <a:pt x="82826" y="165652"/>
                </a:moveTo>
                <a:cubicBezTo>
                  <a:pt x="128539" y="165652"/>
                  <a:pt x="165652" y="128539"/>
                  <a:pt x="165652" y="82826"/>
                </a:cubicBezTo>
                <a:cubicBezTo>
                  <a:pt x="165652" y="37113"/>
                  <a:pt x="128539" y="0"/>
                  <a:pt x="82826" y="0"/>
                </a:cubicBezTo>
                <a:cubicBezTo>
                  <a:pt x="37113" y="0"/>
                  <a:pt x="0" y="37113"/>
                  <a:pt x="0" y="82826"/>
                </a:cubicBezTo>
                <a:cubicBezTo>
                  <a:pt x="0" y="128539"/>
                  <a:pt x="37113" y="165652"/>
                  <a:pt x="82826" y="165652"/>
                </a:cubicBezTo>
                <a:close/>
                <a:moveTo>
                  <a:pt x="82826" y="56943"/>
                </a:moveTo>
                <a:cubicBezTo>
                  <a:pt x="77099" y="56943"/>
                  <a:pt x="72473" y="61570"/>
                  <a:pt x="72473" y="67296"/>
                </a:cubicBezTo>
                <a:cubicBezTo>
                  <a:pt x="72473" y="71599"/>
                  <a:pt x="69011" y="75061"/>
                  <a:pt x="64708" y="75061"/>
                </a:cubicBezTo>
                <a:cubicBezTo>
                  <a:pt x="60405" y="75061"/>
                  <a:pt x="56943" y="71599"/>
                  <a:pt x="56943" y="67296"/>
                </a:cubicBezTo>
                <a:cubicBezTo>
                  <a:pt x="56943" y="52996"/>
                  <a:pt x="68526" y="41413"/>
                  <a:pt x="82826" y="41413"/>
                </a:cubicBezTo>
                <a:cubicBezTo>
                  <a:pt x="97127" y="41413"/>
                  <a:pt x="108709" y="52996"/>
                  <a:pt x="108709" y="67296"/>
                </a:cubicBezTo>
                <a:cubicBezTo>
                  <a:pt x="108709" y="82567"/>
                  <a:pt x="97062" y="89038"/>
                  <a:pt x="90591" y="91400"/>
                </a:cubicBezTo>
                <a:lnTo>
                  <a:pt x="90591" y="92629"/>
                </a:lnTo>
                <a:cubicBezTo>
                  <a:pt x="90591" y="96932"/>
                  <a:pt x="87129" y="100394"/>
                  <a:pt x="82826" y="100394"/>
                </a:cubicBezTo>
                <a:cubicBezTo>
                  <a:pt x="78523" y="100394"/>
                  <a:pt x="75061" y="96932"/>
                  <a:pt x="75061" y="92629"/>
                </a:cubicBezTo>
                <a:lnTo>
                  <a:pt x="75061" y="90009"/>
                </a:lnTo>
                <a:cubicBezTo>
                  <a:pt x="75061" y="83376"/>
                  <a:pt x="79850" y="78620"/>
                  <a:pt x="84800" y="77002"/>
                </a:cubicBezTo>
                <a:cubicBezTo>
                  <a:pt x="86870" y="76323"/>
                  <a:pt x="89070" y="75223"/>
                  <a:pt x="90688" y="73670"/>
                </a:cubicBezTo>
                <a:cubicBezTo>
                  <a:pt x="92079" y="72311"/>
                  <a:pt x="93179" y="70435"/>
                  <a:pt x="93179" y="67329"/>
                </a:cubicBezTo>
                <a:cubicBezTo>
                  <a:pt x="93179" y="61602"/>
                  <a:pt x="88553" y="56975"/>
                  <a:pt x="82826" y="56975"/>
                </a:cubicBezTo>
                <a:close/>
                <a:moveTo>
                  <a:pt x="72473" y="119062"/>
                </a:moveTo>
                <a:cubicBezTo>
                  <a:pt x="72473" y="113348"/>
                  <a:pt x="77112" y="108709"/>
                  <a:pt x="82826" y="108709"/>
                </a:cubicBezTo>
                <a:cubicBezTo>
                  <a:pt x="88540" y="108709"/>
                  <a:pt x="93179" y="113348"/>
                  <a:pt x="93179" y="119062"/>
                </a:cubicBezTo>
                <a:cubicBezTo>
                  <a:pt x="93179" y="124777"/>
                  <a:pt x="88540" y="129416"/>
                  <a:pt x="82826" y="129416"/>
                </a:cubicBezTo>
                <a:cubicBezTo>
                  <a:pt x="77112" y="129416"/>
                  <a:pt x="72473" y="124777"/>
                  <a:pt x="72473" y="119062"/>
                </a:cubicBezTo>
                <a:close/>
              </a:path>
            </a:pathLst>
          </a:custGeom>
          <a:solidFill>
            <a:srgbClr val="FFFFFF"/>
          </a:solidFill>
          <a:ln/>
        </p:spPr>
        <p:txBody>
          <a:bodyPr/>
          <a:lstStyle/>
          <a:p>
            <a:endParaRPr lang="en-US"/>
          </a:p>
        </p:txBody>
      </p:sp>
      <p:sp>
        <p:nvSpPr>
          <p:cNvPr id="4" name="Text 2"/>
          <p:cNvSpPr/>
          <p:nvPr/>
        </p:nvSpPr>
        <p:spPr>
          <a:xfrm>
            <a:off x="828261" y="331304"/>
            <a:ext cx="2923761" cy="165652"/>
          </a:xfrm>
          <a:prstGeom prst="rect">
            <a:avLst/>
          </a:prstGeom>
          <a:noFill/>
          <a:ln/>
        </p:spPr>
        <p:txBody>
          <a:bodyPr wrap="square" lIns="0" tIns="0" rIns="0" bIns="0" rtlCol="0" anchor="ctr"/>
          <a:lstStyle/>
          <a:p>
            <a:pPr>
              <a:lnSpc>
                <a:spcPct val="120000"/>
              </a:lnSpc>
            </a:pPr>
            <a:r>
              <a:rPr lang="en-US" sz="913" b="1" kern="0" spc="46" dirty="0">
                <a:solidFill>
                  <a:srgbClr val="8D99AE"/>
                </a:solidFill>
                <a:latin typeface="Quattrocento Sans" pitchFamily="34" charset="0"/>
                <a:ea typeface="Quattrocento Sans" pitchFamily="34" charset="-122"/>
                <a:cs typeface="Quattrocento Sans" pitchFamily="34" charset="-120"/>
              </a:rPr>
              <a:t>Value Proposition</a:t>
            </a:r>
            <a:endParaRPr lang="en-US" sz="1600" dirty="0"/>
          </a:p>
        </p:txBody>
      </p:sp>
      <p:sp>
        <p:nvSpPr>
          <p:cNvPr id="5" name="Text 3"/>
          <p:cNvSpPr/>
          <p:nvPr/>
        </p:nvSpPr>
        <p:spPr>
          <a:xfrm>
            <a:off x="828261" y="496957"/>
            <a:ext cx="3014870" cy="331304"/>
          </a:xfrm>
          <a:prstGeom prst="rect">
            <a:avLst/>
          </a:prstGeom>
          <a:noFill/>
          <a:ln/>
        </p:spPr>
        <p:txBody>
          <a:bodyPr wrap="square" lIns="0" tIns="0" rIns="0" bIns="0" rtlCol="0" anchor="ctr"/>
          <a:lstStyle/>
          <a:p>
            <a:pPr>
              <a:lnSpc>
                <a:spcPct val="90000"/>
              </a:lnSpc>
            </a:pPr>
            <a:r>
              <a:rPr lang="en-US" sz="2348" b="1" dirty="0">
                <a:solidFill>
                  <a:srgbClr val="2D3142"/>
                </a:solidFill>
                <a:latin typeface="Liter" pitchFamily="34" charset="0"/>
                <a:ea typeface="Liter" pitchFamily="34" charset="-122"/>
                <a:cs typeface="Liter" pitchFamily="34" charset="-120"/>
              </a:rPr>
              <a:t>Why Streams Matter?</a:t>
            </a:r>
            <a:endParaRPr lang="en-US" sz="1600" dirty="0"/>
          </a:p>
        </p:txBody>
      </p:sp>
      <p:sp>
        <p:nvSpPr>
          <p:cNvPr id="6" name="Shape 4"/>
          <p:cNvSpPr/>
          <p:nvPr/>
        </p:nvSpPr>
        <p:spPr>
          <a:xfrm>
            <a:off x="331304" y="927652"/>
            <a:ext cx="1060174" cy="33130"/>
          </a:xfrm>
          <a:custGeom>
            <a:avLst/>
            <a:gdLst/>
            <a:ahLst/>
            <a:cxnLst/>
            <a:rect l="l" t="t" r="r" b="b"/>
            <a:pathLst>
              <a:path w="1060174" h="33130">
                <a:moveTo>
                  <a:pt x="0" y="0"/>
                </a:moveTo>
                <a:lnTo>
                  <a:pt x="1060174" y="0"/>
                </a:lnTo>
                <a:lnTo>
                  <a:pt x="1060174" y="33130"/>
                </a:lnTo>
                <a:lnTo>
                  <a:pt x="0" y="33130"/>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7" name="Shape 5"/>
          <p:cNvSpPr/>
          <p:nvPr/>
        </p:nvSpPr>
        <p:spPr>
          <a:xfrm>
            <a:off x="335446" y="1163707"/>
            <a:ext cx="5673587" cy="2658717"/>
          </a:xfrm>
          <a:custGeom>
            <a:avLst/>
            <a:gdLst/>
            <a:ahLst/>
            <a:cxnLst/>
            <a:rect l="l" t="t" r="r" b="b"/>
            <a:pathLst>
              <a:path w="5673587" h="2658717">
                <a:moveTo>
                  <a:pt x="99383" y="0"/>
                </a:moveTo>
                <a:lnTo>
                  <a:pt x="5574204" y="0"/>
                </a:lnTo>
                <a:cubicBezTo>
                  <a:pt x="5629055" y="0"/>
                  <a:pt x="5673587" y="44532"/>
                  <a:pt x="5673587" y="99383"/>
                </a:cubicBezTo>
                <a:lnTo>
                  <a:pt x="5673587" y="2559335"/>
                </a:lnTo>
                <a:cubicBezTo>
                  <a:pt x="5673587" y="2614222"/>
                  <a:pt x="5629092" y="2658717"/>
                  <a:pt x="5574204" y="2658717"/>
                </a:cubicBezTo>
                <a:lnTo>
                  <a:pt x="99383" y="2658717"/>
                </a:lnTo>
                <a:cubicBezTo>
                  <a:pt x="44532" y="2658717"/>
                  <a:pt x="0" y="2614185"/>
                  <a:pt x="0" y="2559335"/>
                </a:cubicBezTo>
                <a:lnTo>
                  <a:pt x="0" y="99383"/>
                </a:lnTo>
                <a:cubicBezTo>
                  <a:pt x="0" y="44495"/>
                  <a:pt x="44495" y="0"/>
                  <a:pt x="99383" y="0"/>
                </a:cubicBezTo>
                <a:close/>
              </a:path>
            </a:pathLst>
          </a:custGeom>
          <a:solidFill>
            <a:srgbClr val="EAE7D6"/>
          </a:solidFill>
          <a:ln/>
        </p:spPr>
        <p:txBody>
          <a:bodyPr/>
          <a:lstStyle/>
          <a:p>
            <a:endParaRPr lang="en-US"/>
          </a:p>
        </p:txBody>
      </p:sp>
      <p:sp>
        <p:nvSpPr>
          <p:cNvPr id="8" name="Shape 6"/>
          <p:cNvSpPr/>
          <p:nvPr/>
        </p:nvSpPr>
        <p:spPr>
          <a:xfrm>
            <a:off x="538370" y="1366630"/>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E07A5F">
              <a:alpha val="30196"/>
            </a:srgbClr>
          </a:solidFill>
          <a:ln/>
        </p:spPr>
        <p:txBody>
          <a:bodyPr/>
          <a:lstStyle/>
          <a:p>
            <a:endParaRPr lang="en-US"/>
          </a:p>
        </p:txBody>
      </p:sp>
      <p:sp>
        <p:nvSpPr>
          <p:cNvPr id="9" name="Shape 7"/>
          <p:cNvSpPr/>
          <p:nvPr/>
        </p:nvSpPr>
        <p:spPr>
          <a:xfrm>
            <a:off x="670891" y="1499152"/>
            <a:ext cx="198783" cy="198783"/>
          </a:xfrm>
          <a:custGeom>
            <a:avLst/>
            <a:gdLst/>
            <a:ahLst/>
            <a:cxnLst/>
            <a:rect l="l" t="t" r="r" b="b"/>
            <a:pathLst>
              <a:path w="198783" h="198783">
                <a:moveTo>
                  <a:pt x="24848" y="24848"/>
                </a:moveTo>
                <a:cubicBezTo>
                  <a:pt x="11143" y="24848"/>
                  <a:pt x="0" y="35991"/>
                  <a:pt x="0" y="49696"/>
                </a:cubicBezTo>
                <a:lnTo>
                  <a:pt x="0" y="52569"/>
                </a:lnTo>
                <a:cubicBezTo>
                  <a:pt x="0" y="55209"/>
                  <a:pt x="1708" y="57461"/>
                  <a:pt x="3921" y="58897"/>
                </a:cubicBezTo>
                <a:cubicBezTo>
                  <a:pt x="9046" y="62236"/>
                  <a:pt x="12424" y="67982"/>
                  <a:pt x="12424" y="74543"/>
                </a:cubicBezTo>
                <a:cubicBezTo>
                  <a:pt x="12424" y="81105"/>
                  <a:pt x="9046" y="86851"/>
                  <a:pt x="3921" y="90190"/>
                </a:cubicBezTo>
                <a:cubicBezTo>
                  <a:pt x="1708" y="91626"/>
                  <a:pt x="0" y="93878"/>
                  <a:pt x="0" y="96518"/>
                </a:cubicBezTo>
                <a:lnTo>
                  <a:pt x="0" y="118027"/>
                </a:lnTo>
                <a:lnTo>
                  <a:pt x="198783" y="118027"/>
                </a:lnTo>
                <a:lnTo>
                  <a:pt x="198783" y="96518"/>
                </a:lnTo>
                <a:cubicBezTo>
                  <a:pt x="198783" y="93878"/>
                  <a:pt x="197074" y="91626"/>
                  <a:pt x="194861" y="90190"/>
                </a:cubicBezTo>
                <a:cubicBezTo>
                  <a:pt x="189736" y="86851"/>
                  <a:pt x="186359" y="81105"/>
                  <a:pt x="186359" y="74543"/>
                </a:cubicBezTo>
                <a:cubicBezTo>
                  <a:pt x="186359" y="67982"/>
                  <a:pt x="189736" y="62236"/>
                  <a:pt x="194861" y="58897"/>
                </a:cubicBezTo>
                <a:cubicBezTo>
                  <a:pt x="197074" y="57461"/>
                  <a:pt x="198783" y="55209"/>
                  <a:pt x="198783" y="52569"/>
                </a:cubicBezTo>
                <a:lnTo>
                  <a:pt x="198783" y="49696"/>
                </a:lnTo>
                <a:cubicBezTo>
                  <a:pt x="198783" y="35991"/>
                  <a:pt x="187640" y="24848"/>
                  <a:pt x="173935" y="24848"/>
                </a:cubicBezTo>
                <a:lnTo>
                  <a:pt x="24848" y="24848"/>
                </a:lnTo>
                <a:close/>
                <a:moveTo>
                  <a:pt x="198783" y="161511"/>
                </a:moveTo>
                <a:lnTo>
                  <a:pt x="198783" y="136663"/>
                </a:lnTo>
                <a:lnTo>
                  <a:pt x="0" y="136663"/>
                </a:lnTo>
                <a:lnTo>
                  <a:pt x="0" y="161511"/>
                </a:lnTo>
                <a:cubicBezTo>
                  <a:pt x="0" y="168383"/>
                  <a:pt x="5552" y="173935"/>
                  <a:pt x="12424" y="173935"/>
                </a:cubicBezTo>
                <a:lnTo>
                  <a:pt x="37272" y="173935"/>
                </a:lnTo>
                <a:lnTo>
                  <a:pt x="37272" y="164617"/>
                </a:lnTo>
                <a:cubicBezTo>
                  <a:pt x="37272" y="159453"/>
                  <a:pt x="41426" y="155299"/>
                  <a:pt x="46590" y="155299"/>
                </a:cubicBezTo>
                <a:cubicBezTo>
                  <a:pt x="51753" y="155299"/>
                  <a:pt x="55908" y="159453"/>
                  <a:pt x="55908" y="164617"/>
                </a:cubicBezTo>
                <a:lnTo>
                  <a:pt x="55908" y="173935"/>
                </a:lnTo>
                <a:lnTo>
                  <a:pt x="90073" y="173935"/>
                </a:lnTo>
                <a:lnTo>
                  <a:pt x="90073" y="164617"/>
                </a:lnTo>
                <a:cubicBezTo>
                  <a:pt x="90073" y="159453"/>
                  <a:pt x="94228" y="155299"/>
                  <a:pt x="99391" y="155299"/>
                </a:cubicBezTo>
                <a:cubicBezTo>
                  <a:pt x="104555" y="155299"/>
                  <a:pt x="108709" y="159453"/>
                  <a:pt x="108709" y="164617"/>
                </a:cubicBezTo>
                <a:lnTo>
                  <a:pt x="108709" y="173935"/>
                </a:lnTo>
                <a:lnTo>
                  <a:pt x="142875" y="173935"/>
                </a:lnTo>
                <a:lnTo>
                  <a:pt x="142875" y="164617"/>
                </a:lnTo>
                <a:cubicBezTo>
                  <a:pt x="142875" y="159453"/>
                  <a:pt x="147029" y="155299"/>
                  <a:pt x="152193" y="155299"/>
                </a:cubicBezTo>
                <a:cubicBezTo>
                  <a:pt x="157357" y="155299"/>
                  <a:pt x="161511" y="159453"/>
                  <a:pt x="161511" y="164617"/>
                </a:cubicBezTo>
                <a:lnTo>
                  <a:pt x="161511" y="173935"/>
                </a:lnTo>
                <a:lnTo>
                  <a:pt x="186359" y="173935"/>
                </a:lnTo>
                <a:cubicBezTo>
                  <a:pt x="193231" y="173935"/>
                  <a:pt x="198783" y="168383"/>
                  <a:pt x="198783" y="161511"/>
                </a:cubicBezTo>
                <a:close/>
                <a:moveTo>
                  <a:pt x="62120" y="62120"/>
                </a:moveTo>
                <a:lnTo>
                  <a:pt x="62120" y="86967"/>
                </a:lnTo>
                <a:cubicBezTo>
                  <a:pt x="62120" y="93839"/>
                  <a:pt x="56568" y="99391"/>
                  <a:pt x="49696" y="99391"/>
                </a:cubicBezTo>
                <a:cubicBezTo>
                  <a:pt x="42824" y="99391"/>
                  <a:pt x="37272" y="93839"/>
                  <a:pt x="37272" y="86967"/>
                </a:cubicBezTo>
                <a:lnTo>
                  <a:pt x="37272" y="62120"/>
                </a:lnTo>
                <a:cubicBezTo>
                  <a:pt x="37272" y="55248"/>
                  <a:pt x="42824" y="49696"/>
                  <a:pt x="49696" y="49696"/>
                </a:cubicBezTo>
                <a:cubicBezTo>
                  <a:pt x="56568" y="49696"/>
                  <a:pt x="62120" y="55248"/>
                  <a:pt x="62120" y="62120"/>
                </a:cubicBezTo>
                <a:close/>
                <a:moveTo>
                  <a:pt x="111815" y="62120"/>
                </a:moveTo>
                <a:lnTo>
                  <a:pt x="111815" y="86967"/>
                </a:lnTo>
                <a:cubicBezTo>
                  <a:pt x="111815" y="93839"/>
                  <a:pt x="106263" y="99391"/>
                  <a:pt x="99391" y="99391"/>
                </a:cubicBezTo>
                <a:cubicBezTo>
                  <a:pt x="92519" y="99391"/>
                  <a:pt x="86967" y="93839"/>
                  <a:pt x="86967" y="86967"/>
                </a:cubicBezTo>
                <a:lnTo>
                  <a:pt x="86967" y="62120"/>
                </a:lnTo>
                <a:cubicBezTo>
                  <a:pt x="86967" y="55248"/>
                  <a:pt x="92519" y="49696"/>
                  <a:pt x="99391" y="49696"/>
                </a:cubicBezTo>
                <a:cubicBezTo>
                  <a:pt x="106263" y="49696"/>
                  <a:pt x="111815" y="55248"/>
                  <a:pt x="111815" y="62120"/>
                </a:cubicBezTo>
                <a:close/>
                <a:moveTo>
                  <a:pt x="161511" y="62120"/>
                </a:moveTo>
                <a:lnTo>
                  <a:pt x="161511" y="86967"/>
                </a:lnTo>
                <a:cubicBezTo>
                  <a:pt x="161511" y="93839"/>
                  <a:pt x="155959" y="99391"/>
                  <a:pt x="149087" y="99391"/>
                </a:cubicBezTo>
                <a:cubicBezTo>
                  <a:pt x="142215" y="99391"/>
                  <a:pt x="136663" y="93839"/>
                  <a:pt x="136663" y="86967"/>
                </a:cubicBezTo>
                <a:lnTo>
                  <a:pt x="136663" y="62120"/>
                </a:lnTo>
                <a:cubicBezTo>
                  <a:pt x="136663" y="55248"/>
                  <a:pt x="142215" y="49696"/>
                  <a:pt x="149087" y="49696"/>
                </a:cubicBezTo>
                <a:cubicBezTo>
                  <a:pt x="155959" y="49696"/>
                  <a:pt x="161511" y="55248"/>
                  <a:pt x="161511" y="62120"/>
                </a:cubicBezTo>
                <a:close/>
              </a:path>
            </a:pathLst>
          </a:custGeom>
          <a:solidFill>
            <a:srgbClr val="E07A5F"/>
          </a:solidFill>
          <a:ln/>
        </p:spPr>
        <p:txBody>
          <a:bodyPr/>
          <a:lstStyle/>
          <a:p>
            <a:endParaRPr lang="en-US"/>
          </a:p>
        </p:txBody>
      </p:sp>
      <p:sp>
        <p:nvSpPr>
          <p:cNvPr id="10" name="Text 8"/>
          <p:cNvSpPr/>
          <p:nvPr/>
        </p:nvSpPr>
        <p:spPr>
          <a:xfrm>
            <a:off x="1101587" y="1466022"/>
            <a:ext cx="1697935" cy="265043"/>
          </a:xfrm>
          <a:prstGeom prst="rect">
            <a:avLst/>
          </a:prstGeom>
          <a:noFill/>
          <a:ln/>
        </p:spPr>
        <p:txBody>
          <a:bodyPr wrap="square" lIns="0" tIns="0" rIns="0" bIns="0" rtlCol="0" anchor="ctr"/>
          <a:lstStyle/>
          <a:p>
            <a:pPr>
              <a:lnSpc>
                <a:spcPct val="110000"/>
              </a:lnSpc>
            </a:pPr>
            <a:r>
              <a:rPr lang="en-US" sz="1565" b="1" dirty="0">
                <a:solidFill>
                  <a:srgbClr val="2D3142"/>
                </a:solidFill>
                <a:latin typeface="Quattrocento Sans" pitchFamily="34" charset="0"/>
                <a:ea typeface="Quattrocento Sans" pitchFamily="34" charset="-122"/>
                <a:cs typeface="Quattrocento Sans" pitchFamily="34" charset="-120"/>
              </a:rPr>
              <a:t>Memory Efficiency</a:t>
            </a:r>
            <a:endParaRPr lang="en-US" sz="1600" dirty="0"/>
          </a:p>
        </p:txBody>
      </p:sp>
      <p:sp>
        <p:nvSpPr>
          <p:cNvPr id="11" name="Shape 9"/>
          <p:cNvSpPr/>
          <p:nvPr/>
        </p:nvSpPr>
        <p:spPr>
          <a:xfrm>
            <a:off x="563217" y="1996109"/>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E07A5F"/>
          </a:solidFill>
          <a:ln/>
        </p:spPr>
        <p:txBody>
          <a:bodyPr/>
          <a:lstStyle/>
          <a:p>
            <a:endParaRPr lang="en-US"/>
          </a:p>
        </p:txBody>
      </p:sp>
      <p:sp>
        <p:nvSpPr>
          <p:cNvPr id="12" name="Text 10"/>
          <p:cNvSpPr/>
          <p:nvPr/>
        </p:nvSpPr>
        <p:spPr>
          <a:xfrm>
            <a:off x="803413" y="1962978"/>
            <a:ext cx="4174435"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No Full Data Load</a:t>
            </a:r>
            <a:endParaRPr lang="en-US" sz="1600" dirty="0"/>
          </a:p>
        </p:txBody>
      </p:sp>
      <p:sp>
        <p:nvSpPr>
          <p:cNvPr id="13" name="Text 11"/>
          <p:cNvSpPr/>
          <p:nvPr/>
        </p:nvSpPr>
        <p:spPr>
          <a:xfrm>
            <a:off x="803413" y="2194891"/>
            <a:ext cx="4166152"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Process data in small chunks </a:t>
            </a:r>
            <a:r>
              <a:rPr lang="en-US" sz="1043" dirty="0">
                <a:solidFill>
                  <a:schemeClr val="bg1">
                    <a:lumMod val="95000"/>
                  </a:schemeClr>
                </a:solidFill>
                <a:highlight>
                  <a:srgbClr val="008000"/>
                </a:highlight>
                <a:latin typeface="Quattrocento Sans" pitchFamily="34" charset="0"/>
                <a:ea typeface="Quattrocento Sans" pitchFamily="34" charset="-122"/>
                <a:cs typeface="Quattrocento Sans" pitchFamily="34" charset="-120"/>
              </a:rPr>
              <a:t>(default 16KB</a:t>
            </a:r>
            <a:r>
              <a:rPr lang="en-US" sz="1043" dirty="0">
                <a:solidFill>
                  <a:srgbClr val="8D99AE"/>
                </a:solidFill>
                <a:latin typeface="Quattrocento Sans" pitchFamily="34" charset="0"/>
                <a:ea typeface="Quattrocento Sans" pitchFamily="34" charset="-122"/>
                <a:cs typeface="Quattrocento Sans" pitchFamily="34" charset="-120"/>
              </a:rPr>
              <a:t>) instead of loading entire files</a:t>
            </a:r>
            <a:endParaRPr lang="en-US" sz="1600" dirty="0"/>
          </a:p>
        </p:txBody>
      </p:sp>
      <p:sp>
        <p:nvSpPr>
          <p:cNvPr id="14" name="Shape 12"/>
          <p:cNvSpPr/>
          <p:nvPr/>
        </p:nvSpPr>
        <p:spPr>
          <a:xfrm>
            <a:off x="563217" y="2526196"/>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E07A5F"/>
          </a:solidFill>
          <a:ln/>
        </p:spPr>
        <p:txBody>
          <a:bodyPr/>
          <a:lstStyle/>
          <a:p>
            <a:endParaRPr lang="en-US"/>
          </a:p>
        </p:txBody>
      </p:sp>
      <p:sp>
        <p:nvSpPr>
          <p:cNvPr id="15" name="Text 13"/>
          <p:cNvSpPr/>
          <p:nvPr/>
        </p:nvSpPr>
        <p:spPr>
          <a:xfrm>
            <a:off x="803413" y="2493065"/>
            <a:ext cx="3810000"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Ideal for Large Files</a:t>
            </a:r>
            <a:endParaRPr lang="en-US" sz="1600" dirty="0"/>
          </a:p>
        </p:txBody>
      </p:sp>
      <p:sp>
        <p:nvSpPr>
          <p:cNvPr id="16" name="Text 14"/>
          <p:cNvSpPr/>
          <p:nvPr/>
        </p:nvSpPr>
        <p:spPr>
          <a:xfrm>
            <a:off x="803413" y="2724978"/>
            <a:ext cx="3801717"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Handle multi-GB files without memory concerns or OOM crashes</a:t>
            </a:r>
            <a:endParaRPr lang="en-US" sz="1600" dirty="0"/>
          </a:p>
        </p:txBody>
      </p:sp>
      <p:sp>
        <p:nvSpPr>
          <p:cNvPr id="17" name="Shape 15"/>
          <p:cNvSpPr/>
          <p:nvPr/>
        </p:nvSpPr>
        <p:spPr>
          <a:xfrm>
            <a:off x="538370" y="3056283"/>
            <a:ext cx="5267739" cy="563217"/>
          </a:xfrm>
          <a:custGeom>
            <a:avLst/>
            <a:gdLst/>
            <a:ahLst/>
            <a:cxnLst/>
            <a:rect l="l" t="t" r="r" b="b"/>
            <a:pathLst>
              <a:path w="5267739" h="563217">
                <a:moveTo>
                  <a:pt x="66263" y="0"/>
                </a:moveTo>
                <a:lnTo>
                  <a:pt x="5201477" y="0"/>
                </a:lnTo>
                <a:cubicBezTo>
                  <a:pt x="5238072" y="0"/>
                  <a:pt x="5267739" y="29667"/>
                  <a:pt x="5267739" y="66263"/>
                </a:cubicBezTo>
                <a:lnTo>
                  <a:pt x="5267739" y="496955"/>
                </a:lnTo>
                <a:cubicBezTo>
                  <a:pt x="5267739" y="533551"/>
                  <a:pt x="5238072" y="563217"/>
                  <a:pt x="5201477" y="563217"/>
                </a:cubicBezTo>
                <a:lnTo>
                  <a:pt x="66263" y="563217"/>
                </a:lnTo>
                <a:cubicBezTo>
                  <a:pt x="29667" y="563217"/>
                  <a:pt x="0" y="533551"/>
                  <a:pt x="0" y="496955"/>
                </a:cubicBezTo>
                <a:lnTo>
                  <a:pt x="0" y="66263"/>
                </a:lnTo>
                <a:cubicBezTo>
                  <a:pt x="0" y="29691"/>
                  <a:pt x="29691" y="0"/>
                  <a:pt x="66263" y="0"/>
                </a:cubicBezTo>
                <a:close/>
              </a:path>
            </a:pathLst>
          </a:custGeom>
          <a:solidFill>
            <a:srgbClr val="EAE7D6"/>
          </a:solidFill>
          <a:ln/>
        </p:spPr>
        <p:txBody>
          <a:bodyPr/>
          <a:lstStyle/>
          <a:p>
            <a:endParaRPr lang="en-US"/>
          </a:p>
        </p:txBody>
      </p:sp>
      <p:sp>
        <p:nvSpPr>
          <p:cNvPr id="18" name="Text 16"/>
          <p:cNvSpPr/>
          <p:nvPr/>
        </p:nvSpPr>
        <p:spPr>
          <a:xfrm>
            <a:off x="637761" y="3155674"/>
            <a:ext cx="5126935" cy="165652"/>
          </a:xfrm>
          <a:prstGeom prst="rect">
            <a:avLst/>
          </a:prstGeom>
          <a:noFill/>
          <a:ln/>
        </p:spPr>
        <p:txBody>
          <a:bodyPr wrap="square" lIns="0" tIns="0" rIns="0" bIns="0" rtlCol="0" anchor="ctr"/>
          <a:lstStyle/>
          <a:p>
            <a:pPr>
              <a:lnSpc>
                <a:spcPct val="120000"/>
              </a:lnSpc>
            </a:pPr>
            <a:r>
              <a:rPr lang="en-US" sz="913" dirty="0">
                <a:solidFill>
                  <a:srgbClr val="8D99AE"/>
                </a:solidFill>
                <a:latin typeface="Quattrocento Sans" pitchFamily="34" charset="0"/>
                <a:ea typeface="Quattrocento Sans" pitchFamily="34" charset="-122"/>
                <a:cs typeface="Quattrocento Sans" pitchFamily="34" charset="-120"/>
              </a:rPr>
              <a:t>Use Case</a:t>
            </a:r>
            <a:endParaRPr lang="en-US" sz="1600" dirty="0"/>
          </a:p>
        </p:txBody>
      </p:sp>
      <p:sp>
        <p:nvSpPr>
          <p:cNvPr id="19" name="Text 17"/>
          <p:cNvSpPr/>
          <p:nvPr/>
        </p:nvSpPr>
        <p:spPr>
          <a:xfrm>
            <a:off x="637761" y="3321326"/>
            <a:ext cx="5135217" cy="198783"/>
          </a:xfrm>
          <a:prstGeom prst="rect">
            <a:avLst/>
          </a:prstGeom>
          <a:noFill/>
          <a:ln/>
        </p:spPr>
        <p:txBody>
          <a:bodyPr wrap="square" lIns="0" tIns="0" rIns="0" bIns="0" rtlCol="0" anchor="ctr"/>
          <a:lstStyle/>
          <a:p>
            <a:pPr>
              <a:lnSpc>
                <a:spcPct val="130000"/>
              </a:lnSpc>
            </a:pPr>
            <a:r>
              <a:rPr lang="en-US" sz="1043" dirty="0">
                <a:solidFill>
                  <a:srgbClr val="2D3142"/>
                </a:solidFill>
                <a:latin typeface="Quattrocento Sans" pitchFamily="34" charset="0"/>
                <a:ea typeface="Quattrocento Sans" pitchFamily="34" charset="-122"/>
                <a:cs typeface="Quattrocento Sans" pitchFamily="34" charset="-120"/>
              </a:rPr>
              <a:t>Video processing, log analysis, file uploads</a:t>
            </a:r>
            <a:endParaRPr lang="en-US" sz="1600" dirty="0"/>
          </a:p>
        </p:txBody>
      </p:sp>
      <p:sp>
        <p:nvSpPr>
          <p:cNvPr id="20" name="Shape 18"/>
          <p:cNvSpPr/>
          <p:nvPr/>
        </p:nvSpPr>
        <p:spPr>
          <a:xfrm>
            <a:off x="6182967" y="1163707"/>
            <a:ext cx="5673587" cy="2658717"/>
          </a:xfrm>
          <a:custGeom>
            <a:avLst/>
            <a:gdLst/>
            <a:ahLst/>
            <a:cxnLst/>
            <a:rect l="l" t="t" r="r" b="b"/>
            <a:pathLst>
              <a:path w="5673587" h="2658717">
                <a:moveTo>
                  <a:pt x="99383" y="0"/>
                </a:moveTo>
                <a:lnTo>
                  <a:pt x="5574204" y="0"/>
                </a:lnTo>
                <a:cubicBezTo>
                  <a:pt x="5629055" y="0"/>
                  <a:pt x="5673587" y="44532"/>
                  <a:pt x="5673587" y="99383"/>
                </a:cubicBezTo>
                <a:lnTo>
                  <a:pt x="5673587" y="2559335"/>
                </a:lnTo>
                <a:cubicBezTo>
                  <a:pt x="5673587" y="2614222"/>
                  <a:pt x="5629092" y="2658717"/>
                  <a:pt x="5574204" y="2658717"/>
                </a:cubicBezTo>
                <a:lnTo>
                  <a:pt x="99383" y="2658717"/>
                </a:lnTo>
                <a:cubicBezTo>
                  <a:pt x="44532" y="2658717"/>
                  <a:pt x="0" y="2614185"/>
                  <a:pt x="0" y="2559335"/>
                </a:cubicBezTo>
                <a:lnTo>
                  <a:pt x="0" y="99383"/>
                </a:lnTo>
                <a:cubicBezTo>
                  <a:pt x="0" y="44495"/>
                  <a:pt x="44495" y="0"/>
                  <a:pt x="99383" y="0"/>
                </a:cubicBezTo>
                <a:close/>
              </a:path>
            </a:pathLst>
          </a:custGeom>
          <a:solidFill>
            <a:srgbClr val="EAE7D6"/>
          </a:solidFill>
          <a:ln/>
        </p:spPr>
        <p:txBody>
          <a:bodyPr/>
          <a:lstStyle/>
          <a:p>
            <a:endParaRPr lang="en-US"/>
          </a:p>
        </p:txBody>
      </p:sp>
      <p:sp>
        <p:nvSpPr>
          <p:cNvPr id="21" name="Shape 19"/>
          <p:cNvSpPr/>
          <p:nvPr/>
        </p:nvSpPr>
        <p:spPr>
          <a:xfrm>
            <a:off x="6385891" y="1366630"/>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8D99AE">
              <a:alpha val="30196"/>
            </a:srgbClr>
          </a:solidFill>
          <a:ln/>
        </p:spPr>
        <p:txBody>
          <a:bodyPr/>
          <a:lstStyle/>
          <a:p>
            <a:endParaRPr lang="en-US"/>
          </a:p>
        </p:txBody>
      </p:sp>
      <p:sp>
        <p:nvSpPr>
          <p:cNvPr id="22" name="Shape 20"/>
          <p:cNvSpPr/>
          <p:nvPr/>
        </p:nvSpPr>
        <p:spPr>
          <a:xfrm>
            <a:off x="6530837" y="1499152"/>
            <a:ext cx="173935" cy="198783"/>
          </a:xfrm>
          <a:custGeom>
            <a:avLst/>
            <a:gdLst/>
            <a:ahLst/>
            <a:cxnLst/>
            <a:rect l="l" t="t" r="r" b="b"/>
            <a:pathLst>
              <a:path w="173935" h="198783">
                <a:moveTo>
                  <a:pt x="131538" y="-3844"/>
                </a:moveTo>
                <a:cubicBezTo>
                  <a:pt x="136158" y="-505"/>
                  <a:pt x="137867" y="5552"/>
                  <a:pt x="135770" y="10832"/>
                </a:cubicBezTo>
                <a:lnTo>
                  <a:pt x="105331" y="86967"/>
                </a:lnTo>
                <a:lnTo>
                  <a:pt x="161511" y="86967"/>
                </a:lnTo>
                <a:cubicBezTo>
                  <a:pt x="166752" y="86967"/>
                  <a:pt x="171411" y="90229"/>
                  <a:pt x="173197" y="95159"/>
                </a:cubicBezTo>
                <a:cubicBezTo>
                  <a:pt x="174983" y="100090"/>
                  <a:pt x="173469" y="105603"/>
                  <a:pt x="169470" y="108942"/>
                </a:cubicBezTo>
                <a:lnTo>
                  <a:pt x="57655" y="202122"/>
                </a:lnTo>
                <a:cubicBezTo>
                  <a:pt x="53268" y="205771"/>
                  <a:pt x="47017" y="205965"/>
                  <a:pt x="42397" y="202626"/>
                </a:cubicBezTo>
                <a:cubicBezTo>
                  <a:pt x="37776" y="199287"/>
                  <a:pt x="36068" y="193231"/>
                  <a:pt x="38165" y="187951"/>
                </a:cubicBezTo>
                <a:lnTo>
                  <a:pt x="68603" y="111815"/>
                </a:lnTo>
                <a:lnTo>
                  <a:pt x="12424" y="111815"/>
                </a:lnTo>
                <a:cubicBezTo>
                  <a:pt x="7183" y="111815"/>
                  <a:pt x="2524" y="108554"/>
                  <a:pt x="738" y="103623"/>
                </a:cubicBezTo>
                <a:cubicBezTo>
                  <a:pt x="-1048" y="98692"/>
                  <a:pt x="466" y="93179"/>
                  <a:pt x="4465" y="89840"/>
                </a:cubicBezTo>
                <a:lnTo>
                  <a:pt x="116280" y="-3339"/>
                </a:lnTo>
                <a:cubicBezTo>
                  <a:pt x="120667" y="-6988"/>
                  <a:pt x="126918" y="-7183"/>
                  <a:pt x="131538" y="-3844"/>
                </a:cubicBezTo>
                <a:close/>
              </a:path>
            </a:pathLst>
          </a:custGeom>
          <a:solidFill>
            <a:srgbClr val="8D99AE"/>
          </a:solidFill>
          <a:ln/>
        </p:spPr>
        <p:txBody>
          <a:bodyPr/>
          <a:lstStyle/>
          <a:p>
            <a:endParaRPr lang="en-US"/>
          </a:p>
        </p:txBody>
      </p:sp>
      <p:sp>
        <p:nvSpPr>
          <p:cNvPr id="23" name="Text 21"/>
          <p:cNvSpPr/>
          <p:nvPr/>
        </p:nvSpPr>
        <p:spPr>
          <a:xfrm>
            <a:off x="6949109" y="1466022"/>
            <a:ext cx="1200978" cy="265043"/>
          </a:xfrm>
          <a:prstGeom prst="rect">
            <a:avLst/>
          </a:prstGeom>
          <a:noFill/>
          <a:ln/>
        </p:spPr>
        <p:txBody>
          <a:bodyPr wrap="square" lIns="0" tIns="0" rIns="0" bIns="0" rtlCol="0" anchor="ctr"/>
          <a:lstStyle/>
          <a:p>
            <a:pPr>
              <a:lnSpc>
                <a:spcPct val="110000"/>
              </a:lnSpc>
            </a:pPr>
            <a:r>
              <a:rPr lang="en-US" sz="1565" b="1" dirty="0">
                <a:solidFill>
                  <a:srgbClr val="2D3142"/>
                </a:solidFill>
                <a:latin typeface="Quattrocento Sans" pitchFamily="34" charset="0"/>
                <a:ea typeface="Quattrocento Sans" pitchFamily="34" charset="-122"/>
                <a:cs typeface="Quattrocento Sans" pitchFamily="34" charset="-120"/>
              </a:rPr>
              <a:t>Performance</a:t>
            </a:r>
            <a:endParaRPr lang="en-US" sz="1600" dirty="0"/>
          </a:p>
        </p:txBody>
      </p:sp>
      <p:sp>
        <p:nvSpPr>
          <p:cNvPr id="24" name="Shape 22"/>
          <p:cNvSpPr/>
          <p:nvPr/>
        </p:nvSpPr>
        <p:spPr>
          <a:xfrm>
            <a:off x="6410739" y="1996109"/>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8D99AE"/>
          </a:solidFill>
          <a:ln/>
        </p:spPr>
        <p:txBody>
          <a:bodyPr/>
          <a:lstStyle/>
          <a:p>
            <a:endParaRPr lang="en-US"/>
          </a:p>
        </p:txBody>
      </p:sp>
      <p:sp>
        <p:nvSpPr>
          <p:cNvPr id="25" name="Text 23"/>
          <p:cNvSpPr/>
          <p:nvPr/>
        </p:nvSpPr>
        <p:spPr>
          <a:xfrm>
            <a:off x="6650935" y="1962978"/>
            <a:ext cx="4298674"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Start Processing Early</a:t>
            </a:r>
            <a:endParaRPr lang="en-US" sz="1600" dirty="0"/>
          </a:p>
        </p:txBody>
      </p:sp>
      <p:sp>
        <p:nvSpPr>
          <p:cNvPr id="26" name="Text 24"/>
          <p:cNvSpPr/>
          <p:nvPr/>
        </p:nvSpPr>
        <p:spPr>
          <a:xfrm>
            <a:off x="6650935" y="2194891"/>
            <a:ext cx="4290391" cy="198783"/>
          </a:xfrm>
          <a:prstGeom prst="rect">
            <a:avLst/>
          </a:prstGeom>
          <a:noFill/>
          <a:ln/>
        </p:spPr>
        <p:txBody>
          <a:bodyPr wrap="square" lIns="0" tIns="0" rIns="0" bIns="0" rtlCol="0" anchor="ctr"/>
          <a:lstStyle/>
          <a:p>
            <a:pPr>
              <a:lnSpc>
                <a:spcPct val="130000"/>
              </a:lnSpc>
            </a:pPr>
            <a:r>
              <a:rPr lang="en-US" sz="1043" dirty="0">
                <a:solidFill>
                  <a:schemeClr val="bg1">
                    <a:lumMod val="95000"/>
                  </a:schemeClr>
                </a:solidFill>
                <a:highlight>
                  <a:srgbClr val="008000"/>
                </a:highlight>
                <a:latin typeface="Quattrocento Sans" pitchFamily="34" charset="0"/>
                <a:ea typeface="Quattrocento Sans" pitchFamily="34" charset="-122"/>
                <a:cs typeface="Quattrocento Sans" pitchFamily="34" charset="-120"/>
              </a:rPr>
              <a:t>Begin transformation as soon as first chunk arrives</a:t>
            </a:r>
            <a:r>
              <a:rPr lang="en-US" sz="1043" dirty="0">
                <a:solidFill>
                  <a:srgbClr val="8D99AE"/>
                </a:solidFill>
                <a:latin typeface="Quattrocento Sans" pitchFamily="34" charset="0"/>
                <a:ea typeface="Quattrocento Sans" pitchFamily="34" charset="-122"/>
                <a:cs typeface="Quattrocento Sans" pitchFamily="34" charset="-120"/>
              </a:rPr>
              <a:t>, not after full download</a:t>
            </a:r>
            <a:endParaRPr lang="en-US" sz="1600" dirty="0"/>
          </a:p>
        </p:txBody>
      </p:sp>
      <p:sp>
        <p:nvSpPr>
          <p:cNvPr id="27" name="Shape 25"/>
          <p:cNvSpPr/>
          <p:nvPr/>
        </p:nvSpPr>
        <p:spPr>
          <a:xfrm>
            <a:off x="6410739" y="2526196"/>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8D99AE"/>
          </a:solidFill>
          <a:ln/>
        </p:spPr>
        <p:txBody>
          <a:bodyPr/>
          <a:lstStyle/>
          <a:p>
            <a:endParaRPr lang="en-US"/>
          </a:p>
        </p:txBody>
      </p:sp>
      <p:sp>
        <p:nvSpPr>
          <p:cNvPr id="28" name="Text 26"/>
          <p:cNvSpPr/>
          <p:nvPr/>
        </p:nvSpPr>
        <p:spPr>
          <a:xfrm>
            <a:off x="6650935" y="2493065"/>
            <a:ext cx="2741543"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Faster Response Times</a:t>
            </a:r>
            <a:endParaRPr lang="en-US" sz="1600" dirty="0"/>
          </a:p>
        </p:txBody>
      </p:sp>
      <p:sp>
        <p:nvSpPr>
          <p:cNvPr id="29" name="Text 27"/>
          <p:cNvSpPr/>
          <p:nvPr/>
        </p:nvSpPr>
        <p:spPr>
          <a:xfrm>
            <a:off x="6650935" y="2724978"/>
            <a:ext cx="2733261"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Reduced latency from first-byte to first-output</a:t>
            </a:r>
            <a:endParaRPr lang="en-US" sz="1600" dirty="0"/>
          </a:p>
        </p:txBody>
      </p:sp>
      <p:sp>
        <p:nvSpPr>
          <p:cNvPr id="30" name="Shape 28"/>
          <p:cNvSpPr/>
          <p:nvPr/>
        </p:nvSpPr>
        <p:spPr>
          <a:xfrm>
            <a:off x="6385891" y="3056283"/>
            <a:ext cx="5267739" cy="563217"/>
          </a:xfrm>
          <a:custGeom>
            <a:avLst/>
            <a:gdLst/>
            <a:ahLst/>
            <a:cxnLst/>
            <a:rect l="l" t="t" r="r" b="b"/>
            <a:pathLst>
              <a:path w="5267739" h="563217">
                <a:moveTo>
                  <a:pt x="66263" y="0"/>
                </a:moveTo>
                <a:lnTo>
                  <a:pt x="5201477" y="0"/>
                </a:lnTo>
                <a:cubicBezTo>
                  <a:pt x="5238072" y="0"/>
                  <a:pt x="5267739" y="29667"/>
                  <a:pt x="5267739" y="66263"/>
                </a:cubicBezTo>
                <a:lnTo>
                  <a:pt x="5267739" y="496955"/>
                </a:lnTo>
                <a:cubicBezTo>
                  <a:pt x="5267739" y="533551"/>
                  <a:pt x="5238072" y="563217"/>
                  <a:pt x="5201477" y="563217"/>
                </a:cubicBezTo>
                <a:lnTo>
                  <a:pt x="66263" y="563217"/>
                </a:lnTo>
                <a:cubicBezTo>
                  <a:pt x="29667" y="563217"/>
                  <a:pt x="0" y="533551"/>
                  <a:pt x="0" y="496955"/>
                </a:cubicBezTo>
                <a:lnTo>
                  <a:pt x="0" y="66263"/>
                </a:lnTo>
                <a:cubicBezTo>
                  <a:pt x="0" y="29691"/>
                  <a:pt x="29691" y="0"/>
                  <a:pt x="66263" y="0"/>
                </a:cubicBezTo>
                <a:close/>
              </a:path>
            </a:pathLst>
          </a:custGeom>
          <a:solidFill>
            <a:srgbClr val="EAE7D6"/>
          </a:solidFill>
          <a:ln/>
        </p:spPr>
        <p:txBody>
          <a:bodyPr/>
          <a:lstStyle/>
          <a:p>
            <a:endParaRPr lang="en-US"/>
          </a:p>
        </p:txBody>
      </p:sp>
      <p:sp>
        <p:nvSpPr>
          <p:cNvPr id="31" name="Text 29"/>
          <p:cNvSpPr/>
          <p:nvPr/>
        </p:nvSpPr>
        <p:spPr>
          <a:xfrm>
            <a:off x="6485283" y="3155674"/>
            <a:ext cx="5126935" cy="165652"/>
          </a:xfrm>
          <a:prstGeom prst="rect">
            <a:avLst/>
          </a:prstGeom>
          <a:noFill/>
          <a:ln/>
        </p:spPr>
        <p:txBody>
          <a:bodyPr wrap="square" lIns="0" tIns="0" rIns="0" bIns="0" rtlCol="0" anchor="ctr"/>
          <a:lstStyle/>
          <a:p>
            <a:pPr>
              <a:lnSpc>
                <a:spcPct val="120000"/>
              </a:lnSpc>
            </a:pPr>
            <a:r>
              <a:rPr lang="en-US" sz="913" dirty="0">
                <a:solidFill>
                  <a:srgbClr val="8D99AE"/>
                </a:solidFill>
                <a:latin typeface="Quattrocento Sans" pitchFamily="34" charset="0"/>
                <a:ea typeface="Quattrocento Sans" pitchFamily="34" charset="-122"/>
                <a:cs typeface="Quattrocento Sans" pitchFamily="34" charset="-120"/>
              </a:rPr>
              <a:t>Use Case</a:t>
            </a:r>
            <a:endParaRPr lang="en-US" sz="1600" dirty="0"/>
          </a:p>
        </p:txBody>
      </p:sp>
      <p:sp>
        <p:nvSpPr>
          <p:cNvPr id="32" name="Text 30"/>
          <p:cNvSpPr/>
          <p:nvPr/>
        </p:nvSpPr>
        <p:spPr>
          <a:xfrm>
            <a:off x="6485283" y="3321326"/>
            <a:ext cx="5135217" cy="198783"/>
          </a:xfrm>
          <a:prstGeom prst="rect">
            <a:avLst/>
          </a:prstGeom>
          <a:noFill/>
          <a:ln/>
        </p:spPr>
        <p:txBody>
          <a:bodyPr wrap="square" lIns="0" tIns="0" rIns="0" bIns="0" rtlCol="0" anchor="ctr"/>
          <a:lstStyle/>
          <a:p>
            <a:pPr>
              <a:lnSpc>
                <a:spcPct val="130000"/>
              </a:lnSpc>
            </a:pPr>
            <a:r>
              <a:rPr lang="en-US" sz="1043" dirty="0">
                <a:solidFill>
                  <a:srgbClr val="2D3142"/>
                </a:solidFill>
                <a:latin typeface="Quattrocento Sans" pitchFamily="34" charset="0"/>
                <a:ea typeface="Quattrocento Sans" pitchFamily="34" charset="-122"/>
                <a:cs typeface="Quattrocento Sans" pitchFamily="34" charset="-120"/>
              </a:rPr>
              <a:t>API responses, real-time data pipelines</a:t>
            </a:r>
            <a:endParaRPr lang="en-US" sz="1600" dirty="0"/>
          </a:p>
        </p:txBody>
      </p:sp>
      <p:sp>
        <p:nvSpPr>
          <p:cNvPr id="33" name="Shape 31"/>
          <p:cNvSpPr/>
          <p:nvPr/>
        </p:nvSpPr>
        <p:spPr>
          <a:xfrm>
            <a:off x="335446" y="3996359"/>
            <a:ext cx="5673587" cy="2658717"/>
          </a:xfrm>
          <a:custGeom>
            <a:avLst/>
            <a:gdLst/>
            <a:ahLst/>
            <a:cxnLst/>
            <a:rect l="l" t="t" r="r" b="b"/>
            <a:pathLst>
              <a:path w="5673587" h="2658717">
                <a:moveTo>
                  <a:pt x="99383" y="0"/>
                </a:moveTo>
                <a:lnTo>
                  <a:pt x="5574204" y="0"/>
                </a:lnTo>
                <a:cubicBezTo>
                  <a:pt x="5629055" y="0"/>
                  <a:pt x="5673587" y="44532"/>
                  <a:pt x="5673587" y="99383"/>
                </a:cubicBezTo>
                <a:lnTo>
                  <a:pt x="5673587" y="2559335"/>
                </a:lnTo>
                <a:cubicBezTo>
                  <a:pt x="5673587" y="2614222"/>
                  <a:pt x="5629092" y="2658717"/>
                  <a:pt x="5574204" y="2658717"/>
                </a:cubicBezTo>
                <a:lnTo>
                  <a:pt x="99383" y="2658717"/>
                </a:lnTo>
                <a:cubicBezTo>
                  <a:pt x="44532" y="2658717"/>
                  <a:pt x="0" y="2614185"/>
                  <a:pt x="0" y="2559335"/>
                </a:cubicBezTo>
                <a:lnTo>
                  <a:pt x="0" y="99383"/>
                </a:lnTo>
                <a:cubicBezTo>
                  <a:pt x="0" y="44495"/>
                  <a:pt x="44495" y="0"/>
                  <a:pt x="99383" y="0"/>
                </a:cubicBezTo>
                <a:close/>
              </a:path>
            </a:pathLst>
          </a:custGeom>
          <a:solidFill>
            <a:srgbClr val="EAE7D6"/>
          </a:solidFill>
          <a:ln/>
        </p:spPr>
        <p:txBody>
          <a:bodyPr/>
          <a:lstStyle/>
          <a:p>
            <a:endParaRPr lang="en-US"/>
          </a:p>
        </p:txBody>
      </p:sp>
      <p:sp>
        <p:nvSpPr>
          <p:cNvPr id="34" name="Shape 32"/>
          <p:cNvSpPr/>
          <p:nvPr/>
        </p:nvSpPr>
        <p:spPr>
          <a:xfrm>
            <a:off x="538370" y="4199283"/>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8D99AE">
              <a:alpha val="50196"/>
            </a:srgbClr>
          </a:solidFill>
          <a:ln/>
        </p:spPr>
        <p:txBody>
          <a:bodyPr/>
          <a:lstStyle/>
          <a:p>
            <a:endParaRPr lang="en-US"/>
          </a:p>
        </p:txBody>
      </p:sp>
      <p:sp>
        <p:nvSpPr>
          <p:cNvPr id="35" name="Shape 33"/>
          <p:cNvSpPr/>
          <p:nvPr/>
        </p:nvSpPr>
        <p:spPr>
          <a:xfrm>
            <a:off x="683315" y="4331804"/>
            <a:ext cx="173935" cy="198783"/>
          </a:xfrm>
          <a:custGeom>
            <a:avLst/>
            <a:gdLst/>
            <a:ahLst/>
            <a:cxnLst/>
            <a:rect l="l" t="t" r="r" b="b"/>
            <a:pathLst>
              <a:path w="173935" h="198783">
                <a:moveTo>
                  <a:pt x="65226" y="12424"/>
                </a:moveTo>
                <a:lnTo>
                  <a:pt x="9318" y="12424"/>
                </a:lnTo>
                <a:cubicBezTo>
                  <a:pt x="4154" y="12424"/>
                  <a:pt x="0" y="16578"/>
                  <a:pt x="0" y="21742"/>
                </a:cubicBezTo>
                <a:lnTo>
                  <a:pt x="0" y="77649"/>
                </a:lnTo>
                <a:cubicBezTo>
                  <a:pt x="0" y="81415"/>
                  <a:pt x="2252" y="84832"/>
                  <a:pt x="5746" y="86269"/>
                </a:cubicBezTo>
                <a:cubicBezTo>
                  <a:pt x="9240" y="87705"/>
                  <a:pt x="13239" y="86890"/>
                  <a:pt x="15918" y="84250"/>
                </a:cubicBezTo>
                <a:lnTo>
                  <a:pt x="31448" y="68720"/>
                </a:lnTo>
                <a:lnTo>
                  <a:pt x="62120" y="99391"/>
                </a:lnTo>
                <a:lnTo>
                  <a:pt x="31448" y="130063"/>
                </a:lnTo>
                <a:lnTo>
                  <a:pt x="15918" y="114533"/>
                </a:lnTo>
                <a:cubicBezTo>
                  <a:pt x="13239" y="111854"/>
                  <a:pt x="9240" y="111078"/>
                  <a:pt x="5746" y="112514"/>
                </a:cubicBezTo>
                <a:cubicBezTo>
                  <a:pt x="2252" y="113951"/>
                  <a:pt x="0" y="117367"/>
                  <a:pt x="0" y="121133"/>
                </a:cubicBezTo>
                <a:lnTo>
                  <a:pt x="0" y="177041"/>
                </a:lnTo>
                <a:cubicBezTo>
                  <a:pt x="0" y="182204"/>
                  <a:pt x="4154" y="186359"/>
                  <a:pt x="9318" y="186359"/>
                </a:cubicBezTo>
                <a:lnTo>
                  <a:pt x="65226" y="186359"/>
                </a:lnTo>
                <a:cubicBezTo>
                  <a:pt x="68992" y="186359"/>
                  <a:pt x="72408" y="184107"/>
                  <a:pt x="73845" y="180613"/>
                </a:cubicBezTo>
                <a:cubicBezTo>
                  <a:pt x="75281" y="177118"/>
                  <a:pt x="74505" y="173119"/>
                  <a:pt x="71826" y="170441"/>
                </a:cubicBezTo>
                <a:lnTo>
                  <a:pt x="56296" y="154911"/>
                </a:lnTo>
                <a:lnTo>
                  <a:pt x="86967" y="124239"/>
                </a:lnTo>
                <a:lnTo>
                  <a:pt x="117639" y="154911"/>
                </a:lnTo>
                <a:lnTo>
                  <a:pt x="102109" y="170441"/>
                </a:lnTo>
                <a:cubicBezTo>
                  <a:pt x="99430" y="173119"/>
                  <a:pt x="98654" y="177118"/>
                  <a:pt x="100090" y="180613"/>
                </a:cubicBezTo>
                <a:cubicBezTo>
                  <a:pt x="101527" y="184107"/>
                  <a:pt x="104943" y="186359"/>
                  <a:pt x="108709" y="186359"/>
                </a:cubicBezTo>
                <a:lnTo>
                  <a:pt x="164617" y="186359"/>
                </a:lnTo>
                <a:cubicBezTo>
                  <a:pt x="169781" y="186359"/>
                  <a:pt x="173935" y="182204"/>
                  <a:pt x="173935" y="177041"/>
                </a:cubicBezTo>
                <a:lnTo>
                  <a:pt x="173935" y="121133"/>
                </a:lnTo>
                <a:cubicBezTo>
                  <a:pt x="173935" y="117367"/>
                  <a:pt x="171683" y="113951"/>
                  <a:pt x="168189" y="112514"/>
                </a:cubicBezTo>
                <a:cubicBezTo>
                  <a:pt x="164694" y="111078"/>
                  <a:pt x="160696" y="111854"/>
                  <a:pt x="158017" y="114533"/>
                </a:cubicBezTo>
                <a:lnTo>
                  <a:pt x="142487" y="130063"/>
                </a:lnTo>
                <a:lnTo>
                  <a:pt x="111815" y="99391"/>
                </a:lnTo>
                <a:lnTo>
                  <a:pt x="142487" y="68720"/>
                </a:lnTo>
                <a:lnTo>
                  <a:pt x="158017" y="84250"/>
                </a:lnTo>
                <a:cubicBezTo>
                  <a:pt x="160696" y="86929"/>
                  <a:pt x="164694" y="87705"/>
                  <a:pt x="168189" y="86269"/>
                </a:cubicBezTo>
                <a:cubicBezTo>
                  <a:pt x="171683" y="84832"/>
                  <a:pt x="173935" y="81415"/>
                  <a:pt x="173935" y="77649"/>
                </a:cubicBezTo>
                <a:lnTo>
                  <a:pt x="173935" y="21742"/>
                </a:lnTo>
                <a:cubicBezTo>
                  <a:pt x="173935" y="16578"/>
                  <a:pt x="169781" y="12424"/>
                  <a:pt x="164617" y="12424"/>
                </a:cubicBezTo>
                <a:lnTo>
                  <a:pt x="108709" y="12424"/>
                </a:lnTo>
                <a:cubicBezTo>
                  <a:pt x="104943" y="12424"/>
                  <a:pt x="101527" y="14676"/>
                  <a:pt x="100090" y="18170"/>
                </a:cubicBezTo>
                <a:cubicBezTo>
                  <a:pt x="98654" y="21664"/>
                  <a:pt x="99469" y="25663"/>
                  <a:pt x="102109" y="28342"/>
                </a:cubicBezTo>
                <a:lnTo>
                  <a:pt x="117639" y="43872"/>
                </a:lnTo>
                <a:lnTo>
                  <a:pt x="86967" y="74543"/>
                </a:lnTo>
                <a:lnTo>
                  <a:pt x="56296" y="43872"/>
                </a:lnTo>
                <a:lnTo>
                  <a:pt x="71826" y="28342"/>
                </a:lnTo>
                <a:cubicBezTo>
                  <a:pt x="74505" y="25663"/>
                  <a:pt x="75281" y="21664"/>
                  <a:pt x="73845" y="18170"/>
                </a:cubicBezTo>
                <a:cubicBezTo>
                  <a:pt x="72408" y="14676"/>
                  <a:pt x="68992" y="12424"/>
                  <a:pt x="65226" y="12424"/>
                </a:cubicBezTo>
                <a:close/>
              </a:path>
            </a:pathLst>
          </a:custGeom>
          <a:solidFill>
            <a:srgbClr val="2D3142"/>
          </a:solidFill>
          <a:ln/>
        </p:spPr>
        <p:txBody>
          <a:bodyPr/>
          <a:lstStyle/>
          <a:p>
            <a:endParaRPr lang="en-US"/>
          </a:p>
        </p:txBody>
      </p:sp>
      <p:sp>
        <p:nvSpPr>
          <p:cNvPr id="36" name="Text 34"/>
          <p:cNvSpPr/>
          <p:nvPr/>
        </p:nvSpPr>
        <p:spPr>
          <a:xfrm>
            <a:off x="1101587" y="4298674"/>
            <a:ext cx="969065" cy="265043"/>
          </a:xfrm>
          <a:prstGeom prst="rect">
            <a:avLst/>
          </a:prstGeom>
          <a:noFill/>
          <a:ln/>
        </p:spPr>
        <p:txBody>
          <a:bodyPr wrap="square" lIns="0" tIns="0" rIns="0" bIns="0" rtlCol="0" anchor="ctr"/>
          <a:lstStyle/>
          <a:p>
            <a:pPr>
              <a:lnSpc>
                <a:spcPct val="110000"/>
              </a:lnSpc>
            </a:pPr>
            <a:r>
              <a:rPr lang="en-US" sz="1565" b="1" dirty="0">
                <a:solidFill>
                  <a:srgbClr val="2D3142"/>
                </a:solidFill>
                <a:latin typeface="Quattrocento Sans" pitchFamily="34" charset="0"/>
                <a:ea typeface="Quattrocento Sans" pitchFamily="34" charset="-122"/>
                <a:cs typeface="Quattrocento Sans" pitchFamily="34" charset="-120"/>
              </a:rPr>
              <a:t>Scalability</a:t>
            </a:r>
            <a:endParaRPr lang="en-US" sz="1600" dirty="0"/>
          </a:p>
        </p:txBody>
      </p:sp>
      <p:sp>
        <p:nvSpPr>
          <p:cNvPr id="37" name="Shape 35"/>
          <p:cNvSpPr/>
          <p:nvPr/>
        </p:nvSpPr>
        <p:spPr>
          <a:xfrm>
            <a:off x="563217" y="4828761"/>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2D3142"/>
          </a:solidFill>
          <a:ln/>
        </p:spPr>
        <p:txBody>
          <a:bodyPr/>
          <a:lstStyle/>
          <a:p>
            <a:endParaRPr lang="en-US"/>
          </a:p>
        </p:txBody>
      </p:sp>
      <p:sp>
        <p:nvSpPr>
          <p:cNvPr id="38" name="Text 36"/>
          <p:cNvSpPr/>
          <p:nvPr/>
        </p:nvSpPr>
        <p:spPr>
          <a:xfrm>
            <a:off x="803413" y="4795630"/>
            <a:ext cx="3594652"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Handles Big Workloads</a:t>
            </a:r>
            <a:endParaRPr lang="en-US" sz="1600" dirty="0"/>
          </a:p>
        </p:txBody>
      </p:sp>
      <p:sp>
        <p:nvSpPr>
          <p:cNvPr id="39" name="Text 37"/>
          <p:cNvSpPr/>
          <p:nvPr/>
        </p:nvSpPr>
        <p:spPr>
          <a:xfrm>
            <a:off x="803413" y="5027543"/>
            <a:ext cx="3586370"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Serve more concurrent requests with same memory footprint</a:t>
            </a:r>
            <a:endParaRPr lang="en-US" sz="1600" dirty="0"/>
          </a:p>
        </p:txBody>
      </p:sp>
      <p:sp>
        <p:nvSpPr>
          <p:cNvPr id="40" name="Shape 38"/>
          <p:cNvSpPr/>
          <p:nvPr/>
        </p:nvSpPr>
        <p:spPr>
          <a:xfrm>
            <a:off x="563217" y="5358848"/>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2D3142"/>
          </a:solidFill>
          <a:ln/>
        </p:spPr>
        <p:txBody>
          <a:bodyPr/>
          <a:lstStyle/>
          <a:p>
            <a:endParaRPr lang="en-US"/>
          </a:p>
        </p:txBody>
      </p:sp>
      <p:sp>
        <p:nvSpPr>
          <p:cNvPr id="41" name="Text 39"/>
          <p:cNvSpPr/>
          <p:nvPr/>
        </p:nvSpPr>
        <p:spPr>
          <a:xfrm>
            <a:off x="803413" y="5325717"/>
            <a:ext cx="3743739"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Horizontal Scaling</a:t>
            </a:r>
            <a:endParaRPr lang="en-US" sz="1600" dirty="0"/>
          </a:p>
        </p:txBody>
      </p:sp>
      <p:sp>
        <p:nvSpPr>
          <p:cNvPr id="42" name="Text 40"/>
          <p:cNvSpPr/>
          <p:nvPr/>
        </p:nvSpPr>
        <p:spPr>
          <a:xfrm>
            <a:off x="803413" y="5557630"/>
            <a:ext cx="3735457"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Design applications that scale across multiple processes/servers</a:t>
            </a:r>
            <a:endParaRPr lang="en-US" sz="1600" dirty="0"/>
          </a:p>
        </p:txBody>
      </p:sp>
      <p:sp>
        <p:nvSpPr>
          <p:cNvPr id="43" name="Shape 41"/>
          <p:cNvSpPr/>
          <p:nvPr/>
        </p:nvSpPr>
        <p:spPr>
          <a:xfrm>
            <a:off x="538370" y="5888935"/>
            <a:ext cx="5267739" cy="563217"/>
          </a:xfrm>
          <a:custGeom>
            <a:avLst/>
            <a:gdLst/>
            <a:ahLst/>
            <a:cxnLst/>
            <a:rect l="l" t="t" r="r" b="b"/>
            <a:pathLst>
              <a:path w="5267739" h="563217">
                <a:moveTo>
                  <a:pt x="66263" y="0"/>
                </a:moveTo>
                <a:lnTo>
                  <a:pt x="5201477" y="0"/>
                </a:lnTo>
                <a:cubicBezTo>
                  <a:pt x="5238072" y="0"/>
                  <a:pt x="5267739" y="29667"/>
                  <a:pt x="5267739" y="66263"/>
                </a:cubicBezTo>
                <a:lnTo>
                  <a:pt x="5267739" y="496955"/>
                </a:lnTo>
                <a:cubicBezTo>
                  <a:pt x="5267739" y="533551"/>
                  <a:pt x="5238072" y="563217"/>
                  <a:pt x="5201477" y="563217"/>
                </a:cubicBezTo>
                <a:lnTo>
                  <a:pt x="66263" y="563217"/>
                </a:lnTo>
                <a:cubicBezTo>
                  <a:pt x="29667" y="563217"/>
                  <a:pt x="0" y="533551"/>
                  <a:pt x="0" y="496955"/>
                </a:cubicBezTo>
                <a:lnTo>
                  <a:pt x="0" y="66263"/>
                </a:lnTo>
                <a:cubicBezTo>
                  <a:pt x="0" y="29691"/>
                  <a:pt x="29691" y="0"/>
                  <a:pt x="66263" y="0"/>
                </a:cubicBezTo>
                <a:close/>
              </a:path>
            </a:pathLst>
          </a:custGeom>
          <a:solidFill>
            <a:srgbClr val="EAE7D6"/>
          </a:solidFill>
          <a:ln/>
        </p:spPr>
        <p:txBody>
          <a:bodyPr/>
          <a:lstStyle/>
          <a:p>
            <a:endParaRPr lang="en-US"/>
          </a:p>
        </p:txBody>
      </p:sp>
      <p:sp>
        <p:nvSpPr>
          <p:cNvPr id="44" name="Text 42"/>
          <p:cNvSpPr/>
          <p:nvPr/>
        </p:nvSpPr>
        <p:spPr>
          <a:xfrm>
            <a:off x="637761" y="5988326"/>
            <a:ext cx="5126935" cy="165652"/>
          </a:xfrm>
          <a:prstGeom prst="rect">
            <a:avLst/>
          </a:prstGeom>
          <a:noFill/>
          <a:ln/>
        </p:spPr>
        <p:txBody>
          <a:bodyPr wrap="square" lIns="0" tIns="0" rIns="0" bIns="0" rtlCol="0" anchor="ctr"/>
          <a:lstStyle/>
          <a:p>
            <a:pPr>
              <a:lnSpc>
                <a:spcPct val="120000"/>
              </a:lnSpc>
            </a:pPr>
            <a:r>
              <a:rPr lang="en-US" sz="913" dirty="0">
                <a:solidFill>
                  <a:srgbClr val="8D99AE"/>
                </a:solidFill>
                <a:latin typeface="Quattrocento Sans" pitchFamily="34" charset="0"/>
                <a:ea typeface="Quattrocento Sans" pitchFamily="34" charset="-122"/>
                <a:cs typeface="Quattrocento Sans" pitchFamily="34" charset="-120"/>
              </a:rPr>
              <a:t>Use Case</a:t>
            </a:r>
            <a:endParaRPr lang="en-US" sz="1600" dirty="0"/>
          </a:p>
        </p:txBody>
      </p:sp>
      <p:sp>
        <p:nvSpPr>
          <p:cNvPr id="45" name="Text 43"/>
          <p:cNvSpPr/>
          <p:nvPr/>
        </p:nvSpPr>
        <p:spPr>
          <a:xfrm>
            <a:off x="637761" y="6153978"/>
            <a:ext cx="5135217" cy="198783"/>
          </a:xfrm>
          <a:prstGeom prst="rect">
            <a:avLst/>
          </a:prstGeom>
          <a:noFill/>
          <a:ln/>
        </p:spPr>
        <p:txBody>
          <a:bodyPr wrap="square" lIns="0" tIns="0" rIns="0" bIns="0" rtlCol="0" anchor="ctr"/>
          <a:lstStyle/>
          <a:p>
            <a:pPr>
              <a:lnSpc>
                <a:spcPct val="130000"/>
              </a:lnSpc>
            </a:pPr>
            <a:r>
              <a:rPr lang="en-US" sz="1043" dirty="0">
                <a:solidFill>
                  <a:srgbClr val="2D3142"/>
                </a:solidFill>
                <a:latin typeface="Quattrocento Sans" pitchFamily="34" charset="0"/>
                <a:ea typeface="Quattrocento Sans" pitchFamily="34" charset="-122"/>
                <a:cs typeface="Quattrocento Sans" pitchFamily="34" charset="-120"/>
              </a:rPr>
              <a:t>High-traffic web services, microservices</a:t>
            </a:r>
            <a:endParaRPr lang="en-US" sz="1600" dirty="0"/>
          </a:p>
        </p:txBody>
      </p:sp>
      <p:sp>
        <p:nvSpPr>
          <p:cNvPr id="46" name="Shape 44"/>
          <p:cNvSpPr/>
          <p:nvPr/>
        </p:nvSpPr>
        <p:spPr>
          <a:xfrm>
            <a:off x="6182967" y="3996359"/>
            <a:ext cx="5673587" cy="2658717"/>
          </a:xfrm>
          <a:custGeom>
            <a:avLst/>
            <a:gdLst/>
            <a:ahLst/>
            <a:cxnLst/>
            <a:rect l="l" t="t" r="r" b="b"/>
            <a:pathLst>
              <a:path w="5673587" h="2658717">
                <a:moveTo>
                  <a:pt x="99383" y="0"/>
                </a:moveTo>
                <a:lnTo>
                  <a:pt x="5574204" y="0"/>
                </a:lnTo>
                <a:cubicBezTo>
                  <a:pt x="5629055" y="0"/>
                  <a:pt x="5673587" y="44532"/>
                  <a:pt x="5673587" y="99383"/>
                </a:cubicBezTo>
                <a:lnTo>
                  <a:pt x="5673587" y="2559335"/>
                </a:lnTo>
                <a:cubicBezTo>
                  <a:pt x="5673587" y="2614222"/>
                  <a:pt x="5629092" y="2658717"/>
                  <a:pt x="5574204" y="2658717"/>
                </a:cubicBezTo>
                <a:lnTo>
                  <a:pt x="99383" y="2658717"/>
                </a:lnTo>
                <a:cubicBezTo>
                  <a:pt x="44532" y="2658717"/>
                  <a:pt x="0" y="2614185"/>
                  <a:pt x="0" y="2559335"/>
                </a:cubicBezTo>
                <a:lnTo>
                  <a:pt x="0" y="99383"/>
                </a:lnTo>
                <a:cubicBezTo>
                  <a:pt x="0" y="44495"/>
                  <a:pt x="44495" y="0"/>
                  <a:pt x="99383" y="0"/>
                </a:cubicBezTo>
                <a:close/>
              </a:path>
            </a:pathLst>
          </a:custGeom>
          <a:solidFill>
            <a:srgbClr val="EAE7D6"/>
          </a:solidFill>
          <a:ln/>
        </p:spPr>
        <p:txBody>
          <a:bodyPr/>
          <a:lstStyle/>
          <a:p>
            <a:endParaRPr lang="en-US"/>
          </a:p>
        </p:txBody>
      </p:sp>
      <p:sp>
        <p:nvSpPr>
          <p:cNvPr id="47" name="Shape 45"/>
          <p:cNvSpPr/>
          <p:nvPr/>
        </p:nvSpPr>
        <p:spPr>
          <a:xfrm>
            <a:off x="6385891" y="4199283"/>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48" name="Shape 46"/>
          <p:cNvSpPr/>
          <p:nvPr/>
        </p:nvSpPr>
        <p:spPr>
          <a:xfrm>
            <a:off x="6518413" y="4331804"/>
            <a:ext cx="198783" cy="198783"/>
          </a:xfrm>
          <a:custGeom>
            <a:avLst/>
            <a:gdLst/>
            <a:ahLst/>
            <a:cxnLst/>
            <a:rect l="l" t="t" r="r" b="b"/>
            <a:pathLst>
              <a:path w="198783" h="198783">
                <a:moveTo>
                  <a:pt x="99391" y="0"/>
                </a:moveTo>
                <a:cubicBezTo>
                  <a:pt x="154247" y="0"/>
                  <a:pt x="198783" y="44536"/>
                  <a:pt x="198783" y="99391"/>
                </a:cubicBezTo>
                <a:cubicBezTo>
                  <a:pt x="198783" y="154247"/>
                  <a:pt x="154247" y="198783"/>
                  <a:pt x="99391" y="198783"/>
                </a:cubicBezTo>
                <a:cubicBezTo>
                  <a:pt x="44536" y="198783"/>
                  <a:pt x="0" y="154247"/>
                  <a:pt x="0" y="99391"/>
                </a:cubicBezTo>
                <a:cubicBezTo>
                  <a:pt x="0" y="44536"/>
                  <a:pt x="44536" y="0"/>
                  <a:pt x="99391" y="0"/>
                </a:cubicBezTo>
                <a:close/>
                <a:moveTo>
                  <a:pt x="90073" y="46590"/>
                </a:moveTo>
                <a:lnTo>
                  <a:pt x="90073" y="99391"/>
                </a:lnTo>
                <a:cubicBezTo>
                  <a:pt x="90073" y="102497"/>
                  <a:pt x="91626" y="105409"/>
                  <a:pt x="94228" y="107156"/>
                </a:cubicBezTo>
                <a:lnTo>
                  <a:pt x="131499" y="132004"/>
                </a:lnTo>
                <a:cubicBezTo>
                  <a:pt x="135770" y="134877"/>
                  <a:pt x="141555" y="133712"/>
                  <a:pt x="144428" y="129403"/>
                </a:cubicBezTo>
                <a:cubicBezTo>
                  <a:pt x="147301" y="125093"/>
                  <a:pt x="146136" y="119347"/>
                  <a:pt x="141827" y="116474"/>
                </a:cubicBezTo>
                <a:lnTo>
                  <a:pt x="108709" y="94422"/>
                </a:lnTo>
                <a:lnTo>
                  <a:pt x="108709" y="46590"/>
                </a:lnTo>
                <a:cubicBezTo>
                  <a:pt x="108709" y="41426"/>
                  <a:pt x="104555" y="37272"/>
                  <a:pt x="99391" y="37272"/>
                </a:cubicBezTo>
                <a:cubicBezTo>
                  <a:pt x="94228" y="37272"/>
                  <a:pt x="90073" y="41426"/>
                  <a:pt x="90073" y="46590"/>
                </a:cubicBezTo>
                <a:close/>
              </a:path>
            </a:pathLst>
          </a:custGeom>
          <a:solidFill>
            <a:srgbClr val="FFFFFF"/>
          </a:solidFill>
          <a:ln/>
        </p:spPr>
        <p:txBody>
          <a:bodyPr/>
          <a:lstStyle/>
          <a:p>
            <a:endParaRPr lang="en-US"/>
          </a:p>
        </p:txBody>
      </p:sp>
      <p:sp>
        <p:nvSpPr>
          <p:cNvPr id="49" name="Text 47"/>
          <p:cNvSpPr/>
          <p:nvPr/>
        </p:nvSpPr>
        <p:spPr>
          <a:xfrm>
            <a:off x="6949109" y="4298674"/>
            <a:ext cx="1913283" cy="265043"/>
          </a:xfrm>
          <a:prstGeom prst="rect">
            <a:avLst/>
          </a:prstGeom>
          <a:noFill/>
          <a:ln/>
        </p:spPr>
        <p:txBody>
          <a:bodyPr wrap="square" lIns="0" tIns="0" rIns="0" bIns="0" rtlCol="0" anchor="ctr"/>
          <a:lstStyle/>
          <a:p>
            <a:pPr>
              <a:lnSpc>
                <a:spcPct val="110000"/>
              </a:lnSpc>
            </a:pPr>
            <a:r>
              <a:rPr lang="en-US" sz="1565" b="1" dirty="0">
                <a:solidFill>
                  <a:srgbClr val="2D3142"/>
                </a:solidFill>
                <a:latin typeface="Quattrocento Sans" pitchFamily="34" charset="0"/>
                <a:ea typeface="Quattrocento Sans" pitchFamily="34" charset="-122"/>
                <a:cs typeface="Quattrocento Sans" pitchFamily="34" charset="-120"/>
              </a:rPr>
              <a:t>Real-time Processing</a:t>
            </a:r>
            <a:endParaRPr lang="en-US" sz="1600" dirty="0"/>
          </a:p>
        </p:txBody>
      </p:sp>
      <p:sp>
        <p:nvSpPr>
          <p:cNvPr id="50" name="Shape 48"/>
          <p:cNvSpPr/>
          <p:nvPr/>
        </p:nvSpPr>
        <p:spPr>
          <a:xfrm>
            <a:off x="6410739" y="4828761"/>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E07A5F"/>
          </a:solidFill>
          <a:ln/>
        </p:spPr>
        <p:txBody>
          <a:bodyPr/>
          <a:lstStyle/>
          <a:p>
            <a:endParaRPr lang="en-US"/>
          </a:p>
        </p:txBody>
      </p:sp>
      <p:sp>
        <p:nvSpPr>
          <p:cNvPr id="51" name="Text 49"/>
          <p:cNvSpPr/>
          <p:nvPr/>
        </p:nvSpPr>
        <p:spPr>
          <a:xfrm>
            <a:off x="6650935" y="4795630"/>
            <a:ext cx="2865783"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Continuous Data Flow</a:t>
            </a:r>
            <a:endParaRPr lang="en-US" sz="1600" dirty="0"/>
          </a:p>
        </p:txBody>
      </p:sp>
      <p:sp>
        <p:nvSpPr>
          <p:cNvPr id="52" name="Text 50"/>
          <p:cNvSpPr/>
          <p:nvPr/>
        </p:nvSpPr>
        <p:spPr>
          <a:xfrm>
            <a:off x="6650935" y="5027543"/>
            <a:ext cx="2857500"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Process data as it arrives, perfect for live streams</a:t>
            </a:r>
            <a:endParaRPr lang="en-US" sz="1600" dirty="0"/>
          </a:p>
        </p:txBody>
      </p:sp>
      <p:sp>
        <p:nvSpPr>
          <p:cNvPr id="53" name="Shape 51"/>
          <p:cNvSpPr/>
          <p:nvPr/>
        </p:nvSpPr>
        <p:spPr>
          <a:xfrm>
            <a:off x="6410739" y="5358848"/>
            <a:ext cx="115957" cy="132522"/>
          </a:xfrm>
          <a:custGeom>
            <a:avLst/>
            <a:gdLst/>
            <a:ahLst/>
            <a:cxnLst/>
            <a:rect l="l" t="t" r="r" b="b"/>
            <a:pathLst>
              <a:path w="115957" h="132522">
                <a:moveTo>
                  <a:pt x="112540" y="18144"/>
                </a:moveTo>
                <a:cubicBezTo>
                  <a:pt x="116241" y="20836"/>
                  <a:pt x="117069" y="26013"/>
                  <a:pt x="114378" y="29714"/>
                </a:cubicBezTo>
                <a:lnTo>
                  <a:pt x="48117" y="120823"/>
                </a:lnTo>
                <a:cubicBezTo>
                  <a:pt x="46693" y="122790"/>
                  <a:pt x="44493" y="124006"/>
                  <a:pt x="42060" y="124213"/>
                </a:cubicBezTo>
                <a:cubicBezTo>
                  <a:pt x="39627" y="124420"/>
                  <a:pt x="37272" y="123514"/>
                  <a:pt x="35563" y="121806"/>
                </a:cubicBezTo>
                <a:lnTo>
                  <a:pt x="2433" y="88676"/>
                </a:lnTo>
                <a:cubicBezTo>
                  <a:pt x="-802" y="85440"/>
                  <a:pt x="-802" y="80186"/>
                  <a:pt x="2433" y="76951"/>
                </a:cubicBezTo>
                <a:cubicBezTo>
                  <a:pt x="5668" y="73715"/>
                  <a:pt x="10923" y="73715"/>
                  <a:pt x="14158" y="76951"/>
                </a:cubicBezTo>
                <a:lnTo>
                  <a:pt x="40429" y="103222"/>
                </a:lnTo>
                <a:lnTo>
                  <a:pt x="100996" y="19956"/>
                </a:lnTo>
                <a:cubicBezTo>
                  <a:pt x="103688" y="16255"/>
                  <a:pt x="108865" y="15426"/>
                  <a:pt x="112566" y="18118"/>
                </a:cubicBezTo>
                <a:close/>
              </a:path>
            </a:pathLst>
          </a:custGeom>
          <a:solidFill>
            <a:srgbClr val="E07A5F"/>
          </a:solidFill>
          <a:ln/>
        </p:spPr>
        <p:txBody>
          <a:bodyPr/>
          <a:lstStyle/>
          <a:p>
            <a:endParaRPr lang="en-US"/>
          </a:p>
        </p:txBody>
      </p:sp>
      <p:sp>
        <p:nvSpPr>
          <p:cNvPr id="54" name="Text 52"/>
          <p:cNvSpPr/>
          <p:nvPr/>
        </p:nvSpPr>
        <p:spPr>
          <a:xfrm>
            <a:off x="6650935" y="5325717"/>
            <a:ext cx="2824370" cy="231913"/>
          </a:xfrm>
          <a:prstGeom prst="rect">
            <a:avLst/>
          </a:prstGeom>
          <a:noFill/>
          <a:ln/>
        </p:spPr>
        <p:txBody>
          <a:bodyPr wrap="square" lIns="0" tIns="0" rIns="0" bIns="0" rtlCol="0" anchor="ctr"/>
          <a:lstStyle/>
          <a:p>
            <a:pPr>
              <a:lnSpc>
                <a:spcPct val="130000"/>
              </a:lnSpc>
            </a:pPr>
            <a:r>
              <a:rPr lang="en-US" sz="1174" b="1" dirty="0">
                <a:solidFill>
                  <a:srgbClr val="2D3142"/>
                </a:solidFill>
                <a:latin typeface="Quattrocento Sans" pitchFamily="34" charset="0"/>
                <a:ea typeface="Quattrocento Sans" pitchFamily="34" charset="-122"/>
                <a:cs typeface="Quattrocento Sans" pitchFamily="34" charset="-120"/>
              </a:rPr>
              <a:t>Event-Driven Architecture</a:t>
            </a:r>
            <a:endParaRPr lang="en-US" sz="1600" dirty="0"/>
          </a:p>
        </p:txBody>
      </p:sp>
      <p:sp>
        <p:nvSpPr>
          <p:cNvPr id="55" name="Text 53"/>
          <p:cNvSpPr/>
          <p:nvPr/>
        </p:nvSpPr>
        <p:spPr>
          <a:xfrm>
            <a:off x="6650935" y="5557630"/>
            <a:ext cx="2816087" cy="198783"/>
          </a:xfrm>
          <a:prstGeom prst="rect">
            <a:avLst/>
          </a:prstGeom>
          <a:noFill/>
          <a:ln/>
        </p:spPr>
        <p:txBody>
          <a:bodyPr wrap="square" lIns="0" tIns="0" rIns="0" bIns="0" rtlCol="0" anchor="ctr"/>
          <a:lstStyle/>
          <a:p>
            <a:pPr>
              <a:lnSpc>
                <a:spcPct val="130000"/>
              </a:lnSpc>
            </a:pPr>
            <a:r>
              <a:rPr lang="en-US" sz="1043" dirty="0">
                <a:solidFill>
                  <a:srgbClr val="8D99AE"/>
                </a:solidFill>
                <a:latin typeface="Quattrocento Sans" pitchFamily="34" charset="0"/>
                <a:ea typeface="Quattrocento Sans" pitchFamily="34" charset="-122"/>
                <a:cs typeface="Quattrocento Sans" pitchFamily="34" charset="-120"/>
              </a:rPr>
              <a:t>React to data events in real-time without polling</a:t>
            </a:r>
            <a:endParaRPr lang="en-US" sz="1600" dirty="0"/>
          </a:p>
        </p:txBody>
      </p:sp>
      <p:sp>
        <p:nvSpPr>
          <p:cNvPr id="56" name="Shape 54"/>
          <p:cNvSpPr/>
          <p:nvPr/>
        </p:nvSpPr>
        <p:spPr>
          <a:xfrm>
            <a:off x="6385891" y="5888935"/>
            <a:ext cx="5267739" cy="563217"/>
          </a:xfrm>
          <a:custGeom>
            <a:avLst/>
            <a:gdLst/>
            <a:ahLst/>
            <a:cxnLst/>
            <a:rect l="l" t="t" r="r" b="b"/>
            <a:pathLst>
              <a:path w="5267739" h="563217">
                <a:moveTo>
                  <a:pt x="66263" y="0"/>
                </a:moveTo>
                <a:lnTo>
                  <a:pt x="5201477" y="0"/>
                </a:lnTo>
                <a:cubicBezTo>
                  <a:pt x="5238072" y="0"/>
                  <a:pt x="5267739" y="29667"/>
                  <a:pt x="5267739" y="66263"/>
                </a:cubicBezTo>
                <a:lnTo>
                  <a:pt x="5267739" y="496955"/>
                </a:lnTo>
                <a:cubicBezTo>
                  <a:pt x="5267739" y="533551"/>
                  <a:pt x="5238072" y="563217"/>
                  <a:pt x="5201477" y="563217"/>
                </a:cubicBezTo>
                <a:lnTo>
                  <a:pt x="66263" y="563217"/>
                </a:lnTo>
                <a:cubicBezTo>
                  <a:pt x="29667" y="563217"/>
                  <a:pt x="0" y="533551"/>
                  <a:pt x="0" y="496955"/>
                </a:cubicBezTo>
                <a:lnTo>
                  <a:pt x="0" y="66263"/>
                </a:lnTo>
                <a:cubicBezTo>
                  <a:pt x="0" y="29691"/>
                  <a:pt x="29691" y="0"/>
                  <a:pt x="66263" y="0"/>
                </a:cubicBezTo>
                <a:close/>
              </a:path>
            </a:pathLst>
          </a:custGeom>
          <a:solidFill>
            <a:srgbClr val="EAE7D6"/>
          </a:solidFill>
          <a:ln/>
        </p:spPr>
        <p:txBody>
          <a:bodyPr/>
          <a:lstStyle/>
          <a:p>
            <a:endParaRPr lang="en-US"/>
          </a:p>
        </p:txBody>
      </p:sp>
      <p:sp>
        <p:nvSpPr>
          <p:cNvPr id="57" name="Text 55"/>
          <p:cNvSpPr/>
          <p:nvPr/>
        </p:nvSpPr>
        <p:spPr>
          <a:xfrm>
            <a:off x="6485283" y="5988326"/>
            <a:ext cx="5126935" cy="165652"/>
          </a:xfrm>
          <a:prstGeom prst="rect">
            <a:avLst/>
          </a:prstGeom>
          <a:noFill/>
          <a:ln/>
        </p:spPr>
        <p:txBody>
          <a:bodyPr wrap="square" lIns="0" tIns="0" rIns="0" bIns="0" rtlCol="0" anchor="ctr"/>
          <a:lstStyle/>
          <a:p>
            <a:pPr>
              <a:lnSpc>
                <a:spcPct val="120000"/>
              </a:lnSpc>
            </a:pPr>
            <a:r>
              <a:rPr lang="en-US" sz="913" dirty="0">
                <a:solidFill>
                  <a:srgbClr val="8D99AE"/>
                </a:solidFill>
                <a:latin typeface="Quattrocento Sans" pitchFamily="34" charset="0"/>
                <a:ea typeface="Quattrocento Sans" pitchFamily="34" charset="-122"/>
                <a:cs typeface="Quattrocento Sans" pitchFamily="34" charset="-120"/>
              </a:rPr>
              <a:t>Use Case</a:t>
            </a:r>
            <a:endParaRPr lang="en-US" sz="1600" dirty="0"/>
          </a:p>
        </p:txBody>
      </p:sp>
      <p:sp>
        <p:nvSpPr>
          <p:cNvPr id="58" name="Text 56"/>
          <p:cNvSpPr/>
          <p:nvPr/>
        </p:nvSpPr>
        <p:spPr>
          <a:xfrm>
            <a:off x="6485283" y="6153978"/>
            <a:ext cx="5135217" cy="198783"/>
          </a:xfrm>
          <a:prstGeom prst="rect">
            <a:avLst/>
          </a:prstGeom>
          <a:noFill/>
          <a:ln/>
        </p:spPr>
        <p:txBody>
          <a:bodyPr wrap="square" lIns="0" tIns="0" rIns="0" bIns="0" rtlCol="0" anchor="ctr"/>
          <a:lstStyle/>
          <a:p>
            <a:pPr>
              <a:lnSpc>
                <a:spcPct val="130000"/>
              </a:lnSpc>
            </a:pPr>
            <a:r>
              <a:rPr lang="en-US" sz="1043" dirty="0">
                <a:solidFill>
                  <a:srgbClr val="2D3142"/>
                </a:solidFill>
                <a:latin typeface="Quattrocento Sans" pitchFamily="34" charset="0"/>
                <a:ea typeface="Quattrocento Sans" pitchFamily="34" charset="-122"/>
                <a:cs typeface="Quattrocento Sans" pitchFamily="34" charset="-120"/>
              </a:rPr>
              <a:t>Video streaming, live logs, WebSocket APIs</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28625" y="476250"/>
            <a:ext cx="158750" cy="158750"/>
          </a:xfrm>
          <a:custGeom>
            <a:avLst/>
            <a:gdLst/>
            <a:ahLst/>
            <a:cxnLst/>
            <a:rect l="l" t="t" r="r" b="b"/>
            <a:pathLst>
              <a:path w="158750" h="158750">
                <a:moveTo>
                  <a:pt x="72089" y="1612"/>
                </a:moveTo>
                <a:cubicBezTo>
                  <a:pt x="76708" y="-527"/>
                  <a:pt x="82042" y="-527"/>
                  <a:pt x="86661" y="1612"/>
                </a:cubicBezTo>
                <a:lnTo>
                  <a:pt x="154440" y="32928"/>
                </a:lnTo>
                <a:cubicBezTo>
                  <a:pt x="157076" y="34137"/>
                  <a:pt x="158750" y="36773"/>
                  <a:pt x="158750" y="39688"/>
                </a:cubicBezTo>
                <a:cubicBezTo>
                  <a:pt x="158750" y="42602"/>
                  <a:pt x="157076" y="45238"/>
                  <a:pt x="154440" y="46447"/>
                </a:cubicBezTo>
                <a:lnTo>
                  <a:pt x="86661" y="77763"/>
                </a:lnTo>
                <a:cubicBezTo>
                  <a:pt x="82042" y="79902"/>
                  <a:pt x="76708" y="79902"/>
                  <a:pt x="72089" y="77763"/>
                </a:cubicBezTo>
                <a:lnTo>
                  <a:pt x="4310" y="46447"/>
                </a:lnTo>
                <a:cubicBezTo>
                  <a:pt x="1674" y="45207"/>
                  <a:pt x="0" y="42571"/>
                  <a:pt x="0" y="39688"/>
                </a:cubicBezTo>
                <a:cubicBezTo>
                  <a:pt x="0" y="36804"/>
                  <a:pt x="1674" y="34137"/>
                  <a:pt x="4310" y="32928"/>
                </a:cubicBezTo>
                <a:lnTo>
                  <a:pt x="72089" y="1612"/>
                </a:lnTo>
                <a:close/>
                <a:moveTo>
                  <a:pt x="14914" y="67717"/>
                </a:moveTo>
                <a:lnTo>
                  <a:pt x="65856" y="91250"/>
                </a:lnTo>
                <a:cubicBezTo>
                  <a:pt x="74445" y="95219"/>
                  <a:pt x="84336" y="95219"/>
                  <a:pt x="92925" y="91250"/>
                </a:cubicBezTo>
                <a:lnTo>
                  <a:pt x="143867" y="67717"/>
                </a:lnTo>
                <a:lnTo>
                  <a:pt x="154440" y="72616"/>
                </a:lnTo>
                <a:cubicBezTo>
                  <a:pt x="157076" y="73825"/>
                  <a:pt x="158750" y="76460"/>
                  <a:pt x="158750" y="79375"/>
                </a:cubicBezTo>
                <a:cubicBezTo>
                  <a:pt x="158750" y="82290"/>
                  <a:pt x="157076" y="84925"/>
                  <a:pt x="154440" y="86134"/>
                </a:cubicBezTo>
                <a:lnTo>
                  <a:pt x="86661" y="117450"/>
                </a:lnTo>
                <a:cubicBezTo>
                  <a:pt x="82042" y="119590"/>
                  <a:pt x="76708" y="119590"/>
                  <a:pt x="72089" y="117450"/>
                </a:cubicBezTo>
                <a:lnTo>
                  <a:pt x="4310" y="86134"/>
                </a:lnTo>
                <a:cubicBezTo>
                  <a:pt x="1674" y="84894"/>
                  <a:pt x="0" y="82259"/>
                  <a:pt x="0" y="79375"/>
                </a:cubicBezTo>
                <a:cubicBezTo>
                  <a:pt x="0" y="76491"/>
                  <a:pt x="1674" y="73825"/>
                  <a:pt x="4310" y="72616"/>
                </a:cubicBezTo>
                <a:lnTo>
                  <a:pt x="14883" y="67717"/>
                </a:lnTo>
                <a:close/>
                <a:moveTo>
                  <a:pt x="4310" y="112303"/>
                </a:moveTo>
                <a:lnTo>
                  <a:pt x="14883" y="107404"/>
                </a:lnTo>
                <a:lnTo>
                  <a:pt x="65825" y="130938"/>
                </a:lnTo>
                <a:cubicBezTo>
                  <a:pt x="74414" y="134906"/>
                  <a:pt x="84305" y="134906"/>
                  <a:pt x="92894" y="130938"/>
                </a:cubicBezTo>
                <a:lnTo>
                  <a:pt x="143836" y="107404"/>
                </a:lnTo>
                <a:lnTo>
                  <a:pt x="154409" y="112303"/>
                </a:lnTo>
                <a:cubicBezTo>
                  <a:pt x="157045" y="113512"/>
                  <a:pt x="158719" y="116148"/>
                  <a:pt x="158719" y="119062"/>
                </a:cubicBezTo>
                <a:cubicBezTo>
                  <a:pt x="158719" y="121977"/>
                  <a:pt x="157045" y="124613"/>
                  <a:pt x="154409" y="125822"/>
                </a:cubicBezTo>
                <a:lnTo>
                  <a:pt x="86630" y="157138"/>
                </a:lnTo>
                <a:cubicBezTo>
                  <a:pt x="82010" y="159277"/>
                  <a:pt x="76677" y="159277"/>
                  <a:pt x="72058" y="157138"/>
                </a:cubicBezTo>
                <a:lnTo>
                  <a:pt x="4310" y="125822"/>
                </a:lnTo>
                <a:cubicBezTo>
                  <a:pt x="1674" y="124582"/>
                  <a:pt x="0" y="121946"/>
                  <a:pt x="0" y="119062"/>
                </a:cubicBezTo>
                <a:cubicBezTo>
                  <a:pt x="0" y="116179"/>
                  <a:pt x="1674" y="113512"/>
                  <a:pt x="4310" y="112303"/>
                </a:cubicBezTo>
                <a:close/>
              </a:path>
            </a:pathLst>
          </a:custGeom>
          <a:solidFill>
            <a:srgbClr val="FFFFFF"/>
          </a:solidFill>
          <a:ln/>
        </p:spPr>
        <p:txBody>
          <a:bodyPr/>
          <a:lstStyle/>
          <a:p>
            <a:endParaRPr lang="en-US"/>
          </a:p>
        </p:txBody>
      </p:sp>
      <p:sp>
        <p:nvSpPr>
          <p:cNvPr id="4" name="Text 2"/>
          <p:cNvSpPr/>
          <p:nvPr/>
        </p:nvSpPr>
        <p:spPr>
          <a:xfrm>
            <a:off x="793750" y="317500"/>
            <a:ext cx="2484438"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Architecture</a:t>
            </a:r>
            <a:endParaRPr lang="en-US" sz="1600" dirty="0"/>
          </a:p>
        </p:txBody>
      </p:sp>
      <p:sp>
        <p:nvSpPr>
          <p:cNvPr id="5" name="Text 3"/>
          <p:cNvSpPr/>
          <p:nvPr/>
        </p:nvSpPr>
        <p:spPr>
          <a:xfrm>
            <a:off x="793750" y="476250"/>
            <a:ext cx="2571750"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4 Types of Streams</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21469" y="1083469"/>
            <a:ext cx="5691188" cy="3182938"/>
          </a:xfrm>
          <a:custGeom>
            <a:avLst/>
            <a:gdLst/>
            <a:ahLst/>
            <a:cxnLst/>
            <a:rect l="l" t="t" r="r" b="b"/>
            <a:pathLst>
              <a:path w="5691188" h="3182938">
                <a:moveTo>
                  <a:pt x="95265" y="0"/>
                </a:moveTo>
                <a:lnTo>
                  <a:pt x="5595922" y="0"/>
                </a:lnTo>
                <a:cubicBezTo>
                  <a:pt x="5648536" y="0"/>
                  <a:pt x="5691188" y="42652"/>
                  <a:pt x="5691188" y="95265"/>
                </a:cubicBezTo>
                <a:lnTo>
                  <a:pt x="5691188" y="3087672"/>
                </a:lnTo>
                <a:cubicBezTo>
                  <a:pt x="5691187" y="3140286"/>
                  <a:pt x="5648536" y="3182938"/>
                  <a:pt x="5595922" y="3182938"/>
                </a:cubicBezTo>
                <a:lnTo>
                  <a:pt x="95265" y="3182938"/>
                </a:lnTo>
                <a:cubicBezTo>
                  <a:pt x="42652" y="3182938"/>
                  <a:pt x="0" y="3140286"/>
                  <a:pt x="0" y="3087672"/>
                </a:cubicBezTo>
                <a:lnTo>
                  <a:pt x="0" y="95265"/>
                </a:lnTo>
                <a:cubicBezTo>
                  <a:pt x="0" y="42687"/>
                  <a:pt x="42687" y="0"/>
                  <a:pt x="95265" y="0"/>
                </a:cubicBezTo>
                <a:close/>
              </a:path>
            </a:pathLst>
          </a:custGeom>
          <a:solidFill>
            <a:srgbClr val="EAE7D6"/>
          </a:solidFill>
          <a:ln/>
        </p:spPr>
        <p:txBody>
          <a:bodyPr/>
          <a:lstStyle/>
          <a:p>
            <a:endParaRPr lang="en-US"/>
          </a:p>
        </p:txBody>
      </p:sp>
      <p:sp>
        <p:nvSpPr>
          <p:cNvPr id="8" name="Shape 6"/>
          <p:cNvSpPr/>
          <p:nvPr/>
        </p:nvSpPr>
        <p:spPr>
          <a:xfrm>
            <a:off x="484187" y="124618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07A5F"/>
          </a:solidFill>
          <a:ln/>
        </p:spPr>
        <p:txBody>
          <a:bodyPr/>
          <a:lstStyle/>
          <a:p>
            <a:endParaRPr lang="en-US"/>
          </a:p>
        </p:txBody>
      </p:sp>
      <p:sp>
        <p:nvSpPr>
          <p:cNvPr id="9" name="Text 7"/>
          <p:cNvSpPr/>
          <p:nvPr/>
        </p:nvSpPr>
        <p:spPr>
          <a:xfrm>
            <a:off x="444500" y="1246188"/>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10" name="Text 8"/>
          <p:cNvSpPr/>
          <p:nvPr/>
        </p:nvSpPr>
        <p:spPr>
          <a:xfrm>
            <a:off x="960438" y="1309688"/>
            <a:ext cx="857250"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Readable</a:t>
            </a:r>
            <a:endParaRPr lang="en-US" sz="1600" dirty="0"/>
          </a:p>
        </p:txBody>
      </p:sp>
      <p:sp>
        <p:nvSpPr>
          <p:cNvPr id="11" name="Shape 9"/>
          <p:cNvSpPr/>
          <p:nvPr/>
        </p:nvSpPr>
        <p:spPr>
          <a:xfrm>
            <a:off x="484187" y="1754188"/>
            <a:ext cx="5365750" cy="571500"/>
          </a:xfrm>
          <a:custGeom>
            <a:avLst/>
            <a:gdLst/>
            <a:ahLst/>
            <a:cxnLst/>
            <a:rect l="l" t="t" r="r" b="b"/>
            <a:pathLst>
              <a:path w="5365750" h="571500">
                <a:moveTo>
                  <a:pt x="63499" y="0"/>
                </a:moveTo>
                <a:lnTo>
                  <a:pt x="5302251" y="0"/>
                </a:lnTo>
                <a:cubicBezTo>
                  <a:pt x="5337320" y="0"/>
                  <a:pt x="5365750" y="28430"/>
                  <a:pt x="5365750" y="63499"/>
                </a:cubicBezTo>
                <a:lnTo>
                  <a:pt x="5365750" y="508001"/>
                </a:lnTo>
                <a:cubicBezTo>
                  <a:pt x="5365750" y="543070"/>
                  <a:pt x="5337320" y="571500"/>
                  <a:pt x="53022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12" name="Text 10"/>
          <p:cNvSpPr/>
          <p:nvPr/>
        </p:nvSpPr>
        <p:spPr>
          <a:xfrm>
            <a:off x="579438" y="1849438"/>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Purpose</a:t>
            </a:r>
            <a:endParaRPr lang="en-US" sz="1600" dirty="0"/>
          </a:p>
        </p:txBody>
      </p:sp>
      <p:sp>
        <p:nvSpPr>
          <p:cNvPr id="13" name="Text 11"/>
          <p:cNvSpPr/>
          <p:nvPr/>
        </p:nvSpPr>
        <p:spPr>
          <a:xfrm>
            <a:off x="579438" y="203993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Source of data - read operations</a:t>
            </a:r>
            <a:endParaRPr lang="en-US" sz="1600" dirty="0"/>
          </a:p>
        </p:txBody>
      </p:sp>
      <p:sp>
        <p:nvSpPr>
          <p:cNvPr id="14" name="Shape 12"/>
          <p:cNvSpPr/>
          <p:nvPr/>
        </p:nvSpPr>
        <p:spPr>
          <a:xfrm>
            <a:off x="484187" y="2420938"/>
            <a:ext cx="5365750" cy="1016000"/>
          </a:xfrm>
          <a:custGeom>
            <a:avLst/>
            <a:gdLst/>
            <a:ahLst/>
            <a:cxnLst/>
            <a:rect l="l" t="t" r="r" b="b"/>
            <a:pathLst>
              <a:path w="5365750" h="1016000">
                <a:moveTo>
                  <a:pt x="63500" y="0"/>
                </a:moveTo>
                <a:lnTo>
                  <a:pt x="5302250" y="0"/>
                </a:lnTo>
                <a:cubicBezTo>
                  <a:pt x="5337297" y="0"/>
                  <a:pt x="5365750" y="28453"/>
                  <a:pt x="5365750" y="63500"/>
                </a:cubicBezTo>
                <a:lnTo>
                  <a:pt x="5365750" y="952500"/>
                </a:lnTo>
                <a:cubicBezTo>
                  <a:pt x="5365750" y="987547"/>
                  <a:pt x="5337297" y="1016000"/>
                  <a:pt x="5302250" y="1016000"/>
                </a:cubicBezTo>
                <a:lnTo>
                  <a:pt x="63500" y="1016000"/>
                </a:lnTo>
                <a:cubicBezTo>
                  <a:pt x="28453" y="1016000"/>
                  <a:pt x="0" y="987547"/>
                  <a:pt x="0" y="952500"/>
                </a:cubicBezTo>
                <a:lnTo>
                  <a:pt x="0" y="63500"/>
                </a:lnTo>
                <a:cubicBezTo>
                  <a:pt x="0" y="28453"/>
                  <a:pt x="28453" y="0"/>
                  <a:pt x="63500" y="0"/>
                </a:cubicBezTo>
                <a:close/>
              </a:path>
            </a:pathLst>
          </a:custGeom>
          <a:solidFill>
            <a:srgbClr val="EAE7D6"/>
          </a:solidFill>
          <a:ln/>
        </p:spPr>
        <p:txBody>
          <a:bodyPr/>
          <a:lstStyle/>
          <a:p>
            <a:endParaRPr lang="en-US"/>
          </a:p>
        </p:txBody>
      </p:sp>
      <p:sp>
        <p:nvSpPr>
          <p:cNvPr id="15" name="Text 13"/>
          <p:cNvSpPr/>
          <p:nvPr/>
        </p:nvSpPr>
        <p:spPr>
          <a:xfrm>
            <a:off x="579438" y="2516188"/>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Examples</a:t>
            </a:r>
            <a:endParaRPr lang="en-US" sz="1600" dirty="0"/>
          </a:p>
        </p:txBody>
      </p:sp>
      <p:sp>
        <p:nvSpPr>
          <p:cNvPr id="16" name="Text 14"/>
          <p:cNvSpPr/>
          <p:nvPr/>
        </p:nvSpPr>
        <p:spPr>
          <a:xfrm>
            <a:off x="579438" y="270668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fs.createReadStream()</a:t>
            </a:r>
            <a:endParaRPr lang="en-US" sz="1600" dirty="0"/>
          </a:p>
        </p:txBody>
      </p:sp>
      <p:sp>
        <p:nvSpPr>
          <p:cNvPr id="17" name="Text 15"/>
          <p:cNvSpPr/>
          <p:nvPr/>
        </p:nvSpPr>
        <p:spPr>
          <a:xfrm>
            <a:off x="579438" y="292893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HTTP request object</a:t>
            </a:r>
            <a:endParaRPr lang="en-US" sz="1600" dirty="0"/>
          </a:p>
        </p:txBody>
      </p:sp>
      <p:sp>
        <p:nvSpPr>
          <p:cNvPr id="18" name="Text 16"/>
          <p:cNvSpPr/>
          <p:nvPr/>
        </p:nvSpPr>
        <p:spPr>
          <a:xfrm>
            <a:off x="579438" y="315118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process.stdin</a:t>
            </a:r>
            <a:endParaRPr lang="en-US" sz="1600" dirty="0"/>
          </a:p>
        </p:txBody>
      </p:sp>
      <p:sp>
        <p:nvSpPr>
          <p:cNvPr id="19" name="Shape 17"/>
          <p:cNvSpPr/>
          <p:nvPr/>
        </p:nvSpPr>
        <p:spPr>
          <a:xfrm>
            <a:off x="500063" y="3532188"/>
            <a:ext cx="5349875" cy="571500"/>
          </a:xfrm>
          <a:custGeom>
            <a:avLst/>
            <a:gdLst/>
            <a:ahLst/>
            <a:cxnLst/>
            <a:rect l="l" t="t" r="r" b="b"/>
            <a:pathLst>
              <a:path w="5349875" h="571500">
                <a:moveTo>
                  <a:pt x="31750" y="0"/>
                </a:moveTo>
                <a:lnTo>
                  <a:pt x="5286376" y="0"/>
                </a:lnTo>
                <a:cubicBezTo>
                  <a:pt x="5321445" y="0"/>
                  <a:pt x="5349875" y="28430"/>
                  <a:pt x="5349875" y="63499"/>
                </a:cubicBezTo>
                <a:lnTo>
                  <a:pt x="5349875" y="508001"/>
                </a:lnTo>
                <a:cubicBezTo>
                  <a:pt x="5349875" y="543070"/>
                  <a:pt x="5321445" y="571500"/>
                  <a:pt x="5286376" y="571500"/>
                </a:cubicBezTo>
                <a:lnTo>
                  <a:pt x="31750" y="571500"/>
                </a:lnTo>
                <a:cubicBezTo>
                  <a:pt x="14227" y="571500"/>
                  <a:pt x="0" y="557273"/>
                  <a:pt x="0" y="539750"/>
                </a:cubicBezTo>
                <a:lnTo>
                  <a:pt x="0" y="31750"/>
                </a:lnTo>
                <a:cubicBezTo>
                  <a:pt x="0" y="14227"/>
                  <a:pt x="14227" y="0"/>
                  <a:pt x="31750" y="0"/>
                </a:cubicBezTo>
                <a:close/>
              </a:path>
            </a:pathLst>
          </a:custGeom>
          <a:solidFill>
            <a:srgbClr val="EAE7D6"/>
          </a:solidFill>
          <a:ln/>
        </p:spPr>
        <p:txBody>
          <a:bodyPr/>
          <a:lstStyle/>
          <a:p>
            <a:endParaRPr lang="en-US"/>
          </a:p>
        </p:txBody>
      </p:sp>
      <p:sp>
        <p:nvSpPr>
          <p:cNvPr id="20" name="Shape 18"/>
          <p:cNvSpPr/>
          <p:nvPr/>
        </p:nvSpPr>
        <p:spPr>
          <a:xfrm>
            <a:off x="500063" y="3532188"/>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E07A5F"/>
          </a:solidFill>
          <a:ln/>
        </p:spPr>
        <p:txBody>
          <a:bodyPr/>
          <a:lstStyle/>
          <a:p>
            <a:endParaRPr lang="en-US"/>
          </a:p>
        </p:txBody>
      </p:sp>
      <p:sp>
        <p:nvSpPr>
          <p:cNvPr id="21" name="Text 19"/>
          <p:cNvSpPr/>
          <p:nvPr/>
        </p:nvSpPr>
        <p:spPr>
          <a:xfrm>
            <a:off x="611188" y="3627438"/>
            <a:ext cx="5199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Key Events</a:t>
            </a:r>
            <a:endParaRPr lang="en-US" sz="1600" dirty="0"/>
          </a:p>
        </p:txBody>
      </p:sp>
      <p:sp>
        <p:nvSpPr>
          <p:cNvPr id="22" name="Text 20"/>
          <p:cNvSpPr/>
          <p:nvPr/>
        </p:nvSpPr>
        <p:spPr>
          <a:xfrm>
            <a:off x="611188" y="3817938"/>
            <a:ext cx="52070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data, end, error, close</a:t>
            </a:r>
            <a:endParaRPr lang="en-US" sz="1600" dirty="0"/>
          </a:p>
        </p:txBody>
      </p:sp>
      <p:sp>
        <p:nvSpPr>
          <p:cNvPr id="23" name="Shape 21"/>
          <p:cNvSpPr/>
          <p:nvPr/>
        </p:nvSpPr>
        <p:spPr>
          <a:xfrm>
            <a:off x="6179344" y="1083469"/>
            <a:ext cx="5691188" cy="3182938"/>
          </a:xfrm>
          <a:custGeom>
            <a:avLst/>
            <a:gdLst/>
            <a:ahLst/>
            <a:cxnLst/>
            <a:rect l="l" t="t" r="r" b="b"/>
            <a:pathLst>
              <a:path w="5691188" h="3182938">
                <a:moveTo>
                  <a:pt x="95265" y="0"/>
                </a:moveTo>
                <a:lnTo>
                  <a:pt x="5595922" y="0"/>
                </a:lnTo>
                <a:cubicBezTo>
                  <a:pt x="5648536" y="0"/>
                  <a:pt x="5691188" y="42652"/>
                  <a:pt x="5691188" y="95265"/>
                </a:cubicBezTo>
                <a:lnTo>
                  <a:pt x="5691188" y="3087672"/>
                </a:lnTo>
                <a:cubicBezTo>
                  <a:pt x="5691187" y="3140286"/>
                  <a:pt x="5648536" y="3182938"/>
                  <a:pt x="5595922" y="3182938"/>
                </a:cubicBezTo>
                <a:lnTo>
                  <a:pt x="95265" y="3182938"/>
                </a:lnTo>
                <a:cubicBezTo>
                  <a:pt x="42652" y="3182938"/>
                  <a:pt x="0" y="3140286"/>
                  <a:pt x="0" y="3087672"/>
                </a:cubicBezTo>
                <a:lnTo>
                  <a:pt x="0" y="95265"/>
                </a:lnTo>
                <a:cubicBezTo>
                  <a:pt x="0" y="42687"/>
                  <a:pt x="42687" y="0"/>
                  <a:pt x="95265" y="0"/>
                </a:cubicBezTo>
                <a:close/>
              </a:path>
            </a:pathLst>
          </a:custGeom>
          <a:solidFill>
            <a:srgbClr val="EAE7D6"/>
          </a:solidFill>
          <a:ln/>
        </p:spPr>
        <p:txBody>
          <a:bodyPr/>
          <a:lstStyle/>
          <a:p>
            <a:endParaRPr lang="en-US"/>
          </a:p>
        </p:txBody>
      </p:sp>
      <p:sp>
        <p:nvSpPr>
          <p:cNvPr id="24" name="Shape 22"/>
          <p:cNvSpPr/>
          <p:nvPr/>
        </p:nvSpPr>
        <p:spPr>
          <a:xfrm>
            <a:off x="6342063" y="124618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D99AE"/>
          </a:solidFill>
          <a:ln/>
        </p:spPr>
        <p:txBody>
          <a:bodyPr/>
          <a:lstStyle/>
          <a:p>
            <a:endParaRPr lang="en-US"/>
          </a:p>
        </p:txBody>
      </p:sp>
      <p:sp>
        <p:nvSpPr>
          <p:cNvPr id="25" name="Text 23"/>
          <p:cNvSpPr/>
          <p:nvPr/>
        </p:nvSpPr>
        <p:spPr>
          <a:xfrm>
            <a:off x="6302375" y="1246188"/>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6" name="Text 24"/>
          <p:cNvSpPr/>
          <p:nvPr/>
        </p:nvSpPr>
        <p:spPr>
          <a:xfrm>
            <a:off x="6818313" y="1309688"/>
            <a:ext cx="817563"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Writable</a:t>
            </a:r>
            <a:endParaRPr lang="en-US" sz="1600" dirty="0"/>
          </a:p>
        </p:txBody>
      </p:sp>
      <p:sp>
        <p:nvSpPr>
          <p:cNvPr id="27" name="Shape 25"/>
          <p:cNvSpPr/>
          <p:nvPr/>
        </p:nvSpPr>
        <p:spPr>
          <a:xfrm>
            <a:off x="6342063" y="1754188"/>
            <a:ext cx="5365750" cy="571500"/>
          </a:xfrm>
          <a:custGeom>
            <a:avLst/>
            <a:gdLst/>
            <a:ahLst/>
            <a:cxnLst/>
            <a:rect l="l" t="t" r="r" b="b"/>
            <a:pathLst>
              <a:path w="5365750" h="571500">
                <a:moveTo>
                  <a:pt x="63499" y="0"/>
                </a:moveTo>
                <a:lnTo>
                  <a:pt x="5302251" y="0"/>
                </a:lnTo>
                <a:cubicBezTo>
                  <a:pt x="5337320" y="0"/>
                  <a:pt x="5365750" y="28430"/>
                  <a:pt x="5365750" y="63499"/>
                </a:cubicBezTo>
                <a:lnTo>
                  <a:pt x="5365750" y="508001"/>
                </a:lnTo>
                <a:cubicBezTo>
                  <a:pt x="5365750" y="543070"/>
                  <a:pt x="5337320" y="571500"/>
                  <a:pt x="53022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28" name="Text 26"/>
          <p:cNvSpPr/>
          <p:nvPr/>
        </p:nvSpPr>
        <p:spPr>
          <a:xfrm>
            <a:off x="6437313" y="1849438"/>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Purpose</a:t>
            </a:r>
            <a:endParaRPr lang="en-US" sz="1600" dirty="0"/>
          </a:p>
        </p:txBody>
      </p:sp>
      <p:sp>
        <p:nvSpPr>
          <p:cNvPr id="29" name="Text 27"/>
          <p:cNvSpPr/>
          <p:nvPr/>
        </p:nvSpPr>
        <p:spPr>
          <a:xfrm>
            <a:off x="6437313" y="203993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Destination of data - write operations</a:t>
            </a:r>
            <a:endParaRPr lang="en-US" sz="1600" dirty="0"/>
          </a:p>
        </p:txBody>
      </p:sp>
      <p:sp>
        <p:nvSpPr>
          <p:cNvPr id="30" name="Shape 28"/>
          <p:cNvSpPr/>
          <p:nvPr/>
        </p:nvSpPr>
        <p:spPr>
          <a:xfrm>
            <a:off x="6342063" y="2420938"/>
            <a:ext cx="5365750" cy="1016000"/>
          </a:xfrm>
          <a:custGeom>
            <a:avLst/>
            <a:gdLst/>
            <a:ahLst/>
            <a:cxnLst/>
            <a:rect l="l" t="t" r="r" b="b"/>
            <a:pathLst>
              <a:path w="5365750" h="1016000">
                <a:moveTo>
                  <a:pt x="63500" y="0"/>
                </a:moveTo>
                <a:lnTo>
                  <a:pt x="5302250" y="0"/>
                </a:lnTo>
                <a:cubicBezTo>
                  <a:pt x="5337297" y="0"/>
                  <a:pt x="5365750" y="28453"/>
                  <a:pt x="5365750" y="63500"/>
                </a:cubicBezTo>
                <a:lnTo>
                  <a:pt x="5365750" y="952500"/>
                </a:lnTo>
                <a:cubicBezTo>
                  <a:pt x="5365750" y="987547"/>
                  <a:pt x="5337297" y="1016000"/>
                  <a:pt x="5302250" y="1016000"/>
                </a:cubicBezTo>
                <a:lnTo>
                  <a:pt x="63500" y="1016000"/>
                </a:lnTo>
                <a:cubicBezTo>
                  <a:pt x="28453" y="1016000"/>
                  <a:pt x="0" y="987547"/>
                  <a:pt x="0" y="952500"/>
                </a:cubicBezTo>
                <a:lnTo>
                  <a:pt x="0" y="63500"/>
                </a:lnTo>
                <a:cubicBezTo>
                  <a:pt x="0" y="28453"/>
                  <a:pt x="28453" y="0"/>
                  <a:pt x="63500" y="0"/>
                </a:cubicBezTo>
                <a:close/>
              </a:path>
            </a:pathLst>
          </a:custGeom>
          <a:solidFill>
            <a:srgbClr val="EAE7D6"/>
          </a:solidFill>
          <a:ln/>
        </p:spPr>
        <p:txBody>
          <a:bodyPr/>
          <a:lstStyle/>
          <a:p>
            <a:endParaRPr lang="en-US"/>
          </a:p>
        </p:txBody>
      </p:sp>
      <p:sp>
        <p:nvSpPr>
          <p:cNvPr id="31" name="Text 29"/>
          <p:cNvSpPr/>
          <p:nvPr/>
        </p:nvSpPr>
        <p:spPr>
          <a:xfrm>
            <a:off x="6437313" y="2516188"/>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Examples</a:t>
            </a:r>
            <a:endParaRPr lang="en-US" sz="1600" dirty="0"/>
          </a:p>
        </p:txBody>
      </p:sp>
      <p:sp>
        <p:nvSpPr>
          <p:cNvPr id="32" name="Text 30"/>
          <p:cNvSpPr/>
          <p:nvPr/>
        </p:nvSpPr>
        <p:spPr>
          <a:xfrm>
            <a:off x="6437313" y="270668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fs.createWriteStream()</a:t>
            </a:r>
            <a:endParaRPr lang="en-US" sz="1600" dirty="0"/>
          </a:p>
        </p:txBody>
      </p:sp>
      <p:sp>
        <p:nvSpPr>
          <p:cNvPr id="33" name="Text 31"/>
          <p:cNvSpPr/>
          <p:nvPr/>
        </p:nvSpPr>
        <p:spPr>
          <a:xfrm>
            <a:off x="6437313" y="292893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HTTP response object</a:t>
            </a:r>
            <a:endParaRPr lang="en-US" sz="1600" dirty="0"/>
          </a:p>
        </p:txBody>
      </p:sp>
      <p:sp>
        <p:nvSpPr>
          <p:cNvPr id="34" name="Text 32"/>
          <p:cNvSpPr/>
          <p:nvPr/>
        </p:nvSpPr>
        <p:spPr>
          <a:xfrm>
            <a:off x="6437313" y="3151188"/>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process.stdout</a:t>
            </a:r>
            <a:endParaRPr lang="en-US" sz="1600" dirty="0"/>
          </a:p>
        </p:txBody>
      </p:sp>
      <p:sp>
        <p:nvSpPr>
          <p:cNvPr id="35" name="Shape 33"/>
          <p:cNvSpPr/>
          <p:nvPr/>
        </p:nvSpPr>
        <p:spPr>
          <a:xfrm>
            <a:off x="6357938" y="3532188"/>
            <a:ext cx="5349875" cy="571500"/>
          </a:xfrm>
          <a:custGeom>
            <a:avLst/>
            <a:gdLst/>
            <a:ahLst/>
            <a:cxnLst/>
            <a:rect l="l" t="t" r="r" b="b"/>
            <a:pathLst>
              <a:path w="5349875" h="571500">
                <a:moveTo>
                  <a:pt x="31750" y="0"/>
                </a:moveTo>
                <a:lnTo>
                  <a:pt x="5286376" y="0"/>
                </a:lnTo>
                <a:cubicBezTo>
                  <a:pt x="5321445" y="0"/>
                  <a:pt x="5349875" y="28430"/>
                  <a:pt x="5349875" y="63499"/>
                </a:cubicBezTo>
                <a:lnTo>
                  <a:pt x="5349875" y="508001"/>
                </a:lnTo>
                <a:cubicBezTo>
                  <a:pt x="5349875" y="543070"/>
                  <a:pt x="5321445" y="571500"/>
                  <a:pt x="5286376" y="571500"/>
                </a:cubicBezTo>
                <a:lnTo>
                  <a:pt x="31750" y="571500"/>
                </a:lnTo>
                <a:cubicBezTo>
                  <a:pt x="14227" y="571500"/>
                  <a:pt x="0" y="557273"/>
                  <a:pt x="0" y="539750"/>
                </a:cubicBezTo>
                <a:lnTo>
                  <a:pt x="0" y="31750"/>
                </a:lnTo>
                <a:cubicBezTo>
                  <a:pt x="0" y="14227"/>
                  <a:pt x="14227" y="0"/>
                  <a:pt x="31750" y="0"/>
                </a:cubicBezTo>
                <a:close/>
              </a:path>
            </a:pathLst>
          </a:custGeom>
          <a:solidFill>
            <a:srgbClr val="EAE7D6"/>
          </a:solidFill>
          <a:ln/>
        </p:spPr>
        <p:txBody>
          <a:bodyPr/>
          <a:lstStyle/>
          <a:p>
            <a:endParaRPr lang="en-US"/>
          </a:p>
        </p:txBody>
      </p:sp>
      <p:sp>
        <p:nvSpPr>
          <p:cNvPr id="36" name="Shape 34"/>
          <p:cNvSpPr/>
          <p:nvPr/>
        </p:nvSpPr>
        <p:spPr>
          <a:xfrm>
            <a:off x="6357938" y="3532188"/>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8D99AE"/>
          </a:solidFill>
          <a:ln/>
        </p:spPr>
        <p:txBody>
          <a:bodyPr/>
          <a:lstStyle/>
          <a:p>
            <a:endParaRPr lang="en-US"/>
          </a:p>
        </p:txBody>
      </p:sp>
      <p:sp>
        <p:nvSpPr>
          <p:cNvPr id="37" name="Text 35"/>
          <p:cNvSpPr/>
          <p:nvPr/>
        </p:nvSpPr>
        <p:spPr>
          <a:xfrm>
            <a:off x="6469063" y="3627438"/>
            <a:ext cx="5199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Key Methods</a:t>
            </a:r>
            <a:endParaRPr lang="en-US" sz="1600" dirty="0"/>
          </a:p>
        </p:txBody>
      </p:sp>
      <p:sp>
        <p:nvSpPr>
          <p:cNvPr id="38" name="Text 36"/>
          <p:cNvSpPr/>
          <p:nvPr/>
        </p:nvSpPr>
        <p:spPr>
          <a:xfrm>
            <a:off x="6469063" y="3817938"/>
            <a:ext cx="52070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write(), end(), cork(), uncork()</a:t>
            </a:r>
            <a:endParaRPr lang="en-US" sz="1600" dirty="0"/>
          </a:p>
        </p:txBody>
      </p:sp>
      <p:sp>
        <p:nvSpPr>
          <p:cNvPr id="39" name="Shape 37"/>
          <p:cNvSpPr/>
          <p:nvPr/>
        </p:nvSpPr>
        <p:spPr>
          <a:xfrm>
            <a:off x="321469" y="4433094"/>
            <a:ext cx="5691188" cy="3182938"/>
          </a:xfrm>
          <a:custGeom>
            <a:avLst/>
            <a:gdLst/>
            <a:ahLst/>
            <a:cxnLst/>
            <a:rect l="l" t="t" r="r" b="b"/>
            <a:pathLst>
              <a:path w="5691188" h="3182938">
                <a:moveTo>
                  <a:pt x="95265" y="0"/>
                </a:moveTo>
                <a:lnTo>
                  <a:pt x="5595922" y="0"/>
                </a:lnTo>
                <a:cubicBezTo>
                  <a:pt x="5648536" y="0"/>
                  <a:pt x="5691188" y="42652"/>
                  <a:pt x="5691188" y="95265"/>
                </a:cubicBezTo>
                <a:lnTo>
                  <a:pt x="5691188" y="3087672"/>
                </a:lnTo>
                <a:cubicBezTo>
                  <a:pt x="5691187" y="3140286"/>
                  <a:pt x="5648536" y="3182938"/>
                  <a:pt x="5595922" y="3182938"/>
                </a:cubicBezTo>
                <a:lnTo>
                  <a:pt x="95265" y="3182938"/>
                </a:lnTo>
                <a:cubicBezTo>
                  <a:pt x="42652" y="3182938"/>
                  <a:pt x="0" y="3140286"/>
                  <a:pt x="0" y="3087672"/>
                </a:cubicBezTo>
                <a:lnTo>
                  <a:pt x="0" y="95265"/>
                </a:lnTo>
                <a:cubicBezTo>
                  <a:pt x="0" y="42687"/>
                  <a:pt x="42687" y="0"/>
                  <a:pt x="95265" y="0"/>
                </a:cubicBezTo>
                <a:close/>
              </a:path>
            </a:pathLst>
          </a:custGeom>
          <a:solidFill>
            <a:srgbClr val="EAE7D6"/>
          </a:solidFill>
          <a:ln/>
        </p:spPr>
        <p:txBody>
          <a:bodyPr/>
          <a:lstStyle/>
          <a:p>
            <a:endParaRPr lang="en-US"/>
          </a:p>
        </p:txBody>
      </p:sp>
      <p:sp>
        <p:nvSpPr>
          <p:cNvPr id="40" name="Shape 38"/>
          <p:cNvSpPr/>
          <p:nvPr/>
        </p:nvSpPr>
        <p:spPr>
          <a:xfrm>
            <a:off x="484187" y="459581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D99AE"/>
          </a:solidFill>
          <a:ln/>
        </p:spPr>
        <p:txBody>
          <a:bodyPr/>
          <a:lstStyle/>
          <a:p>
            <a:endParaRPr lang="en-US"/>
          </a:p>
        </p:txBody>
      </p:sp>
      <p:sp>
        <p:nvSpPr>
          <p:cNvPr id="41" name="Text 39"/>
          <p:cNvSpPr/>
          <p:nvPr/>
        </p:nvSpPr>
        <p:spPr>
          <a:xfrm>
            <a:off x="444500" y="4595813"/>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2" name="Text 40"/>
          <p:cNvSpPr/>
          <p:nvPr/>
        </p:nvSpPr>
        <p:spPr>
          <a:xfrm>
            <a:off x="960438" y="4659313"/>
            <a:ext cx="68262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Duplex</a:t>
            </a:r>
            <a:endParaRPr lang="en-US" sz="1600" dirty="0"/>
          </a:p>
        </p:txBody>
      </p:sp>
      <p:sp>
        <p:nvSpPr>
          <p:cNvPr id="43" name="Shape 41"/>
          <p:cNvSpPr/>
          <p:nvPr/>
        </p:nvSpPr>
        <p:spPr>
          <a:xfrm>
            <a:off x="484187" y="5103813"/>
            <a:ext cx="5365750" cy="571500"/>
          </a:xfrm>
          <a:custGeom>
            <a:avLst/>
            <a:gdLst/>
            <a:ahLst/>
            <a:cxnLst/>
            <a:rect l="l" t="t" r="r" b="b"/>
            <a:pathLst>
              <a:path w="5365750" h="571500">
                <a:moveTo>
                  <a:pt x="63499" y="0"/>
                </a:moveTo>
                <a:lnTo>
                  <a:pt x="5302251" y="0"/>
                </a:lnTo>
                <a:cubicBezTo>
                  <a:pt x="5337320" y="0"/>
                  <a:pt x="5365750" y="28430"/>
                  <a:pt x="5365750" y="63499"/>
                </a:cubicBezTo>
                <a:lnTo>
                  <a:pt x="5365750" y="508001"/>
                </a:lnTo>
                <a:cubicBezTo>
                  <a:pt x="5365750" y="543070"/>
                  <a:pt x="5337320" y="571500"/>
                  <a:pt x="53022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44" name="Text 42"/>
          <p:cNvSpPr/>
          <p:nvPr/>
        </p:nvSpPr>
        <p:spPr>
          <a:xfrm>
            <a:off x="579438" y="5199063"/>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Purpose</a:t>
            </a:r>
            <a:endParaRPr lang="en-US" sz="1600" dirty="0"/>
          </a:p>
        </p:txBody>
      </p:sp>
      <p:sp>
        <p:nvSpPr>
          <p:cNvPr id="45" name="Text 43"/>
          <p:cNvSpPr/>
          <p:nvPr/>
        </p:nvSpPr>
        <p:spPr>
          <a:xfrm>
            <a:off x="579438" y="538956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Both readable and writable - bidirectional</a:t>
            </a:r>
            <a:endParaRPr lang="en-US" sz="1600" dirty="0"/>
          </a:p>
        </p:txBody>
      </p:sp>
      <p:sp>
        <p:nvSpPr>
          <p:cNvPr id="46" name="Shape 44"/>
          <p:cNvSpPr/>
          <p:nvPr/>
        </p:nvSpPr>
        <p:spPr>
          <a:xfrm>
            <a:off x="484187" y="5770563"/>
            <a:ext cx="5365750" cy="1016000"/>
          </a:xfrm>
          <a:custGeom>
            <a:avLst/>
            <a:gdLst/>
            <a:ahLst/>
            <a:cxnLst/>
            <a:rect l="l" t="t" r="r" b="b"/>
            <a:pathLst>
              <a:path w="5365750" h="1016000">
                <a:moveTo>
                  <a:pt x="63500" y="0"/>
                </a:moveTo>
                <a:lnTo>
                  <a:pt x="5302250" y="0"/>
                </a:lnTo>
                <a:cubicBezTo>
                  <a:pt x="5337297" y="0"/>
                  <a:pt x="5365750" y="28453"/>
                  <a:pt x="5365750" y="63500"/>
                </a:cubicBezTo>
                <a:lnTo>
                  <a:pt x="5365750" y="952500"/>
                </a:lnTo>
                <a:cubicBezTo>
                  <a:pt x="5365750" y="987547"/>
                  <a:pt x="5337297" y="1016000"/>
                  <a:pt x="5302250" y="1016000"/>
                </a:cubicBezTo>
                <a:lnTo>
                  <a:pt x="63500" y="1016000"/>
                </a:lnTo>
                <a:cubicBezTo>
                  <a:pt x="28453" y="1016000"/>
                  <a:pt x="0" y="987547"/>
                  <a:pt x="0" y="952500"/>
                </a:cubicBezTo>
                <a:lnTo>
                  <a:pt x="0" y="63500"/>
                </a:lnTo>
                <a:cubicBezTo>
                  <a:pt x="0" y="28453"/>
                  <a:pt x="28453" y="0"/>
                  <a:pt x="63500" y="0"/>
                </a:cubicBezTo>
                <a:close/>
              </a:path>
            </a:pathLst>
          </a:custGeom>
          <a:solidFill>
            <a:srgbClr val="EAE7D6"/>
          </a:solidFill>
          <a:ln/>
        </p:spPr>
        <p:txBody>
          <a:bodyPr/>
          <a:lstStyle/>
          <a:p>
            <a:endParaRPr lang="en-US"/>
          </a:p>
        </p:txBody>
      </p:sp>
      <p:sp>
        <p:nvSpPr>
          <p:cNvPr id="47" name="Text 45"/>
          <p:cNvSpPr/>
          <p:nvPr/>
        </p:nvSpPr>
        <p:spPr>
          <a:xfrm>
            <a:off x="579438" y="5865813"/>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Examples</a:t>
            </a:r>
            <a:endParaRPr lang="en-US" sz="1600" dirty="0"/>
          </a:p>
        </p:txBody>
      </p:sp>
      <p:sp>
        <p:nvSpPr>
          <p:cNvPr id="48" name="Text 46"/>
          <p:cNvSpPr/>
          <p:nvPr/>
        </p:nvSpPr>
        <p:spPr>
          <a:xfrm>
            <a:off x="579438" y="605631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TCP sockets (net.Socket)</a:t>
            </a:r>
            <a:endParaRPr lang="en-US" sz="1600" dirty="0"/>
          </a:p>
        </p:txBody>
      </p:sp>
      <p:sp>
        <p:nvSpPr>
          <p:cNvPr id="49" name="Text 47"/>
          <p:cNvSpPr/>
          <p:nvPr/>
        </p:nvSpPr>
        <p:spPr>
          <a:xfrm>
            <a:off x="579438" y="627856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TLS/SSL sockets</a:t>
            </a:r>
            <a:endParaRPr lang="en-US" sz="1600" dirty="0"/>
          </a:p>
        </p:txBody>
      </p:sp>
      <p:sp>
        <p:nvSpPr>
          <p:cNvPr id="50" name="Text 48"/>
          <p:cNvSpPr/>
          <p:nvPr/>
        </p:nvSpPr>
        <p:spPr>
          <a:xfrm>
            <a:off x="579438" y="650081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WebSocket connections</a:t>
            </a:r>
            <a:endParaRPr lang="en-US" sz="1600" dirty="0"/>
          </a:p>
        </p:txBody>
      </p:sp>
      <p:sp>
        <p:nvSpPr>
          <p:cNvPr id="51" name="Shape 49"/>
          <p:cNvSpPr/>
          <p:nvPr/>
        </p:nvSpPr>
        <p:spPr>
          <a:xfrm>
            <a:off x="500063" y="6881813"/>
            <a:ext cx="5349875" cy="571500"/>
          </a:xfrm>
          <a:custGeom>
            <a:avLst/>
            <a:gdLst/>
            <a:ahLst/>
            <a:cxnLst/>
            <a:rect l="l" t="t" r="r" b="b"/>
            <a:pathLst>
              <a:path w="5349875" h="571500">
                <a:moveTo>
                  <a:pt x="31750" y="0"/>
                </a:moveTo>
                <a:lnTo>
                  <a:pt x="5286376" y="0"/>
                </a:lnTo>
                <a:cubicBezTo>
                  <a:pt x="5321445" y="0"/>
                  <a:pt x="5349875" y="28430"/>
                  <a:pt x="5349875" y="63499"/>
                </a:cubicBezTo>
                <a:lnTo>
                  <a:pt x="5349875" y="508001"/>
                </a:lnTo>
                <a:cubicBezTo>
                  <a:pt x="5349875" y="543070"/>
                  <a:pt x="5321445" y="571500"/>
                  <a:pt x="5286376" y="571500"/>
                </a:cubicBezTo>
                <a:lnTo>
                  <a:pt x="31750" y="571500"/>
                </a:lnTo>
                <a:cubicBezTo>
                  <a:pt x="14227" y="571500"/>
                  <a:pt x="0" y="557273"/>
                  <a:pt x="0" y="539750"/>
                </a:cubicBezTo>
                <a:lnTo>
                  <a:pt x="0" y="31750"/>
                </a:lnTo>
                <a:cubicBezTo>
                  <a:pt x="0" y="14227"/>
                  <a:pt x="14227" y="0"/>
                  <a:pt x="31750" y="0"/>
                </a:cubicBezTo>
                <a:close/>
              </a:path>
            </a:pathLst>
          </a:custGeom>
          <a:solidFill>
            <a:srgbClr val="EAE7D6"/>
          </a:solidFill>
          <a:ln/>
        </p:spPr>
        <p:txBody>
          <a:bodyPr/>
          <a:lstStyle/>
          <a:p>
            <a:endParaRPr lang="en-US"/>
          </a:p>
        </p:txBody>
      </p:sp>
      <p:sp>
        <p:nvSpPr>
          <p:cNvPr id="52" name="Shape 50"/>
          <p:cNvSpPr/>
          <p:nvPr/>
        </p:nvSpPr>
        <p:spPr>
          <a:xfrm>
            <a:off x="500063" y="6881813"/>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2D3142"/>
          </a:solidFill>
          <a:ln/>
        </p:spPr>
        <p:txBody>
          <a:bodyPr/>
          <a:lstStyle/>
          <a:p>
            <a:endParaRPr lang="en-US"/>
          </a:p>
        </p:txBody>
      </p:sp>
      <p:sp>
        <p:nvSpPr>
          <p:cNvPr id="53" name="Text 51"/>
          <p:cNvSpPr/>
          <p:nvPr/>
        </p:nvSpPr>
        <p:spPr>
          <a:xfrm>
            <a:off x="611188" y="6977063"/>
            <a:ext cx="5199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Real-world</a:t>
            </a:r>
            <a:endParaRPr lang="en-US" sz="1600" dirty="0"/>
          </a:p>
        </p:txBody>
      </p:sp>
      <p:sp>
        <p:nvSpPr>
          <p:cNvPr id="54" name="Text 52"/>
          <p:cNvSpPr/>
          <p:nvPr/>
        </p:nvSpPr>
        <p:spPr>
          <a:xfrm>
            <a:off x="611188" y="7167563"/>
            <a:ext cx="52070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Chat apps, network protocols</a:t>
            </a:r>
            <a:endParaRPr lang="en-US" sz="1600" dirty="0"/>
          </a:p>
        </p:txBody>
      </p:sp>
      <p:sp>
        <p:nvSpPr>
          <p:cNvPr id="55" name="Shape 53"/>
          <p:cNvSpPr/>
          <p:nvPr/>
        </p:nvSpPr>
        <p:spPr>
          <a:xfrm>
            <a:off x="6179344" y="4433094"/>
            <a:ext cx="5691188" cy="3182938"/>
          </a:xfrm>
          <a:custGeom>
            <a:avLst/>
            <a:gdLst/>
            <a:ahLst/>
            <a:cxnLst/>
            <a:rect l="l" t="t" r="r" b="b"/>
            <a:pathLst>
              <a:path w="5691188" h="3182938">
                <a:moveTo>
                  <a:pt x="95265" y="0"/>
                </a:moveTo>
                <a:lnTo>
                  <a:pt x="5595922" y="0"/>
                </a:lnTo>
                <a:cubicBezTo>
                  <a:pt x="5648536" y="0"/>
                  <a:pt x="5691188" y="42652"/>
                  <a:pt x="5691188" y="95265"/>
                </a:cubicBezTo>
                <a:lnTo>
                  <a:pt x="5691188" y="3087672"/>
                </a:lnTo>
                <a:cubicBezTo>
                  <a:pt x="5691187" y="3140286"/>
                  <a:pt x="5648536" y="3182938"/>
                  <a:pt x="5595922" y="3182938"/>
                </a:cubicBezTo>
                <a:lnTo>
                  <a:pt x="95265" y="3182938"/>
                </a:lnTo>
                <a:cubicBezTo>
                  <a:pt x="42652" y="3182938"/>
                  <a:pt x="0" y="3140286"/>
                  <a:pt x="0" y="3087672"/>
                </a:cubicBezTo>
                <a:lnTo>
                  <a:pt x="0" y="95265"/>
                </a:lnTo>
                <a:cubicBezTo>
                  <a:pt x="0" y="42687"/>
                  <a:pt x="42687" y="0"/>
                  <a:pt x="95265" y="0"/>
                </a:cubicBezTo>
                <a:close/>
              </a:path>
            </a:pathLst>
          </a:custGeom>
          <a:solidFill>
            <a:srgbClr val="EAE7D6"/>
          </a:solidFill>
          <a:ln/>
        </p:spPr>
        <p:txBody>
          <a:bodyPr/>
          <a:lstStyle/>
          <a:p>
            <a:endParaRPr lang="en-US"/>
          </a:p>
        </p:txBody>
      </p:sp>
      <p:sp>
        <p:nvSpPr>
          <p:cNvPr id="56" name="Shape 54"/>
          <p:cNvSpPr/>
          <p:nvPr/>
        </p:nvSpPr>
        <p:spPr>
          <a:xfrm>
            <a:off x="6342063" y="459581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57" name="Text 55"/>
          <p:cNvSpPr/>
          <p:nvPr/>
        </p:nvSpPr>
        <p:spPr>
          <a:xfrm>
            <a:off x="6302375" y="4595813"/>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58" name="Text 56"/>
          <p:cNvSpPr/>
          <p:nvPr/>
        </p:nvSpPr>
        <p:spPr>
          <a:xfrm>
            <a:off x="6818313" y="4659313"/>
            <a:ext cx="944563"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Transform</a:t>
            </a:r>
            <a:endParaRPr lang="en-US" sz="1600" dirty="0"/>
          </a:p>
        </p:txBody>
      </p:sp>
      <p:sp>
        <p:nvSpPr>
          <p:cNvPr id="59" name="Shape 57"/>
          <p:cNvSpPr/>
          <p:nvPr/>
        </p:nvSpPr>
        <p:spPr>
          <a:xfrm>
            <a:off x="6342063" y="5103813"/>
            <a:ext cx="5365750" cy="571500"/>
          </a:xfrm>
          <a:custGeom>
            <a:avLst/>
            <a:gdLst/>
            <a:ahLst/>
            <a:cxnLst/>
            <a:rect l="l" t="t" r="r" b="b"/>
            <a:pathLst>
              <a:path w="5365750" h="571500">
                <a:moveTo>
                  <a:pt x="63499" y="0"/>
                </a:moveTo>
                <a:lnTo>
                  <a:pt x="5302251" y="0"/>
                </a:lnTo>
                <a:cubicBezTo>
                  <a:pt x="5337320" y="0"/>
                  <a:pt x="5365750" y="28430"/>
                  <a:pt x="5365750" y="63499"/>
                </a:cubicBezTo>
                <a:lnTo>
                  <a:pt x="5365750" y="508001"/>
                </a:lnTo>
                <a:cubicBezTo>
                  <a:pt x="5365750" y="543070"/>
                  <a:pt x="5337320" y="571500"/>
                  <a:pt x="53022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60" name="Text 58"/>
          <p:cNvSpPr/>
          <p:nvPr/>
        </p:nvSpPr>
        <p:spPr>
          <a:xfrm>
            <a:off x="6437313" y="5199063"/>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Purpose</a:t>
            </a:r>
            <a:endParaRPr lang="en-US" sz="1600" dirty="0"/>
          </a:p>
        </p:txBody>
      </p:sp>
      <p:sp>
        <p:nvSpPr>
          <p:cNvPr id="61" name="Text 59"/>
          <p:cNvSpPr/>
          <p:nvPr/>
        </p:nvSpPr>
        <p:spPr>
          <a:xfrm>
            <a:off x="6437313" y="538956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Duplex that modifies/transforms data</a:t>
            </a:r>
            <a:endParaRPr lang="en-US" sz="1600" dirty="0"/>
          </a:p>
        </p:txBody>
      </p:sp>
      <p:sp>
        <p:nvSpPr>
          <p:cNvPr id="62" name="Shape 60"/>
          <p:cNvSpPr/>
          <p:nvPr/>
        </p:nvSpPr>
        <p:spPr>
          <a:xfrm>
            <a:off x="6342063" y="5770563"/>
            <a:ext cx="5365750" cy="1016000"/>
          </a:xfrm>
          <a:custGeom>
            <a:avLst/>
            <a:gdLst/>
            <a:ahLst/>
            <a:cxnLst/>
            <a:rect l="l" t="t" r="r" b="b"/>
            <a:pathLst>
              <a:path w="5365750" h="1016000">
                <a:moveTo>
                  <a:pt x="63500" y="0"/>
                </a:moveTo>
                <a:lnTo>
                  <a:pt x="5302250" y="0"/>
                </a:lnTo>
                <a:cubicBezTo>
                  <a:pt x="5337297" y="0"/>
                  <a:pt x="5365750" y="28453"/>
                  <a:pt x="5365750" y="63500"/>
                </a:cubicBezTo>
                <a:lnTo>
                  <a:pt x="5365750" y="952500"/>
                </a:lnTo>
                <a:cubicBezTo>
                  <a:pt x="5365750" y="987547"/>
                  <a:pt x="5337297" y="1016000"/>
                  <a:pt x="5302250" y="1016000"/>
                </a:cubicBezTo>
                <a:lnTo>
                  <a:pt x="63500" y="1016000"/>
                </a:lnTo>
                <a:cubicBezTo>
                  <a:pt x="28453" y="1016000"/>
                  <a:pt x="0" y="987547"/>
                  <a:pt x="0" y="952500"/>
                </a:cubicBezTo>
                <a:lnTo>
                  <a:pt x="0" y="63500"/>
                </a:lnTo>
                <a:cubicBezTo>
                  <a:pt x="0" y="28453"/>
                  <a:pt x="28453" y="0"/>
                  <a:pt x="63500" y="0"/>
                </a:cubicBezTo>
                <a:close/>
              </a:path>
            </a:pathLst>
          </a:custGeom>
          <a:solidFill>
            <a:srgbClr val="EAE7D6"/>
          </a:solidFill>
          <a:ln/>
        </p:spPr>
        <p:txBody>
          <a:bodyPr/>
          <a:lstStyle/>
          <a:p>
            <a:endParaRPr lang="en-US"/>
          </a:p>
        </p:txBody>
      </p:sp>
      <p:sp>
        <p:nvSpPr>
          <p:cNvPr id="63" name="Text 61"/>
          <p:cNvSpPr/>
          <p:nvPr/>
        </p:nvSpPr>
        <p:spPr>
          <a:xfrm>
            <a:off x="6437313" y="5865813"/>
            <a:ext cx="5230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Examples</a:t>
            </a:r>
            <a:endParaRPr lang="en-US" sz="1600" dirty="0"/>
          </a:p>
        </p:txBody>
      </p:sp>
      <p:sp>
        <p:nvSpPr>
          <p:cNvPr id="64" name="Text 62"/>
          <p:cNvSpPr/>
          <p:nvPr/>
        </p:nvSpPr>
        <p:spPr>
          <a:xfrm>
            <a:off x="6437313" y="605631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zlib compression streams</a:t>
            </a:r>
            <a:endParaRPr lang="en-US" sz="1600" dirty="0"/>
          </a:p>
        </p:txBody>
      </p:sp>
      <p:sp>
        <p:nvSpPr>
          <p:cNvPr id="65" name="Text 63"/>
          <p:cNvSpPr/>
          <p:nvPr/>
        </p:nvSpPr>
        <p:spPr>
          <a:xfrm>
            <a:off x="6437313" y="627856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crypto encryption streams</a:t>
            </a:r>
            <a:endParaRPr lang="en-US" sz="1600" dirty="0"/>
          </a:p>
        </p:txBody>
      </p:sp>
      <p:sp>
        <p:nvSpPr>
          <p:cNvPr id="66" name="Text 64"/>
          <p:cNvSpPr/>
          <p:nvPr/>
        </p:nvSpPr>
        <p:spPr>
          <a:xfrm>
            <a:off x="6437313" y="6500813"/>
            <a:ext cx="5238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CSV parsers, JSON transformers</a:t>
            </a:r>
            <a:endParaRPr lang="en-US" sz="1600" dirty="0"/>
          </a:p>
        </p:txBody>
      </p:sp>
      <p:sp>
        <p:nvSpPr>
          <p:cNvPr id="67" name="Shape 65"/>
          <p:cNvSpPr/>
          <p:nvPr/>
        </p:nvSpPr>
        <p:spPr>
          <a:xfrm>
            <a:off x="6357938" y="6881813"/>
            <a:ext cx="5349875" cy="571500"/>
          </a:xfrm>
          <a:custGeom>
            <a:avLst/>
            <a:gdLst/>
            <a:ahLst/>
            <a:cxnLst/>
            <a:rect l="l" t="t" r="r" b="b"/>
            <a:pathLst>
              <a:path w="5349875" h="571500">
                <a:moveTo>
                  <a:pt x="31750" y="0"/>
                </a:moveTo>
                <a:lnTo>
                  <a:pt x="5286376" y="0"/>
                </a:lnTo>
                <a:cubicBezTo>
                  <a:pt x="5321445" y="0"/>
                  <a:pt x="5349875" y="28430"/>
                  <a:pt x="5349875" y="63499"/>
                </a:cubicBezTo>
                <a:lnTo>
                  <a:pt x="5349875" y="508001"/>
                </a:lnTo>
                <a:cubicBezTo>
                  <a:pt x="5349875" y="543070"/>
                  <a:pt x="5321445" y="571500"/>
                  <a:pt x="5286376" y="571500"/>
                </a:cubicBezTo>
                <a:lnTo>
                  <a:pt x="31750" y="571500"/>
                </a:lnTo>
                <a:cubicBezTo>
                  <a:pt x="14227" y="571500"/>
                  <a:pt x="0" y="557273"/>
                  <a:pt x="0" y="539750"/>
                </a:cubicBezTo>
                <a:lnTo>
                  <a:pt x="0" y="31750"/>
                </a:lnTo>
                <a:cubicBezTo>
                  <a:pt x="0" y="14227"/>
                  <a:pt x="14227" y="0"/>
                  <a:pt x="31750" y="0"/>
                </a:cubicBezTo>
                <a:close/>
              </a:path>
            </a:pathLst>
          </a:custGeom>
          <a:solidFill>
            <a:srgbClr val="EAE7D6"/>
          </a:solidFill>
          <a:ln/>
        </p:spPr>
        <p:txBody>
          <a:bodyPr/>
          <a:lstStyle/>
          <a:p>
            <a:endParaRPr lang="en-US"/>
          </a:p>
        </p:txBody>
      </p:sp>
      <p:sp>
        <p:nvSpPr>
          <p:cNvPr id="68" name="Shape 66"/>
          <p:cNvSpPr/>
          <p:nvPr/>
        </p:nvSpPr>
        <p:spPr>
          <a:xfrm>
            <a:off x="6357938" y="6881813"/>
            <a:ext cx="31750" cy="571500"/>
          </a:xfrm>
          <a:custGeom>
            <a:avLst/>
            <a:gdLst/>
            <a:ahLst/>
            <a:cxnLst/>
            <a:rect l="l" t="t" r="r" b="b"/>
            <a:pathLst>
              <a:path w="31750" h="571500">
                <a:moveTo>
                  <a:pt x="31750" y="0"/>
                </a:moveTo>
                <a:lnTo>
                  <a:pt x="31750" y="0"/>
                </a:lnTo>
                <a:lnTo>
                  <a:pt x="31750" y="571500"/>
                </a:lnTo>
                <a:lnTo>
                  <a:pt x="31750" y="571500"/>
                </a:lnTo>
                <a:cubicBezTo>
                  <a:pt x="14227" y="571500"/>
                  <a:pt x="0" y="557273"/>
                  <a:pt x="0" y="539750"/>
                </a:cubicBezTo>
                <a:lnTo>
                  <a:pt x="0" y="31750"/>
                </a:lnTo>
                <a:cubicBezTo>
                  <a:pt x="0" y="14227"/>
                  <a:pt x="14227" y="0"/>
                  <a:pt x="31750" y="0"/>
                </a:cubicBezTo>
                <a:close/>
              </a:path>
            </a:pathLst>
          </a:custGeom>
          <a:solidFill>
            <a:srgbClr val="8D99AE"/>
          </a:solidFill>
          <a:ln/>
        </p:spPr>
        <p:txBody>
          <a:bodyPr/>
          <a:lstStyle/>
          <a:p>
            <a:endParaRPr lang="en-US"/>
          </a:p>
        </p:txBody>
      </p:sp>
      <p:sp>
        <p:nvSpPr>
          <p:cNvPr id="69" name="Text 67"/>
          <p:cNvSpPr/>
          <p:nvPr/>
        </p:nvSpPr>
        <p:spPr>
          <a:xfrm>
            <a:off x="6469063" y="6977063"/>
            <a:ext cx="51990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Use Cases</a:t>
            </a:r>
            <a:endParaRPr lang="en-US" sz="1600" dirty="0"/>
          </a:p>
        </p:txBody>
      </p:sp>
      <p:sp>
        <p:nvSpPr>
          <p:cNvPr id="70" name="Text 68"/>
          <p:cNvSpPr/>
          <p:nvPr/>
        </p:nvSpPr>
        <p:spPr>
          <a:xfrm>
            <a:off x="6469063" y="7167563"/>
            <a:ext cx="52070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Compression, encryption, parsing</a:t>
            </a:r>
            <a:endParaRPr lang="en-US" sz="1600" dirty="0"/>
          </a:p>
        </p:txBody>
      </p:sp>
      <p:sp>
        <p:nvSpPr>
          <p:cNvPr id="71" name="Shape 69"/>
          <p:cNvSpPr/>
          <p:nvPr/>
        </p:nvSpPr>
        <p:spPr>
          <a:xfrm>
            <a:off x="321469" y="7750969"/>
            <a:ext cx="11549063" cy="674688"/>
          </a:xfrm>
          <a:custGeom>
            <a:avLst/>
            <a:gdLst/>
            <a:ahLst/>
            <a:cxnLst/>
            <a:rect l="l" t="t" r="r" b="b"/>
            <a:pathLst>
              <a:path w="11549063" h="674688">
                <a:moveTo>
                  <a:pt x="63502" y="0"/>
                </a:moveTo>
                <a:lnTo>
                  <a:pt x="11485561" y="0"/>
                </a:lnTo>
                <a:cubicBezTo>
                  <a:pt x="11520632" y="0"/>
                  <a:pt x="11549063" y="28431"/>
                  <a:pt x="11549063" y="63502"/>
                </a:cubicBezTo>
                <a:lnTo>
                  <a:pt x="11549063" y="611186"/>
                </a:lnTo>
                <a:cubicBezTo>
                  <a:pt x="11549062" y="646257"/>
                  <a:pt x="11520632" y="674688"/>
                  <a:pt x="11485561" y="674688"/>
                </a:cubicBezTo>
                <a:lnTo>
                  <a:pt x="63502" y="674688"/>
                </a:lnTo>
                <a:cubicBezTo>
                  <a:pt x="28431" y="674688"/>
                  <a:pt x="0" y="646257"/>
                  <a:pt x="0" y="611186"/>
                </a:cubicBezTo>
                <a:lnTo>
                  <a:pt x="0" y="63502"/>
                </a:lnTo>
                <a:cubicBezTo>
                  <a:pt x="0" y="28454"/>
                  <a:pt x="28454" y="0"/>
                  <a:pt x="63502" y="0"/>
                </a:cubicBezTo>
                <a:close/>
              </a:path>
            </a:pathLst>
          </a:custGeom>
          <a:solidFill>
            <a:srgbClr val="EAE7D6"/>
          </a:solidFill>
          <a:ln/>
        </p:spPr>
        <p:txBody>
          <a:bodyPr/>
          <a:lstStyle/>
          <a:p>
            <a:endParaRPr lang="en-US"/>
          </a:p>
        </p:txBody>
      </p:sp>
      <p:sp>
        <p:nvSpPr>
          <p:cNvPr id="72" name="Shape 70"/>
          <p:cNvSpPr/>
          <p:nvPr/>
        </p:nvSpPr>
        <p:spPr>
          <a:xfrm>
            <a:off x="472281" y="8008938"/>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8D99AE"/>
          </a:solidFill>
          <a:ln/>
        </p:spPr>
        <p:txBody>
          <a:bodyPr/>
          <a:lstStyle/>
          <a:p>
            <a:endParaRPr lang="en-US"/>
          </a:p>
        </p:txBody>
      </p:sp>
      <p:sp>
        <p:nvSpPr>
          <p:cNvPr id="73" name="Text 71"/>
          <p:cNvSpPr/>
          <p:nvPr/>
        </p:nvSpPr>
        <p:spPr>
          <a:xfrm>
            <a:off x="746125" y="7881937"/>
            <a:ext cx="757237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Senior Interview Expectation</a:t>
            </a:r>
            <a:endParaRPr lang="en-US" sz="1600" dirty="0"/>
          </a:p>
        </p:txBody>
      </p:sp>
      <p:sp>
        <p:nvSpPr>
          <p:cNvPr id="74" name="Text 72"/>
          <p:cNvSpPr/>
          <p:nvPr/>
        </p:nvSpPr>
        <p:spPr>
          <a:xfrm>
            <a:off x="746125" y="8104187"/>
            <a:ext cx="7564438"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Be prepared to explain all four types with concrete examples, their inheritance hierarchy (all extend EventEmitter), and when to use each.</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28183" y="377410"/>
            <a:ext cx="393820" cy="393820"/>
          </a:xfrm>
          <a:custGeom>
            <a:avLst/>
            <a:gdLst/>
            <a:ahLst/>
            <a:cxnLst/>
            <a:rect l="l" t="t" r="r" b="b"/>
            <a:pathLst>
              <a:path w="393820" h="393820">
                <a:moveTo>
                  <a:pt x="65638" y="0"/>
                </a:moveTo>
                <a:lnTo>
                  <a:pt x="328182" y="0"/>
                </a:lnTo>
                <a:cubicBezTo>
                  <a:pt x="364408" y="0"/>
                  <a:pt x="393820" y="29411"/>
                  <a:pt x="393820" y="65638"/>
                </a:cubicBezTo>
                <a:lnTo>
                  <a:pt x="393820" y="328182"/>
                </a:lnTo>
                <a:cubicBezTo>
                  <a:pt x="393820" y="364408"/>
                  <a:pt x="364408" y="393820"/>
                  <a:pt x="328182" y="393820"/>
                </a:cubicBezTo>
                <a:lnTo>
                  <a:pt x="65638" y="393820"/>
                </a:lnTo>
                <a:cubicBezTo>
                  <a:pt x="29411" y="393820"/>
                  <a:pt x="0" y="364408"/>
                  <a:pt x="0" y="328182"/>
                </a:cubicBezTo>
                <a:lnTo>
                  <a:pt x="0" y="65638"/>
                </a:lnTo>
                <a:cubicBezTo>
                  <a:pt x="0" y="29387"/>
                  <a:pt x="29387" y="0"/>
                  <a:pt x="65638"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63559" y="492275"/>
            <a:ext cx="123069" cy="164092"/>
          </a:xfrm>
          <a:custGeom>
            <a:avLst/>
            <a:gdLst/>
            <a:ahLst/>
            <a:cxnLst/>
            <a:rect l="l" t="t" r="r" b="b"/>
            <a:pathLst>
              <a:path w="123069" h="164092">
                <a:moveTo>
                  <a:pt x="54291" y="161079"/>
                </a:moveTo>
                <a:cubicBezTo>
                  <a:pt x="58297" y="165085"/>
                  <a:pt x="64803" y="165085"/>
                  <a:pt x="68809" y="161079"/>
                </a:cubicBezTo>
                <a:lnTo>
                  <a:pt x="120088" y="109800"/>
                </a:lnTo>
                <a:cubicBezTo>
                  <a:pt x="124094" y="105794"/>
                  <a:pt x="124094" y="99288"/>
                  <a:pt x="120088" y="95282"/>
                </a:cubicBezTo>
                <a:cubicBezTo>
                  <a:pt x="116082" y="91276"/>
                  <a:pt x="109576" y="91276"/>
                  <a:pt x="105570" y="95282"/>
                </a:cubicBezTo>
                <a:lnTo>
                  <a:pt x="71790" y="129062"/>
                </a:lnTo>
                <a:lnTo>
                  <a:pt x="71790" y="10256"/>
                </a:lnTo>
                <a:cubicBezTo>
                  <a:pt x="71790" y="4583"/>
                  <a:pt x="67207" y="0"/>
                  <a:pt x="61534" y="0"/>
                </a:cubicBezTo>
                <a:cubicBezTo>
                  <a:pt x="55862" y="0"/>
                  <a:pt x="51279" y="4583"/>
                  <a:pt x="51279" y="10256"/>
                </a:cubicBezTo>
                <a:lnTo>
                  <a:pt x="51279" y="129062"/>
                </a:lnTo>
                <a:lnTo>
                  <a:pt x="17499" y="95282"/>
                </a:lnTo>
                <a:cubicBezTo>
                  <a:pt x="13493" y="91276"/>
                  <a:pt x="6987" y="91276"/>
                  <a:pt x="2981" y="95282"/>
                </a:cubicBezTo>
                <a:cubicBezTo>
                  <a:pt x="-1026" y="99288"/>
                  <a:pt x="-1026" y="105794"/>
                  <a:pt x="2981" y="109800"/>
                </a:cubicBezTo>
                <a:lnTo>
                  <a:pt x="54259" y="161079"/>
                </a:lnTo>
                <a:close/>
              </a:path>
            </a:pathLst>
          </a:custGeom>
          <a:solidFill>
            <a:srgbClr val="FFFFFF"/>
          </a:solidFill>
          <a:ln/>
        </p:spPr>
        <p:txBody>
          <a:bodyPr/>
          <a:lstStyle/>
          <a:p>
            <a:endParaRPr lang="en-US"/>
          </a:p>
        </p:txBody>
      </p:sp>
      <p:sp>
        <p:nvSpPr>
          <p:cNvPr id="4" name="Text 2"/>
          <p:cNvSpPr/>
          <p:nvPr/>
        </p:nvSpPr>
        <p:spPr>
          <a:xfrm>
            <a:off x="820458" y="328183"/>
            <a:ext cx="2272668" cy="164092"/>
          </a:xfrm>
          <a:prstGeom prst="rect">
            <a:avLst/>
          </a:prstGeom>
          <a:noFill/>
          <a:ln/>
        </p:spPr>
        <p:txBody>
          <a:bodyPr wrap="square" lIns="0" tIns="0" rIns="0" bIns="0" rtlCol="0" anchor="ctr"/>
          <a:lstStyle/>
          <a:p>
            <a:pPr>
              <a:lnSpc>
                <a:spcPct val="120000"/>
              </a:lnSpc>
            </a:pPr>
            <a:r>
              <a:rPr lang="en-US" sz="904" b="1" kern="0" spc="45" dirty="0">
                <a:solidFill>
                  <a:srgbClr val="8D99AE"/>
                </a:solidFill>
                <a:latin typeface="Quattrocento Sans" pitchFamily="34" charset="0"/>
                <a:ea typeface="Quattrocento Sans" pitchFamily="34" charset="-122"/>
                <a:cs typeface="Quattrocento Sans" pitchFamily="34" charset="-120"/>
              </a:rPr>
              <a:t>Type 1</a:t>
            </a:r>
            <a:endParaRPr lang="en-US" sz="1600" dirty="0"/>
          </a:p>
        </p:txBody>
      </p:sp>
      <p:sp>
        <p:nvSpPr>
          <p:cNvPr id="5" name="Text 3"/>
          <p:cNvSpPr/>
          <p:nvPr/>
        </p:nvSpPr>
        <p:spPr>
          <a:xfrm>
            <a:off x="820458" y="492275"/>
            <a:ext cx="2362918" cy="328183"/>
          </a:xfrm>
          <a:prstGeom prst="rect">
            <a:avLst/>
          </a:prstGeom>
          <a:noFill/>
          <a:ln/>
        </p:spPr>
        <p:txBody>
          <a:bodyPr wrap="square" lIns="0" tIns="0" rIns="0" bIns="0" rtlCol="0" anchor="ctr"/>
          <a:lstStyle/>
          <a:p>
            <a:pPr>
              <a:lnSpc>
                <a:spcPct val="90000"/>
              </a:lnSpc>
            </a:pPr>
            <a:r>
              <a:rPr lang="en-US" sz="2326" b="1" dirty="0">
                <a:solidFill>
                  <a:srgbClr val="2D3142"/>
                </a:solidFill>
                <a:latin typeface="Liter" pitchFamily="34" charset="0"/>
                <a:ea typeface="Liter" pitchFamily="34" charset="-122"/>
                <a:cs typeface="Liter" pitchFamily="34" charset="-120"/>
              </a:rPr>
              <a:t>Readable Stream</a:t>
            </a:r>
            <a:endParaRPr lang="en-US" sz="1600" dirty="0"/>
          </a:p>
        </p:txBody>
      </p:sp>
      <p:sp>
        <p:nvSpPr>
          <p:cNvPr id="6" name="Shape 4"/>
          <p:cNvSpPr/>
          <p:nvPr/>
        </p:nvSpPr>
        <p:spPr>
          <a:xfrm>
            <a:off x="328183" y="918913"/>
            <a:ext cx="1050186" cy="32818"/>
          </a:xfrm>
          <a:custGeom>
            <a:avLst/>
            <a:gdLst/>
            <a:ahLst/>
            <a:cxnLst/>
            <a:rect l="l" t="t" r="r" b="b"/>
            <a:pathLst>
              <a:path w="1050186" h="32818">
                <a:moveTo>
                  <a:pt x="0" y="0"/>
                </a:moveTo>
                <a:lnTo>
                  <a:pt x="1050186" y="0"/>
                </a:lnTo>
                <a:lnTo>
                  <a:pt x="1050186" y="32818"/>
                </a:lnTo>
                <a:lnTo>
                  <a:pt x="0" y="32818"/>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32285" y="1119925"/>
            <a:ext cx="6243682" cy="2174213"/>
          </a:xfrm>
          <a:custGeom>
            <a:avLst/>
            <a:gdLst/>
            <a:ahLst/>
            <a:cxnLst/>
            <a:rect l="l" t="t" r="r" b="b"/>
            <a:pathLst>
              <a:path w="6243682" h="2174213">
                <a:moveTo>
                  <a:pt x="98448" y="0"/>
                </a:moveTo>
                <a:lnTo>
                  <a:pt x="6145234" y="0"/>
                </a:lnTo>
                <a:cubicBezTo>
                  <a:pt x="6199606" y="0"/>
                  <a:pt x="6243682" y="44077"/>
                  <a:pt x="6243682" y="98448"/>
                </a:cubicBezTo>
                <a:lnTo>
                  <a:pt x="6243682" y="2075764"/>
                </a:lnTo>
                <a:cubicBezTo>
                  <a:pt x="6243682" y="2130136"/>
                  <a:pt x="6199606" y="2174213"/>
                  <a:pt x="6145234" y="2174213"/>
                </a:cubicBezTo>
                <a:lnTo>
                  <a:pt x="98448" y="2174213"/>
                </a:lnTo>
                <a:cubicBezTo>
                  <a:pt x="44077" y="2174213"/>
                  <a:pt x="0" y="2130136"/>
                  <a:pt x="0" y="2075764"/>
                </a:cubicBezTo>
                <a:lnTo>
                  <a:pt x="0" y="98448"/>
                </a:lnTo>
                <a:cubicBezTo>
                  <a:pt x="0" y="44113"/>
                  <a:pt x="44113" y="0"/>
                  <a:pt x="98448" y="0"/>
                </a:cubicBezTo>
                <a:close/>
              </a:path>
            </a:pathLst>
          </a:custGeom>
          <a:solidFill>
            <a:srgbClr val="EAE7D6"/>
          </a:solidFill>
          <a:ln/>
        </p:spPr>
        <p:txBody>
          <a:bodyPr/>
          <a:lstStyle/>
          <a:p>
            <a:endParaRPr lang="en-US"/>
          </a:p>
        </p:txBody>
      </p:sp>
      <p:sp>
        <p:nvSpPr>
          <p:cNvPr id="8" name="Shape 6"/>
          <p:cNvSpPr/>
          <p:nvPr/>
        </p:nvSpPr>
        <p:spPr>
          <a:xfrm>
            <a:off x="525093" y="1320937"/>
            <a:ext cx="196910" cy="196910"/>
          </a:xfrm>
          <a:custGeom>
            <a:avLst/>
            <a:gdLst/>
            <a:ahLst/>
            <a:cxnLst/>
            <a:rect l="l" t="t" r="r" b="b"/>
            <a:pathLst>
              <a:path w="196910" h="196910">
                <a:moveTo>
                  <a:pt x="98455" y="54342"/>
                </a:moveTo>
                <a:lnTo>
                  <a:pt x="98455" y="173296"/>
                </a:lnTo>
                <a:lnTo>
                  <a:pt x="98647" y="173219"/>
                </a:lnTo>
                <a:cubicBezTo>
                  <a:pt x="119646" y="164489"/>
                  <a:pt x="142183" y="159989"/>
                  <a:pt x="164912" y="159989"/>
                </a:cubicBezTo>
                <a:lnTo>
                  <a:pt x="172296" y="159989"/>
                </a:lnTo>
                <a:lnTo>
                  <a:pt x="172296" y="36921"/>
                </a:lnTo>
                <a:lnTo>
                  <a:pt x="164912" y="36921"/>
                </a:lnTo>
                <a:cubicBezTo>
                  <a:pt x="148682" y="36921"/>
                  <a:pt x="132568" y="40151"/>
                  <a:pt x="117569" y="46381"/>
                </a:cubicBezTo>
                <a:cubicBezTo>
                  <a:pt x="111108" y="49074"/>
                  <a:pt x="104724" y="51727"/>
                  <a:pt x="98455" y="54342"/>
                </a:cubicBezTo>
                <a:close/>
                <a:moveTo>
                  <a:pt x="88802" y="23652"/>
                </a:moveTo>
                <a:lnTo>
                  <a:pt x="98455" y="27690"/>
                </a:lnTo>
                <a:lnTo>
                  <a:pt x="108108" y="23652"/>
                </a:lnTo>
                <a:cubicBezTo>
                  <a:pt x="126107" y="16153"/>
                  <a:pt x="145413" y="12307"/>
                  <a:pt x="164912" y="12307"/>
                </a:cubicBezTo>
                <a:lnTo>
                  <a:pt x="178450" y="12307"/>
                </a:lnTo>
                <a:cubicBezTo>
                  <a:pt x="188641" y="12307"/>
                  <a:pt x="196910" y="20576"/>
                  <a:pt x="196910" y="30767"/>
                </a:cubicBezTo>
                <a:lnTo>
                  <a:pt x="196910" y="166143"/>
                </a:lnTo>
                <a:cubicBezTo>
                  <a:pt x="196910" y="176334"/>
                  <a:pt x="188641" y="184603"/>
                  <a:pt x="178450" y="184603"/>
                </a:cubicBezTo>
                <a:lnTo>
                  <a:pt x="164912" y="184603"/>
                </a:lnTo>
                <a:cubicBezTo>
                  <a:pt x="145413" y="184603"/>
                  <a:pt x="126107" y="188449"/>
                  <a:pt x="108108" y="195948"/>
                </a:cubicBezTo>
                <a:lnTo>
                  <a:pt x="103185" y="197987"/>
                </a:lnTo>
                <a:cubicBezTo>
                  <a:pt x="100147" y="199256"/>
                  <a:pt x="96763" y="199256"/>
                  <a:pt x="93724" y="197987"/>
                </a:cubicBezTo>
                <a:lnTo>
                  <a:pt x="88802" y="195948"/>
                </a:lnTo>
                <a:cubicBezTo>
                  <a:pt x="70803" y="188449"/>
                  <a:pt x="51497" y="184603"/>
                  <a:pt x="31998" y="184603"/>
                </a:cubicBezTo>
                <a:lnTo>
                  <a:pt x="18460" y="184603"/>
                </a:lnTo>
                <a:cubicBezTo>
                  <a:pt x="8269" y="184603"/>
                  <a:pt x="0" y="176334"/>
                  <a:pt x="0" y="166143"/>
                </a:cubicBezTo>
                <a:lnTo>
                  <a:pt x="0" y="30767"/>
                </a:lnTo>
                <a:cubicBezTo>
                  <a:pt x="0" y="20576"/>
                  <a:pt x="8269" y="12307"/>
                  <a:pt x="18460" y="12307"/>
                </a:cubicBezTo>
                <a:lnTo>
                  <a:pt x="31998" y="12307"/>
                </a:lnTo>
                <a:cubicBezTo>
                  <a:pt x="51497" y="12307"/>
                  <a:pt x="70803" y="16153"/>
                  <a:pt x="88802" y="23652"/>
                </a:cubicBezTo>
                <a:close/>
              </a:path>
            </a:pathLst>
          </a:custGeom>
          <a:solidFill>
            <a:srgbClr val="E07A5F"/>
          </a:solidFill>
          <a:ln/>
        </p:spPr>
        <p:txBody>
          <a:bodyPr/>
          <a:lstStyle/>
          <a:p>
            <a:endParaRPr lang="en-US"/>
          </a:p>
        </p:txBody>
      </p:sp>
      <p:sp>
        <p:nvSpPr>
          <p:cNvPr id="9" name="Text 7"/>
          <p:cNvSpPr/>
          <p:nvPr/>
        </p:nvSpPr>
        <p:spPr>
          <a:xfrm>
            <a:off x="845071" y="1288118"/>
            <a:ext cx="1846030" cy="262546"/>
          </a:xfrm>
          <a:prstGeom prst="rect">
            <a:avLst/>
          </a:prstGeom>
          <a:noFill/>
          <a:ln/>
        </p:spPr>
        <p:txBody>
          <a:bodyPr wrap="square" lIns="0" tIns="0" rIns="0" bIns="0" rtlCol="0" anchor="ctr"/>
          <a:lstStyle/>
          <a:p>
            <a:pPr>
              <a:lnSpc>
                <a:spcPct val="110000"/>
              </a:lnSpc>
            </a:pPr>
            <a:r>
              <a:rPr lang="en-US" sz="1550" b="1" dirty="0">
                <a:solidFill>
                  <a:srgbClr val="2D3142"/>
                </a:solidFill>
                <a:latin typeface="Quattrocento Sans" pitchFamily="34" charset="0"/>
                <a:ea typeface="Quattrocento Sans" pitchFamily="34" charset="-122"/>
                <a:cs typeface="Quattrocento Sans" pitchFamily="34" charset="-120"/>
              </a:rPr>
              <a:t>Definition &amp; Purpose</a:t>
            </a:r>
            <a:endParaRPr lang="en-US" sz="1600" dirty="0"/>
          </a:p>
        </p:txBody>
      </p:sp>
      <p:sp>
        <p:nvSpPr>
          <p:cNvPr id="10" name="Text 8"/>
          <p:cNvSpPr/>
          <p:nvPr/>
        </p:nvSpPr>
        <p:spPr>
          <a:xfrm>
            <a:off x="500479" y="1681938"/>
            <a:ext cx="5972931" cy="426638"/>
          </a:xfrm>
          <a:prstGeom prst="rect">
            <a:avLst/>
          </a:prstGeom>
          <a:noFill/>
          <a:ln/>
        </p:spPr>
        <p:txBody>
          <a:bodyPr wrap="square" lIns="0" tIns="0" rIns="0" bIns="0" rtlCol="0" anchor="ctr"/>
          <a:lstStyle/>
          <a:p>
            <a:pPr>
              <a:lnSpc>
                <a:spcPct val="140000"/>
              </a:lnSpc>
            </a:pPr>
            <a:r>
              <a:rPr lang="en-US" sz="1034" dirty="0">
                <a:solidFill>
                  <a:srgbClr val="2D3142"/>
                </a:solidFill>
                <a:latin typeface="Quattrocento Sans" pitchFamily="34" charset="0"/>
                <a:ea typeface="Quattrocento Sans" pitchFamily="34" charset="-122"/>
                <a:cs typeface="Quattrocento Sans" pitchFamily="34" charset="-120"/>
              </a:rPr>
              <a:t>A </a:t>
            </a:r>
            <a:r>
              <a:rPr lang="en-US" sz="1034"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Readable stream </a:t>
            </a:r>
            <a:r>
              <a:rPr lang="en-US" sz="1034" dirty="0">
                <a:solidFill>
                  <a:srgbClr val="2D3142"/>
                </a:solidFill>
                <a:latin typeface="Quattrocento Sans" pitchFamily="34" charset="0"/>
                <a:ea typeface="Quattrocento Sans" pitchFamily="34" charset="-122"/>
                <a:cs typeface="Quattrocento Sans" pitchFamily="34" charset="-120"/>
              </a:rPr>
              <a:t>is an abstraction for a </a:t>
            </a:r>
            <a:r>
              <a:rPr lang="en-US" sz="1034" b="1" dirty="0">
                <a:solidFill>
                  <a:srgbClr val="2D3142"/>
                </a:solidFill>
                <a:latin typeface="Quattrocento Sans" pitchFamily="34" charset="0"/>
                <a:ea typeface="Quattrocento Sans" pitchFamily="34" charset="-122"/>
                <a:cs typeface="Quattrocento Sans" pitchFamily="34" charset="-120"/>
              </a:rPr>
              <a:t>source</a:t>
            </a:r>
            <a:r>
              <a:rPr lang="en-US" sz="1034" dirty="0">
                <a:solidFill>
                  <a:srgbClr val="2D3142"/>
                </a:solidFill>
                <a:latin typeface="Quattrocento Sans" pitchFamily="34" charset="0"/>
                <a:ea typeface="Quattrocento Sans" pitchFamily="34" charset="-122"/>
                <a:cs typeface="Quattrocento Sans" pitchFamily="34" charset="-120"/>
              </a:rPr>
              <a:t> from which data is consumed. It provides a way to read data incrementally without loading everything into memory.</a:t>
            </a:r>
            <a:endParaRPr lang="en-US" sz="1600" dirty="0"/>
          </a:p>
        </p:txBody>
      </p:sp>
      <p:sp>
        <p:nvSpPr>
          <p:cNvPr id="11" name="Shape 9"/>
          <p:cNvSpPr/>
          <p:nvPr/>
        </p:nvSpPr>
        <p:spPr>
          <a:xfrm>
            <a:off x="500479" y="2239849"/>
            <a:ext cx="5907295" cy="886094"/>
          </a:xfrm>
          <a:custGeom>
            <a:avLst/>
            <a:gdLst/>
            <a:ahLst/>
            <a:cxnLst/>
            <a:rect l="l" t="t" r="r" b="b"/>
            <a:pathLst>
              <a:path w="5907295" h="886094">
                <a:moveTo>
                  <a:pt x="65633" y="0"/>
                </a:moveTo>
                <a:lnTo>
                  <a:pt x="5841662" y="0"/>
                </a:lnTo>
                <a:cubicBezTo>
                  <a:pt x="5877910" y="0"/>
                  <a:pt x="5907295" y="29385"/>
                  <a:pt x="5907295" y="65633"/>
                </a:cubicBezTo>
                <a:lnTo>
                  <a:pt x="5907295" y="820461"/>
                </a:lnTo>
                <a:cubicBezTo>
                  <a:pt x="5907295" y="856709"/>
                  <a:pt x="5877910" y="886094"/>
                  <a:pt x="5841662" y="886094"/>
                </a:cubicBezTo>
                <a:lnTo>
                  <a:pt x="65633" y="886094"/>
                </a:lnTo>
                <a:cubicBezTo>
                  <a:pt x="29385" y="886094"/>
                  <a:pt x="0" y="856709"/>
                  <a:pt x="0" y="820461"/>
                </a:cubicBezTo>
                <a:lnTo>
                  <a:pt x="0" y="65633"/>
                </a:lnTo>
                <a:cubicBezTo>
                  <a:pt x="0" y="29409"/>
                  <a:pt x="29409" y="0"/>
                  <a:pt x="65633" y="0"/>
                </a:cubicBezTo>
                <a:close/>
              </a:path>
            </a:pathLst>
          </a:custGeom>
          <a:solidFill>
            <a:srgbClr val="EAE7D6"/>
          </a:solidFill>
          <a:ln/>
        </p:spPr>
        <p:txBody>
          <a:bodyPr/>
          <a:lstStyle/>
          <a:p>
            <a:endParaRPr lang="en-US"/>
          </a:p>
        </p:txBody>
      </p:sp>
      <p:sp>
        <p:nvSpPr>
          <p:cNvPr id="12" name="Text 10"/>
          <p:cNvSpPr/>
          <p:nvPr/>
        </p:nvSpPr>
        <p:spPr>
          <a:xfrm>
            <a:off x="631752" y="2371122"/>
            <a:ext cx="5702180" cy="164092"/>
          </a:xfrm>
          <a:prstGeom prst="rect">
            <a:avLst/>
          </a:prstGeom>
          <a:noFill/>
          <a:ln/>
        </p:spPr>
        <p:txBody>
          <a:bodyPr wrap="square" lIns="0" tIns="0" rIns="0" bIns="0" rtlCol="0" anchor="ctr"/>
          <a:lstStyle/>
          <a:p>
            <a:pPr>
              <a:lnSpc>
                <a:spcPct val="120000"/>
              </a:lnSpc>
            </a:pPr>
            <a:r>
              <a:rPr lang="en-US" sz="904" dirty="0">
                <a:solidFill>
                  <a:srgbClr val="8D99AE"/>
                </a:solidFill>
                <a:latin typeface="Quattrocento Sans" pitchFamily="34" charset="0"/>
                <a:ea typeface="Quattrocento Sans" pitchFamily="34" charset="-122"/>
                <a:cs typeface="Quattrocento Sans" pitchFamily="34" charset="-120"/>
              </a:rPr>
              <a:t>Core Concept</a:t>
            </a:r>
            <a:endParaRPr lang="en-US" sz="1600" dirty="0"/>
          </a:p>
        </p:txBody>
      </p:sp>
      <p:sp>
        <p:nvSpPr>
          <p:cNvPr id="13" name="Text 11"/>
          <p:cNvSpPr/>
          <p:nvPr/>
        </p:nvSpPr>
        <p:spPr>
          <a:xfrm>
            <a:off x="631752" y="2600851"/>
            <a:ext cx="5710385" cy="393820"/>
          </a:xfrm>
          <a:prstGeom prst="rect">
            <a:avLst/>
          </a:prstGeom>
          <a:noFill/>
          <a:ln/>
        </p:spPr>
        <p:txBody>
          <a:bodyPr wrap="square" lIns="0" tIns="0" rIns="0" bIns="0" rtlCol="0" anchor="ctr"/>
          <a:lstStyle/>
          <a:p>
            <a:pPr>
              <a:lnSpc>
                <a:spcPct val="130000"/>
              </a:lnSpc>
            </a:pPr>
            <a:r>
              <a:rPr lang="en-US" sz="1034" dirty="0">
                <a:solidFill>
                  <a:srgbClr val="2D3142"/>
                </a:solidFill>
                <a:latin typeface="Quattrocento Sans" pitchFamily="34" charset="0"/>
                <a:ea typeface="Quattrocento Sans" pitchFamily="34" charset="-122"/>
                <a:cs typeface="Quattrocento Sans" pitchFamily="34" charset="-120"/>
              </a:rPr>
              <a:t>Readable streams emit 'data' events as chunks become available, allowing consumers to process data as it arrives.</a:t>
            </a:r>
            <a:endParaRPr lang="en-US" sz="1600" dirty="0"/>
          </a:p>
        </p:txBody>
      </p:sp>
      <p:sp>
        <p:nvSpPr>
          <p:cNvPr id="14" name="Shape 12"/>
          <p:cNvSpPr/>
          <p:nvPr/>
        </p:nvSpPr>
        <p:spPr>
          <a:xfrm>
            <a:off x="332285" y="3433615"/>
            <a:ext cx="6243682" cy="3421308"/>
          </a:xfrm>
          <a:custGeom>
            <a:avLst/>
            <a:gdLst/>
            <a:ahLst/>
            <a:cxnLst/>
            <a:rect l="l" t="t" r="r" b="b"/>
            <a:pathLst>
              <a:path w="6243682" h="3421308">
                <a:moveTo>
                  <a:pt x="98465" y="0"/>
                </a:moveTo>
                <a:lnTo>
                  <a:pt x="6145217" y="0"/>
                </a:lnTo>
                <a:cubicBezTo>
                  <a:pt x="6199598" y="0"/>
                  <a:pt x="6243682" y="44084"/>
                  <a:pt x="6243682" y="98465"/>
                </a:cubicBezTo>
                <a:lnTo>
                  <a:pt x="6243682" y="3322843"/>
                </a:lnTo>
                <a:cubicBezTo>
                  <a:pt x="6243682" y="3377224"/>
                  <a:pt x="6199598" y="3421308"/>
                  <a:pt x="6145217" y="3421308"/>
                </a:cubicBezTo>
                <a:lnTo>
                  <a:pt x="98465" y="3421308"/>
                </a:lnTo>
                <a:cubicBezTo>
                  <a:pt x="44084" y="3421308"/>
                  <a:pt x="0" y="3377224"/>
                  <a:pt x="0" y="3322843"/>
                </a:cubicBezTo>
                <a:lnTo>
                  <a:pt x="0" y="98465"/>
                </a:lnTo>
                <a:cubicBezTo>
                  <a:pt x="0" y="44084"/>
                  <a:pt x="44084" y="0"/>
                  <a:pt x="98465" y="0"/>
                </a:cubicBezTo>
                <a:close/>
              </a:path>
            </a:pathLst>
          </a:custGeom>
          <a:solidFill>
            <a:srgbClr val="EAE7D6"/>
          </a:solidFill>
          <a:ln/>
        </p:spPr>
        <p:txBody>
          <a:bodyPr/>
          <a:lstStyle/>
          <a:p>
            <a:endParaRPr lang="en-US"/>
          </a:p>
        </p:txBody>
      </p:sp>
      <p:sp>
        <p:nvSpPr>
          <p:cNvPr id="15" name="Shape 13"/>
          <p:cNvSpPr/>
          <p:nvPr/>
        </p:nvSpPr>
        <p:spPr>
          <a:xfrm>
            <a:off x="512786" y="3634627"/>
            <a:ext cx="221524" cy="196910"/>
          </a:xfrm>
          <a:custGeom>
            <a:avLst/>
            <a:gdLst/>
            <a:ahLst/>
            <a:cxnLst/>
            <a:rect l="l" t="t" r="r" b="b"/>
            <a:pathLst>
              <a:path w="221524" h="196910">
                <a:moveTo>
                  <a:pt x="138760" y="462"/>
                </a:moveTo>
                <a:cubicBezTo>
                  <a:pt x="132222" y="-1423"/>
                  <a:pt x="125415" y="2384"/>
                  <a:pt x="123530" y="8922"/>
                </a:cubicBezTo>
                <a:lnTo>
                  <a:pt x="74303" y="181219"/>
                </a:lnTo>
                <a:cubicBezTo>
                  <a:pt x="72418" y="187757"/>
                  <a:pt x="76226" y="194564"/>
                  <a:pt x="82764" y="196448"/>
                </a:cubicBezTo>
                <a:cubicBezTo>
                  <a:pt x="89302" y="198333"/>
                  <a:pt x="96109" y="194525"/>
                  <a:pt x="97993" y="187987"/>
                </a:cubicBezTo>
                <a:lnTo>
                  <a:pt x="147221" y="15691"/>
                </a:lnTo>
                <a:cubicBezTo>
                  <a:pt x="149105" y="9153"/>
                  <a:pt x="145298" y="2346"/>
                  <a:pt x="138760" y="462"/>
                </a:cubicBezTo>
                <a:close/>
                <a:moveTo>
                  <a:pt x="163604" y="52804"/>
                </a:moveTo>
                <a:cubicBezTo>
                  <a:pt x="158797" y="57612"/>
                  <a:pt x="158797" y="65419"/>
                  <a:pt x="163604" y="70226"/>
                </a:cubicBezTo>
                <a:lnTo>
                  <a:pt x="191833" y="98455"/>
                </a:lnTo>
                <a:lnTo>
                  <a:pt x="163604" y="126684"/>
                </a:lnTo>
                <a:cubicBezTo>
                  <a:pt x="158797" y="131491"/>
                  <a:pt x="158797" y="139298"/>
                  <a:pt x="163604" y="144106"/>
                </a:cubicBezTo>
                <a:cubicBezTo>
                  <a:pt x="168412" y="148913"/>
                  <a:pt x="176219" y="148913"/>
                  <a:pt x="181026" y="144106"/>
                </a:cubicBezTo>
                <a:lnTo>
                  <a:pt x="217947" y="107185"/>
                </a:lnTo>
                <a:cubicBezTo>
                  <a:pt x="222754" y="102378"/>
                  <a:pt x="222754" y="94571"/>
                  <a:pt x="217947" y="89763"/>
                </a:cubicBezTo>
                <a:lnTo>
                  <a:pt x="181026" y="52843"/>
                </a:lnTo>
                <a:cubicBezTo>
                  <a:pt x="176219" y="48035"/>
                  <a:pt x="168412" y="48035"/>
                  <a:pt x="163604" y="52843"/>
                </a:cubicBezTo>
                <a:close/>
                <a:moveTo>
                  <a:pt x="57958" y="52804"/>
                </a:moveTo>
                <a:cubicBezTo>
                  <a:pt x="53150" y="47997"/>
                  <a:pt x="45343" y="47997"/>
                  <a:pt x="40536" y="52804"/>
                </a:cubicBezTo>
                <a:lnTo>
                  <a:pt x="3615" y="89725"/>
                </a:lnTo>
                <a:cubicBezTo>
                  <a:pt x="-1192" y="94532"/>
                  <a:pt x="-1192" y="102339"/>
                  <a:pt x="3615" y="107147"/>
                </a:cubicBezTo>
                <a:lnTo>
                  <a:pt x="40536" y="144067"/>
                </a:lnTo>
                <a:cubicBezTo>
                  <a:pt x="45343" y="148875"/>
                  <a:pt x="53150" y="148875"/>
                  <a:pt x="57958" y="144067"/>
                </a:cubicBezTo>
                <a:cubicBezTo>
                  <a:pt x="62765" y="139260"/>
                  <a:pt x="62765" y="131453"/>
                  <a:pt x="57958" y="126645"/>
                </a:cubicBezTo>
                <a:lnTo>
                  <a:pt x="29729" y="98455"/>
                </a:lnTo>
                <a:lnTo>
                  <a:pt x="57919" y="70226"/>
                </a:lnTo>
                <a:cubicBezTo>
                  <a:pt x="62727" y="65419"/>
                  <a:pt x="62727" y="57612"/>
                  <a:pt x="57919" y="52804"/>
                </a:cubicBezTo>
                <a:close/>
              </a:path>
            </a:pathLst>
          </a:custGeom>
          <a:solidFill>
            <a:srgbClr val="8D99AE"/>
          </a:solidFill>
          <a:ln/>
        </p:spPr>
        <p:txBody>
          <a:bodyPr/>
          <a:lstStyle/>
          <a:p>
            <a:endParaRPr lang="en-US"/>
          </a:p>
        </p:txBody>
      </p:sp>
      <p:sp>
        <p:nvSpPr>
          <p:cNvPr id="16" name="Text 14"/>
          <p:cNvSpPr/>
          <p:nvPr/>
        </p:nvSpPr>
        <p:spPr>
          <a:xfrm>
            <a:off x="845071" y="3601809"/>
            <a:ext cx="1763984" cy="262546"/>
          </a:xfrm>
          <a:prstGeom prst="rect">
            <a:avLst/>
          </a:prstGeom>
          <a:noFill/>
          <a:ln/>
        </p:spPr>
        <p:txBody>
          <a:bodyPr wrap="square" lIns="0" tIns="0" rIns="0" bIns="0" rtlCol="0" anchor="ctr"/>
          <a:lstStyle/>
          <a:p>
            <a:pPr>
              <a:lnSpc>
                <a:spcPct val="110000"/>
              </a:lnSpc>
            </a:pPr>
            <a:r>
              <a:rPr lang="en-US" sz="1550" b="1" dirty="0">
                <a:solidFill>
                  <a:srgbClr val="2D3142"/>
                </a:solidFill>
                <a:latin typeface="Quattrocento Sans" pitchFamily="34" charset="0"/>
                <a:ea typeface="Quattrocento Sans" pitchFamily="34" charset="-122"/>
                <a:cs typeface="Quattrocento Sans" pitchFamily="34" charset="-120"/>
              </a:rPr>
              <a:t>Common Examples</a:t>
            </a:r>
            <a:endParaRPr lang="en-US" sz="1600" dirty="0"/>
          </a:p>
        </p:txBody>
      </p:sp>
      <p:sp>
        <p:nvSpPr>
          <p:cNvPr id="17" name="Shape 15"/>
          <p:cNvSpPr/>
          <p:nvPr/>
        </p:nvSpPr>
        <p:spPr>
          <a:xfrm>
            <a:off x="500479" y="3995629"/>
            <a:ext cx="5907295" cy="689184"/>
          </a:xfrm>
          <a:custGeom>
            <a:avLst/>
            <a:gdLst/>
            <a:ahLst/>
            <a:cxnLst/>
            <a:rect l="l" t="t" r="r" b="b"/>
            <a:pathLst>
              <a:path w="5907295" h="689184">
                <a:moveTo>
                  <a:pt x="65638" y="0"/>
                </a:moveTo>
                <a:lnTo>
                  <a:pt x="5841657" y="0"/>
                </a:lnTo>
                <a:cubicBezTo>
                  <a:pt x="5877908" y="0"/>
                  <a:pt x="5907295" y="29387"/>
                  <a:pt x="5907295" y="65638"/>
                </a:cubicBezTo>
                <a:lnTo>
                  <a:pt x="5907295" y="623546"/>
                </a:lnTo>
                <a:cubicBezTo>
                  <a:pt x="5907295" y="659797"/>
                  <a:pt x="5877908" y="689184"/>
                  <a:pt x="5841657" y="689184"/>
                </a:cubicBezTo>
                <a:lnTo>
                  <a:pt x="65638" y="689184"/>
                </a:lnTo>
                <a:cubicBezTo>
                  <a:pt x="29411" y="689184"/>
                  <a:pt x="0" y="659773"/>
                  <a:pt x="0" y="623546"/>
                </a:cubicBezTo>
                <a:lnTo>
                  <a:pt x="0" y="65638"/>
                </a:lnTo>
                <a:cubicBezTo>
                  <a:pt x="0" y="29387"/>
                  <a:pt x="29387" y="0"/>
                  <a:pt x="65638" y="0"/>
                </a:cubicBezTo>
                <a:close/>
              </a:path>
            </a:pathLst>
          </a:custGeom>
          <a:solidFill>
            <a:srgbClr val="EAE7D6"/>
          </a:solidFill>
          <a:ln/>
        </p:spPr>
        <p:txBody>
          <a:bodyPr/>
          <a:lstStyle/>
          <a:p>
            <a:endParaRPr lang="en-US"/>
          </a:p>
        </p:txBody>
      </p:sp>
      <p:sp>
        <p:nvSpPr>
          <p:cNvPr id="18" name="Shape 16"/>
          <p:cNvSpPr/>
          <p:nvPr/>
        </p:nvSpPr>
        <p:spPr>
          <a:xfrm>
            <a:off x="631752" y="4143311"/>
            <a:ext cx="98455" cy="131273"/>
          </a:xfrm>
          <a:custGeom>
            <a:avLst/>
            <a:gdLst/>
            <a:ahLst/>
            <a:cxnLst/>
            <a:rect l="l" t="t" r="r" b="b"/>
            <a:pathLst>
              <a:path w="98455" h="131273">
                <a:moveTo>
                  <a:pt x="16409" y="0"/>
                </a:moveTo>
                <a:cubicBezTo>
                  <a:pt x="7358" y="0"/>
                  <a:pt x="0" y="7358"/>
                  <a:pt x="0" y="16409"/>
                </a:cubicBezTo>
                <a:lnTo>
                  <a:pt x="0" y="114864"/>
                </a:lnTo>
                <a:cubicBezTo>
                  <a:pt x="0" y="123915"/>
                  <a:pt x="7358" y="131273"/>
                  <a:pt x="16409" y="131273"/>
                </a:cubicBezTo>
                <a:lnTo>
                  <a:pt x="82046" y="131273"/>
                </a:lnTo>
                <a:cubicBezTo>
                  <a:pt x="91096" y="131273"/>
                  <a:pt x="98455" y="123915"/>
                  <a:pt x="98455" y="114864"/>
                </a:cubicBezTo>
                <a:lnTo>
                  <a:pt x="98455" y="43715"/>
                </a:lnTo>
                <a:cubicBezTo>
                  <a:pt x="98455" y="39356"/>
                  <a:pt x="96737" y="35177"/>
                  <a:pt x="93660" y="32100"/>
                </a:cubicBezTo>
                <a:lnTo>
                  <a:pt x="66329" y="4795"/>
                </a:lnTo>
                <a:cubicBezTo>
                  <a:pt x="63252" y="1718"/>
                  <a:pt x="59099" y="0"/>
                  <a:pt x="54740" y="0"/>
                </a:cubicBezTo>
                <a:lnTo>
                  <a:pt x="16409" y="0"/>
                </a:lnTo>
                <a:close/>
                <a:moveTo>
                  <a:pt x="83456" y="45125"/>
                </a:moveTo>
                <a:lnTo>
                  <a:pt x="59483" y="45125"/>
                </a:lnTo>
                <a:cubicBezTo>
                  <a:pt x="56073" y="45125"/>
                  <a:pt x="53330" y="42382"/>
                  <a:pt x="53330" y="38972"/>
                </a:cubicBezTo>
                <a:lnTo>
                  <a:pt x="53330" y="14999"/>
                </a:lnTo>
                <a:lnTo>
                  <a:pt x="83456" y="45125"/>
                </a:lnTo>
                <a:close/>
              </a:path>
            </a:pathLst>
          </a:custGeom>
          <a:solidFill>
            <a:srgbClr val="E07A5F"/>
          </a:solidFill>
          <a:ln/>
        </p:spPr>
        <p:txBody>
          <a:bodyPr/>
          <a:lstStyle/>
          <a:p>
            <a:endParaRPr lang="en-US"/>
          </a:p>
        </p:txBody>
      </p:sp>
      <p:sp>
        <p:nvSpPr>
          <p:cNvPr id="19" name="Text 17"/>
          <p:cNvSpPr/>
          <p:nvPr/>
        </p:nvSpPr>
        <p:spPr>
          <a:xfrm>
            <a:off x="828662" y="4094083"/>
            <a:ext cx="1772188"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fs.createReadStream(path)</a:t>
            </a:r>
            <a:endParaRPr lang="en-US" sz="1600" dirty="0"/>
          </a:p>
        </p:txBody>
      </p:sp>
      <p:sp>
        <p:nvSpPr>
          <p:cNvPr id="20" name="Text 18"/>
          <p:cNvSpPr/>
          <p:nvPr/>
        </p:nvSpPr>
        <p:spPr>
          <a:xfrm>
            <a:off x="598934" y="4389448"/>
            <a:ext cx="577602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Read files chunk by chunk</a:t>
            </a:r>
            <a:endParaRPr lang="en-US" sz="1600" dirty="0"/>
          </a:p>
        </p:txBody>
      </p:sp>
      <p:sp>
        <p:nvSpPr>
          <p:cNvPr id="21" name="Shape 19"/>
          <p:cNvSpPr/>
          <p:nvPr/>
        </p:nvSpPr>
        <p:spPr>
          <a:xfrm>
            <a:off x="500479" y="4783268"/>
            <a:ext cx="5907295" cy="689184"/>
          </a:xfrm>
          <a:custGeom>
            <a:avLst/>
            <a:gdLst/>
            <a:ahLst/>
            <a:cxnLst/>
            <a:rect l="l" t="t" r="r" b="b"/>
            <a:pathLst>
              <a:path w="5907295" h="689184">
                <a:moveTo>
                  <a:pt x="65638" y="0"/>
                </a:moveTo>
                <a:lnTo>
                  <a:pt x="5841657" y="0"/>
                </a:lnTo>
                <a:cubicBezTo>
                  <a:pt x="5877908" y="0"/>
                  <a:pt x="5907295" y="29387"/>
                  <a:pt x="5907295" y="65638"/>
                </a:cubicBezTo>
                <a:lnTo>
                  <a:pt x="5907295" y="623546"/>
                </a:lnTo>
                <a:cubicBezTo>
                  <a:pt x="5907295" y="659797"/>
                  <a:pt x="5877908" y="689184"/>
                  <a:pt x="5841657" y="689184"/>
                </a:cubicBezTo>
                <a:lnTo>
                  <a:pt x="65638" y="689184"/>
                </a:lnTo>
                <a:cubicBezTo>
                  <a:pt x="29411" y="689184"/>
                  <a:pt x="0" y="659773"/>
                  <a:pt x="0" y="623546"/>
                </a:cubicBezTo>
                <a:lnTo>
                  <a:pt x="0" y="65638"/>
                </a:lnTo>
                <a:cubicBezTo>
                  <a:pt x="0" y="29387"/>
                  <a:pt x="29387" y="0"/>
                  <a:pt x="65638" y="0"/>
                </a:cubicBezTo>
                <a:close/>
              </a:path>
            </a:pathLst>
          </a:custGeom>
          <a:solidFill>
            <a:srgbClr val="EAE7D6"/>
          </a:solidFill>
          <a:ln/>
        </p:spPr>
        <p:txBody>
          <a:bodyPr/>
          <a:lstStyle/>
          <a:p>
            <a:endParaRPr lang="en-US"/>
          </a:p>
        </p:txBody>
      </p:sp>
      <p:sp>
        <p:nvSpPr>
          <p:cNvPr id="22" name="Shape 20"/>
          <p:cNvSpPr/>
          <p:nvPr/>
        </p:nvSpPr>
        <p:spPr>
          <a:xfrm>
            <a:off x="615343" y="4930950"/>
            <a:ext cx="131273" cy="131273"/>
          </a:xfrm>
          <a:custGeom>
            <a:avLst/>
            <a:gdLst/>
            <a:ahLst/>
            <a:cxnLst/>
            <a:rect l="l" t="t" r="r" b="b"/>
            <a:pathLst>
              <a:path w="131273" h="131273">
                <a:moveTo>
                  <a:pt x="90225" y="71790"/>
                </a:moveTo>
                <a:lnTo>
                  <a:pt x="41279" y="71790"/>
                </a:lnTo>
                <a:cubicBezTo>
                  <a:pt x="42023" y="88327"/>
                  <a:pt x="45689" y="103557"/>
                  <a:pt x="50894" y="114710"/>
                </a:cubicBezTo>
                <a:cubicBezTo>
                  <a:pt x="53817" y="120992"/>
                  <a:pt x="56971" y="125427"/>
                  <a:pt x="59893" y="128145"/>
                </a:cubicBezTo>
                <a:cubicBezTo>
                  <a:pt x="62765" y="130837"/>
                  <a:pt x="64739" y="131273"/>
                  <a:pt x="65765" y="131273"/>
                </a:cubicBezTo>
                <a:cubicBezTo>
                  <a:pt x="66790" y="131273"/>
                  <a:pt x="68765" y="130837"/>
                  <a:pt x="71636" y="128145"/>
                </a:cubicBezTo>
                <a:cubicBezTo>
                  <a:pt x="74559" y="125427"/>
                  <a:pt x="77713" y="120966"/>
                  <a:pt x="80636" y="114710"/>
                </a:cubicBezTo>
                <a:cubicBezTo>
                  <a:pt x="85840" y="103557"/>
                  <a:pt x="89507" y="88327"/>
                  <a:pt x="90250" y="71790"/>
                </a:cubicBezTo>
                <a:close/>
                <a:moveTo>
                  <a:pt x="41254" y="59483"/>
                </a:moveTo>
                <a:lnTo>
                  <a:pt x="90199" y="59483"/>
                </a:lnTo>
                <a:cubicBezTo>
                  <a:pt x="89481" y="42946"/>
                  <a:pt x="85815" y="27716"/>
                  <a:pt x="80610" y="16563"/>
                </a:cubicBezTo>
                <a:cubicBezTo>
                  <a:pt x="77687" y="10307"/>
                  <a:pt x="74533" y="5846"/>
                  <a:pt x="71611" y="3128"/>
                </a:cubicBezTo>
                <a:cubicBezTo>
                  <a:pt x="68739" y="436"/>
                  <a:pt x="66765" y="0"/>
                  <a:pt x="65739" y="0"/>
                </a:cubicBezTo>
                <a:cubicBezTo>
                  <a:pt x="64714" y="0"/>
                  <a:pt x="62739" y="436"/>
                  <a:pt x="59868" y="3128"/>
                </a:cubicBezTo>
                <a:cubicBezTo>
                  <a:pt x="56945" y="5846"/>
                  <a:pt x="53791" y="10307"/>
                  <a:pt x="50868" y="16563"/>
                </a:cubicBezTo>
                <a:cubicBezTo>
                  <a:pt x="45664" y="27716"/>
                  <a:pt x="41997" y="42946"/>
                  <a:pt x="41254" y="59483"/>
                </a:cubicBezTo>
                <a:close/>
                <a:moveTo>
                  <a:pt x="28947" y="59483"/>
                </a:moveTo>
                <a:cubicBezTo>
                  <a:pt x="29844" y="37536"/>
                  <a:pt x="35510" y="17153"/>
                  <a:pt x="43792" y="3769"/>
                </a:cubicBezTo>
                <a:cubicBezTo>
                  <a:pt x="20178" y="12127"/>
                  <a:pt x="2795" y="33639"/>
                  <a:pt x="385" y="59483"/>
                </a:cubicBezTo>
                <a:lnTo>
                  <a:pt x="28947" y="59483"/>
                </a:lnTo>
                <a:close/>
                <a:moveTo>
                  <a:pt x="385" y="71790"/>
                </a:moveTo>
                <a:cubicBezTo>
                  <a:pt x="2795" y="97634"/>
                  <a:pt x="20178" y="119146"/>
                  <a:pt x="43792" y="127504"/>
                </a:cubicBezTo>
                <a:cubicBezTo>
                  <a:pt x="35510" y="114121"/>
                  <a:pt x="29844" y="93737"/>
                  <a:pt x="28947" y="71790"/>
                </a:cubicBezTo>
                <a:lnTo>
                  <a:pt x="385" y="71790"/>
                </a:lnTo>
                <a:close/>
                <a:moveTo>
                  <a:pt x="102532" y="71790"/>
                </a:moveTo>
                <a:cubicBezTo>
                  <a:pt x="101634" y="93737"/>
                  <a:pt x="95968" y="114121"/>
                  <a:pt x="87686" y="127504"/>
                </a:cubicBezTo>
                <a:cubicBezTo>
                  <a:pt x="111300" y="119120"/>
                  <a:pt x="128684" y="97634"/>
                  <a:pt x="131094" y="71790"/>
                </a:cubicBezTo>
                <a:lnTo>
                  <a:pt x="102532" y="71790"/>
                </a:lnTo>
                <a:close/>
                <a:moveTo>
                  <a:pt x="131094" y="59483"/>
                </a:moveTo>
                <a:cubicBezTo>
                  <a:pt x="128684" y="33639"/>
                  <a:pt x="111300" y="12127"/>
                  <a:pt x="87686" y="3769"/>
                </a:cubicBezTo>
                <a:cubicBezTo>
                  <a:pt x="95968" y="17153"/>
                  <a:pt x="101634" y="37536"/>
                  <a:pt x="102532" y="59483"/>
                </a:cubicBezTo>
                <a:lnTo>
                  <a:pt x="131094" y="59483"/>
                </a:lnTo>
                <a:close/>
              </a:path>
            </a:pathLst>
          </a:custGeom>
          <a:solidFill>
            <a:srgbClr val="8D99AE"/>
          </a:solidFill>
          <a:ln/>
        </p:spPr>
        <p:txBody>
          <a:bodyPr/>
          <a:lstStyle/>
          <a:p>
            <a:endParaRPr lang="en-US"/>
          </a:p>
        </p:txBody>
      </p:sp>
      <p:sp>
        <p:nvSpPr>
          <p:cNvPr id="23" name="Text 21"/>
          <p:cNvSpPr/>
          <p:nvPr/>
        </p:nvSpPr>
        <p:spPr>
          <a:xfrm>
            <a:off x="828662" y="4881723"/>
            <a:ext cx="1271709"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HTTP request (req)</a:t>
            </a:r>
            <a:endParaRPr lang="en-US" sz="1600" dirty="0"/>
          </a:p>
        </p:txBody>
      </p:sp>
      <p:sp>
        <p:nvSpPr>
          <p:cNvPr id="24" name="Text 22"/>
          <p:cNvSpPr/>
          <p:nvPr/>
        </p:nvSpPr>
        <p:spPr>
          <a:xfrm>
            <a:off x="598934" y="5177087"/>
            <a:ext cx="577602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Incoming request body stream</a:t>
            </a:r>
            <a:endParaRPr lang="en-US" sz="1600" dirty="0"/>
          </a:p>
        </p:txBody>
      </p:sp>
      <p:sp>
        <p:nvSpPr>
          <p:cNvPr id="25" name="Shape 23"/>
          <p:cNvSpPr/>
          <p:nvPr/>
        </p:nvSpPr>
        <p:spPr>
          <a:xfrm>
            <a:off x="500479" y="5570907"/>
            <a:ext cx="5907295" cy="689184"/>
          </a:xfrm>
          <a:custGeom>
            <a:avLst/>
            <a:gdLst/>
            <a:ahLst/>
            <a:cxnLst/>
            <a:rect l="l" t="t" r="r" b="b"/>
            <a:pathLst>
              <a:path w="5907295" h="689184">
                <a:moveTo>
                  <a:pt x="65638" y="0"/>
                </a:moveTo>
                <a:lnTo>
                  <a:pt x="5841657" y="0"/>
                </a:lnTo>
                <a:cubicBezTo>
                  <a:pt x="5877908" y="0"/>
                  <a:pt x="5907295" y="29387"/>
                  <a:pt x="5907295" y="65638"/>
                </a:cubicBezTo>
                <a:lnTo>
                  <a:pt x="5907295" y="623546"/>
                </a:lnTo>
                <a:cubicBezTo>
                  <a:pt x="5907295" y="659797"/>
                  <a:pt x="5877908" y="689184"/>
                  <a:pt x="5841657" y="689184"/>
                </a:cubicBezTo>
                <a:lnTo>
                  <a:pt x="65638" y="689184"/>
                </a:lnTo>
                <a:cubicBezTo>
                  <a:pt x="29411" y="689184"/>
                  <a:pt x="0" y="659773"/>
                  <a:pt x="0" y="623546"/>
                </a:cubicBezTo>
                <a:lnTo>
                  <a:pt x="0" y="65638"/>
                </a:lnTo>
                <a:cubicBezTo>
                  <a:pt x="0" y="29387"/>
                  <a:pt x="29387" y="0"/>
                  <a:pt x="65638" y="0"/>
                </a:cubicBezTo>
                <a:close/>
              </a:path>
            </a:pathLst>
          </a:custGeom>
          <a:solidFill>
            <a:srgbClr val="EAE7D6"/>
          </a:solidFill>
          <a:ln/>
        </p:spPr>
        <p:txBody>
          <a:bodyPr/>
          <a:lstStyle/>
          <a:p>
            <a:endParaRPr lang="en-US"/>
          </a:p>
        </p:txBody>
      </p:sp>
      <p:sp>
        <p:nvSpPr>
          <p:cNvPr id="26" name="Shape 24"/>
          <p:cNvSpPr/>
          <p:nvPr/>
        </p:nvSpPr>
        <p:spPr>
          <a:xfrm>
            <a:off x="607139" y="5718590"/>
            <a:ext cx="147682" cy="131273"/>
          </a:xfrm>
          <a:custGeom>
            <a:avLst/>
            <a:gdLst/>
            <a:ahLst/>
            <a:cxnLst/>
            <a:rect l="l" t="t" r="r" b="b"/>
            <a:pathLst>
              <a:path w="147682" h="131273">
                <a:moveTo>
                  <a:pt x="16409" y="16409"/>
                </a:moveTo>
                <a:cubicBezTo>
                  <a:pt x="7358" y="16409"/>
                  <a:pt x="0" y="23768"/>
                  <a:pt x="0" y="32818"/>
                </a:cubicBezTo>
                <a:lnTo>
                  <a:pt x="0" y="98455"/>
                </a:lnTo>
                <a:cubicBezTo>
                  <a:pt x="0" y="107506"/>
                  <a:pt x="7358" y="114864"/>
                  <a:pt x="16409" y="114864"/>
                </a:cubicBezTo>
                <a:lnTo>
                  <a:pt x="131273" y="114864"/>
                </a:lnTo>
                <a:cubicBezTo>
                  <a:pt x="140324" y="114864"/>
                  <a:pt x="147682" y="107506"/>
                  <a:pt x="147682" y="98455"/>
                </a:cubicBezTo>
                <a:lnTo>
                  <a:pt x="147682" y="32818"/>
                </a:lnTo>
                <a:cubicBezTo>
                  <a:pt x="147682" y="23768"/>
                  <a:pt x="140324" y="16409"/>
                  <a:pt x="131273" y="16409"/>
                </a:cubicBezTo>
                <a:lnTo>
                  <a:pt x="16409" y="16409"/>
                </a:lnTo>
                <a:close/>
                <a:moveTo>
                  <a:pt x="20511" y="32818"/>
                </a:moveTo>
                <a:lnTo>
                  <a:pt x="28716" y="32818"/>
                </a:lnTo>
                <a:cubicBezTo>
                  <a:pt x="30972" y="32818"/>
                  <a:pt x="32818" y="34664"/>
                  <a:pt x="32818" y="36921"/>
                </a:cubicBezTo>
                <a:lnTo>
                  <a:pt x="32818" y="45125"/>
                </a:lnTo>
                <a:cubicBezTo>
                  <a:pt x="32818" y="47381"/>
                  <a:pt x="30972" y="49227"/>
                  <a:pt x="28716" y="49227"/>
                </a:cubicBezTo>
                <a:lnTo>
                  <a:pt x="20511" y="49227"/>
                </a:lnTo>
                <a:cubicBezTo>
                  <a:pt x="18255" y="49227"/>
                  <a:pt x="16409" y="47381"/>
                  <a:pt x="16409" y="45125"/>
                </a:cubicBezTo>
                <a:lnTo>
                  <a:pt x="16409" y="36921"/>
                </a:lnTo>
                <a:cubicBezTo>
                  <a:pt x="16409" y="34664"/>
                  <a:pt x="18255" y="32818"/>
                  <a:pt x="20511" y="32818"/>
                </a:cubicBezTo>
                <a:close/>
                <a:moveTo>
                  <a:pt x="16409" y="61534"/>
                </a:moveTo>
                <a:cubicBezTo>
                  <a:pt x="16409" y="59278"/>
                  <a:pt x="18255" y="57432"/>
                  <a:pt x="20511" y="57432"/>
                </a:cubicBezTo>
                <a:lnTo>
                  <a:pt x="28716" y="57432"/>
                </a:lnTo>
                <a:cubicBezTo>
                  <a:pt x="30972" y="57432"/>
                  <a:pt x="32818" y="59278"/>
                  <a:pt x="32818" y="61534"/>
                </a:cubicBezTo>
                <a:lnTo>
                  <a:pt x="32818" y="69739"/>
                </a:lnTo>
                <a:cubicBezTo>
                  <a:pt x="32818" y="71995"/>
                  <a:pt x="30972" y="73841"/>
                  <a:pt x="28716" y="73841"/>
                </a:cubicBezTo>
                <a:lnTo>
                  <a:pt x="20511" y="73841"/>
                </a:lnTo>
                <a:cubicBezTo>
                  <a:pt x="18255" y="73841"/>
                  <a:pt x="16409" y="71995"/>
                  <a:pt x="16409" y="69739"/>
                </a:cubicBezTo>
                <a:lnTo>
                  <a:pt x="16409" y="61534"/>
                </a:lnTo>
                <a:close/>
                <a:moveTo>
                  <a:pt x="45125" y="32818"/>
                </a:moveTo>
                <a:lnTo>
                  <a:pt x="53330" y="32818"/>
                </a:lnTo>
                <a:cubicBezTo>
                  <a:pt x="55586" y="32818"/>
                  <a:pt x="57432" y="34664"/>
                  <a:pt x="57432" y="36921"/>
                </a:cubicBezTo>
                <a:lnTo>
                  <a:pt x="57432" y="45125"/>
                </a:lnTo>
                <a:cubicBezTo>
                  <a:pt x="57432" y="47381"/>
                  <a:pt x="55586" y="49227"/>
                  <a:pt x="53330" y="49227"/>
                </a:cubicBezTo>
                <a:lnTo>
                  <a:pt x="45125" y="49227"/>
                </a:lnTo>
                <a:cubicBezTo>
                  <a:pt x="42869" y="49227"/>
                  <a:pt x="41023" y="47381"/>
                  <a:pt x="41023" y="45125"/>
                </a:cubicBezTo>
                <a:lnTo>
                  <a:pt x="41023" y="36921"/>
                </a:lnTo>
                <a:cubicBezTo>
                  <a:pt x="41023" y="34664"/>
                  <a:pt x="42869" y="32818"/>
                  <a:pt x="45125" y="32818"/>
                </a:cubicBezTo>
                <a:close/>
                <a:moveTo>
                  <a:pt x="41023" y="61534"/>
                </a:moveTo>
                <a:cubicBezTo>
                  <a:pt x="41023" y="59278"/>
                  <a:pt x="42869" y="57432"/>
                  <a:pt x="45125" y="57432"/>
                </a:cubicBezTo>
                <a:lnTo>
                  <a:pt x="53330" y="57432"/>
                </a:lnTo>
                <a:cubicBezTo>
                  <a:pt x="55586" y="57432"/>
                  <a:pt x="57432" y="59278"/>
                  <a:pt x="57432" y="61534"/>
                </a:cubicBezTo>
                <a:lnTo>
                  <a:pt x="57432" y="69739"/>
                </a:lnTo>
                <a:cubicBezTo>
                  <a:pt x="57432" y="71995"/>
                  <a:pt x="55586" y="73841"/>
                  <a:pt x="53330" y="73841"/>
                </a:cubicBezTo>
                <a:lnTo>
                  <a:pt x="45125" y="73841"/>
                </a:lnTo>
                <a:cubicBezTo>
                  <a:pt x="42869" y="73841"/>
                  <a:pt x="41023" y="71995"/>
                  <a:pt x="41023" y="69739"/>
                </a:cubicBezTo>
                <a:lnTo>
                  <a:pt x="41023" y="61534"/>
                </a:lnTo>
                <a:close/>
                <a:moveTo>
                  <a:pt x="45125" y="82046"/>
                </a:moveTo>
                <a:lnTo>
                  <a:pt x="102557" y="82046"/>
                </a:lnTo>
                <a:cubicBezTo>
                  <a:pt x="104813" y="82046"/>
                  <a:pt x="106659" y="83892"/>
                  <a:pt x="106659" y="86148"/>
                </a:cubicBezTo>
                <a:lnTo>
                  <a:pt x="106659" y="94353"/>
                </a:lnTo>
                <a:cubicBezTo>
                  <a:pt x="106659" y="96609"/>
                  <a:pt x="104813" y="98455"/>
                  <a:pt x="102557" y="98455"/>
                </a:cubicBezTo>
                <a:lnTo>
                  <a:pt x="45125" y="98455"/>
                </a:lnTo>
                <a:cubicBezTo>
                  <a:pt x="42869" y="98455"/>
                  <a:pt x="41023" y="96609"/>
                  <a:pt x="41023" y="94353"/>
                </a:cubicBezTo>
                <a:lnTo>
                  <a:pt x="41023" y="86148"/>
                </a:lnTo>
                <a:cubicBezTo>
                  <a:pt x="41023" y="83892"/>
                  <a:pt x="42869" y="82046"/>
                  <a:pt x="45125" y="82046"/>
                </a:cubicBezTo>
                <a:close/>
                <a:moveTo>
                  <a:pt x="65637" y="36921"/>
                </a:moveTo>
                <a:cubicBezTo>
                  <a:pt x="65637" y="34664"/>
                  <a:pt x="67483" y="32818"/>
                  <a:pt x="69739" y="32818"/>
                </a:cubicBezTo>
                <a:lnTo>
                  <a:pt x="77943" y="32818"/>
                </a:lnTo>
                <a:cubicBezTo>
                  <a:pt x="80200" y="32818"/>
                  <a:pt x="82046" y="34664"/>
                  <a:pt x="82046" y="36921"/>
                </a:cubicBezTo>
                <a:lnTo>
                  <a:pt x="82046" y="45125"/>
                </a:lnTo>
                <a:cubicBezTo>
                  <a:pt x="82046" y="47381"/>
                  <a:pt x="80200" y="49227"/>
                  <a:pt x="77943" y="49227"/>
                </a:cubicBezTo>
                <a:lnTo>
                  <a:pt x="69739" y="49227"/>
                </a:lnTo>
                <a:cubicBezTo>
                  <a:pt x="67483" y="49227"/>
                  <a:pt x="65637" y="47381"/>
                  <a:pt x="65637" y="45125"/>
                </a:cubicBezTo>
                <a:lnTo>
                  <a:pt x="65637" y="36921"/>
                </a:lnTo>
                <a:close/>
                <a:moveTo>
                  <a:pt x="69739" y="57432"/>
                </a:moveTo>
                <a:lnTo>
                  <a:pt x="77943" y="57432"/>
                </a:lnTo>
                <a:cubicBezTo>
                  <a:pt x="80200" y="57432"/>
                  <a:pt x="82046" y="59278"/>
                  <a:pt x="82046" y="61534"/>
                </a:cubicBezTo>
                <a:lnTo>
                  <a:pt x="82046" y="69739"/>
                </a:lnTo>
                <a:cubicBezTo>
                  <a:pt x="82046" y="71995"/>
                  <a:pt x="80200" y="73841"/>
                  <a:pt x="77943" y="73841"/>
                </a:cubicBezTo>
                <a:lnTo>
                  <a:pt x="69739" y="73841"/>
                </a:lnTo>
                <a:cubicBezTo>
                  <a:pt x="67483" y="73841"/>
                  <a:pt x="65637" y="71995"/>
                  <a:pt x="65637" y="69739"/>
                </a:cubicBezTo>
                <a:lnTo>
                  <a:pt x="65637" y="61534"/>
                </a:lnTo>
                <a:cubicBezTo>
                  <a:pt x="65637" y="59278"/>
                  <a:pt x="67483" y="57432"/>
                  <a:pt x="69739" y="57432"/>
                </a:cubicBezTo>
                <a:close/>
                <a:moveTo>
                  <a:pt x="90250" y="36921"/>
                </a:moveTo>
                <a:cubicBezTo>
                  <a:pt x="90250" y="34664"/>
                  <a:pt x="92096" y="32818"/>
                  <a:pt x="94353" y="32818"/>
                </a:cubicBezTo>
                <a:lnTo>
                  <a:pt x="102557" y="32818"/>
                </a:lnTo>
                <a:cubicBezTo>
                  <a:pt x="104813" y="32818"/>
                  <a:pt x="106659" y="34664"/>
                  <a:pt x="106659" y="36921"/>
                </a:cubicBezTo>
                <a:lnTo>
                  <a:pt x="106659" y="45125"/>
                </a:lnTo>
                <a:cubicBezTo>
                  <a:pt x="106659" y="47381"/>
                  <a:pt x="104813" y="49227"/>
                  <a:pt x="102557" y="49227"/>
                </a:cubicBezTo>
                <a:lnTo>
                  <a:pt x="94353" y="49227"/>
                </a:lnTo>
                <a:cubicBezTo>
                  <a:pt x="92096" y="49227"/>
                  <a:pt x="90250" y="47381"/>
                  <a:pt x="90250" y="45125"/>
                </a:cubicBezTo>
                <a:lnTo>
                  <a:pt x="90250" y="36921"/>
                </a:lnTo>
                <a:close/>
                <a:moveTo>
                  <a:pt x="94353" y="57432"/>
                </a:moveTo>
                <a:lnTo>
                  <a:pt x="102557" y="57432"/>
                </a:lnTo>
                <a:cubicBezTo>
                  <a:pt x="104813" y="57432"/>
                  <a:pt x="106659" y="59278"/>
                  <a:pt x="106659" y="61534"/>
                </a:cubicBezTo>
                <a:lnTo>
                  <a:pt x="106659" y="69739"/>
                </a:lnTo>
                <a:cubicBezTo>
                  <a:pt x="106659" y="71995"/>
                  <a:pt x="104813" y="73841"/>
                  <a:pt x="102557" y="73841"/>
                </a:cubicBezTo>
                <a:lnTo>
                  <a:pt x="94353" y="73841"/>
                </a:lnTo>
                <a:cubicBezTo>
                  <a:pt x="92096" y="73841"/>
                  <a:pt x="90250" y="71995"/>
                  <a:pt x="90250" y="69739"/>
                </a:cubicBezTo>
                <a:lnTo>
                  <a:pt x="90250" y="61534"/>
                </a:lnTo>
                <a:cubicBezTo>
                  <a:pt x="90250" y="59278"/>
                  <a:pt x="92096" y="57432"/>
                  <a:pt x="94353" y="57432"/>
                </a:cubicBezTo>
                <a:close/>
                <a:moveTo>
                  <a:pt x="114864" y="36921"/>
                </a:moveTo>
                <a:cubicBezTo>
                  <a:pt x="114864" y="34664"/>
                  <a:pt x="116710" y="32818"/>
                  <a:pt x="118966" y="32818"/>
                </a:cubicBezTo>
                <a:lnTo>
                  <a:pt x="127171" y="32818"/>
                </a:lnTo>
                <a:cubicBezTo>
                  <a:pt x="129427" y="32818"/>
                  <a:pt x="131273" y="34664"/>
                  <a:pt x="131273" y="36921"/>
                </a:cubicBezTo>
                <a:lnTo>
                  <a:pt x="131273" y="45125"/>
                </a:lnTo>
                <a:cubicBezTo>
                  <a:pt x="131273" y="47381"/>
                  <a:pt x="129427" y="49227"/>
                  <a:pt x="127171" y="49227"/>
                </a:cubicBezTo>
                <a:lnTo>
                  <a:pt x="118966" y="49227"/>
                </a:lnTo>
                <a:cubicBezTo>
                  <a:pt x="116710" y="49227"/>
                  <a:pt x="114864" y="47381"/>
                  <a:pt x="114864" y="45125"/>
                </a:cubicBezTo>
                <a:lnTo>
                  <a:pt x="114864" y="36921"/>
                </a:lnTo>
                <a:close/>
                <a:moveTo>
                  <a:pt x="118966" y="57432"/>
                </a:moveTo>
                <a:lnTo>
                  <a:pt x="127171" y="57432"/>
                </a:lnTo>
                <a:cubicBezTo>
                  <a:pt x="129427" y="57432"/>
                  <a:pt x="131273" y="59278"/>
                  <a:pt x="131273" y="61534"/>
                </a:cubicBezTo>
                <a:lnTo>
                  <a:pt x="131273" y="69739"/>
                </a:lnTo>
                <a:cubicBezTo>
                  <a:pt x="131273" y="71995"/>
                  <a:pt x="129427" y="73841"/>
                  <a:pt x="127171" y="73841"/>
                </a:cubicBezTo>
                <a:lnTo>
                  <a:pt x="118966" y="73841"/>
                </a:lnTo>
                <a:cubicBezTo>
                  <a:pt x="116710" y="73841"/>
                  <a:pt x="114864" y="71995"/>
                  <a:pt x="114864" y="69739"/>
                </a:cubicBezTo>
                <a:lnTo>
                  <a:pt x="114864" y="61534"/>
                </a:lnTo>
                <a:cubicBezTo>
                  <a:pt x="114864" y="59278"/>
                  <a:pt x="116710" y="57432"/>
                  <a:pt x="118966" y="57432"/>
                </a:cubicBezTo>
                <a:close/>
              </a:path>
            </a:pathLst>
          </a:custGeom>
          <a:solidFill>
            <a:srgbClr val="E07A5F"/>
          </a:solidFill>
          <a:ln/>
        </p:spPr>
        <p:txBody>
          <a:bodyPr/>
          <a:lstStyle/>
          <a:p>
            <a:endParaRPr lang="en-US"/>
          </a:p>
        </p:txBody>
      </p:sp>
      <p:sp>
        <p:nvSpPr>
          <p:cNvPr id="27" name="Text 25"/>
          <p:cNvSpPr/>
          <p:nvPr/>
        </p:nvSpPr>
        <p:spPr>
          <a:xfrm>
            <a:off x="828662" y="5669362"/>
            <a:ext cx="918913"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process.stdin</a:t>
            </a:r>
            <a:endParaRPr lang="en-US" sz="1600" dirty="0"/>
          </a:p>
        </p:txBody>
      </p:sp>
      <p:sp>
        <p:nvSpPr>
          <p:cNvPr id="28" name="Text 26"/>
          <p:cNvSpPr/>
          <p:nvPr/>
        </p:nvSpPr>
        <p:spPr>
          <a:xfrm>
            <a:off x="598934" y="5964727"/>
            <a:ext cx="577602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Standard input stream (Terminal </a:t>
            </a:r>
            <a:r>
              <a:rPr lang="en-US" sz="1034" dirty="0" err="1">
                <a:solidFill>
                  <a:srgbClr val="8D99AE"/>
                </a:solidFill>
                <a:latin typeface="Quattrocento Sans" pitchFamily="34" charset="0"/>
                <a:ea typeface="Quattrocento Sans" pitchFamily="34" charset="-122"/>
                <a:cs typeface="Quattrocento Sans" pitchFamily="34" charset="-120"/>
              </a:rPr>
              <a:t>theke</a:t>
            </a:r>
            <a:r>
              <a:rPr lang="en-US" sz="1034" dirty="0">
                <a:solidFill>
                  <a:srgbClr val="8D99AE"/>
                </a:solidFill>
                <a:latin typeface="Quattrocento Sans" pitchFamily="34" charset="0"/>
                <a:ea typeface="Quattrocento Sans" pitchFamily="34" charset="-122"/>
                <a:cs typeface="Quattrocento Sans" pitchFamily="34" charset="-120"/>
              </a:rPr>
              <a:t>  </a:t>
            </a:r>
            <a:r>
              <a:rPr lang="en-US" sz="1034" dirty="0" err="1">
                <a:solidFill>
                  <a:srgbClr val="8D99AE"/>
                </a:solidFill>
                <a:latin typeface="Quattrocento Sans" pitchFamily="34" charset="0"/>
                <a:ea typeface="Quattrocento Sans" pitchFamily="34" charset="-122"/>
                <a:cs typeface="Quattrocento Sans" pitchFamily="34" charset="-120"/>
              </a:rPr>
              <a:t>nea</a:t>
            </a:r>
            <a:r>
              <a:rPr lang="en-US" sz="1034" dirty="0">
                <a:solidFill>
                  <a:srgbClr val="8D99AE"/>
                </a:solidFill>
                <a:latin typeface="Quattrocento Sans" pitchFamily="34" charset="0"/>
                <a:ea typeface="Quattrocento Sans" pitchFamily="34" charset="-122"/>
                <a:cs typeface="Quattrocento Sans" pitchFamily="34" charset="-120"/>
              </a:rPr>
              <a:t> Data”</a:t>
            </a:r>
            <a:endParaRPr lang="en-US" sz="1600" dirty="0"/>
          </a:p>
        </p:txBody>
      </p:sp>
      <p:sp>
        <p:nvSpPr>
          <p:cNvPr id="29" name="Shape 27"/>
          <p:cNvSpPr/>
          <p:nvPr/>
        </p:nvSpPr>
        <p:spPr>
          <a:xfrm>
            <a:off x="6751725" y="1119925"/>
            <a:ext cx="5111451" cy="3651036"/>
          </a:xfrm>
          <a:custGeom>
            <a:avLst/>
            <a:gdLst/>
            <a:ahLst/>
            <a:cxnLst/>
            <a:rect l="l" t="t" r="r" b="b"/>
            <a:pathLst>
              <a:path w="5111451" h="3651036">
                <a:moveTo>
                  <a:pt x="98468" y="0"/>
                </a:moveTo>
                <a:lnTo>
                  <a:pt x="5012982" y="0"/>
                </a:lnTo>
                <a:cubicBezTo>
                  <a:pt x="5067365" y="0"/>
                  <a:pt x="5111451" y="44086"/>
                  <a:pt x="5111451" y="98468"/>
                </a:cubicBezTo>
                <a:lnTo>
                  <a:pt x="5111451" y="3552568"/>
                </a:lnTo>
                <a:cubicBezTo>
                  <a:pt x="5111451" y="3606951"/>
                  <a:pt x="5067365" y="3651036"/>
                  <a:pt x="5012982" y="3651036"/>
                </a:cubicBezTo>
                <a:lnTo>
                  <a:pt x="98468" y="3651036"/>
                </a:lnTo>
                <a:cubicBezTo>
                  <a:pt x="44086" y="3651036"/>
                  <a:pt x="0" y="3606951"/>
                  <a:pt x="0" y="3552568"/>
                </a:cubicBezTo>
                <a:lnTo>
                  <a:pt x="0" y="98468"/>
                </a:lnTo>
                <a:cubicBezTo>
                  <a:pt x="0" y="44122"/>
                  <a:pt x="44122" y="0"/>
                  <a:pt x="98468" y="0"/>
                </a:cubicBezTo>
                <a:close/>
              </a:path>
            </a:pathLst>
          </a:custGeom>
          <a:solidFill>
            <a:srgbClr val="EAE7D6"/>
          </a:solidFill>
          <a:ln/>
        </p:spPr>
        <p:txBody>
          <a:bodyPr/>
          <a:lstStyle/>
          <a:p>
            <a:endParaRPr lang="en-US"/>
          </a:p>
        </p:txBody>
      </p:sp>
      <p:sp>
        <p:nvSpPr>
          <p:cNvPr id="30" name="Shape 28"/>
          <p:cNvSpPr/>
          <p:nvPr/>
        </p:nvSpPr>
        <p:spPr>
          <a:xfrm>
            <a:off x="6932226" y="1320937"/>
            <a:ext cx="221524" cy="196910"/>
          </a:xfrm>
          <a:custGeom>
            <a:avLst/>
            <a:gdLst/>
            <a:ahLst/>
            <a:cxnLst/>
            <a:rect l="l" t="t" r="r" b="b"/>
            <a:pathLst>
              <a:path w="221524" h="196910">
                <a:moveTo>
                  <a:pt x="33805" y="4423"/>
                </a:moveTo>
                <a:cubicBezTo>
                  <a:pt x="29460" y="1769"/>
                  <a:pt x="23768" y="3192"/>
                  <a:pt x="21114" y="7538"/>
                </a:cubicBezTo>
                <a:cubicBezTo>
                  <a:pt x="11576" y="23306"/>
                  <a:pt x="6115" y="41805"/>
                  <a:pt x="6115" y="61534"/>
                </a:cubicBezTo>
                <a:cubicBezTo>
                  <a:pt x="6115" y="81264"/>
                  <a:pt x="11576" y="99763"/>
                  <a:pt x="21114" y="115531"/>
                </a:cubicBezTo>
                <a:cubicBezTo>
                  <a:pt x="23768" y="119877"/>
                  <a:pt x="29421" y="121300"/>
                  <a:pt x="33805" y="118646"/>
                </a:cubicBezTo>
                <a:cubicBezTo>
                  <a:pt x="38190" y="115992"/>
                  <a:pt x="39574" y="110339"/>
                  <a:pt x="36921" y="105954"/>
                </a:cubicBezTo>
                <a:cubicBezTo>
                  <a:pt x="29113" y="93032"/>
                  <a:pt x="24614" y="77802"/>
                  <a:pt x="24614" y="61534"/>
                </a:cubicBezTo>
                <a:cubicBezTo>
                  <a:pt x="24614" y="45266"/>
                  <a:pt x="29113" y="30036"/>
                  <a:pt x="36959" y="17076"/>
                </a:cubicBezTo>
                <a:cubicBezTo>
                  <a:pt x="39613" y="12730"/>
                  <a:pt x="38190" y="7038"/>
                  <a:pt x="33844" y="4384"/>
                </a:cubicBezTo>
                <a:close/>
                <a:moveTo>
                  <a:pt x="187680" y="4423"/>
                </a:moveTo>
                <a:cubicBezTo>
                  <a:pt x="183334" y="7076"/>
                  <a:pt x="181911" y="12730"/>
                  <a:pt x="184565" y="17114"/>
                </a:cubicBezTo>
                <a:cubicBezTo>
                  <a:pt x="192410" y="30075"/>
                  <a:pt x="196910" y="45305"/>
                  <a:pt x="196910" y="61573"/>
                </a:cubicBezTo>
                <a:cubicBezTo>
                  <a:pt x="196910" y="77841"/>
                  <a:pt x="192410" y="93071"/>
                  <a:pt x="184565" y="106031"/>
                </a:cubicBezTo>
                <a:cubicBezTo>
                  <a:pt x="181911" y="110377"/>
                  <a:pt x="183334" y="116069"/>
                  <a:pt x="187680" y="118723"/>
                </a:cubicBezTo>
                <a:cubicBezTo>
                  <a:pt x="192026" y="121376"/>
                  <a:pt x="197717" y="119953"/>
                  <a:pt x="200371" y="115608"/>
                </a:cubicBezTo>
                <a:cubicBezTo>
                  <a:pt x="209909" y="99839"/>
                  <a:pt x="215370" y="81341"/>
                  <a:pt x="215370" y="61611"/>
                </a:cubicBezTo>
                <a:cubicBezTo>
                  <a:pt x="215370" y="41882"/>
                  <a:pt x="209909" y="23306"/>
                  <a:pt x="200371" y="7538"/>
                </a:cubicBezTo>
                <a:cubicBezTo>
                  <a:pt x="197717" y="3192"/>
                  <a:pt x="192064" y="1769"/>
                  <a:pt x="187680" y="4423"/>
                </a:cubicBezTo>
                <a:close/>
                <a:moveTo>
                  <a:pt x="123069" y="82841"/>
                </a:moveTo>
                <a:cubicBezTo>
                  <a:pt x="130414" y="78572"/>
                  <a:pt x="135376" y="70649"/>
                  <a:pt x="135376" y="61534"/>
                </a:cubicBezTo>
                <a:cubicBezTo>
                  <a:pt x="135376" y="47958"/>
                  <a:pt x="124338" y="36921"/>
                  <a:pt x="110762" y="36921"/>
                </a:cubicBezTo>
                <a:cubicBezTo>
                  <a:pt x="97186" y="36921"/>
                  <a:pt x="86148" y="47958"/>
                  <a:pt x="86148" y="61534"/>
                </a:cubicBezTo>
                <a:cubicBezTo>
                  <a:pt x="86148" y="70649"/>
                  <a:pt x="91109" y="78610"/>
                  <a:pt x="98455" y="82841"/>
                </a:cubicBezTo>
                <a:lnTo>
                  <a:pt x="98455" y="184603"/>
                </a:lnTo>
                <a:cubicBezTo>
                  <a:pt x="98455" y="191410"/>
                  <a:pt x="103955" y="196910"/>
                  <a:pt x="110762" y="196910"/>
                </a:cubicBezTo>
                <a:cubicBezTo>
                  <a:pt x="117569" y="196910"/>
                  <a:pt x="123069" y="191410"/>
                  <a:pt x="123069" y="184603"/>
                </a:cubicBezTo>
                <a:lnTo>
                  <a:pt x="123069" y="82841"/>
                </a:lnTo>
                <a:close/>
                <a:moveTo>
                  <a:pt x="69303" y="34998"/>
                </a:moveTo>
                <a:cubicBezTo>
                  <a:pt x="72072" y="30690"/>
                  <a:pt x="70803" y="24998"/>
                  <a:pt x="66534" y="22229"/>
                </a:cubicBezTo>
                <a:cubicBezTo>
                  <a:pt x="62265" y="19460"/>
                  <a:pt x="56535" y="20729"/>
                  <a:pt x="53766" y="24998"/>
                </a:cubicBezTo>
                <a:cubicBezTo>
                  <a:pt x="46997" y="35536"/>
                  <a:pt x="43074" y="48074"/>
                  <a:pt x="43074" y="61534"/>
                </a:cubicBezTo>
                <a:cubicBezTo>
                  <a:pt x="43074" y="74995"/>
                  <a:pt x="46997" y="87533"/>
                  <a:pt x="53766" y="98070"/>
                </a:cubicBezTo>
                <a:cubicBezTo>
                  <a:pt x="56535" y="102378"/>
                  <a:pt x="62227" y="103608"/>
                  <a:pt x="66534" y="100839"/>
                </a:cubicBezTo>
                <a:cubicBezTo>
                  <a:pt x="70841" y="98070"/>
                  <a:pt x="72072" y="92378"/>
                  <a:pt x="69303" y="88071"/>
                </a:cubicBezTo>
                <a:cubicBezTo>
                  <a:pt x="64380" y="80418"/>
                  <a:pt x="61534" y="71303"/>
                  <a:pt x="61534" y="61534"/>
                </a:cubicBezTo>
                <a:cubicBezTo>
                  <a:pt x="61534" y="51766"/>
                  <a:pt x="64380" y="42651"/>
                  <a:pt x="69303" y="34998"/>
                </a:cubicBezTo>
                <a:close/>
                <a:moveTo>
                  <a:pt x="167758" y="24998"/>
                </a:moveTo>
                <a:cubicBezTo>
                  <a:pt x="164989" y="20691"/>
                  <a:pt x="159297" y="19460"/>
                  <a:pt x="154990" y="22229"/>
                </a:cubicBezTo>
                <a:cubicBezTo>
                  <a:pt x="150682" y="24998"/>
                  <a:pt x="149451" y="30690"/>
                  <a:pt x="152221" y="34998"/>
                </a:cubicBezTo>
                <a:cubicBezTo>
                  <a:pt x="157143" y="42651"/>
                  <a:pt x="159989" y="51766"/>
                  <a:pt x="159989" y="61534"/>
                </a:cubicBezTo>
                <a:cubicBezTo>
                  <a:pt x="159989" y="71303"/>
                  <a:pt x="157143" y="80418"/>
                  <a:pt x="152221" y="88071"/>
                </a:cubicBezTo>
                <a:cubicBezTo>
                  <a:pt x="149451" y="92378"/>
                  <a:pt x="150721" y="98070"/>
                  <a:pt x="154990" y="100839"/>
                </a:cubicBezTo>
                <a:cubicBezTo>
                  <a:pt x="159259" y="103608"/>
                  <a:pt x="164989" y="102339"/>
                  <a:pt x="167758" y="98070"/>
                </a:cubicBezTo>
                <a:cubicBezTo>
                  <a:pt x="174527" y="87533"/>
                  <a:pt x="178450" y="74995"/>
                  <a:pt x="178450" y="61534"/>
                </a:cubicBezTo>
                <a:cubicBezTo>
                  <a:pt x="178450" y="48074"/>
                  <a:pt x="174527" y="35536"/>
                  <a:pt x="167758" y="24998"/>
                </a:cubicBezTo>
                <a:close/>
              </a:path>
            </a:pathLst>
          </a:custGeom>
          <a:solidFill>
            <a:srgbClr val="8D99AE"/>
          </a:solidFill>
          <a:ln/>
        </p:spPr>
        <p:txBody>
          <a:bodyPr/>
          <a:lstStyle/>
          <a:p>
            <a:endParaRPr lang="en-US"/>
          </a:p>
        </p:txBody>
      </p:sp>
      <p:sp>
        <p:nvSpPr>
          <p:cNvPr id="31" name="Text 29"/>
          <p:cNvSpPr/>
          <p:nvPr/>
        </p:nvSpPr>
        <p:spPr>
          <a:xfrm>
            <a:off x="7264511" y="1288118"/>
            <a:ext cx="1033777" cy="262546"/>
          </a:xfrm>
          <a:prstGeom prst="rect">
            <a:avLst/>
          </a:prstGeom>
          <a:noFill/>
          <a:ln/>
        </p:spPr>
        <p:txBody>
          <a:bodyPr wrap="square" lIns="0" tIns="0" rIns="0" bIns="0" rtlCol="0" anchor="ctr"/>
          <a:lstStyle/>
          <a:p>
            <a:pPr>
              <a:lnSpc>
                <a:spcPct val="110000"/>
              </a:lnSpc>
            </a:pPr>
            <a:r>
              <a:rPr lang="en-US" sz="1550" b="1" dirty="0">
                <a:solidFill>
                  <a:srgbClr val="2D3142"/>
                </a:solidFill>
                <a:latin typeface="Quattrocento Sans" pitchFamily="34" charset="0"/>
                <a:ea typeface="Quattrocento Sans" pitchFamily="34" charset="-122"/>
                <a:cs typeface="Quattrocento Sans" pitchFamily="34" charset="-120"/>
              </a:rPr>
              <a:t>Key Events</a:t>
            </a:r>
            <a:endParaRPr lang="en-US" sz="1600" dirty="0"/>
          </a:p>
        </p:txBody>
      </p:sp>
      <p:sp>
        <p:nvSpPr>
          <p:cNvPr id="32" name="Shape 30"/>
          <p:cNvSpPr/>
          <p:nvPr/>
        </p:nvSpPr>
        <p:spPr>
          <a:xfrm>
            <a:off x="6936328" y="1681938"/>
            <a:ext cx="4758654" cy="656366"/>
          </a:xfrm>
          <a:custGeom>
            <a:avLst/>
            <a:gdLst/>
            <a:ahLst/>
            <a:cxnLst/>
            <a:rect l="l" t="t" r="r" b="b"/>
            <a:pathLst>
              <a:path w="4758654" h="656366">
                <a:moveTo>
                  <a:pt x="32818" y="0"/>
                </a:moveTo>
                <a:lnTo>
                  <a:pt x="4693017" y="0"/>
                </a:lnTo>
                <a:cubicBezTo>
                  <a:pt x="4729268" y="0"/>
                  <a:pt x="4758654" y="29387"/>
                  <a:pt x="4758654" y="65637"/>
                </a:cubicBezTo>
                <a:lnTo>
                  <a:pt x="4758654" y="590729"/>
                </a:lnTo>
                <a:cubicBezTo>
                  <a:pt x="4758654" y="626980"/>
                  <a:pt x="4729268" y="656366"/>
                  <a:pt x="4693017" y="656366"/>
                </a:cubicBezTo>
                <a:lnTo>
                  <a:pt x="32818" y="656366"/>
                </a:lnTo>
                <a:cubicBezTo>
                  <a:pt x="14693" y="656366"/>
                  <a:pt x="0" y="641673"/>
                  <a:pt x="0" y="623548"/>
                </a:cubicBezTo>
                <a:lnTo>
                  <a:pt x="0" y="32818"/>
                </a:lnTo>
                <a:cubicBezTo>
                  <a:pt x="0" y="14693"/>
                  <a:pt x="14693" y="0"/>
                  <a:pt x="32818" y="0"/>
                </a:cubicBezTo>
                <a:close/>
              </a:path>
            </a:pathLst>
          </a:custGeom>
          <a:solidFill>
            <a:srgbClr val="EAE7D6"/>
          </a:solidFill>
          <a:ln/>
        </p:spPr>
        <p:txBody>
          <a:bodyPr/>
          <a:lstStyle/>
          <a:p>
            <a:endParaRPr lang="en-US"/>
          </a:p>
        </p:txBody>
      </p:sp>
      <p:sp>
        <p:nvSpPr>
          <p:cNvPr id="33" name="Shape 31"/>
          <p:cNvSpPr/>
          <p:nvPr/>
        </p:nvSpPr>
        <p:spPr>
          <a:xfrm>
            <a:off x="6936328" y="1681938"/>
            <a:ext cx="32818" cy="656366"/>
          </a:xfrm>
          <a:custGeom>
            <a:avLst/>
            <a:gdLst/>
            <a:ahLst/>
            <a:cxnLst/>
            <a:rect l="l" t="t" r="r" b="b"/>
            <a:pathLst>
              <a:path w="32818" h="656366">
                <a:moveTo>
                  <a:pt x="32818" y="0"/>
                </a:moveTo>
                <a:lnTo>
                  <a:pt x="32818" y="0"/>
                </a:lnTo>
                <a:lnTo>
                  <a:pt x="32818" y="656366"/>
                </a:lnTo>
                <a:lnTo>
                  <a:pt x="32818" y="656366"/>
                </a:lnTo>
                <a:cubicBezTo>
                  <a:pt x="14693" y="656366"/>
                  <a:pt x="0" y="641673"/>
                  <a:pt x="0" y="623548"/>
                </a:cubicBezTo>
                <a:lnTo>
                  <a:pt x="0" y="32818"/>
                </a:lnTo>
                <a:cubicBezTo>
                  <a:pt x="0" y="14693"/>
                  <a:pt x="14693" y="0"/>
                  <a:pt x="32818" y="0"/>
                </a:cubicBezTo>
                <a:close/>
              </a:path>
            </a:pathLst>
          </a:custGeom>
          <a:solidFill>
            <a:srgbClr val="E07A5F"/>
          </a:solidFill>
          <a:ln/>
        </p:spPr>
        <p:txBody>
          <a:bodyPr/>
          <a:lstStyle/>
          <a:p>
            <a:endParaRPr lang="en-US"/>
          </a:p>
        </p:txBody>
      </p:sp>
      <p:sp>
        <p:nvSpPr>
          <p:cNvPr id="34" name="Text 32"/>
          <p:cNvSpPr/>
          <p:nvPr/>
        </p:nvSpPr>
        <p:spPr>
          <a:xfrm>
            <a:off x="7051192" y="1780393"/>
            <a:ext cx="410229"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'data'</a:t>
            </a:r>
            <a:endParaRPr lang="en-US" sz="1600" dirty="0"/>
          </a:p>
        </p:txBody>
      </p:sp>
      <p:sp>
        <p:nvSpPr>
          <p:cNvPr id="35" name="Shape 33"/>
          <p:cNvSpPr/>
          <p:nvPr/>
        </p:nvSpPr>
        <p:spPr>
          <a:xfrm>
            <a:off x="10830489" y="1796802"/>
            <a:ext cx="763026" cy="196910"/>
          </a:xfrm>
          <a:custGeom>
            <a:avLst/>
            <a:gdLst/>
            <a:ahLst/>
            <a:cxnLst/>
            <a:rect l="l" t="t" r="r" b="b"/>
            <a:pathLst>
              <a:path w="763026" h="196910">
                <a:moveTo>
                  <a:pt x="32819" y="0"/>
                </a:moveTo>
                <a:lnTo>
                  <a:pt x="730207" y="0"/>
                </a:lnTo>
                <a:cubicBezTo>
                  <a:pt x="748332" y="0"/>
                  <a:pt x="763026" y="14694"/>
                  <a:pt x="763026" y="32819"/>
                </a:cubicBezTo>
                <a:lnTo>
                  <a:pt x="763026" y="164091"/>
                </a:lnTo>
                <a:cubicBezTo>
                  <a:pt x="763026" y="182216"/>
                  <a:pt x="748332" y="196910"/>
                  <a:pt x="730207" y="196910"/>
                </a:cubicBezTo>
                <a:lnTo>
                  <a:pt x="32819" y="196910"/>
                </a:lnTo>
                <a:cubicBezTo>
                  <a:pt x="14706" y="196910"/>
                  <a:pt x="0" y="182204"/>
                  <a:pt x="0" y="164091"/>
                </a:cubicBezTo>
                <a:lnTo>
                  <a:pt x="0" y="32819"/>
                </a:lnTo>
                <a:cubicBezTo>
                  <a:pt x="0" y="14694"/>
                  <a:pt x="14694" y="0"/>
                  <a:pt x="32819" y="0"/>
                </a:cubicBezTo>
                <a:close/>
              </a:path>
            </a:pathLst>
          </a:custGeom>
          <a:solidFill>
            <a:srgbClr val="E07A5F">
              <a:alpha val="30196"/>
            </a:srgbClr>
          </a:solidFill>
          <a:ln/>
        </p:spPr>
        <p:txBody>
          <a:bodyPr/>
          <a:lstStyle/>
          <a:p>
            <a:endParaRPr lang="en-US"/>
          </a:p>
        </p:txBody>
      </p:sp>
      <p:sp>
        <p:nvSpPr>
          <p:cNvPr id="36" name="Text 34"/>
          <p:cNvSpPr/>
          <p:nvPr/>
        </p:nvSpPr>
        <p:spPr>
          <a:xfrm>
            <a:off x="10830489" y="1796802"/>
            <a:ext cx="812253" cy="196910"/>
          </a:xfrm>
          <a:prstGeom prst="rect">
            <a:avLst/>
          </a:prstGeom>
          <a:noFill/>
          <a:ln/>
        </p:spPr>
        <p:txBody>
          <a:bodyPr wrap="square" lIns="65637" tIns="32818" rIns="65637" bIns="32818" rtlCol="0" anchor="ctr"/>
          <a:lstStyle/>
          <a:p>
            <a:pPr>
              <a:lnSpc>
                <a:spcPct val="110000"/>
              </a:lnSpc>
            </a:pPr>
            <a:r>
              <a:rPr lang="en-US" sz="775" dirty="0">
                <a:solidFill>
                  <a:srgbClr val="E07A5F"/>
                </a:solidFill>
                <a:latin typeface="Quattrocento Sans" pitchFamily="34" charset="0"/>
                <a:ea typeface="Quattrocento Sans" pitchFamily="34" charset="-122"/>
                <a:cs typeface="Quattrocento Sans" pitchFamily="34" charset="-120"/>
              </a:rPr>
              <a:t>Most Common</a:t>
            </a:r>
            <a:endParaRPr lang="en-US" sz="1600" dirty="0"/>
          </a:p>
        </p:txBody>
      </p:sp>
      <p:sp>
        <p:nvSpPr>
          <p:cNvPr id="37" name="Text 35"/>
          <p:cNvSpPr/>
          <p:nvPr/>
        </p:nvSpPr>
        <p:spPr>
          <a:xfrm>
            <a:off x="7051192" y="2042939"/>
            <a:ext cx="461097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Emitted when a chunk of data is available</a:t>
            </a:r>
            <a:endParaRPr lang="en-US" sz="1600" dirty="0"/>
          </a:p>
        </p:txBody>
      </p:sp>
      <p:sp>
        <p:nvSpPr>
          <p:cNvPr id="38" name="Shape 36"/>
          <p:cNvSpPr/>
          <p:nvPr/>
        </p:nvSpPr>
        <p:spPr>
          <a:xfrm>
            <a:off x="6936328" y="2436759"/>
            <a:ext cx="4758654" cy="656366"/>
          </a:xfrm>
          <a:custGeom>
            <a:avLst/>
            <a:gdLst/>
            <a:ahLst/>
            <a:cxnLst/>
            <a:rect l="l" t="t" r="r" b="b"/>
            <a:pathLst>
              <a:path w="4758654" h="656366">
                <a:moveTo>
                  <a:pt x="32818" y="0"/>
                </a:moveTo>
                <a:lnTo>
                  <a:pt x="4693017" y="0"/>
                </a:lnTo>
                <a:cubicBezTo>
                  <a:pt x="4729268" y="0"/>
                  <a:pt x="4758654" y="29387"/>
                  <a:pt x="4758654" y="65637"/>
                </a:cubicBezTo>
                <a:lnTo>
                  <a:pt x="4758654" y="590729"/>
                </a:lnTo>
                <a:cubicBezTo>
                  <a:pt x="4758654" y="626980"/>
                  <a:pt x="4729268" y="656366"/>
                  <a:pt x="4693017" y="656366"/>
                </a:cubicBezTo>
                <a:lnTo>
                  <a:pt x="32818" y="656366"/>
                </a:lnTo>
                <a:cubicBezTo>
                  <a:pt x="14693" y="656366"/>
                  <a:pt x="0" y="641673"/>
                  <a:pt x="0" y="623548"/>
                </a:cubicBezTo>
                <a:lnTo>
                  <a:pt x="0" y="32818"/>
                </a:lnTo>
                <a:cubicBezTo>
                  <a:pt x="0" y="14693"/>
                  <a:pt x="14693" y="0"/>
                  <a:pt x="32818" y="0"/>
                </a:cubicBezTo>
                <a:close/>
              </a:path>
            </a:pathLst>
          </a:custGeom>
          <a:solidFill>
            <a:srgbClr val="EAE7D6"/>
          </a:solidFill>
          <a:ln/>
        </p:spPr>
        <p:txBody>
          <a:bodyPr/>
          <a:lstStyle/>
          <a:p>
            <a:endParaRPr lang="en-US"/>
          </a:p>
        </p:txBody>
      </p:sp>
      <p:sp>
        <p:nvSpPr>
          <p:cNvPr id="39" name="Shape 37"/>
          <p:cNvSpPr/>
          <p:nvPr/>
        </p:nvSpPr>
        <p:spPr>
          <a:xfrm>
            <a:off x="6936328" y="2436759"/>
            <a:ext cx="32818" cy="656366"/>
          </a:xfrm>
          <a:custGeom>
            <a:avLst/>
            <a:gdLst/>
            <a:ahLst/>
            <a:cxnLst/>
            <a:rect l="l" t="t" r="r" b="b"/>
            <a:pathLst>
              <a:path w="32818" h="656366">
                <a:moveTo>
                  <a:pt x="32818" y="0"/>
                </a:moveTo>
                <a:lnTo>
                  <a:pt x="32818" y="0"/>
                </a:lnTo>
                <a:lnTo>
                  <a:pt x="32818" y="656366"/>
                </a:lnTo>
                <a:lnTo>
                  <a:pt x="32818" y="656366"/>
                </a:lnTo>
                <a:cubicBezTo>
                  <a:pt x="14693" y="656366"/>
                  <a:pt x="0" y="641673"/>
                  <a:pt x="0" y="623548"/>
                </a:cubicBezTo>
                <a:lnTo>
                  <a:pt x="0" y="32818"/>
                </a:lnTo>
                <a:cubicBezTo>
                  <a:pt x="0" y="14693"/>
                  <a:pt x="14693" y="0"/>
                  <a:pt x="32818" y="0"/>
                </a:cubicBezTo>
                <a:close/>
              </a:path>
            </a:pathLst>
          </a:custGeom>
          <a:solidFill>
            <a:srgbClr val="8D99AE"/>
          </a:solidFill>
          <a:ln/>
        </p:spPr>
        <p:txBody>
          <a:bodyPr/>
          <a:lstStyle/>
          <a:p>
            <a:endParaRPr lang="en-US"/>
          </a:p>
        </p:txBody>
      </p:sp>
      <p:sp>
        <p:nvSpPr>
          <p:cNvPr id="40" name="Text 38"/>
          <p:cNvSpPr/>
          <p:nvPr/>
        </p:nvSpPr>
        <p:spPr>
          <a:xfrm>
            <a:off x="7051192" y="2535214"/>
            <a:ext cx="4619176"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'end'</a:t>
            </a:r>
            <a:endParaRPr lang="en-US" sz="1600" dirty="0"/>
          </a:p>
        </p:txBody>
      </p:sp>
      <p:sp>
        <p:nvSpPr>
          <p:cNvPr id="41" name="Text 39"/>
          <p:cNvSpPr/>
          <p:nvPr/>
        </p:nvSpPr>
        <p:spPr>
          <a:xfrm>
            <a:off x="7051192" y="2797760"/>
            <a:ext cx="461097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Emitted when no more data available</a:t>
            </a:r>
            <a:endParaRPr lang="en-US" sz="1600" dirty="0"/>
          </a:p>
        </p:txBody>
      </p:sp>
      <p:sp>
        <p:nvSpPr>
          <p:cNvPr id="42" name="Shape 40"/>
          <p:cNvSpPr/>
          <p:nvPr/>
        </p:nvSpPr>
        <p:spPr>
          <a:xfrm>
            <a:off x="6936328" y="3191580"/>
            <a:ext cx="4758654" cy="656366"/>
          </a:xfrm>
          <a:custGeom>
            <a:avLst/>
            <a:gdLst/>
            <a:ahLst/>
            <a:cxnLst/>
            <a:rect l="l" t="t" r="r" b="b"/>
            <a:pathLst>
              <a:path w="4758654" h="656366">
                <a:moveTo>
                  <a:pt x="32818" y="0"/>
                </a:moveTo>
                <a:lnTo>
                  <a:pt x="4693017" y="0"/>
                </a:lnTo>
                <a:cubicBezTo>
                  <a:pt x="4729268" y="0"/>
                  <a:pt x="4758654" y="29387"/>
                  <a:pt x="4758654" y="65637"/>
                </a:cubicBezTo>
                <a:lnTo>
                  <a:pt x="4758654" y="590729"/>
                </a:lnTo>
                <a:cubicBezTo>
                  <a:pt x="4758654" y="626980"/>
                  <a:pt x="4729268" y="656366"/>
                  <a:pt x="4693017" y="656366"/>
                </a:cubicBezTo>
                <a:lnTo>
                  <a:pt x="32818" y="656366"/>
                </a:lnTo>
                <a:cubicBezTo>
                  <a:pt x="14693" y="656366"/>
                  <a:pt x="0" y="641673"/>
                  <a:pt x="0" y="623548"/>
                </a:cubicBezTo>
                <a:lnTo>
                  <a:pt x="0" y="32818"/>
                </a:lnTo>
                <a:cubicBezTo>
                  <a:pt x="0" y="14693"/>
                  <a:pt x="14693" y="0"/>
                  <a:pt x="32818" y="0"/>
                </a:cubicBezTo>
                <a:close/>
              </a:path>
            </a:pathLst>
          </a:custGeom>
          <a:solidFill>
            <a:srgbClr val="EAE7D6"/>
          </a:solidFill>
          <a:ln/>
        </p:spPr>
        <p:txBody>
          <a:bodyPr/>
          <a:lstStyle/>
          <a:p>
            <a:endParaRPr lang="en-US"/>
          </a:p>
        </p:txBody>
      </p:sp>
      <p:sp>
        <p:nvSpPr>
          <p:cNvPr id="43" name="Shape 41"/>
          <p:cNvSpPr/>
          <p:nvPr/>
        </p:nvSpPr>
        <p:spPr>
          <a:xfrm>
            <a:off x="6936328" y="3191580"/>
            <a:ext cx="32818" cy="656366"/>
          </a:xfrm>
          <a:custGeom>
            <a:avLst/>
            <a:gdLst/>
            <a:ahLst/>
            <a:cxnLst/>
            <a:rect l="l" t="t" r="r" b="b"/>
            <a:pathLst>
              <a:path w="32818" h="656366">
                <a:moveTo>
                  <a:pt x="32818" y="0"/>
                </a:moveTo>
                <a:lnTo>
                  <a:pt x="32818" y="0"/>
                </a:lnTo>
                <a:lnTo>
                  <a:pt x="32818" y="656366"/>
                </a:lnTo>
                <a:lnTo>
                  <a:pt x="32818" y="656366"/>
                </a:lnTo>
                <a:cubicBezTo>
                  <a:pt x="14693" y="656366"/>
                  <a:pt x="0" y="641673"/>
                  <a:pt x="0" y="623548"/>
                </a:cubicBezTo>
                <a:lnTo>
                  <a:pt x="0" y="32818"/>
                </a:lnTo>
                <a:cubicBezTo>
                  <a:pt x="0" y="14693"/>
                  <a:pt x="14693" y="0"/>
                  <a:pt x="32818" y="0"/>
                </a:cubicBezTo>
                <a:close/>
              </a:path>
            </a:pathLst>
          </a:custGeom>
          <a:solidFill>
            <a:srgbClr val="B91C2B"/>
          </a:solidFill>
          <a:ln/>
        </p:spPr>
        <p:txBody>
          <a:bodyPr/>
          <a:lstStyle/>
          <a:p>
            <a:endParaRPr lang="en-US"/>
          </a:p>
        </p:txBody>
      </p:sp>
      <p:sp>
        <p:nvSpPr>
          <p:cNvPr id="44" name="Text 42"/>
          <p:cNvSpPr/>
          <p:nvPr/>
        </p:nvSpPr>
        <p:spPr>
          <a:xfrm>
            <a:off x="7051192" y="3290035"/>
            <a:ext cx="4619176"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'error'</a:t>
            </a:r>
            <a:endParaRPr lang="en-US" sz="1600" dirty="0"/>
          </a:p>
        </p:txBody>
      </p:sp>
      <p:sp>
        <p:nvSpPr>
          <p:cNvPr id="45" name="Text 43"/>
          <p:cNvSpPr/>
          <p:nvPr/>
        </p:nvSpPr>
        <p:spPr>
          <a:xfrm>
            <a:off x="7051192" y="3552581"/>
            <a:ext cx="461097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Emitted when an error occurs</a:t>
            </a:r>
            <a:endParaRPr lang="en-US" sz="1600" dirty="0"/>
          </a:p>
        </p:txBody>
      </p:sp>
      <p:sp>
        <p:nvSpPr>
          <p:cNvPr id="46" name="Shape 44"/>
          <p:cNvSpPr/>
          <p:nvPr/>
        </p:nvSpPr>
        <p:spPr>
          <a:xfrm>
            <a:off x="6936328" y="3946401"/>
            <a:ext cx="4758654" cy="656366"/>
          </a:xfrm>
          <a:custGeom>
            <a:avLst/>
            <a:gdLst/>
            <a:ahLst/>
            <a:cxnLst/>
            <a:rect l="l" t="t" r="r" b="b"/>
            <a:pathLst>
              <a:path w="4758654" h="656366">
                <a:moveTo>
                  <a:pt x="32818" y="0"/>
                </a:moveTo>
                <a:lnTo>
                  <a:pt x="4693017" y="0"/>
                </a:lnTo>
                <a:cubicBezTo>
                  <a:pt x="4729268" y="0"/>
                  <a:pt x="4758654" y="29387"/>
                  <a:pt x="4758654" y="65637"/>
                </a:cubicBezTo>
                <a:lnTo>
                  <a:pt x="4758654" y="590729"/>
                </a:lnTo>
                <a:cubicBezTo>
                  <a:pt x="4758654" y="626980"/>
                  <a:pt x="4729268" y="656366"/>
                  <a:pt x="4693017" y="656366"/>
                </a:cubicBezTo>
                <a:lnTo>
                  <a:pt x="32818" y="656366"/>
                </a:lnTo>
                <a:cubicBezTo>
                  <a:pt x="14693" y="656366"/>
                  <a:pt x="0" y="641673"/>
                  <a:pt x="0" y="623548"/>
                </a:cubicBezTo>
                <a:lnTo>
                  <a:pt x="0" y="32818"/>
                </a:lnTo>
                <a:cubicBezTo>
                  <a:pt x="0" y="14693"/>
                  <a:pt x="14693" y="0"/>
                  <a:pt x="32818" y="0"/>
                </a:cubicBezTo>
                <a:close/>
              </a:path>
            </a:pathLst>
          </a:custGeom>
          <a:solidFill>
            <a:srgbClr val="EAE7D6"/>
          </a:solidFill>
          <a:ln/>
        </p:spPr>
        <p:txBody>
          <a:bodyPr/>
          <a:lstStyle/>
          <a:p>
            <a:endParaRPr lang="en-US"/>
          </a:p>
        </p:txBody>
      </p:sp>
      <p:sp>
        <p:nvSpPr>
          <p:cNvPr id="47" name="Shape 45"/>
          <p:cNvSpPr/>
          <p:nvPr/>
        </p:nvSpPr>
        <p:spPr>
          <a:xfrm>
            <a:off x="6936328" y="3946401"/>
            <a:ext cx="32818" cy="656366"/>
          </a:xfrm>
          <a:custGeom>
            <a:avLst/>
            <a:gdLst/>
            <a:ahLst/>
            <a:cxnLst/>
            <a:rect l="l" t="t" r="r" b="b"/>
            <a:pathLst>
              <a:path w="32818" h="656366">
                <a:moveTo>
                  <a:pt x="32818" y="0"/>
                </a:moveTo>
                <a:lnTo>
                  <a:pt x="32818" y="0"/>
                </a:lnTo>
                <a:lnTo>
                  <a:pt x="32818" y="656366"/>
                </a:lnTo>
                <a:lnTo>
                  <a:pt x="32818" y="656366"/>
                </a:lnTo>
                <a:cubicBezTo>
                  <a:pt x="14693" y="656366"/>
                  <a:pt x="0" y="641673"/>
                  <a:pt x="0" y="623548"/>
                </a:cubicBezTo>
                <a:lnTo>
                  <a:pt x="0" y="32818"/>
                </a:lnTo>
                <a:cubicBezTo>
                  <a:pt x="0" y="14693"/>
                  <a:pt x="14693" y="0"/>
                  <a:pt x="32818" y="0"/>
                </a:cubicBezTo>
                <a:close/>
              </a:path>
            </a:pathLst>
          </a:custGeom>
          <a:solidFill>
            <a:srgbClr val="8D99AE"/>
          </a:solidFill>
          <a:ln/>
        </p:spPr>
        <p:txBody>
          <a:bodyPr/>
          <a:lstStyle/>
          <a:p>
            <a:endParaRPr lang="en-US"/>
          </a:p>
        </p:txBody>
      </p:sp>
      <p:sp>
        <p:nvSpPr>
          <p:cNvPr id="48" name="Text 46"/>
          <p:cNvSpPr/>
          <p:nvPr/>
        </p:nvSpPr>
        <p:spPr>
          <a:xfrm>
            <a:off x="7051192" y="4044856"/>
            <a:ext cx="4619176" cy="229728"/>
          </a:xfrm>
          <a:prstGeom prst="rect">
            <a:avLst/>
          </a:prstGeom>
          <a:noFill/>
          <a:ln/>
        </p:spPr>
        <p:txBody>
          <a:bodyPr wrap="square" lIns="0" tIns="0" rIns="0" bIns="0" rtlCol="0" anchor="ctr"/>
          <a:lstStyle/>
          <a:p>
            <a:pPr>
              <a:lnSpc>
                <a:spcPct val="130000"/>
              </a:lnSpc>
            </a:pPr>
            <a:r>
              <a:rPr lang="en-US" sz="1163" b="1" dirty="0">
                <a:solidFill>
                  <a:srgbClr val="2D3142"/>
                </a:solidFill>
                <a:latin typeface="Quattrocento Sans" pitchFamily="34" charset="0"/>
                <a:ea typeface="Quattrocento Sans" pitchFamily="34" charset="-122"/>
                <a:cs typeface="Quattrocento Sans" pitchFamily="34" charset="-120"/>
              </a:rPr>
              <a:t>'close'</a:t>
            </a:r>
            <a:endParaRPr lang="en-US" sz="1600" dirty="0"/>
          </a:p>
        </p:txBody>
      </p:sp>
      <p:sp>
        <p:nvSpPr>
          <p:cNvPr id="49" name="Text 47"/>
          <p:cNvSpPr/>
          <p:nvPr/>
        </p:nvSpPr>
        <p:spPr>
          <a:xfrm>
            <a:off x="7051192" y="4307402"/>
            <a:ext cx="4610972" cy="196910"/>
          </a:xfrm>
          <a:prstGeom prst="rect">
            <a:avLst/>
          </a:prstGeom>
          <a:noFill/>
          <a:ln/>
        </p:spPr>
        <p:txBody>
          <a:bodyPr wrap="square" lIns="0" tIns="0" rIns="0" bIns="0" rtlCol="0" anchor="ctr"/>
          <a:lstStyle/>
          <a:p>
            <a:pPr>
              <a:lnSpc>
                <a:spcPct val="130000"/>
              </a:lnSpc>
            </a:pPr>
            <a:r>
              <a:rPr lang="en-US" sz="1034" dirty="0">
                <a:solidFill>
                  <a:srgbClr val="8D99AE"/>
                </a:solidFill>
                <a:latin typeface="Quattrocento Sans" pitchFamily="34" charset="0"/>
                <a:ea typeface="Quattrocento Sans" pitchFamily="34" charset="-122"/>
                <a:cs typeface="Quattrocento Sans" pitchFamily="34" charset="-120"/>
              </a:rPr>
              <a:t>Emitted when stream is closed</a:t>
            </a:r>
            <a:endParaRPr lang="en-US" sz="1600" dirty="0"/>
          </a:p>
        </p:txBody>
      </p:sp>
      <p:sp>
        <p:nvSpPr>
          <p:cNvPr id="50" name="Shape 48"/>
          <p:cNvSpPr/>
          <p:nvPr/>
        </p:nvSpPr>
        <p:spPr>
          <a:xfrm>
            <a:off x="6751725" y="4910439"/>
            <a:ext cx="5111451" cy="1944485"/>
          </a:xfrm>
          <a:custGeom>
            <a:avLst/>
            <a:gdLst/>
            <a:ahLst/>
            <a:cxnLst/>
            <a:rect l="l" t="t" r="r" b="b"/>
            <a:pathLst>
              <a:path w="5111451" h="1944485">
                <a:moveTo>
                  <a:pt x="98449" y="0"/>
                </a:moveTo>
                <a:lnTo>
                  <a:pt x="5013002" y="0"/>
                </a:lnTo>
                <a:cubicBezTo>
                  <a:pt x="5067374" y="0"/>
                  <a:pt x="5111451" y="44077"/>
                  <a:pt x="5111451" y="98449"/>
                </a:cubicBezTo>
                <a:lnTo>
                  <a:pt x="5111451" y="1846035"/>
                </a:lnTo>
                <a:cubicBezTo>
                  <a:pt x="5111451" y="1900407"/>
                  <a:pt x="5067374" y="1944485"/>
                  <a:pt x="5013002" y="1944485"/>
                </a:cubicBezTo>
                <a:lnTo>
                  <a:pt x="98449" y="1944485"/>
                </a:lnTo>
                <a:cubicBezTo>
                  <a:pt x="44077" y="1944485"/>
                  <a:pt x="0" y="1900407"/>
                  <a:pt x="0" y="1846035"/>
                </a:cubicBezTo>
                <a:lnTo>
                  <a:pt x="0" y="98449"/>
                </a:lnTo>
                <a:cubicBezTo>
                  <a:pt x="0" y="44077"/>
                  <a:pt x="44077" y="0"/>
                  <a:pt x="98449" y="0"/>
                </a:cubicBezTo>
                <a:close/>
              </a:path>
            </a:pathLst>
          </a:custGeom>
          <a:solidFill>
            <a:srgbClr val="EAE7D6"/>
          </a:solidFill>
          <a:ln/>
        </p:spPr>
        <p:txBody>
          <a:bodyPr/>
          <a:lstStyle/>
          <a:p>
            <a:endParaRPr lang="en-US"/>
          </a:p>
        </p:txBody>
      </p:sp>
      <p:sp>
        <p:nvSpPr>
          <p:cNvPr id="51" name="Shape 49"/>
          <p:cNvSpPr/>
          <p:nvPr/>
        </p:nvSpPr>
        <p:spPr>
          <a:xfrm>
            <a:off x="6940430" y="5111451"/>
            <a:ext cx="164092" cy="164092"/>
          </a:xfrm>
          <a:custGeom>
            <a:avLst/>
            <a:gdLst/>
            <a:ahLst/>
            <a:cxnLst/>
            <a:rect l="l" t="t" r="r" b="b"/>
            <a:pathLst>
              <a:path w="164092" h="164092">
                <a:moveTo>
                  <a:pt x="64098" y="15384"/>
                </a:moveTo>
                <a:lnTo>
                  <a:pt x="99993" y="15384"/>
                </a:lnTo>
                <a:cubicBezTo>
                  <a:pt x="101403" y="15384"/>
                  <a:pt x="102557" y="16537"/>
                  <a:pt x="102557" y="17948"/>
                </a:cubicBezTo>
                <a:lnTo>
                  <a:pt x="102557" y="30767"/>
                </a:lnTo>
                <a:lnTo>
                  <a:pt x="61534" y="30767"/>
                </a:lnTo>
                <a:lnTo>
                  <a:pt x="61534" y="17948"/>
                </a:lnTo>
                <a:cubicBezTo>
                  <a:pt x="61534" y="16537"/>
                  <a:pt x="62688" y="15384"/>
                  <a:pt x="64098" y="15384"/>
                </a:cubicBezTo>
                <a:close/>
                <a:moveTo>
                  <a:pt x="46151" y="17948"/>
                </a:moveTo>
                <a:lnTo>
                  <a:pt x="46151" y="30767"/>
                </a:lnTo>
                <a:lnTo>
                  <a:pt x="20511" y="30767"/>
                </a:lnTo>
                <a:cubicBezTo>
                  <a:pt x="9198" y="30767"/>
                  <a:pt x="0" y="39965"/>
                  <a:pt x="0" y="51279"/>
                </a:cubicBezTo>
                <a:lnTo>
                  <a:pt x="0" y="82046"/>
                </a:lnTo>
                <a:lnTo>
                  <a:pt x="164092" y="82046"/>
                </a:lnTo>
                <a:lnTo>
                  <a:pt x="164092" y="51279"/>
                </a:lnTo>
                <a:cubicBezTo>
                  <a:pt x="164092" y="39965"/>
                  <a:pt x="154893" y="30767"/>
                  <a:pt x="143580" y="30767"/>
                </a:cubicBezTo>
                <a:lnTo>
                  <a:pt x="117941" y="30767"/>
                </a:lnTo>
                <a:lnTo>
                  <a:pt x="117941" y="17948"/>
                </a:lnTo>
                <a:cubicBezTo>
                  <a:pt x="117941" y="8044"/>
                  <a:pt x="109896" y="0"/>
                  <a:pt x="99993" y="0"/>
                </a:cubicBezTo>
                <a:lnTo>
                  <a:pt x="64098" y="0"/>
                </a:lnTo>
                <a:cubicBezTo>
                  <a:pt x="54195" y="0"/>
                  <a:pt x="46151" y="8044"/>
                  <a:pt x="46151" y="17948"/>
                </a:cubicBezTo>
                <a:close/>
                <a:moveTo>
                  <a:pt x="164092" y="97429"/>
                </a:moveTo>
                <a:lnTo>
                  <a:pt x="102557" y="97429"/>
                </a:lnTo>
                <a:lnTo>
                  <a:pt x="102557" y="102557"/>
                </a:lnTo>
                <a:cubicBezTo>
                  <a:pt x="102557" y="108230"/>
                  <a:pt x="97974" y="112813"/>
                  <a:pt x="92301" y="112813"/>
                </a:cubicBezTo>
                <a:lnTo>
                  <a:pt x="71790" y="112813"/>
                </a:lnTo>
                <a:cubicBezTo>
                  <a:pt x="66117" y="112813"/>
                  <a:pt x="61534" y="108230"/>
                  <a:pt x="61534" y="102557"/>
                </a:cubicBezTo>
                <a:lnTo>
                  <a:pt x="61534" y="97429"/>
                </a:lnTo>
                <a:lnTo>
                  <a:pt x="0" y="97429"/>
                </a:lnTo>
                <a:lnTo>
                  <a:pt x="0" y="133324"/>
                </a:lnTo>
                <a:cubicBezTo>
                  <a:pt x="0" y="144638"/>
                  <a:pt x="9198" y="153836"/>
                  <a:pt x="20511" y="153836"/>
                </a:cubicBezTo>
                <a:lnTo>
                  <a:pt x="143580" y="153836"/>
                </a:lnTo>
                <a:cubicBezTo>
                  <a:pt x="154893" y="153836"/>
                  <a:pt x="164092" y="144638"/>
                  <a:pt x="164092" y="133324"/>
                </a:cubicBezTo>
                <a:lnTo>
                  <a:pt x="164092" y="97429"/>
                </a:lnTo>
                <a:close/>
              </a:path>
            </a:pathLst>
          </a:custGeom>
          <a:solidFill>
            <a:srgbClr val="E07A5F"/>
          </a:solidFill>
          <a:ln/>
        </p:spPr>
        <p:txBody>
          <a:bodyPr/>
          <a:lstStyle/>
          <a:p>
            <a:endParaRPr lang="en-US"/>
          </a:p>
        </p:txBody>
      </p:sp>
      <p:sp>
        <p:nvSpPr>
          <p:cNvPr id="52" name="Text 50"/>
          <p:cNvSpPr/>
          <p:nvPr/>
        </p:nvSpPr>
        <p:spPr>
          <a:xfrm>
            <a:off x="7223488" y="5078633"/>
            <a:ext cx="1329141" cy="229728"/>
          </a:xfrm>
          <a:prstGeom prst="rect">
            <a:avLst/>
          </a:prstGeom>
          <a:noFill/>
          <a:ln/>
        </p:spPr>
        <p:txBody>
          <a:bodyPr wrap="square" lIns="0" tIns="0" rIns="0" bIns="0" rtlCol="0" anchor="ctr"/>
          <a:lstStyle/>
          <a:p>
            <a:pPr>
              <a:lnSpc>
                <a:spcPct val="120000"/>
              </a:lnSpc>
            </a:pPr>
            <a:r>
              <a:rPr lang="en-US" sz="1292" b="1" dirty="0">
                <a:solidFill>
                  <a:srgbClr val="2D3142"/>
                </a:solidFill>
                <a:latin typeface="Quattrocento Sans" pitchFamily="34" charset="0"/>
                <a:ea typeface="Quattrocento Sans" pitchFamily="34" charset="-122"/>
                <a:cs typeface="Quattrocento Sans" pitchFamily="34" charset="-120"/>
              </a:rPr>
              <a:t>Primary Use Case</a:t>
            </a:r>
            <a:endParaRPr lang="en-US" sz="1600" dirty="0"/>
          </a:p>
        </p:txBody>
      </p:sp>
      <p:sp>
        <p:nvSpPr>
          <p:cNvPr id="53" name="Shape 51"/>
          <p:cNvSpPr/>
          <p:nvPr/>
        </p:nvSpPr>
        <p:spPr>
          <a:xfrm>
            <a:off x="6919919" y="5406816"/>
            <a:ext cx="4775063" cy="590729"/>
          </a:xfrm>
          <a:custGeom>
            <a:avLst/>
            <a:gdLst/>
            <a:ahLst/>
            <a:cxnLst/>
            <a:rect l="l" t="t" r="r" b="b"/>
            <a:pathLst>
              <a:path w="4775063" h="590729">
                <a:moveTo>
                  <a:pt x="65636" y="0"/>
                </a:moveTo>
                <a:lnTo>
                  <a:pt x="4709427" y="0"/>
                </a:lnTo>
                <a:cubicBezTo>
                  <a:pt x="4745677" y="0"/>
                  <a:pt x="4775063" y="29386"/>
                  <a:pt x="4775063" y="65636"/>
                </a:cubicBezTo>
                <a:lnTo>
                  <a:pt x="4775063" y="525094"/>
                </a:lnTo>
                <a:cubicBezTo>
                  <a:pt x="4775063" y="561343"/>
                  <a:pt x="4745677" y="590729"/>
                  <a:pt x="4709427" y="590729"/>
                </a:cubicBezTo>
                <a:lnTo>
                  <a:pt x="65636" y="590729"/>
                </a:lnTo>
                <a:cubicBezTo>
                  <a:pt x="29410" y="590729"/>
                  <a:pt x="0" y="561319"/>
                  <a:pt x="0" y="525094"/>
                </a:cubicBezTo>
                <a:lnTo>
                  <a:pt x="0" y="65636"/>
                </a:lnTo>
                <a:cubicBezTo>
                  <a:pt x="0" y="29386"/>
                  <a:pt x="29386" y="0"/>
                  <a:pt x="65636" y="0"/>
                </a:cubicBezTo>
                <a:close/>
              </a:path>
            </a:pathLst>
          </a:custGeom>
          <a:solidFill>
            <a:srgbClr val="EAE7D6"/>
          </a:solidFill>
          <a:ln/>
        </p:spPr>
        <p:txBody>
          <a:bodyPr/>
          <a:lstStyle/>
          <a:p>
            <a:endParaRPr lang="en-US"/>
          </a:p>
        </p:txBody>
      </p:sp>
      <p:sp>
        <p:nvSpPr>
          <p:cNvPr id="54" name="Text 52"/>
          <p:cNvSpPr/>
          <p:nvPr/>
        </p:nvSpPr>
        <p:spPr>
          <a:xfrm>
            <a:off x="7018374" y="5505271"/>
            <a:ext cx="4643790" cy="196910"/>
          </a:xfrm>
          <a:prstGeom prst="rect">
            <a:avLst/>
          </a:prstGeom>
          <a:noFill/>
          <a:ln/>
        </p:spPr>
        <p:txBody>
          <a:bodyPr wrap="square" lIns="0" tIns="0" rIns="0" bIns="0" rtlCol="0" anchor="ctr"/>
          <a:lstStyle/>
          <a:p>
            <a:pPr>
              <a:lnSpc>
                <a:spcPct val="130000"/>
              </a:lnSpc>
            </a:pPr>
            <a:r>
              <a:rPr lang="en-US" sz="1034" b="1" dirty="0">
                <a:solidFill>
                  <a:srgbClr val="2D3142"/>
                </a:solidFill>
                <a:latin typeface="Quattrocento Sans" pitchFamily="34" charset="0"/>
                <a:ea typeface="Quattrocento Sans" pitchFamily="34" charset="-122"/>
                <a:cs typeface="Quattrocento Sans" pitchFamily="34" charset="-120"/>
              </a:rPr>
              <a:t>Reading Large Files</a:t>
            </a:r>
            <a:endParaRPr lang="en-US" sz="1600" dirty="0"/>
          </a:p>
        </p:txBody>
      </p:sp>
      <p:sp>
        <p:nvSpPr>
          <p:cNvPr id="55" name="Text 53"/>
          <p:cNvSpPr/>
          <p:nvPr/>
        </p:nvSpPr>
        <p:spPr>
          <a:xfrm>
            <a:off x="7018374" y="5734999"/>
            <a:ext cx="4635585" cy="164092"/>
          </a:xfrm>
          <a:prstGeom prst="rect">
            <a:avLst/>
          </a:prstGeom>
          <a:noFill/>
          <a:ln/>
        </p:spPr>
        <p:txBody>
          <a:bodyPr wrap="square" lIns="0" tIns="0" rIns="0" bIns="0" rtlCol="0" anchor="ctr"/>
          <a:lstStyle/>
          <a:p>
            <a:pPr>
              <a:lnSpc>
                <a:spcPct val="120000"/>
              </a:lnSpc>
            </a:pPr>
            <a:r>
              <a:rPr lang="en-US" sz="904" dirty="0">
                <a:solidFill>
                  <a:srgbClr val="8D99AE"/>
                </a:solidFill>
                <a:latin typeface="Quattrocento Sans" pitchFamily="34" charset="0"/>
                <a:ea typeface="Quattrocento Sans" pitchFamily="34" charset="-122"/>
                <a:cs typeface="Quattrocento Sans" pitchFamily="34" charset="-120"/>
              </a:rPr>
              <a:t>Process multi-GB files without memory issues</a:t>
            </a:r>
            <a:endParaRPr lang="en-US" sz="1600" dirty="0"/>
          </a:p>
        </p:txBody>
      </p:sp>
      <p:sp>
        <p:nvSpPr>
          <p:cNvPr id="56" name="Shape 54"/>
          <p:cNvSpPr/>
          <p:nvPr/>
        </p:nvSpPr>
        <p:spPr>
          <a:xfrm>
            <a:off x="6919919" y="6096000"/>
            <a:ext cx="4775063" cy="590729"/>
          </a:xfrm>
          <a:custGeom>
            <a:avLst/>
            <a:gdLst/>
            <a:ahLst/>
            <a:cxnLst/>
            <a:rect l="l" t="t" r="r" b="b"/>
            <a:pathLst>
              <a:path w="4775063" h="590729">
                <a:moveTo>
                  <a:pt x="65636" y="0"/>
                </a:moveTo>
                <a:lnTo>
                  <a:pt x="4709427" y="0"/>
                </a:lnTo>
                <a:cubicBezTo>
                  <a:pt x="4745677" y="0"/>
                  <a:pt x="4775063" y="29386"/>
                  <a:pt x="4775063" y="65636"/>
                </a:cubicBezTo>
                <a:lnTo>
                  <a:pt x="4775063" y="525094"/>
                </a:lnTo>
                <a:cubicBezTo>
                  <a:pt x="4775063" y="561343"/>
                  <a:pt x="4745677" y="590729"/>
                  <a:pt x="4709427" y="590729"/>
                </a:cubicBezTo>
                <a:lnTo>
                  <a:pt x="65636" y="590729"/>
                </a:lnTo>
                <a:cubicBezTo>
                  <a:pt x="29410" y="590729"/>
                  <a:pt x="0" y="561319"/>
                  <a:pt x="0" y="525094"/>
                </a:cubicBezTo>
                <a:lnTo>
                  <a:pt x="0" y="65636"/>
                </a:lnTo>
                <a:cubicBezTo>
                  <a:pt x="0" y="29386"/>
                  <a:pt x="29386" y="0"/>
                  <a:pt x="65636" y="0"/>
                </a:cubicBezTo>
                <a:close/>
              </a:path>
            </a:pathLst>
          </a:custGeom>
          <a:solidFill>
            <a:srgbClr val="EAE7D6"/>
          </a:solidFill>
          <a:ln/>
        </p:spPr>
        <p:txBody>
          <a:bodyPr/>
          <a:lstStyle/>
          <a:p>
            <a:endParaRPr lang="en-US"/>
          </a:p>
        </p:txBody>
      </p:sp>
      <p:sp>
        <p:nvSpPr>
          <p:cNvPr id="57" name="Text 55"/>
          <p:cNvSpPr/>
          <p:nvPr/>
        </p:nvSpPr>
        <p:spPr>
          <a:xfrm>
            <a:off x="7018374" y="6194455"/>
            <a:ext cx="4643790" cy="196910"/>
          </a:xfrm>
          <a:prstGeom prst="rect">
            <a:avLst/>
          </a:prstGeom>
          <a:noFill/>
          <a:ln/>
        </p:spPr>
        <p:txBody>
          <a:bodyPr wrap="square" lIns="0" tIns="0" rIns="0" bIns="0" rtlCol="0" anchor="ctr"/>
          <a:lstStyle/>
          <a:p>
            <a:pPr>
              <a:lnSpc>
                <a:spcPct val="130000"/>
              </a:lnSpc>
            </a:pPr>
            <a:r>
              <a:rPr lang="en-US" sz="1034" b="1" dirty="0">
                <a:solidFill>
                  <a:srgbClr val="2D3142"/>
                </a:solidFill>
                <a:latin typeface="Quattrocento Sans" pitchFamily="34" charset="0"/>
                <a:ea typeface="Quattrocento Sans" pitchFamily="34" charset="-122"/>
                <a:cs typeface="Quattrocento Sans" pitchFamily="34" charset="-120"/>
              </a:rPr>
              <a:t>HTTP Request Body</a:t>
            </a:r>
            <a:endParaRPr lang="en-US" sz="1600" dirty="0"/>
          </a:p>
        </p:txBody>
      </p:sp>
      <p:sp>
        <p:nvSpPr>
          <p:cNvPr id="58" name="Text 56"/>
          <p:cNvSpPr/>
          <p:nvPr/>
        </p:nvSpPr>
        <p:spPr>
          <a:xfrm>
            <a:off x="7018374" y="6424183"/>
            <a:ext cx="4635585" cy="164092"/>
          </a:xfrm>
          <a:prstGeom prst="rect">
            <a:avLst/>
          </a:prstGeom>
          <a:noFill/>
          <a:ln/>
        </p:spPr>
        <p:txBody>
          <a:bodyPr wrap="square" lIns="0" tIns="0" rIns="0" bIns="0" rtlCol="0" anchor="ctr"/>
          <a:lstStyle/>
          <a:p>
            <a:pPr>
              <a:lnSpc>
                <a:spcPct val="120000"/>
              </a:lnSpc>
            </a:pPr>
            <a:r>
              <a:rPr lang="en-US" sz="904" dirty="0">
                <a:solidFill>
                  <a:srgbClr val="8D99AE"/>
                </a:solidFill>
                <a:latin typeface="Quattrocento Sans" pitchFamily="34" charset="0"/>
                <a:ea typeface="Quattrocento Sans" pitchFamily="34" charset="-122"/>
                <a:cs typeface="Quattrocento Sans" pitchFamily="34" charset="-120"/>
              </a:rPr>
              <a:t>Handle file uploads, JSON payloads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39610" y="390552"/>
            <a:ext cx="407532" cy="407532"/>
          </a:xfrm>
          <a:custGeom>
            <a:avLst/>
            <a:gdLst/>
            <a:ahLst/>
            <a:cxnLst/>
            <a:rect l="l" t="t" r="r" b="b"/>
            <a:pathLst>
              <a:path w="407532" h="407532">
                <a:moveTo>
                  <a:pt x="67923" y="0"/>
                </a:moveTo>
                <a:lnTo>
                  <a:pt x="339609" y="0"/>
                </a:lnTo>
                <a:cubicBezTo>
                  <a:pt x="377122" y="0"/>
                  <a:pt x="407532" y="30410"/>
                  <a:pt x="407532" y="67923"/>
                </a:cubicBezTo>
                <a:lnTo>
                  <a:pt x="407532" y="339609"/>
                </a:lnTo>
                <a:cubicBezTo>
                  <a:pt x="407532" y="377122"/>
                  <a:pt x="377122" y="407532"/>
                  <a:pt x="339609" y="407532"/>
                </a:cubicBezTo>
                <a:lnTo>
                  <a:pt x="67923" y="407532"/>
                </a:lnTo>
                <a:cubicBezTo>
                  <a:pt x="30410" y="407532"/>
                  <a:pt x="0" y="377122"/>
                  <a:pt x="0" y="339609"/>
                </a:cubicBezTo>
                <a:lnTo>
                  <a:pt x="0" y="67923"/>
                </a:lnTo>
                <a:cubicBezTo>
                  <a:pt x="0" y="30435"/>
                  <a:pt x="30435" y="0"/>
                  <a:pt x="67923" y="0"/>
                </a:cubicBezTo>
                <a:close/>
              </a:path>
            </a:pathLst>
          </a:custGeom>
          <a:gradFill flip="none" rotWithShape="1">
            <a:gsLst>
              <a:gs pos="0">
                <a:srgbClr val="8D99AE"/>
              </a:gs>
              <a:gs pos="100000">
                <a:srgbClr val="8D99AE"/>
              </a:gs>
            </a:gsLst>
            <a:lin ang="2700000" scaled="1"/>
          </a:gradFill>
          <a:ln/>
        </p:spPr>
        <p:txBody>
          <a:bodyPr/>
          <a:lstStyle/>
          <a:p>
            <a:endParaRPr lang="en-US"/>
          </a:p>
        </p:txBody>
      </p:sp>
      <p:sp>
        <p:nvSpPr>
          <p:cNvPr id="3" name="Shape 1"/>
          <p:cNvSpPr/>
          <p:nvPr/>
        </p:nvSpPr>
        <p:spPr>
          <a:xfrm>
            <a:off x="479699" y="509415"/>
            <a:ext cx="127354" cy="169805"/>
          </a:xfrm>
          <a:custGeom>
            <a:avLst/>
            <a:gdLst/>
            <a:ahLst/>
            <a:cxnLst/>
            <a:rect l="l" t="t" r="r" b="b"/>
            <a:pathLst>
              <a:path w="127354" h="169805">
                <a:moveTo>
                  <a:pt x="71172" y="5771"/>
                </a:moveTo>
                <a:cubicBezTo>
                  <a:pt x="67027" y="1625"/>
                  <a:pt x="60294" y="1625"/>
                  <a:pt x="56148" y="5771"/>
                </a:cubicBezTo>
                <a:lnTo>
                  <a:pt x="3084" y="58835"/>
                </a:lnTo>
                <a:cubicBezTo>
                  <a:pt x="-1061" y="62980"/>
                  <a:pt x="-1061" y="69713"/>
                  <a:pt x="3084" y="73859"/>
                </a:cubicBezTo>
                <a:cubicBezTo>
                  <a:pt x="7230" y="78004"/>
                  <a:pt x="13962" y="78004"/>
                  <a:pt x="18108" y="73859"/>
                </a:cubicBezTo>
                <a:lnTo>
                  <a:pt x="53064" y="38903"/>
                </a:lnTo>
                <a:lnTo>
                  <a:pt x="53064" y="161845"/>
                </a:lnTo>
                <a:cubicBezTo>
                  <a:pt x="53064" y="167716"/>
                  <a:pt x="57807" y="172458"/>
                  <a:pt x="63677" y="172458"/>
                </a:cubicBezTo>
                <a:cubicBezTo>
                  <a:pt x="69547" y="172458"/>
                  <a:pt x="74290" y="167716"/>
                  <a:pt x="74290" y="161845"/>
                </a:cubicBezTo>
                <a:lnTo>
                  <a:pt x="74290" y="38903"/>
                </a:lnTo>
                <a:lnTo>
                  <a:pt x="109246" y="73859"/>
                </a:lnTo>
                <a:cubicBezTo>
                  <a:pt x="113391" y="78004"/>
                  <a:pt x="120124" y="78004"/>
                  <a:pt x="124269" y="73859"/>
                </a:cubicBezTo>
                <a:cubicBezTo>
                  <a:pt x="128415" y="69713"/>
                  <a:pt x="128415" y="62980"/>
                  <a:pt x="124269" y="58835"/>
                </a:cubicBezTo>
                <a:lnTo>
                  <a:pt x="71205" y="5771"/>
                </a:lnTo>
                <a:close/>
              </a:path>
            </a:pathLst>
          </a:custGeom>
          <a:solidFill>
            <a:srgbClr val="FFFFFF"/>
          </a:solidFill>
          <a:ln/>
        </p:spPr>
        <p:txBody>
          <a:bodyPr/>
          <a:lstStyle/>
          <a:p>
            <a:endParaRPr lang="en-US"/>
          </a:p>
        </p:txBody>
      </p:sp>
      <p:sp>
        <p:nvSpPr>
          <p:cNvPr id="4" name="Text 2"/>
          <p:cNvSpPr/>
          <p:nvPr/>
        </p:nvSpPr>
        <p:spPr>
          <a:xfrm>
            <a:off x="849025" y="339610"/>
            <a:ext cx="2249916" cy="169805"/>
          </a:xfrm>
          <a:prstGeom prst="rect">
            <a:avLst/>
          </a:prstGeom>
          <a:noFill/>
          <a:ln/>
        </p:spPr>
        <p:txBody>
          <a:bodyPr wrap="square" lIns="0" tIns="0" rIns="0" bIns="0" rtlCol="0" anchor="ctr"/>
          <a:lstStyle/>
          <a:p>
            <a:pPr>
              <a:lnSpc>
                <a:spcPct val="120000"/>
              </a:lnSpc>
            </a:pPr>
            <a:r>
              <a:rPr lang="en-US" sz="936" b="1" kern="0" spc="47" dirty="0">
                <a:solidFill>
                  <a:srgbClr val="8D99AE"/>
                </a:solidFill>
                <a:latin typeface="Quattrocento Sans" pitchFamily="34" charset="0"/>
                <a:ea typeface="Quattrocento Sans" pitchFamily="34" charset="-122"/>
                <a:cs typeface="Quattrocento Sans" pitchFamily="34" charset="-120"/>
              </a:rPr>
              <a:t>Type 2</a:t>
            </a:r>
            <a:endParaRPr lang="en-US" sz="1600" dirty="0"/>
          </a:p>
        </p:txBody>
      </p:sp>
      <p:sp>
        <p:nvSpPr>
          <p:cNvPr id="5" name="Text 3"/>
          <p:cNvSpPr/>
          <p:nvPr/>
        </p:nvSpPr>
        <p:spPr>
          <a:xfrm>
            <a:off x="849025" y="509415"/>
            <a:ext cx="2343309" cy="339610"/>
          </a:xfrm>
          <a:prstGeom prst="rect">
            <a:avLst/>
          </a:prstGeom>
          <a:noFill/>
          <a:ln/>
        </p:spPr>
        <p:txBody>
          <a:bodyPr wrap="square" lIns="0" tIns="0" rIns="0" bIns="0" rtlCol="0" anchor="ctr"/>
          <a:lstStyle/>
          <a:p>
            <a:pPr>
              <a:lnSpc>
                <a:spcPct val="90000"/>
              </a:lnSpc>
            </a:pPr>
            <a:r>
              <a:rPr lang="en-US" sz="2407" b="1" dirty="0">
                <a:solidFill>
                  <a:srgbClr val="2D3142"/>
                </a:solidFill>
                <a:latin typeface="Liter" pitchFamily="34" charset="0"/>
                <a:ea typeface="Liter" pitchFamily="34" charset="-122"/>
                <a:cs typeface="Liter" pitchFamily="34" charset="-120"/>
              </a:rPr>
              <a:t>Writable Stream</a:t>
            </a:r>
            <a:endParaRPr lang="en-US" sz="1600" dirty="0"/>
          </a:p>
        </p:txBody>
      </p:sp>
      <p:sp>
        <p:nvSpPr>
          <p:cNvPr id="6" name="Shape 4"/>
          <p:cNvSpPr/>
          <p:nvPr/>
        </p:nvSpPr>
        <p:spPr>
          <a:xfrm>
            <a:off x="339610" y="950908"/>
            <a:ext cx="1086752" cy="33961"/>
          </a:xfrm>
          <a:custGeom>
            <a:avLst/>
            <a:gdLst/>
            <a:ahLst/>
            <a:cxnLst/>
            <a:rect l="l" t="t" r="r" b="b"/>
            <a:pathLst>
              <a:path w="1086752" h="33961">
                <a:moveTo>
                  <a:pt x="0" y="0"/>
                </a:moveTo>
                <a:lnTo>
                  <a:pt x="1086752" y="0"/>
                </a:lnTo>
                <a:lnTo>
                  <a:pt x="1086752" y="33961"/>
                </a:lnTo>
                <a:lnTo>
                  <a:pt x="0" y="33961"/>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7" name="Shape 5"/>
          <p:cNvSpPr/>
          <p:nvPr/>
        </p:nvSpPr>
        <p:spPr>
          <a:xfrm>
            <a:off x="343855" y="1158919"/>
            <a:ext cx="5662997" cy="2249916"/>
          </a:xfrm>
          <a:custGeom>
            <a:avLst/>
            <a:gdLst/>
            <a:ahLst/>
            <a:cxnLst/>
            <a:rect l="l" t="t" r="r" b="b"/>
            <a:pathLst>
              <a:path w="5662997" h="2249916">
                <a:moveTo>
                  <a:pt x="101876" y="0"/>
                </a:moveTo>
                <a:lnTo>
                  <a:pt x="5561121" y="0"/>
                </a:lnTo>
                <a:cubicBezTo>
                  <a:pt x="5617386" y="0"/>
                  <a:pt x="5662997" y="45612"/>
                  <a:pt x="5662997" y="101876"/>
                </a:cubicBezTo>
                <a:lnTo>
                  <a:pt x="5662997" y="2148040"/>
                </a:lnTo>
                <a:cubicBezTo>
                  <a:pt x="5662997" y="2204305"/>
                  <a:pt x="5617386" y="2249916"/>
                  <a:pt x="5561121" y="2249916"/>
                </a:cubicBezTo>
                <a:lnTo>
                  <a:pt x="101876" y="2249916"/>
                </a:lnTo>
                <a:cubicBezTo>
                  <a:pt x="45612" y="2249916"/>
                  <a:pt x="0" y="2204305"/>
                  <a:pt x="0" y="2148040"/>
                </a:cubicBezTo>
                <a:lnTo>
                  <a:pt x="0" y="101876"/>
                </a:lnTo>
                <a:cubicBezTo>
                  <a:pt x="0" y="45649"/>
                  <a:pt x="45649" y="0"/>
                  <a:pt x="101876" y="0"/>
                </a:cubicBezTo>
                <a:close/>
              </a:path>
            </a:pathLst>
          </a:custGeom>
          <a:solidFill>
            <a:srgbClr val="EAE7D6"/>
          </a:solidFill>
          <a:ln/>
        </p:spPr>
        <p:txBody>
          <a:bodyPr/>
          <a:lstStyle/>
          <a:p>
            <a:endParaRPr lang="en-US"/>
          </a:p>
        </p:txBody>
      </p:sp>
      <p:sp>
        <p:nvSpPr>
          <p:cNvPr id="8" name="Shape 6"/>
          <p:cNvSpPr/>
          <p:nvPr/>
        </p:nvSpPr>
        <p:spPr>
          <a:xfrm>
            <a:off x="543376" y="1366930"/>
            <a:ext cx="203766" cy="203766"/>
          </a:xfrm>
          <a:custGeom>
            <a:avLst/>
            <a:gdLst/>
            <a:ahLst/>
            <a:cxnLst/>
            <a:rect l="l" t="t" r="r" b="b"/>
            <a:pathLst>
              <a:path w="203766" h="203766">
                <a:moveTo>
                  <a:pt x="148646" y="10785"/>
                </a:moveTo>
                <a:cubicBezTo>
                  <a:pt x="154615" y="3940"/>
                  <a:pt x="163252" y="0"/>
                  <a:pt x="172365" y="0"/>
                </a:cubicBezTo>
                <a:cubicBezTo>
                  <a:pt x="189717" y="0"/>
                  <a:pt x="203806" y="14089"/>
                  <a:pt x="203806" y="31440"/>
                </a:cubicBezTo>
                <a:cubicBezTo>
                  <a:pt x="203806" y="40514"/>
                  <a:pt x="199866" y="49190"/>
                  <a:pt x="193021" y="55160"/>
                </a:cubicBezTo>
                <a:lnTo>
                  <a:pt x="112907" y="124886"/>
                </a:lnTo>
                <a:lnTo>
                  <a:pt x="108649" y="120588"/>
                </a:lnTo>
                <a:lnTo>
                  <a:pt x="83178" y="95117"/>
                </a:lnTo>
                <a:lnTo>
                  <a:pt x="78880" y="90859"/>
                </a:lnTo>
                <a:lnTo>
                  <a:pt x="148646" y="10785"/>
                </a:lnTo>
                <a:close/>
                <a:moveTo>
                  <a:pt x="64115" y="103077"/>
                </a:moveTo>
                <a:cubicBezTo>
                  <a:pt x="64473" y="103475"/>
                  <a:pt x="74820" y="113822"/>
                  <a:pt x="95117" y="134119"/>
                </a:cubicBezTo>
                <a:lnTo>
                  <a:pt x="100649" y="139651"/>
                </a:lnTo>
                <a:lnTo>
                  <a:pt x="93844" y="169182"/>
                </a:lnTo>
                <a:cubicBezTo>
                  <a:pt x="92292" y="175987"/>
                  <a:pt x="87118" y="181400"/>
                  <a:pt x="80392" y="183270"/>
                </a:cubicBezTo>
                <a:lnTo>
                  <a:pt x="12815" y="202174"/>
                </a:lnTo>
                <a:lnTo>
                  <a:pt x="49549" y="165440"/>
                </a:lnTo>
                <a:cubicBezTo>
                  <a:pt x="50026" y="165480"/>
                  <a:pt x="50464" y="165520"/>
                  <a:pt x="50942" y="165520"/>
                </a:cubicBezTo>
                <a:cubicBezTo>
                  <a:pt x="57986" y="165520"/>
                  <a:pt x="63677" y="159829"/>
                  <a:pt x="63677" y="152785"/>
                </a:cubicBezTo>
                <a:cubicBezTo>
                  <a:pt x="63677" y="145740"/>
                  <a:pt x="57986" y="140049"/>
                  <a:pt x="50942" y="140049"/>
                </a:cubicBezTo>
                <a:cubicBezTo>
                  <a:pt x="43897" y="140049"/>
                  <a:pt x="38206" y="145740"/>
                  <a:pt x="38206" y="152785"/>
                </a:cubicBezTo>
                <a:cubicBezTo>
                  <a:pt x="38206" y="153262"/>
                  <a:pt x="38246" y="153740"/>
                  <a:pt x="38286" y="154178"/>
                </a:cubicBezTo>
                <a:lnTo>
                  <a:pt x="1552" y="190951"/>
                </a:lnTo>
                <a:lnTo>
                  <a:pt x="20496" y="123374"/>
                </a:lnTo>
                <a:cubicBezTo>
                  <a:pt x="22367" y="116648"/>
                  <a:pt x="27779" y="111474"/>
                  <a:pt x="34585" y="109922"/>
                </a:cubicBezTo>
                <a:lnTo>
                  <a:pt x="64115" y="103077"/>
                </a:lnTo>
                <a:close/>
              </a:path>
            </a:pathLst>
          </a:custGeom>
          <a:solidFill>
            <a:srgbClr val="8D99AE"/>
          </a:solidFill>
          <a:ln/>
        </p:spPr>
        <p:txBody>
          <a:bodyPr/>
          <a:lstStyle/>
          <a:p>
            <a:endParaRPr lang="en-US"/>
          </a:p>
        </p:txBody>
      </p:sp>
      <p:sp>
        <p:nvSpPr>
          <p:cNvPr id="9" name="Text 7"/>
          <p:cNvSpPr/>
          <p:nvPr/>
        </p:nvSpPr>
        <p:spPr>
          <a:xfrm>
            <a:off x="874496" y="1332969"/>
            <a:ext cx="1910306" cy="271688"/>
          </a:xfrm>
          <a:prstGeom prst="rect">
            <a:avLst/>
          </a:prstGeom>
          <a:noFill/>
          <a:ln/>
        </p:spPr>
        <p:txBody>
          <a:bodyPr wrap="square" lIns="0" tIns="0" rIns="0" bIns="0" rtlCol="0" anchor="ctr"/>
          <a:lstStyle/>
          <a:p>
            <a:pPr>
              <a:lnSpc>
                <a:spcPct val="110000"/>
              </a:lnSpc>
            </a:pPr>
            <a:r>
              <a:rPr lang="en-US" sz="1604" b="1" dirty="0">
                <a:solidFill>
                  <a:srgbClr val="2D3142"/>
                </a:solidFill>
                <a:latin typeface="Quattrocento Sans" pitchFamily="34" charset="0"/>
                <a:ea typeface="Quattrocento Sans" pitchFamily="34" charset="-122"/>
                <a:cs typeface="Quattrocento Sans" pitchFamily="34" charset="-120"/>
              </a:rPr>
              <a:t>Definition &amp; Purpose</a:t>
            </a:r>
            <a:endParaRPr lang="en-US" sz="1600" dirty="0"/>
          </a:p>
        </p:txBody>
      </p:sp>
      <p:sp>
        <p:nvSpPr>
          <p:cNvPr id="10" name="Text 8"/>
          <p:cNvSpPr/>
          <p:nvPr/>
        </p:nvSpPr>
        <p:spPr>
          <a:xfrm>
            <a:off x="517905" y="1740501"/>
            <a:ext cx="5382819" cy="441493"/>
          </a:xfrm>
          <a:prstGeom prst="rect">
            <a:avLst/>
          </a:prstGeom>
          <a:noFill/>
          <a:ln/>
        </p:spPr>
        <p:txBody>
          <a:bodyPr wrap="square" lIns="0" tIns="0" rIns="0" bIns="0" rtlCol="0" anchor="ctr"/>
          <a:lstStyle/>
          <a:p>
            <a:pPr>
              <a:lnSpc>
                <a:spcPct val="140000"/>
              </a:lnSpc>
            </a:pPr>
            <a:r>
              <a:rPr lang="en-US" sz="1070" dirty="0">
                <a:solidFill>
                  <a:srgbClr val="2D3142"/>
                </a:solidFill>
                <a:latin typeface="Quattrocento Sans" pitchFamily="34" charset="0"/>
                <a:ea typeface="Quattrocento Sans" pitchFamily="34" charset="-122"/>
                <a:cs typeface="Quattrocento Sans" pitchFamily="34" charset="-120"/>
              </a:rPr>
              <a:t>A </a:t>
            </a:r>
            <a:r>
              <a:rPr lang="en-US" sz="1070"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Writable stream </a:t>
            </a:r>
            <a:r>
              <a:rPr lang="en-US" sz="1070" dirty="0">
                <a:solidFill>
                  <a:srgbClr val="2D3142"/>
                </a:solidFill>
                <a:latin typeface="Quattrocento Sans" pitchFamily="34" charset="0"/>
                <a:ea typeface="Quattrocento Sans" pitchFamily="34" charset="-122"/>
                <a:cs typeface="Quattrocento Sans" pitchFamily="34" charset="-120"/>
              </a:rPr>
              <a:t>is an abstraction for a </a:t>
            </a:r>
            <a:r>
              <a:rPr lang="en-US" sz="1070" b="1" dirty="0">
                <a:solidFill>
                  <a:srgbClr val="2D3142"/>
                </a:solidFill>
                <a:latin typeface="Quattrocento Sans" pitchFamily="34" charset="0"/>
                <a:ea typeface="Quattrocento Sans" pitchFamily="34" charset="-122"/>
                <a:cs typeface="Quattrocento Sans" pitchFamily="34" charset="-120"/>
              </a:rPr>
              <a:t>destination</a:t>
            </a:r>
            <a:r>
              <a:rPr lang="en-US" sz="1070" dirty="0">
                <a:solidFill>
                  <a:srgbClr val="2D3142"/>
                </a:solidFill>
                <a:latin typeface="Quattrocento Sans" pitchFamily="34" charset="0"/>
                <a:ea typeface="Quattrocento Sans" pitchFamily="34" charset="-122"/>
                <a:cs typeface="Quattrocento Sans" pitchFamily="34" charset="-120"/>
              </a:rPr>
              <a:t> to which data is written. It provides a way to output data incrementally.</a:t>
            </a:r>
            <a:endParaRPr lang="en-US" sz="1600" dirty="0"/>
          </a:p>
        </p:txBody>
      </p:sp>
      <p:sp>
        <p:nvSpPr>
          <p:cNvPr id="11" name="Shape 9"/>
          <p:cNvSpPr/>
          <p:nvPr/>
        </p:nvSpPr>
        <p:spPr>
          <a:xfrm>
            <a:off x="517905" y="2317838"/>
            <a:ext cx="5314897" cy="916947"/>
          </a:xfrm>
          <a:custGeom>
            <a:avLst/>
            <a:gdLst/>
            <a:ahLst/>
            <a:cxnLst/>
            <a:rect l="l" t="t" r="r" b="b"/>
            <a:pathLst>
              <a:path w="5314897" h="916947">
                <a:moveTo>
                  <a:pt x="67918" y="0"/>
                </a:moveTo>
                <a:lnTo>
                  <a:pt x="5246979" y="0"/>
                </a:lnTo>
                <a:cubicBezTo>
                  <a:pt x="5284489" y="0"/>
                  <a:pt x="5314897" y="30408"/>
                  <a:pt x="5314897" y="67918"/>
                </a:cubicBezTo>
                <a:lnTo>
                  <a:pt x="5314897" y="849029"/>
                </a:lnTo>
                <a:cubicBezTo>
                  <a:pt x="5314897" y="886539"/>
                  <a:pt x="5284489" y="916947"/>
                  <a:pt x="5246979" y="916947"/>
                </a:cubicBezTo>
                <a:lnTo>
                  <a:pt x="67918" y="916947"/>
                </a:lnTo>
                <a:cubicBezTo>
                  <a:pt x="30408" y="916947"/>
                  <a:pt x="0" y="886539"/>
                  <a:pt x="0" y="849029"/>
                </a:cubicBezTo>
                <a:lnTo>
                  <a:pt x="0" y="67918"/>
                </a:lnTo>
                <a:cubicBezTo>
                  <a:pt x="0" y="30433"/>
                  <a:pt x="30433" y="0"/>
                  <a:pt x="67918" y="0"/>
                </a:cubicBezTo>
                <a:close/>
              </a:path>
            </a:pathLst>
          </a:custGeom>
          <a:solidFill>
            <a:srgbClr val="EAE7D6"/>
          </a:solidFill>
          <a:ln/>
        </p:spPr>
        <p:txBody>
          <a:bodyPr/>
          <a:lstStyle/>
          <a:p>
            <a:endParaRPr lang="en-US"/>
          </a:p>
        </p:txBody>
      </p:sp>
      <p:sp>
        <p:nvSpPr>
          <p:cNvPr id="12" name="Text 10"/>
          <p:cNvSpPr/>
          <p:nvPr/>
        </p:nvSpPr>
        <p:spPr>
          <a:xfrm>
            <a:off x="653749" y="2453682"/>
            <a:ext cx="5102641" cy="169805"/>
          </a:xfrm>
          <a:prstGeom prst="rect">
            <a:avLst/>
          </a:prstGeom>
          <a:noFill/>
          <a:ln/>
        </p:spPr>
        <p:txBody>
          <a:bodyPr wrap="square" lIns="0" tIns="0" rIns="0" bIns="0" rtlCol="0" anchor="ctr"/>
          <a:lstStyle/>
          <a:p>
            <a:pPr>
              <a:lnSpc>
                <a:spcPct val="120000"/>
              </a:lnSpc>
            </a:pPr>
            <a:r>
              <a:rPr lang="en-US" sz="936" dirty="0">
                <a:solidFill>
                  <a:srgbClr val="8D99AE"/>
                </a:solidFill>
                <a:latin typeface="Quattrocento Sans" pitchFamily="34" charset="0"/>
                <a:ea typeface="Quattrocento Sans" pitchFamily="34" charset="-122"/>
                <a:cs typeface="Quattrocento Sans" pitchFamily="34" charset="-120"/>
              </a:rPr>
              <a:t>Core Concept</a:t>
            </a:r>
            <a:endParaRPr lang="en-US" sz="1600" dirty="0"/>
          </a:p>
        </p:txBody>
      </p:sp>
      <p:sp>
        <p:nvSpPr>
          <p:cNvPr id="13" name="Text 11"/>
          <p:cNvSpPr/>
          <p:nvPr/>
        </p:nvSpPr>
        <p:spPr>
          <a:xfrm>
            <a:off x="653749" y="2691409"/>
            <a:ext cx="5111131" cy="407532"/>
          </a:xfrm>
          <a:prstGeom prst="rect">
            <a:avLst/>
          </a:prstGeom>
          <a:noFill/>
          <a:ln/>
        </p:spPr>
        <p:txBody>
          <a:bodyPr wrap="square" lIns="0" tIns="0" rIns="0" bIns="0" rtlCol="0" anchor="ctr"/>
          <a:lstStyle/>
          <a:p>
            <a:pPr>
              <a:lnSpc>
                <a:spcPct val="130000"/>
              </a:lnSpc>
            </a:pPr>
            <a:r>
              <a:rPr lang="en-US" sz="1070" dirty="0">
                <a:solidFill>
                  <a:srgbClr val="2D3142"/>
                </a:solidFill>
                <a:latin typeface="Quattrocento Sans" pitchFamily="34" charset="0"/>
                <a:ea typeface="Quattrocento Sans" pitchFamily="34" charset="-122"/>
                <a:cs typeface="Quattrocento Sans" pitchFamily="34" charset="-120"/>
              </a:rPr>
              <a:t>Writable streams buffer written data internally and manage the flow to prevent overwhelming the destination.</a:t>
            </a:r>
            <a:endParaRPr lang="en-US" sz="1600" dirty="0"/>
          </a:p>
        </p:txBody>
      </p:sp>
      <p:sp>
        <p:nvSpPr>
          <p:cNvPr id="14" name="Shape 12"/>
          <p:cNvSpPr/>
          <p:nvPr/>
        </p:nvSpPr>
        <p:spPr>
          <a:xfrm>
            <a:off x="343855" y="3553170"/>
            <a:ext cx="5662997" cy="3098942"/>
          </a:xfrm>
          <a:custGeom>
            <a:avLst/>
            <a:gdLst/>
            <a:ahLst/>
            <a:cxnLst/>
            <a:rect l="l" t="t" r="r" b="b"/>
            <a:pathLst>
              <a:path w="5662997" h="3098942">
                <a:moveTo>
                  <a:pt x="101893" y="0"/>
                </a:moveTo>
                <a:lnTo>
                  <a:pt x="5561104" y="0"/>
                </a:lnTo>
                <a:cubicBezTo>
                  <a:pt x="5617378" y="0"/>
                  <a:pt x="5662997" y="45619"/>
                  <a:pt x="5662997" y="101893"/>
                </a:cubicBezTo>
                <a:lnTo>
                  <a:pt x="5662997" y="2997048"/>
                </a:lnTo>
                <a:cubicBezTo>
                  <a:pt x="5662997" y="3053322"/>
                  <a:pt x="5617378" y="3098942"/>
                  <a:pt x="5561104" y="3098942"/>
                </a:cubicBezTo>
                <a:lnTo>
                  <a:pt x="101893" y="3098942"/>
                </a:lnTo>
                <a:cubicBezTo>
                  <a:pt x="45619" y="3098942"/>
                  <a:pt x="0" y="3053322"/>
                  <a:pt x="0" y="2997048"/>
                </a:cubicBezTo>
                <a:lnTo>
                  <a:pt x="0" y="101893"/>
                </a:lnTo>
                <a:cubicBezTo>
                  <a:pt x="0" y="45657"/>
                  <a:pt x="45657" y="0"/>
                  <a:pt x="101893" y="0"/>
                </a:cubicBezTo>
                <a:close/>
              </a:path>
            </a:pathLst>
          </a:custGeom>
          <a:solidFill>
            <a:srgbClr val="EAE7D6"/>
          </a:solidFill>
          <a:ln/>
        </p:spPr>
        <p:txBody>
          <a:bodyPr/>
          <a:lstStyle/>
          <a:p>
            <a:endParaRPr lang="en-US"/>
          </a:p>
        </p:txBody>
      </p:sp>
      <p:sp>
        <p:nvSpPr>
          <p:cNvPr id="15" name="Shape 13"/>
          <p:cNvSpPr/>
          <p:nvPr/>
        </p:nvSpPr>
        <p:spPr>
          <a:xfrm>
            <a:off x="517905" y="3761181"/>
            <a:ext cx="254708" cy="203766"/>
          </a:xfrm>
          <a:custGeom>
            <a:avLst/>
            <a:gdLst/>
            <a:ahLst/>
            <a:cxnLst/>
            <a:rect l="l" t="t" r="r" b="b"/>
            <a:pathLst>
              <a:path w="254708" h="203766">
                <a:moveTo>
                  <a:pt x="25471" y="38206"/>
                </a:moveTo>
                <a:cubicBezTo>
                  <a:pt x="25471" y="24157"/>
                  <a:pt x="36893" y="12735"/>
                  <a:pt x="50942" y="12735"/>
                </a:cubicBezTo>
                <a:lnTo>
                  <a:pt x="203766" y="12735"/>
                </a:lnTo>
                <a:cubicBezTo>
                  <a:pt x="217815" y="12735"/>
                  <a:pt x="229237" y="24157"/>
                  <a:pt x="229237" y="38206"/>
                </a:cubicBezTo>
                <a:lnTo>
                  <a:pt x="229237" y="133721"/>
                </a:lnTo>
                <a:lnTo>
                  <a:pt x="203766" y="133721"/>
                </a:lnTo>
                <a:lnTo>
                  <a:pt x="203766" y="38206"/>
                </a:lnTo>
                <a:lnTo>
                  <a:pt x="50942" y="38206"/>
                </a:lnTo>
                <a:lnTo>
                  <a:pt x="50942" y="133721"/>
                </a:lnTo>
                <a:lnTo>
                  <a:pt x="25471" y="133721"/>
                </a:lnTo>
                <a:lnTo>
                  <a:pt x="25471" y="38206"/>
                </a:lnTo>
                <a:close/>
                <a:moveTo>
                  <a:pt x="0" y="160466"/>
                </a:moveTo>
                <a:cubicBezTo>
                  <a:pt x="0" y="156247"/>
                  <a:pt x="3423" y="152825"/>
                  <a:pt x="7641" y="152825"/>
                </a:cubicBezTo>
                <a:lnTo>
                  <a:pt x="247066" y="152825"/>
                </a:lnTo>
                <a:cubicBezTo>
                  <a:pt x="251285" y="152825"/>
                  <a:pt x="254708" y="156247"/>
                  <a:pt x="254708" y="160466"/>
                </a:cubicBezTo>
                <a:cubicBezTo>
                  <a:pt x="254708" y="177340"/>
                  <a:pt x="241017" y="191031"/>
                  <a:pt x="224143" y="191031"/>
                </a:cubicBezTo>
                <a:lnTo>
                  <a:pt x="30565" y="191031"/>
                </a:lnTo>
                <a:cubicBezTo>
                  <a:pt x="13691" y="191031"/>
                  <a:pt x="0" y="177340"/>
                  <a:pt x="0" y="160466"/>
                </a:cubicBezTo>
                <a:close/>
                <a:moveTo>
                  <a:pt x="111833" y="83178"/>
                </a:moveTo>
                <a:lnTo>
                  <a:pt x="99495" y="95515"/>
                </a:lnTo>
                <a:lnTo>
                  <a:pt x="111833" y="107853"/>
                </a:lnTo>
                <a:cubicBezTo>
                  <a:pt x="115574" y="111594"/>
                  <a:pt x="115574" y="117643"/>
                  <a:pt x="111833" y="121344"/>
                </a:cubicBezTo>
                <a:cubicBezTo>
                  <a:pt x="108092" y="125045"/>
                  <a:pt x="102042" y="125085"/>
                  <a:pt x="98341" y="121344"/>
                </a:cubicBezTo>
                <a:lnTo>
                  <a:pt x="79238" y="102241"/>
                </a:lnTo>
                <a:cubicBezTo>
                  <a:pt x="75497" y="98500"/>
                  <a:pt x="75497" y="92451"/>
                  <a:pt x="79238" y="88750"/>
                </a:cubicBezTo>
                <a:lnTo>
                  <a:pt x="98341" y="69647"/>
                </a:lnTo>
                <a:cubicBezTo>
                  <a:pt x="102082" y="65906"/>
                  <a:pt x="108131" y="65906"/>
                  <a:pt x="111833" y="69647"/>
                </a:cubicBezTo>
                <a:cubicBezTo>
                  <a:pt x="115534" y="73388"/>
                  <a:pt x="115574" y="79437"/>
                  <a:pt x="111833" y="83138"/>
                </a:cubicBezTo>
                <a:close/>
                <a:moveTo>
                  <a:pt x="156406" y="69647"/>
                </a:moveTo>
                <a:lnTo>
                  <a:pt x="175509" y="88750"/>
                </a:lnTo>
                <a:cubicBezTo>
                  <a:pt x="179250" y="92491"/>
                  <a:pt x="179250" y="98540"/>
                  <a:pt x="175509" y="102241"/>
                </a:cubicBezTo>
                <a:lnTo>
                  <a:pt x="156406" y="121344"/>
                </a:lnTo>
                <a:cubicBezTo>
                  <a:pt x="152665" y="125085"/>
                  <a:pt x="146616" y="125085"/>
                  <a:pt x="142915" y="121344"/>
                </a:cubicBezTo>
                <a:cubicBezTo>
                  <a:pt x="139214" y="117603"/>
                  <a:pt x="139174" y="111554"/>
                  <a:pt x="142915" y="107853"/>
                </a:cubicBezTo>
                <a:lnTo>
                  <a:pt x="155252" y="95515"/>
                </a:lnTo>
                <a:lnTo>
                  <a:pt x="142915" y="83178"/>
                </a:lnTo>
                <a:cubicBezTo>
                  <a:pt x="139174" y="79437"/>
                  <a:pt x="139174" y="73388"/>
                  <a:pt x="142915" y="69686"/>
                </a:cubicBezTo>
                <a:cubicBezTo>
                  <a:pt x="146656" y="65985"/>
                  <a:pt x="152705" y="65945"/>
                  <a:pt x="156406" y="69686"/>
                </a:cubicBezTo>
                <a:close/>
              </a:path>
            </a:pathLst>
          </a:custGeom>
          <a:solidFill>
            <a:srgbClr val="E07A5F"/>
          </a:solidFill>
          <a:ln/>
        </p:spPr>
        <p:txBody>
          <a:bodyPr/>
          <a:lstStyle/>
          <a:p>
            <a:endParaRPr lang="en-US"/>
          </a:p>
        </p:txBody>
      </p:sp>
      <p:sp>
        <p:nvSpPr>
          <p:cNvPr id="16" name="Text 14"/>
          <p:cNvSpPr/>
          <p:nvPr/>
        </p:nvSpPr>
        <p:spPr>
          <a:xfrm>
            <a:off x="874496" y="3727220"/>
            <a:ext cx="1825404" cy="271688"/>
          </a:xfrm>
          <a:prstGeom prst="rect">
            <a:avLst/>
          </a:prstGeom>
          <a:noFill/>
          <a:ln/>
        </p:spPr>
        <p:txBody>
          <a:bodyPr wrap="square" lIns="0" tIns="0" rIns="0" bIns="0" rtlCol="0" anchor="ctr"/>
          <a:lstStyle/>
          <a:p>
            <a:pPr>
              <a:lnSpc>
                <a:spcPct val="110000"/>
              </a:lnSpc>
            </a:pPr>
            <a:r>
              <a:rPr lang="en-US" sz="1604" b="1" dirty="0">
                <a:solidFill>
                  <a:srgbClr val="2D3142"/>
                </a:solidFill>
                <a:latin typeface="Quattrocento Sans" pitchFamily="34" charset="0"/>
                <a:ea typeface="Quattrocento Sans" pitchFamily="34" charset="-122"/>
                <a:cs typeface="Quattrocento Sans" pitchFamily="34" charset="-120"/>
              </a:rPr>
              <a:t>Common Examples</a:t>
            </a:r>
            <a:endParaRPr lang="en-US" sz="1600" dirty="0"/>
          </a:p>
        </p:txBody>
      </p:sp>
      <p:sp>
        <p:nvSpPr>
          <p:cNvPr id="17" name="Shape 15"/>
          <p:cNvSpPr/>
          <p:nvPr/>
        </p:nvSpPr>
        <p:spPr>
          <a:xfrm>
            <a:off x="516048" y="4030577"/>
            <a:ext cx="5314897" cy="713181"/>
          </a:xfrm>
          <a:custGeom>
            <a:avLst/>
            <a:gdLst/>
            <a:ahLst/>
            <a:cxnLst/>
            <a:rect l="l" t="t" r="r" b="b"/>
            <a:pathLst>
              <a:path w="5314897" h="713181">
                <a:moveTo>
                  <a:pt x="67923" y="0"/>
                </a:moveTo>
                <a:lnTo>
                  <a:pt x="5246974" y="0"/>
                </a:lnTo>
                <a:cubicBezTo>
                  <a:pt x="5284487" y="0"/>
                  <a:pt x="5314897" y="30410"/>
                  <a:pt x="5314897" y="67923"/>
                </a:cubicBezTo>
                <a:lnTo>
                  <a:pt x="5314897" y="645258"/>
                </a:lnTo>
                <a:cubicBezTo>
                  <a:pt x="5314897" y="682771"/>
                  <a:pt x="5284487" y="713181"/>
                  <a:pt x="5246974" y="713181"/>
                </a:cubicBezTo>
                <a:lnTo>
                  <a:pt x="67923" y="713181"/>
                </a:lnTo>
                <a:cubicBezTo>
                  <a:pt x="30410" y="713181"/>
                  <a:pt x="0" y="682771"/>
                  <a:pt x="0" y="645258"/>
                </a:cubicBezTo>
                <a:lnTo>
                  <a:pt x="0" y="67923"/>
                </a:lnTo>
                <a:cubicBezTo>
                  <a:pt x="0" y="30435"/>
                  <a:pt x="30435" y="0"/>
                  <a:pt x="67923" y="0"/>
                </a:cubicBezTo>
                <a:close/>
              </a:path>
            </a:pathLst>
          </a:custGeom>
          <a:solidFill>
            <a:srgbClr val="EAE7D6"/>
          </a:solidFill>
          <a:ln/>
        </p:spPr>
        <p:txBody>
          <a:bodyPr/>
          <a:lstStyle/>
          <a:p>
            <a:endParaRPr lang="en-US"/>
          </a:p>
        </p:txBody>
      </p:sp>
      <p:sp>
        <p:nvSpPr>
          <p:cNvPr id="18" name="Shape 16"/>
          <p:cNvSpPr/>
          <p:nvPr/>
        </p:nvSpPr>
        <p:spPr>
          <a:xfrm>
            <a:off x="628279" y="4287577"/>
            <a:ext cx="152825" cy="135844"/>
          </a:xfrm>
          <a:custGeom>
            <a:avLst/>
            <a:gdLst/>
            <a:ahLst/>
            <a:cxnLst/>
            <a:rect l="l" t="t" r="r" b="b"/>
            <a:pathLst>
              <a:path w="152825" h="135844">
                <a:moveTo>
                  <a:pt x="25603" y="0"/>
                </a:moveTo>
                <a:cubicBezTo>
                  <a:pt x="16238" y="0"/>
                  <a:pt x="8623" y="7615"/>
                  <a:pt x="8623" y="16981"/>
                </a:cubicBezTo>
                <a:lnTo>
                  <a:pt x="8623" y="118864"/>
                </a:lnTo>
                <a:cubicBezTo>
                  <a:pt x="8623" y="128229"/>
                  <a:pt x="16238" y="135844"/>
                  <a:pt x="25603" y="135844"/>
                </a:cubicBezTo>
                <a:lnTo>
                  <a:pt x="93525" y="135844"/>
                </a:lnTo>
                <a:cubicBezTo>
                  <a:pt x="102891" y="135844"/>
                  <a:pt x="110506" y="128229"/>
                  <a:pt x="110506" y="118864"/>
                </a:cubicBezTo>
                <a:lnTo>
                  <a:pt x="110506" y="93393"/>
                </a:lnTo>
                <a:lnTo>
                  <a:pt x="131227" y="93393"/>
                </a:lnTo>
                <a:lnTo>
                  <a:pt x="123003" y="101618"/>
                </a:lnTo>
                <a:cubicBezTo>
                  <a:pt x="120508" y="104112"/>
                  <a:pt x="120508" y="108145"/>
                  <a:pt x="123003" y="110612"/>
                </a:cubicBezTo>
                <a:cubicBezTo>
                  <a:pt x="125497" y="113080"/>
                  <a:pt x="129529" y="113106"/>
                  <a:pt x="131997" y="110612"/>
                </a:cubicBezTo>
                <a:lnTo>
                  <a:pt x="151100" y="91509"/>
                </a:lnTo>
                <a:cubicBezTo>
                  <a:pt x="153594" y="89015"/>
                  <a:pt x="153594" y="84982"/>
                  <a:pt x="151100" y="82515"/>
                </a:cubicBezTo>
                <a:lnTo>
                  <a:pt x="131997" y="63412"/>
                </a:lnTo>
                <a:cubicBezTo>
                  <a:pt x="129503" y="60918"/>
                  <a:pt x="125470" y="60918"/>
                  <a:pt x="123003" y="63412"/>
                </a:cubicBezTo>
                <a:cubicBezTo>
                  <a:pt x="120535" y="65906"/>
                  <a:pt x="120508" y="69938"/>
                  <a:pt x="123003" y="72406"/>
                </a:cubicBezTo>
                <a:lnTo>
                  <a:pt x="131227" y="80631"/>
                </a:lnTo>
                <a:lnTo>
                  <a:pt x="110506" y="80631"/>
                </a:lnTo>
                <a:lnTo>
                  <a:pt x="110506" y="45211"/>
                </a:lnTo>
                <a:cubicBezTo>
                  <a:pt x="110506" y="40700"/>
                  <a:pt x="108728" y="36375"/>
                  <a:pt x="105544" y="33192"/>
                </a:cubicBezTo>
                <a:lnTo>
                  <a:pt x="77261" y="4961"/>
                </a:lnTo>
                <a:cubicBezTo>
                  <a:pt x="74077" y="1778"/>
                  <a:pt x="69779" y="0"/>
                  <a:pt x="65269" y="0"/>
                </a:cubicBezTo>
                <a:lnTo>
                  <a:pt x="25603" y="0"/>
                </a:lnTo>
                <a:close/>
                <a:moveTo>
                  <a:pt x="94985" y="46696"/>
                </a:moveTo>
                <a:lnTo>
                  <a:pt x="70177" y="46696"/>
                </a:lnTo>
                <a:cubicBezTo>
                  <a:pt x="66648" y="46696"/>
                  <a:pt x="63810" y="43857"/>
                  <a:pt x="63810" y="40329"/>
                </a:cubicBezTo>
                <a:lnTo>
                  <a:pt x="63810" y="15521"/>
                </a:lnTo>
                <a:lnTo>
                  <a:pt x="94985" y="46696"/>
                </a:lnTo>
                <a:close/>
                <a:moveTo>
                  <a:pt x="59564" y="87025"/>
                </a:moveTo>
                <a:cubicBezTo>
                  <a:pt x="59564" y="83496"/>
                  <a:pt x="62403" y="80657"/>
                  <a:pt x="65932" y="80657"/>
                </a:cubicBezTo>
                <a:lnTo>
                  <a:pt x="93525" y="80657"/>
                </a:lnTo>
                <a:lnTo>
                  <a:pt x="93525" y="93393"/>
                </a:lnTo>
                <a:lnTo>
                  <a:pt x="65932" y="93393"/>
                </a:lnTo>
                <a:cubicBezTo>
                  <a:pt x="62403" y="93393"/>
                  <a:pt x="59564" y="90554"/>
                  <a:pt x="59564" y="87025"/>
                </a:cubicBezTo>
                <a:close/>
              </a:path>
            </a:pathLst>
          </a:custGeom>
          <a:solidFill>
            <a:srgbClr val="8D99AE"/>
          </a:solidFill>
          <a:ln/>
        </p:spPr>
        <p:txBody>
          <a:bodyPr/>
          <a:lstStyle/>
          <a:p>
            <a:endParaRPr lang="en-US"/>
          </a:p>
        </p:txBody>
      </p:sp>
      <p:sp>
        <p:nvSpPr>
          <p:cNvPr id="19" name="Text 17"/>
          <p:cNvSpPr/>
          <p:nvPr/>
        </p:nvSpPr>
        <p:spPr>
          <a:xfrm>
            <a:off x="857515" y="4236635"/>
            <a:ext cx="1884836"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fs.createWriteStream(path)</a:t>
            </a:r>
            <a:endParaRPr lang="en-US" sz="1600" dirty="0"/>
          </a:p>
        </p:txBody>
      </p:sp>
      <p:sp>
        <p:nvSpPr>
          <p:cNvPr id="20" name="Text 18"/>
          <p:cNvSpPr/>
          <p:nvPr/>
        </p:nvSpPr>
        <p:spPr>
          <a:xfrm>
            <a:off x="619788" y="4542284"/>
            <a:ext cx="5179053"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Write files incrementally</a:t>
            </a:r>
            <a:endParaRPr lang="en-US" sz="1600" dirty="0"/>
          </a:p>
        </p:txBody>
      </p:sp>
      <p:sp>
        <p:nvSpPr>
          <p:cNvPr id="21" name="Shape 19"/>
          <p:cNvSpPr/>
          <p:nvPr/>
        </p:nvSpPr>
        <p:spPr>
          <a:xfrm>
            <a:off x="517905" y="4949816"/>
            <a:ext cx="5314897" cy="713181"/>
          </a:xfrm>
          <a:custGeom>
            <a:avLst/>
            <a:gdLst/>
            <a:ahLst/>
            <a:cxnLst/>
            <a:rect l="l" t="t" r="r" b="b"/>
            <a:pathLst>
              <a:path w="5314897" h="713181">
                <a:moveTo>
                  <a:pt x="67923" y="0"/>
                </a:moveTo>
                <a:lnTo>
                  <a:pt x="5246974" y="0"/>
                </a:lnTo>
                <a:cubicBezTo>
                  <a:pt x="5284487" y="0"/>
                  <a:pt x="5314897" y="30410"/>
                  <a:pt x="5314897" y="67923"/>
                </a:cubicBezTo>
                <a:lnTo>
                  <a:pt x="5314897" y="645258"/>
                </a:lnTo>
                <a:cubicBezTo>
                  <a:pt x="5314897" y="682771"/>
                  <a:pt x="5284487" y="713181"/>
                  <a:pt x="5246974" y="713181"/>
                </a:cubicBezTo>
                <a:lnTo>
                  <a:pt x="67923" y="713181"/>
                </a:lnTo>
                <a:cubicBezTo>
                  <a:pt x="30410" y="713181"/>
                  <a:pt x="0" y="682771"/>
                  <a:pt x="0" y="645258"/>
                </a:cubicBezTo>
                <a:lnTo>
                  <a:pt x="0" y="67923"/>
                </a:lnTo>
                <a:cubicBezTo>
                  <a:pt x="0" y="30435"/>
                  <a:pt x="30435" y="0"/>
                  <a:pt x="67923" y="0"/>
                </a:cubicBezTo>
                <a:close/>
              </a:path>
            </a:pathLst>
          </a:custGeom>
          <a:solidFill>
            <a:srgbClr val="EAE7D6"/>
          </a:solidFill>
          <a:ln/>
        </p:spPr>
        <p:txBody>
          <a:bodyPr/>
          <a:lstStyle/>
          <a:p>
            <a:endParaRPr lang="en-US"/>
          </a:p>
        </p:txBody>
      </p:sp>
      <p:sp>
        <p:nvSpPr>
          <p:cNvPr id="22" name="Shape 20"/>
          <p:cNvSpPr/>
          <p:nvPr/>
        </p:nvSpPr>
        <p:spPr>
          <a:xfrm>
            <a:off x="636769" y="5102641"/>
            <a:ext cx="135844" cy="135844"/>
          </a:xfrm>
          <a:custGeom>
            <a:avLst/>
            <a:gdLst/>
            <a:ahLst/>
            <a:cxnLst/>
            <a:rect l="l" t="t" r="r" b="b"/>
            <a:pathLst>
              <a:path w="135844" h="135844">
                <a:moveTo>
                  <a:pt x="54178" y="4882"/>
                </a:moveTo>
                <a:cubicBezTo>
                  <a:pt x="57362" y="6208"/>
                  <a:pt x="59432" y="9286"/>
                  <a:pt x="59432" y="12735"/>
                </a:cubicBezTo>
                <a:lnTo>
                  <a:pt x="59432" y="33961"/>
                </a:lnTo>
                <a:lnTo>
                  <a:pt x="89148" y="33961"/>
                </a:lnTo>
                <a:cubicBezTo>
                  <a:pt x="114937" y="33961"/>
                  <a:pt x="135844" y="54868"/>
                  <a:pt x="135844" y="80657"/>
                </a:cubicBezTo>
                <a:cubicBezTo>
                  <a:pt x="135844" y="110718"/>
                  <a:pt x="114220" y="124143"/>
                  <a:pt x="109259" y="126850"/>
                </a:cubicBezTo>
                <a:cubicBezTo>
                  <a:pt x="108596" y="127221"/>
                  <a:pt x="107853" y="127354"/>
                  <a:pt x="107110" y="127354"/>
                </a:cubicBezTo>
                <a:cubicBezTo>
                  <a:pt x="104218" y="127354"/>
                  <a:pt x="101883" y="124992"/>
                  <a:pt x="101883" y="122127"/>
                </a:cubicBezTo>
                <a:cubicBezTo>
                  <a:pt x="101883" y="120137"/>
                  <a:pt x="103024" y="118306"/>
                  <a:pt x="104483" y="116953"/>
                </a:cubicBezTo>
                <a:cubicBezTo>
                  <a:pt x="106977" y="114618"/>
                  <a:pt x="110373" y="109949"/>
                  <a:pt x="110373" y="101910"/>
                </a:cubicBezTo>
                <a:cubicBezTo>
                  <a:pt x="110373" y="87848"/>
                  <a:pt x="98964" y="76439"/>
                  <a:pt x="84903" y="76439"/>
                </a:cubicBezTo>
                <a:lnTo>
                  <a:pt x="59432" y="76439"/>
                </a:lnTo>
                <a:lnTo>
                  <a:pt x="59432" y="97664"/>
                </a:lnTo>
                <a:cubicBezTo>
                  <a:pt x="59432" y="101087"/>
                  <a:pt x="57362" y="104191"/>
                  <a:pt x="54178" y="105518"/>
                </a:cubicBezTo>
                <a:cubicBezTo>
                  <a:pt x="50995" y="106844"/>
                  <a:pt x="47360" y="106102"/>
                  <a:pt x="44919" y="103687"/>
                </a:cubicBezTo>
                <a:lnTo>
                  <a:pt x="2467" y="61236"/>
                </a:lnTo>
                <a:cubicBezTo>
                  <a:pt x="-849" y="57919"/>
                  <a:pt x="-849" y="52533"/>
                  <a:pt x="2467" y="49217"/>
                </a:cubicBezTo>
                <a:lnTo>
                  <a:pt x="44919" y="6766"/>
                </a:lnTo>
                <a:cubicBezTo>
                  <a:pt x="47360" y="4325"/>
                  <a:pt x="50995" y="3608"/>
                  <a:pt x="54178" y="4935"/>
                </a:cubicBezTo>
                <a:close/>
              </a:path>
            </a:pathLst>
          </a:custGeom>
          <a:solidFill>
            <a:srgbClr val="E07A5F"/>
          </a:solidFill>
          <a:ln/>
        </p:spPr>
        <p:txBody>
          <a:bodyPr/>
          <a:lstStyle/>
          <a:p>
            <a:endParaRPr lang="en-US"/>
          </a:p>
        </p:txBody>
      </p:sp>
      <p:sp>
        <p:nvSpPr>
          <p:cNvPr id="23" name="Text 21"/>
          <p:cNvSpPr/>
          <p:nvPr/>
        </p:nvSpPr>
        <p:spPr>
          <a:xfrm>
            <a:off x="857515" y="5051699"/>
            <a:ext cx="1400891"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HTTP response (res)</a:t>
            </a:r>
            <a:endParaRPr lang="en-US" sz="1600" dirty="0"/>
          </a:p>
        </p:txBody>
      </p:sp>
      <p:sp>
        <p:nvSpPr>
          <p:cNvPr id="24" name="Text 22"/>
          <p:cNvSpPr/>
          <p:nvPr/>
        </p:nvSpPr>
        <p:spPr>
          <a:xfrm>
            <a:off x="619788" y="5357348"/>
            <a:ext cx="5179053"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Outgoing response stream</a:t>
            </a:r>
            <a:endParaRPr lang="en-US" sz="1600" dirty="0"/>
          </a:p>
        </p:txBody>
      </p:sp>
      <p:sp>
        <p:nvSpPr>
          <p:cNvPr id="25" name="Shape 23"/>
          <p:cNvSpPr/>
          <p:nvPr/>
        </p:nvSpPr>
        <p:spPr>
          <a:xfrm>
            <a:off x="517905" y="5764880"/>
            <a:ext cx="5314897" cy="713181"/>
          </a:xfrm>
          <a:custGeom>
            <a:avLst/>
            <a:gdLst/>
            <a:ahLst/>
            <a:cxnLst/>
            <a:rect l="l" t="t" r="r" b="b"/>
            <a:pathLst>
              <a:path w="5314897" h="713181">
                <a:moveTo>
                  <a:pt x="67923" y="0"/>
                </a:moveTo>
                <a:lnTo>
                  <a:pt x="5246974" y="0"/>
                </a:lnTo>
                <a:cubicBezTo>
                  <a:pt x="5284487" y="0"/>
                  <a:pt x="5314897" y="30410"/>
                  <a:pt x="5314897" y="67923"/>
                </a:cubicBezTo>
                <a:lnTo>
                  <a:pt x="5314897" y="645258"/>
                </a:lnTo>
                <a:cubicBezTo>
                  <a:pt x="5314897" y="682771"/>
                  <a:pt x="5284487" y="713181"/>
                  <a:pt x="5246974" y="713181"/>
                </a:cubicBezTo>
                <a:lnTo>
                  <a:pt x="67923" y="713181"/>
                </a:lnTo>
                <a:cubicBezTo>
                  <a:pt x="30410" y="713181"/>
                  <a:pt x="0" y="682771"/>
                  <a:pt x="0" y="645258"/>
                </a:cubicBezTo>
                <a:lnTo>
                  <a:pt x="0" y="67923"/>
                </a:lnTo>
                <a:cubicBezTo>
                  <a:pt x="0" y="30435"/>
                  <a:pt x="30435" y="0"/>
                  <a:pt x="67923" y="0"/>
                </a:cubicBezTo>
                <a:close/>
              </a:path>
            </a:pathLst>
          </a:custGeom>
          <a:solidFill>
            <a:srgbClr val="EAE7D6"/>
          </a:solidFill>
          <a:ln/>
        </p:spPr>
        <p:txBody>
          <a:bodyPr/>
          <a:lstStyle/>
          <a:p>
            <a:endParaRPr lang="en-US"/>
          </a:p>
        </p:txBody>
      </p:sp>
      <p:sp>
        <p:nvSpPr>
          <p:cNvPr id="26" name="Shape 24"/>
          <p:cNvSpPr/>
          <p:nvPr/>
        </p:nvSpPr>
        <p:spPr>
          <a:xfrm>
            <a:off x="636769" y="5917705"/>
            <a:ext cx="135844" cy="135844"/>
          </a:xfrm>
          <a:custGeom>
            <a:avLst/>
            <a:gdLst/>
            <a:ahLst/>
            <a:cxnLst/>
            <a:rect l="l" t="t" r="r" b="b"/>
            <a:pathLst>
              <a:path w="135844" h="135844">
                <a:moveTo>
                  <a:pt x="2494" y="31467"/>
                </a:moveTo>
                <a:cubicBezTo>
                  <a:pt x="-822" y="28150"/>
                  <a:pt x="-822" y="22764"/>
                  <a:pt x="2494" y="19448"/>
                </a:cubicBezTo>
                <a:cubicBezTo>
                  <a:pt x="5811" y="16131"/>
                  <a:pt x="11197" y="16131"/>
                  <a:pt x="14513" y="19448"/>
                </a:cubicBezTo>
                <a:lnTo>
                  <a:pt x="56964" y="61899"/>
                </a:lnTo>
                <a:cubicBezTo>
                  <a:pt x="60281" y="65216"/>
                  <a:pt x="60281" y="70602"/>
                  <a:pt x="56964" y="73918"/>
                </a:cubicBezTo>
                <a:lnTo>
                  <a:pt x="14513" y="116369"/>
                </a:lnTo>
                <a:cubicBezTo>
                  <a:pt x="11197" y="119686"/>
                  <a:pt x="5811" y="119686"/>
                  <a:pt x="2494" y="116369"/>
                </a:cubicBezTo>
                <a:cubicBezTo>
                  <a:pt x="-822" y="113053"/>
                  <a:pt x="-822" y="107667"/>
                  <a:pt x="2494" y="104350"/>
                </a:cubicBezTo>
                <a:lnTo>
                  <a:pt x="38922" y="67922"/>
                </a:lnTo>
                <a:lnTo>
                  <a:pt x="2494" y="31467"/>
                </a:lnTo>
                <a:close/>
                <a:moveTo>
                  <a:pt x="59432" y="101883"/>
                </a:moveTo>
                <a:lnTo>
                  <a:pt x="127354" y="101883"/>
                </a:lnTo>
                <a:cubicBezTo>
                  <a:pt x="132050" y="101883"/>
                  <a:pt x="135844" y="105677"/>
                  <a:pt x="135844" y="110373"/>
                </a:cubicBezTo>
                <a:cubicBezTo>
                  <a:pt x="135844" y="115069"/>
                  <a:pt x="132050" y="118864"/>
                  <a:pt x="127354" y="118864"/>
                </a:cubicBezTo>
                <a:lnTo>
                  <a:pt x="59432" y="118864"/>
                </a:lnTo>
                <a:cubicBezTo>
                  <a:pt x="54736" y="118864"/>
                  <a:pt x="50942" y="115069"/>
                  <a:pt x="50942" y="110373"/>
                </a:cubicBezTo>
                <a:cubicBezTo>
                  <a:pt x="50942" y="105677"/>
                  <a:pt x="54736" y="101883"/>
                  <a:pt x="59432" y="101883"/>
                </a:cubicBezTo>
                <a:close/>
              </a:path>
            </a:pathLst>
          </a:custGeom>
          <a:solidFill>
            <a:srgbClr val="8D99AE"/>
          </a:solidFill>
          <a:ln/>
        </p:spPr>
        <p:txBody>
          <a:bodyPr/>
          <a:lstStyle/>
          <a:p>
            <a:endParaRPr lang="en-US"/>
          </a:p>
        </p:txBody>
      </p:sp>
      <p:sp>
        <p:nvSpPr>
          <p:cNvPr id="27" name="Text 25"/>
          <p:cNvSpPr/>
          <p:nvPr/>
        </p:nvSpPr>
        <p:spPr>
          <a:xfrm>
            <a:off x="857515" y="5866763"/>
            <a:ext cx="1579187"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process.stdout / stderr</a:t>
            </a:r>
            <a:endParaRPr lang="en-US" sz="1600" dirty="0"/>
          </a:p>
        </p:txBody>
      </p:sp>
      <p:sp>
        <p:nvSpPr>
          <p:cNvPr id="28" name="Text 26"/>
          <p:cNvSpPr/>
          <p:nvPr/>
        </p:nvSpPr>
        <p:spPr>
          <a:xfrm>
            <a:off x="619788" y="6172412"/>
            <a:ext cx="5179053"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Console output streams</a:t>
            </a:r>
            <a:endParaRPr lang="en-US" sz="1600" dirty="0"/>
          </a:p>
        </p:txBody>
      </p:sp>
      <p:sp>
        <p:nvSpPr>
          <p:cNvPr id="29" name="Shape 27"/>
          <p:cNvSpPr/>
          <p:nvPr/>
        </p:nvSpPr>
        <p:spPr>
          <a:xfrm>
            <a:off x="6187005" y="1158919"/>
            <a:ext cx="5662997" cy="4049850"/>
          </a:xfrm>
          <a:custGeom>
            <a:avLst/>
            <a:gdLst/>
            <a:ahLst/>
            <a:cxnLst/>
            <a:rect l="l" t="t" r="r" b="b"/>
            <a:pathLst>
              <a:path w="5662997" h="4049850">
                <a:moveTo>
                  <a:pt x="101894" y="0"/>
                </a:moveTo>
                <a:lnTo>
                  <a:pt x="5561103" y="0"/>
                </a:lnTo>
                <a:cubicBezTo>
                  <a:pt x="5617378" y="0"/>
                  <a:pt x="5662997" y="45620"/>
                  <a:pt x="5662997" y="101894"/>
                </a:cubicBezTo>
                <a:lnTo>
                  <a:pt x="5662997" y="3947955"/>
                </a:lnTo>
                <a:cubicBezTo>
                  <a:pt x="5662997" y="4004192"/>
                  <a:pt x="5617340" y="4049850"/>
                  <a:pt x="5561103" y="4049850"/>
                </a:cubicBezTo>
                <a:lnTo>
                  <a:pt x="101894" y="4049850"/>
                </a:lnTo>
                <a:cubicBezTo>
                  <a:pt x="45620" y="4049850"/>
                  <a:pt x="0" y="4004230"/>
                  <a:pt x="0" y="3947955"/>
                </a:cubicBezTo>
                <a:lnTo>
                  <a:pt x="0" y="101894"/>
                </a:lnTo>
                <a:cubicBezTo>
                  <a:pt x="0" y="45657"/>
                  <a:pt x="45657" y="0"/>
                  <a:pt x="101894" y="0"/>
                </a:cubicBezTo>
                <a:close/>
              </a:path>
            </a:pathLst>
          </a:custGeom>
          <a:solidFill>
            <a:srgbClr val="EAE7D6"/>
          </a:solidFill>
          <a:ln/>
        </p:spPr>
        <p:txBody>
          <a:bodyPr/>
          <a:lstStyle/>
          <a:p>
            <a:endParaRPr lang="en-US"/>
          </a:p>
        </p:txBody>
      </p:sp>
      <p:sp>
        <p:nvSpPr>
          <p:cNvPr id="30" name="Shape 28"/>
          <p:cNvSpPr/>
          <p:nvPr/>
        </p:nvSpPr>
        <p:spPr>
          <a:xfrm>
            <a:off x="6373790" y="1366930"/>
            <a:ext cx="229237" cy="203766"/>
          </a:xfrm>
          <a:custGeom>
            <a:avLst/>
            <a:gdLst/>
            <a:ahLst/>
            <a:cxnLst/>
            <a:rect l="l" t="t" r="r" b="b"/>
            <a:pathLst>
              <a:path w="229237" h="203766">
                <a:moveTo>
                  <a:pt x="89187" y="38644"/>
                </a:moveTo>
                <a:lnTo>
                  <a:pt x="89187" y="58384"/>
                </a:lnTo>
                <a:lnTo>
                  <a:pt x="89386" y="58583"/>
                </a:lnTo>
                <a:cubicBezTo>
                  <a:pt x="91973" y="25789"/>
                  <a:pt x="119394" y="0"/>
                  <a:pt x="152864" y="0"/>
                </a:cubicBezTo>
                <a:cubicBezTo>
                  <a:pt x="160864" y="0"/>
                  <a:pt x="168545" y="1473"/>
                  <a:pt x="175589" y="4179"/>
                </a:cubicBezTo>
                <a:cubicBezTo>
                  <a:pt x="179569" y="5691"/>
                  <a:pt x="180285" y="10745"/>
                  <a:pt x="177300" y="13770"/>
                </a:cubicBezTo>
                <a:lnTo>
                  <a:pt x="141999" y="49071"/>
                </a:lnTo>
                <a:cubicBezTo>
                  <a:pt x="140806" y="50265"/>
                  <a:pt x="140129" y="51897"/>
                  <a:pt x="140129" y="53568"/>
                </a:cubicBezTo>
                <a:lnTo>
                  <a:pt x="140129" y="70045"/>
                </a:lnTo>
                <a:cubicBezTo>
                  <a:pt x="140129" y="73547"/>
                  <a:pt x="142994" y="76412"/>
                  <a:pt x="146497" y="76412"/>
                </a:cubicBezTo>
                <a:lnTo>
                  <a:pt x="162973" y="76412"/>
                </a:lnTo>
                <a:cubicBezTo>
                  <a:pt x="164645" y="76412"/>
                  <a:pt x="166276" y="75736"/>
                  <a:pt x="167470" y="74542"/>
                </a:cubicBezTo>
                <a:lnTo>
                  <a:pt x="202771" y="39241"/>
                </a:lnTo>
                <a:cubicBezTo>
                  <a:pt x="205796" y="36216"/>
                  <a:pt x="210850" y="36972"/>
                  <a:pt x="212362" y="40952"/>
                </a:cubicBezTo>
                <a:cubicBezTo>
                  <a:pt x="215069" y="47996"/>
                  <a:pt x="216541" y="55677"/>
                  <a:pt x="216541" y="63677"/>
                </a:cubicBezTo>
                <a:cubicBezTo>
                  <a:pt x="216541" y="87794"/>
                  <a:pt x="203129" y="108808"/>
                  <a:pt x="183310" y="119593"/>
                </a:cubicBezTo>
                <a:lnTo>
                  <a:pt x="215745" y="152029"/>
                </a:lnTo>
                <a:cubicBezTo>
                  <a:pt x="223187" y="159471"/>
                  <a:pt x="223187" y="171569"/>
                  <a:pt x="215745" y="179051"/>
                </a:cubicBezTo>
                <a:lnTo>
                  <a:pt x="191827" y="202970"/>
                </a:lnTo>
                <a:cubicBezTo>
                  <a:pt x="184384" y="210412"/>
                  <a:pt x="172286" y="210412"/>
                  <a:pt x="164804" y="202970"/>
                </a:cubicBezTo>
                <a:lnTo>
                  <a:pt x="114658" y="152825"/>
                </a:lnTo>
                <a:cubicBezTo>
                  <a:pt x="103754" y="141920"/>
                  <a:pt x="101286" y="125802"/>
                  <a:pt x="107296" y="112509"/>
                </a:cubicBezTo>
                <a:lnTo>
                  <a:pt x="71199" y="76412"/>
                </a:lnTo>
                <a:lnTo>
                  <a:pt x="51459" y="76412"/>
                </a:lnTo>
                <a:cubicBezTo>
                  <a:pt x="47200" y="76412"/>
                  <a:pt x="43221" y="74303"/>
                  <a:pt x="40873" y="70761"/>
                </a:cubicBezTo>
                <a:lnTo>
                  <a:pt x="9313" y="23441"/>
                </a:lnTo>
                <a:cubicBezTo>
                  <a:pt x="7641" y="20934"/>
                  <a:pt x="7960" y="17551"/>
                  <a:pt x="10109" y="15402"/>
                </a:cubicBezTo>
                <a:lnTo>
                  <a:pt x="28177" y="-2666"/>
                </a:lnTo>
                <a:cubicBezTo>
                  <a:pt x="30326" y="-4816"/>
                  <a:pt x="33669" y="-5134"/>
                  <a:pt x="36216" y="-3462"/>
                </a:cubicBezTo>
                <a:lnTo>
                  <a:pt x="83536" y="28058"/>
                </a:lnTo>
                <a:cubicBezTo>
                  <a:pt x="87078" y="30406"/>
                  <a:pt x="89187" y="34386"/>
                  <a:pt x="89187" y="38644"/>
                </a:cubicBezTo>
                <a:close/>
                <a:moveTo>
                  <a:pt x="85805" y="118041"/>
                </a:moveTo>
                <a:cubicBezTo>
                  <a:pt x="83297" y="132766"/>
                  <a:pt x="86760" y="148327"/>
                  <a:pt x="96311" y="160784"/>
                </a:cubicBezTo>
                <a:lnTo>
                  <a:pt x="58503" y="198552"/>
                </a:lnTo>
                <a:cubicBezTo>
                  <a:pt x="47320" y="209736"/>
                  <a:pt x="29172" y="209736"/>
                  <a:pt x="17989" y="198552"/>
                </a:cubicBezTo>
                <a:cubicBezTo>
                  <a:pt x="6805" y="187369"/>
                  <a:pt x="6805" y="169221"/>
                  <a:pt x="17989" y="158038"/>
                </a:cubicBezTo>
                <a:lnTo>
                  <a:pt x="71875" y="104151"/>
                </a:lnTo>
                <a:lnTo>
                  <a:pt x="85805" y="118081"/>
                </a:lnTo>
                <a:close/>
              </a:path>
            </a:pathLst>
          </a:custGeom>
          <a:solidFill>
            <a:srgbClr val="E07A5F"/>
          </a:solidFill>
          <a:ln/>
        </p:spPr>
        <p:txBody>
          <a:bodyPr/>
          <a:lstStyle/>
          <a:p>
            <a:endParaRPr lang="en-US"/>
          </a:p>
        </p:txBody>
      </p:sp>
      <p:sp>
        <p:nvSpPr>
          <p:cNvPr id="31" name="Text 29"/>
          <p:cNvSpPr/>
          <p:nvPr/>
        </p:nvSpPr>
        <p:spPr>
          <a:xfrm>
            <a:off x="6717646" y="1332969"/>
            <a:ext cx="1256557" cy="271688"/>
          </a:xfrm>
          <a:prstGeom prst="rect">
            <a:avLst/>
          </a:prstGeom>
          <a:noFill/>
          <a:ln/>
        </p:spPr>
        <p:txBody>
          <a:bodyPr wrap="square" lIns="0" tIns="0" rIns="0" bIns="0" rtlCol="0" anchor="ctr"/>
          <a:lstStyle/>
          <a:p>
            <a:pPr>
              <a:lnSpc>
                <a:spcPct val="110000"/>
              </a:lnSpc>
            </a:pPr>
            <a:r>
              <a:rPr lang="en-US" sz="1604" b="1" dirty="0">
                <a:solidFill>
                  <a:srgbClr val="2D3142"/>
                </a:solidFill>
                <a:latin typeface="Quattrocento Sans" pitchFamily="34" charset="0"/>
                <a:ea typeface="Quattrocento Sans" pitchFamily="34" charset="-122"/>
                <a:cs typeface="Quattrocento Sans" pitchFamily="34" charset="-120"/>
              </a:rPr>
              <a:t>Key Methods</a:t>
            </a:r>
            <a:endParaRPr lang="en-US" sz="1600" dirty="0"/>
          </a:p>
        </p:txBody>
      </p:sp>
      <p:sp>
        <p:nvSpPr>
          <p:cNvPr id="32" name="Shape 30"/>
          <p:cNvSpPr/>
          <p:nvPr/>
        </p:nvSpPr>
        <p:spPr>
          <a:xfrm>
            <a:off x="6378036" y="1740501"/>
            <a:ext cx="5297916" cy="1154674"/>
          </a:xfrm>
          <a:custGeom>
            <a:avLst/>
            <a:gdLst/>
            <a:ahLst/>
            <a:cxnLst/>
            <a:rect l="l" t="t" r="r" b="b"/>
            <a:pathLst>
              <a:path w="5297916" h="1154674">
                <a:moveTo>
                  <a:pt x="33961" y="0"/>
                </a:moveTo>
                <a:lnTo>
                  <a:pt x="5229999" y="0"/>
                </a:lnTo>
                <a:cubicBezTo>
                  <a:pt x="5267483" y="0"/>
                  <a:pt x="5297916" y="30433"/>
                  <a:pt x="5297916" y="67918"/>
                </a:cubicBezTo>
                <a:lnTo>
                  <a:pt x="5297916" y="1086756"/>
                </a:lnTo>
                <a:cubicBezTo>
                  <a:pt x="5297916" y="1124241"/>
                  <a:pt x="5267483" y="1154674"/>
                  <a:pt x="5229999" y="1154674"/>
                </a:cubicBezTo>
                <a:lnTo>
                  <a:pt x="33961" y="1154674"/>
                </a:lnTo>
                <a:cubicBezTo>
                  <a:pt x="15205" y="1154674"/>
                  <a:pt x="0" y="1139469"/>
                  <a:pt x="0" y="1120713"/>
                </a:cubicBezTo>
                <a:lnTo>
                  <a:pt x="0" y="33961"/>
                </a:lnTo>
                <a:cubicBezTo>
                  <a:pt x="0" y="15217"/>
                  <a:pt x="15217" y="0"/>
                  <a:pt x="33961" y="0"/>
                </a:cubicBezTo>
                <a:close/>
              </a:path>
            </a:pathLst>
          </a:custGeom>
          <a:solidFill>
            <a:srgbClr val="EAE7D6"/>
          </a:solidFill>
          <a:ln/>
        </p:spPr>
        <p:txBody>
          <a:bodyPr/>
          <a:lstStyle/>
          <a:p>
            <a:endParaRPr lang="en-US"/>
          </a:p>
        </p:txBody>
      </p:sp>
      <p:sp>
        <p:nvSpPr>
          <p:cNvPr id="33" name="Shape 31"/>
          <p:cNvSpPr/>
          <p:nvPr/>
        </p:nvSpPr>
        <p:spPr>
          <a:xfrm>
            <a:off x="6378036" y="1740501"/>
            <a:ext cx="33961" cy="1154674"/>
          </a:xfrm>
          <a:custGeom>
            <a:avLst/>
            <a:gdLst/>
            <a:ahLst/>
            <a:cxnLst/>
            <a:rect l="l" t="t" r="r" b="b"/>
            <a:pathLst>
              <a:path w="33961" h="1154674">
                <a:moveTo>
                  <a:pt x="33961" y="0"/>
                </a:moveTo>
                <a:lnTo>
                  <a:pt x="33961" y="0"/>
                </a:lnTo>
                <a:lnTo>
                  <a:pt x="33961" y="1154674"/>
                </a:lnTo>
                <a:lnTo>
                  <a:pt x="33961" y="1154674"/>
                </a:lnTo>
                <a:cubicBezTo>
                  <a:pt x="15205" y="1154674"/>
                  <a:pt x="0" y="1139469"/>
                  <a:pt x="0" y="1120713"/>
                </a:cubicBezTo>
                <a:lnTo>
                  <a:pt x="0" y="33961"/>
                </a:lnTo>
                <a:cubicBezTo>
                  <a:pt x="0" y="15205"/>
                  <a:pt x="15205" y="0"/>
                  <a:pt x="33961" y="0"/>
                </a:cubicBezTo>
                <a:close/>
              </a:path>
            </a:pathLst>
          </a:custGeom>
          <a:solidFill>
            <a:srgbClr val="E07A5F"/>
          </a:solidFill>
          <a:ln/>
        </p:spPr>
        <p:txBody>
          <a:bodyPr/>
          <a:lstStyle/>
          <a:p>
            <a:endParaRPr lang="en-US"/>
          </a:p>
        </p:txBody>
      </p:sp>
      <p:sp>
        <p:nvSpPr>
          <p:cNvPr id="34" name="Text 32"/>
          <p:cNvSpPr/>
          <p:nvPr/>
        </p:nvSpPr>
        <p:spPr>
          <a:xfrm>
            <a:off x="6530860" y="1876345"/>
            <a:ext cx="2207465"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write(chunk, encoding, callback)</a:t>
            </a:r>
            <a:endParaRPr lang="en-US" sz="1600" dirty="0"/>
          </a:p>
        </p:txBody>
      </p:sp>
      <p:sp>
        <p:nvSpPr>
          <p:cNvPr id="35" name="Shape 33"/>
          <p:cNvSpPr/>
          <p:nvPr/>
        </p:nvSpPr>
        <p:spPr>
          <a:xfrm>
            <a:off x="10687634" y="1893326"/>
            <a:ext cx="857515" cy="203766"/>
          </a:xfrm>
          <a:custGeom>
            <a:avLst/>
            <a:gdLst/>
            <a:ahLst/>
            <a:cxnLst/>
            <a:rect l="l" t="t" r="r" b="b"/>
            <a:pathLst>
              <a:path w="857515" h="203766">
                <a:moveTo>
                  <a:pt x="33962" y="0"/>
                </a:moveTo>
                <a:lnTo>
                  <a:pt x="823554" y="0"/>
                </a:lnTo>
                <a:cubicBezTo>
                  <a:pt x="842310" y="0"/>
                  <a:pt x="857515" y="15205"/>
                  <a:pt x="857515" y="33962"/>
                </a:cubicBezTo>
                <a:lnTo>
                  <a:pt x="857515" y="169804"/>
                </a:lnTo>
                <a:cubicBezTo>
                  <a:pt x="857515" y="188561"/>
                  <a:pt x="842310" y="203766"/>
                  <a:pt x="823554" y="203766"/>
                </a:cubicBezTo>
                <a:lnTo>
                  <a:pt x="33962" y="203766"/>
                </a:lnTo>
                <a:cubicBezTo>
                  <a:pt x="15205" y="203766"/>
                  <a:pt x="0" y="188561"/>
                  <a:pt x="0" y="169804"/>
                </a:cubicBezTo>
                <a:lnTo>
                  <a:pt x="0" y="33962"/>
                </a:lnTo>
                <a:cubicBezTo>
                  <a:pt x="0" y="15218"/>
                  <a:pt x="15218" y="0"/>
                  <a:pt x="33962" y="0"/>
                </a:cubicBezTo>
                <a:close/>
              </a:path>
            </a:pathLst>
          </a:custGeom>
          <a:solidFill>
            <a:srgbClr val="E07A5F">
              <a:alpha val="30196"/>
            </a:srgbClr>
          </a:solidFill>
          <a:ln/>
        </p:spPr>
        <p:txBody>
          <a:bodyPr/>
          <a:lstStyle/>
          <a:p>
            <a:endParaRPr lang="en-US"/>
          </a:p>
        </p:txBody>
      </p:sp>
      <p:sp>
        <p:nvSpPr>
          <p:cNvPr id="36" name="Text 34"/>
          <p:cNvSpPr/>
          <p:nvPr/>
        </p:nvSpPr>
        <p:spPr>
          <a:xfrm>
            <a:off x="10687634" y="1893326"/>
            <a:ext cx="908457" cy="203766"/>
          </a:xfrm>
          <a:prstGeom prst="rect">
            <a:avLst/>
          </a:prstGeom>
          <a:noFill/>
          <a:ln/>
        </p:spPr>
        <p:txBody>
          <a:bodyPr wrap="square" lIns="67922" tIns="33961" rIns="67922" bIns="33961" rtlCol="0" anchor="ctr"/>
          <a:lstStyle/>
          <a:p>
            <a:pPr>
              <a:lnSpc>
                <a:spcPct val="110000"/>
              </a:lnSpc>
            </a:pPr>
            <a:r>
              <a:rPr lang="en-US" sz="802" dirty="0">
                <a:solidFill>
                  <a:srgbClr val="E07A5F"/>
                </a:solidFill>
                <a:latin typeface="Quattrocento Sans" pitchFamily="34" charset="0"/>
                <a:ea typeface="Quattrocento Sans" pitchFamily="34" charset="-122"/>
                <a:cs typeface="Quattrocento Sans" pitchFamily="34" charset="-120"/>
              </a:rPr>
              <a:t>Returns boolean</a:t>
            </a:r>
            <a:endParaRPr lang="en-US" sz="1600" dirty="0"/>
          </a:p>
        </p:txBody>
      </p:sp>
      <p:sp>
        <p:nvSpPr>
          <p:cNvPr id="37" name="Text 35"/>
          <p:cNvSpPr/>
          <p:nvPr/>
        </p:nvSpPr>
        <p:spPr>
          <a:xfrm>
            <a:off x="6530860" y="2181994"/>
            <a:ext cx="5077170"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Writes data to the stream. Returns false if buffer is full (backpressure signal).</a:t>
            </a:r>
            <a:endParaRPr lang="en-US" sz="1600" dirty="0"/>
          </a:p>
        </p:txBody>
      </p:sp>
      <p:sp>
        <p:nvSpPr>
          <p:cNvPr id="38" name="Shape 36"/>
          <p:cNvSpPr/>
          <p:nvPr/>
        </p:nvSpPr>
        <p:spPr>
          <a:xfrm>
            <a:off x="6530860" y="2453682"/>
            <a:ext cx="5009248" cy="305649"/>
          </a:xfrm>
          <a:custGeom>
            <a:avLst/>
            <a:gdLst/>
            <a:ahLst/>
            <a:cxnLst/>
            <a:rect l="l" t="t" r="r" b="b"/>
            <a:pathLst>
              <a:path w="5009248" h="305649">
                <a:moveTo>
                  <a:pt x="33961" y="0"/>
                </a:moveTo>
                <a:lnTo>
                  <a:pt x="4975287" y="0"/>
                </a:lnTo>
                <a:cubicBezTo>
                  <a:pt x="4994043" y="0"/>
                  <a:pt x="5009248" y="15205"/>
                  <a:pt x="5009248" y="33961"/>
                </a:cubicBezTo>
                <a:lnTo>
                  <a:pt x="5009248" y="271688"/>
                </a:lnTo>
                <a:cubicBezTo>
                  <a:pt x="5009248" y="290444"/>
                  <a:pt x="4994043" y="305649"/>
                  <a:pt x="4975287" y="305649"/>
                </a:cubicBezTo>
                <a:lnTo>
                  <a:pt x="33961" y="305649"/>
                </a:lnTo>
                <a:cubicBezTo>
                  <a:pt x="15217" y="305649"/>
                  <a:pt x="0" y="290432"/>
                  <a:pt x="0" y="271688"/>
                </a:cubicBezTo>
                <a:lnTo>
                  <a:pt x="0" y="33961"/>
                </a:lnTo>
                <a:cubicBezTo>
                  <a:pt x="0" y="15217"/>
                  <a:pt x="15217" y="0"/>
                  <a:pt x="33961" y="0"/>
                </a:cubicBezTo>
                <a:close/>
              </a:path>
            </a:pathLst>
          </a:custGeom>
          <a:solidFill>
            <a:srgbClr val="EAE7D6"/>
          </a:solidFill>
          <a:ln/>
        </p:spPr>
        <p:txBody>
          <a:bodyPr/>
          <a:lstStyle/>
          <a:p>
            <a:endParaRPr lang="en-US"/>
          </a:p>
        </p:txBody>
      </p:sp>
      <p:sp>
        <p:nvSpPr>
          <p:cNvPr id="39" name="Text 37"/>
          <p:cNvSpPr/>
          <p:nvPr/>
        </p:nvSpPr>
        <p:spPr>
          <a:xfrm>
            <a:off x="6530860" y="2453682"/>
            <a:ext cx="5068680" cy="305649"/>
          </a:xfrm>
          <a:prstGeom prst="rect">
            <a:avLst/>
          </a:prstGeom>
          <a:noFill/>
          <a:ln/>
        </p:spPr>
        <p:txBody>
          <a:bodyPr wrap="square" lIns="67922" tIns="67922" rIns="67922" bIns="67922" rtlCol="0" anchor="ctr"/>
          <a:lstStyle/>
          <a:p>
            <a:pPr>
              <a:lnSpc>
                <a:spcPct val="120000"/>
              </a:lnSpc>
            </a:pPr>
            <a:r>
              <a:rPr lang="en-US" sz="936" dirty="0">
                <a:solidFill>
                  <a:srgbClr val="E07A5F"/>
                </a:solidFill>
                <a:latin typeface="MiSans" pitchFamily="34" charset="0"/>
                <a:ea typeface="MiSans" pitchFamily="34" charset="-122"/>
                <a:cs typeface="MiSans" pitchFamily="34" charset="-120"/>
              </a:rPr>
              <a:t>const canWrite = stream.write(data)</a:t>
            </a:r>
            <a:endParaRPr lang="en-US" sz="1600" dirty="0"/>
          </a:p>
        </p:txBody>
      </p:sp>
      <p:sp>
        <p:nvSpPr>
          <p:cNvPr id="40" name="Shape 38"/>
          <p:cNvSpPr/>
          <p:nvPr/>
        </p:nvSpPr>
        <p:spPr>
          <a:xfrm>
            <a:off x="6378036" y="2997058"/>
            <a:ext cx="5297916" cy="1154674"/>
          </a:xfrm>
          <a:custGeom>
            <a:avLst/>
            <a:gdLst/>
            <a:ahLst/>
            <a:cxnLst/>
            <a:rect l="l" t="t" r="r" b="b"/>
            <a:pathLst>
              <a:path w="5297916" h="1154674">
                <a:moveTo>
                  <a:pt x="33961" y="0"/>
                </a:moveTo>
                <a:lnTo>
                  <a:pt x="5229999" y="0"/>
                </a:lnTo>
                <a:cubicBezTo>
                  <a:pt x="5267483" y="0"/>
                  <a:pt x="5297916" y="30433"/>
                  <a:pt x="5297916" y="67918"/>
                </a:cubicBezTo>
                <a:lnTo>
                  <a:pt x="5297916" y="1086756"/>
                </a:lnTo>
                <a:cubicBezTo>
                  <a:pt x="5297916" y="1124241"/>
                  <a:pt x="5267483" y="1154674"/>
                  <a:pt x="5229999" y="1154674"/>
                </a:cubicBezTo>
                <a:lnTo>
                  <a:pt x="33961" y="1154674"/>
                </a:lnTo>
                <a:cubicBezTo>
                  <a:pt x="15205" y="1154674"/>
                  <a:pt x="0" y="1139469"/>
                  <a:pt x="0" y="1120713"/>
                </a:cubicBezTo>
                <a:lnTo>
                  <a:pt x="0" y="33961"/>
                </a:lnTo>
                <a:cubicBezTo>
                  <a:pt x="0" y="15217"/>
                  <a:pt x="15217" y="0"/>
                  <a:pt x="33961" y="0"/>
                </a:cubicBezTo>
                <a:close/>
              </a:path>
            </a:pathLst>
          </a:custGeom>
          <a:solidFill>
            <a:srgbClr val="EAE7D6"/>
          </a:solidFill>
          <a:ln/>
        </p:spPr>
        <p:txBody>
          <a:bodyPr/>
          <a:lstStyle/>
          <a:p>
            <a:endParaRPr lang="en-US"/>
          </a:p>
        </p:txBody>
      </p:sp>
      <p:sp>
        <p:nvSpPr>
          <p:cNvPr id="41" name="Shape 39"/>
          <p:cNvSpPr/>
          <p:nvPr/>
        </p:nvSpPr>
        <p:spPr>
          <a:xfrm>
            <a:off x="6378036" y="2997058"/>
            <a:ext cx="33961" cy="1154674"/>
          </a:xfrm>
          <a:custGeom>
            <a:avLst/>
            <a:gdLst/>
            <a:ahLst/>
            <a:cxnLst/>
            <a:rect l="l" t="t" r="r" b="b"/>
            <a:pathLst>
              <a:path w="33961" h="1154674">
                <a:moveTo>
                  <a:pt x="33961" y="0"/>
                </a:moveTo>
                <a:lnTo>
                  <a:pt x="33961" y="0"/>
                </a:lnTo>
                <a:lnTo>
                  <a:pt x="33961" y="1154674"/>
                </a:lnTo>
                <a:lnTo>
                  <a:pt x="33961" y="1154674"/>
                </a:lnTo>
                <a:cubicBezTo>
                  <a:pt x="15205" y="1154674"/>
                  <a:pt x="0" y="1139469"/>
                  <a:pt x="0" y="1120713"/>
                </a:cubicBezTo>
                <a:lnTo>
                  <a:pt x="0" y="33961"/>
                </a:lnTo>
                <a:cubicBezTo>
                  <a:pt x="0" y="15205"/>
                  <a:pt x="15205" y="0"/>
                  <a:pt x="33961" y="0"/>
                </a:cubicBezTo>
                <a:close/>
              </a:path>
            </a:pathLst>
          </a:custGeom>
          <a:solidFill>
            <a:srgbClr val="8D99AE"/>
          </a:solidFill>
          <a:ln/>
        </p:spPr>
        <p:txBody>
          <a:bodyPr/>
          <a:lstStyle/>
          <a:p>
            <a:endParaRPr lang="en-US"/>
          </a:p>
        </p:txBody>
      </p:sp>
      <p:sp>
        <p:nvSpPr>
          <p:cNvPr id="42" name="Text 40"/>
          <p:cNvSpPr/>
          <p:nvPr/>
        </p:nvSpPr>
        <p:spPr>
          <a:xfrm>
            <a:off x="6530860" y="3132903"/>
            <a:ext cx="5085660"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end(chunk, encoding, callback)</a:t>
            </a:r>
            <a:endParaRPr lang="en-US" sz="1600" dirty="0"/>
          </a:p>
        </p:txBody>
      </p:sp>
      <p:sp>
        <p:nvSpPr>
          <p:cNvPr id="43" name="Text 41"/>
          <p:cNvSpPr/>
          <p:nvPr/>
        </p:nvSpPr>
        <p:spPr>
          <a:xfrm>
            <a:off x="6530860" y="3438552"/>
            <a:ext cx="5077170"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Signals no more data will be written. Optional final chunk.</a:t>
            </a:r>
            <a:endParaRPr lang="en-US" sz="1600" dirty="0"/>
          </a:p>
        </p:txBody>
      </p:sp>
      <p:sp>
        <p:nvSpPr>
          <p:cNvPr id="44" name="Shape 42"/>
          <p:cNvSpPr/>
          <p:nvPr/>
        </p:nvSpPr>
        <p:spPr>
          <a:xfrm>
            <a:off x="6530860" y="3710240"/>
            <a:ext cx="5009248" cy="305649"/>
          </a:xfrm>
          <a:custGeom>
            <a:avLst/>
            <a:gdLst/>
            <a:ahLst/>
            <a:cxnLst/>
            <a:rect l="l" t="t" r="r" b="b"/>
            <a:pathLst>
              <a:path w="5009248" h="305649">
                <a:moveTo>
                  <a:pt x="33961" y="0"/>
                </a:moveTo>
                <a:lnTo>
                  <a:pt x="4975287" y="0"/>
                </a:lnTo>
                <a:cubicBezTo>
                  <a:pt x="4994043" y="0"/>
                  <a:pt x="5009248" y="15205"/>
                  <a:pt x="5009248" y="33961"/>
                </a:cubicBezTo>
                <a:lnTo>
                  <a:pt x="5009248" y="271688"/>
                </a:lnTo>
                <a:cubicBezTo>
                  <a:pt x="5009248" y="290444"/>
                  <a:pt x="4994043" y="305649"/>
                  <a:pt x="4975287" y="305649"/>
                </a:cubicBezTo>
                <a:lnTo>
                  <a:pt x="33961" y="305649"/>
                </a:lnTo>
                <a:cubicBezTo>
                  <a:pt x="15217" y="305649"/>
                  <a:pt x="0" y="290432"/>
                  <a:pt x="0" y="271688"/>
                </a:cubicBezTo>
                <a:lnTo>
                  <a:pt x="0" y="33961"/>
                </a:lnTo>
                <a:cubicBezTo>
                  <a:pt x="0" y="15217"/>
                  <a:pt x="15217" y="0"/>
                  <a:pt x="33961" y="0"/>
                </a:cubicBezTo>
                <a:close/>
              </a:path>
            </a:pathLst>
          </a:custGeom>
          <a:solidFill>
            <a:srgbClr val="EAE7D6"/>
          </a:solidFill>
          <a:ln/>
        </p:spPr>
        <p:txBody>
          <a:bodyPr/>
          <a:lstStyle/>
          <a:p>
            <a:endParaRPr lang="en-US"/>
          </a:p>
        </p:txBody>
      </p:sp>
      <p:sp>
        <p:nvSpPr>
          <p:cNvPr id="45" name="Text 43"/>
          <p:cNvSpPr/>
          <p:nvPr/>
        </p:nvSpPr>
        <p:spPr>
          <a:xfrm>
            <a:off x="6530860" y="3710240"/>
            <a:ext cx="5068680" cy="305649"/>
          </a:xfrm>
          <a:prstGeom prst="rect">
            <a:avLst/>
          </a:prstGeom>
          <a:noFill/>
          <a:ln/>
        </p:spPr>
        <p:txBody>
          <a:bodyPr wrap="square" lIns="67922" tIns="67922" rIns="67922" bIns="67922" rtlCol="0" anchor="ctr"/>
          <a:lstStyle/>
          <a:p>
            <a:pPr>
              <a:lnSpc>
                <a:spcPct val="120000"/>
              </a:lnSpc>
            </a:pPr>
            <a:r>
              <a:rPr lang="en-US" sz="936" dirty="0">
                <a:solidFill>
                  <a:srgbClr val="8D99AE"/>
                </a:solidFill>
                <a:latin typeface="MiSans" pitchFamily="34" charset="0"/>
                <a:ea typeface="MiSans" pitchFamily="34" charset="-122"/>
                <a:cs typeface="MiSans" pitchFamily="34" charset="-120"/>
              </a:rPr>
              <a:t>stream.end('final data')</a:t>
            </a:r>
            <a:endParaRPr lang="en-US" sz="1600" dirty="0"/>
          </a:p>
        </p:txBody>
      </p:sp>
      <p:sp>
        <p:nvSpPr>
          <p:cNvPr id="46" name="Shape 44"/>
          <p:cNvSpPr/>
          <p:nvPr/>
        </p:nvSpPr>
        <p:spPr>
          <a:xfrm>
            <a:off x="6378036" y="4253616"/>
            <a:ext cx="5297916" cy="781103"/>
          </a:xfrm>
          <a:custGeom>
            <a:avLst/>
            <a:gdLst/>
            <a:ahLst/>
            <a:cxnLst/>
            <a:rect l="l" t="t" r="r" b="b"/>
            <a:pathLst>
              <a:path w="5297916" h="781103">
                <a:moveTo>
                  <a:pt x="33961" y="0"/>
                </a:moveTo>
                <a:lnTo>
                  <a:pt x="5229992" y="0"/>
                </a:lnTo>
                <a:cubicBezTo>
                  <a:pt x="5267506" y="0"/>
                  <a:pt x="5297916" y="30411"/>
                  <a:pt x="5297916" y="67925"/>
                </a:cubicBezTo>
                <a:lnTo>
                  <a:pt x="5297916" y="713178"/>
                </a:lnTo>
                <a:cubicBezTo>
                  <a:pt x="5297916" y="750692"/>
                  <a:pt x="5267506" y="781103"/>
                  <a:pt x="5229992" y="781103"/>
                </a:cubicBezTo>
                <a:lnTo>
                  <a:pt x="33961" y="781103"/>
                </a:lnTo>
                <a:cubicBezTo>
                  <a:pt x="15205" y="781103"/>
                  <a:pt x="0" y="765898"/>
                  <a:pt x="0" y="747142"/>
                </a:cubicBezTo>
                <a:lnTo>
                  <a:pt x="0" y="33961"/>
                </a:lnTo>
                <a:cubicBezTo>
                  <a:pt x="0" y="15205"/>
                  <a:pt x="15205" y="0"/>
                  <a:pt x="33961" y="0"/>
                </a:cubicBezTo>
                <a:close/>
              </a:path>
            </a:pathLst>
          </a:custGeom>
          <a:solidFill>
            <a:srgbClr val="EAE7D6"/>
          </a:solidFill>
          <a:ln/>
        </p:spPr>
        <p:txBody>
          <a:bodyPr/>
          <a:lstStyle/>
          <a:p>
            <a:endParaRPr lang="en-US"/>
          </a:p>
        </p:txBody>
      </p:sp>
      <p:sp>
        <p:nvSpPr>
          <p:cNvPr id="47" name="Shape 45"/>
          <p:cNvSpPr/>
          <p:nvPr/>
        </p:nvSpPr>
        <p:spPr>
          <a:xfrm>
            <a:off x="6378036" y="4253616"/>
            <a:ext cx="33961" cy="781103"/>
          </a:xfrm>
          <a:custGeom>
            <a:avLst/>
            <a:gdLst/>
            <a:ahLst/>
            <a:cxnLst/>
            <a:rect l="l" t="t" r="r" b="b"/>
            <a:pathLst>
              <a:path w="33961" h="781103">
                <a:moveTo>
                  <a:pt x="33961" y="0"/>
                </a:moveTo>
                <a:lnTo>
                  <a:pt x="33961" y="0"/>
                </a:lnTo>
                <a:lnTo>
                  <a:pt x="33961" y="781103"/>
                </a:lnTo>
                <a:lnTo>
                  <a:pt x="33961" y="781103"/>
                </a:lnTo>
                <a:cubicBezTo>
                  <a:pt x="15205" y="781103"/>
                  <a:pt x="0" y="765898"/>
                  <a:pt x="0" y="747142"/>
                </a:cubicBezTo>
                <a:lnTo>
                  <a:pt x="0" y="33961"/>
                </a:lnTo>
                <a:cubicBezTo>
                  <a:pt x="0" y="15205"/>
                  <a:pt x="15205" y="0"/>
                  <a:pt x="33961" y="0"/>
                </a:cubicBezTo>
                <a:close/>
              </a:path>
            </a:pathLst>
          </a:custGeom>
          <a:solidFill>
            <a:srgbClr val="8D99AE"/>
          </a:solidFill>
          <a:ln/>
        </p:spPr>
        <p:txBody>
          <a:bodyPr/>
          <a:lstStyle/>
          <a:p>
            <a:endParaRPr lang="en-US"/>
          </a:p>
        </p:txBody>
      </p:sp>
      <p:sp>
        <p:nvSpPr>
          <p:cNvPr id="48" name="Text 46"/>
          <p:cNvSpPr/>
          <p:nvPr/>
        </p:nvSpPr>
        <p:spPr>
          <a:xfrm>
            <a:off x="6530860" y="4389460"/>
            <a:ext cx="5085660" cy="237727"/>
          </a:xfrm>
          <a:prstGeom prst="rect">
            <a:avLst/>
          </a:prstGeom>
          <a:noFill/>
          <a:ln/>
        </p:spPr>
        <p:txBody>
          <a:bodyPr wrap="square" lIns="0" tIns="0" rIns="0" bIns="0" rtlCol="0" anchor="ctr"/>
          <a:lstStyle/>
          <a:p>
            <a:pPr>
              <a:lnSpc>
                <a:spcPct val="130000"/>
              </a:lnSpc>
            </a:pPr>
            <a:r>
              <a:rPr lang="en-US" sz="1203" b="1" dirty="0">
                <a:solidFill>
                  <a:srgbClr val="2D3142"/>
                </a:solidFill>
                <a:latin typeface="Quattrocento Sans" pitchFamily="34" charset="0"/>
                <a:ea typeface="Quattrocento Sans" pitchFamily="34" charset="-122"/>
                <a:cs typeface="Quattrocento Sans" pitchFamily="34" charset="-120"/>
              </a:rPr>
              <a:t>cork() / uncork()</a:t>
            </a:r>
            <a:endParaRPr lang="en-US" sz="1600" dirty="0"/>
          </a:p>
        </p:txBody>
      </p:sp>
      <p:sp>
        <p:nvSpPr>
          <p:cNvPr id="49" name="Text 47"/>
          <p:cNvSpPr/>
          <p:nvPr/>
        </p:nvSpPr>
        <p:spPr>
          <a:xfrm>
            <a:off x="6530860" y="4695109"/>
            <a:ext cx="5077170" cy="203766"/>
          </a:xfrm>
          <a:prstGeom prst="rect">
            <a:avLst/>
          </a:prstGeom>
          <a:noFill/>
          <a:ln/>
        </p:spPr>
        <p:txBody>
          <a:bodyPr wrap="square" lIns="0" tIns="0" rIns="0" bIns="0" rtlCol="0" anchor="ctr"/>
          <a:lstStyle/>
          <a:p>
            <a:pPr>
              <a:lnSpc>
                <a:spcPct val="130000"/>
              </a:lnSpc>
            </a:pPr>
            <a:r>
              <a:rPr lang="en-US" sz="1070" dirty="0">
                <a:solidFill>
                  <a:srgbClr val="8D99AE"/>
                </a:solidFill>
                <a:latin typeface="Quattrocento Sans" pitchFamily="34" charset="0"/>
                <a:ea typeface="Quattrocento Sans" pitchFamily="34" charset="-122"/>
                <a:cs typeface="Quattrocento Sans" pitchFamily="34" charset="-120"/>
              </a:rPr>
              <a:t>Force buffer all writes for performance optimization</a:t>
            </a:r>
            <a:endParaRPr lang="en-US" sz="1600" dirty="0"/>
          </a:p>
        </p:txBody>
      </p:sp>
      <p:sp>
        <p:nvSpPr>
          <p:cNvPr id="50" name="Shape 48"/>
          <p:cNvSpPr/>
          <p:nvPr/>
        </p:nvSpPr>
        <p:spPr>
          <a:xfrm>
            <a:off x="6187005" y="5353103"/>
            <a:ext cx="5662997" cy="1299008"/>
          </a:xfrm>
          <a:custGeom>
            <a:avLst/>
            <a:gdLst/>
            <a:ahLst/>
            <a:cxnLst/>
            <a:rect l="l" t="t" r="r" b="b"/>
            <a:pathLst>
              <a:path w="5662997" h="1299008">
                <a:moveTo>
                  <a:pt x="101881" y="0"/>
                </a:moveTo>
                <a:lnTo>
                  <a:pt x="5561116" y="0"/>
                </a:lnTo>
                <a:cubicBezTo>
                  <a:pt x="5617383" y="0"/>
                  <a:pt x="5662997" y="45614"/>
                  <a:pt x="5662997" y="101881"/>
                </a:cubicBezTo>
                <a:lnTo>
                  <a:pt x="5662997" y="1197127"/>
                </a:lnTo>
                <a:cubicBezTo>
                  <a:pt x="5662997" y="1253395"/>
                  <a:pt x="5617383" y="1299008"/>
                  <a:pt x="5561116" y="1299008"/>
                </a:cubicBezTo>
                <a:lnTo>
                  <a:pt x="101881" y="1299008"/>
                </a:lnTo>
                <a:cubicBezTo>
                  <a:pt x="45614" y="1299008"/>
                  <a:pt x="0" y="1253395"/>
                  <a:pt x="0" y="1197127"/>
                </a:cubicBezTo>
                <a:lnTo>
                  <a:pt x="0" y="101881"/>
                </a:lnTo>
                <a:cubicBezTo>
                  <a:pt x="0" y="45651"/>
                  <a:pt x="45651" y="0"/>
                  <a:pt x="101881" y="0"/>
                </a:cubicBezTo>
                <a:close/>
              </a:path>
            </a:pathLst>
          </a:custGeom>
          <a:solidFill>
            <a:srgbClr val="EAE7D6"/>
          </a:solidFill>
          <a:ln/>
        </p:spPr>
        <p:txBody>
          <a:bodyPr/>
          <a:lstStyle/>
          <a:p>
            <a:endParaRPr lang="en-US"/>
          </a:p>
        </p:txBody>
      </p:sp>
      <p:sp>
        <p:nvSpPr>
          <p:cNvPr id="51" name="Shape 49"/>
          <p:cNvSpPr/>
          <p:nvPr/>
        </p:nvSpPr>
        <p:spPr>
          <a:xfrm>
            <a:off x="6382281" y="5561114"/>
            <a:ext cx="169805" cy="169805"/>
          </a:xfrm>
          <a:custGeom>
            <a:avLst/>
            <a:gdLst/>
            <a:ahLst/>
            <a:cxnLst/>
            <a:rect l="l" t="t" r="r" b="b"/>
            <a:pathLst>
              <a:path w="169805" h="169805">
                <a:moveTo>
                  <a:pt x="44375" y="12039"/>
                </a:moveTo>
                <a:cubicBezTo>
                  <a:pt x="47990" y="14559"/>
                  <a:pt x="48852" y="19534"/>
                  <a:pt x="46332" y="23116"/>
                </a:cubicBezTo>
                <a:lnTo>
                  <a:pt x="27759" y="49648"/>
                </a:lnTo>
                <a:cubicBezTo>
                  <a:pt x="26399" y="51572"/>
                  <a:pt x="24277" y="52799"/>
                  <a:pt x="21922" y="52998"/>
                </a:cubicBezTo>
                <a:cubicBezTo>
                  <a:pt x="19567" y="53197"/>
                  <a:pt x="17246" y="52401"/>
                  <a:pt x="15588" y="50743"/>
                </a:cubicBezTo>
                <a:lnTo>
                  <a:pt x="2322" y="37476"/>
                </a:lnTo>
                <a:cubicBezTo>
                  <a:pt x="-763" y="34359"/>
                  <a:pt x="-763" y="29318"/>
                  <a:pt x="2322" y="26200"/>
                </a:cubicBezTo>
                <a:cubicBezTo>
                  <a:pt x="5406" y="23083"/>
                  <a:pt x="10480" y="23116"/>
                  <a:pt x="13598" y="26200"/>
                </a:cubicBezTo>
                <a:lnTo>
                  <a:pt x="20164" y="32767"/>
                </a:lnTo>
                <a:lnTo>
                  <a:pt x="33298" y="13996"/>
                </a:lnTo>
                <a:cubicBezTo>
                  <a:pt x="35818" y="10381"/>
                  <a:pt x="40793" y="9518"/>
                  <a:pt x="44375" y="12039"/>
                </a:cubicBezTo>
                <a:close/>
                <a:moveTo>
                  <a:pt x="44375" y="65103"/>
                </a:moveTo>
                <a:cubicBezTo>
                  <a:pt x="47990" y="67624"/>
                  <a:pt x="48852" y="72598"/>
                  <a:pt x="46332" y="76180"/>
                </a:cubicBezTo>
                <a:lnTo>
                  <a:pt x="27759" y="102712"/>
                </a:lnTo>
                <a:cubicBezTo>
                  <a:pt x="26399" y="104636"/>
                  <a:pt x="24277" y="105863"/>
                  <a:pt x="21922" y="106062"/>
                </a:cubicBezTo>
                <a:cubicBezTo>
                  <a:pt x="19567" y="106261"/>
                  <a:pt x="17246" y="105465"/>
                  <a:pt x="15588" y="103807"/>
                </a:cubicBezTo>
                <a:lnTo>
                  <a:pt x="2322" y="90541"/>
                </a:lnTo>
                <a:cubicBezTo>
                  <a:pt x="-796" y="87423"/>
                  <a:pt x="-796" y="82382"/>
                  <a:pt x="2322" y="79298"/>
                </a:cubicBezTo>
                <a:cubicBezTo>
                  <a:pt x="5439" y="76213"/>
                  <a:pt x="10480" y="76180"/>
                  <a:pt x="13565" y="79298"/>
                </a:cubicBezTo>
                <a:lnTo>
                  <a:pt x="20131" y="85864"/>
                </a:lnTo>
                <a:lnTo>
                  <a:pt x="33265" y="67093"/>
                </a:lnTo>
                <a:cubicBezTo>
                  <a:pt x="35785" y="63478"/>
                  <a:pt x="40760" y="62616"/>
                  <a:pt x="44342" y="65136"/>
                </a:cubicBezTo>
                <a:close/>
                <a:moveTo>
                  <a:pt x="74290" y="31838"/>
                </a:moveTo>
                <a:cubicBezTo>
                  <a:pt x="74290" y="25968"/>
                  <a:pt x="79032" y="21226"/>
                  <a:pt x="84903" y="21226"/>
                </a:cubicBezTo>
                <a:lnTo>
                  <a:pt x="159192" y="21226"/>
                </a:lnTo>
                <a:cubicBezTo>
                  <a:pt x="165062" y="21226"/>
                  <a:pt x="169805" y="25968"/>
                  <a:pt x="169805" y="31838"/>
                </a:cubicBezTo>
                <a:cubicBezTo>
                  <a:pt x="169805" y="37709"/>
                  <a:pt x="165062" y="42451"/>
                  <a:pt x="159192" y="42451"/>
                </a:cubicBezTo>
                <a:lnTo>
                  <a:pt x="84903" y="42451"/>
                </a:lnTo>
                <a:cubicBezTo>
                  <a:pt x="79032" y="42451"/>
                  <a:pt x="74290" y="37709"/>
                  <a:pt x="74290" y="31838"/>
                </a:cubicBezTo>
                <a:close/>
                <a:moveTo>
                  <a:pt x="74290" y="84903"/>
                </a:moveTo>
                <a:cubicBezTo>
                  <a:pt x="74290" y="79032"/>
                  <a:pt x="79032" y="74290"/>
                  <a:pt x="84903" y="74290"/>
                </a:cubicBezTo>
                <a:lnTo>
                  <a:pt x="159192" y="74290"/>
                </a:lnTo>
                <a:cubicBezTo>
                  <a:pt x="165062" y="74290"/>
                  <a:pt x="169805" y="79032"/>
                  <a:pt x="169805" y="84903"/>
                </a:cubicBezTo>
                <a:cubicBezTo>
                  <a:pt x="169805" y="90773"/>
                  <a:pt x="165062" y="95515"/>
                  <a:pt x="159192" y="95515"/>
                </a:cubicBezTo>
                <a:lnTo>
                  <a:pt x="84903" y="95515"/>
                </a:lnTo>
                <a:cubicBezTo>
                  <a:pt x="79032" y="95515"/>
                  <a:pt x="74290" y="90773"/>
                  <a:pt x="74290" y="84903"/>
                </a:cubicBezTo>
                <a:close/>
                <a:moveTo>
                  <a:pt x="53064" y="137967"/>
                </a:moveTo>
                <a:cubicBezTo>
                  <a:pt x="53064" y="132096"/>
                  <a:pt x="57807" y="127354"/>
                  <a:pt x="63677" y="127354"/>
                </a:cubicBezTo>
                <a:lnTo>
                  <a:pt x="159192" y="127354"/>
                </a:lnTo>
                <a:cubicBezTo>
                  <a:pt x="165062" y="127354"/>
                  <a:pt x="169805" y="132096"/>
                  <a:pt x="169805" y="137967"/>
                </a:cubicBezTo>
                <a:cubicBezTo>
                  <a:pt x="169805" y="143837"/>
                  <a:pt x="165062" y="148579"/>
                  <a:pt x="159192" y="148579"/>
                </a:cubicBezTo>
                <a:lnTo>
                  <a:pt x="63677" y="148579"/>
                </a:lnTo>
                <a:cubicBezTo>
                  <a:pt x="57807" y="148579"/>
                  <a:pt x="53064" y="143837"/>
                  <a:pt x="53064" y="137967"/>
                </a:cubicBezTo>
                <a:close/>
                <a:moveTo>
                  <a:pt x="21226" y="124701"/>
                </a:moveTo>
                <a:cubicBezTo>
                  <a:pt x="28547" y="124701"/>
                  <a:pt x="34492" y="130645"/>
                  <a:pt x="34492" y="137967"/>
                </a:cubicBezTo>
                <a:cubicBezTo>
                  <a:pt x="34492" y="145288"/>
                  <a:pt x="28547" y="151233"/>
                  <a:pt x="21226" y="151233"/>
                </a:cubicBezTo>
                <a:cubicBezTo>
                  <a:pt x="13904" y="151233"/>
                  <a:pt x="7960" y="145288"/>
                  <a:pt x="7960" y="137967"/>
                </a:cubicBezTo>
                <a:cubicBezTo>
                  <a:pt x="7960" y="130645"/>
                  <a:pt x="13904" y="124701"/>
                  <a:pt x="21226" y="124701"/>
                </a:cubicBezTo>
                <a:close/>
              </a:path>
            </a:pathLst>
          </a:custGeom>
          <a:solidFill>
            <a:srgbClr val="8D99AE"/>
          </a:solidFill>
          <a:ln/>
        </p:spPr>
        <p:txBody>
          <a:bodyPr/>
          <a:lstStyle/>
          <a:p>
            <a:endParaRPr lang="en-US"/>
          </a:p>
        </p:txBody>
      </p:sp>
      <p:sp>
        <p:nvSpPr>
          <p:cNvPr id="52" name="Text 50"/>
          <p:cNvSpPr/>
          <p:nvPr/>
        </p:nvSpPr>
        <p:spPr>
          <a:xfrm>
            <a:off x="6675194" y="5527153"/>
            <a:ext cx="1443343" cy="237727"/>
          </a:xfrm>
          <a:prstGeom prst="rect">
            <a:avLst/>
          </a:prstGeom>
          <a:noFill/>
          <a:ln/>
        </p:spPr>
        <p:txBody>
          <a:bodyPr wrap="square" lIns="0" tIns="0" rIns="0" bIns="0" rtlCol="0" anchor="ctr"/>
          <a:lstStyle/>
          <a:p>
            <a:pPr>
              <a:lnSpc>
                <a:spcPct val="120000"/>
              </a:lnSpc>
            </a:pPr>
            <a:r>
              <a:rPr lang="en-US" sz="1337" b="1" dirty="0">
                <a:solidFill>
                  <a:srgbClr val="2D3142"/>
                </a:solidFill>
                <a:latin typeface="Quattrocento Sans" pitchFamily="34" charset="0"/>
                <a:ea typeface="Quattrocento Sans" pitchFamily="34" charset="-122"/>
                <a:cs typeface="Quattrocento Sans" pitchFamily="34" charset="-120"/>
              </a:rPr>
              <a:t>Primary Use Cases</a:t>
            </a:r>
            <a:endParaRPr lang="en-US" sz="1600" dirty="0"/>
          </a:p>
        </p:txBody>
      </p:sp>
      <p:sp>
        <p:nvSpPr>
          <p:cNvPr id="53" name="Shape 51"/>
          <p:cNvSpPr/>
          <p:nvPr/>
        </p:nvSpPr>
        <p:spPr>
          <a:xfrm>
            <a:off x="6361055" y="5866763"/>
            <a:ext cx="2606507" cy="611298"/>
          </a:xfrm>
          <a:custGeom>
            <a:avLst/>
            <a:gdLst/>
            <a:ahLst/>
            <a:cxnLst/>
            <a:rect l="l" t="t" r="r" b="b"/>
            <a:pathLst>
              <a:path w="2606507" h="611298">
                <a:moveTo>
                  <a:pt x="67921" y="0"/>
                </a:moveTo>
                <a:lnTo>
                  <a:pt x="2538586" y="0"/>
                </a:lnTo>
                <a:cubicBezTo>
                  <a:pt x="2576072" y="0"/>
                  <a:pt x="2606507" y="30435"/>
                  <a:pt x="2606507" y="67921"/>
                </a:cubicBezTo>
                <a:lnTo>
                  <a:pt x="2606507" y="543377"/>
                </a:lnTo>
                <a:cubicBezTo>
                  <a:pt x="2606507" y="580864"/>
                  <a:pt x="2576072" y="611298"/>
                  <a:pt x="2538586" y="611298"/>
                </a:cubicBezTo>
                <a:lnTo>
                  <a:pt x="67921" y="611298"/>
                </a:lnTo>
                <a:cubicBezTo>
                  <a:pt x="30435" y="611298"/>
                  <a:pt x="0" y="580864"/>
                  <a:pt x="0" y="543377"/>
                </a:cubicBezTo>
                <a:lnTo>
                  <a:pt x="0" y="67921"/>
                </a:lnTo>
                <a:cubicBezTo>
                  <a:pt x="0" y="30435"/>
                  <a:pt x="30435" y="0"/>
                  <a:pt x="67921" y="0"/>
                </a:cubicBezTo>
                <a:close/>
              </a:path>
            </a:pathLst>
          </a:custGeom>
          <a:solidFill>
            <a:srgbClr val="EAE7D6"/>
          </a:solidFill>
          <a:ln/>
        </p:spPr>
        <p:txBody>
          <a:bodyPr/>
          <a:lstStyle/>
          <a:p>
            <a:endParaRPr lang="en-US"/>
          </a:p>
        </p:txBody>
      </p:sp>
      <p:sp>
        <p:nvSpPr>
          <p:cNvPr id="54" name="Text 52"/>
          <p:cNvSpPr/>
          <p:nvPr/>
        </p:nvSpPr>
        <p:spPr>
          <a:xfrm>
            <a:off x="6462938" y="5968646"/>
            <a:ext cx="2470663" cy="203766"/>
          </a:xfrm>
          <a:prstGeom prst="rect">
            <a:avLst/>
          </a:prstGeom>
          <a:noFill/>
          <a:ln/>
        </p:spPr>
        <p:txBody>
          <a:bodyPr wrap="square" lIns="0" tIns="0" rIns="0" bIns="0" rtlCol="0" anchor="ctr"/>
          <a:lstStyle/>
          <a:p>
            <a:pPr>
              <a:lnSpc>
                <a:spcPct val="130000"/>
              </a:lnSpc>
            </a:pPr>
            <a:r>
              <a:rPr lang="en-US" sz="1070" b="1" dirty="0">
                <a:solidFill>
                  <a:srgbClr val="2D3142"/>
                </a:solidFill>
                <a:latin typeface="Quattrocento Sans" pitchFamily="34" charset="0"/>
                <a:ea typeface="Quattrocento Sans" pitchFamily="34" charset="-122"/>
                <a:cs typeface="Quattrocento Sans" pitchFamily="34" charset="-120"/>
              </a:rPr>
              <a:t>File Writing</a:t>
            </a:r>
            <a:endParaRPr lang="en-US" sz="1600" dirty="0"/>
          </a:p>
        </p:txBody>
      </p:sp>
      <p:sp>
        <p:nvSpPr>
          <p:cNvPr id="55" name="Text 53"/>
          <p:cNvSpPr/>
          <p:nvPr/>
        </p:nvSpPr>
        <p:spPr>
          <a:xfrm>
            <a:off x="6462938" y="6206373"/>
            <a:ext cx="2462173" cy="169805"/>
          </a:xfrm>
          <a:prstGeom prst="rect">
            <a:avLst/>
          </a:prstGeom>
          <a:noFill/>
          <a:ln/>
        </p:spPr>
        <p:txBody>
          <a:bodyPr wrap="square" lIns="0" tIns="0" rIns="0" bIns="0" rtlCol="0" anchor="ctr"/>
          <a:lstStyle/>
          <a:p>
            <a:pPr>
              <a:lnSpc>
                <a:spcPct val="120000"/>
              </a:lnSpc>
            </a:pPr>
            <a:r>
              <a:rPr lang="en-US" sz="936" dirty="0">
                <a:solidFill>
                  <a:srgbClr val="8D99AE"/>
                </a:solidFill>
                <a:latin typeface="Quattrocento Sans" pitchFamily="34" charset="0"/>
                <a:ea typeface="Quattrocento Sans" pitchFamily="34" charset="-122"/>
                <a:cs typeface="Quattrocento Sans" pitchFamily="34" charset="-120"/>
              </a:rPr>
              <a:t>Log files, data exports</a:t>
            </a:r>
            <a:endParaRPr lang="en-US" sz="1600" dirty="0"/>
          </a:p>
        </p:txBody>
      </p:sp>
      <p:sp>
        <p:nvSpPr>
          <p:cNvPr id="56" name="Shape 54"/>
          <p:cNvSpPr/>
          <p:nvPr/>
        </p:nvSpPr>
        <p:spPr>
          <a:xfrm>
            <a:off x="9070374" y="5866763"/>
            <a:ext cx="2606507" cy="611298"/>
          </a:xfrm>
          <a:custGeom>
            <a:avLst/>
            <a:gdLst/>
            <a:ahLst/>
            <a:cxnLst/>
            <a:rect l="l" t="t" r="r" b="b"/>
            <a:pathLst>
              <a:path w="2606507" h="611298">
                <a:moveTo>
                  <a:pt x="67921" y="0"/>
                </a:moveTo>
                <a:lnTo>
                  <a:pt x="2538586" y="0"/>
                </a:lnTo>
                <a:cubicBezTo>
                  <a:pt x="2576072" y="0"/>
                  <a:pt x="2606507" y="30435"/>
                  <a:pt x="2606507" y="67921"/>
                </a:cubicBezTo>
                <a:lnTo>
                  <a:pt x="2606507" y="543377"/>
                </a:lnTo>
                <a:cubicBezTo>
                  <a:pt x="2606507" y="580864"/>
                  <a:pt x="2576072" y="611298"/>
                  <a:pt x="2538586" y="611298"/>
                </a:cubicBezTo>
                <a:lnTo>
                  <a:pt x="67921" y="611298"/>
                </a:lnTo>
                <a:cubicBezTo>
                  <a:pt x="30435" y="611298"/>
                  <a:pt x="0" y="580864"/>
                  <a:pt x="0" y="543377"/>
                </a:cubicBezTo>
                <a:lnTo>
                  <a:pt x="0" y="67921"/>
                </a:lnTo>
                <a:cubicBezTo>
                  <a:pt x="0" y="30435"/>
                  <a:pt x="30435" y="0"/>
                  <a:pt x="67921" y="0"/>
                </a:cubicBezTo>
                <a:close/>
              </a:path>
            </a:pathLst>
          </a:custGeom>
          <a:solidFill>
            <a:srgbClr val="EAE7D6"/>
          </a:solidFill>
          <a:ln/>
        </p:spPr>
        <p:txBody>
          <a:bodyPr/>
          <a:lstStyle/>
          <a:p>
            <a:endParaRPr lang="en-US"/>
          </a:p>
        </p:txBody>
      </p:sp>
      <p:sp>
        <p:nvSpPr>
          <p:cNvPr id="57" name="Text 55"/>
          <p:cNvSpPr/>
          <p:nvPr/>
        </p:nvSpPr>
        <p:spPr>
          <a:xfrm>
            <a:off x="9172257" y="5968646"/>
            <a:ext cx="2470663" cy="203766"/>
          </a:xfrm>
          <a:prstGeom prst="rect">
            <a:avLst/>
          </a:prstGeom>
          <a:noFill/>
          <a:ln/>
        </p:spPr>
        <p:txBody>
          <a:bodyPr wrap="square" lIns="0" tIns="0" rIns="0" bIns="0" rtlCol="0" anchor="ctr"/>
          <a:lstStyle/>
          <a:p>
            <a:pPr>
              <a:lnSpc>
                <a:spcPct val="130000"/>
              </a:lnSpc>
            </a:pPr>
            <a:r>
              <a:rPr lang="en-US" sz="1070" b="1" dirty="0">
                <a:solidFill>
                  <a:srgbClr val="2D3142"/>
                </a:solidFill>
                <a:latin typeface="Quattrocento Sans" pitchFamily="34" charset="0"/>
                <a:ea typeface="Quattrocento Sans" pitchFamily="34" charset="-122"/>
                <a:cs typeface="Quattrocento Sans" pitchFamily="34" charset="-120"/>
              </a:rPr>
              <a:t>API Response</a:t>
            </a:r>
            <a:endParaRPr lang="en-US" sz="1600" dirty="0"/>
          </a:p>
        </p:txBody>
      </p:sp>
      <p:sp>
        <p:nvSpPr>
          <p:cNvPr id="58" name="Text 56"/>
          <p:cNvSpPr/>
          <p:nvPr/>
        </p:nvSpPr>
        <p:spPr>
          <a:xfrm>
            <a:off x="9172257" y="6206373"/>
            <a:ext cx="2462173" cy="169805"/>
          </a:xfrm>
          <a:prstGeom prst="rect">
            <a:avLst/>
          </a:prstGeom>
          <a:noFill/>
          <a:ln/>
        </p:spPr>
        <p:txBody>
          <a:bodyPr wrap="square" lIns="0" tIns="0" rIns="0" bIns="0" rtlCol="0" anchor="ctr"/>
          <a:lstStyle/>
          <a:p>
            <a:pPr>
              <a:lnSpc>
                <a:spcPct val="120000"/>
              </a:lnSpc>
            </a:pPr>
            <a:r>
              <a:rPr lang="en-US" sz="936" dirty="0">
                <a:solidFill>
                  <a:srgbClr val="8D99AE"/>
                </a:solidFill>
                <a:latin typeface="Quattrocento Sans" pitchFamily="34" charset="0"/>
                <a:ea typeface="Quattrocento Sans" pitchFamily="34" charset="-122"/>
                <a:cs typeface="Quattrocento Sans" pitchFamily="34" charset="-120"/>
              </a:rPr>
              <a:t>Streaming JSON, files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32207" y="382038"/>
            <a:ext cx="398649" cy="398649"/>
          </a:xfrm>
          <a:custGeom>
            <a:avLst/>
            <a:gdLst/>
            <a:ahLst/>
            <a:cxnLst/>
            <a:rect l="l" t="t" r="r" b="b"/>
            <a:pathLst>
              <a:path w="398649" h="398649">
                <a:moveTo>
                  <a:pt x="66443" y="0"/>
                </a:moveTo>
                <a:lnTo>
                  <a:pt x="332206" y="0"/>
                </a:lnTo>
                <a:cubicBezTo>
                  <a:pt x="368901" y="0"/>
                  <a:pt x="398649" y="29747"/>
                  <a:pt x="398649" y="66443"/>
                </a:cubicBezTo>
                <a:lnTo>
                  <a:pt x="398649" y="332206"/>
                </a:lnTo>
                <a:cubicBezTo>
                  <a:pt x="398649" y="368901"/>
                  <a:pt x="368901" y="398649"/>
                  <a:pt x="332206" y="398649"/>
                </a:cubicBezTo>
                <a:lnTo>
                  <a:pt x="66443" y="398649"/>
                </a:lnTo>
                <a:cubicBezTo>
                  <a:pt x="29747" y="398649"/>
                  <a:pt x="0" y="368901"/>
                  <a:pt x="0" y="332206"/>
                </a:cubicBezTo>
                <a:lnTo>
                  <a:pt x="0" y="66443"/>
                </a:lnTo>
                <a:cubicBezTo>
                  <a:pt x="0" y="29747"/>
                  <a:pt x="29747" y="0"/>
                  <a:pt x="66443"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48480" y="498311"/>
            <a:ext cx="166104" cy="166104"/>
          </a:xfrm>
          <a:custGeom>
            <a:avLst/>
            <a:gdLst/>
            <a:ahLst/>
            <a:cxnLst/>
            <a:rect l="l" t="t" r="r" b="b"/>
            <a:pathLst>
              <a:path w="166104" h="166104">
                <a:moveTo>
                  <a:pt x="163054" y="48858"/>
                </a:moveTo>
                <a:lnTo>
                  <a:pt x="131910" y="80002"/>
                </a:lnTo>
                <a:cubicBezTo>
                  <a:pt x="128925" y="82987"/>
                  <a:pt x="124480" y="83863"/>
                  <a:pt x="120587" y="82241"/>
                </a:cubicBezTo>
                <a:cubicBezTo>
                  <a:pt x="116694" y="80619"/>
                  <a:pt x="114196" y="76855"/>
                  <a:pt x="114196" y="72670"/>
                </a:cubicBezTo>
                <a:lnTo>
                  <a:pt x="114196" y="51907"/>
                </a:lnTo>
                <a:lnTo>
                  <a:pt x="10381" y="51907"/>
                </a:lnTo>
                <a:cubicBezTo>
                  <a:pt x="4639" y="51907"/>
                  <a:pt x="0" y="47268"/>
                  <a:pt x="0" y="41526"/>
                </a:cubicBezTo>
                <a:cubicBezTo>
                  <a:pt x="0" y="35784"/>
                  <a:pt x="4639" y="31144"/>
                  <a:pt x="10381" y="31144"/>
                </a:cubicBezTo>
                <a:lnTo>
                  <a:pt x="114196" y="31144"/>
                </a:lnTo>
                <a:lnTo>
                  <a:pt x="114196" y="10381"/>
                </a:lnTo>
                <a:cubicBezTo>
                  <a:pt x="114196" y="6196"/>
                  <a:pt x="116727" y="2401"/>
                  <a:pt x="120620" y="779"/>
                </a:cubicBezTo>
                <a:cubicBezTo>
                  <a:pt x="124513" y="-843"/>
                  <a:pt x="128957" y="65"/>
                  <a:pt x="131942" y="3017"/>
                </a:cubicBezTo>
                <a:lnTo>
                  <a:pt x="163086" y="34162"/>
                </a:lnTo>
                <a:cubicBezTo>
                  <a:pt x="167142" y="38217"/>
                  <a:pt x="167142" y="44803"/>
                  <a:pt x="163086" y="48858"/>
                </a:cubicBezTo>
                <a:close/>
                <a:moveTo>
                  <a:pt x="34162" y="163054"/>
                </a:moveTo>
                <a:lnTo>
                  <a:pt x="3017" y="131910"/>
                </a:lnTo>
                <a:cubicBezTo>
                  <a:pt x="-1038" y="127854"/>
                  <a:pt x="-1038" y="121269"/>
                  <a:pt x="3017" y="117213"/>
                </a:cubicBezTo>
                <a:lnTo>
                  <a:pt x="34162" y="86069"/>
                </a:lnTo>
                <a:cubicBezTo>
                  <a:pt x="37146" y="83084"/>
                  <a:pt x="41591" y="82208"/>
                  <a:pt x="45484" y="83830"/>
                </a:cubicBezTo>
                <a:cubicBezTo>
                  <a:pt x="49377" y="85452"/>
                  <a:pt x="51907" y="89248"/>
                  <a:pt x="51907" y="93433"/>
                </a:cubicBezTo>
                <a:lnTo>
                  <a:pt x="51907" y="114196"/>
                </a:lnTo>
                <a:lnTo>
                  <a:pt x="155722" y="114196"/>
                </a:lnTo>
                <a:cubicBezTo>
                  <a:pt x="161464" y="114196"/>
                  <a:pt x="166104" y="118835"/>
                  <a:pt x="166104" y="124578"/>
                </a:cubicBezTo>
                <a:cubicBezTo>
                  <a:pt x="166104" y="130320"/>
                  <a:pt x="161464" y="134959"/>
                  <a:pt x="155722" y="134959"/>
                </a:cubicBezTo>
                <a:lnTo>
                  <a:pt x="51907" y="134959"/>
                </a:lnTo>
                <a:lnTo>
                  <a:pt x="51907" y="155722"/>
                </a:lnTo>
                <a:cubicBezTo>
                  <a:pt x="51907" y="159907"/>
                  <a:pt x="49377" y="163703"/>
                  <a:pt x="45484" y="165325"/>
                </a:cubicBezTo>
                <a:cubicBezTo>
                  <a:pt x="41591" y="166947"/>
                  <a:pt x="37146" y="166039"/>
                  <a:pt x="34162" y="163086"/>
                </a:cubicBezTo>
                <a:close/>
              </a:path>
            </a:pathLst>
          </a:custGeom>
          <a:solidFill>
            <a:srgbClr val="FFFFFF"/>
          </a:solidFill>
          <a:ln/>
        </p:spPr>
        <p:txBody>
          <a:bodyPr/>
          <a:lstStyle/>
          <a:p>
            <a:endParaRPr lang="en-US"/>
          </a:p>
        </p:txBody>
      </p:sp>
      <p:sp>
        <p:nvSpPr>
          <p:cNvPr id="4" name="Text 2"/>
          <p:cNvSpPr/>
          <p:nvPr/>
        </p:nvSpPr>
        <p:spPr>
          <a:xfrm>
            <a:off x="830518" y="332207"/>
            <a:ext cx="1993243" cy="166104"/>
          </a:xfrm>
          <a:prstGeom prst="rect">
            <a:avLst/>
          </a:prstGeom>
          <a:noFill/>
          <a:ln/>
        </p:spPr>
        <p:txBody>
          <a:bodyPr wrap="square" lIns="0" tIns="0" rIns="0" bIns="0" rtlCol="0" anchor="ctr"/>
          <a:lstStyle/>
          <a:p>
            <a:pPr>
              <a:lnSpc>
                <a:spcPct val="120000"/>
              </a:lnSpc>
            </a:pPr>
            <a:r>
              <a:rPr lang="en-US" sz="916" b="1" kern="0" spc="46" dirty="0">
                <a:solidFill>
                  <a:srgbClr val="8D99AE"/>
                </a:solidFill>
                <a:latin typeface="Quattrocento Sans" pitchFamily="34" charset="0"/>
                <a:ea typeface="Quattrocento Sans" pitchFamily="34" charset="-122"/>
                <a:cs typeface="Quattrocento Sans" pitchFamily="34" charset="-120"/>
              </a:rPr>
              <a:t>Type 3</a:t>
            </a:r>
            <a:endParaRPr lang="en-US" sz="1600" dirty="0"/>
          </a:p>
        </p:txBody>
      </p:sp>
      <p:sp>
        <p:nvSpPr>
          <p:cNvPr id="5" name="Text 3"/>
          <p:cNvSpPr/>
          <p:nvPr/>
        </p:nvSpPr>
        <p:spPr>
          <a:xfrm>
            <a:off x="830518" y="498311"/>
            <a:ext cx="2084599" cy="332207"/>
          </a:xfrm>
          <a:prstGeom prst="rect">
            <a:avLst/>
          </a:prstGeom>
          <a:noFill/>
          <a:ln/>
        </p:spPr>
        <p:txBody>
          <a:bodyPr wrap="square" lIns="0" tIns="0" rIns="0" bIns="0" rtlCol="0" anchor="ctr"/>
          <a:lstStyle/>
          <a:p>
            <a:pPr>
              <a:lnSpc>
                <a:spcPct val="90000"/>
              </a:lnSpc>
            </a:pPr>
            <a:r>
              <a:rPr lang="en-US" sz="2354" b="1" dirty="0">
                <a:solidFill>
                  <a:srgbClr val="2D3142"/>
                </a:solidFill>
                <a:latin typeface="Liter" pitchFamily="34" charset="0"/>
                <a:ea typeface="Liter" pitchFamily="34" charset="-122"/>
                <a:cs typeface="Liter" pitchFamily="34" charset="-120"/>
              </a:rPr>
              <a:t>Duplex Stream</a:t>
            </a:r>
            <a:endParaRPr lang="en-US" sz="1600" dirty="0"/>
          </a:p>
        </p:txBody>
      </p:sp>
      <p:sp>
        <p:nvSpPr>
          <p:cNvPr id="6" name="Shape 4"/>
          <p:cNvSpPr/>
          <p:nvPr/>
        </p:nvSpPr>
        <p:spPr>
          <a:xfrm>
            <a:off x="332207" y="930180"/>
            <a:ext cx="1063063" cy="33221"/>
          </a:xfrm>
          <a:custGeom>
            <a:avLst/>
            <a:gdLst/>
            <a:ahLst/>
            <a:cxnLst/>
            <a:rect l="l" t="t" r="r" b="b"/>
            <a:pathLst>
              <a:path w="1063063" h="33221">
                <a:moveTo>
                  <a:pt x="0" y="0"/>
                </a:moveTo>
                <a:lnTo>
                  <a:pt x="1063063" y="0"/>
                </a:lnTo>
                <a:lnTo>
                  <a:pt x="1063063" y="33221"/>
                </a:lnTo>
                <a:lnTo>
                  <a:pt x="0" y="33221"/>
                </a:lnTo>
                <a:lnTo>
                  <a:pt x="0" y="0"/>
                </a:lnTo>
                <a:close/>
              </a:path>
            </a:pathLst>
          </a:custGeom>
          <a:gradFill flip="none" rotWithShape="1">
            <a:gsLst>
              <a:gs pos="0">
                <a:srgbClr val="8D99AE"/>
              </a:gs>
              <a:gs pos="100000">
                <a:srgbClr val="8D99AE"/>
              </a:gs>
            </a:gsLst>
            <a:lin ang="0" scaled="1"/>
          </a:gradFill>
          <a:ln/>
        </p:spPr>
        <p:txBody>
          <a:bodyPr/>
          <a:lstStyle/>
          <a:p>
            <a:endParaRPr lang="en-US"/>
          </a:p>
        </p:txBody>
      </p:sp>
      <p:sp>
        <p:nvSpPr>
          <p:cNvPr id="7" name="Shape 5"/>
          <p:cNvSpPr/>
          <p:nvPr/>
        </p:nvSpPr>
        <p:spPr>
          <a:xfrm>
            <a:off x="336360" y="1133657"/>
            <a:ext cx="6245493" cy="3214104"/>
          </a:xfrm>
          <a:custGeom>
            <a:avLst/>
            <a:gdLst/>
            <a:ahLst/>
            <a:cxnLst/>
            <a:rect l="l" t="t" r="r" b="b"/>
            <a:pathLst>
              <a:path w="6245493" h="3214104">
                <a:moveTo>
                  <a:pt x="99669" y="0"/>
                </a:moveTo>
                <a:lnTo>
                  <a:pt x="6145824" y="0"/>
                </a:lnTo>
                <a:cubicBezTo>
                  <a:pt x="6200870" y="0"/>
                  <a:pt x="6245493" y="44623"/>
                  <a:pt x="6245493" y="99669"/>
                </a:cubicBezTo>
                <a:lnTo>
                  <a:pt x="6245493" y="3114434"/>
                </a:lnTo>
                <a:cubicBezTo>
                  <a:pt x="6245493" y="3169480"/>
                  <a:pt x="6200870" y="3214104"/>
                  <a:pt x="6145824" y="3214104"/>
                </a:cubicBezTo>
                <a:lnTo>
                  <a:pt x="99669" y="3214104"/>
                </a:lnTo>
                <a:cubicBezTo>
                  <a:pt x="44623" y="3214104"/>
                  <a:pt x="0" y="3169480"/>
                  <a:pt x="0" y="3114434"/>
                </a:cubicBezTo>
                <a:lnTo>
                  <a:pt x="0" y="99669"/>
                </a:lnTo>
                <a:cubicBezTo>
                  <a:pt x="0" y="44623"/>
                  <a:pt x="44623" y="0"/>
                  <a:pt x="99669" y="0"/>
                </a:cubicBezTo>
                <a:close/>
              </a:path>
            </a:pathLst>
          </a:custGeom>
          <a:solidFill>
            <a:srgbClr val="EAE7D6"/>
          </a:solidFill>
          <a:ln/>
        </p:spPr>
        <p:txBody>
          <a:bodyPr/>
          <a:lstStyle/>
          <a:p>
            <a:endParaRPr lang="en-US"/>
          </a:p>
        </p:txBody>
      </p:sp>
      <p:sp>
        <p:nvSpPr>
          <p:cNvPr id="8" name="Shape 6"/>
          <p:cNvSpPr/>
          <p:nvPr/>
        </p:nvSpPr>
        <p:spPr>
          <a:xfrm>
            <a:off x="531531" y="1337134"/>
            <a:ext cx="199324" cy="199324"/>
          </a:xfrm>
          <a:custGeom>
            <a:avLst/>
            <a:gdLst/>
            <a:ahLst/>
            <a:cxnLst/>
            <a:rect l="l" t="t" r="r" b="b"/>
            <a:pathLst>
              <a:path w="199324" h="199324">
                <a:moveTo>
                  <a:pt x="0" y="31144"/>
                </a:moveTo>
                <a:cubicBezTo>
                  <a:pt x="0" y="20828"/>
                  <a:pt x="8370" y="12458"/>
                  <a:pt x="18687" y="12458"/>
                </a:cubicBezTo>
                <a:lnTo>
                  <a:pt x="56060" y="12458"/>
                </a:lnTo>
                <a:cubicBezTo>
                  <a:pt x="66377" y="12458"/>
                  <a:pt x="74747" y="20828"/>
                  <a:pt x="74747" y="31144"/>
                </a:cubicBezTo>
                <a:lnTo>
                  <a:pt x="74747" y="37373"/>
                </a:lnTo>
                <a:lnTo>
                  <a:pt x="124578" y="37373"/>
                </a:lnTo>
                <a:lnTo>
                  <a:pt x="124578" y="31144"/>
                </a:lnTo>
                <a:cubicBezTo>
                  <a:pt x="124578" y="20828"/>
                  <a:pt x="132948" y="12458"/>
                  <a:pt x="143264" y="12458"/>
                </a:cubicBezTo>
                <a:lnTo>
                  <a:pt x="180638" y="12458"/>
                </a:lnTo>
                <a:cubicBezTo>
                  <a:pt x="190954" y="12458"/>
                  <a:pt x="199324" y="20828"/>
                  <a:pt x="199324" y="31144"/>
                </a:cubicBezTo>
                <a:lnTo>
                  <a:pt x="199324" y="68518"/>
                </a:lnTo>
                <a:cubicBezTo>
                  <a:pt x="199324" y="78834"/>
                  <a:pt x="190954" y="87204"/>
                  <a:pt x="180638" y="87204"/>
                </a:cubicBezTo>
                <a:lnTo>
                  <a:pt x="143264" y="87204"/>
                </a:lnTo>
                <a:cubicBezTo>
                  <a:pt x="132948" y="87204"/>
                  <a:pt x="124578" y="78834"/>
                  <a:pt x="124578" y="68518"/>
                </a:cubicBezTo>
                <a:lnTo>
                  <a:pt x="124578" y="62289"/>
                </a:lnTo>
                <a:lnTo>
                  <a:pt x="74747" y="62289"/>
                </a:lnTo>
                <a:lnTo>
                  <a:pt x="74747" y="68518"/>
                </a:lnTo>
                <a:cubicBezTo>
                  <a:pt x="74747" y="71360"/>
                  <a:pt x="74085" y="74085"/>
                  <a:pt x="72956" y="76498"/>
                </a:cubicBezTo>
                <a:lnTo>
                  <a:pt x="99662" y="112120"/>
                </a:lnTo>
                <a:lnTo>
                  <a:pt x="130807" y="112120"/>
                </a:lnTo>
                <a:cubicBezTo>
                  <a:pt x="141123" y="112120"/>
                  <a:pt x="149493" y="120490"/>
                  <a:pt x="149493" y="130807"/>
                </a:cubicBezTo>
                <a:lnTo>
                  <a:pt x="149493" y="168180"/>
                </a:lnTo>
                <a:cubicBezTo>
                  <a:pt x="149493" y="178496"/>
                  <a:pt x="141123" y="186866"/>
                  <a:pt x="130807" y="186866"/>
                </a:cubicBezTo>
                <a:lnTo>
                  <a:pt x="93433" y="186866"/>
                </a:lnTo>
                <a:cubicBezTo>
                  <a:pt x="83117" y="186866"/>
                  <a:pt x="74747" y="178496"/>
                  <a:pt x="74747" y="168180"/>
                </a:cubicBezTo>
                <a:lnTo>
                  <a:pt x="74747" y="130807"/>
                </a:lnTo>
                <a:cubicBezTo>
                  <a:pt x="74747" y="127965"/>
                  <a:pt x="75408" y="125239"/>
                  <a:pt x="76537" y="122826"/>
                </a:cubicBezTo>
                <a:lnTo>
                  <a:pt x="49831" y="87204"/>
                </a:lnTo>
                <a:lnTo>
                  <a:pt x="18687" y="87204"/>
                </a:lnTo>
                <a:cubicBezTo>
                  <a:pt x="8370" y="87204"/>
                  <a:pt x="0" y="78834"/>
                  <a:pt x="0" y="68518"/>
                </a:cubicBezTo>
                <a:lnTo>
                  <a:pt x="0" y="31144"/>
                </a:lnTo>
                <a:close/>
              </a:path>
            </a:pathLst>
          </a:custGeom>
          <a:solidFill>
            <a:srgbClr val="8D99AE"/>
          </a:solidFill>
          <a:ln/>
        </p:spPr>
        <p:txBody>
          <a:bodyPr/>
          <a:lstStyle/>
          <a:p>
            <a:endParaRPr lang="en-US"/>
          </a:p>
        </p:txBody>
      </p:sp>
      <p:sp>
        <p:nvSpPr>
          <p:cNvPr id="9" name="Text 7"/>
          <p:cNvSpPr/>
          <p:nvPr/>
        </p:nvSpPr>
        <p:spPr>
          <a:xfrm>
            <a:off x="855433" y="1303913"/>
            <a:ext cx="1893580" cy="265766"/>
          </a:xfrm>
          <a:prstGeom prst="rect">
            <a:avLst/>
          </a:prstGeom>
          <a:noFill/>
          <a:ln/>
        </p:spPr>
        <p:txBody>
          <a:bodyPr wrap="square" lIns="0" tIns="0" rIns="0" bIns="0" rtlCol="0" anchor="ctr"/>
          <a:lstStyle/>
          <a:p>
            <a:pPr>
              <a:lnSpc>
                <a:spcPct val="110000"/>
              </a:lnSpc>
            </a:pPr>
            <a:r>
              <a:rPr lang="en-US" sz="1569" b="1" dirty="0">
                <a:solidFill>
                  <a:srgbClr val="2D3142"/>
                </a:solidFill>
                <a:latin typeface="Quattrocento Sans" pitchFamily="34" charset="0"/>
                <a:ea typeface="Quattrocento Sans" pitchFamily="34" charset="-122"/>
                <a:cs typeface="Quattrocento Sans" pitchFamily="34" charset="-120"/>
              </a:rPr>
              <a:t>Definition &amp; Concept</a:t>
            </a:r>
            <a:endParaRPr lang="en-US" sz="1600" dirty="0"/>
          </a:p>
        </p:txBody>
      </p:sp>
      <p:sp>
        <p:nvSpPr>
          <p:cNvPr id="10" name="Text 8"/>
          <p:cNvSpPr/>
          <p:nvPr/>
        </p:nvSpPr>
        <p:spPr>
          <a:xfrm>
            <a:off x="506616" y="1702561"/>
            <a:ext cx="5971422" cy="431869"/>
          </a:xfrm>
          <a:prstGeom prst="rect">
            <a:avLst/>
          </a:prstGeom>
          <a:noFill/>
          <a:ln/>
        </p:spPr>
        <p:txBody>
          <a:bodyPr wrap="square" lIns="0" tIns="0" rIns="0" bIns="0" rtlCol="0" anchor="ctr"/>
          <a:lstStyle/>
          <a:p>
            <a:pPr>
              <a:lnSpc>
                <a:spcPct val="140000"/>
              </a:lnSpc>
            </a:pPr>
            <a:r>
              <a:rPr lang="en-US" sz="1046" dirty="0">
                <a:solidFill>
                  <a:srgbClr val="2D3142"/>
                </a:solidFill>
                <a:latin typeface="Quattrocento Sans" pitchFamily="34" charset="0"/>
                <a:ea typeface="Quattrocento Sans" pitchFamily="34" charset="-122"/>
                <a:cs typeface="Quattrocento Sans" pitchFamily="34" charset="-120"/>
              </a:rPr>
              <a:t>A </a:t>
            </a:r>
            <a:r>
              <a:rPr lang="en-US" sz="1046" b="1" dirty="0">
                <a:solidFill>
                  <a:srgbClr val="2D3142"/>
                </a:solidFill>
                <a:highlight>
                  <a:srgbClr val="E07A5F">
                    <a:alpha val="50000"/>
                  </a:srgbClr>
                </a:highlight>
                <a:latin typeface="Quattrocento Sans" pitchFamily="34" charset="0"/>
                <a:ea typeface="Quattrocento Sans" pitchFamily="34" charset="-122"/>
                <a:cs typeface="Quattrocento Sans" pitchFamily="34" charset="-120"/>
              </a:rPr>
              <a:t>Duplex stream </a:t>
            </a:r>
            <a:r>
              <a:rPr lang="en-US" sz="1046" dirty="0">
                <a:solidFill>
                  <a:srgbClr val="2D3142"/>
                </a:solidFill>
                <a:latin typeface="Quattrocento Sans" pitchFamily="34" charset="0"/>
                <a:ea typeface="Quattrocento Sans" pitchFamily="34" charset="-122"/>
                <a:cs typeface="Quattrocento Sans" pitchFamily="34" charset="-120"/>
              </a:rPr>
              <a:t>implements </a:t>
            </a:r>
            <a:r>
              <a:rPr lang="en-US" sz="1046" b="1" dirty="0">
                <a:solidFill>
                  <a:srgbClr val="2D3142"/>
                </a:solidFill>
                <a:latin typeface="Quattrocento Sans" pitchFamily="34" charset="0"/>
                <a:ea typeface="Quattrocento Sans" pitchFamily="34" charset="-122"/>
                <a:cs typeface="Quattrocento Sans" pitchFamily="34" charset="-120"/>
              </a:rPr>
              <a:t>both</a:t>
            </a:r>
            <a:r>
              <a:rPr lang="en-US" sz="1046" dirty="0">
                <a:solidFill>
                  <a:srgbClr val="2D3142"/>
                </a:solidFill>
                <a:latin typeface="Quattrocento Sans" pitchFamily="34" charset="0"/>
                <a:ea typeface="Quattrocento Sans" pitchFamily="34" charset="-122"/>
                <a:cs typeface="Quattrocento Sans" pitchFamily="34" charset="-120"/>
              </a:rPr>
              <a:t> Readable and Writable interfaces. It allows data to flow in both directions independently.</a:t>
            </a:r>
            <a:endParaRPr lang="en-US" sz="1600" dirty="0"/>
          </a:p>
        </p:txBody>
      </p:sp>
      <p:sp>
        <p:nvSpPr>
          <p:cNvPr id="11" name="Shape 9"/>
          <p:cNvSpPr/>
          <p:nvPr/>
        </p:nvSpPr>
        <p:spPr>
          <a:xfrm>
            <a:off x="506616" y="2267313"/>
            <a:ext cx="5904981" cy="896959"/>
          </a:xfrm>
          <a:custGeom>
            <a:avLst/>
            <a:gdLst/>
            <a:ahLst/>
            <a:cxnLst/>
            <a:rect l="l" t="t" r="r" b="b"/>
            <a:pathLst>
              <a:path w="5904981" h="896959">
                <a:moveTo>
                  <a:pt x="66438" y="0"/>
                </a:moveTo>
                <a:lnTo>
                  <a:pt x="5838543" y="0"/>
                </a:lnTo>
                <a:cubicBezTo>
                  <a:pt x="5875236" y="0"/>
                  <a:pt x="5904981" y="29745"/>
                  <a:pt x="5904981" y="66438"/>
                </a:cubicBezTo>
                <a:lnTo>
                  <a:pt x="5904981" y="830521"/>
                </a:lnTo>
                <a:cubicBezTo>
                  <a:pt x="5904981" y="867214"/>
                  <a:pt x="5875236" y="896959"/>
                  <a:pt x="5838543" y="896959"/>
                </a:cubicBezTo>
                <a:lnTo>
                  <a:pt x="66438" y="896959"/>
                </a:lnTo>
                <a:cubicBezTo>
                  <a:pt x="29745" y="896959"/>
                  <a:pt x="0" y="867214"/>
                  <a:pt x="0" y="830521"/>
                </a:cubicBezTo>
                <a:lnTo>
                  <a:pt x="0" y="66438"/>
                </a:lnTo>
                <a:cubicBezTo>
                  <a:pt x="0" y="29770"/>
                  <a:pt x="29770" y="0"/>
                  <a:pt x="66438" y="0"/>
                </a:cubicBezTo>
                <a:close/>
              </a:path>
            </a:pathLst>
          </a:custGeom>
          <a:solidFill>
            <a:srgbClr val="EAE7D6"/>
          </a:solidFill>
          <a:ln/>
        </p:spPr>
        <p:txBody>
          <a:bodyPr/>
          <a:lstStyle/>
          <a:p>
            <a:endParaRPr lang="en-US"/>
          </a:p>
        </p:txBody>
      </p:sp>
      <p:sp>
        <p:nvSpPr>
          <p:cNvPr id="12" name="Text 10"/>
          <p:cNvSpPr/>
          <p:nvPr/>
        </p:nvSpPr>
        <p:spPr>
          <a:xfrm>
            <a:off x="639499" y="2400196"/>
            <a:ext cx="5697351" cy="166104"/>
          </a:xfrm>
          <a:prstGeom prst="rect">
            <a:avLst/>
          </a:prstGeom>
          <a:noFill/>
          <a:ln/>
        </p:spPr>
        <p:txBody>
          <a:bodyPr wrap="square" lIns="0" tIns="0" rIns="0" bIns="0" rtlCol="0" anchor="ctr"/>
          <a:lstStyle/>
          <a:p>
            <a:pPr>
              <a:lnSpc>
                <a:spcPct val="120000"/>
              </a:lnSpc>
            </a:pPr>
            <a:r>
              <a:rPr lang="en-US" sz="916" dirty="0">
                <a:solidFill>
                  <a:srgbClr val="8D99AE"/>
                </a:solidFill>
                <a:latin typeface="Quattrocento Sans" pitchFamily="34" charset="0"/>
                <a:ea typeface="Quattrocento Sans" pitchFamily="34" charset="-122"/>
                <a:cs typeface="Quattrocento Sans" pitchFamily="34" charset="-120"/>
              </a:rPr>
              <a:t>Key Characteristic</a:t>
            </a:r>
            <a:endParaRPr lang="en-US" sz="1600" dirty="0"/>
          </a:p>
        </p:txBody>
      </p:sp>
      <p:sp>
        <p:nvSpPr>
          <p:cNvPr id="13" name="Text 11"/>
          <p:cNvSpPr/>
          <p:nvPr/>
        </p:nvSpPr>
        <p:spPr>
          <a:xfrm>
            <a:off x="639499" y="2632741"/>
            <a:ext cx="5705657" cy="398649"/>
          </a:xfrm>
          <a:prstGeom prst="rect">
            <a:avLst/>
          </a:prstGeom>
          <a:noFill/>
          <a:ln/>
        </p:spPr>
        <p:txBody>
          <a:bodyPr wrap="square" lIns="0" tIns="0" rIns="0" bIns="0" rtlCol="0" anchor="ctr"/>
          <a:lstStyle/>
          <a:p>
            <a:pPr>
              <a:lnSpc>
                <a:spcPct val="130000"/>
              </a:lnSpc>
            </a:pPr>
            <a:r>
              <a:rPr lang="en-US" sz="1046" dirty="0">
                <a:solidFill>
                  <a:srgbClr val="2D3142"/>
                </a:solidFill>
                <a:latin typeface="Quattrocento Sans" pitchFamily="34" charset="0"/>
                <a:ea typeface="Quattrocento Sans" pitchFamily="34" charset="-122"/>
                <a:cs typeface="Quattrocento Sans" pitchFamily="34" charset="-120"/>
              </a:rPr>
              <a:t>The readable and writable sides operate </a:t>
            </a:r>
            <a:r>
              <a:rPr lang="en-US" sz="1046" b="1" dirty="0">
                <a:solidFill>
                  <a:srgbClr val="2D3142"/>
                </a:solidFill>
                <a:latin typeface="Quattrocento Sans" pitchFamily="34" charset="0"/>
                <a:ea typeface="Quattrocento Sans" pitchFamily="34" charset="-122"/>
                <a:cs typeface="Quattrocento Sans" pitchFamily="34" charset="-120"/>
              </a:rPr>
              <a:t>independently</a:t>
            </a:r>
            <a:r>
              <a:rPr lang="en-US" sz="1046" dirty="0">
                <a:solidFill>
                  <a:srgbClr val="2D3142"/>
                </a:solidFill>
                <a:latin typeface="Quattrocento Sans" pitchFamily="34" charset="0"/>
                <a:ea typeface="Quattrocento Sans" pitchFamily="34" charset="-122"/>
                <a:cs typeface="Quattrocento Sans" pitchFamily="34" charset="-120"/>
              </a:rPr>
              <a:t> with separate internal buffers. Reading does not affect writing and vice versa.</a:t>
            </a:r>
            <a:endParaRPr lang="en-US" sz="1600" dirty="0"/>
          </a:p>
        </p:txBody>
      </p:sp>
      <p:sp>
        <p:nvSpPr>
          <p:cNvPr id="14" name="Shape 12"/>
          <p:cNvSpPr/>
          <p:nvPr/>
        </p:nvSpPr>
        <p:spPr>
          <a:xfrm>
            <a:off x="510768" y="3301308"/>
            <a:ext cx="2749014" cy="872044"/>
          </a:xfrm>
          <a:custGeom>
            <a:avLst/>
            <a:gdLst/>
            <a:ahLst/>
            <a:cxnLst/>
            <a:rect l="l" t="t" r="r" b="b"/>
            <a:pathLst>
              <a:path w="2749014" h="872044">
                <a:moveTo>
                  <a:pt x="66441" y="0"/>
                </a:moveTo>
                <a:lnTo>
                  <a:pt x="2682573" y="0"/>
                </a:lnTo>
                <a:cubicBezTo>
                  <a:pt x="2719267" y="0"/>
                  <a:pt x="2749014" y="29747"/>
                  <a:pt x="2749014" y="66441"/>
                </a:cubicBezTo>
                <a:lnTo>
                  <a:pt x="2749014" y="805603"/>
                </a:lnTo>
                <a:cubicBezTo>
                  <a:pt x="2749014" y="842297"/>
                  <a:pt x="2719267" y="872044"/>
                  <a:pt x="2682573" y="872044"/>
                </a:cubicBezTo>
                <a:lnTo>
                  <a:pt x="66441" y="872044"/>
                </a:lnTo>
                <a:cubicBezTo>
                  <a:pt x="29747" y="872044"/>
                  <a:pt x="0" y="842297"/>
                  <a:pt x="0" y="805603"/>
                </a:cubicBezTo>
                <a:lnTo>
                  <a:pt x="0" y="66441"/>
                </a:lnTo>
                <a:cubicBezTo>
                  <a:pt x="0" y="29771"/>
                  <a:pt x="29771" y="0"/>
                  <a:pt x="66441" y="0"/>
                </a:cubicBezTo>
                <a:close/>
              </a:path>
            </a:pathLst>
          </a:custGeom>
          <a:solidFill>
            <a:srgbClr val="EAE7D6"/>
          </a:solidFill>
          <a:ln/>
        </p:spPr>
        <p:txBody>
          <a:bodyPr/>
          <a:lstStyle/>
          <a:p>
            <a:endParaRPr lang="en-US"/>
          </a:p>
        </p:txBody>
      </p:sp>
      <p:sp>
        <p:nvSpPr>
          <p:cNvPr id="15" name="Text 13"/>
          <p:cNvSpPr/>
          <p:nvPr/>
        </p:nvSpPr>
        <p:spPr>
          <a:xfrm>
            <a:off x="564752" y="3405123"/>
            <a:ext cx="2641046" cy="265766"/>
          </a:xfrm>
          <a:prstGeom prst="rect">
            <a:avLst/>
          </a:prstGeom>
          <a:noFill/>
          <a:ln/>
        </p:spPr>
        <p:txBody>
          <a:bodyPr wrap="square" lIns="0" tIns="0" rIns="0" bIns="0" rtlCol="0" anchor="ctr"/>
          <a:lstStyle/>
          <a:p>
            <a:pPr algn="ctr">
              <a:lnSpc>
                <a:spcPct val="110000"/>
              </a:lnSpc>
            </a:pPr>
            <a:r>
              <a:rPr lang="en-US" sz="1569" dirty="0">
                <a:solidFill>
                  <a:srgbClr val="2D3142"/>
                </a:solidFill>
                <a:latin typeface="Quattrocento Sans" pitchFamily="34" charset="0"/>
                <a:ea typeface="Quattrocento Sans" pitchFamily="34" charset="-122"/>
                <a:cs typeface="Quattrocento Sans" pitchFamily="34" charset="-120"/>
              </a:rPr>
              <a:t>📥</a:t>
            </a:r>
            <a:endParaRPr lang="en-US" sz="1600" dirty="0"/>
          </a:p>
        </p:txBody>
      </p:sp>
      <p:sp>
        <p:nvSpPr>
          <p:cNvPr id="16" name="Text 14"/>
          <p:cNvSpPr/>
          <p:nvPr/>
        </p:nvSpPr>
        <p:spPr>
          <a:xfrm>
            <a:off x="585515" y="3704109"/>
            <a:ext cx="2599520" cy="166104"/>
          </a:xfrm>
          <a:prstGeom prst="rect">
            <a:avLst/>
          </a:prstGeom>
          <a:noFill/>
          <a:ln/>
        </p:spPr>
        <p:txBody>
          <a:bodyPr wrap="square" lIns="0" tIns="0" rIns="0" bIns="0" rtlCol="0" anchor="ctr"/>
          <a:lstStyle/>
          <a:p>
            <a:pPr algn="ctr">
              <a:lnSpc>
                <a:spcPct val="120000"/>
              </a:lnSpc>
            </a:pPr>
            <a:r>
              <a:rPr lang="en-US" sz="916" dirty="0">
                <a:solidFill>
                  <a:srgbClr val="8D99AE"/>
                </a:solidFill>
                <a:latin typeface="Quattrocento Sans" pitchFamily="34" charset="0"/>
                <a:ea typeface="Quattrocento Sans" pitchFamily="34" charset="-122"/>
                <a:cs typeface="Quattrocento Sans" pitchFamily="34" charset="-120"/>
              </a:rPr>
              <a:t>Readable Side</a:t>
            </a:r>
            <a:endParaRPr lang="en-US" sz="1600" dirty="0"/>
          </a:p>
        </p:txBody>
      </p:sp>
      <p:sp>
        <p:nvSpPr>
          <p:cNvPr id="17" name="Text 15"/>
          <p:cNvSpPr/>
          <p:nvPr/>
        </p:nvSpPr>
        <p:spPr>
          <a:xfrm>
            <a:off x="581362" y="3870213"/>
            <a:ext cx="2607826" cy="199324"/>
          </a:xfrm>
          <a:prstGeom prst="rect">
            <a:avLst/>
          </a:prstGeom>
          <a:noFill/>
          <a:ln/>
        </p:spPr>
        <p:txBody>
          <a:bodyPr wrap="square" lIns="0" tIns="0" rIns="0" bIns="0" rtlCol="0" anchor="ctr"/>
          <a:lstStyle/>
          <a:p>
            <a:pPr algn="ctr">
              <a:lnSpc>
                <a:spcPct val="130000"/>
              </a:lnSpc>
            </a:pPr>
            <a:r>
              <a:rPr lang="en-US" sz="1046" b="1" dirty="0">
                <a:solidFill>
                  <a:srgbClr val="2D3142"/>
                </a:solidFill>
                <a:latin typeface="Quattrocento Sans" pitchFamily="34" charset="0"/>
                <a:ea typeface="Quattrocento Sans" pitchFamily="34" charset="-122"/>
                <a:cs typeface="Quattrocento Sans" pitchFamily="34" charset="-120"/>
              </a:rPr>
              <a:t>Input</a:t>
            </a:r>
            <a:endParaRPr lang="en-US" sz="1600" dirty="0"/>
          </a:p>
        </p:txBody>
      </p:sp>
      <p:sp>
        <p:nvSpPr>
          <p:cNvPr id="18" name="Text 16"/>
          <p:cNvSpPr/>
          <p:nvPr/>
        </p:nvSpPr>
        <p:spPr>
          <a:xfrm>
            <a:off x="3395650" y="3587837"/>
            <a:ext cx="249155" cy="298986"/>
          </a:xfrm>
          <a:prstGeom prst="rect">
            <a:avLst/>
          </a:prstGeom>
          <a:noFill/>
          <a:ln/>
        </p:spPr>
        <p:txBody>
          <a:bodyPr wrap="square" lIns="0" tIns="0" rIns="0" bIns="0" rtlCol="0" anchor="ctr"/>
          <a:lstStyle/>
          <a:p>
            <a:pPr>
              <a:lnSpc>
                <a:spcPct val="100000"/>
              </a:lnSpc>
            </a:pPr>
            <a:r>
              <a:rPr lang="en-US" sz="1962" dirty="0">
                <a:solidFill>
                  <a:srgbClr val="8D99AE"/>
                </a:solidFill>
                <a:latin typeface="Quattrocento Sans" pitchFamily="34" charset="0"/>
                <a:ea typeface="Quattrocento Sans" pitchFamily="34" charset="-122"/>
                <a:cs typeface="Quattrocento Sans" pitchFamily="34" charset="-120"/>
              </a:rPr>
              <a:t>+</a:t>
            </a:r>
            <a:endParaRPr lang="en-US" sz="1600" dirty="0"/>
          </a:p>
        </p:txBody>
      </p:sp>
      <p:sp>
        <p:nvSpPr>
          <p:cNvPr id="19" name="Shape 17"/>
          <p:cNvSpPr/>
          <p:nvPr/>
        </p:nvSpPr>
        <p:spPr>
          <a:xfrm>
            <a:off x="3656549" y="3301308"/>
            <a:ext cx="2749014" cy="872044"/>
          </a:xfrm>
          <a:custGeom>
            <a:avLst/>
            <a:gdLst/>
            <a:ahLst/>
            <a:cxnLst/>
            <a:rect l="l" t="t" r="r" b="b"/>
            <a:pathLst>
              <a:path w="2749014" h="872044">
                <a:moveTo>
                  <a:pt x="66441" y="0"/>
                </a:moveTo>
                <a:lnTo>
                  <a:pt x="2682573" y="0"/>
                </a:lnTo>
                <a:cubicBezTo>
                  <a:pt x="2719267" y="0"/>
                  <a:pt x="2749014" y="29747"/>
                  <a:pt x="2749014" y="66441"/>
                </a:cubicBezTo>
                <a:lnTo>
                  <a:pt x="2749014" y="805603"/>
                </a:lnTo>
                <a:cubicBezTo>
                  <a:pt x="2749014" y="842297"/>
                  <a:pt x="2719267" y="872044"/>
                  <a:pt x="2682573" y="872044"/>
                </a:cubicBezTo>
                <a:lnTo>
                  <a:pt x="66441" y="872044"/>
                </a:lnTo>
                <a:cubicBezTo>
                  <a:pt x="29747" y="872044"/>
                  <a:pt x="0" y="842297"/>
                  <a:pt x="0" y="805603"/>
                </a:cubicBezTo>
                <a:lnTo>
                  <a:pt x="0" y="66441"/>
                </a:lnTo>
                <a:cubicBezTo>
                  <a:pt x="0" y="29771"/>
                  <a:pt x="29771" y="0"/>
                  <a:pt x="66441" y="0"/>
                </a:cubicBezTo>
                <a:close/>
              </a:path>
            </a:pathLst>
          </a:custGeom>
          <a:solidFill>
            <a:srgbClr val="EAE7D6"/>
          </a:solidFill>
          <a:ln/>
        </p:spPr>
        <p:txBody>
          <a:bodyPr/>
          <a:lstStyle/>
          <a:p>
            <a:endParaRPr lang="en-US"/>
          </a:p>
        </p:txBody>
      </p:sp>
      <p:sp>
        <p:nvSpPr>
          <p:cNvPr id="20" name="Text 18"/>
          <p:cNvSpPr/>
          <p:nvPr/>
        </p:nvSpPr>
        <p:spPr>
          <a:xfrm>
            <a:off x="3710533" y="3405123"/>
            <a:ext cx="2641046" cy="265766"/>
          </a:xfrm>
          <a:prstGeom prst="rect">
            <a:avLst/>
          </a:prstGeom>
          <a:noFill/>
          <a:ln/>
        </p:spPr>
        <p:txBody>
          <a:bodyPr wrap="square" lIns="0" tIns="0" rIns="0" bIns="0" rtlCol="0" anchor="ctr"/>
          <a:lstStyle/>
          <a:p>
            <a:pPr algn="ctr">
              <a:lnSpc>
                <a:spcPct val="110000"/>
              </a:lnSpc>
            </a:pPr>
            <a:r>
              <a:rPr lang="en-US" sz="1569" dirty="0">
                <a:solidFill>
                  <a:srgbClr val="2D3142"/>
                </a:solidFill>
                <a:latin typeface="Quattrocento Sans" pitchFamily="34" charset="0"/>
                <a:ea typeface="Quattrocento Sans" pitchFamily="34" charset="-122"/>
                <a:cs typeface="Quattrocento Sans" pitchFamily="34" charset="-120"/>
              </a:rPr>
              <a:t>📤</a:t>
            </a:r>
            <a:endParaRPr lang="en-US" sz="1600" dirty="0"/>
          </a:p>
        </p:txBody>
      </p:sp>
      <p:sp>
        <p:nvSpPr>
          <p:cNvPr id="21" name="Text 19"/>
          <p:cNvSpPr/>
          <p:nvPr/>
        </p:nvSpPr>
        <p:spPr>
          <a:xfrm>
            <a:off x="3731295" y="3704109"/>
            <a:ext cx="2599520" cy="166104"/>
          </a:xfrm>
          <a:prstGeom prst="rect">
            <a:avLst/>
          </a:prstGeom>
          <a:noFill/>
          <a:ln/>
        </p:spPr>
        <p:txBody>
          <a:bodyPr wrap="square" lIns="0" tIns="0" rIns="0" bIns="0" rtlCol="0" anchor="ctr"/>
          <a:lstStyle/>
          <a:p>
            <a:pPr algn="ctr">
              <a:lnSpc>
                <a:spcPct val="120000"/>
              </a:lnSpc>
            </a:pPr>
            <a:r>
              <a:rPr lang="en-US" sz="916" dirty="0">
                <a:solidFill>
                  <a:srgbClr val="8D99AE"/>
                </a:solidFill>
                <a:latin typeface="Quattrocento Sans" pitchFamily="34" charset="0"/>
                <a:ea typeface="Quattrocento Sans" pitchFamily="34" charset="-122"/>
                <a:cs typeface="Quattrocento Sans" pitchFamily="34" charset="-120"/>
              </a:rPr>
              <a:t>Writable Side</a:t>
            </a:r>
            <a:endParaRPr lang="en-US" sz="1600" dirty="0"/>
          </a:p>
        </p:txBody>
      </p:sp>
      <p:sp>
        <p:nvSpPr>
          <p:cNvPr id="22" name="Text 20"/>
          <p:cNvSpPr/>
          <p:nvPr/>
        </p:nvSpPr>
        <p:spPr>
          <a:xfrm>
            <a:off x="3727143" y="3870213"/>
            <a:ext cx="2607826" cy="199324"/>
          </a:xfrm>
          <a:prstGeom prst="rect">
            <a:avLst/>
          </a:prstGeom>
          <a:noFill/>
          <a:ln/>
        </p:spPr>
        <p:txBody>
          <a:bodyPr wrap="square" lIns="0" tIns="0" rIns="0" bIns="0" rtlCol="0" anchor="ctr"/>
          <a:lstStyle/>
          <a:p>
            <a:pPr algn="ctr">
              <a:lnSpc>
                <a:spcPct val="130000"/>
              </a:lnSpc>
            </a:pPr>
            <a:r>
              <a:rPr lang="en-US" sz="1046" b="1" dirty="0">
                <a:solidFill>
                  <a:srgbClr val="2D3142"/>
                </a:solidFill>
                <a:latin typeface="Quattrocento Sans" pitchFamily="34" charset="0"/>
                <a:ea typeface="Quattrocento Sans" pitchFamily="34" charset="-122"/>
                <a:cs typeface="Quattrocento Sans" pitchFamily="34" charset="-120"/>
              </a:rPr>
              <a:t>Output</a:t>
            </a:r>
            <a:endParaRPr lang="en-US" sz="1600" dirty="0"/>
          </a:p>
        </p:txBody>
      </p:sp>
      <p:sp>
        <p:nvSpPr>
          <p:cNvPr id="23" name="Shape 21"/>
          <p:cNvSpPr/>
          <p:nvPr/>
        </p:nvSpPr>
        <p:spPr>
          <a:xfrm>
            <a:off x="336360" y="4488948"/>
            <a:ext cx="6245493" cy="2366975"/>
          </a:xfrm>
          <a:custGeom>
            <a:avLst/>
            <a:gdLst/>
            <a:ahLst/>
            <a:cxnLst/>
            <a:rect l="l" t="t" r="r" b="b"/>
            <a:pathLst>
              <a:path w="6245493" h="2366975">
                <a:moveTo>
                  <a:pt x="99673" y="0"/>
                </a:moveTo>
                <a:lnTo>
                  <a:pt x="6145820" y="0"/>
                </a:lnTo>
                <a:cubicBezTo>
                  <a:pt x="6200868" y="0"/>
                  <a:pt x="6245493" y="44625"/>
                  <a:pt x="6245493" y="99673"/>
                </a:cubicBezTo>
                <a:lnTo>
                  <a:pt x="6245493" y="2267302"/>
                </a:lnTo>
                <a:cubicBezTo>
                  <a:pt x="6245493" y="2322350"/>
                  <a:pt x="6200868" y="2366975"/>
                  <a:pt x="6145820" y="2366975"/>
                </a:cubicBezTo>
                <a:lnTo>
                  <a:pt x="99673" y="2366975"/>
                </a:lnTo>
                <a:cubicBezTo>
                  <a:pt x="44625" y="2366975"/>
                  <a:pt x="0" y="2322350"/>
                  <a:pt x="0" y="2267302"/>
                </a:cubicBezTo>
                <a:lnTo>
                  <a:pt x="0" y="99673"/>
                </a:lnTo>
                <a:cubicBezTo>
                  <a:pt x="0" y="44662"/>
                  <a:pt x="44662" y="0"/>
                  <a:pt x="99673" y="0"/>
                </a:cubicBezTo>
                <a:close/>
              </a:path>
            </a:pathLst>
          </a:custGeom>
          <a:solidFill>
            <a:srgbClr val="EAE7D6"/>
          </a:solidFill>
          <a:ln/>
        </p:spPr>
        <p:txBody>
          <a:bodyPr/>
          <a:lstStyle/>
          <a:p>
            <a:endParaRPr lang="en-US"/>
          </a:p>
        </p:txBody>
      </p:sp>
      <p:sp>
        <p:nvSpPr>
          <p:cNvPr id="24" name="Shape 22"/>
          <p:cNvSpPr/>
          <p:nvPr/>
        </p:nvSpPr>
        <p:spPr>
          <a:xfrm>
            <a:off x="519074" y="4692425"/>
            <a:ext cx="224240" cy="199324"/>
          </a:xfrm>
          <a:custGeom>
            <a:avLst/>
            <a:gdLst/>
            <a:ahLst/>
            <a:cxnLst/>
            <a:rect l="l" t="t" r="r" b="b"/>
            <a:pathLst>
              <a:path w="224240" h="199324">
                <a:moveTo>
                  <a:pt x="96548" y="34259"/>
                </a:moveTo>
                <a:lnTo>
                  <a:pt x="127692" y="34259"/>
                </a:lnTo>
                <a:lnTo>
                  <a:pt x="127692" y="52946"/>
                </a:lnTo>
                <a:lnTo>
                  <a:pt x="96548" y="52946"/>
                </a:lnTo>
                <a:lnTo>
                  <a:pt x="96548" y="34259"/>
                </a:lnTo>
                <a:close/>
                <a:moveTo>
                  <a:pt x="93433" y="12458"/>
                </a:moveTo>
                <a:cubicBezTo>
                  <a:pt x="83117" y="12458"/>
                  <a:pt x="74747" y="20828"/>
                  <a:pt x="74747" y="31144"/>
                </a:cubicBezTo>
                <a:lnTo>
                  <a:pt x="74747" y="56060"/>
                </a:lnTo>
                <a:cubicBezTo>
                  <a:pt x="74747" y="66377"/>
                  <a:pt x="83117" y="74747"/>
                  <a:pt x="93433" y="74747"/>
                </a:cubicBezTo>
                <a:lnTo>
                  <a:pt x="99662" y="74747"/>
                </a:lnTo>
                <a:lnTo>
                  <a:pt x="99662" y="87204"/>
                </a:lnTo>
                <a:lnTo>
                  <a:pt x="12458" y="87204"/>
                </a:lnTo>
                <a:cubicBezTo>
                  <a:pt x="5567" y="87204"/>
                  <a:pt x="0" y="92771"/>
                  <a:pt x="0" y="99662"/>
                </a:cubicBezTo>
                <a:cubicBezTo>
                  <a:pt x="0" y="106553"/>
                  <a:pt x="5567" y="112120"/>
                  <a:pt x="12458" y="112120"/>
                </a:cubicBezTo>
                <a:lnTo>
                  <a:pt x="49831" y="112120"/>
                </a:lnTo>
                <a:lnTo>
                  <a:pt x="49831" y="124578"/>
                </a:lnTo>
                <a:lnTo>
                  <a:pt x="43602" y="124578"/>
                </a:lnTo>
                <a:cubicBezTo>
                  <a:pt x="33286" y="124578"/>
                  <a:pt x="24916" y="132948"/>
                  <a:pt x="24916" y="143264"/>
                </a:cubicBezTo>
                <a:lnTo>
                  <a:pt x="24916" y="168180"/>
                </a:lnTo>
                <a:cubicBezTo>
                  <a:pt x="24916" y="178496"/>
                  <a:pt x="33286" y="186866"/>
                  <a:pt x="43602" y="186866"/>
                </a:cubicBezTo>
                <a:lnTo>
                  <a:pt x="80975" y="186866"/>
                </a:lnTo>
                <a:cubicBezTo>
                  <a:pt x="91292" y="186866"/>
                  <a:pt x="99662" y="178496"/>
                  <a:pt x="99662" y="168180"/>
                </a:cubicBezTo>
                <a:lnTo>
                  <a:pt x="99662" y="143264"/>
                </a:lnTo>
                <a:cubicBezTo>
                  <a:pt x="99662" y="132948"/>
                  <a:pt x="91292" y="124578"/>
                  <a:pt x="80975" y="124578"/>
                </a:cubicBezTo>
                <a:lnTo>
                  <a:pt x="74747" y="124578"/>
                </a:lnTo>
                <a:lnTo>
                  <a:pt x="74747" y="112120"/>
                </a:lnTo>
                <a:lnTo>
                  <a:pt x="149493" y="112120"/>
                </a:lnTo>
                <a:lnTo>
                  <a:pt x="149493" y="124578"/>
                </a:lnTo>
                <a:lnTo>
                  <a:pt x="143264" y="124578"/>
                </a:lnTo>
                <a:cubicBezTo>
                  <a:pt x="132948" y="124578"/>
                  <a:pt x="124578" y="132948"/>
                  <a:pt x="124578" y="143264"/>
                </a:cubicBezTo>
                <a:lnTo>
                  <a:pt x="124578" y="168180"/>
                </a:lnTo>
                <a:cubicBezTo>
                  <a:pt x="124578" y="178496"/>
                  <a:pt x="132948" y="186866"/>
                  <a:pt x="143264" y="186866"/>
                </a:cubicBezTo>
                <a:lnTo>
                  <a:pt x="180638" y="186866"/>
                </a:lnTo>
                <a:cubicBezTo>
                  <a:pt x="190954" y="186866"/>
                  <a:pt x="199324" y="178496"/>
                  <a:pt x="199324" y="168180"/>
                </a:cubicBezTo>
                <a:lnTo>
                  <a:pt x="199324" y="143264"/>
                </a:lnTo>
                <a:cubicBezTo>
                  <a:pt x="199324" y="132948"/>
                  <a:pt x="190954" y="124578"/>
                  <a:pt x="180638" y="124578"/>
                </a:cubicBezTo>
                <a:lnTo>
                  <a:pt x="174409" y="124578"/>
                </a:lnTo>
                <a:lnTo>
                  <a:pt x="174409" y="112120"/>
                </a:lnTo>
                <a:lnTo>
                  <a:pt x="211782" y="112120"/>
                </a:lnTo>
                <a:cubicBezTo>
                  <a:pt x="218673" y="112120"/>
                  <a:pt x="224240" y="106553"/>
                  <a:pt x="224240" y="99662"/>
                </a:cubicBezTo>
                <a:cubicBezTo>
                  <a:pt x="224240" y="92771"/>
                  <a:pt x="218673" y="87204"/>
                  <a:pt x="211782" y="87204"/>
                </a:cubicBezTo>
                <a:lnTo>
                  <a:pt x="124578" y="87204"/>
                </a:lnTo>
                <a:lnTo>
                  <a:pt x="124578" y="74747"/>
                </a:lnTo>
                <a:lnTo>
                  <a:pt x="130807" y="74747"/>
                </a:lnTo>
                <a:cubicBezTo>
                  <a:pt x="141123" y="74747"/>
                  <a:pt x="149493" y="66377"/>
                  <a:pt x="149493" y="56060"/>
                </a:cubicBezTo>
                <a:lnTo>
                  <a:pt x="149493" y="31144"/>
                </a:lnTo>
                <a:cubicBezTo>
                  <a:pt x="149493" y="20828"/>
                  <a:pt x="141123" y="12458"/>
                  <a:pt x="130807" y="12458"/>
                </a:cubicBezTo>
                <a:lnTo>
                  <a:pt x="93433" y="12458"/>
                </a:lnTo>
                <a:close/>
                <a:moveTo>
                  <a:pt x="174409" y="146379"/>
                </a:moveTo>
                <a:lnTo>
                  <a:pt x="177523" y="146379"/>
                </a:lnTo>
                <a:lnTo>
                  <a:pt x="177523" y="165065"/>
                </a:lnTo>
                <a:lnTo>
                  <a:pt x="146379" y="165065"/>
                </a:lnTo>
                <a:lnTo>
                  <a:pt x="146379" y="146379"/>
                </a:lnTo>
                <a:lnTo>
                  <a:pt x="174409" y="146379"/>
                </a:lnTo>
                <a:close/>
                <a:moveTo>
                  <a:pt x="74747" y="146379"/>
                </a:moveTo>
                <a:lnTo>
                  <a:pt x="77861" y="146379"/>
                </a:lnTo>
                <a:lnTo>
                  <a:pt x="77861" y="165065"/>
                </a:lnTo>
                <a:lnTo>
                  <a:pt x="46717" y="165065"/>
                </a:lnTo>
                <a:lnTo>
                  <a:pt x="46717" y="146379"/>
                </a:lnTo>
                <a:lnTo>
                  <a:pt x="74747" y="146379"/>
                </a:lnTo>
                <a:close/>
              </a:path>
            </a:pathLst>
          </a:custGeom>
          <a:solidFill>
            <a:srgbClr val="E07A5F"/>
          </a:solidFill>
          <a:ln/>
        </p:spPr>
        <p:txBody>
          <a:bodyPr/>
          <a:lstStyle/>
          <a:p>
            <a:endParaRPr lang="en-US"/>
          </a:p>
        </p:txBody>
      </p:sp>
      <p:sp>
        <p:nvSpPr>
          <p:cNvPr id="25" name="Text 23"/>
          <p:cNvSpPr/>
          <p:nvPr/>
        </p:nvSpPr>
        <p:spPr>
          <a:xfrm>
            <a:off x="855433" y="4659204"/>
            <a:ext cx="1785613" cy="265766"/>
          </a:xfrm>
          <a:prstGeom prst="rect">
            <a:avLst/>
          </a:prstGeom>
          <a:noFill/>
          <a:ln/>
        </p:spPr>
        <p:txBody>
          <a:bodyPr wrap="square" lIns="0" tIns="0" rIns="0" bIns="0" rtlCol="0" anchor="ctr"/>
          <a:lstStyle/>
          <a:p>
            <a:pPr>
              <a:lnSpc>
                <a:spcPct val="110000"/>
              </a:lnSpc>
            </a:pPr>
            <a:r>
              <a:rPr lang="en-US" sz="1569" b="1" dirty="0">
                <a:solidFill>
                  <a:srgbClr val="2D3142"/>
                </a:solidFill>
                <a:latin typeface="Quattrocento Sans" pitchFamily="34" charset="0"/>
                <a:ea typeface="Quattrocento Sans" pitchFamily="34" charset="-122"/>
                <a:cs typeface="Quattrocento Sans" pitchFamily="34" charset="-120"/>
              </a:rPr>
              <a:t>Common Examples</a:t>
            </a:r>
            <a:endParaRPr lang="en-US" sz="1600" dirty="0"/>
          </a:p>
        </p:txBody>
      </p:sp>
      <p:sp>
        <p:nvSpPr>
          <p:cNvPr id="26" name="Shape 24"/>
          <p:cNvSpPr/>
          <p:nvPr/>
        </p:nvSpPr>
        <p:spPr>
          <a:xfrm>
            <a:off x="506616" y="5057853"/>
            <a:ext cx="5904981" cy="764076"/>
          </a:xfrm>
          <a:custGeom>
            <a:avLst/>
            <a:gdLst/>
            <a:ahLst/>
            <a:cxnLst/>
            <a:rect l="l" t="t" r="r" b="b"/>
            <a:pathLst>
              <a:path w="5904981" h="764076">
                <a:moveTo>
                  <a:pt x="66444" y="0"/>
                </a:moveTo>
                <a:lnTo>
                  <a:pt x="5838537" y="0"/>
                </a:lnTo>
                <a:cubicBezTo>
                  <a:pt x="5875208" y="0"/>
                  <a:pt x="5904981" y="29773"/>
                  <a:pt x="5904981" y="66444"/>
                </a:cubicBezTo>
                <a:lnTo>
                  <a:pt x="5904981" y="697632"/>
                </a:lnTo>
                <a:cubicBezTo>
                  <a:pt x="5904981" y="734328"/>
                  <a:pt x="5875233" y="764076"/>
                  <a:pt x="5838537" y="764076"/>
                </a:cubicBezTo>
                <a:lnTo>
                  <a:pt x="66444" y="764076"/>
                </a:lnTo>
                <a:cubicBezTo>
                  <a:pt x="29773" y="764076"/>
                  <a:pt x="0" y="734304"/>
                  <a:pt x="0" y="697632"/>
                </a:cubicBezTo>
                <a:lnTo>
                  <a:pt x="0" y="66444"/>
                </a:lnTo>
                <a:cubicBezTo>
                  <a:pt x="0" y="29748"/>
                  <a:pt x="29748" y="0"/>
                  <a:pt x="66444" y="0"/>
                </a:cubicBezTo>
                <a:close/>
              </a:path>
            </a:pathLst>
          </a:custGeom>
          <a:solidFill>
            <a:srgbClr val="EAE7D6"/>
          </a:solidFill>
          <a:ln/>
        </p:spPr>
        <p:txBody>
          <a:bodyPr/>
          <a:lstStyle/>
          <a:p>
            <a:endParaRPr lang="en-US"/>
          </a:p>
        </p:txBody>
      </p:sp>
      <p:sp>
        <p:nvSpPr>
          <p:cNvPr id="27" name="Shape 25"/>
          <p:cNvSpPr/>
          <p:nvPr/>
        </p:nvSpPr>
        <p:spPr>
          <a:xfrm>
            <a:off x="660262" y="5223956"/>
            <a:ext cx="166104" cy="166104"/>
          </a:xfrm>
          <a:custGeom>
            <a:avLst/>
            <a:gdLst/>
            <a:ahLst/>
            <a:cxnLst/>
            <a:rect l="l" t="t" r="r" b="b"/>
            <a:pathLst>
              <a:path w="166104" h="166104">
                <a:moveTo>
                  <a:pt x="0" y="72670"/>
                </a:moveTo>
                <a:lnTo>
                  <a:pt x="0" y="134959"/>
                </a:lnTo>
                <a:cubicBezTo>
                  <a:pt x="0" y="140701"/>
                  <a:pt x="4639" y="145341"/>
                  <a:pt x="10381" y="145341"/>
                </a:cubicBezTo>
                <a:lnTo>
                  <a:pt x="20763" y="145341"/>
                </a:lnTo>
                <a:lnTo>
                  <a:pt x="20763" y="111601"/>
                </a:lnTo>
                <a:cubicBezTo>
                  <a:pt x="20763" y="107286"/>
                  <a:pt x="24234" y="103815"/>
                  <a:pt x="28549" y="103815"/>
                </a:cubicBezTo>
                <a:cubicBezTo>
                  <a:pt x="32864" y="103815"/>
                  <a:pt x="36335" y="107286"/>
                  <a:pt x="36335" y="111601"/>
                </a:cubicBezTo>
                <a:lnTo>
                  <a:pt x="36335" y="145341"/>
                </a:lnTo>
                <a:lnTo>
                  <a:pt x="57098" y="145341"/>
                </a:lnTo>
                <a:lnTo>
                  <a:pt x="57098" y="111601"/>
                </a:lnTo>
                <a:cubicBezTo>
                  <a:pt x="57098" y="107286"/>
                  <a:pt x="60569" y="103815"/>
                  <a:pt x="64884" y="103815"/>
                </a:cubicBezTo>
                <a:cubicBezTo>
                  <a:pt x="69199" y="103815"/>
                  <a:pt x="72670" y="107286"/>
                  <a:pt x="72670" y="111601"/>
                </a:cubicBezTo>
                <a:lnTo>
                  <a:pt x="72670" y="145341"/>
                </a:lnTo>
                <a:lnTo>
                  <a:pt x="93433" y="145341"/>
                </a:lnTo>
                <a:lnTo>
                  <a:pt x="93433" y="111601"/>
                </a:lnTo>
                <a:cubicBezTo>
                  <a:pt x="93433" y="107286"/>
                  <a:pt x="96905" y="103815"/>
                  <a:pt x="101219" y="103815"/>
                </a:cubicBezTo>
                <a:cubicBezTo>
                  <a:pt x="105534" y="103815"/>
                  <a:pt x="109005" y="107286"/>
                  <a:pt x="109005" y="111601"/>
                </a:cubicBezTo>
                <a:lnTo>
                  <a:pt x="109005" y="145341"/>
                </a:lnTo>
                <a:lnTo>
                  <a:pt x="129768" y="145341"/>
                </a:lnTo>
                <a:lnTo>
                  <a:pt x="129768" y="111601"/>
                </a:lnTo>
                <a:cubicBezTo>
                  <a:pt x="129768" y="107286"/>
                  <a:pt x="133240" y="103815"/>
                  <a:pt x="137554" y="103815"/>
                </a:cubicBezTo>
                <a:cubicBezTo>
                  <a:pt x="141869" y="103815"/>
                  <a:pt x="145341" y="107286"/>
                  <a:pt x="145341" y="111601"/>
                </a:cubicBezTo>
                <a:lnTo>
                  <a:pt x="145341" y="145341"/>
                </a:lnTo>
                <a:lnTo>
                  <a:pt x="155722" y="145341"/>
                </a:lnTo>
                <a:cubicBezTo>
                  <a:pt x="161464" y="145341"/>
                  <a:pt x="166104" y="140701"/>
                  <a:pt x="166104" y="134959"/>
                </a:cubicBezTo>
                <a:lnTo>
                  <a:pt x="166104" y="72670"/>
                </a:lnTo>
                <a:cubicBezTo>
                  <a:pt x="166104" y="66928"/>
                  <a:pt x="161464" y="62289"/>
                  <a:pt x="155722" y="62289"/>
                </a:cubicBezTo>
                <a:lnTo>
                  <a:pt x="145341" y="62289"/>
                </a:lnTo>
                <a:lnTo>
                  <a:pt x="145341" y="51907"/>
                </a:lnTo>
                <a:cubicBezTo>
                  <a:pt x="145341" y="46165"/>
                  <a:pt x="140701" y="41526"/>
                  <a:pt x="134959" y="41526"/>
                </a:cubicBezTo>
                <a:lnTo>
                  <a:pt x="124578" y="41526"/>
                </a:lnTo>
                <a:lnTo>
                  <a:pt x="124578" y="31144"/>
                </a:lnTo>
                <a:cubicBezTo>
                  <a:pt x="124578" y="25402"/>
                  <a:pt x="119938" y="20763"/>
                  <a:pt x="114196" y="20763"/>
                </a:cubicBezTo>
                <a:lnTo>
                  <a:pt x="51907" y="20763"/>
                </a:lnTo>
                <a:cubicBezTo>
                  <a:pt x="46165" y="20763"/>
                  <a:pt x="41526" y="25402"/>
                  <a:pt x="41526" y="31144"/>
                </a:cubicBezTo>
                <a:lnTo>
                  <a:pt x="41526" y="41526"/>
                </a:lnTo>
                <a:lnTo>
                  <a:pt x="31144" y="41526"/>
                </a:lnTo>
                <a:cubicBezTo>
                  <a:pt x="25402" y="41526"/>
                  <a:pt x="20763" y="46165"/>
                  <a:pt x="20763" y="51907"/>
                </a:cubicBezTo>
                <a:lnTo>
                  <a:pt x="20763" y="62289"/>
                </a:lnTo>
                <a:lnTo>
                  <a:pt x="10381" y="62289"/>
                </a:lnTo>
                <a:cubicBezTo>
                  <a:pt x="4639" y="62289"/>
                  <a:pt x="0" y="66928"/>
                  <a:pt x="0" y="72670"/>
                </a:cubicBezTo>
                <a:close/>
              </a:path>
            </a:pathLst>
          </a:custGeom>
          <a:solidFill>
            <a:srgbClr val="E07A5F"/>
          </a:solidFill>
          <a:ln/>
        </p:spPr>
        <p:txBody>
          <a:bodyPr/>
          <a:lstStyle/>
          <a:p>
            <a:endParaRPr lang="en-US"/>
          </a:p>
        </p:txBody>
      </p:sp>
      <p:sp>
        <p:nvSpPr>
          <p:cNvPr id="28" name="Text 26"/>
          <p:cNvSpPr/>
          <p:nvPr/>
        </p:nvSpPr>
        <p:spPr>
          <a:xfrm>
            <a:off x="946790" y="5190736"/>
            <a:ext cx="1677646" cy="232545"/>
          </a:xfrm>
          <a:prstGeom prst="rect">
            <a:avLst/>
          </a:prstGeom>
          <a:noFill/>
          <a:ln/>
        </p:spPr>
        <p:txBody>
          <a:bodyPr wrap="square" lIns="0" tIns="0" rIns="0" bIns="0" rtlCol="0" anchor="ctr"/>
          <a:lstStyle/>
          <a:p>
            <a:pPr>
              <a:lnSpc>
                <a:spcPct val="130000"/>
              </a:lnSpc>
            </a:pPr>
            <a:r>
              <a:rPr lang="en-US" sz="1177" b="1" dirty="0">
                <a:solidFill>
                  <a:srgbClr val="2D3142"/>
                </a:solidFill>
                <a:latin typeface="Quattrocento Sans" pitchFamily="34" charset="0"/>
                <a:ea typeface="Quattrocento Sans" pitchFamily="34" charset="-122"/>
                <a:cs typeface="Quattrocento Sans" pitchFamily="34" charset="-120"/>
              </a:rPr>
              <a:t>TCP Sockets (net.Socket)</a:t>
            </a:r>
            <a:endParaRPr lang="en-US" sz="1600" dirty="0"/>
          </a:p>
        </p:txBody>
      </p:sp>
      <p:sp>
        <p:nvSpPr>
          <p:cNvPr id="29" name="Text 27"/>
          <p:cNvSpPr/>
          <p:nvPr/>
        </p:nvSpPr>
        <p:spPr>
          <a:xfrm>
            <a:off x="639499" y="5489722"/>
            <a:ext cx="5705657" cy="199324"/>
          </a:xfrm>
          <a:prstGeom prst="rect">
            <a:avLst/>
          </a:prstGeom>
          <a:noFill/>
          <a:ln/>
        </p:spPr>
        <p:txBody>
          <a:bodyPr wrap="square" lIns="0" tIns="0" rIns="0" bIns="0" rtlCol="0" anchor="ctr"/>
          <a:lstStyle/>
          <a:p>
            <a:pPr>
              <a:lnSpc>
                <a:spcPct val="130000"/>
              </a:lnSpc>
            </a:pPr>
            <a:r>
              <a:rPr lang="en-US" sz="1046" dirty="0">
                <a:solidFill>
                  <a:srgbClr val="8D99AE"/>
                </a:solidFill>
                <a:latin typeface="Quattrocento Sans" pitchFamily="34" charset="0"/>
                <a:ea typeface="Quattrocento Sans" pitchFamily="34" charset="-122"/>
                <a:cs typeface="Quattrocento Sans" pitchFamily="34" charset="-120"/>
              </a:rPr>
              <a:t>Bidirectional network communication</a:t>
            </a:r>
            <a:endParaRPr lang="en-US" sz="1600" dirty="0"/>
          </a:p>
        </p:txBody>
      </p:sp>
      <p:sp>
        <p:nvSpPr>
          <p:cNvPr id="30" name="Shape 28"/>
          <p:cNvSpPr/>
          <p:nvPr/>
        </p:nvSpPr>
        <p:spPr>
          <a:xfrm>
            <a:off x="506616" y="5921591"/>
            <a:ext cx="5904981" cy="764076"/>
          </a:xfrm>
          <a:custGeom>
            <a:avLst/>
            <a:gdLst/>
            <a:ahLst/>
            <a:cxnLst/>
            <a:rect l="l" t="t" r="r" b="b"/>
            <a:pathLst>
              <a:path w="5904981" h="764076">
                <a:moveTo>
                  <a:pt x="66444" y="0"/>
                </a:moveTo>
                <a:lnTo>
                  <a:pt x="5838537" y="0"/>
                </a:lnTo>
                <a:cubicBezTo>
                  <a:pt x="5875208" y="0"/>
                  <a:pt x="5904981" y="29773"/>
                  <a:pt x="5904981" y="66444"/>
                </a:cubicBezTo>
                <a:lnTo>
                  <a:pt x="5904981" y="697632"/>
                </a:lnTo>
                <a:cubicBezTo>
                  <a:pt x="5904981" y="734328"/>
                  <a:pt x="5875233" y="764076"/>
                  <a:pt x="5838537" y="764076"/>
                </a:cubicBezTo>
                <a:lnTo>
                  <a:pt x="66444" y="764076"/>
                </a:lnTo>
                <a:cubicBezTo>
                  <a:pt x="29773" y="764076"/>
                  <a:pt x="0" y="734304"/>
                  <a:pt x="0" y="697632"/>
                </a:cubicBezTo>
                <a:lnTo>
                  <a:pt x="0" y="66444"/>
                </a:lnTo>
                <a:cubicBezTo>
                  <a:pt x="0" y="29748"/>
                  <a:pt x="29748" y="0"/>
                  <a:pt x="66444" y="0"/>
                </a:cubicBezTo>
                <a:close/>
              </a:path>
            </a:pathLst>
          </a:custGeom>
          <a:solidFill>
            <a:srgbClr val="EAE7D6"/>
          </a:solidFill>
          <a:ln/>
        </p:spPr>
        <p:txBody>
          <a:bodyPr/>
          <a:lstStyle/>
          <a:p>
            <a:endParaRPr lang="en-US"/>
          </a:p>
        </p:txBody>
      </p:sp>
      <p:sp>
        <p:nvSpPr>
          <p:cNvPr id="31" name="Shape 29"/>
          <p:cNvSpPr/>
          <p:nvPr/>
        </p:nvSpPr>
        <p:spPr>
          <a:xfrm>
            <a:off x="681025" y="6087695"/>
            <a:ext cx="124578" cy="166104"/>
          </a:xfrm>
          <a:custGeom>
            <a:avLst/>
            <a:gdLst/>
            <a:ahLst/>
            <a:cxnLst/>
            <a:rect l="l" t="t" r="r" b="b"/>
            <a:pathLst>
              <a:path w="124578" h="166104">
                <a:moveTo>
                  <a:pt x="41526" y="31144"/>
                </a:moveTo>
                <a:lnTo>
                  <a:pt x="41526" y="51907"/>
                </a:lnTo>
                <a:lnTo>
                  <a:pt x="83052" y="51907"/>
                </a:lnTo>
                <a:lnTo>
                  <a:pt x="83052" y="31144"/>
                </a:lnTo>
                <a:cubicBezTo>
                  <a:pt x="83052" y="19692"/>
                  <a:pt x="73741" y="10381"/>
                  <a:pt x="62289" y="10381"/>
                </a:cubicBezTo>
                <a:cubicBezTo>
                  <a:pt x="50837" y="10381"/>
                  <a:pt x="41526" y="19692"/>
                  <a:pt x="41526" y="31144"/>
                </a:cubicBezTo>
                <a:close/>
                <a:moveTo>
                  <a:pt x="20763" y="51907"/>
                </a:moveTo>
                <a:lnTo>
                  <a:pt x="20763" y="31144"/>
                </a:lnTo>
                <a:cubicBezTo>
                  <a:pt x="20763" y="8208"/>
                  <a:pt x="39352" y="-10381"/>
                  <a:pt x="62289" y="-10381"/>
                </a:cubicBezTo>
                <a:cubicBezTo>
                  <a:pt x="85225" y="-10381"/>
                  <a:pt x="103815" y="8208"/>
                  <a:pt x="103815" y="31144"/>
                </a:cubicBezTo>
                <a:lnTo>
                  <a:pt x="103815" y="51907"/>
                </a:lnTo>
                <a:cubicBezTo>
                  <a:pt x="115267" y="51907"/>
                  <a:pt x="124578" y="61218"/>
                  <a:pt x="124578" y="72670"/>
                </a:cubicBezTo>
                <a:lnTo>
                  <a:pt x="124578" y="145341"/>
                </a:lnTo>
                <a:cubicBezTo>
                  <a:pt x="124578" y="156793"/>
                  <a:pt x="115267" y="166104"/>
                  <a:pt x="103815" y="166104"/>
                </a:cubicBezTo>
                <a:lnTo>
                  <a:pt x="20763" y="166104"/>
                </a:lnTo>
                <a:cubicBezTo>
                  <a:pt x="9311" y="166104"/>
                  <a:pt x="0" y="156793"/>
                  <a:pt x="0" y="145341"/>
                </a:cubicBezTo>
                <a:lnTo>
                  <a:pt x="0" y="72670"/>
                </a:lnTo>
                <a:cubicBezTo>
                  <a:pt x="0" y="61218"/>
                  <a:pt x="9311" y="51907"/>
                  <a:pt x="20763" y="51907"/>
                </a:cubicBezTo>
                <a:close/>
              </a:path>
            </a:pathLst>
          </a:custGeom>
          <a:solidFill>
            <a:srgbClr val="8D99AE"/>
          </a:solidFill>
          <a:ln/>
        </p:spPr>
        <p:txBody>
          <a:bodyPr/>
          <a:lstStyle/>
          <a:p>
            <a:endParaRPr lang="en-US"/>
          </a:p>
        </p:txBody>
      </p:sp>
      <p:sp>
        <p:nvSpPr>
          <p:cNvPr id="32" name="Text 30"/>
          <p:cNvSpPr/>
          <p:nvPr/>
        </p:nvSpPr>
        <p:spPr>
          <a:xfrm>
            <a:off x="946790" y="6054474"/>
            <a:ext cx="2134431" cy="232545"/>
          </a:xfrm>
          <a:prstGeom prst="rect">
            <a:avLst/>
          </a:prstGeom>
          <a:noFill/>
          <a:ln/>
        </p:spPr>
        <p:txBody>
          <a:bodyPr wrap="square" lIns="0" tIns="0" rIns="0" bIns="0" rtlCol="0" anchor="ctr"/>
          <a:lstStyle/>
          <a:p>
            <a:pPr>
              <a:lnSpc>
                <a:spcPct val="130000"/>
              </a:lnSpc>
            </a:pPr>
            <a:r>
              <a:rPr lang="en-US" sz="1177" b="1" dirty="0">
                <a:solidFill>
                  <a:srgbClr val="2D3142"/>
                </a:solidFill>
                <a:latin typeface="Quattrocento Sans" pitchFamily="34" charset="0"/>
                <a:ea typeface="Quattrocento Sans" pitchFamily="34" charset="-122"/>
                <a:cs typeface="Quattrocento Sans" pitchFamily="34" charset="-120"/>
              </a:rPr>
              <a:t>TLS/SSL Sockets (tls.TLSSocket)</a:t>
            </a:r>
            <a:endParaRPr lang="en-US" sz="1600" dirty="0"/>
          </a:p>
        </p:txBody>
      </p:sp>
      <p:sp>
        <p:nvSpPr>
          <p:cNvPr id="33" name="Text 31"/>
          <p:cNvSpPr/>
          <p:nvPr/>
        </p:nvSpPr>
        <p:spPr>
          <a:xfrm>
            <a:off x="639499" y="6353460"/>
            <a:ext cx="5705657" cy="199324"/>
          </a:xfrm>
          <a:prstGeom prst="rect">
            <a:avLst/>
          </a:prstGeom>
          <a:noFill/>
          <a:ln/>
        </p:spPr>
        <p:txBody>
          <a:bodyPr wrap="square" lIns="0" tIns="0" rIns="0" bIns="0" rtlCol="0" anchor="ctr"/>
          <a:lstStyle/>
          <a:p>
            <a:pPr>
              <a:lnSpc>
                <a:spcPct val="130000"/>
              </a:lnSpc>
            </a:pPr>
            <a:r>
              <a:rPr lang="en-US" sz="1046" dirty="0">
                <a:solidFill>
                  <a:srgbClr val="8D99AE"/>
                </a:solidFill>
                <a:latin typeface="Quattrocento Sans" pitchFamily="34" charset="0"/>
                <a:ea typeface="Quattrocento Sans" pitchFamily="34" charset="-122"/>
                <a:cs typeface="Quattrocento Sans" pitchFamily="34" charset="-120"/>
              </a:rPr>
              <a:t>Encrypted bidirectional communication</a:t>
            </a:r>
            <a:endParaRPr lang="en-US" sz="1600" dirty="0"/>
          </a:p>
        </p:txBody>
      </p:sp>
      <p:sp>
        <p:nvSpPr>
          <p:cNvPr id="34" name="Shape 32"/>
          <p:cNvSpPr/>
          <p:nvPr/>
        </p:nvSpPr>
        <p:spPr>
          <a:xfrm>
            <a:off x="6753277" y="1133657"/>
            <a:ext cx="5107684" cy="3695804"/>
          </a:xfrm>
          <a:custGeom>
            <a:avLst/>
            <a:gdLst/>
            <a:ahLst/>
            <a:cxnLst/>
            <a:rect l="l" t="t" r="r" b="b"/>
            <a:pathLst>
              <a:path w="5107684" h="3695804">
                <a:moveTo>
                  <a:pt x="99676" y="0"/>
                </a:moveTo>
                <a:lnTo>
                  <a:pt x="5008008" y="0"/>
                </a:lnTo>
                <a:cubicBezTo>
                  <a:pt x="5063058" y="0"/>
                  <a:pt x="5107684" y="44626"/>
                  <a:pt x="5107684" y="99676"/>
                </a:cubicBezTo>
                <a:lnTo>
                  <a:pt x="5107684" y="3596128"/>
                </a:lnTo>
                <a:cubicBezTo>
                  <a:pt x="5107684" y="3651177"/>
                  <a:pt x="5063058" y="3695804"/>
                  <a:pt x="5008008" y="3695804"/>
                </a:cubicBezTo>
                <a:lnTo>
                  <a:pt x="99676" y="3695804"/>
                </a:lnTo>
                <a:cubicBezTo>
                  <a:pt x="44626" y="3695804"/>
                  <a:pt x="0" y="3651177"/>
                  <a:pt x="0" y="3596128"/>
                </a:cubicBezTo>
                <a:lnTo>
                  <a:pt x="0" y="99676"/>
                </a:lnTo>
                <a:cubicBezTo>
                  <a:pt x="0" y="44663"/>
                  <a:pt x="44663" y="0"/>
                  <a:pt x="99676" y="0"/>
                </a:cubicBezTo>
                <a:close/>
              </a:path>
            </a:pathLst>
          </a:custGeom>
          <a:solidFill>
            <a:srgbClr val="EAE7D6"/>
          </a:solidFill>
          <a:ln/>
        </p:spPr>
        <p:txBody>
          <a:bodyPr/>
          <a:lstStyle/>
          <a:p>
            <a:endParaRPr lang="en-US"/>
          </a:p>
        </p:txBody>
      </p:sp>
      <p:sp>
        <p:nvSpPr>
          <p:cNvPr id="35" name="Shape 33"/>
          <p:cNvSpPr/>
          <p:nvPr/>
        </p:nvSpPr>
        <p:spPr>
          <a:xfrm>
            <a:off x="6948449" y="1337134"/>
            <a:ext cx="199324" cy="199324"/>
          </a:xfrm>
          <a:custGeom>
            <a:avLst/>
            <a:gdLst/>
            <a:ahLst/>
            <a:cxnLst/>
            <a:rect l="l" t="t" r="r" b="b"/>
            <a:pathLst>
              <a:path w="199324" h="199324">
                <a:moveTo>
                  <a:pt x="49831" y="124578"/>
                </a:moveTo>
                <a:lnTo>
                  <a:pt x="9538" y="124578"/>
                </a:lnTo>
                <a:cubicBezTo>
                  <a:pt x="-156" y="124578"/>
                  <a:pt x="-6112" y="114027"/>
                  <a:pt x="-1129" y="105696"/>
                </a:cubicBezTo>
                <a:lnTo>
                  <a:pt x="19465" y="71360"/>
                </a:lnTo>
                <a:cubicBezTo>
                  <a:pt x="22852" y="65715"/>
                  <a:pt x="28925" y="62289"/>
                  <a:pt x="35505" y="62289"/>
                </a:cubicBezTo>
                <a:lnTo>
                  <a:pt x="72489" y="62289"/>
                </a:lnTo>
                <a:cubicBezTo>
                  <a:pt x="102115" y="12107"/>
                  <a:pt x="146301" y="9577"/>
                  <a:pt x="175849" y="13898"/>
                </a:cubicBezTo>
                <a:cubicBezTo>
                  <a:pt x="180832" y="14638"/>
                  <a:pt x="184725" y="18531"/>
                  <a:pt x="185426" y="23475"/>
                </a:cubicBezTo>
                <a:cubicBezTo>
                  <a:pt x="189747" y="53023"/>
                  <a:pt x="187217" y="97210"/>
                  <a:pt x="137035" y="126836"/>
                </a:cubicBezTo>
                <a:lnTo>
                  <a:pt x="137035" y="163820"/>
                </a:lnTo>
                <a:cubicBezTo>
                  <a:pt x="137035" y="170399"/>
                  <a:pt x="133610" y="176472"/>
                  <a:pt x="127965" y="179859"/>
                </a:cubicBezTo>
                <a:lnTo>
                  <a:pt x="93628" y="200453"/>
                </a:lnTo>
                <a:cubicBezTo>
                  <a:pt x="85336" y="205436"/>
                  <a:pt x="74747" y="199441"/>
                  <a:pt x="74747" y="189786"/>
                </a:cubicBezTo>
                <a:lnTo>
                  <a:pt x="74747" y="149493"/>
                </a:lnTo>
                <a:cubicBezTo>
                  <a:pt x="74747" y="135751"/>
                  <a:pt x="63574" y="124578"/>
                  <a:pt x="49831" y="124578"/>
                </a:cubicBezTo>
                <a:lnTo>
                  <a:pt x="49792" y="124578"/>
                </a:lnTo>
                <a:close/>
                <a:moveTo>
                  <a:pt x="155722" y="62289"/>
                </a:moveTo>
                <a:cubicBezTo>
                  <a:pt x="155722" y="51975"/>
                  <a:pt x="147349" y="43602"/>
                  <a:pt x="137035" y="43602"/>
                </a:cubicBezTo>
                <a:cubicBezTo>
                  <a:pt x="126722" y="43602"/>
                  <a:pt x="118349" y="51975"/>
                  <a:pt x="118349" y="62289"/>
                </a:cubicBezTo>
                <a:cubicBezTo>
                  <a:pt x="118349" y="72602"/>
                  <a:pt x="126722" y="80975"/>
                  <a:pt x="137035" y="80975"/>
                </a:cubicBezTo>
                <a:cubicBezTo>
                  <a:pt x="147349" y="80975"/>
                  <a:pt x="155722" y="72602"/>
                  <a:pt x="155722" y="62289"/>
                </a:cubicBezTo>
                <a:close/>
              </a:path>
            </a:pathLst>
          </a:custGeom>
          <a:solidFill>
            <a:srgbClr val="8D99AE"/>
          </a:solidFill>
          <a:ln/>
        </p:spPr>
        <p:txBody>
          <a:bodyPr/>
          <a:lstStyle/>
          <a:p>
            <a:endParaRPr lang="en-US"/>
          </a:p>
        </p:txBody>
      </p:sp>
      <p:sp>
        <p:nvSpPr>
          <p:cNvPr id="36" name="Text 34"/>
          <p:cNvSpPr/>
          <p:nvPr/>
        </p:nvSpPr>
        <p:spPr>
          <a:xfrm>
            <a:off x="7272350" y="1303913"/>
            <a:ext cx="2184262" cy="265766"/>
          </a:xfrm>
          <a:prstGeom prst="rect">
            <a:avLst/>
          </a:prstGeom>
          <a:noFill/>
          <a:ln/>
        </p:spPr>
        <p:txBody>
          <a:bodyPr wrap="square" lIns="0" tIns="0" rIns="0" bIns="0" rtlCol="0" anchor="ctr"/>
          <a:lstStyle/>
          <a:p>
            <a:pPr>
              <a:lnSpc>
                <a:spcPct val="110000"/>
              </a:lnSpc>
            </a:pPr>
            <a:r>
              <a:rPr lang="en-US" sz="1569" b="1" dirty="0">
                <a:solidFill>
                  <a:srgbClr val="2D3142"/>
                </a:solidFill>
                <a:latin typeface="Quattrocento Sans" pitchFamily="34" charset="0"/>
                <a:ea typeface="Quattrocento Sans" pitchFamily="34" charset="-122"/>
                <a:cs typeface="Quattrocento Sans" pitchFamily="34" charset="-120"/>
              </a:rPr>
              <a:t>Real-world Applications</a:t>
            </a:r>
            <a:endParaRPr lang="en-US" sz="1600" dirty="0"/>
          </a:p>
        </p:txBody>
      </p:sp>
      <p:sp>
        <p:nvSpPr>
          <p:cNvPr id="37" name="Shape 35"/>
          <p:cNvSpPr/>
          <p:nvPr/>
        </p:nvSpPr>
        <p:spPr>
          <a:xfrm>
            <a:off x="6940143" y="1702561"/>
            <a:ext cx="4750561" cy="1229166"/>
          </a:xfrm>
          <a:custGeom>
            <a:avLst/>
            <a:gdLst/>
            <a:ahLst/>
            <a:cxnLst/>
            <a:rect l="l" t="t" r="r" b="b"/>
            <a:pathLst>
              <a:path w="4750561" h="1229166">
                <a:moveTo>
                  <a:pt x="33221" y="0"/>
                </a:moveTo>
                <a:lnTo>
                  <a:pt x="4684125" y="0"/>
                </a:lnTo>
                <a:cubicBezTo>
                  <a:pt x="4720817" y="0"/>
                  <a:pt x="4750561" y="29745"/>
                  <a:pt x="4750561" y="66436"/>
                </a:cubicBezTo>
                <a:lnTo>
                  <a:pt x="4750561" y="1162730"/>
                </a:lnTo>
                <a:cubicBezTo>
                  <a:pt x="4750561" y="1199422"/>
                  <a:pt x="4720817" y="1229166"/>
                  <a:pt x="4684125" y="1229166"/>
                </a:cubicBezTo>
                <a:lnTo>
                  <a:pt x="33221" y="1229166"/>
                </a:lnTo>
                <a:cubicBezTo>
                  <a:pt x="14873" y="1229166"/>
                  <a:pt x="0" y="1214293"/>
                  <a:pt x="0" y="1195946"/>
                </a:cubicBezTo>
                <a:lnTo>
                  <a:pt x="0" y="33221"/>
                </a:lnTo>
                <a:cubicBezTo>
                  <a:pt x="0" y="14873"/>
                  <a:pt x="14873" y="0"/>
                  <a:pt x="33221" y="0"/>
                </a:cubicBezTo>
                <a:close/>
              </a:path>
            </a:pathLst>
          </a:custGeom>
          <a:solidFill>
            <a:srgbClr val="EAE7D6"/>
          </a:solidFill>
          <a:ln/>
        </p:spPr>
        <p:txBody>
          <a:bodyPr/>
          <a:lstStyle/>
          <a:p>
            <a:endParaRPr lang="en-US"/>
          </a:p>
        </p:txBody>
      </p:sp>
      <p:sp>
        <p:nvSpPr>
          <p:cNvPr id="38" name="Shape 36"/>
          <p:cNvSpPr/>
          <p:nvPr/>
        </p:nvSpPr>
        <p:spPr>
          <a:xfrm>
            <a:off x="6940143" y="1702561"/>
            <a:ext cx="33221" cy="1229166"/>
          </a:xfrm>
          <a:custGeom>
            <a:avLst/>
            <a:gdLst/>
            <a:ahLst/>
            <a:cxnLst/>
            <a:rect l="l" t="t" r="r" b="b"/>
            <a:pathLst>
              <a:path w="33221" h="1229166">
                <a:moveTo>
                  <a:pt x="33221" y="0"/>
                </a:moveTo>
                <a:lnTo>
                  <a:pt x="33221" y="0"/>
                </a:lnTo>
                <a:lnTo>
                  <a:pt x="33221" y="1229166"/>
                </a:lnTo>
                <a:lnTo>
                  <a:pt x="33221" y="1229166"/>
                </a:lnTo>
                <a:cubicBezTo>
                  <a:pt x="14873" y="1229166"/>
                  <a:pt x="0" y="1214293"/>
                  <a:pt x="0" y="1195946"/>
                </a:cubicBezTo>
                <a:lnTo>
                  <a:pt x="0" y="33221"/>
                </a:lnTo>
                <a:cubicBezTo>
                  <a:pt x="0" y="14886"/>
                  <a:pt x="14886" y="0"/>
                  <a:pt x="33221" y="0"/>
                </a:cubicBezTo>
                <a:close/>
              </a:path>
            </a:pathLst>
          </a:custGeom>
          <a:solidFill>
            <a:srgbClr val="E07A5F"/>
          </a:solidFill>
          <a:ln/>
        </p:spPr>
        <p:txBody>
          <a:bodyPr/>
          <a:lstStyle/>
          <a:p>
            <a:endParaRPr lang="en-US"/>
          </a:p>
        </p:txBody>
      </p:sp>
      <p:sp>
        <p:nvSpPr>
          <p:cNvPr id="39" name="Shape 37"/>
          <p:cNvSpPr/>
          <p:nvPr/>
        </p:nvSpPr>
        <p:spPr>
          <a:xfrm>
            <a:off x="7097942" y="1885275"/>
            <a:ext cx="149493" cy="132883"/>
          </a:xfrm>
          <a:custGeom>
            <a:avLst/>
            <a:gdLst/>
            <a:ahLst/>
            <a:cxnLst/>
            <a:rect l="l" t="t" r="r" b="b"/>
            <a:pathLst>
              <a:path w="149493" h="132883">
                <a:moveTo>
                  <a:pt x="99662" y="37373"/>
                </a:moveTo>
                <a:cubicBezTo>
                  <a:pt x="99662" y="62600"/>
                  <a:pt x="77342" y="83052"/>
                  <a:pt x="49831" y="83052"/>
                </a:cubicBezTo>
                <a:cubicBezTo>
                  <a:pt x="42901" y="83052"/>
                  <a:pt x="36309" y="81754"/>
                  <a:pt x="30314" y="79418"/>
                </a:cubicBezTo>
                <a:lnTo>
                  <a:pt x="9136" y="90630"/>
                </a:lnTo>
                <a:cubicBezTo>
                  <a:pt x="6722" y="91902"/>
                  <a:pt x="3763" y="91461"/>
                  <a:pt x="1817" y="89540"/>
                </a:cubicBezTo>
                <a:cubicBezTo>
                  <a:pt x="-130" y="87620"/>
                  <a:pt x="-571" y="84635"/>
                  <a:pt x="727" y="82221"/>
                </a:cubicBezTo>
                <a:lnTo>
                  <a:pt x="9966" y="64780"/>
                </a:lnTo>
                <a:cubicBezTo>
                  <a:pt x="3711" y="57150"/>
                  <a:pt x="0" y="47651"/>
                  <a:pt x="0" y="37373"/>
                </a:cubicBezTo>
                <a:cubicBezTo>
                  <a:pt x="0" y="12146"/>
                  <a:pt x="22320" y="-8305"/>
                  <a:pt x="49831" y="-8305"/>
                </a:cubicBezTo>
                <a:cubicBezTo>
                  <a:pt x="77342" y="-8305"/>
                  <a:pt x="99662" y="12146"/>
                  <a:pt x="99662" y="37373"/>
                </a:cubicBezTo>
                <a:close/>
                <a:moveTo>
                  <a:pt x="99662" y="132883"/>
                </a:moveTo>
                <a:cubicBezTo>
                  <a:pt x="75240" y="132883"/>
                  <a:pt x="54918" y="116766"/>
                  <a:pt x="50662" y="95510"/>
                </a:cubicBezTo>
                <a:cubicBezTo>
                  <a:pt x="81806" y="95120"/>
                  <a:pt x="108876" y="72956"/>
                  <a:pt x="111860" y="42901"/>
                </a:cubicBezTo>
                <a:cubicBezTo>
                  <a:pt x="133480" y="47885"/>
                  <a:pt x="149493" y="65819"/>
                  <a:pt x="149493" y="87204"/>
                </a:cubicBezTo>
                <a:cubicBezTo>
                  <a:pt x="149493" y="97482"/>
                  <a:pt x="145782" y="106981"/>
                  <a:pt x="139527" y="114611"/>
                </a:cubicBezTo>
                <a:lnTo>
                  <a:pt x="148766" y="132052"/>
                </a:lnTo>
                <a:cubicBezTo>
                  <a:pt x="150038" y="134466"/>
                  <a:pt x="149597" y="137425"/>
                  <a:pt x="147676" y="139371"/>
                </a:cubicBezTo>
                <a:cubicBezTo>
                  <a:pt x="145756" y="141318"/>
                  <a:pt x="142771" y="141759"/>
                  <a:pt x="140357" y="140461"/>
                </a:cubicBezTo>
                <a:lnTo>
                  <a:pt x="119179" y="129249"/>
                </a:lnTo>
                <a:cubicBezTo>
                  <a:pt x="113184" y="131585"/>
                  <a:pt x="106592" y="132883"/>
                  <a:pt x="99662" y="132883"/>
                </a:cubicBezTo>
                <a:close/>
              </a:path>
            </a:pathLst>
          </a:custGeom>
          <a:solidFill>
            <a:srgbClr val="E07A5F"/>
          </a:solidFill>
          <a:ln/>
        </p:spPr>
        <p:txBody>
          <a:bodyPr/>
          <a:lstStyle/>
          <a:p>
            <a:endParaRPr lang="en-US"/>
          </a:p>
        </p:txBody>
      </p:sp>
      <p:sp>
        <p:nvSpPr>
          <p:cNvPr id="40" name="Text 38"/>
          <p:cNvSpPr/>
          <p:nvPr/>
        </p:nvSpPr>
        <p:spPr>
          <a:xfrm>
            <a:off x="7322182" y="1835444"/>
            <a:ext cx="1212556" cy="232545"/>
          </a:xfrm>
          <a:prstGeom prst="rect">
            <a:avLst/>
          </a:prstGeom>
          <a:noFill/>
          <a:ln/>
        </p:spPr>
        <p:txBody>
          <a:bodyPr wrap="square" lIns="0" tIns="0" rIns="0" bIns="0" rtlCol="0" anchor="ctr"/>
          <a:lstStyle/>
          <a:p>
            <a:pPr>
              <a:lnSpc>
                <a:spcPct val="130000"/>
              </a:lnSpc>
            </a:pPr>
            <a:r>
              <a:rPr lang="en-US" sz="1177" b="1" dirty="0">
                <a:solidFill>
                  <a:srgbClr val="2D3142"/>
                </a:solidFill>
                <a:latin typeface="Quattrocento Sans" pitchFamily="34" charset="0"/>
                <a:ea typeface="Quattrocento Sans" pitchFamily="34" charset="-122"/>
                <a:cs typeface="Quattrocento Sans" pitchFamily="34" charset="-120"/>
              </a:rPr>
              <a:t>Chat Applications</a:t>
            </a:r>
            <a:endParaRPr lang="en-US" sz="1600" dirty="0"/>
          </a:p>
        </p:txBody>
      </p:sp>
      <p:sp>
        <p:nvSpPr>
          <p:cNvPr id="41" name="Text 39"/>
          <p:cNvSpPr/>
          <p:nvPr/>
        </p:nvSpPr>
        <p:spPr>
          <a:xfrm>
            <a:off x="7089637" y="2134431"/>
            <a:ext cx="4534627" cy="199324"/>
          </a:xfrm>
          <a:prstGeom prst="rect">
            <a:avLst/>
          </a:prstGeom>
          <a:noFill/>
          <a:ln/>
        </p:spPr>
        <p:txBody>
          <a:bodyPr wrap="square" lIns="0" tIns="0" rIns="0" bIns="0" rtlCol="0" anchor="ctr"/>
          <a:lstStyle/>
          <a:p>
            <a:pPr>
              <a:lnSpc>
                <a:spcPct val="130000"/>
              </a:lnSpc>
            </a:pPr>
            <a:r>
              <a:rPr lang="en-US" sz="1046" dirty="0">
                <a:solidFill>
                  <a:srgbClr val="8D99AE"/>
                </a:solidFill>
                <a:latin typeface="Quattrocento Sans" pitchFamily="34" charset="0"/>
                <a:ea typeface="Quattrocento Sans" pitchFamily="34" charset="-122"/>
                <a:cs typeface="Quattrocento Sans" pitchFamily="34" charset="-120"/>
              </a:rPr>
              <a:t>Real-time bidirectional messaging</a:t>
            </a:r>
            <a:endParaRPr lang="en-US" sz="1600" dirty="0"/>
          </a:p>
        </p:txBody>
      </p:sp>
      <p:sp>
        <p:nvSpPr>
          <p:cNvPr id="42" name="Shape 40"/>
          <p:cNvSpPr/>
          <p:nvPr/>
        </p:nvSpPr>
        <p:spPr>
          <a:xfrm>
            <a:off x="7089637" y="2400196"/>
            <a:ext cx="4468185" cy="398649"/>
          </a:xfrm>
          <a:custGeom>
            <a:avLst/>
            <a:gdLst/>
            <a:ahLst/>
            <a:cxnLst/>
            <a:rect l="l" t="t" r="r" b="b"/>
            <a:pathLst>
              <a:path w="4468185" h="398649">
                <a:moveTo>
                  <a:pt x="33219" y="0"/>
                </a:moveTo>
                <a:lnTo>
                  <a:pt x="4434966" y="0"/>
                </a:lnTo>
                <a:cubicBezTo>
                  <a:pt x="4453312" y="0"/>
                  <a:pt x="4468185" y="14873"/>
                  <a:pt x="4468185" y="33219"/>
                </a:cubicBezTo>
                <a:lnTo>
                  <a:pt x="4468185" y="365429"/>
                </a:lnTo>
                <a:cubicBezTo>
                  <a:pt x="4468185" y="383776"/>
                  <a:pt x="4453312" y="398649"/>
                  <a:pt x="4434966" y="398649"/>
                </a:cubicBezTo>
                <a:lnTo>
                  <a:pt x="33219" y="398649"/>
                </a:lnTo>
                <a:cubicBezTo>
                  <a:pt x="14885" y="398649"/>
                  <a:pt x="0" y="383763"/>
                  <a:pt x="0" y="365429"/>
                </a:cubicBezTo>
                <a:lnTo>
                  <a:pt x="0" y="33219"/>
                </a:lnTo>
                <a:cubicBezTo>
                  <a:pt x="0" y="14885"/>
                  <a:pt x="14885" y="0"/>
                  <a:pt x="33219" y="0"/>
                </a:cubicBezTo>
                <a:close/>
              </a:path>
            </a:pathLst>
          </a:custGeom>
          <a:solidFill>
            <a:srgbClr val="EAE7D6"/>
          </a:solidFill>
          <a:ln/>
        </p:spPr>
        <p:txBody>
          <a:bodyPr/>
          <a:lstStyle/>
          <a:p>
            <a:endParaRPr lang="en-US"/>
          </a:p>
        </p:txBody>
      </p:sp>
      <p:sp>
        <p:nvSpPr>
          <p:cNvPr id="43" name="Text 41"/>
          <p:cNvSpPr/>
          <p:nvPr/>
        </p:nvSpPr>
        <p:spPr>
          <a:xfrm>
            <a:off x="7089637" y="2400196"/>
            <a:ext cx="4518016" cy="398649"/>
          </a:xfrm>
          <a:prstGeom prst="rect">
            <a:avLst/>
          </a:prstGeom>
          <a:noFill/>
          <a:ln/>
        </p:spPr>
        <p:txBody>
          <a:bodyPr wrap="square" lIns="66441" tIns="66441" rIns="66441" bIns="66441" rtlCol="0" anchor="ctr"/>
          <a:lstStyle/>
          <a:p>
            <a:pPr>
              <a:lnSpc>
                <a:spcPct val="110000"/>
              </a:lnSpc>
            </a:pPr>
            <a:r>
              <a:rPr lang="en-US" sz="785" dirty="0">
                <a:solidFill>
                  <a:srgbClr val="E07A5F"/>
                </a:solidFill>
                <a:latin typeface="MiSans" pitchFamily="34" charset="0"/>
                <a:ea typeface="MiSans" pitchFamily="34" charset="-122"/>
                <a:cs typeface="MiSans" pitchFamily="34" charset="-120"/>
              </a:rPr>
              <a:t>socket.on('data', readMsg)</a:t>
            </a:r>
            <a:endParaRPr lang="en-US" sz="1600" dirty="0"/>
          </a:p>
          <a:p>
            <a:pPr>
              <a:lnSpc>
                <a:spcPct val="110000"/>
              </a:lnSpc>
            </a:pPr>
            <a:r>
              <a:rPr lang="en-US" sz="785" dirty="0">
                <a:solidFill>
                  <a:srgbClr val="E07A5F"/>
                </a:solidFill>
                <a:latin typeface="MiSans" pitchFamily="34" charset="0"/>
                <a:ea typeface="MiSans" pitchFamily="34" charset="-122"/>
                <a:cs typeface="MiSans" pitchFamily="34" charset="-120"/>
              </a:rPr>
              <a:t>socket.write(sendMsg)</a:t>
            </a:r>
            <a:endParaRPr lang="en-US" sz="1600" dirty="0"/>
          </a:p>
        </p:txBody>
      </p:sp>
      <p:sp>
        <p:nvSpPr>
          <p:cNvPr id="44" name="Shape 42"/>
          <p:cNvSpPr/>
          <p:nvPr/>
        </p:nvSpPr>
        <p:spPr>
          <a:xfrm>
            <a:off x="6940143" y="3031390"/>
            <a:ext cx="4750561" cy="764076"/>
          </a:xfrm>
          <a:custGeom>
            <a:avLst/>
            <a:gdLst/>
            <a:ahLst/>
            <a:cxnLst/>
            <a:rect l="l" t="t" r="r" b="b"/>
            <a:pathLst>
              <a:path w="4750561" h="764076">
                <a:moveTo>
                  <a:pt x="33221" y="0"/>
                </a:moveTo>
                <a:lnTo>
                  <a:pt x="4684117" y="0"/>
                </a:lnTo>
                <a:cubicBezTo>
                  <a:pt x="4720789" y="0"/>
                  <a:pt x="4750561" y="29773"/>
                  <a:pt x="4750561" y="66444"/>
                </a:cubicBezTo>
                <a:lnTo>
                  <a:pt x="4750561" y="697632"/>
                </a:lnTo>
                <a:cubicBezTo>
                  <a:pt x="4750561" y="734328"/>
                  <a:pt x="4720813" y="764076"/>
                  <a:pt x="4684117" y="764076"/>
                </a:cubicBezTo>
                <a:lnTo>
                  <a:pt x="33221" y="764076"/>
                </a:lnTo>
                <a:cubicBezTo>
                  <a:pt x="14873" y="764076"/>
                  <a:pt x="0" y="749203"/>
                  <a:pt x="0" y="730856"/>
                </a:cubicBezTo>
                <a:lnTo>
                  <a:pt x="0" y="33221"/>
                </a:lnTo>
                <a:cubicBezTo>
                  <a:pt x="0" y="14873"/>
                  <a:pt x="14873" y="0"/>
                  <a:pt x="33221" y="0"/>
                </a:cubicBezTo>
                <a:close/>
              </a:path>
            </a:pathLst>
          </a:custGeom>
          <a:solidFill>
            <a:srgbClr val="EAE7D6"/>
          </a:solidFill>
          <a:ln/>
        </p:spPr>
        <p:txBody>
          <a:bodyPr/>
          <a:lstStyle/>
          <a:p>
            <a:endParaRPr lang="en-US"/>
          </a:p>
        </p:txBody>
      </p:sp>
      <p:sp>
        <p:nvSpPr>
          <p:cNvPr id="45" name="Shape 43"/>
          <p:cNvSpPr/>
          <p:nvPr/>
        </p:nvSpPr>
        <p:spPr>
          <a:xfrm>
            <a:off x="6940143" y="3031390"/>
            <a:ext cx="33221" cy="764076"/>
          </a:xfrm>
          <a:custGeom>
            <a:avLst/>
            <a:gdLst/>
            <a:ahLst/>
            <a:cxnLst/>
            <a:rect l="l" t="t" r="r" b="b"/>
            <a:pathLst>
              <a:path w="33221" h="764076">
                <a:moveTo>
                  <a:pt x="33221" y="0"/>
                </a:moveTo>
                <a:lnTo>
                  <a:pt x="33221" y="0"/>
                </a:lnTo>
                <a:lnTo>
                  <a:pt x="33221" y="764076"/>
                </a:lnTo>
                <a:lnTo>
                  <a:pt x="33221" y="764076"/>
                </a:lnTo>
                <a:cubicBezTo>
                  <a:pt x="14873" y="764076"/>
                  <a:pt x="0" y="749203"/>
                  <a:pt x="0" y="730856"/>
                </a:cubicBezTo>
                <a:lnTo>
                  <a:pt x="0" y="33221"/>
                </a:lnTo>
                <a:cubicBezTo>
                  <a:pt x="0" y="14886"/>
                  <a:pt x="14886" y="0"/>
                  <a:pt x="33221" y="0"/>
                </a:cubicBezTo>
                <a:close/>
              </a:path>
            </a:pathLst>
          </a:custGeom>
          <a:solidFill>
            <a:srgbClr val="8D99AE"/>
          </a:solidFill>
          <a:ln/>
        </p:spPr>
        <p:txBody>
          <a:bodyPr/>
          <a:lstStyle/>
          <a:p>
            <a:endParaRPr lang="en-US"/>
          </a:p>
        </p:txBody>
      </p:sp>
      <p:sp>
        <p:nvSpPr>
          <p:cNvPr id="46" name="Shape 44"/>
          <p:cNvSpPr/>
          <p:nvPr/>
        </p:nvSpPr>
        <p:spPr>
          <a:xfrm>
            <a:off x="7114552" y="3214104"/>
            <a:ext cx="116272" cy="132883"/>
          </a:xfrm>
          <a:custGeom>
            <a:avLst/>
            <a:gdLst/>
            <a:ahLst/>
            <a:cxnLst/>
            <a:rect l="l" t="t" r="r" b="b"/>
            <a:pathLst>
              <a:path w="116272" h="132883">
                <a:moveTo>
                  <a:pt x="16610" y="8305"/>
                </a:moveTo>
                <a:cubicBezTo>
                  <a:pt x="7449" y="8305"/>
                  <a:pt x="0" y="15754"/>
                  <a:pt x="0" y="24916"/>
                </a:cubicBezTo>
                <a:lnTo>
                  <a:pt x="0" y="41526"/>
                </a:lnTo>
                <a:cubicBezTo>
                  <a:pt x="0" y="50688"/>
                  <a:pt x="7449" y="58136"/>
                  <a:pt x="16610" y="58136"/>
                </a:cubicBezTo>
                <a:lnTo>
                  <a:pt x="99662" y="58136"/>
                </a:lnTo>
                <a:cubicBezTo>
                  <a:pt x="108824" y="58136"/>
                  <a:pt x="116272" y="50688"/>
                  <a:pt x="116272" y="41526"/>
                </a:cubicBezTo>
                <a:lnTo>
                  <a:pt x="116272" y="24916"/>
                </a:lnTo>
                <a:cubicBezTo>
                  <a:pt x="116272" y="15754"/>
                  <a:pt x="108824" y="8305"/>
                  <a:pt x="99662" y="8305"/>
                </a:cubicBezTo>
                <a:lnTo>
                  <a:pt x="16610" y="8305"/>
                </a:lnTo>
                <a:close/>
                <a:moveTo>
                  <a:pt x="72670" y="26992"/>
                </a:moveTo>
                <a:cubicBezTo>
                  <a:pt x="76108" y="26992"/>
                  <a:pt x="78899" y="29783"/>
                  <a:pt x="78899" y="33221"/>
                </a:cubicBezTo>
                <a:cubicBezTo>
                  <a:pt x="78899" y="36659"/>
                  <a:pt x="76108" y="39450"/>
                  <a:pt x="72670" y="39450"/>
                </a:cubicBezTo>
                <a:cubicBezTo>
                  <a:pt x="69232" y="39450"/>
                  <a:pt x="66441" y="36659"/>
                  <a:pt x="66441" y="33221"/>
                </a:cubicBezTo>
                <a:cubicBezTo>
                  <a:pt x="66441" y="29783"/>
                  <a:pt x="69232" y="26992"/>
                  <a:pt x="72670" y="26992"/>
                </a:cubicBezTo>
                <a:close/>
                <a:moveTo>
                  <a:pt x="87204" y="33221"/>
                </a:moveTo>
                <a:cubicBezTo>
                  <a:pt x="87204" y="29783"/>
                  <a:pt x="89995" y="26992"/>
                  <a:pt x="93433" y="26992"/>
                </a:cubicBezTo>
                <a:cubicBezTo>
                  <a:pt x="96871" y="26992"/>
                  <a:pt x="99662" y="29783"/>
                  <a:pt x="99662" y="33221"/>
                </a:cubicBezTo>
                <a:cubicBezTo>
                  <a:pt x="99662" y="36659"/>
                  <a:pt x="96871" y="39450"/>
                  <a:pt x="93433" y="39450"/>
                </a:cubicBezTo>
                <a:cubicBezTo>
                  <a:pt x="89995" y="39450"/>
                  <a:pt x="87204" y="36659"/>
                  <a:pt x="87204" y="33221"/>
                </a:cubicBezTo>
                <a:close/>
                <a:moveTo>
                  <a:pt x="16610" y="74747"/>
                </a:moveTo>
                <a:cubicBezTo>
                  <a:pt x="7449" y="74747"/>
                  <a:pt x="0" y="82195"/>
                  <a:pt x="0" y="91357"/>
                </a:cubicBezTo>
                <a:lnTo>
                  <a:pt x="0" y="107967"/>
                </a:lnTo>
                <a:cubicBezTo>
                  <a:pt x="0" y="117129"/>
                  <a:pt x="7449" y="124578"/>
                  <a:pt x="16610" y="124578"/>
                </a:cubicBezTo>
                <a:lnTo>
                  <a:pt x="99662" y="124578"/>
                </a:lnTo>
                <a:cubicBezTo>
                  <a:pt x="108824" y="124578"/>
                  <a:pt x="116272" y="117129"/>
                  <a:pt x="116272" y="107967"/>
                </a:cubicBezTo>
                <a:lnTo>
                  <a:pt x="116272" y="91357"/>
                </a:lnTo>
                <a:cubicBezTo>
                  <a:pt x="116272" y="82195"/>
                  <a:pt x="108824" y="74747"/>
                  <a:pt x="99662" y="74747"/>
                </a:cubicBezTo>
                <a:lnTo>
                  <a:pt x="16610" y="74747"/>
                </a:lnTo>
                <a:close/>
                <a:moveTo>
                  <a:pt x="72670" y="93433"/>
                </a:moveTo>
                <a:cubicBezTo>
                  <a:pt x="76108" y="93433"/>
                  <a:pt x="78899" y="96224"/>
                  <a:pt x="78899" y="99662"/>
                </a:cubicBezTo>
                <a:cubicBezTo>
                  <a:pt x="78899" y="103100"/>
                  <a:pt x="76108" y="105891"/>
                  <a:pt x="72670" y="105891"/>
                </a:cubicBezTo>
                <a:cubicBezTo>
                  <a:pt x="69232" y="105891"/>
                  <a:pt x="66441" y="103100"/>
                  <a:pt x="66441" y="99662"/>
                </a:cubicBezTo>
                <a:cubicBezTo>
                  <a:pt x="66441" y="96224"/>
                  <a:pt x="69232" y="93433"/>
                  <a:pt x="72670" y="93433"/>
                </a:cubicBezTo>
                <a:close/>
                <a:moveTo>
                  <a:pt x="87204" y="99662"/>
                </a:moveTo>
                <a:cubicBezTo>
                  <a:pt x="87204" y="96224"/>
                  <a:pt x="89995" y="93433"/>
                  <a:pt x="93433" y="93433"/>
                </a:cubicBezTo>
                <a:cubicBezTo>
                  <a:pt x="96871" y="93433"/>
                  <a:pt x="99662" y="96224"/>
                  <a:pt x="99662" y="99662"/>
                </a:cubicBezTo>
                <a:cubicBezTo>
                  <a:pt x="99662" y="103100"/>
                  <a:pt x="96871" y="105891"/>
                  <a:pt x="93433" y="105891"/>
                </a:cubicBezTo>
                <a:cubicBezTo>
                  <a:pt x="89995" y="105891"/>
                  <a:pt x="87204" y="103100"/>
                  <a:pt x="87204" y="99662"/>
                </a:cubicBezTo>
                <a:close/>
              </a:path>
            </a:pathLst>
          </a:custGeom>
          <a:solidFill>
            <a:srgbClr val="8D99AE"/>
          </a:solidFill>
          <a:ln/>
        </p:spPr>
        <p:txBody>
          <a:bodyPr/>
          <a:lstStyle/>
          <a:p>
            <a:endParaRPr lang="en-US"/>
          </a:p>
        </p:txBody>
      </p:sp>
      <p:sp>
        <p:nvSpPr>
          <p:cNvPr id="47" name="Text 45"/>
          <p:cNvSpPr/>
          <p:nvPr/>
        </p:nvSpPr>
        <p:spPr>
          <a:xfrm>
            <a:off x="7322182" y="3164272"/>
            <a:ext cx="1278997" cy="232545"/>
          </a:xfrm>
          <a:prstGeom prst="rect">
            <a:avLst/>
          </a:prstGeom>
          <a:noFill/>
          <a:ln/>
        </p:spPr>
        <p:txBody>
          <a:bodyPr wrap="square" lIns="0" tIns="0" rIns="0" bIns="0" rtlCol="0" anchor="ctr"/>
          <a:lstStyle/>
          <a:p>
            <a:pPr>
              <a:lnSpc>
                <a:spcPct val="130000"/>
              </a:lnSpc>
            </a:pPr>
            <a:r>
              <a:rPr lang="en-US" sz="1177" b="1" dirty="0">
                <a:solidFill>
                  <a:srgbClr val="2D3142"/>
                </a:solidFill>
                <a:latin typeface="Quattrocento Sans" pitchFamily="34" charset="0"/>
                <a:ea typeface="Quattrocento Sans" pitchFamily="34" charset="-122"/>
                <a:cs typeface="Quattrocento Sans" pitchFamily="34" charset="-120"/>
              </a:rPr>
              <a:t>Network Protocols</a:t>
            </a:r>
            <a:endParaRPr lang="en-US" sz="1600" dirty="0"/>
          </a:p>
        </p:txBody>
      </p:sp>
      <p:sp>
        <p:nvSpPr>
          <p:cNvPr id="48" name="Text 46"/>
          <p:cNvSpPr/>
          <p:nvPr/>
        </p:nvSpPr>
        <p:spPr>
          <a:xfrm>
            <a:off x="7089637" y="3463259"/>
            <a:ext cx="4534627" cy="199324"/>
          </a:xfrm>
          <a:prstGeom prst="rect">
            <a:avLst/>
          </a:prstGeom>
          <a:noFill/>
          <a:ln/>
        </p:spPr>
        <p:txBody>
          <a:bodyPr wrap="square" lIns="0" tIns="0" rIns="0" bIns="0" rtlCol="0" anchor="ctr"/>
          <a:lstStyle/>
          <a:p>
            <a:pPr>
              <a:lnSpc>
                <a:spcPct val="130000"/>
              </a:lnSpc>
            </a:pPr>
            <a:r>
              <a:rPr lang="en-US" sz="1046" dirty="0">
                <a:solidFill>
                  <a:srgbClr val="8D99AE"/>
                </a:solidFill>
                <a:latin typeface="Quattrocento Sans" pitchFamily="34" charset="0"/>
                <a:ea typeface="Quattrocento Sans" pitchFamily="34" charset="-122"/>
                <a:cs typeface="Quattrocento Sans" pitchFamily="34" charset="-120"/>
              </a:rPr>
              <a:t>Custom protocol implementations</a:t>
            </a:r>
            <a:endParaRPr lang="en-US" sz="1600" dirty="0"/>
          </a:p>
        </p:txBody>
      </p:sp>
      <p:sp>
        <p:nvSpPr>
          <p:cNvPr id="49" name="Shape 47"/>
          <p:cNvSpPr/>
          <p:nvPr/>
        </p:nvSpPr>
        <p:spPr>
          <a:xfrm>
            <a:off x="6940143" y="3895128"/>
            <a:ext cx="4750561" cy="764076"/>
          </a:xfrm>
          <a:custGeom>
            <a:avLst/>
            <a:gdLst/>
            <a:ahLst/>
            <a:cxnLst/>
            <a:rect l="l" t="t" r="r" b="b"/>
            <a:pathLst>
              <a:path w="4750561" h="764076">
                <a:moveTo>
                  <a:pt x="33221" y="0"/>
                </a:moveTo>
                <a:lnTo>
                  <a:pt x="4684117" y="0"/>
                </a:lnTo>
                <a:cubicBezTo>
                  <a:pt x="4720789" y="0"/>
                  <a:pt x="4750561" y="29773"/>
                  <a:pt x="4750561" y="66444"/>
                </a:cubicBezTo>
                <a:lnTo>
                  <a:pt x="4750561" y="697632"/>
                </a:lnTo>
                <a:cubicBezTo>
                  <a:pt x="4750561" y="734328"/>
                  <a:pt x="4720813" y="764076"/>
                  <a:pt x="4684117" y="764076"/>
                </a:cubicBezTo>
                <a:lnTo>
                  <a:pt x="33221" y="764076"/>
                </a:lnTo>
                <a:cubicBezTo>
                  <a:pt x="14873" y="764076"/>
                  <a:pt x="0" y="749203"/>
                  <a:pt x="0" y="730856"/>
                </a:cubicBezTo>
                <a:lnTo>
                  <a:pt x="0" y="33221"/>
                </a:lnTo>
                <a:cubicBezTo>
                  <a:pt x="0" y="14873"/>
                  <a:pt x="14873" y="0"/>
                  <a:pt x="33221" y="0"/>
                </a:cubicBezTo>
                <a:close/>
              </a:path>
            </a:pathLst>
          </a:custGeom>
          <a:solidFill>
            <a:srgbClr val="EAE7D6"/>
          </a:solidFill>
          <a:ln/>
        </p:spPr>
        <p:txBody>
          <a:bodyPr/>
          <a:lstStyle/>
          <a:p>
            <a:endParaRPr lang="en-US"/>
          </a:p>
        </p:txBody>
      </p:sp>
      <p:sp>
        <p:nvSpPr>
          <p:cNvPr id="50" name="Shape 48"/>
          <p:cNvSpPr/>
          <p:nvPr/>
        </p:nvSpPr>
        <p:spPr>
          <a:xfrm>
            <a:off x="6940143" y="3895128"/>
            <a:ext cx="33221" cy="764076"/>
          </a:xfrm>
          <a:custGeom>
            <a:avLst/>
            <a:gdLst/>
            <a:ahLst/>
            <a:cxnLst/>
            <a:rect l="l" t="t" r="r" b="b"/>
            <a:pathLst>
              <a:path w="33221" h="764076">
                <a:moveTo>
                  <a:pt x="33221" y="0"/>
                </a:moveTo>
                <a:lnTo>
                  <a:pt x="33221" y="0"/>
                </a:lnTo>
                <a:lnTo>
                  <a:pt x="33221" y="764076"/>
                </a:lnTo>
                <a:lnTo>
                  <a:pt x="33221" y="764076"/>
                </a:lnTo>
                <a:cubicBezTo>
                  <a:pt x="14873" y="764076"/>
                  <a:pt x="0" y="749203"/>
                  <a:pt x="0" y="730856"/>
                </a:cubicBezTo>
                <a:lnTo>
                  <a:pt x="0" y="33221"/>
                </a:lnTo>
                <a:cubicBezTo>
                  <a:pt x="0" y="14886"/>
                  <a:pt x="14886" y="0"/>
                  <a:pt x="33221" y="0"/>
                </a:cubicBezTo>
                <a:close/>
              </a:path>
            </a:pathLst>
          </a:custGeom>
          <a:solidFill>
            <a:srgbClr val="8D99AE"/>
          </a:solidFill>
          <a:ln/>
        </p:spPr>
        <p:txBody>
          <a:bodyPr/>
          <a:lstStyle/>
          <a:p>
            <a:endParaRPr lang="en-US"/>
          </a:p>
        </p:txBody>
      </p:sp>
      <p:sp>
        <p:nvSpPr>
          <p:cNvPr id="51" name="Shape 49"/>
          <p:cNvSpPr/>
          <p:nvPr/>
        </p:nvSpPr>
        <p:spPr>
          <a:xfrm>
            <a:off x="7114552" y="4077842"/>
            <a:ext cx="116272" cy="132883"/>
          </a:xfrm>
          <a:custGeom>
            <a:avLst/>
            <a:gdLst/>
            <a:ahLst/>
            <a:cxnLst/>
            <a:rect l="l" t="t" r="r" b="b"/>
            <a:pathLst>
              <a:path w="116272" h="132883">
                <a:moveTo>
                  <a:pt x="33221" y="-8305"/>
                </a:moveTo>
                <a:cubicBezTo>
                  <a:pt x="37815" y="-8305"/>
                  <a:pt x="41526" y="-4594"/>
                  <a:pt x="41526" y="0"/>
                </a:cubicBezTo>
                <a:lnTo>
                  <a:pt x="41526" y="24916"/>
                </a:lnTo>
                <a:lnTo>
                  <a:pt x="74747" y="24916"/>
                </a:lnTo>
                <a:lnTo>
                  <a:pt x="74747" y="0"/>
                </a:lnTo>
                <a:cubicBezTo>
                  <a:pt x="74747" y="-4594"/>
                  <a:pt x="78458" y="-8305"/>
                  <a:pt x="83052" y="-8305"/>
                </a:cubicBezTo>
                <a:cubicBezTo>
                  <a:pt x="87646" y="-8305"/>
                  <a:pt x="91357" y="-4594"/>
                  <a:pt x="91357" y="0"/>
                </a:cubicBezTo>
                <a:lnTo>
                  <a:pt x="91357" y="24916"/>
                </a:lnTo>
                <a:lnTo>
                  <a:pt x="107967" y="24916"/>
                </a:lnTo>
                <a:cubicBezTo>
                  <a:pt x="112561" y="24916"/>
                  <a:pt x="116272" y="28627"/>
                  <a:pt x="116272" y="33221"/>
                </a:cubicBezTo>
                <a:cubicBezTo>
                  <a:pt x="116272" y="37815"/>
                  <a:pt x="112561" y="41526"/>
                  <a:pt x="107967" y="41526"/>
                </a:cubicBezTo>
                <a:lnTo>
                  <a:pt x="107967" y="58136"/>
                </a:lnTo>
                <a:cubicBezTo>
                  <a:pt x="107967" y="82818"/>
                  <a:pt x="90007" y="103322"/>
                  <a:pt x="66441" y="107267"/>
                </a:cubicBezTo>
                <a:lnTo>
                  <a:pt x="66441" y="124578"/>
                </a:lnTo>
                <a:cubicBezTo>
                  <a:pt x="66441" y="129171"/>
                  <a:pt x="62730" y="132883"/>
                  <a:pt x="58136" y="132883"/>
                </a:cubicBezTo>
                <a:cubicBezTo>
                  <a:pt x="53542" y="132883"/>
                  <a:pt x="49831" y="129171"/>
                  <a:pt x="49831" y="124578"/>
                </a:cubicBezTo>
                <a:lnTo>
                  <a:pt x="49831" y="107267"/>
                </a:lnTo>
                <a:cubicBezTo>
                  <a:pt x="26265" y="103322"/>
                  <a:pt x="8305" y="82818"/>
                  <a:pt x="8305" y="58136"/>
                </a:cubicBezTo>
                <a:lnTo>
                  <a:pt x="8305" y="41526"/>
                </a:lnTo>
                <a:cubicBezTo>
                  <a:pt x="3711" y="41526"/>
                  <a:pt x="0" y="37815"/>
                  <a:pt x="0" y="33221"/>
                </a:cubicBezTo>
                <a:cubicBezTo>
                  <a:pt x="0" y="28627"/>
                  <a:pt x="3711" y="24916"/>
                  <a:pt x="8305" y="24916"/>
                </a:cubicBezTo>
                <a:lnTo>
                  <a:pt x="24916" y="24916"/>
                </a:lnTo>
                <a:lnTo>
                  <a:pt x="24916" y="0"/>
                </a:lnTo>
                <a:cubicBezTo>
                  <a:pt x="24916" y="-4594"/>
                  <a:pt x="28627" y="-8305"/>
                  <a:pt x="33221" y="-8305"/>
                </a:cubicBezTo>
                <a:close/>
              </a:path>
            </a:pathLst>
          </a:custGeom>
          <a:solidFill>
            <a:srgbClr val="2D3142"/>
          </a:solidFill>
          <a:ln/>
        </p:spPr>
        <p:txBody>
          <a:bodyPr/>
          <a:lstStyle/>
          <a:p>
            <a:endParaRPr lang="en-US"/>
          </a:p>
        </p:txBody>
      </p:sp>
      <p:sp>
        <p:nvSpPr>
          <p:cNvPr id="52" name="Text 50"/>
          <p:cNvSpPr/>
          <p:nvPr/>
        </p:nvSpPr>
        <p:spPr>
          <a:xfrm>
            <a:off x="7322182" y="4028011"/>
            <a:ext cx="971706" cy="232545"/>
          </a:xfrm>
          <a:prstGeom prst="rect">
            <a:avLst/>
          </a:prstGeom>
          <a:noFill/>
          <a:ln/>
        </p:spPr>
        <p:txBody>
          <a:bodyPr wrap="square" lIns="0" tIns="0" rIns="0" bIns="0" rtlCol="0" anchor="ctr"/>
          <a:lstStyle/>
          <a:p>
            <a:pPr>
              <a:lnSpc>
                <a:spcPct val="130000"/>
              </a:lnSpc>
            </a:pPr>
            <a:r>
              <a:rPr lang="en-US" sz="1177" b="1" dirty="0">
                <a:solidFill>
                  <a:srgbClr val="2D3142"/>
                </a:solidFill>
                <a:latin typeface="Quattrocento Sans" pitchFamily="34" charset="0"/>
                <a:ea typeface="Quattrocento Sans" pitchFamily="34" charset="-122"/>
                <a:cs typeface="Quattrocento Sans" pitchFamily="34" charset="-120"/>
              </a:rPr>
              <a:t>Proxy Servers</a:t>
            </a:r>
            <a:endParaRPr lang="en-US" sz="1600" dirty="0"/>
          </a:p>
        </p:txBody>
      </p:sp>
      <p:sp>
        <p:nvSpPr>
          <p:cNvPr id="53" name="Text 51"/>
          <p:cNvSpPr/>
          <p:nvPr/>
        </p:nvSpPr>
        <p:spPr>
          <a:xfrm>
            <a:off x="7089637" y="4326997"/>
            <a:ext cx="4534627" cy="199324"/>
          </a:xfrm>
          <a:prstGeom prst="rect">
            <a:avLst/>
          </a:prstGeom>
          <a:noFill/>
          <a:ln/>
        </p:spPr>
        <p:txBody>
          <a:bodyPr wrap="square" lIns="0" tIns="0" rIns="0" bIns="0" rtlCol="0" anchor="ctr"/>
          <a:lstStyle/>
          <a:p>
            <a:pPr>
              <a:lnSpc>
                <a:spcPct val="130000"/>
              </a:lnSpc>
            </a:pPr>
            <a:r>
              <a:rPr lang="en-US" sz="1046" dirty="0">
                <a:solidFill>
                  <a:srgbClr val="8D99AE"/>
                </a:solidFill>
                <a:latin typeface="Quattrocento Sans" pitchFamily="34" charset="0"/>
                <a:ea typeface="Quattrocento Sans" pitchFamily="34" charset="-122"/>
                <a:cs typeface="Quattrocento Sans" pitchFamily="34" charset="-120"/>
              </a:rPr>
              <a:t>Forward traffic in both directions</a:t>
            </a:r>
            <a:endParaRPr lang="en-US" sz="1600" dirty="0"/>
          </a:p>
        </p:txBody>
      </p:sp>
      <p:sp>
        <p:nvSpPr>
          <p:cNvPr id="54" name="Shape 52"/>
          <p:cNvSpPr/>
          <p:nvPr/>
        </p:nvSpPr>
        <p:spPr>
          <a:xfrm>
            <a:off x="6753277" y="4970649"/>
            <a:ext cx="5107684" cy="1702561"/>
          </a:xfrm>
          <a:custGeom>
            <a:avLst/>
            <a:gdLst/>
            <a:ahLst/>
            <a:cxnLst/>
            <a:rect l="l" t="t" r="r" b="b"/>
            <a:pathLst>
              <a:path w="5107684" h="1702561">
                <a:moveTo>
                  <a:pt x="99668" y="0"/>
                </a:moveTo>
                <a:lnTo>
                  <a:pt x="5008016" y="0"/>
                </a:lnTo>
                <a:cubicBezTo>
                  <a:pt x="5063061" y="0"/>
                  <a:pt x="5107684" y="44623"/>
                  <a:pt x="5107684" y="99668"/>
                </a:cubicBezTo>
                <a:lnTo>
                  <a:pt x="5107684" y="1602893"/>
                </a:lnTo>
                <a:cubicBezTo>
                  <a:pt x="5107684" y="1657938"/>
                  <a:pt x="5063061" y="1702561"/>
                  <a:pt x="5008016" y="1702561"/>
                </a:cubicBezTo>
                <a:lnTo>
                  <a:pt x="99668" y="1702561"/>
                </a:lnTo>
                <a:cubicBezTo>
                  <a:pt x="44623" y="1702561"/>
                  <a:pt x="0" y="1657938"/>
                  <a:pt x="0" y="1602893"/>
                </a:cubicBezTo>
                <a:lnTo>
                  <a:pt x="0" y="99668"/>
                </a:lnTo>
                <a:cubicBezTo>
                  <a:pt x="0" y="44660"/>
                  <a:pt x="44660" y="0"/>
                  <a:pt x="99668" y="0"/>
                </a:cubicBezTo>
                <a:close/>
              </a:path>
            </a:pathLst>
          </a:custGeom>
          <a:solidFill>
            <a:srgbClr val="EAE7D6"/>
          </a:solidFill>
          <a:ln/>
        </p:spPr>
        <p:txBody>
          <a:bodyPr/>
          <a:lstStyle/>
          <a:p>
            <a:endParaRPr lang="en-US"/>
          </a:p>
        </p:txBody>
      </p:sp>
      <p:sp>
        <p:nvSpPr>
          <p:cNvPr id="55" name="Shape 53"/>
          <p:cNvSpPr/>
          <p:nvPr/>
        </p:nvSpPr>
        <p:spPr>
          <a:xfrm>
            <a:off x="6954677" y="5174125"/>
            <a:ext cx="145341" cy="166104"/>
          </a:xfrm>
          <a:custGeom>
            <a:avLst/>
            <a:gdLst/>
            <a:ahLst/>
            <a:cxnLst/>
            <a:rect l="l" t="t" r="r" b="b"/>
            <a:pathLst>
              <a:path w="145341" h="166104">
                <a:moveTo>
                  <a:pt x="25954" y="33740"/>
                </a:moveTo>
                <a:cubicBezTo>
                  <a:pt x="30251" y="33740"/>
                  <a:pt x="33740" y="30251"/>
                  <a:pt x="33740" y="25954"/>
                </a:cubicBezTo>
                <a:cubicBezTo>
                  <a:pt x="33740" y="21656"/>
                  <a:pt x="30251" y="18168"/>
                  <a:pt x="25954" y="18168"/>
                </a:cubicBezTo>
                <a:cubicBezTo>
                  <a:pt x="21656" y="18168"/>
                  <a:pt x="18168" y="21656"/>
                  <a:pt x="18168" y="25954"/>
                </a:cubicBezTo>
                <a:cubicBezTo>
                  <a:pt x="18168" y="30251"/>
                  <a:pt x="21656" y="33740"/>
                  <a:pt x="25954" y="33740"/>
                </a:cubicBezTo>
                <a:close/>
                <a:moveTo>
                  <a:pt x="51907" y="25954"/>
                </a:moveTo>
                <a:cubicBezTo>
                  <a:pt x="51907" y="36595"/>
                  <a:pt x="45516" y="45743"/>
                  <a:pt x="36335" y="49734"/>
                </a:cubicBezTo>
                <a:lnTo>
                  <a:pt x="36335" y="72670"/>
                </a:lnTo>
                <a:lnTo>
                  <a:pt x="93433" y="72670"/>
                </a:lnTo>
                <a:cubicBezTo>
                  <a:pt x="102030" y="72670"/>
                  <a:pt x="109005" y="65695"/>
                  <a:pt x="109005" y="57098"/>
                </a:cubicBezTo>
                <a:lnTo>
                  <a:pt x="109005" y="49734"/>
                </a:lnTo>
                <a:cubicBezTo>
                  <a:pt x="99824" y="45743"/>
                  <a:pt x="93433" y="36595"/>
                  <a:pt x="93433" y="25954"/>
                </a:cubicBezTo>
                <a:cubicBezTo>
                  <a:pt x="93433" y="11614"/>
                  <a:pt x="105048" y="0"/>
                  <a:pt x="119387" y="0"/>
                </a:cubicBezTo>
                <a:cubicBezTo>
                  <a:pt x="133726" y="0"/>
                  <a:pt x="145341" y="11614"/>
                  <a:pt x="145341" y="25954"/>
                </a:cubicBezTo>
                <a:cubicBezTo>
                  <a:pt x="145341" y="36595"/>
                  <a:pt x="138950" y="45743"/>
                  <a:pt x="129768" y="49734"/>
                </a:cubicBezTo>
                <a:lnTo>
                  <a:pt x="129768" y="57098"/>
                </a:lnTo>
                <a:cubicBezTo>
                  <a:pt x="129768" y="77180"/>
                  <a:pt x="113515" y="93433"/>
                  <a:pt x="93433" y="93433"/>
                </a:cubicBezTo>
                <a:lnTo>
                  <a:pt x="36335" y="93433"/>
                </a:lnTo>
                <a:lnTo>
                  <a:pt x="36335" y="116370"/>
                </a:lnTo>
                <a:cubicBezTo>
                  <a:pt x="45516" y="120360"/>
                  <a:pt x="51907" y="129509"/>
                  <a:pt x="51907" y="140150"/>
                </a:cubicBezTo>
                <a:cubicBezTo>
                  <a:pt x="51907" y="154489"/>
                  <a:pt x="40293" y="166104"/>
                  <a:pt x="25954" y="166104"/>
                </a:cubicBezTo>
                <a:cubicBezTo>
                  <a:pt x="11614" y="166104"/>
                  <a:pt x="0" y="154489"/>
                  <a:pt x="0" y="140150"/>
                </a:cubicBezTo>
                <a:cubicBezTo>
                  <a:pt x="0" y="129509"/>
                  <a:pt x="6391" y="120360"/>
                  <a:pt x="15572" y="116370"/>
                </a:cubicBezTo>
                <a:lnTo>
                  <a:pt x="15572" y="49766"/>
                </a:lnTo>
                <a:cubicBezTo>
                  <a:pt x="6391" y="45743"/>
                  <a:pt x="0" y="36595"/>
                  <a:pt x="0" y="25954"/>
                </a:cubicBezTo>
                <a:cubicBezTo>
                  <a:pt x="0" y="11614"/>
                  <a:pt x="11614" y="0"/>
                  <a:pt x="25954" y="0"/>
                </a:cubicBezTo>
                <a:cubicBezTo>
                  <a:pt x="40293" y="0"/>
                  <a:pt x="51907" y="11614"/>
                  <a:pt x="51907" y="25954"/>
                </a:cubicBezTo>
                <a:close/>
                <a:moveTo>
                  <a:pt x="127173" y="25954"/>
                </a:moveTo>
                <a:cubicBezTo>
                  <a:pt x="127173" y="21656"/>
                  <a:pt x="123684" y="18168"/>
                  <a:pt x="119387" y="18168"/>
                </a:cubicBezTo>
                <a:cubicBezTo>
                  <a:pt x="115090" y="18168"/>
                  <a:pt x="111601" y="21656"/>
                  <a:pt x="111601" y="25954"/>
                </a:cubicBezTo>
                <a:cubicBezTo>
                  <a:pt x="111601" y="30251"/>
                  <a:pt x="115090" y="33740"/>
                  <a:pt x="119387" y="33740"/>
                </a:cubicBezTo>
                <a:cubicBezTo>
                  <a:pt x="123684" y="33740"/>
                  <a:pt x="127173" y="30251"/>
                  <a:pt x="127173" y="25954"/>
                </a:cubicBezTo>
                <a:close/>
                <a:moveTo>
                  <a:pt x="25954" y="147936"/>
                </a:moveTo>
                <a:cubicBezTo>
                  <a:pt x="30251" y="147936"/>
                  <a:pt x="33740" y="144447"/>
                  <a:pt x="33740" y="140150"/>
                </a:cubicBezTo>
                <a:cubicBezTo>
                  <a:pt x="33740" y="135853"/>
                  <a:pt x="30251" y="132364"/>
                  <a:pt x="25954" y="132364"/>
                </a:cubicBezTo>
                <a:cubicBezTo>
                  <a:pt x="21656" y="132364"/>
                  <a:pt x="18168" y="135853"/>
                  <a:pt x="18168" y="140150"/>
                </a:cubicBezTo>
                <a:cubicBezTo>
                  <a:pt x="18168" y="144447"/>
                  <a:pt x="21656" y="147936"/>
                  <a:pt x="25954" y="147936"/>
                </a:cubicBezTo>
                <a:close/>
              </a:path>
            </a:pathLst>
          </a:custGeom>
          <a:solidFill>
            <a:srgbClr val="2D3142"/>
          </a:solidFill>
          <a:ln/>
        </p:spPr>
        <p:txBody>
          <a:bodyPr/>
          <a:lstStyle/>
          <a:p>
            <a:endParaRPr lang="en-US"/>
          </a:p>
        </p:txBody>
      </p:sp>
      <p:sp>
        <p:nvSpPr>
          <p:cNvPr id="56" name="Text 54"/>
          <p:cNvSpPr/>
          <p:nvPr/>
        </p:nvSpPr>
        <p:spPr>
          <a:xfrm>
            <a:off x="7230825" y="5140905"/>
            <a:ext cx="1220861" cy="232545"/>
          </a:xfrm>
          <a:prstGeom prst="rect">
            <a:avLst/>
          </a:prstGeom>
          <a:noFill/>
          <a:ln/>
        </p:spPr>
        <p:txBody>
          <a:bodyPr wrap="square" lIns="0" tIns="0" rIns="0" bIns="0" rtlCol="0" anchor="ctr"/>
          <a:lstStyle/>
          <a:p>
            <a:pPr>
              <a:lnSpc>
                <a:spcPct val="120000"/>
              </a:lnSpc>
            </a:pPr>
            <a:r>
              <a:rPr lang="en-US" sz="1308" b="1" dirty="0">
                <a:solidFill>
                  <a:srgbClr val="2D3142"/>
                </a:solidFill>
                <a:latin typeface="Quattrocento Sans" pitchFamily="34" charset="0"/>
                <a:ea typeface="Quattrocento Sans" pitchFamily="34" charset="-122"/>
                <a:cs typeface="Quattrocento Sans" pitchFamily="34" charset="-120"/>
              </a:rPr>
              <a:t>Implementation</a:t>
            </a:r>
            <a:endParaRPr lang="en-US" sz="1600" dirty="0"/>
          </a:p>
        </p:txBody>
      </p:sp>
      <p:sp>
        <p:nvSpPr>
          <p:cNvPr id="57" name="Shape 55"/>
          <p:cNvSpPr/>
          <p:nvPr/>
        </p:nvSpPr>
        <p:spPr>
          <a:xfrm>
            <a:off x="6923533" y="5473112"/>
            <a:ext cx="4767172" cy="1029842"/>
          </a:xfrm>
          <a:custGeom>
            <a:avLst/>
            <a:gdLst/>
            <a:ahLst/>
            <a:cxnLst/>
            <a:rect l="l" t="t" r="r" b="b"/>
            <a:pathLst>
              <a:path w="4767172" h="1029842">
                <a:moveTo>
                  <a:pt x="66445" y="0"/>
                </a:moveTo>
                <a:lnTo>
                  <a:pt x="4700726" y="0"/>
                </a:lnTo>
                <a:cubicBezTo>
                  <a:pt x="4737423" y="0"/>
                  <a:pt x="4767172" y="29749"/>
                  <a:pt x="4767172" y="66445"/>
                </a:cubicBezTo>
                <a:lnTo>
                  <a:pt x="4767172" y="963397"/>
                </a:lnTo>
                <a:cubicBezTo>
                  <a:pt x="4767172" y="1000093"/>
                  <a:pt x="4737423" y="1029842"/>
                  <a:pt x="4700726" y="1029842"/>
                </a:cubicBezTo>
                <a:lnTo>
                  <a:pt x="66445" y="1029842"/>
                </a:lnTo>
                <a:cubicBezTo>
                  <a:pt x="29749" y="1029842"/>
                  <a:pt x="0" y="1000093"/>
                  <a:pt x="0" y="963397"/>
                </a:cubicBezTo>
                <a:lnTo>
                  <a:pt x="0" y="66445"/>
                </a:lnTo>
                <a:cubicBezTo>
                  <a:pt x="0" y="29773"/>
                  <a:pt x="29773" y="0"/>
                  <a:pt x="66445" y="0"/>
                </a:cubicBezTo>
                <a:close/>
              </a:path>
            </a:pathLst>
          </a:custGeom>
          <a:solidFill>
            <a:srgbClr val="EAE7D6"/>
          </a:solidFill>
          <a:ln/>
        </p:spPr>
        <p:txBody>
          <a:bodyPr/>
          <a:lstStyle/>
          <a:p>
            <a:endParaRPr lang="en-US"/>
          </a:p>
        </p:txBody>
      </p:sp>
      <p:sp>
        <p:nvSpPr>
          <p:cNvPr id="58" name="Text 56"/>
          <p:cNvSpPr/>
          <p:nvPr/>
        </p:nvSpPr>
        <p:spPr>
          <a:xfrm>
            <a:off x="7023195" y="5572774"/>
            <a:ext cx="4625984" cy="166104"/>
          </a:xfrm>
          <a:prstGeom prst="rect">
            <a:avLst/>
          </a:prstGeom>
          <a:noFill/>
          <a:ln/>
        </p:spPr>
        <p:txBody>
          <a:bodyPr wrap="square" lIns="0" tIns="0" rIns="0" bIns="0" rtlCol="0" anchor="ctr"/>
          <a:lstStyle/>
          <a:p>
            <a:pPr>
              <a:lnSpc>
                <a:spcPct val="120000"/>
              </a:lnSpc>
            </a:pPr>
            <a:r>
              <a:rPr lang="en-US" sz="916" dirty="0">
                <a:solidFill>
                  <a:srgbClr val="E07A5F"/>
                </a:solidFill>
                <a:latin typeface="MiSans" pitchFamily="34" charset="0"/>
                <a:ea typeface="MiSans" pitchFamily="34" charset="-122"/>
                <a:cs typeface="MiSans" pitchFamily="34" charset="-120"/>
              </a:rPr>
              <a:t>const { Duplex } = require('stream');</a:t>
            </a:r>
            <a:endParaRPr lang="en-US" sz="1600" dirty="0"/>
          </a:p>
        </p:txBody>
      </p:sp>
      <p:sp>
        <p:nvSpPr>
          <p:cNvPr id="59" name="Text 57"/>
          <p:cNvSpPr/>
          <p:nvPr/>
        </p:nvSpPr>
        <p:spPr>
          <a:xfrm>
            <a:off x="7023195" y="5738877"/>
            <a:ext cx="4625984" cy="166104"/>
          </a:xfrm>
          <a:prstGeom prst="rect">
            <a:avLst/>
          </a:prstGeom>
          <a:noFill/>
          <a:ln/>
        </p:spPr>
        <p:txBody>
          <a:bodyPr wrap="square" lIns="0" tIns="0" rIns="0" bIns="0" rtlCol="0" anchor="ctr"/>
          <a:lstStyle/>
          <a:p>
            <a:pPr>
              <a:lnSpc>
                <a:spcPct val="120000"/>
              </a:lnSpc>
            </a:pPr>
            <a:r>
              <a:rPr lang="en-US" sz="916" dirty="0">
                <a:solidFill>
                  <a:srgbClr val="8D99AE"/>
                </a:solidFill>
                <a:latin typeface="MiSans" pitchFamily="34" charset="0"/>
                <a:ea typeface="MiSans" pitchFamily="34" charset="-122"/>
                <a:cs typeface="MiSans" pitchFamily="34" charset="-120"/>
              </a:rPr>
              <a:t>class MyDuplex extends Duplex {</a:t>
            </a:r>
            <a:endParaRPr lang="en-US" sz="1600" dirty="0"/>
          </a:p>
        </p:txBody>
      </p:sp>
      <p:sp>
        <p:nvSpPr>
          <p:cNvPr id="60" name="Text 58"/>
          <p:cNvSpPr/>
          <p:nvPr/>
        </p:nvSpPr>
        <p:spPr>
          <a:xfrm>
            <a:off x="7023195" y="5904981"/>
            <a:ext cx="4625984" cy="166104"/>
          </a:xfrm>
          <a:prstGeom prst="rect">
            <a:avLst/>
          </a:prstGeom>
          <a:noFill/>
          <a:ln/>
        </p:spPr>
        <p:txBody>
          <a:bodyPr wrap="square" lIns="0" tIns="0" rIns="0" bIns="0" rtlCol="0" anchor="ctr"/>
          <a:lstStyle/>
          <a:p>
            <a:pPr>
              <a:lnSpc>
                <a:spcPct val="120000"/>
              </a:lnSpc>
            </a:pPr>
            <a:r>
              <a:rPr lang="en-US" sz="916" dirty="0">
                <a:solidFill>
                  <a:srgbClr val="2D3142"/>
                </a:solidFill>
                <a:latin typeface="MiSans" pitchFamily="34" charset="0"/>
                <a:ea typeface="MiSans" pitchFamily="34" charset="-122"/>
                <a:cs typeface="MiSans" pitchFamily="34" charset="-120"/>
              </a:rPr>
              <a:t>_read() { /* read logic */ }</a:t>
            </a:r>
            <a:endParaRPr lang="en-US" sz="1600" dirty="0"/>
          </a:p>
        </p:txBody>
      </p:sp>
      <p:sp>
        <p:nvSpPr>
          <p:cNvPr id="61" name="Text 59"/>
          <p:cNvSpPr/>
          <p:nvPr/>
        </p:nvSpPr>
        <p:spPr>
          <a:xfrm>
            <a:off x="7023195" y="6071084"/>
            <a:ext cx="4625984" cy="166104"/>
          </a:xfrm>
          <a:prstGeom prst="rect">
            <a:avLst/>
          </a:prstGeom>
          <a:noFill/>
          <a:ln/>
        </p:spPr>
        <p:txBody>
          <a:bodyPr wrap="square" lIns="0" tIns="0" rIns="0" bIns="0" rtlCol="0" anchor="ctr"/>
          <a:lstStyle/>
          <a:p>
            <a:pPr>
              <a:lnSpc>
                <a:spcPct val="120000"/>
              </a:lnSpc>
            </a:pPr>
            <a:r>
              <a:rPr lang="en-US" sz="916" dirty="0">
                <a:solidFill>
                  <a:srgbClr val="2D3142"/>
                </a:solidFill>
                <a:latin typeface="MiSans" pitchFamily="34" charset="0"/>
                <a:ea typeface="MiSans" pitchFamily="34" charset="-122"/>
                <a:cs typeface="MiSans" pitchFamily="34" charset="-120"/>
              </a:rPr>
              <a:t>_write(chunk, enc, cb) { }</a:t>
            </a:r>
            <a:endParaRPr lang="en-US" sz="1600" dirty="0"/>
          </a:p>
        </p:txBody>
      </p:sp>
      <p:sp>
        <p:nvSpPr>
          <p:cNvPr id="62" name="Text 60"/>
          <p:cNvSpPr/>
          <p:nvPr/>
        </p:nvSpPr>
        <p:spPr>
          <a:xfrm>
            <a:off x="7023195" y="6237188"/>
            <a:ext cx="4625984" cy="166104"/>
          </a:xfrm>
          <a:prstGeom prst="rect">
            <a:avLst/>
          </a:prstGeom>
          <a:noFill/>
          <a:ln/>
        </p:spPr>
        <p:txBody>
          <a:bodyPr wrap="square" lIns="0" tIns="0" rIns="0" bIns="0" rtlCol="0" anchor="ctr"/>
          <a:lstStyle/>
          <a:p>
            <a:pPr>
              <a:lnSpc>
                <a:spcPct val="120000"/>
              </a:lnSpc>
            </a:pPr>
            <a:r>
              <a:rPr lang="en-US" sz="916" dirty="0">
                <a:solidFill>
                  <a:srgbClr val="8D99AE"/>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8954" y="366797"/>
            <a:ext cx="382744" cy="382744"/>
          </a:xfrm>
          <a:custGeom>
            <a:avLst/>
            <a:gdLst/>
            <a:ahLst/>
            <a:cxnLst/>
            <a:rect l="l" t="t" r="r" b="b"/>
            <a:pathLst>
              <a:path w="382744" h="382744">
                <a:moveTo>
                  <a:pt x="63792" y="0"/>
                </a:moveTo>
                <a:lnTo>
                  <a:pt x="318952" y="0"/>
                </a:lnTo>
                <a:cubicBezTo>
                  <a:pt x="354184" y="0"/>
                  <a:pt x="382744" y="28561"/>
                  <a:pt x="382744" y="63792"/>
                </a:cubicBezTo>
                <a:lnTo>
                  <a:pt x="382744" y="318952"/>
                </a:lnTo>
                <a:cubicBezTo>
                  <a:pt x="382744" y="354184"/>
                  <a:pt x="354184" y="382744"/>
                  <a:pt x="318952" y="382744"/>
                </a:cubicBezTo>
                <a:lnTo>
                  <a:pt x="63792" y="382744"/>
                </a:lnTo>
                <a:cubicBezTo>
                  <a:pt x="28561" y="382744"/>
                  <a:pt x="0" y="354184"/>
                  <a:pt x="0" y="318952"/>
                </a:cubicBezTo>
                <a:lnTo>
                  <a:pt x="0" y="63792"/>
                </a:lnTo>
                <a:cubicBezTo>
                  <a:pt x="0" y="28584"/>
                  <a:pt x="28584" y="0"/>
                  <a:pt x="63792"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30587" y="478430"/>
            <a:ext cx="159477" cy="159477"/>
          </a:xfrm>
          <a:custGeom>
            <a:avLst/>
            <a:gdLst/>
            <a:ahLst/>
            <a:cxnLst/>
            <a:rect l="l" t="t" r="r" b="b"/>
            <a:pathLst>
              <a:path w="159477" h="159477">
                <a:moveTo>
                  <a:pt x="125775" y="10715"/>
                </a:moveTo>
                <a:cubicBezTo>
                  <a:pt x="129513" y="9157"/>
                  <a:pt x="133780" y="10030"/>
                  <a:pt x="136645" y="12864"/>
                </a:cubicBezTo>
                <a:lnTo>
                  <a:pt x="156580" y="32799"/>
                </a:lnTo>
                <a:cubicBezTo>
                  <a:pt x="158449" y="34668"/>
                  <a:pt x="159508" y="37190"/>
                  <a:pt x="159508" y="39838"/>
                </a:cubicBezTo>
                <a:cubicBezTo>
                  <a:pt x="159508" y="42486"/>
                  <a:pt x="158449" y="45009"/>
                  <a:pt x="156580" y="46877"/>
                </a:cubicBezTo>
                <a:lnTo>
                  <a:pt x="136645" y="66812"/>
                </a:lnTo>
                <a:cubicBezTo>
                  <a:pt x="133780" y="69678"/>
                  <a:pt x="129513" y="70519"/>
                  <a:pt x="125775" y="68961"/>
                </a:cubicBezTo>
                <a:cubicBezTo>
                  <a:pt x="122037" y="67404"/>
                  <a:pt x="119608" y="63822"/>
                  <a:pt x="119608" y="59804"/>
                </a:cubicBezTo>
                <a:lnTo>
                  <a:pt x="119608" y="49836"/>
                </a:lnTo>
                <a:lnTo>
                  <a:pt x="109640" y="49836"/>
                </a:lnTo>
                <a:cubicBezTo>
                  <a:pt x="106494" y="49836"/>
                  <a:pt x="103535" y="51300"/>
                  <a:pt x="101666" y="53823"/>
                </a:cubicBezTo>
                <a:lnTo>
                  <a:pt x="91575" y="67279"/>
                </a:lnTo>
                <a:lnTo>
                  <a:pt x="79115" y="50677"/>
                </a:lnTo>
                <a:lnTo>
                  <a:pt x="85719" y="41863"/>
                </a:lnTo>
                <a:cubicBezTo>
                  <a:pt x="91357" y="34325"/>
                  <a:pt x="100234" y="29902"/>
                  <a:pt x="109640" y="29902"/>
                </a:cubicBezTo>
                <a:lnTo>
                  <a:pt x="119608" y="29902"/>
                </a:lnTo>
                <a:lnTo>
                  <a:pt x="119608" y="19935"/>
                </a:lnTo>
                <a:cubicBezTo>
                  <a:pt x="119608" y="15917"/>
                  <a:pt x="122037" y="12272"/>
                  <a:pt x="125775" y="10715"/>
                </a:cubicBezTo>
                <a:close/>
                <a:moveTo>
                  <a:pt x="47968" y="92198"/>
                </a:moveTo>
                <a:lnTo>
                  <a:pt x="60427" y="108799"/>
                </a:lnTo>
                <a:lnTo>
                  <a:pt x="53823" y="117614"/>
                </a:lnTo>
                <a:cubicBezTo>
                  <a:pt x="48186" y="125152"/>
                  <a:pt x="39309" y="129575"/>
                  <a:pt x="29902" y="129575"/>
                </a:cubicBezTo>
                <a:lnTo>
                  <a:pt x="9967" y="129575"/>
                </a:lnTo>
                <a:cubicBezTo>
                  <a:pt x="4454" y="129575"/>
                  <a:pt x="0" y="125121"/>
                  <a:pt x="0" y="119608"/>
                </a:cubicBezTo>
                <a:cubicBezTo>
                  <a:pt x="0" y="114094"/>
                  <a:pt x="4454" y="109640"/>
                  <a:pt x="9967" y="109640"/>
                </a:cubicBezTo>
                <a:lnTo>
                  <a:pt x="29902" y="109640"/>
                </a:lnTo>
                <a:cubicBezTo>
                  <a:pt x="33048" y="109640"/>
                  <a:pt x="36007" y="108176"/>
                  <a:pt x="37876" y="105653"/>
                </a:cubicBezTo>
                <a:lnTo>
                  <a:pt x="47968" y="92198"/>
                </a:lnTo>
                <a:close/>
                <a:moveTo>
                  <a:pt x="136614" y="146582"/>
                </a:moveTo>
                <a:cubicBezTo>
                  <a:pt x="133749" y="149447"/>
                  <a:pt x="129481" y="150288"/>
                  <a:pt x="125744" y="148731"/>
                </a:cubicBezTo>
                <a:cubicBezTo>
                  <a:pt x="122006" y="147173"/>
                  <a:pt x="119608" y="143560"/>
                  <a:pt x="119608" y="139542"/>
                </a:cubicBezTo>
                <a:lnTo>
                  <a:pt x="119608" y="129575"/>
                </a:lnTo>
                <a:lnTo>
                  <a:pt x="109640" y="129575"/>
                </a:lnTo>
                <a:cubicBezTo>
                  <a:pt x="100234" y="129575"/>
                  <a:pt x="91357" y="125152"/>
                  <a:pt x="85719" y="117614"/>
                </a:cubicBezTo>
                <a:lnTo>
                  <a:pt x="37876" y="53823"/>
                </a:lnTo>
                <a:cubicBezTo>
                  <a:pt x="36007" y="51300"/>
                  <a:pt x="33048" y="49836"/>
                  <a:pt x="29902" y="49836"/>
                </a:cubicBezTo>
                <a:lnTo>
                  <a:pt x="9967" y="49836"/>
                </a:lnTo>
                <a:cubicBezTo>
                  <a:pt x="4454" y="49836"/>
                  <a:pt x="0" y="45382"/>
                  <a:pt x="0" y="39869"/>
                </a:cubicBezTo>
                <a:cubicBezTo>
                  <a:pt x="0" y="34356"/>
                  <a:pt x="4454" y="29902"/>
                  <a:pt x="9967" y="29902"/>
                </a:cubicBezTo>
                <a:lnTo>
                  <a:pt x="29902" y="29902"/>
                </a:lnTo>
                <a:cubicBezTo>
                  <a:pt x="39309" y="29902"/>
                  <a:pt x="48186" y="34325"/>
                  <a:pt x="53823" y="41863"/>
                </a:cubicBezTo>
                <a:lnTo>
                  <a:pt x="101666" y="105653"/>
                </a:lnTo>
                <a:cubicBezTo>
                  <a:pt x="103535" y="108176"/>
                  <a:pt x="106494" y="109640"/>
                  <a:pt x="109640" y="109640"/>
                </a:cubicBezTo>
                <a:lnTo>
                  <a:pt x="119608" y="109640"/>
                </a:lnTo>
                <a:lnTo>
                  <a:pt x="119608" y="99673"/>
                </a:lnTo>
                <a:cubicBezTo>
                  <a:pt x="119608" y="95655"/>
                  <a:pt x="122037" y="92011"/>
                  <a:pt x="125775" y="90453"/>
                </a:cubicBezTo>
                <a:cubicBezTo>
                  <a:pt x="129513" y="88896"/>
                  <a:pt x="133780" y="89768"/>
                  <a:pt x="136645" y="92602"/>
                </a:cubicBezTo>
                <a:lnTo>
                  <a:pt x="156580" y="112537"/>
                </a:lnTo>
                <a:cubicBezTo>
                  <a:pt x="158449" y="114406"/>
                  <a:pt x="159508" y="116929"/>
                  <a:pt x="159508" y="119576"/>
                </a:cubicBezTo>
                <a:cubicBezTo>
                  <a:pt x="159508" y="122224"/>
                  <a:pt x="158449" y="124747"/>
                  <a:pt x="156580" y="126616"/>
                </a:cubicBezTo>
                <a:lnTo>
                  <a:pt x="136645" y="146550"/>
                </a:lnTo>
                <a:close/>
              </a:path>
            </a:pathLst>
          </a:custGeom>
          <a:solidFill>
            <a:srgbClr val="FFFFFF"/>
          </a:solidFill>
          <a:ln/>
        </p:spPr>
        <p:txBody>
          <a:bodyPr/>
          <a:lstStyle/>
          <a:p>
            <a:endParaRPr lang="en-US"/>
          </a:p>
        </p:txBody>
      </p:sp>
      <p:sp>
        <p:nvSpPr>
          <p:cNvPr id="4" name="Text 2"/>
          <p:cNvSpPr/>
          <p:nvPr/>
        </p:nvSpPr>
        <p:spPr>
          <a:xfrm>
            <a:off x="797384" y="318954"/>
            <a:ext cx="2352283" cy="159477"/>
          </a:xfrm>
          <a:prstGeom prst="rect">
            <a:avLst/>
          </a:prstGeom>
          <a:noFill/>
          <a:ln/>
        </p:spPr>
        <p:txBody>
          <a:bodyPr wrap="square" lIns="0" tIns="0" rIns="0" bIns="0" rtlCol="0" anchor="ctr"/>
          <a:lstStyle/>
          <a:p>
            <a:pPr>
              <a:lnSpc>
                <a:spcPct val="120000"/>
              </a:lnSpc>
            </a:pPr>
            <a:r>
              <a:rPr lang="en-US" sz="879" b="1" kern="0" spc="44" dirty="0">
                <a:solidFill>
                  <a:srgbClr val="8D99AE"/>
                </a:solidFill>
                <a:latin typeface="Quattrocento Sans" pitchFamily="34" charset="0"/>
                <a:ea typeface="Quattrocento Sans" pitchFamily="34" charset="-122"/>
                <a:cs typeface="Quattrocento Sans" pitchFamily="34" charset="-120"/>
              </a:rPr>
              <a:t>Type 4</a:t>
            </a:r>
            <a:endParaRPr lang="en-US" sz="1600" dirty="0"/>
          </a:p>
        </p:txBody>
      </p:sp>
      <p:sp>
        <p:nvSpPr>
          <p:cNvPr id="5" name="Text 3"/>
          <p:cNvSpPr/>
          <p:nvPr/>
        </p:nvSpPr>
        <p:spPr>
          <a:xfrm>
            <a:off x="797384" y="478430"/>
            <a:ext cx="2439995" cy="318954"/>
          </a:xfrm>
          <a:prstGeom prst="rect">
            <a:avLst/>
          </a:prstGeom>
          <a:noFill/>
          <a:ln/>
        </p:spPr>
        <p:txBody>
          <a:bodyPr wrap="square" lIns="0" tIns="0" rIns="0" bIns="0" rtlCol="0" anchor="ctr"/>
          <a:lstStyle/>
          <a:p>
            <a:pPr>
              <a:lnSpc>
                <a:spcPct val="90000"/>
              </a:lnSpc>
            </a:pPr>
            <a:r>
              <a:rPr lang="en-US" sz="2260" b="1" dirty="0">
                <a:solidFill>
                  <a:srgbClr val="2D3142"/>
                </a:solidFill>
                <a:latin typeface="Liter" pitchFamily="34" charset="0"/>
                <a:ea typeface="Liter" pitchFamily="34" charset="-122"/>
                <a:cs typeface="Liter" pitchFamily="34" charset="-120"/>
              </a:rPr>
              <a:t>Transform Stream</a:t>
            </a:r>
            <a:endParaRPr lang="en-US" sz="1600" dirty="0"/>
          </a:p>
        </p:txBody>
      </p:sp>
      <p:sp>
        <p:nvSpPr>
          <p:cNvPr id="6" name="Shape 4"/>
          <p:cNvSpPr/>
          <p:nvPr/>
        </p:nvSpPr>
        <p:spPr>
          <a:xfrm>
            <a:off x="318954" y="893070"/>
            <a:ext cx="1020651" cy="31895"/>
          </a:xfrm>
          <a:custGeom>
            <a:avLst/>
            <a:gdLst/>
            <a:ahLst/>
            <a:cxnLst/>
            <a:rect l="l" t="t" r="r" b="b"/>
            <a:pathLst>
              <a:path w="1020651" h="31895">
                <a:moveTo>
                  <a:pt x="0" y="0"/>
                </a:moveTo>
                <a:lnTo>
                  <a:pt x="1020651" y="0"/>
                </a:lnTo>
                <a:lnTo>
                  <a:pt x="1020651" y="31895"/>
                </a:lnTo>
                <a:lnTo>
                  <a:pt x="0" y="31895"/>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22940" y="1088429"/>
            <a:ext cx="5685347" cy="2113067"/>
          </a:xfrm>
          <a:custGeom>
            <a:avLst/>
            <a:gdLst/>
            <a:ahLst/>
            <a:cxnLst/>
            <a:rect l="l" t="t" r="r" b="b"/>
            <a:pathLst>
              <a:path w="5685347" h="2113067">
                <a:moveTo>
                  <a:pt x="95680" y="0"/>
                </a:moveTo>
                <a:lnTo>
                  <a:pt x="5589668" y="0"/>
                </a:lnTo>
                <a:cubicBezTo>
                  <a:pt x="5642510" y="0"/>
                  <a:pt x="5685347" y="42837"/>
                  <a:pt x="5685347" y="95680"/>
                </a:cubicBezTo>
                <a:lnTo>
                  <a:pt x="5685347" y="2017388"/>
                </a:lnTo>
                <a:cubicBezTo>
                  <a:pt x="5685347" y="2070230"/>
                  <a:pt x="5642510" y="2113067"/>
                  <a:pt x="5589668" y="2113067"/>
                </a:cubicBezTo>
                <a:lnTo>
                  <a:pt x="95680" y="2113067"/>
                </a:lnTo>
                <a:cubicBezTo>
                  <a:pt x="42837" y="2113067"/>
                  <a:pt x="0" y="2070230"/>
                  <a:pt x="0" y="2017388"/>
                </a:cubicBezTo>
                <a:lnTo>
                  <a:pt x="0" y="95680"/>
                </a:lnTo>
                <a:cubicBezTo>
                  <a:pt x="0" y="42873"/>
                  <a:pt x="42873" y="0"/>
                  <a:pt x="95680" y="0"/>
                </a:cubicBezTo>
                <a:close/>
              </a:path>
            </a:pathLst>
          </a:custGeom>
          <a:solidFill>
            <a:srgbClr val="EAE7D6"/>
          </a:solidFill>
          <a:ln/>
        </p:spPr>
        <p:txBody>
          <a:bodyPr/>
          <a:lstStyle/>
          <a:p>
            <a:endParaRPr lang="en-US"/>
          </a:p>
        </p:txBody>
      </p:sp>
      <p:sp>
        <p:nvSpPr>
          <p:cNvPr id="8" name="Shape 6"/>
          <p:cNvSpPr/>
          <p:nvPr/>
        </p:nvSpPr>
        <p:spPr>
          <a:xfrm>
            <a:off x="510326" y="1283788"/>
            <a:ext cx="191372" cy="191372"/>
          </a:xfrm>
          <a:custGeom>
            <a:avLst/>
            <a:gdLst/>
            <a:ahLst/>
            <a:cxnLst/>
            <a:rect l="l" t="t" r="r" b="b"/>
            <a:pathLst>
              <a:path w="191372" h="191372">
                <a:moveTo>
                  <a:pt x="148949" y="4560"/>
                </a:moveTo>
                <a:lnTo>
                  <a:pt x="115982" y="37527"/>
                </a:lnTo>
                <a:lnTo>
                  <a:pt x="153845" y="75390"/>
                </a:lnTo>
                <a:lnTo>
                  <a:pt x="186812" y="42423"/>
                </a:lnTo>
                <a:cubicBezTo>
                  <a:pt x="189728" y="39471"/>
                  <a:pt x="191372" y="35509"/>
                  <a:pt x="191372" y="31397"/>
                </a:cubicBezTo>
                <a:cubicBezTo>
                  <a:pt x="191372" y="27285"/>
                  <a:pt x="189728" y="23323"/>
                  <a:pt x="186812" y="20371"/>
                </a:cubicBezTo>
                <a:lnTo>
                  <a:pt x="171001" y="4560"/>
                </a:lnTo>
                <a:cubicBezTo>
                  <a:pt x="168049" y="1645"/>
                  <a:pt x="164087" y="0"/>
                  <a:pt x="159975" y="0"/>
                </a:cubicBezTo>
                <a:cubicBezTo>
                  <a:pt x="155864" y="0"/>
                  <a:pt x="151902" y="1645"/>
                  <a:pt x="148949" y="4560"/>
                </a:cubicBezTo>
                <a:close/>
                <a:moveTo>
                  <a:pt x="103311" y="50198"/>
                </a:moveTo>
                <a:lnTo>
                  <a:pt x="4560" y="148949"/>
                </a:lnTo>
                <a:cubicBezTo>
                  <a:pt x="1645" y="151902"/>
                  <a:pt x="0" y="155864"/>
                  <a:pt x="0" y="159975"/>
                </a:cubicBezTo>
                <a:cubicBezTo>
                  <a:pt x="0" y="164087"/>
                  <a:pt x="1645" y="168049"/>
                  <a:pt x="4560" y="171001"/>
                </a:cubicBezTo>
                <a:lnTo>
                  <a:pt x="20371" y="186812"/>
                </a:lnTo>
                <a:cubicBezTo>
                  <a:pt x="23323" y="189728"/>
                  <a:pt x="27285" y="191372"/>
                  <a:pt x="31397" y="191372"/>
                </a:cubicBezTo>
                <a:cubicBezTo>
                  <a:pt x="35509" y="191372"/>
                  <a:pt x="39471" y="189728"/>
                  <a:pt x="42423" y="186812"/>
                </a:cubicBezTo>
                <a:lnTo>
                  <a:pt x="141174" y="88061"/>
                </a:lnTo>
                <a:lnTo>
                  <a:pt x="103311" y="50198"/>
                </a:lnTo>
                <a:close/>
              </a:path>
            </a:pathLst>
          </a:custGeom>
          <a:solidFill>
            <a:srgbClr val="E07A5F"/>
          </a:solidFill>
          <a:ln/>
        </p:spPr>
        <p:txBody>
          <a:bodyPr/>
          <a:lstStyle/>
          <a:p>
            <a:endParaRPr lang="en-US"/>
          </a:p>
        </p:txBody>
      </p:sp>
      <p:sp>
        <p:nvSpPr>
          <p:cNvPr id="9" name="Text 7"/>
          <p:cNvSpPr/>
          <p:nvPr/>
        </p:nvSpPr>
        <p:spPr>
          <a:xfrm>
            <a:off x="821305" y="1251893"/>
            <a:ext cx="1794114" cy="255163"/>
          </a:xfrm>
          <a:prstGeom prst="rect">
            <a:avLst/>
          </a:prstGeom>
          <a:noFill/>
          <a:ln/>
        </p:spPr>
        <p:txBody>
          <a:bodyPr wrap="square" lIns="0" tIns="0" rIns="0" bIns="0" rtlCol="0" anchor="ctr"/>
          <a:lstStyle/>
          <a:p>
            <a:pPr>
              <a:lnSpc>
                <a:spcPct val="110000"/>
              </a:lnSpc>
            </a:pPr>
            <a:r>
              <a:rPr lang="en-US" sz="1507" b="1" dirty="0">
                <a:solidFill>
                  <a:srgbClr val="2D3142"/>
                </a:solidFill>
                <a:latin typeface="Quattrocento Sans" pitchFamily="34" charset="0"/>
                <a:ea typeface="Quattrocento Sans" pitchFamily="34" charset="-122"/>
                <a:cs typeface="Quattrocento Sans" pitchFamily="34" charset="-120"/>
              </a:rPr>
              <a:t>Definition &amp; Purpose</a:t>
            </a:r>
            <a:endParaRPr lang="en-US" sz="1600" dirty="0"/>
          </a:p>
        </p:txBody>
      </p:sp>
      <p:sp>
        <p:nvSpPr>
          <p:cNvPr id="10" name="Text 8"/>
          <p:cNvSpPr/>
          <p:nvPr/>
        </p:nvSpPr>
        <p:spPr>
          <a:xfrm>
            <a:off x="486404" y="1634637"/>
            <a:ext cx="5422211" cy="414640"/>
          </a:xfrm>
          <a:prstGeom prst="rect">
            <a:avLst/>
          </a:prstGeom>
          <a:noFill/>
          <a:ln/>
        </p:spPr>
        <p:txBody>
          <a:bodyPr wrap="square" lIns="0" tIns="0" rIns="0" bIns="0" rtlCol="0" anchor="ctr"/>
          <a:lstStyle/>
          <a:p>
            <a:pPr>
              <a:lnSpc>
                <a:spcPct val="140000"/>
              </a:lnSpc>
            </a:pPr>
            <a:r>
              <a:rPr lang="en-US" sz="1005" dirty="0">
                <a:solidFill>
                  <a:srgbClr val="2D3142"/>
                </a:solidFill>
                <a:latin typeface="Quattrocento Sans" pitchFamily="34" charset="0"/>
                <a:ea typeface="Quattrocento Sans" pitchFamily="34" charset="-122"/>
                <a:cs typeface="Quattrocento Sans" pitchFamily="34" charset="-120"/>
              </a:rPr>
              <a:t>A </a:t>
            </a:r>
            <a:r>
              <a:rPr lang="en-US" sz="1005"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Transform stream </a:t>
            </a:r>
            <a:r>
              <a:rPr lang="en-US" sz="1005" dirty="0">
                <a:solidFill>
                  <a:srgbClr val="2D3142"/>
                </a:solidFill>
                <a:latin typeface="Quattrocento Sans" pitchFamily="34" charset="0"/>
                <a:ea typeface="Quattrocento Sans" pitchFamily="34" charset="-122"/>
                <a:cs typeface="Quattrocento Sans" pitchFamily="34" charset="-120"/>
              </a:rPr>
              <a:t>is a </a:t>
            </a:r>
            <a:r>
              <a:rPr lang="en-US" sz="1005" b="1" dirty="0">
                <a:solidFill>
                  <a:srgbClr val="2D3142"/>
                </a:solidFill>
                <a:latin typeface="Quattrocento Sans" pitchFamily="34" charset="0"/>
                <a:ea typeface="Quattrocento Sans" pitchFamily="34" charset="-122"/>
                <a:cs typeface="Quattrocento Sans" pitchFamily="34" charset="-120"/>
              </a:rPr>
              <a:t>Duplex stream</a:t>
            </a:r>
            <a:r>
              <a:rPr lang="en-US" sz="1005" dirty="0">
                <a:solidFill>
                  <a:srgbClr val="2D3142"/>
                </a:solidFill>
                <a:latin typeface="Quattrocento Sans" pitchFamily="34" charset="0"/>
                <a:ea typeface="Quattrocento Sans" pitchFamily="34" charset="-122"/>
                <a:cs typeface="Quattrocento Sans" pitchFamily="34" charset="-120"/>
              </a:rPr>
              <a:t> where the output is computed from the input. It modifies or transforms data as it passes through.</a:t>
            </a:r>
            <a:endParaRPr lang="en-US" sz="1600" dirty="0"/>
          </a:p>
        </p:txBody>
      </p:sp>
      <p:sp>
        <p:nvSpPr>
          <p:cNvPr id="11" name="Shape 9"/>
          <p:cNvSpPr/>
          <p:nvPr/>
        </p:nvSpPr>
        <p:spPr>
          <a:xfrm>
            <a:off x="486404" y="2176858"/>
            <a:ext cx="5358420" cy="861175"/>
          </a:xfrm>
          <a:custGeom>
            <a:avLst/>
            <a:gdLst/>
            <a:ahLst/>
            <a:cxnLst/>
            <a:rect l="l" t="t" r="r" b="b"/>
            <a:pathLst>
              <a:path w="5358420" h="861175">
                <a:moveTo>
                  <a:pt x="63787" y="0"/>
                </a:moveTo>
                <a:lnTo>
                  <a:pt x="5294633" y="0"/>
                </a:lnTo>
                <a:cubicBezTo>
                  <a:pt x="5329861" y="0"/>
                  <a:pt x="5358420" y="28559"/>
                  <a:pt x="5358420" y="63787"/>
                </a:cubicBezTo>
                <a:lnTo>
                  <a:pt x="5358420" y="797387"/>
                </a:lnTo>
                <a:cubicBezTo>
                  <a:pt x="5358420" y="832616"/>
                  <a:pt x="5329861" y="861175"/>
                  <a:pt x="5294633" y="861175"/>
                </a:cubicBezTo>
                <a:lnTo>
                  <a:pt x="63787" y="861175"/>
                </a:lnTo>
                <a:cubicBezTo>
                  <a:pt x="28559" y="861175"/>
                  <a:pt x="0" y="832616"/>
                  <a:pt x="0" y="797387"/>
                </a:cubicBezTo>
                <a:lnTo>
                  <a:pt x="0" y="63787"/>
                </a:lnTo>
                <a:cubicBezTo>
                  <a:pt x="0" y="28559"/>
                  <a:pt x="28559" y="0"/>
                  <a:pt x="63787" y="0"/>
                </a:cubicBezTo>
                <a:close/>
              </a:path>
            </a:pathLst>
          </a:custGeom>
          <a:solidFill>
            <a:srgbClr val="EAE7D6"/>
          </a:solidFill>
          <a:ln/>
        </p:spPr>
        <p:txBody>
          <a:bodyPr/>
          <a:lstStyle/>
          <a:p>
            <a:endParaRPr lang="en-US"/>
          </a:p>
        </p:txBody>
      </p:sp>
      <p:sp>
        <p:nvSpPr>
          <p:cNvPr id="12" name="Text 10"/>
          <p:cNvSpPr/>
          <p:nvPr/>
        </p:nvSpPr>
        <p:spPr>
          <a:xfrm>
            <a:off x="613986" y="2304440"/>
            <a:ext cx="5159074" cy="159477"/>
          </a:xfrm>
          <a:prstGeom prst="rect">
            <a:avLst/>
          </a:prstGeom>
          <a:noFill/>
          <a:ln/>
        </p:spPr>
        <p:txBody>
          <a:bodyPr wrap="square" lIns="0" tIns="0" rIns="0" bIns="0" rtlCol="0" anchor="ctr"/>
          <a:lstStyle/>
          <a:p>
            <a:pPr>
              <a:lnSpc>
                <a:spcPct val="120000"/>
              </a:lnSpc>
            </a:pPr>
            <a:r>
              <a:rPr lang="en-US" sz="879" dirty="0">
                <a:solidFill>
                  <a:srgbClr val="8D99AE"/>
                </a:solidFill>
                <a:latin typeface="Quattrocento Sans" pitchFamily="34" charset="0"/>
                <a:ea typeface="Quattrocento Sans" pitchFamily="34" charset="-122"/>
                <a:cs typeface="Quattrocento Sans" pitchFamily="34" charset="-120"/>
              </a:rPr>
              <a:t>Key Characteristic</a:t>
            </a:r>
            <a:endParaRPr lang="en-US" sz="1600" dirty="0"/>
          </a:p>
        </p:txBody>
      </p:sp>
      <p:sp>
        <p:nvSpPr>
          <p:cNvPr id="13" name="Text 11"/>
          <p:cNvSpPr/>
          <p:nvPr/>
        </p:nvSpPr>
        <p:spPr>
          <a:xfrm>
            <a:off x="613986" y="2527707"/>
            <a:ext cx="5167048" cy="382744"/>
          </a:xfrm>
          <a:prstGeom prst="rect">
            <a:avLst/>
          </a:prstGeom>
          <a:noFill/>
          <a:ln/>
        </p:spPr>
        <p:txBody>
          <a:bodyPr wrap="square" lIns="0" tIns="0" rIns="0" bIns="0" rtlCol="0" anchor="ctr"/>
          <a:lstStyle/>
          <a:p>
            <a:pPr>
              <a:lnSpc>
                <a:spcPct val="130000"/>
              </a:lnSpc>
            </a:pPr>
            <a:r>
              <a:rPr lang="en-US" sz="1005" dirty="0">
                <a:solidFill>
                  <a:srgbClr val="2D3142"/>
                </a:solidFill>
                <a:latin typeface="Quattrocento Sans" pitchFamily="34" charset="0"/>
                <a:ea typeface="Quattrocento Sans" pitchFamily="34" charset="-122"/>
                <a:cs typeface="Quattrocento Sans" pitchFamily="34" charset="-120"/>
              </a:rPr>
              <a:t>Unlike Duplex where input/output are independent, Transform streams </a:t>
            </a:r>
            <a:r>
              <a:rPr lang="en-US" sz="1005" b="1" dirty="0">
                <a:solidFill>
                  <a:srgbClr val="2D3142"/>
                </a:solidFill>
                <a:latin typeface="Quattrocento Sans" pitchFamily="34" charset="0"/>
                <a:ea typeface="Quattrocento Sans" pitchFamily="34" charset="-122"/>
                <a:cs typeface="Quattrocento Sans" pitchFamily="34" charset="-120"/>
              </a:rPr>
              <a:t>compute output from input</a:t>
            </a:r>
            <a:r>
              <a:rPr lang="en-US" sz="1005" dirty="0">
                <a:solidFill>
                  <a:srgbClr val="2D3142"/>
                </a:solidFill>
                <a:latin typeface="Quattrocento Sans" pitchFamily="34" charset="0"/>
                <a:ea typeface="Quattrocento Sans" pitchFamily="34" charset="-122"/>
                <a:cs typeface="Quattrocento Sans" pitchFamily="34" charset="-120"/>
              </a:rPr>
              <a:t> - data flows through a transformation function.</a:t>
            </a:r>
            <a:endParaRPr lang="en-US" sz="1600" dirty="0"/>
          </a:p>
        </p:txBody>
      </p:sp>
      <p:sp>
        <p:nvSpPr>
          <p:cNvPr id="14" name="Shape 12"/>
          <p:cNvSpPr/>
          <p:nvPr/>
        </p:nvSpPr>
        <p:spPr>
          <a:xfrm>
            <a:off x="322940" y="3337052"/>
            <a:ext cx="5685347" cy="3516463"/>
          </a:xfrm>
          <a:custGeom>
            <a:avLst/>
            <a:gdLst/>
            <a:ahLst/>
            <a:cxnLst/>
            <a:rect l="l" t="t" r="r" b="b"/>
            <a:pathLst>
              <a:path w="5685347" h="3516463">
                <a:moveTo>
                  <a:pt x="95683" y="0"/>
                </a:moveTo>
                <a:lnTo>
                  <a:pt x="5589664" y="0"/>
                </a:lnTo>
                <a:cubicBezTo>
                  <a:pt x="5642509" y="0"/>
                  <a:pt x="5685347" y="42839"/>
                  <a:pt x="5685347" y="95683"/>
                </a:cubicBezTo>
                <a:lnTo>
                  <a:pt x="5685347" y="3420780"/>
                </a:lnTo>
                <a:cubicBezTo>
                  <a:pt x="5685347" y="3473624"/>
                  <a:pt x="5642509" y="3516463"/>
                  <a:pt x="5589664" y="3516463"/>
                </a:cubicBezTo>
                <a:lnTo>
                  <a:pt x="95683" y="3516463"/>
                </a:lnTo>
                <a:cubicBezTo>
                  <a:pt x="42839" y="3516463"/>
                  <a:pt x="0" y="3473624"/>
                  <a:pt x="0" y="3420780"/>
                </a:cubicBezTo>
                <a:lnTo>
                  <a:pt x="0" y="95683"/>
                </a:lnTo>
                <a:cubicBezTo>
                  <a:pt x="0" y="42874"/>
                  <a:pt x="42874" y="0"/>
                  <a:pt x="95683" y="0"/>
                </a:cubicBezTo>
                <a:close/>
              </a:path>
            </a:pathLst>
          </a:custGeom>
          <a:solidFill>
            <a:srgbClr val="EAE7D6"/>
          </a:solidFill>
          <a:ln/>
        </p:spPr>
        <p:txBody>
          <a:bodyPr/>
          <a:lstStyle/>
          <a:p>
            <a:endParaRPr lang="en-US"/>
          </a:p>
        </p:txBody>
      </p:sp>
      <p:sp>
        <p:nvSpPr>
          <p:cNvPr id="15" name="Shape 13"/>
          <p:cNvSpPr/>
          <p:nvPr/>
        </p:nvSpPr>
        <p:spPr>
          <a:xfrm>
            <a:off x="486404" y="3532411"/>
            <a:ext cx="239215" cy="191372"/>
          </a:xfrm>
          <a:custGeom>
            <a:avLst/>
            <a:gdLst/>
            <a:ahLst/>
            <a:cxnLst/>
            <a:rect l="l" t="t" r="r" b="b"/>
            <a:pathLst>
              <a:path w="239215" h="191372">
                <a:moveTo>
                  <a:pt x="155452" y="78679"/>
                </a:moveTo>
                <a:cubicBezTo>
                  <a:pt x="160013" y="77446"/>
                  <a:pt x="164797" y="79614"/>
                  <a:pt x="166853" y="83837"/>
                </a:cubicBezTo>
                <a:lnTo>
                  <a:pt x="173805" y="97891"/>
                </a:lnTo>
                <a:cubicBezTo>
                  <a:pt x="177655" y="98415"/>
                  <a:pt x="181430" y="99461"/>
                  <a:pt x="184981" y="100919"/>
                </a:cubicBezTo>
                <a:lnTo>
                  <a:pt x="198063" y="92210"/>
                </a:lnTo>
                <a:cubicBezTo>
                  <a:pt x="201987" y="89594"/>
                  <a:pt x="207183" y="90117"/>
                  <a:pt x="210509" y="93443"/>
                </a:cubicBezTo>
                <a:lnTo>
                  <a:pt x="217686" y="100620"/>
                </a:lnTo>
                <a:cubicBezTo>
                  <a:pt x="221012" y="103946"/>
                  <a:pt x="221536" y="109179"/>
                  <a:pt x="218919" y="113067"/>
                </a:cubicBezTo>
                <a:lnTo>
                  <a:pt x="210210" y="126111"/>
                </a:lnTo>
                <a:cubicBezTo>
                  <a:pt x="210921" y="127868"/>
                  <a:pt x="211556" y="129699"/>
                  <a:pt x="212079" y="131606"/>
                </a:cubicBezTo>
                <a:cubicBezTo>
                  <a:pt x="212602" y="133512"/>
                  <a:pt x="212939" y="135381"/>
                  <a:pt x="213201" y="137287"/>
                </a:cubicBezTo>
                <a:lnTo>
                  <a:pt x="227292" y="144239"/>
                </a:lnTo>
                <a:cubicBezTo>
                  <a:pt x="231515" y="146332"/>
                  <a:pt x="233683" y="151117"/>
                  <a:pt x="232450" y="155639"/>
                </a:cubicBezTo>
                <a:lnTo>
                  <a:pt x="229833" y="165432"/>
                </a:lnTo>
                <a:cubicBezTo>
                  <a:pt x="228600" y="169955"/>
                  <a:pt x="224376" y="173020"/>
                  <a:pt x="219667" y="172721"/>
                </a:cubicBezTo>
                <a:lnTo>
                  <a:pt x="203968" y="171712"/>
                </a:lnTo>
                <a:cubicBezTo>
                  <a:pt x="201614" y="174739"/>
                  <a:pt x="198885" y="177543"/>
                  <a:pt x="195783" y="179935"/>
                </a:cubicBezTo>
                <a:lnTo>
                  <a:pt x="196792" y="195596"/>
                </a:lnTo>
                <a:cubicBezTo>
                  <a:pt x="197091" y="200305"/>
                  <a:pt x="194026" y="204566"/>
                  <a:pt x="189503" y="205762"/>
                </a:cubicBezTo>
                <a:lnTo>
                  <a:pt x="179710" y="208379"/>
                </a:lnTo>
                <a:cubicBezTo>
                  <a:pt x="175150" y="209612"/>
                  <a:pt x="170403" y="207444"/>
                  <a:pt x="168310" y="203221"/>
                </a:cubicBezTo>
                <a:lnTo>
                  <a:pt x="161358" y="189167"/>
                </a:lnTo>
                <a:cubicBezTo>
                  <a:pt x="157508" y="188644"/>
                  <a:pt x="153733" y="187597"/>
                  <a:pt x="150182" y="186139"/>
                </a:cubicBezTo>
                <a:lnTo>
                  <a:pt x="137100" y="194848"/>
                </a:lnTo>
                <a:cubicBezTo>
                  <a:pt x="133176" y="197465"/>
                  <a:pt x="127980" y="196941"/>
                  <a:pt x="124654" y="193615"/>
                </a:cubicBezTo>
                <a:lnTo>
                  <a:pt x="117477" y="186438"/>
                </a:lnTo>
                <a:cubicBezTo>
                  <a:pt x="114150" y="183112"/>
                  <a:pt x="113627" y="177916"/>
                  <a:pt x="116244" y="173992"/>
                </a:cubicBezTo>
                <a:lnTo>
                  <a:pt x="124953" y="160910"/>
                </a:lnTo>
                <a:cubicBezTo>
                  <a:pt x="124242" y="159153"/>
                  <a:pt x="123607" y="157321"/>
                  <a:pt x="123084" y="155415"/>
                </a:cubicBezTo>
                <a:cubicBezTo>
                  <a:pt x="122560" y="153509"/>
                  <a:pt x="122224" y="151603"/>
                  <a:pt x="121962" y="149734"/>
                </a:cubicBezTo>
                <a:lnTo>
                  <a:pt x="107871" y="142782"/>
                </a:lnTo>
                <a:cubicBezTo>
                  <a:pt x="103647" y="140688"/>
                  <a:pt x="101517" y="135904"/>
                  <a:pt x="102713" y="131381"/>
                </a:cubicBezTo>
                <a:lnTo>
                  <a:pt x="105329" y="121589"/>
                </a:lnTo>
                <a:cubicBezTo>
                  <a:pt x="106563" y="117066"/>
                  <a:pt x="110787" y="114001"/>
                  <a:pt x="115496" y="114300"/>
                </a:cubicBezTo>
                <a:lnTo>
                  <a:pt x="131157" y="115309"/>
                </a:lnTo>
                <a:cubicBezTo>
                  <a:pt x="133512" y="112282"/>
                  <a:pt x="136241" y="109478"/>
                  <a:pt x="139343" y="107086"/>
                </a:cubicBezTo>
                <a:lnTo>
                  <a:pt x="138334" y="91462"/>
                </a:lnTo>
                <a:cubicBezTo>
                  <a:pt x="138035" y="86753"/>
                  <a:pt x="141100" y="82492"/>
                  <a:pt x="145622" y="81296"/>
                </a:cubicBezTo>
                <a:lnTo>
                  <a:pt x="155415" y="78679"/>
                </a:lnTo>
                <a:close/>
                <a:moveTo>
                  <a:pt x="167600" y="127083"/>
                </a:moveTo>
                <a:cubicBezTo>
                  <a:pt x="158523" y="127093"/>
                  <a:pt x="151162" y="134471"/>
                  <a:pt x="151173" y="143548"/>
                </a:cubicBezTo>
                <a:cubicBezTo>
                  <a:pt x="151183" y="152625"/>
                  <a:pt x="158561" y="159985"/>
                  <a:pt x="167638" y="159975"/>
                </a:cubicBezTo>
                <a:cubicBezTo>
                  <a:pt x="176714" y="159965"/>
                  <a:pt x="184075" y="152587"/>
                  <a:pt x="184065" y="143510"/>
                </a:cubicBezTo>
                <a:cubicBezTo>
                  <a:pt x="184055" y="134434"/>
                  <a:pt x="176677" y="127073"/>
                  <a:pt x="167600" y="127083"/>
                </a:cubicBezTo>
                <a:close/>
                <a:moveTo>
                  <a:pt x="84062" y="-17007"/>
                </a:moveTo>
                <a:lnTo>
                  <a:pt x="93855" y="-14390"/>
                </a:lnTo>
                <a:cubicBezTo>
                  <a:pt x="98377" y="-13157"/>
                  <a:pt x="101442" y="-8896"/>
                  <a:pt x="101143" y="-4224"/>
                </a:cubicBezTo>
                <a:lnTo>
                  <a:pt x="100134" y="11400"/>
                </a:lnTo>
                <a:cubicBezTo>
                  <a:pt x="103236" y="13792"/>
                  <a:pt x="105965" y="16558"/>
                  <a:pt x="108320" y="19623"/>
                </a:cubicBezTo>
                <a:lnTo>
                  <a:pt x="124018" y="18614"/>
                </a:lnTo>
                <a:cubicBezTo>
                  <a:pt x="128690" y="18315"/>
                  <a:pt x="132951" y="21380"/>
                  <a:pt x="134185" y="25903"/>
                </a:cubicBezTo>
                <a:lnTo>
                  <a:pt x="136801" y="35695"/>
                </a:lnTo>
                <a:cubicBezTo>
                  <a:pt x="137997" y="40218"/>
                  <a:pt x="135867" y="45002"/>
                  <a:pt x="131643" y="47095"/>
                </a:cubicBezTo>
                <a:lnTo>
                  <a:pt x="117552" y="54048"/>
                </a:lnTo>
                <a:cubicBezTo>
                  <a:pt x="117290" y="55954"/>
                  <a:pt x="116916" y="57860"/>
                  <a:pt x="116431" y="59729"/>
                </a:cubicBezTo>
                <a:cubicBezTo>
                  <a:pt x="115945" y="61598"/>
                  <a:pt x="115272" y="63467"/>
                  <a:pt x="114562" y="65224"/>
                </a:cubicBezTo>
                <a:lnTo>
                  <a:pt x="123271" y="78306"/>
                </a:lnTo>
                <a:cubicBezTo>
                  <a:pt x="125887" y="82230"/>
                  <a:pt x="125364" y="87426"/>
                  <a:pt x="122037" y="90752"/>
                </a:cubicBezTo>
                <a:lnTo>
                  <a:pt x="114861" y="97929"/>
                </a:lnTo>
                <a:cubicBezTo>
                  <a:pt x="111534" y="101255"/>
                  <a:pt x="106339" y="101779"/>
                  <a:pt x="102414" y="99162"/>
                </a:cubicBezTo>
                <a:lnTo>
                  <a:pt x="89332" y="90453"/>
                </a:lnTo>
                <a:cubicBezTo>
                  <a:pt x="85781" y="91911"/>
                  <a:pt x="82006" y="92958"/>
                  <a:pt x="78156" y="93481"/>
                </a:cubicBezTo>
                <a:lnTo>
                  <a:pt x="71204" y="107535"/>
                </a:lnTo>
                <a:cubicBezTo>
                  <a:pt x="69111" y="111758"/>
                  <a:pt x="64326" y="113889"/>
                  <a:pt x="59804" y="112693"/>
                </a:cubicBezTo>
                <a:lnTo>
                  <a:pt x="50011" y="110076"/>
                </a:lnTo>
                <a:cubicBezTo>
                  <a:pt x="45451" y="108843"/>
                  <a:pt x="42423" y="104582"/>
                  <a:pt x="42722" y="99910"/>
                </a:cubicBezTo>
                <a:lnTo>
                  <a:pt x="43732" y="84249"/>
                </a:lnTo>
                <a:cubicBezTo>
                  <a:pt x="40629" y="81856"/>
                  <a:pt x="37901" y="79091"/>
                  <a:pt x="35546" y="76026"/>
                </a:cubicBezTo>
                <a:lnTo>
                  <a:pt x="19847" y="77035"/>
                </a:lnTo>
                <a:cubicBezTo>
                  <a:pt x="15175" y="77334"/>
                  <a:pt x="10914" y="74269"/>
                  <a:pt x="9681" y="69746"/>
                </a:cubicBezTo>
                <a:lnTo>
                  <a:pt x="7064" y="59953"/>
                </a:lnTo>
                <a:cubicBezTo>
                  <a:pt x="5868" y="55431"/>
                  <a:pt x="7999" y="50646"/>
                  <a:pt x="12222" y="48553"/>
                </a:cubicBezTo>
                <a:lnTo>
                  <a:pt x="26314" y="41601"/>
                </a:lnTo>
                <a:cubicBezTo>
                  <a:pt x="26575" y="39695"/>
                  <a:pt x="26949" y="37826"/>
                  <a:pt x="27435" y="35920"/>
                </a:cubicBezTo>
                <a:cubicBezTo>
                  <a:pt x="27958" y="34013"/>
                  <a:pt x="28556" y="32182"/>
                  <a:pt x="29304" y="30425"/>
                </a:cubicBezTo>
                <a:lnTo>
                  <a:pt x="20595" y="17380"/>
                </a:lnTo>
                <a:cubicBezTo>
                  <a:pt x="17979" y="13456"/>
                  <a:pt x="18502" y="8260"/>
                  <a:pt x="21828" y="4934"/>
                </a:cubicBezTo>
                <a:lnTo>
                  <a:pt x="29005" y="-2243"/>
                </a:lnTo>
                <a:cubicBezTo>
                  <a:pt x="32331" y="-5569"/>
                  <a:pt x="37527" y="-6093"/>
                  <a:pt x="41452" y="-3476"/>
                </a:cubicBezTo>
                <a:lnTo>
                  <a:pt x="54534" y="5233"/>
                </a:lnTo>
                <a:cubicBezTo>
                  <a:pt x="58084" y="3775"/>
                  <a:pt x="61860" y="2729"/>
                  <a:pt x="65709" y="2205"/>
                </a:cubicBezTo>
                <a:lnTo>
                  <a:pt x="72662" y="-11849"/>
                </a:lnTo>
                <a:cubicBezTo>
                  <a:pt x="74755" y="-16072"/>
                  <a:pt x="79502" y="-18203"/>
                  <a:pt x="84062" y="-17007"/>
                </a:cubicBezTo>
                <a:close/>
                <a:moveTo>
                  <a:pt x="71914" y="31397"/>
                </a:moveTo>
                <a:cubicBezTo>
                  <a:pt x="62837" y="31397"/>
                  <a:pt x="55468" y="38766"/>
                  <a:pt x="55468" y="47843"/>
                </a:cubicBezTo>
                <a:cubicBezTo>
                  <a:pt x="55468" y="56920"/>
                  <a:pt x="62837" y="64289"/>
                  <a:pt x="71914" y="64289"/>
                </a:cubicBezTo>
                <a:cubicBezTo>
                  <a:pt x="80991" y="64289"/>
                  <a:pt x="88360" y="56920"/>
                  <a:pt x="88360" y="47843"/>
                </a:cubicBezTo>
                <a:cubicBezTo>
                  <a:pt x="88360" y="38766"/>
                  <a:pt x="80991" y="31397"/>
                  <a:pt x="71914" y="31397"/>
                </a:cubicBezTo>
                <a:close/>
              </a:path>
            </a:pathLst>
          </a:custGeom>
          <a:solidFill>
            <a:srgbClr val="8D99AE"/>
          </a:solidFill>
          <a:ln/>
        </p:spPr>
        <p:txBody>
          <a:bodyPr/>
          <a:lstStyle/>
          <a:p>
            <a:endParaRPr lang="en-US"/>
          </a:p>
        </p:txBody>
      </p:sp>
      <p:sp>
        <p:nvSpPr>
          <p:cNvPr id="16" name="Text 14"/>
          <p:cNvSpPr/>
          <p:nvPr/>
        </p:nvSpPr>
        <p:spPr>
          <a:xfrm>
            <a:off x="821305" y="3500515"/>
            <a:ext cx="1714375" cy="255163"/>
          </a:xfrm>
          <a:prstGeom prst="rect">
            <a:avLst/>
          </a:prstGeom>
          <a:noFill/>
          <a:ln/>
        </p:spPr>
        <p:txBody>
          <a:bodyPr wrap="square" lIns="0" tIns="0" rIns="0" bIns="0" rtlCol="0" anchor="ctr"/>
          <a:lstStyle/>
          <a:p>
            <a:pPr>
              <a:lnSpc>
                <a:spcPct val="110000"/>
              </a:lnSpc>
            </a:pPr>
            <a:r>
              <a:rPr lang="en-US" sz="1507" b="1" dirty="0">
                <a:solidFill>
                  <a:srgbClr val="2D3142"/>
                </a:solidFill>
                <a:latin typeface="Quattrocento Sans" pitchFamily="34" charset="0"/>
                <a:ea typeface="Quattrocento Sans" pitchFamily="34" charset="-122"/>
                <a:cs typeface="Quattrocento Sans" pitchFamily="34" charset="-120"/>
              </a:rPr>
              <a:t>Common Examples</a:t>
            </a:r>
            <a:endParaRPr lang="en-US" sz="1600" dirty="0"/>
          </a:p>
        </p:txBody>
      </p:sp>
      <p:sp>
        <p:nvSpPr>
          <p:cNvPr id="17" name="Shape 15"/>
          <p:cNvSpPr/>
          <p:nvPr/>
        </p:nvSpPr>
        <p:spPr>
          <a:xfrm>
            <a:off x="486404" y="3883260"/>
            <a:ext cx="5358420" cy="733593"/>
          </a:xfrm>
          <a:custGeom>
            <a:avLst/>
            <a:gdLst/>
            <a:ahLst/>
            <a:cxnLst/>
            <a:rect l="l" t="t" r="r" b="b"/>
            <a:pathLst>
              <a:path w="5358420" h="733593">
                <a:moveTo>
                  <a:pt x="63793" y="0"/>
                </a:moveTo>
                <a:lnTo>
                  <a:pt x="5294627" y="0"/>
                </a:lnTo>
                <a:cubicBezTo>
                  <a:pt x="5329859" y="0"/>
                  <a:pt x="5358420" y="28561"/>
                  <a:pt x="5358420" y="63793"/>
                </a:cubicBezTo>
                <a:lnTo>
                  <a:pt x="5358420" y="669800"/>
                </a:lnTo>
                <a:cubicBezTo>
                  <a:pt x="5358420" y="705032"/>
                  <a:pt x="5329859" y="733593"/>
                  <a:pt x="5294627" y="733593"/>
                </a:cubicBezTo>
                <a:lnTo>
                  <a:pt x="63793" y="733593"/>
                </a:lnTo>
                <a:cubicBezTo>
                  <a:pt x="28561" y="733593"/>
                  <a:pt x="0" y="705032"/>
                  <a:pt x="0" y="669800"/>
                </a:cubicBezTo>
                <a:lnTo>
                  <a:pt x="0" y="63793"/>
                </a:lnTo>
                <a:cubicBezTo>
                  <a:pt x="0" y="28585"/>
                  <a:pt x="28585" y="0"/>
                  <a:pt x="63793" y="0"/>
                </a:cubicBezTo>
                <a:close/>
              </a:path>
            </a:pathLst>
          </a:custGeom>
          <a:solidFill>
            <a:srgbClr val="EAE7D6"/>
          </a:solidFill>
          <a:ln/>
        </p:spPr>
        <p:txBody>
          <a:bodyPr/>
          <a:lstStyle/>
          <a:p>
            <a:endParaRPr lang="en-US"/>
          </a:p>
        </p:txBody>
      </p:sp>
      <p:sp>
        <p:nvSpPr>
          <p:cNvPr id="18" name="Shape 16"/>
          <p:cNvSpPr/>
          <p:nvPr/>
        </p:nvSpPr>
        <p:spPr>
          <a:xfrm>
            <a:off x="629933" y="4058684"/>
            <a:ext cx="127581" cy="127581"/>
          </a:xfrm>
          <a:custGeom>
            <a:avLst/>
            <a:gdLst/>
            <a:ahLst/>
            <a:cxnLst/>
            <a:rect l="l" t="t" r="r" b="b"/>
            <a:pathLst>
              <a:path w="127581" h="127581">
                <a:moveTo>
                  <a:pt x="109516" y="1744"/>
                </a:moveTo>
                <a:cubicBezTo>
                  <a:pt x="111858" y="-598"/>
                  <a:pt x="115646" y="-598"/>
                  <a:pt x="117963" y="1744"/>
                </a:cubicBezTo>
                <a:lnTo>
                  <a:pt x="125937" y="9718"/>
                </a:lnTo>
                <a:cubicBezTo>
                  <a:pt x="128279" y="12060"/>
                  <a:pt x="128279" y="15848"/>
                  <a:pt x="125937" y="18165"/>
                </a:cubicBezTo>
                <a:lnTo>
                  <a:pt x="104258" y="39844"/>
                </a:lnTo>
                <a:lnTo>
                  <a:pt x="113976" y="49562"/>
                </a:lnTo>
                <a:cubicBezTo>
                  <a:pt x="115695" y="51282"/>
                  <a:pt x="116194" y="53848"/>
                  <a:pt x="115272" y="56091"/>
                </a:cubicBezTo>
                <a:cubicBezTo>
                  <a:pt x="114350" y="58334"/>
                  <a:pt x="112182" y="59804"/>
                  <a:pt x="109765" y="59804"/>
                </a:cubicBezTo>
                <a:lnTo>
                  <a:pt x="73883" y="59804"/>
                </a:lnTo>
                <a:cubicBezTo>
                  <a:pt x="70568" y="59804"/>
                  <a:pt x="67902" y="57138"/>
                  <a:pt x="67902" y="53823"/>
                </a:cubicBezTo>
                <a:lnTo>
                  <a:pt x="67902" y="17941"/>
                </a:lnTo>
                <a:cubicBezTo>
                  <a:pt x="67902" y="15524"/>
                  <a:pt x="69347" y="13331"/>
                  <a:pt x="71590" y="12409"/>
                </a:cubicBezTo>
                <a:cubicBezTo>
                  <a:pt x="73833" y="11487"/>
                  <a:pt x="76399" y="11986"/>
                  <a:pt x="78119" y="13705"/>
                </a:cubicBezTo>
                <a:lnTo>
                  <a:pt x="87837" y="23423"/>
                </a:lnTo>
                <a:lnTo>
                  <a:pt x="109516" y="1744"/>
                </a:lnTo>
                <a:close/>
                <a:moveTo>
                  <a:pt x="18066" y="67778"/>
                </a:moveTo>
                <a:lnTo>
                  <a:pt x="53948" y="67778"/>
                </a:lnTo>
                <a:cubicBezTo>
                  <a:pt x="57262" y="67778"/>
                  <a:pt x="59928" y="70444"/>
                  <a:pt x="59928" y="73758"/>
                </a:cubicBezTo>
                <a:lnTo>
                  <a:pt x="59928" y="109640"/>
                </a:lnTo>
                <a:cubicBezTo>
                  <a:pt x="59928" y="112057"/>
                  <a:pt x="58483" y="114250"/>
                  <a:pt x="56240" y="115172"/>
                </a:cubicBezTo>
                <a:cubicBezTo>
                  <a:pt x="53998" y="116094"/>
                  <a:pt x="51431" y="115596"/>
                  <a:pt x="49712" y="113876"/>
                </a:cubicBezTo>
                <a:lnTo>
                  <a:pt x="39994" y="104158"/>
                </a:lnTo>
                <a:lnTo>
                  <a:pt x="18315" y="125837"/>
                </a:lnTo>
                <a:cubicBezTo>
                  <a:pt x="15973" y="128179"/>
                  <a:pt x="12185" y="128179"/>
                  <a:pt x="9868" y="125837"/>
                </a:cubicBezTo>
                <a:lnTo>
                  <a:pt x="1894" y="117863"/>
                </a:lnTo>
                <a:cubicBezTo>
                  <a:pt x="-449" y="115521"/>
                  <a:pt x="-449" y="111733"/>
                  <a:pt x="1894" y="109416"/>
                </a:cubicBezTo>
                <a:lnTo>
                  <a:pt x="23573" y="87737"/>
                </a:lnTo>
                <a:lnTo>
                  <a:pt x="13855" y="78019"/>
                </a:lnTo>
                <a:cubicBezTo>
                  <a:pt x="12135" y="76300"/>
                  <a:pt x="11637" y="73733"/>
                  <a:pt x="12559" y="71490"/>
                </a:cubicBezTo>
                <a:cubicBezTo>
                  <a:pt x="13481" y="69248"/>
                  <a:pt x="15649" y="67778"/>
                  <a:pt x="18066" y="67778"/>
                </a:cubicBezTo>
                <a:close/>
              </a:path>
            </a:pathLst>
          </a:custGeom>
          <a:solidFill>
            <a:srgbClr val="E07A5F"/>
          </a:solidFill>
          <a:ln/>
        </p:spPr>
        <p:txBody>
          <a:bodyPr/>
          <a:lstStyle/>
          <a:p>
            <a:endParaRPr lang="en-US"/>
          </a:p>
        </p:txBody>
      </p:sp>
      <p:sp>
        <p:nvSpPr>
          <p:cNvPr id="19" name="Text 17"/>
          <p:cNvSpPr/>
          <p:nvPr/>
        </p:nvSpPr>
        <p:spPr>
          <a:xfrm>
            <a:off x="837253" y="4010841"/>
            <a:ext cx="1060521"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zlib.createGzip()</a:t>
            </a:r>
            <a:endParaRPr lang="en-US" sz="1600" dirty="0"/>
          </a:p>
        </p:txBody>
      </p:sp>
      <p:sp>
        <p:nvSpPr>
          <p:cNvPr id="20" name="Text 18"/>
          <p:cNvSpPr/>
          <p:nvPr/>
        </p:nvSpPr>
        <p:spPr>
          <a:xfrm>
            <a:off x="613986" y="4297899"/>
            <a:ext cx="5167048"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Compress data using gzip</a:t>
            </a:r>
            <a:endParaRPr lang="en-US" sz="1600" dirty="0"/>
          </a:p>
        </p:txBody>
      </p:sp>
      <p:sp>
        <p:nvSpPr>
          <p:cNvPr id="21" name="Shape 19"/>
          <p:cNvSpPr/>
          <p:nvPr/>
        </p:nvSpPr>
        <p:spPr>
          <a:xfrm>
            <a:off x="486404" y="4712539"/>
            <a:ext cx="5358420" cy="733593"/>
          </a:xfrm>
          <a:custGeom>
            <a:avLst/>
            <a:gdLst/>
            <a:ahLst/>
            <a:cxnLst/>
            <a:rect l="l" t="t" r="r" b="b"/>
            <a:pathLst>
              <a:path w="5358420" h="733593">
                <a:moveTo>
                  <a:pt x="63793" y="0"/>
                </a:moveTo>
                <a:lnTo>
                  <a:pt x="5294627" y="0"/>
                </a:lnTo>
                <a:cubicBezTo>
                  <a:pt x="5329859" y="0"/>
                  <a:pt x="5358420" y="28561"/>
                  <a:pt x="5358420" y="63793"/>
                </a:cubicBezTo>
                <a:lnTo>
                  <a:pt x="5358420" y="669800"/>
                </a:lnTo>
                <a:cubicBezTo>
                  <a:pt x="5358420" y="705032"/>
                  <a:pt x="5329859" y="733593"/>
                  <a:pt x="5294627" y="733593"/>
                </a:cubicBezTo>
                <a:lnTo>
                  <a:pt x="63793" y="733593"/>
                </a:lnTo>
                <a:cubicBezTo>
                  <a:pt x="28561" y="733593"/>
                  <a:pt x="0" y="705032"/>
                  <a:pt x="0" y="669800"/>
                </a:cubicBezTo>
                <a:lnTo>
                  <a:pt x="0" y="63793"/>
                </a:lnTo>
                <a:cubicBezTo>
                  <a:pt x="0" y="28585"/>
                  <a:pt x="28585" y="0"/>
                  <a:pt x="63793" y="0"/>
                </a:cubicBezTo>
                <a:close/>
              </a:path>
            </a:pathLst>
          </a:custGeom>
          <a:solidFill>
            <a:srgbClr val="EAE7D6"/>
          </a:solidFill>
          <a:ln/>
        </p:spPr>
        <p:txBody>
          <a:bodyPr/>
          <a:lstStyle/>
          <a:p>
            <a:endParaRPr lang="en-US"/>
          </a:p>
        </p:txBody>
      </p:sp>
      <p:sp>
        <p:nvSpPr>
          <p:cNvPr id="22" name="Shape 20"/>
          <p:cNvSpPr/>
          <p:nvPr/>
        </p:nvSpPr>
        <p:spPr>
          <a:xfrm>
            <a:off x="645881" y="4887963"/>
            <a:ext cx="95686" cy="127581"/>
          </a:xfrm>
          <a:custGeom>
            <a:avLst/>
            <a:gdLst/>
            <a:ahLst/>
            <a:cxnLst/>
            <a:rect l="l" t="t" r="r" b="b"/>
            <a:pathLst>
              <a:path w="95686" h="127581">
                <a:moveTo>
                  <a:pt x="31895" y="23922"/>
                </a:moveTo>
                <a:lnTo>
                  <a:pt x="31895" y="39869"/>
                </a:lnTo>
                <a:lnTo>
                  <a:pt x="63791" y="39869"/>
                </a:lnTo>
                <a:lnTo>
                  <a:pt x="63791" y="23922"/>
                </a:lnTo>
                <a:cubicBezTo>
                  <a:pt x="63791" y="15125"/>
                  <a:pt x="56639" y="7974"/>
                  <a:pt x="47843" y="7974"/>
                </a:cubicBezTo>
                <a:cubicBezTo>
                  <a:pt x="39047" y="7974"/>
                  <a:pt x="31895" y="15125"/>
                  <a:pt x="31895" y="23922"/>
                </a:cubicBezTo>
                <a:close/>
                <a:moveTo>
                  <a:pt x="15948" y="39869"/>
                </a:moveTo>
                <a:lnTo>
                  <a:pt x="15948" y="23922"/>
                </a:lnTo>
                <a:cubicBezTo>
                  <a:pt x="15948" y="6304"/>
                  <a:pt x="30226" y="-7974"/>
                  <a:pt x="47843" y="-7974"/>
                </a:cubicBezTo>
                <a:cubicBezTo>
                  <a:pt x="65460" y="-7974"/>
                  <a:pt x="79738" y="6304"/>
                  <a:pt x="79738" y="23922"/>
                </a:cubicBezTo>
                <a:lnTo>
                  <a:pt x="79738" y="39869"/>
                </a:lnTo>
                <a:cubicBezTo>
                  <a:pt x="88535" y="39869"/>
                  <a:pt x="95686" y="47021"/>
                  <a:pt x="95686" y="55817"/>
                </a:cubicBezTo>
                <a:lnTo>
                  <a:pt x="95686" y="111634"/>
                </a:lnTo>
                <a:cubicBezTo>
                  <a:pt x="95686" y="120430"/>
                  <a:pt x="88535" y="127581"/>
                  <a:pt x="79738" y="127581"/>
                </a:cubicBezTo>
                <a:lnTo>
                  <a:pt x="15948" y="127581"/>
                </a:lnTo>
                <a:cubicBezTo>
                  <a:pt x="7152" y="127581"/>
                  <a:pt x="0" y="120430"/>
                  <a:pt x="0" y="111634"/>
                </a:cubicBezTo>
                <a:lnTo>
                  <a:pt x="0" y="55817"/>
                </a:lnTo>
                <a:cubicBezTo>
                  <a:pt x="0" y="47021"/>
                  <a:pt x="7152" y="39869"/>
                  <a:pt x="15948" y="39869"/>
                </a:cubicBezTo>
                <a:close/>
              </a:path>
            </a:pathLst>
          </a:custGeom>
          <a:solidFill>
            <a:srgbClr val="8D99AE"/>
          </a:solidFill>
          <a:ln/>
        </p:spPr>
        <p:txBody>
          <a:bodyPr/>
          <a:lstStyle/>
          <a:p>
            <a:endParaRPr lang="en-US"/>
          </a:p>
        </p:txBody>
      </p:sp>
      <p:sp>
        <p:nvSpPr>
          <p:cNvPr id="23" name="Text 21"/>
          <p:cNvSpPr/>
          <p:nvPr/>
        </p:nvSpPr>
        <p:spPr>
          <a:xfrm>
            <a:off x="837253" y="4840120"/>
            <a:ext cx="1395422"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crypto.createCipher()</a:t>
            </a:r>
            <a:endParaRPr lang="en-US" sz="1600" dirty="0"/>
          </a:p>
        </p:txBody>
      </p:sp>
      <p:sp>
        <p:nvSpPr>
          <p:cNvPr id="24" name="Text 22"/>
          <p:cNvSpPr/>
          <p:nvPr/>
        </p:nvSpPr>
        <p:spPr>
          <a:xfrm>
            <a:off x="613986" y="5127179"/>
            <a:ext cx="5167048"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Encrypt data streams</a:t>
            </a:r>
            <a:endParaRPr lang="en-US" sz="1600" dirty="0"/>
          </a:p>
        </p:txBody>
      </p:sp>
      <p:sp>
        <p:nvSpPr>
          <p:cNvPr id="25" name="Shape 23"/>
          <p:cNvSpPr/>
          <p:nvPr/>
        </p:nvSpPr>
        <p:spPr>
          <a:xfrm>
            <a:off x="486404" y="5541818"/>
            <a:ext cx="5358420" cy="733593"/>
          </a:xfrm>
          <a:custGeom>
            <a:avLst/>
            <a:gdLst/>
            <a:ahLst/>
            <a:cxnLst/>
            <a:rect l="l" t="t" r="r" b="b"/>
            <a:pathLst>
              <a:path w="5358420" h="733593">
                <a:moveTo>
                  <a:pt x="63793" y="0"/>
                </a:moveTo>
                <a:lnTo>
                  <a:pt x="5294627" y="0"/>
                </a:lnTo>
                <a:cubicBezTo>
                  <a:pt x="5329859" y="0"/>
                  <a:pt x="5358420" y="28561"/>
                  <a:pt x="5358420" y="63793"/>
                </a:cubicBezTo>
                <a:lnTo>
                  <a:pt x="5358420" y="669800"/>
                </a:lnTo>
                <a:cubicBezTo>
                  <a:pt x="5358420" y="705032"/>
                  <a:pt x="5329859" y="733593"/>
                  <a:pt x="5294627" y="733593"/>
                </a:cubicBezTo>
                <a:lnTo>
                  <a:pt x="63793" y="733593"/>
                </a:lnTo>
                <a:cubicBezTo>
                  <a:pt x="28561" y="733593"/>
                  <a:pt x="0" y="705032"/>
                  <a:pt x="0" y="669800"/>
                </a:cubicBezTo>
                <a:lnTo>
                  <a:pt x="0" y="63793"/>
                </a:lnTo>
                <a:cubicBezTo>
                  <a:pt x="0" y="28585"/>
                  <a:pt x="28585" y="0"/>
                  <a:pt x="63793" y="0"/>
                </a:cubicBezTo>
                <a:close/>
              </a:path>
            </a:pathLst>
          </a:custGeom>
          <a:solidFill>
            <a:srgbClr val="EAE7D6"/>
          </a:solidFill>
          <a:ln/>
        </p:spPr>
        <p:txBody>
          <a:bodyPr/>
          <a:lstStyle/>
          <a:p>
            <a:endParaRPr lang="en-US"/>
          </a:p>
        </p:txBody>
      </p:sp>
      <p:sp>
        <p:nvSpPr>
          <p:cNvPr id="26" name="Shape 24"/>
          <p:cNvSpPr/>
          <p:nvPr/>
        </p:nvSpPr>
        <p:spPr>
          <a:xfrm>
            <a:off x="621959" y="5717243"/>
            <a:ext cx="143529" cy="127581"/>
          </a:xfrm>
          <a:custGeom>
            <a:avLst/>
            <a:gdLst/>
            <a:ahLst/>
            <a:cxnLst/>
            <a:rect l="l" t="t" r="r" b="b"/>
            <a:pathLst>
              <a:path w="143529" h="127581">
                <a:moveTo>
                  <a:pt x="23922" y="0"/>
                </a:moveTo>
                <a:cubicBezTo>
                  <a:pt x="15125" y="0"/>
                  <a:pt x="7974" y="7152"/>
                  <a:pt x="7974" y="15948"/>
                </a:cubicBezTo>
                <a:lnTo>
                  <a:pt x="7974" y="111634"/>
                </a:lnTo>
                <a:cubicBezTo>
                  <a:pt x="7974" y="120430"/>
                  <a:pt x="15125" y="127581"/>
                  <a:pt x="23922" y="127581"/>
                </a:cubicBezTo>
                <a:lnTo>
                  <a:pt x="43856" y="127581"/>
                </a:lnTo>
                <a:lnTo>
                  <a:pt x="43856" y="99673"/>
                </a:lnTo>
                <a:cubicBezTo>
                  <a:pt x="43856" y="90877"/>
                  <a:pt x="51008" y="83725"/>
                  <a:pt x="59804" y="83725"/>
                </a:cubicBezTo>
                <a:lnTo>
                  <a:pt x="103660" y="83725"/>
                </a:lnTo>
                <a:lnTo>
                  <a:pt x="103660" y="42486"/>
                </a:lnTo>
                <a:cubicBezTo>
                  <a:pt x="103660" y="38250"/>
                  <a:pt x="101990" y="34188"/>
                  <a:pt x="99000" y="31198"/>
                </a:cubicBezTo>
                <a:lnTo>
                  <a:pt x="72437" y="4660"/>
                </a:lnTo>
                <a:cubicBezTo>
                  <a:pt x="69447" y="1670"/>
                  <a:pt x="65410" y="0"/>
                  <a:pt x="61174" y="0"/>
                </a:cubicBezTo>
                <a:lnTo>
                  <a:pt x="23922" y="0"/>
                </a:lnTo>
                <a:close/>
                <a:moveTo>
                  <a:pt x="89083" y="43856"/>
                </a:moveTo>
                <a:lnTo>
                  <a:pt x="65784" y="43856"/>
                </a:lnTo>
                <a:cubicBezTo>
                  <a:pt x="62470" y="43856"/>
                  <a:pt x="59804" y="41190"/>
                  <a:pt x="59804" y="37876"/>
                </a:cubicBezTo>
                <a:lnTo>
                  <a:pt x="59804" y="14577"/>
                </a:lnTo>
                <a:lnTo>
                  <a:pt x="89083" y="43856"/>
                </a:lnTo>
                <a:close/>
                <a:moveTo>
                  <a:pt x="65784" y="94689"/>
                </a:moveTo>
                <a:cubicBezTo>
                  <a:pt x="59729" y="94689"/>
                  <a:pt x="54820" y="99598"/>
                  <a:pt x="54820" y="105653"/>
                </a:cubicBezTo>
                <a:lnTo>
                  <a:pt x="54820" y="125588"/>
                </a:lnTo>
                <a:cubicBezTo>
                  <a:pt x="54820" y="131643"/>
                  <a:pt x="59729" y="136552"/>
                  <a:pt x="65784" y="136552"/>
                </a:cubicBezTo>
                <a:lnTo>
                  <a:pt x="69771" y="136552"/>
                </a:lnTo>
                <a:cubicBezTo>
                  <a:pt x="75826" y="136552"/>
                  <a:pt x="80735" y="131643"/>
                  <a:pt x="80735" y="125588"/>
                </a:cubicBezTo>
                <a:lnTo>
                  <a:pt x="80735" y="123595"/>
                </a:lnTo>
                <a:cubicBezTo>
                  <a:pt x="80735" y="120853"/>
                  <a:pt x="78492" y="118611"/>
                  <a:pt x="75751" y="118611"/>
                </a:cubicBezTo>
                <a:cubicBezTo>
                  <a:pt x="73010" y="118611"/>
                  <a:pt x="70768" y="120853"/>
                  <a:pt x="70768" y="123595"/>
                </a:cubicBezTo>
                <a:lnTo>
                  <a:pt x="70768" y="125588"/>
                </a:lnTo>
                <a:cubicBezTo>
                  <a:pt x="70768" y="126136"/>
                  <a:pt x="70319" y="126585"/>
                  <a:pt x="69771" y="126585"/>
                </a:cubicBezTo>
                <a:lnTo>
                  <a:pt x="65784" y="126585"/>
                </a:lnTo>
                <a:cubicBezTo>
                  <a:pt x="65236" y="126585"/>
                  <a:pt x="64787" y="126136"/>
                  <a:pt x="64787" y="125588"/>
                </a:cubicBezTo>
                <a:lnTo>
                  <a:pt x="64787" y="105653"/>
                </a:lnTo>
                <a:cubicBezTo>
                  <a:pt x="64787" y="105105"/>
                  <a:pt x="65236" y="104657"/>
                  <a:pt x="65784" y="104657"/>
                </a:cubicBezTo>
                <a:lnTo>
                  <a:pt x="69771" y="104657"/>
                </a:lnTo>
                <a:cubicBezTo>
                  <a:pt x="70319" y="104657"/>
                  <a:pt x="70768" y="105105"/>
                  <a:pt x="70768" y="105653"/>
                </a:cubicBezTo>
                <a:lnTo>
                  <a:pt x="70768" y="107647"/>
                </a:lnTo>
                <a:cubicBezTo>
                  <a:pt x="70768" y="110388"/>
                  <a:pt x="73010" y="112630"/>
                  <a:pt x="75751" y="112630"/>
                </a:cubicBezTo>
                <a:cubicBezTo>
                  <a:pt x="78492" y="112630"/>
                  <a:pt x="80735" y="110388"/>
                  <a:pt x="80735" y="107647"/>
                </a:cubicBezTo>
                <a:lnTo>
                  <a:pt x="80735" y="105653"/>
                </a:lnTo>
                <a:cubicBezTo>
                  <a:pt x="80735" y="99598"/>
                  <a:pt x="75826" y="94689"/>
                  <a:pt x="69771" y="94689"/>
                </a:cubicBezTo>
                <a:lnTo>
                  <a:pt x="65784" y="94689"/>
                </a:lnTo>
                <a:close/>
                <a:moveTo>
                  <a:pt x="99673" y="94689"/>
                </a:moveTo>
                <a:cubicBezTo>
                  <a:pt x="92521" y="94689"/>
                  <a:pt x="86716" y="100495"/>
                  <a:pt x="86716" y="107647"/>
                </a:cubicBezTo>
                <a:cubicBezTo>
                  <a:pt x="86716" y="114798"/>
                  <a:pt x="92521" y="120604"/>
                  <a:pt x="99673" y="120604"/>
                </a:cubicBezTo>
                <a:cubicBezTo>
                  <a:pt x="101318" y="120604"/>
                  <a:pt x="102663" y="121950"/>
                  <a:pt x="102663" y="123595"/>
                </a:cubicBezTo>
                <a:cubicBezTo>
                  <a:pt x="102663" y="125239"/>
                  <a:pt x="101318" y="126585"/>
                  <a:pt x="99673" y="126585"/>
                </a:cubicBezTo>
                <a:lnTo>
                  <a:pt x="91699" y="126585"/>
                </a:lnTo>
                <a:cubicBezTo>
                  <a:pt x="88958" y="126585"/>
                  <a:pt x="86716" y="128827"/>
                  <a:pt x="86716" y="131568"/>
                </a:cubicBezTo>
                <a:cubicBezTo>
                  <a:pt x="86716" y="134309"/>
                  <a:pt x="88958" y="136552"/>
                  <a:pt x="91699" y="136552"/>
                </a:cubicBezTo>
                <a:lnTo>
                  <a:pt x="99673" y="136552"/>
                </a:lnTo>
                <a:cubicBezTo>
                  <a:pt x="106825" y="136552"/>
                  <a:pt x="112630" y="130746"/>
                  <a:pt x="112630" y="123595"/>
                </a:cubicBezTo>
                <a:cubicBezTo>
                  <a:pt x="112630" y="116443"/>
                  <a:pt x="106825" y="110637"/>
                  <a:pt x="99673" y="110637"/>
                </a:cubicBezTo>
                <a:cubicBezTo>
                  <a:pt x="98028" y="110637"/>
                  <a:pt x="96683" y="109291"/>
                  <a:pt x="96683" y="107647"/>
                </a:cubicBezTo>
                <a:cubicBezTo>
                  <a:pt x="96683" y="106002"/>
                  <a:pt x="98028" y="104657"/>
                  <a:pt x="99673" y="104657"/>
                </a:cubicBezTo>
                <a:lnTo>
                  <a:pt x="105653" y="104657"/>
                </a:lnTo>
                <a:cubicBezTo>
                  <a:pt x="108394" y="104657"/>
                  <a:pt x="110637" y="102414"/>
                  <a:pt x="110637" y="99673"/>
                </a:cubicBezTo>
                <a:cubicBezTo>
                  <a:pt x="110637" y="96932"/>
                  <a:pt x="108394" y="94689"/>
                  <a:pt x="105653" y="94689"/>
                </a:cubicBezTo>
                <a:lnTo>
                  <a:pt x="99673" y="94689"/>
                </a:lnTo>
                <a:close/>
                <a:moveTo>
                  <a:pt x="123595" y="94689"/>
                </a:moveTo>
                <a:cubicBezTo>
                  <a:pt x="120853" y="94689"/>
                  <a:pt x="118611" y="96932"/>
                  <a:pt x="118611" y="99673"/>
                </a:cubicBezTo>
                <a:lnTo>
                  <a:pt x="118611" y="107547"/>
                </a:lnTo>
                <a:cubicBezTo>
                  <a:pt x="118611" y="116393"/>
                  <a:pt x="121227" y="125065"/>
                  <a:pt x="126136" y="132416"/>
                </a:cubicBezTo>
                <a:lnTo>
                  <a:pt x="127407" y="134334"/>
                </a:lnTo>
                <a:cubicBezTo>
                  <a:pt x="128329" y="135730"/>
                  <a:pt x="129899" y="136552"/>
                  <a:pt x="131543" y="136552"/>
                </a:cubicBezTo>
                <a:cubicBezTo>
                  <a:pt x="133188" y="136552"/>
                  <a:pt x="134758" y="135730"/>
                  <a:pt x="135680" y="134334"/>
                </a:cubicBezTo>
                <a:lnTo>
                  <a:pt x="136951" y="132416"/>
                </a:lnTo>
                <a:cubicBezTo>
                  <a:pt x="141860" y="125040"/>
                  <a:pt x="144476" y="116393"/>
                  <a:pt x="144476" y="107547"/>
                </a:cubicBezTo>
                <a:lnTo>
                  <a:pt x="144476" y="99673"/>
                </a:lnTo>
                <a:cubicBezTo>
                  <a:pt x="144476" y="96932"/>
                  <a:pt x="142233" y="94689"/>
                  <a:pt x="139492" y="94689"/>
                </a:cubicBezTo>
                <a:cubicBezTo>
                  <a:pt x="136751" y="94689"/>
                  <a:pt x="134509" y="96932"/>
                  <a:pt x="134509" y="99673"/>
                </a:cubicBezTo>
                <a:lnTo>
                  <a:pt x="134509" y="107547"/>
                </a:lnTo>
                <a:cubicBezTo>
                  <a:pt x="134509" y="112431"/>
                  <a:pt x="133487" y="117240"/>
                  <a:pt x="131519" y="121676"/>
                </a:cubicBezTo>
                <a:cubicBezTo>
                  <a:pt x="129550" y="117240"/>
                  <a:pt x="128528" y="112431"/>
                  <a:pt x="128528" y="107547"/>
                </a:cubicBezTo>
                <a:lnTo>
                  <a:pt x="128528" y="99673"/>
                </a:lnTo>
                <a:cubicBezTo>
                  <a:pt x="128528" y="96932"/>
                  <a:pt x="126286" y="94689"/>
                  <a:pt x="123545" y="94689"/>
                </a:cubicBezTo>
                <a:close/>
              </a:path>
            </a:pathLst>
          </a:custGeom>
          <a:solidFill>
            <a:srgbClr val="E07A5F"/>
          </a:solidFill>
          <a:ln/>
        </p:spPr>
        <p:txBody>
          <a:bodyPr/>
          <a:lstStyle/>
          <a:p>
            <a:endParaRPr lang="en-US"/>
          </a:p>
        </p:txBody>
      </p:sp>
      <p:sp>
        <p:nvSpPr>
          <p:cNvPr id="27" name="Text 25"/>
          <p:cNvSpPr/>
          <p:nvPr/>
        </p:nvSpPr>
        <p:spPr>
          <a:xfrm>
            <a:off x="837253" y="5669400"/>
            <a:ext cx="1212024"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CSV/JSON Parsers</a:t>
            </a:r>
            <a:endParaRPr lang="en-US" sz="1600" dirty="0"/>
          </a:p>
        </p:txBody>
      </p:sp>
      <p:sp>
        <p:nvSpPr>
          <p:cNvPr id="28" name="Text 26"/>
          <p:cNvSpPr/>
          <p:nvPr/>
        </p:nvSpPr>
        <p:spPr>
          <a:xfrm>
            <a:off x="613986" y="5956458"/>
            <a:ext cx="5167048"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Parse and transform data formats</a:t>
            </a:r>
            <a:endParaRPr lang="en-US" sz="1600" dirty="0"/>
          </a:p>
        </p:txBody>
      </p:sp>
      <p:sp>
        <p:nvSpPr>
          <p:cNvPr id="29" name="Shape 27"/>
          <p:cNvSpPr/>
          <p:nvPr/>
        </p:nvSpPr>
        <p:spPr>
          <a:xfrm>
            <a:off x="6179227" y="1088429"/>
            <a:ext cx="5685347" cy="3675940"/>
          </a:xfrm>
          <a:custGeom>
            <a:avLst/>
            <a:gdLst/>
            <a:ahLst/>
            <a:cxnLst/>
            <a:rect l="l" t="t" r="r" b="b"/>
            <a:pathLst>
              <a:path w="5685347" h="3675940">
                <a:moveTo>
                  <a:pt x="95685" y="0"/>
                </a:moveTo>
                <a:lnTo>
                  <a:pt x="5589663" y="0"/>
                </a:lnTo>
                <a:cubicBezTo>
                  <a:pt x="5642472" y="0"/>
                  <a:pt x="5685347" y="42875"/>
                  <a:pt x="5685347" y="95685"/>
                </a:cubicBezTo>
                <a:lnTo>
                  <a:pt x="5685347" y="3580255"/>
                </a:lnTo>
                <a:cubicBezTo>
                  <a:pt x="5685347" y="3633065"/>
                  <a:pt x="5642472" y="3675940"/>
                  <a:pt x="5589663" y="3675940"/>
                </a:cubicBezTo>
                <a:lnTo>
                  <a:pt x="95685" y="3675940"/>
                </a:lnTo>
                <a:cubicBezTo>
                  <a:pt x="42875" y="3675940"/>
                  <a:pt x="0" y="3633065"/>
                  <a:pt x="0" y="3580255"/>
                </a:cubicBezTo>
                <a:lnTo>
                  <a:pt x="0" y="95685"/>
                </a:lnTo>
                <a:cubicBezTo>
                  <a:pt x="0" y="42875"/>
                  <a:pt x="42875" y="0"/>
                  <a:pt x="95685" y="0"/>
                </a:cubicBezTo>
                <a:close/>
              </a:path>
            </a:pathLst>
          </a:custGeom>
          <a:solidFill>
            <a:srgbClr val="EAE7D6"/>
          </a:solidFill>
          <a:ln/>
        </p:spPr>
        <p:txBody>
          <a:bodyPr/>
          <a:lstStyle/>
          <a:p>
            <a:endParaRPr lang="en-US"/>
          </a:p>
        </p:txBody>
      </p:sp>
      <p:sp>
        <p:nvSpPr>
          <p:cNvPr id="30" name="Shape 28"/>
          <p:cNvSpPr/>
          <p:nvPr/>
        </p:nvSpPr>
        <p:spPr>
          <a:xfrm>
            <a:off x="6390534" y="1283788"/>
            <a:ext cx="143529" cy="191372"/>
          </a:xfrm>
          <a:custGeom>
            <a:avLst/>
            <a:gdLst/>
            <a:ahLst/>
            <a:cxnLst/>
            <a:rect l="l" t="t" r="r" b="b"/>
            <a:pathLst>
              <a:path w="143529" h="191372">
                <a:moveTo>
                  <a:pt x="93406" y="24968"/>
                </a:moveTo>
                <a:cubicBezTo>
                  <a:pt x="97293" y="19623"/>
                  <a:pt x="96097" y="12148"/>
                  <a:pt x="90752" y="8260"/>
                </a:cubicBezTo>
                <a:cubicBezTo>
                  <a:pt x="85407" y="4373"/>
                  <a:pt x="77932" y="5569"/>
                  <a:pt x="74045" y="10914"/>
                </a:cubicBezTo>
                <a:lnTo>
                  <a:pt x="34425" y="65373"/>
                </a:lnTo>
                <a:lnTo>
                  <a:pt x="20408" y="51357"/>
                </a:lnTo>
                <a:cubicBezTo>
                  <a:pt x="15736" y="46684"/>
                  <a:pt x="8148" y="46684"/>
                  <a:pt x="3476" y="51357"/>
                </a:cubicBezTo>
                <a:cubicBezTo>
                  <a:pt x="-1196" y="56029"/>
                  <a:pt x="-1196" y="63616"/>
                  <a:pt x="3476" y="68288"/>
                </a:cubicBezTo>
                <a:lnTo>
                  <a:pt x="27398" y="92210"/>
                </a:lnTo>
                <a:cubicBezTo>
                  <a:pt x="29865" y="94677"/>
                  <a:pt x="33303" y="95948"/>
                  <a:pt x="36779" y="95686"/>
                </a:cubicBezTo>
                <a:cubicBezTo>
                  <a:pt x="40255" y="95424"/>
                  <a:pt x="43470" y="93630"/>
                  <a:pt x="45526" y="90790"/>
                </a:cubicBezTo>
                <a:lnTo>
                  <a:pt x="93369" y="25005"/>
                </a:lnTo>
                <a:close/>
                <a:moveTo>
                  <a:pt x="141249" y="75801"/>
                </a:moveTo>
                <a:cubicBezTo>
                  <a:pt x="145136" y="70456"/>
                  <a:pt x="143940" y="62981"/>
                  <a:pt x="138595" y="59094"/>
                </a:cubicBezTo>
                <a:cubicBezTo>
                  <a:pt x="133250" y="55206"/>
                  <a:pt x="125775" y="56402"/>
                  <a:pt x="121888" y="61747"/>
                </a:cubicBezTo>
                <a:lnTo>
                  <a:pt x="58346" y="149098"/>
                </a:lnTo>
                <a:lnTo>
                  <a:pt x="32369" y="123121"/>
                </a:lnTo>
                <a:cubicBezTo>
                  <a:pt x="27697" y="118449"/>
                  <a:pt x="20109" y="118449"/>
                  <a:pt x="15437" y="123121"/>
                </a:cubicBezTo>
                <a:cubicBezTo>
                  <a:pt x="10765" y="127793"/>
                  <a:pt x="10765" y="135381"/>
                  <a:pt x="15437" y="140053"/>
                </a:cubicBezTo>
                <a:lnTo>
                  <a:pt x="51319" y="175935"/>
                </a:lnTo>
                <a:cubicBezTo>
                  <a:pt x="53786" y="178402"/>
                  <a:pt x="57225" y="179673"/>
                  <a:pt x="60701" y="179411"/>
                </a:cubicBezTo>
                <a:cubicBezTo>
                  <a:pt x="64177" y="179150"/>
                  <a:pt x="67391" y="177356"/>
                  <a:pt x="69447" y="174515"/>
                </a:cubicBezTo>
                <a:lnTo>
                  <a:pt x="141212" y="75839"/>
                </a:lnTo>
                <a:close/>
              </a:path>
            </a:pathLst>
          </a:custGeom>
          <a:solidFill>
            <a:srgbClr val="8D99AE"/>
          </a:solidFill>
          <a:ln/>
        </p:spPr>
        <p:txBody>
          <a:bodyPr/>
          <a:lstStyle/>
          <a:p>
            <a:endParaRPr lang="en-US"/>
          </a:p>
        </p:txBody>
      </p:sp>
      <p:sp>
        <p:nvSpPr>
          <p:cNvPr id="31" name="Text 29"/>
          <p:cNvSpPr/>
          <p:nvPr/>
        </p:nvSpPr>
        <p:spPr>
          <a:xfrm>
            <a:off x="6677592" y="1251893"/>
            <a:ext cx="1626663" cy="255163"/>
          </a:xfrm>
          <a:prstGeom prst="rect">
            <a:avLst/>
          </a:prstGeom>
          <a:noFill/>
          <a:ln/>
        </p:spPr>
        <p:txBody>
          <a:bodyPr wrap="square" lIns="0" tIns="0" rIns="0" bIns="0" rtlCol="0" anchor="ctr"/>
          <a:lstStyle/>
          <a:p>
            <a:pPr>
              <a:lnSpc>
                <a:spcPct val="110000"/>
              </a:lnSpc>
            </a:pPr>
            <a:r>
              <a:rPr lang="en-US" sz="1507" b="1" dirty="0">
                <a:solidFill>
                  <a:srgbClr val="2D3142"/>
                </a:solidFill>
                <a:latin typeface="Quattrocento Sans" pitchFamily="34" charset="0"/>
                <a:ea typeface="Quattrocento Sans" pitchFamily="34" charset="-122"/>
                <a:cs typeface="Quattrocento Sans" pitchFamily="34" charset="-120"/>
              </a:rPr>
              <a:t>Primary Use Cases</a:t>
            </a:r>
            <a:endParaRPr lang="en-US" sz="1600" dirty="0"/>
          </a:p>
        </p:txBody>
      </p:sp>
      <p:sp>
        <p:nvSpPr>
          <p:cNvPr id="32" name="Shape 30"/>
          <p:cNvSpPr/>
          <p:nvPr/>
        </p:nvSpPr>
        <p:spPr>
          <a:xfrm>
            <a:off x="6358638" y="1634637"/>
            <a:ext cx="5342472" cy="1307710"/>
          </a:xfrm>
          <a:custGeom>
            <a:avLst/>
            <a:gdLst/>
            <a:ahLst/>
            <a:cxnLst/>
            <a:rect l="l" t="t" r="r" b="b"/>
            <a:pathLst>
              <a:path w="5342472" h="1307710">
                <a:moveTo>
                  <a:pt x="31895" y="0"/>
                </a:moveTo>
                <a:lnTo>
                  <a:pt x="5278682" y="0"/>
                </a:lnTo>
                <a:cubicBezTo>
                  <a:pt x="5313912" y="0"/>
                  <a:pt x="5342472" y="28560"/>
                  <a:pt x="5342472" y="63790"/>
                </a:cubicBezTo>
                <a:lnTo>
                  <a:pt x="5342472" y="1243920"/>
                </a:lnTo>
                <a:cubicBezTo>
                  <a:pt x="5342472" y="1279150"/>
                  <a:pt x="5313912" y="1307710"/>
                  <a:pt x="5278682" y="1307710"/>
                </a:cubicBezTo>
                <a:lnTo>
                  <a:pt x="31895" y="1307710"/>
                </a:lnTo>
                <a:cubicBezTo>
                  <a:pt x="14280" y="1307710"/>
                  <a:pt x="0" y="1293430"/>
                  <a:pt x="0" y="1275814"/>
                </a:cubicBezTo>
                <a:lnTo>
                  <a:pt x="0" y="31895"/>
                </a:lnTo>
                <a:cubicBezTo>
                  <a:pt x="0" y="14280"/>
                  <a:pt x="14280" y="0"/>
                  <a:pt x="31895" y="0"/>
                </a:cubicBezTo>
                <a:close/>
              </a:path>
            </a:pathLst>
          </a:custGeom>
          <a:solidFill>
            <a:srgbClr val="EAE7D6"/>
          </a:solidFill>
          <a:ln/>
        </p:spPr>
        <p:txBody>
          <a:bodyPr/>
          <a:lstStyle/>
          <a:p>
            <a:endParaRPr lang="en-US"/>
          </a:p>
        </p:txBody>
      </p:sp>
      <p:sp>
        <p:nvSpPr>
          <p:cNvPr id="33" name="Shape 31"/>
          <p:cNvSpPr/>
          <p:nvPr/>
        </p:nvSpPr>
        <p:spPr>
          <a:xfrm>
            <a:off x="6358638" y="1634637"/>
            <a:ext cx="31895" cy="1307710"/>
          </a:xfrm>
          <a:custGeom>
            <a:avLst/>
            <a:gdLst/>
            <a:ahLst/>
            <a:cxnLst/>
            <a:rect l="l" t="t" r="r" b="b"/>
            <a:pathLst>
              <a:path w="31895" h="1307710">
                <a:moveTo>
                  <a:pt x="31895" y="0"/>
                </a:moveTo>
                <a:lnTo>
                  <a:pt x="31895" y="0"/>
                </a:lnTo>
                <a:lnTo>
                  <a:pt x="31895" y="1307710"/>
                </a:lnTo>
                <a:lnTo>
                  <a:pt x="31895" y="1307710"/>
                </a:lnTo>
                <a:cubicBezTo>
                  <a:pt x="14280" y="1307710"/>
                  <a:pt x="0" y="1293430"/>
                  <a:pt x="0" y="1275814"/>
                </a:cubicBezTo>
                <a:lnTo>
                  <a:pt x="0" y="31895"/>
                </a:lnTo>
                <a:cubicBezTo>
                  <a:pt x="0" y="14280"/>
                  <a:pt x="14280" y="0"/>
                  <a:pt x="31895" y="0"/>
                </a:cubicBezTo>
                <a:close/>
              </a:path>
            </a:pathLst>
          </a:custGeom>
          <a:solidFill>
            <a:srgbClr val="E07A5F"/>
          </a:solidFill>
          <a:ln/>
        </p:spPr>
        <p:txBody>
          <a:bodyPr/>
          <a:lstStyle/>
          <a:p>
            <a:endParaRPr lang="en-US"/>
          </a:p>
        </p:txBody>
      </p:sp>
      <p:sp>
        <p:nvSpPr>
          <p:cNvPr id="34" name="Shape 32"/>
          <p:cNvSpPr/>
          <p:nvPr/>
        </p:nvSpPr>
        <p:spPr>
          <a:xfrm>
            <a:off x="6526089" y="1810061"/>
            <a:ext cx="111634" cy="127581"/>
          </a:xfrm>
          <a:custGeom>
            <a:avLst/>
            <a:gdLst/>
            <a:ahLst/>
            <a:cxnLst/>
            <a:rect l="l" t="t" r="r" b="b"/>
            <a:pathLst>
              <a:path w="111634" h="127581">
                <a:moveTo>
                  <a:pt x="39869" y="15948"/>
                </a:moveTo>
                <a:cubicBezTo>
                  <a:pt x="39869" y="11537"/>
                  <a:pt x="36306" y="7974"/>
                  <a:pt x="31895" y="7974"/>
                </a:cubicBezTo>
                <a:cubicBezTo>
                  <a:pt x="27485" y="7974"/>
                  <a:pt x="23922" y="11537"/>
                  <a:pt x="23922" y="15948"/>
                </a:cubicBezTo>
                <a:lnTo>
                  <a:pt x="23922" y="31895"/>
                </a:lnTo>
                <a:lnTo>
                  <a:pt x="7974" y="31895"/>
                </a:lnTo>
                <a:cubicBezTo>
                  <a:pt x="3563" y="31895"/>
                  <a:pt x="0" y="35459"/>
                  <a:pt x="0" y="39869"/>
                </a:cubicBezTo>
                <a:cubicBezTo>
                  <a:pt x="0" y="44280"/>
                  <a:pt x="3563" y="47843"/>
                  <a:pt x="7974" y="47843"/>
                </a:cubicBezTo>
                <a:lnTo>
                  <a:pt x="31895" y="47843"/>
                </a:lnTo>
                <a:cubicBezTo>
                  <a:pt x="36306" y="47843"/>
                  <a:pt x="39869" y="44280"/>
                  <a:pt x="39869" y="39869"/>
                </a:cubicBezTo>
                <a:lnTo>
                  <a:pt x="39869" y="15948"/>
                </a:lnTo>
                <a:close/>
                <a:moveTo>
                  <a:pt x="7974" y="79738"/>
                </a:moveTo>
                <a:cubicBezTo>
                  <a:pt x="3563" y="79738"/>
                  <a:pt x="0" y="83302"/>
                  <a:pt x="0" y="87712"/>
                </a:cubicBezTo>
                <a:cubicBezTo>
                  <a:pt x="0" y="92123"/>
                  <a:pt x="3563" y="95686"/>
                  <a:pt x="7974" y="95686"/>
                </a:cubicBezTo>
                <a:lnTo>
                  <a:pt x="23922" y="95686"/>
                </a:lnTo>
                <a:lnTo>
                  <a:pt x="23922" y="111634"/>
                </a:lnTo>
                <a:cubicBezTo>
                  <a:pt x="23922" y="116044"/>
                  <a:pt x="27485" y="119608"/>
                  <a:pt x="31895" y="119608"/>
                </a:cubicBezTo>
                <a:cubicBezTo>
                  <a:pt x="36306" y="119608"/>
                  <a:pt x="39869" y="116044"/>
                  <a:pt x="39869" y="111634"/>
                </a:cubicBezTo>
                <a:lnTo>
                  <a:pt x="39869" y="87712"/>
                </a:lnTo>
                <a:cubicBezTo>
                  <a:pt x="39869" y="83302"/>
                  <a:pt x="36306" y="79738"/>
                  <a:pt x="31895" y="79738"/>
                </a:cubicBezTo>
                <a:lnTo>
                  <a:pt x="7974" y="79738"/>
                </a:lnTo>
                <a:close/>
                <a:moveTo>
                  <a:pt x="87712" y="15948"/>
                </a:moveTo>
                <a:cubicBezTo>
                  <a:pt x="87712" y="11537"/>
                  <a:pt x="84149" y="7974"/>
                  <a:pt x="79738" y="7974"/>
                </a:cubicBezTo>
                <a:cubicBezTo>
                  <a:pt x="75328" y="7974"/>
                  <a:pt x="71765" y="11537"/>
                  <a:pt x="71765" y="15948"/>
                </a:cubicBezTo>
                <a:lnTo>
                  <a:pt x="71765" y="39869"/>
                </a:lnTo>
                <a:cubicBezTo>
                  <a:pt x="71765" y="44280"/>
                  <a:pt x="75328" y="47843"/>
                  <a:pt x="79738" y="47843"/>
                </a:cubicBezTo>
                <a:lnTo>
                  <a:pt x="103660" y="47843"/>
                </a:lnTo>
                <a:cubicBezTo>
                  <a:pt x="108070" y="47843"/>
                  <a:pt x="111634" y="44280"/>
                  <a:pt x="111634" y="39869"/>
                </a:cubicBezTo>
                <a:cubicBezTo>
                  <a:pt x="111634" y="35459"/>
                  <a:pt x="108070" y="31895"/>
                  <a:pt x="103660" y="31895"/>
                </a:cubicBezTo>
                <a:lnTo>
                  <a:pt x="87712" y="31895"/>
                </a:lnTo>
                <a:lnTo>
                  <a:pt x="87712" y="15948"/>
                </a:lnTo>
                <a:close/>
                <a:moveTo>
                  <a:pt x="79738" y="79738"/>
                </a:moveTo>
                <a:cubicBezTo>
                  <a:pt x="75328" y="79738"/>
                  <a:pt x="71765" y="83302"/>
                  <a:pt x="71765" y="87712"/>
                </a:cubicBezTo>
                <a:lnTo>
                  <a:pt x="71765" y="111634"/>
                </a:lnTo>
                <a:cubicBezTo>
                  <a:pt x="71765" y="116044"/>
                  <a:pt x="75328" y="119608"/>
                  <a:pt x="79738" y="119608"/>
                </a:cubicBezTo>
                <a:cubicBezTo>
                  <a:pt x="84149" y="119608"/>
                  <a:pt x="87712" y="116044"/>
                  <a:pt x="87712" y="111634"/>
                </a:cubicBezTo>
                <a:lnTo>
                  <a:pt x="87712" y="95686"/>
                </a:lnTo>
                <a:lnTo>
                  <a:pt x="103660" y="95686"/>
                </a:lnTo>
                <a:cubicBezTo>
                  <a:pt x="108070" y="95686"/>
                  <a:pt x="111634" y="92123"/>
                  <a:pt x="111634" y="87712"/>
                </a:cubicBezTo>
                <a:cubicBezTo>
                  <a:pt x="111634" y="83302"/>
                  <a:pt x="108070" y="79738"/>
                  <a:pt x="103660" y="79738"/>
                </a:cubicBezTo>
                <a:lnTo>
                  <a:pt x="79738" y="79738"/>
                </a:lnTo>
                <a:close/>
              </a:path>
            </a:pathLst>
          </a:custGeom>
          <a:solidFill>
            <a:srgbClr val="E07A5F"/>
          </a:solidFill>
          <a:ln/>
        </p:spPr>
        <p:txBody>
          <a:bodyPr/>
          <a:lstStyle/>
          <a:p>
            <a:endParaRPr lang="en-US"/>
          </a:p>
        </p:txBody>
      </p:sp>
      <p:sp>
        <p:nvSpPr>
          <p:cNvPr id="35" name="Text 33"/>
          <p:cNvSpPr/>
          <p:nvPr/>
        </p:nvSpPr>
        <p:spPr>
          <a:xfrm>
            <a:off x="6725435" y="1762218"/>
            <a:ext cx="893070"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Compression</a:t>
            </a:r>
            <a:endParaRPr lang="en-US" sz="1600" dirty="0"/>
          </a:p>
        </p:txBody>
      </p:sp>
      <p:sp>
        <p:nvSpPr>
          <p:cNvPr id="36" name="Text 34"/>
          <p:cNvSpPr/>
          <p:nvPr/>
        </p:nvSpPr>
        <p:spPr>
          <a:xfrm>
            <a:off x="6502167" y="2049277"/>
            <a:ext cx="5135152"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gzip, deflate, brotli compression on-the-fly</a:t>
            </a:r>
            <a:endParaRPr lang="en-US" sz="1600" dirty="0"/>
          </a:p>
        </p:txBody>
      </p:sp>
      <p:sp>
        <p:nvSpPr>
          <p:cNvPr id="37" name="Shape 35"/>
          <p:cNvSpPr/>
          <p:nvPr/>
        </p:nvSpPr>
        <p:spPr>
          <a:xfrm>
            <a:off x="6502167" y="2304440"/>
            <a:ext cx="5071362" cy="510326"/>
          </a:xfrm>
          <a:custGeom>
            <a:avLst/>
            <a:gdLst/>
            <a:ahLst/>
            <a:cxnLst/>
            <a:rect l="l" t="t" r="r" b="b"/>
            <a:pathLst>
              <a:path w="5071362" h="510326">
                <a:moveTo>
                  <a:pt x="31895" y="0"/>
                </a:moveTo>
                <a:lnTo>
                  <a:pt x="5039466" y="0"/>
                </a:lnTo>
                <a:cubicBezTo>
                  <a:pt x="5057082" y="0"/>
                  <a:pt x="5071362" y="14280"/>
                  <a:pt x="5071362" y="31895"/>
                </a:cubicBezTo>
                <a:lnTo>
                  <a:pt x="5071362" y="478430"/>
                </a:lnTo>
                <a:cubicBezTo>
                  <a:pt x="5071362" y="496046"/>
                  <a:pt x="5057082" y="510326"/>
                  <a:pt x="5039466" y="510326"/>
                </a:cubicBezTo>
                <a:lnTo>
                  <a:pt x="31895" y="510326"/>
                </a:lnTo>
                <a:cubicBezTo>
                  <a:pt x="14280" y="510326"/>
                  <a:pt x="0" y="496046"/>
                  <a:pt x="0" y="478430"/>
                </a:cubicBezTo>
                <a:lnTo>
                  <a:pt x="0" y="31895"/>
                </a:lnTo>
                <a:cubicBezTo>
                  <a:pt x="0" y="14280"/>
                  <a:pt x="14280" y="0"/>
                  <a:pt x="31895" y="0"/>
                </a:cubicBezTo>
                <a:close/>
              </a:path>
            </a:pathLst>
          </a:custGeom>
          <a:solidFill>
            <a:srgbClr val="EAE7D6"/>
          </a:solidFill>
          <a:ln/>
        </p:spPr>
        <p:txBody>
          <a:bodyPr/>
          <a:lstStyle/>
          <a:p>
            <a:endParaRPr lang="en-US"/>
          </a:p>
        </p:txBody>
      </p:sp>
      <p:sp>
        <p:nvSpPr>
          <p:cNvPr id="38" name="Text 36"/>
          <p:cNvSpPr/>
          <p:nvPr/>
        </p:nvSpPr>
        <p:spPr>
          <a:xfrm>
            <a:off x="6502167" y="2304440"/>
            <a:ext cx="5119205" cy="510326"/>
          </a:xfrm>
          <a:prstGeom prst="rect">
            <a:avLst/>
          </a:prstGeom>
          <a:noFill/>
          <a:ln/>
        </p:spPr>
        <p:txBody>
          <a:bodyPr wrap="square" lIns="63791" tIns="63791" rIns="63791" bIns="63791" rtlCol="0" anchor="ctr"/>
          <a:lstStyle/>
          <a:p>
            <a:pPr>
              <a:lnSpc>
                <a:spcPct val="110000"/>
              </a:lnSpc>
            </a:pPr>
            <a:r>
              <a:rPr lang="en-US" sz="753" dirty="0">
                <a:solidFill>
                  <a:srgbClr val="E07A5F"/>
                </a:solidFill>
                <a:latin typeface="MiSans" pitchFamily="34" charset="0"/>
                <a:ea typeface="MiSans" pitchFamily="34" charset="-122"/>
                <a:cs typeface="MiSans" pitchFamily="34" charset="-120"/>
              </a:rPr>
              <a:t>fs.createReadStream('file.txt')</a:t>
            </a:r>
            <a:endParaRPr lang="en-US" sz="1600" dirty="0"/>
          </a:p>
          <a:p>
            <a:pPr>
              <a:lnSpc>
                <a:spcPct val="110000"/>
              </a:lnSpc>
            </a:pPr>
            <a:r>
              <a:rPr lang="en-US" sz="753" dirty="0">
                <a:solidFill>
                  <a:srgbClr val="E07A5F"/>
                </a:solidFill>
                <a:latin typeface="MiSans" pitchFamily="34" charset="0"/>
                <a:ea typeface="MiSans" pitchFamily="34" charset="-122"/>
                <a:cs typeface="MiSans" pitchFamily="34" charset="-120"/>
              </a:rPr>
              <a:t>.pipe(zlib.createGzip())</a:t>
            </a:r>
            <a:endParaRPr lang="en-US" sz="1600" dirty="0"/>
          </a:p>
          <a:p>
            <a:pPr>
              <a:lnSpc>
                <a:spcPct val="110000"/>
              </a:lnSpc>
            </a:pPr>
            <a:r>
              <a:rPr lang="en-US" sz="753" dirty="0">
                <a:solidFill>
                  <a:srgbClr val="E07A5F"/>
                </a:solidFill>
                <a:latin typeface="MiSans" pitchFamily="34" charset="0"/>
                <a:ea typeface="MiSans" pitchFamily="34" charset="-122"/>
                <a:cs typeface="MiSans" pitchFamily="34" charset="-120"/>
              </a:rPr>
              <a:t>.pipe(fs.createWriteStream('file.gz'))</a:t>
            </a:r>
            <a:endParaRPr lang="en-US" sz="1600" dirty="0"/>
          </a:p>
        </p:txBody>
      </p:sp>
      <p:sp>
        <p:nvSpPr>
          <p:cNvPr id="39" name="Shape 37"/>
          <p:cNvSpPr/>
          <p:nvPr/>
        </p:nvSpPr>
        <p:spPr>
          <a:xfrm>
            <a:off x="6358638" y="3038033"/>
            <a:ext cx="5342472" cy="733593"/>
          </a:xfrm>
          <a:custGeom>
            <a:avLst/>
            <a:gdLst/>
            <a:ahLst/>
            <a:cxnLst/>
            <a:rect l="l" t="t" r="r" b="b"/>
            <a:pathLst>
              <a:path w="5342472" h="733593">
                <a:moveTo>
                  <a:pt x="31895" y="0"/>
                </a:moveTo>
                <a:lnTo>
                  <a:pt x="5278679" y="0"/>
                </a:lnTo>
                <a:cubicBezTo>
                  <a:pt x="5313911" y="0"/>
                  <a:pt x="5342472" y="28561"/>
                  <a:pt x="5342472" y="63793"/>
                </a:cubicBezTo>
                <a:lnTo>
                  <a:pt x="5342472" y="669800"/>
                </a:lnTo>
                <a:cubicBezTo>
                  <a:pt x="5342472" y="705032"/>
                  <a:pt x="5313911" y="733593"/>
                  <a:pt x="5278679" y="733593"/>
                </a:cubicBezTo>
                <a:lnTo>
                  <a:pt x="31895" y="733593"/>
                </a:lnTo>
                <a:cubicBezTo>
                  <a:pt x="14280" y="733593"/>
                  <a:pt x="0" y="719313"/>
                  <a:pt x="0" y="701698"/>
                </a:cubicBezTo>
                <a:lnTo>
                  <a:pt x="0" y="31895"/>
                </a:lnTo>
                <a:cubicBezTo>
                  <a:pt x="0" y="14280"/>
                  <a:pt x="14280" y="0"/>
                  <a:pt x="31895" y="0"/>
                </a:cubicBezTo>
                <a:close/>
              </a:path>
            </a:pathLst>
          </a:custGeom>
          <a:solidFill>
            <a:srgbClr val="EAE7D6"/>
          </a:solidFill>
          <a:ln/>
        </p:spPr>
        <p:txBody>
          <a:bodyPr/>
          <a:lstStyle/>
          <a:p>
            <a:endParaRPr lang="en-US"/>
          </a:p>
        </p:txBody>
      </p:sp>
      <p:sp>
        <p:nvSpPr>
          <p:cNvPr id="40" name="Shape 38"/>
          <p:cNvSpPr/>
          <p:nvPr/>
        </p:nvSpPr>
        <p:spPr>
          <a:xfrm>
            <a:off x="6358638" y="3038033"/>
            <a:ext cx="31895" cy="733593"/>
          </a:xfrm>
          <a:custGeom>
            <a:avLst/>
            <a:gdLst/>
            <a:ahLst/>
            <a:cxnLst/>
            <a:rect l="l" t="t" r="r" b="b"/>
            <a:pathLst>
              <a:path w="31895" h="733593">
                <a:moveTo>
                  <a:pt x="31895" y="0"/>
                </a:moveTo>
                <a:lnTo>
                  <a:pt x="31895" y="0"/>
                </a:lnTo>
                <a:lnTo>
                  <a:pt x="31895" y="733593"/>
                </a:lnTo>
                <a:lnTo>
                  <a:pt x="31895" y="733593"/>
                </a:lnTo>
                <a:cubicBezTo>
                  <a:pt x="14280" y="733593"/>
                  <a:pt x="0" y="719313"/>
                  <a:pt x="0" y="701698"/>
                </a:cubicBezTo>
                <a:lnTo>
                  <a:pt x="0" y="31895"/>
                </a:lnTo>
                <a:cubicBezTo>
                  <a:pt x="0" y="14280"/>
                  <a:pt x="14280" y="0"/>
                  <a:pt x="31895" y="0"/>
                </a:cubicBezTo>
                <a:close/>
              </a:path>
            </a:pathLst>
          </a:custGeom>
          <a:solidFill>
            <a:srgbClr val="8D99AE"/>
          </a:solidFill>
          <a:ln/>
        </p:spPr>
        <p:txBody>
          <a:bodyPr/>
          <a:lstStyle/>
          <a:p>
            <a:endParaRPr lang="en-US"/>
          </a:p>
        </p:txBody>
      </p:sp>
      <p:sp>
        <p:nvSpPr>
          <p:cNvPr id="41" name="Shape 39"/>
          <p:cNvSpPr/>
          <p:nvPr/>
        </p:nvSpPr>
        <p:spPr>
          <a:xfrm>
            <a:off x="6518115" y="3213457"/>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8D99AE"/>
          </a:solidFill>
          <a:ln/>
        </p:spPr>
        <p:txBody>
          <a:bodyPr/>
          <a:lstStyle/>
          <a:p>
            <a:endParaRPr lang="en-US"/>
          </a:p>
        </p:txBody>
      </p:sp>
      <p:sp>
        <p:nvSpPr>
          <p:cNvPr id="42" name="Text 40"/>
          <p:cNvSpPr/>
          <p:nvPr/>
        </p:nvSpPr>
        <p:spPr>
          <a:xfrm>
            <a:off x="6725435" y="3165614"/>
            <a:ext cx="741567"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Encryption</a:t>
            </a:r>
            <a:endParaRPr lang="en-US" sz="1600" dirty="0"/>
          </a:p>
        </p:txBody>
      </p:sp>
      <p:sp>
        <p:nvSpPr>
          <p:cNvPr id="43" name="Text 41"/>
          <p:cNvSpPr/>
          <p:nvPr/>
        </p:nvSpPr>
        <p:spPr>
          <a:xfrm>
            <a:off x="6502167" y="3452672"/>
            <a:ext cx="5135152"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AES, RSA encryption/decryption streams</a:t>
            </a:r>
            <a:endParaRPr lang="en-US" sz="1600" dirty="0"/>
          </a:p>
        </p:txBody>
      </p:sp>
      <p:sp>
        <p:nvSpPr>
          <p:cNvPr id="44" name="Shape 42"/>
          <p:cNvSpPr/>
          <p:nvPr/>
        </p:nvSpPr>
        <p:spPr>
          <a:xfrm>
            <a:off x="6358638" y="3867312"/>
            <a:ext cx="5342472" cy="733593"/>
          </a:xfrm>
          <a:custGeom>
            <a:avLst/>
            <a:gdLst/>
            <a:ahLst/>
            <a:cxnLst/>
            <a:rect l="l" t="t" r="r" b="b"/>
            <a:pathLst>
              <a:path w="5342472" h="733593">
                <a:moveTo>
                  <a:pt x="31895" y="0"/>
                </a:moveTo>
                <a:lnTo>
                  <a:pt x="5278679" y="0"/>
                </a:lnTo>
                <a:cubicBezTo>
                  <a:pt x="5313911" y="0"/>
                  <a:pt x="5342472" y="28561"/>
                  <a:pt x="5342472" y="63793"/>
                </a:cubicBezTo>
                <a:lnTo>
                  <a:pt x="5342472" y="669800"/>
                </a:lnTo>
                <a:cubicBezTo>
                  <a:pt x="5342472" y="705032"/>
                  <a:pt x="5313911" y="733593"/>
                  <a:pt x="5278679" y="733593"/>
                </a:cubicBezTo>
                <a:lnTo>
                  <a:pt x="31895" y="733593"/>
                </a:lnTo>
                <a:cubicBezTo>
                  <a:pt x="14280" y="733593"/>
                  <a:pt x="0" y="719313"/>
                  <a:pt x="0" y="701698"/>
                </a:cubicBezTo>
                <a:lnTo>
                  <a:pt x="0" y="31895"/>
                </a:lnTo>
                <a:cubicBezTo>
                  <a:pt x="0" y="14280"/>
                  <a:pt x="14280" y="0"/>
                  <a:pt x="31895" y="0"/>
                </a:cubicBezTo>
                <a:close/>
              </a:path>
            </a:pathLst>
          </a:custGeom>
          <a:solidFill>
            <a:srgbClr val="EAE7D6"/>
          </a:solidFill>
          <a:ln/>
        </p:spPr>
        <p:txBody>
          <a:bodyPr/>
          <a:lstStyle/>
          <a:p>
            <a:endParaRPr lang="en-US"/>
          </a:p>
        </p:txBody>
      </p:sp>
      <p:sp>
        <p:nvSpPr>
          <p:cNvPr id="45" name="Shape 43"/>
          <p:cNvSpPr/>
          <p:nvPr/>
        </p:nvSpPr>
        <p:spPr>
          <a:xfrm>
            <a:off x="6358638" y="3867312"/>
            <a:ext cx="31895" cy="733593"/>
          </a:xfrm>
          <a:custGeom>
            <a:avLst/>
            <a:gdLst/>
            <a:ahLst/>
            <a:cxnLst/>
            <a:rect l="l" t="t" r="r" b="b"/>
            <a:pathLst>
              <a:path w="31895" h="733593">
                <a:moveTo>
                  <a:pt x="31895" y="0"/>
                </a:moveTo>
                <a:lnTo>
                  <a:pt x="31895" y="0"/>
                </a:lnTo>
                <a:lnTo>
                  <a:pt x="31895" y="733593"/>
                </a:lnTo>
                <a:lnTo>
                  <a:pt x="31895" y="733593"/>
                </a:lnTo>
                <a:cubicBezTo>
                  <a:pt x="14280" y="733593"/>
                  <a:pt x="0" y="719313"/>
                  <a:pt x="0" y="701698"/>
                </a:cubicBezTo>
                <a:lnTo>
                  <a:pt x="0" y="31895"/>
                </a:lnTo>
                <a:cubicBezTo>
                  <a:pt x="0" y="14280"/>
                  <a:pt x="14280" y="0"/>
                  <a:pt x="31895" y="0"/>
                </a:cubicBezTo>
                <a:close/>
              </a:path>
            </a:pathLst>
          </a:custGeom>
          <a:solidFill>
            <a:srgbClr val="8D99AE"/>
          </a:solidFill>
          <a:ln/>
        </p:spPr>
        <p:txBody>
          <a:bodyPr/>
          <a:lstStyle/>
          <a:p>
            <a:endParaRPr lang="en-US"/>
          </a:p>
        </p:txBody>
      </p:sp>
      <p:sp>
        <p:nvSpPr>
          <p:cNvPr id="46" name="Shape 44"/>
          <p:cNvSpPr/>
          <p:nvPr/>
        </p:nvSpPr>
        <p:spPr>
          <a:xfrm>
            <a:off x="6518115" y="4042736"/>
            <a:ext cx="127581" cy="127581"/>
          </a:xfrm>
          <a:custGeom>
            <a:avLst/>
            <a:gdLst/>
            <a:ahLst/>
            <a:cxnLst/>
            <a:rect l="l" t="t" r="r" b="b"/>
            <a:pathLst>
              <a:path w="127581" h="127581">
                <a:moveTo>
                  <a:pt x="125239" y="37527"/>
                </a:moveTo>
                <a:lnTo>
                  <a:pt x="101318" y="61448"/>
                </a:lnTo>
                <a:cubicBezTo>
                  <a:pt x="99025" y="63741"/>
                  <a:pt x="95611" y="64414"/>
                  <a:pt x="92621" y="63168"/>
                </a:cubicBezTo>
                <a:cubicBezTo>
                  <a:pt x="89631" y="61922"/>
                  <a:pt x="87712" y="59031"/>
                  <a:pt x="87712" y="55817"/>
                </a:cubicBezTo>
                <a:lnTo>
                  <a:pt x="87712" y="39869"/>
                </a:lnTo>
                <a:lnTo>
                  <a:pt x="7974" y="39869"/>
                </a:lnTo>
                <a:cubicBezTo>
                  <a:pt x="3563" y="39869"/>
                  <a:pt x="0" y="36306"/>
                  <a:pt x="0" y="31895"/>
                </a:cubicBezTo>
                <a:cubicBezTo>
                  <a:pt x="0" y="27485"/>
                  <a:pt x="3563" y="23922"/>
                  <a:pt x="7974" y="23922"/>
                </a:cubicBezTo>
                <a:lnTo>
                  <a:pt x="87712" y="23922"/>
                </a:lnTo>
                <a:lnTo>
                  <a:pt x="87712" y="7974"/>
                </a:lnTo>
                <a:cubicBezTo>
                  <a:pt x="87712" y="4759"/>
                  <a:pt x="89656" y="1844"/>
                  <a:pt x="92646" y="598"/>
                </a:cubicBezTo>
                <a:cubicBezTo>
                  <a:pt x="95636" y="-648"/>
                  <a:pt x="99050" y="50"/>
                  <a:pt x="101343" y="2317"/>
                </a:cubicBezTo>
                <a:lnTo>
                  <a:pt x="125264" y="26239"/>
                </a:lnTo>
                <a:cubicBezTo>
                  <a:pt x="128379" y="29354"/>
                  <a:pt x="128379" y="34412"/>
                  <a:pt x="125264" y="37527"/>
                </a:cubicBezTo>
                <a:close/>
                <a:moveTo>
                  <a:pt x="26239" y="125239"/>
                </a:moveTo>
                <a:lnTo>
                  <a:pt x="2317" y="101318"/>
                </a:lnTo>
                <a:cubicBezTo>
                  <a:pt x="-797" y="98203"/>
                  <a:pt x="-797" y="93144"/>
                  <a:pt x="2317" y="90030"/>
                </a:cubicBezTo>
                <a:lnTo>
                  <a:pt x="26239" y="66108"/>
                </a:lnTo>
                <a:cubicBezTo>
                  <a:pt x="28531" y="63816"/>
                  <a:pt x="31945" y="63143"/>
                  <a:pt x="34935" y="64389"/>
                </a:cubicBezTo>
                <a:cubicBezTo>
                  <a:pt x="37926" y="65635"/>
                  <a:pt x="39869" y="68550"/>
                  <a:pt x="39869" y="71765"/>
                </a:cubicBezTo>
                <a:lnTo>
                  <a:pt x="39869" y="87712"/>
                </a:lnTo>
                <a:lnTo>
                  <a:pt x="119608" y="87712"/>
                </a:lnTo>
                <a:cubicBezTo>
                  <a:pt x="124018" y="87712"/>
                  <a:pt x="127581" y="91276"/>
                  <a:pt x="127581" y="95686"/>
                </a:cubicBezTo>
                <a:cubicBezTo>
                  <a:pt x="127581" y="100097"/>
                  <a:pt x="124018" y="103660"/>
                  <a:pt x="119608" y="103660"/>
                </a:cubicBezTo>
                <a:lnTo>
                  <a:pt x="39869" y="103660"/>
                </a:lnTo>
                <a:lnTo>
                  <a:pt x="39869" y="119608"/>
                </a:lnTo>
                <a:cubicBezTo>
                  <a:pt x="39869" y="122822"/>
                  <a:pt x="37926" y="125737"/>
                  <a:pt x="34935" y="126983"/>
                </a:cubicBezTo>
                <a:cubicBezTo>
                  <a:pt x="31945" y="128229"/>
                  <a:pt x="28531" y="127532"/>
                  <a:pt x="26239" y="125264"/>
                </a:cubicBezTo>
                <a:close/>
              </a:path>
            </a:pathLst>
          </a:custGeom>
          <a:solidFill>
            <a:srgbClr val="2D3142"/>
          </a:solidFill>
          <a:ln/>
        </p:spPr>
        <p:txBody>
          <a:bodyPr/>
          <a:lstStyle/>
          <a:p>
            <a:endParaRPr lang="en-US"/>
          </a:p>
        </p:txBody>
      </p:sp>
      <p:sp>
        <p:nvSpPr>
          <p:cNvPr id="47" name="Text 45"/>
          <p:cNvSpPr/>
          <p:nvPr/>
        </p:nvSpPr>
        <p:spPr>
          <a:xfrm>
            <a:off x="6725435" y="3994893"/>
            <a:ext cx="1100390" cy="223267"/>
          </a:xfrm>
          <a:prstGeom prst="rect">
            <a:avLst/>
          </a:prstGeom>
          <a:noFill/>
          <a:ln/>
        </p:spPr>
        <p:txBody>
          <a:bodyPr wrap="square" lIns="0" tIns="0" rIns="0" bIns="0" rtlCol="0" anchor="ctr"/>
          <a:lstStyle/>
          <a:p>
            <a:pPr>
              <a:lnSpc>
                <a:spcPct val="130000"/>
              </a:lnSpc>
            </a:pPr>
            <a:r>
              <a:rPr lang="en-US" sz="1130" b="1" dirty="0">
                <a:solidFill>
                  <a:srgbClr val="2D3142"/>
                </a:solidFill>
                <a:latin typeface="Quattrocento Sans" pitchFamily="34" charset="0"/>
                <a:ea typeface="Quattrocento Sans" pitchFamily="34" charset="-122"/>
                <a:cs typeface="Quattrocento Sans" pitchFamily="34" charset="-120"/>
              </a:rPr>
              <a:t>Data Conversion</a:t>
            </a:r>
            <a:endParaRPr lang="en-US" sz="1600" dirty="0"/>
          </a:p>
        </p:txBody>
      </p:sp>
      <p:sp>
        <p:nvSpPr>
          <p:cNvPr id="48" name="Text 46"/>
          <p:cNvSpPr/>
          <p:nvPr/>
        </p:nvSpPr>
        <p:spPr>
          <a:xfrm>
            <a:off x="6502167" y="4281952"/>
            <a:ext cx="5135152" cy="191372"/>
          </a:xfrm>
          <a:prstGeom prst="rect">
            <a:avLst/>
          </a:prstGeom>
          <a:noFill/>
          <a:ln/>
        </p:spPr>
        <p:txBody>
          <a:bodyPr wrap="square" lIns="0" tIns="0" rIns="0" bIns="0" rtlCol="0" anchor="ctr"/>
          <a:lstStyle/>
          <a:p>
            <a:pPr>
              <a:lnSpc>
                <a:spcPct val="130000"/>
              </a:lnSpc>
            </a:pPr>
            <a:r>
              <a:rPr lang="en-US" sz="1005" dirty="0">
                <a:solidFill>
                  <a:srgbClr val="8D99AE"/>
                </a:solidFill>
                <a:latin typeface="Quattrocento Sans" pitchFamily="34" charset="0"/>
                <a:ea typeface="Quattrocento Sans" pitchFamily="34" charset="-122"/>
                <a:cs typeface="Quattrocento Sans" pitchFamily="34" charset="-120"/>
              </a:rPr>
              <a:t>Format conversion, filtering, mapping</a:t>
            </a:r>
            <a:endParaRPr lang="en-US" sz="1600" dirty="0"/>
          </a:p>
        </p:txBody>
      </p:sp>
      <p:sp>
        <p:nvSpPr>
          <p:cNvPr id="49" name="Shape 47"/>
          <p:cNvSpPr/>
          <p:nvPr/>
        </p:nvSpPr>
        <p:spPr>
          <a:xfrm>
            <a:off x="6179227" y="4899924"/>
            <a:ext cx="5685347" cy="1953591"/>
          </a:xfrm>
          <a:custGeom>
            <a:avLst/>
            <a:gdLst/>
            <a:ahLst/>
            <a:cxnLst/>
            <a:rect l="l" t="t" r="r" b="b"/>
            <a:pathLst>
              <a:path w="5685347" h="1953591">
                <a:moveTo>
                  <a:pt x="95687" y="0"/>
                </a:moveTo>
                <a:lnTo>
                  <a:pt x="5589660" y="0"/>
                </a:lnTo>
                <a:cubicBezTo>
                  <a:pt x="5642507" y="0"/>
                  <a:pt x="5685347" y="42840"/>
                  <a:pt x="5685347" y="95687"/>
                </a:cubicBezTo>
                <a:lnTo>
                  <a:pt x="5685347" y="1857904"/>
                </a:lnTo>
                <a:cubicBezTo>
                  <a:pt x="5685347" y="1910750"/>
                  <a:pt x="5642507" y="1953591"/>
                  <a:pt x="5589660" y="1953591"/>
                </a:cubicBezTo>
                <a:lnTo>
                  <a:pt x="95687" y="1953591"/>
                </a:lnTo>
                <a:cubicBezTo>
                  <a:pt x="42876" y="1953591"/>
                  <a:pt x="0" y="1910715"/>
                  <a:pt x="0" y="1857904"/>
                </a:cubicBezTo>
                <a:lnTo>
                  <a:pt x="0" y="95687"/>
                </a:lnTo>
                <a:cubicBezTo>
                  <a:pt x="0" y="42876"/>
                  <a:pt x="42876" y="0"/>
                  <a:pt x="95687" y="0"/>
                </a:cubicBezTo>
                <a:close/>
              </a:path>
            </a:pathLst>
          </a:custGeom>
          <a:solidFill>
            <a:srgbClr val="EAE7D6"/>
          </a:solidFill>
          <a:ln/>
        </p:spPr>
        <p:txBody>
          <a:bodyPr/>
          <a:lstStyle/>
          <a:p>
            <a:endParaRPr lang="en-US"/>
          </a:p>
        </p:txBody>
      </p:sp>
      <p:sp>
        <p:nvSpPr>
          <p:cNvPr id="50" name="Shape 48"/>
          <p:cNvSpPr/>
          <p:nvPr/>
        </p:nvSpPr>
        <p:spPr>
          <a:xfrm>
            <a:off x="6382560" y="5095283"/>
            <a:ext cx="119608" cy="159477"/>
          </a:xfrm>
          <a:custGeom>
            <a:avLst/>
            <a:gdLst/>
            <a:ahLst/>
            <a:cxnLst/>
            <a:rect l="l" t="t" r="r" b="b"/>
            <a:pathLst>
              <a:path w="119608" h="159477">
                <a:moveTo>
                  <a:pt x="91232" y="119608"/>
                </a:moveTo>
                <a:cubicBezTo>
                  <a:pt x="93506" y="112662"/>
                  <a:pt x="98053" y="106370"/>
                  <a:pt x="103193" y="100950"/>
                </a:cubicBezTo>
                <a:cubicBezTo>
                  <a:pt x="113378" y="90235"/>
                  <a:pt x="119608" y="75751"/>
                  <a:pt x="119608" y="59804"/>
                </a:cubicBezTo>
                <a:cubicBezTo>
                  <a:pt x="119608" y="26787"/>
                  <a:pt x="92820" y="0"/>
                  <a:pt x="59804" y="0"/>
                </a:cubicBezTo>
                <a:cubicBezTo>
                  <a:pt x="26787" y="0"/>
                  <a:pt x="0" y="26787"/>
                  <a:pt x="0" y="59804"/>
                </a:cubicBezTo>
                <a:cubicBezTo>
                  <a:pt x="0" y="75751"/>
                  <a:pt x="6230" y="90235"/>
                  <a:pt x="16415" y="100950"/>
                </a:cubicBezTo>
                <a:cubicBezTo>
                  <a:pt x="21554" y="106370"/>
                  <a:pt x="26133" y="112662"/>
                  <a:pt x="28376" y="119608"/>
                </a:cubicBezTo>
                <a:lnTo>
                  <a:pt x="91201" y="119608"/>
                </a:lnTo>
                <a:close/>
                <a:moveTo>
                  <a:pt x="89706" y="134559"/>
                </a:moveTo>
                <a:lnTo>
                  <a:pt x="29902" y="134559"/>
                </a:lnTo>
                <a:lnTo>
                  <a:pt x="29902" y="139542"/>
                </a:lnTo>
                <a:cubicBezTo>
                  <a:pt x="29902" y="153310"/>
                  <a:pt x="41053" y="164460"/>
                  <a:pt x="54820" y="164460"/>
                </a:cubicBezTo>
                <a:lnTo>
                  <a:pt x="64787" y="164460"/>
                </a:lnTo>
                <a:cubicBezTo>
                  <a:pt x="78555" y="164460"/>
                  <a:pt x="89706" y="153310"/>
                  <a:pt x="89706" y="139542"/>
                </a:cubicBezTo>
                <a:lnTo>
                  <a:pt x="89706" y="134559"/>
                </a:lnTo>
                <a:close/>
                <a:moveTo>
                  <a:pt x="57312" y="34886"/>
                </a:moveTo>
                <a:cubicBezTo>
                  <a:pt x="44915" y="34886"/>
                  <a:pt x="34886" y="44915"/>
                  <a:pt x="34886" y="57312"/>
                </a:cubicBezTo>
                <a:cubicBezTo>
                  <a:pt x="34886" y="61455"/>
                  <a:pt x="31553" y="64787"/>
                  <a:pt x="27410" y="64787"/>
                </a:cubicBezTo>
                <a:cubicBezTo>
                  <a:pt x="23267" y="64787"/>
                  <a:pt x="19935" y="61455"/>
                  <a:pt x="19935" y="57312"/>
                </a:cubicBezTo>
                <a:cubicBezTo>
                  <a:pt x="19935" y="36661"/>
                  <a:pt x="36661" y="19935"/>
                  <a:pt x="57312" y="19935"/>
                </a:cubicBezTo>
                <a:cubicBezTo>
                  <a:pt x="61455" y="19935"/>
                  <a:pt x="64787" y="23267"/>
                  <a:pt x="64787" y="27410"/>
                </a:cubicBezTo>
                <a:cubicBezTo>
                  <a:pt x="64787" y="31553"/>
                  <a:pt x="61455" y="34886"/>
                  <a:pt x="57312" y="34886"/>
                </a:cubicBezTo>
                <a:close/>
              </a:path>
            </a:pathLst>
          </a:custGeom>
          <a:solidFill>
            <a:srgbClr val="E07A5F"/>
          </a:solidFill>
          <a:ln/>
        </p:spPr>
        <p:txBody>
          <a:bodyPr/>
          <a:lstStyle/>
          <a:p>
            <a:endParaRPr lang="en-US"/>
          </a:p>
        </p:txBody>
      </p:sp>
      <p:sp>
        <p:nvSpPr>
          <p:cNvPr id="51" name="Text 49"/>
          <p:cNvSpPr/>
          <p:nvPr/>
        </p:nvSpPr>
        <p:spPr>
          <a:xfrm>
            <a:off x="6637723" y="5063388"/>
            <a:ext cx="1698428" cy="223267"/>
          </a:xfrm>
          <a:prstGeom prst="rect">
            <a:avLst/>
          </a:prstGeom>
          <a:noFill/>
          <a:ln/>
        </p:spPr>
        <p:txBody>
          <a:bodyPr wrap="square" lIns="0" tIns="0" rIns="0" bIns="0" rtlCol="0" anchor="ctr"/>
          <a:lstStyle/>
          <a:p>
            <a:pPr>
              <a:lnSpc>
                <a:spcPct val="120000"/>
              </a:lnSpc>
            </a:pPr>
            <a:r>
              <a:rPr lang="en-US" sz="1256" b="1" dirty="0">
                <a:solidFill>
                  <a:srgbClr val="2D3142"/>
                </a:solidFill>
                <a:latin typeface="Quattrocento Sans" pitchFamily="34" charset="0"/>
                <a:ea typeface="Quattrocento Sans" pitchFamily="34" charset="-122"/>
                <a:cs typeface="Quattrocento Sans" pitchFamily="34" charset="-120"/>
              </a:rPr>
              <a:t>Implementation Pattern</a:t>
            </a:r>
            <a:endParaRPr lang="en-US" sz="1600" dirty="0"/>
          </a:p>
        </p:txBody>
      </p:sp>
      <p:sp>
        <p:nvSpPr>
          <p:cNvPr id="52" name="Shape 50"/>
          <p:cNvSpPr/>
          <p:nvPr/>
        </p:nvSpPr>
        <p:spPr>
          <a:xfrm>
            <a:off x="6342691" y="5382341"/>
            <a:ext cx="5358420" cy="1307710"/>
          </a:xfrm>
          <a:custGeom>
            <a:avLst/>
            <a:gdLst/>
            <a:ahLst/>
            <a:cxnLst/>
            <a:rect l="l" t="t" r="r" b="b"/>
            <a:pathLst>
              <a:path w="5358420" h="1307710">
                <a:moveTo>
                  <a:pt x="63790" y="0"/>
                </a:moveTo>
                <a:lnTo>
                  <a:pt x="5294630" y="0"/>
                </a:lnTo>
                <a:cubicBezTo>
                  <a:pt x="5329860" y="0"/>
                  <a:pt x="5358420" y="28560"/>
                  <a:pt x="5358420" y="63790"/>
                </a:cubicBezTo>
                <a:lnTo>
                  <a:pt x="5358420" y="1243920"/>
                </a:lnTo>
                <a:cubicBezTo>
                  <a:pt x="5358420" y="1279150"/>
                  <a:pt x="5329860" y="1307710"/>
                  <a:pt x="5294630" y="1307710"/>
                </a:cubicBezTo>
                <a:lnTo>
                  <a:pt x="63790" y="1307710"/>
                </a:lnTo>
                <a:cubicBezTo>
                  <a:pt x="28560" y="1307710"/>
                  <a:pt x="0" y="1279150"/>
                  <a:pt x="0" y="1243920"/>
                </a:cubicBezTo>
                <a:lnTo>
                  <a:pt x="0" y="63790"/>
                </a:lnTo>
                <a:cubicBezTo>
                  <a:pt x="0" y="28560"/>
                  <a:pt x="28560" y="0"/>
                  <a:pt x="63790" y="0"/>
                </a:cubicBezTo>
                <a:close/>
              </a:path>
            </a:pathLst>
          </a:custGeom>
          <a:solidFill>
            <a:srgbClr val="EAE7D6"/>
          </a:solidFill>
          <a:ln/>
        </p:spPr>
        <p:txBody>
          <a:bodyPr/>
          <a:lstStyle/>
          <a:p>
            <a:endParaRPr lang="en-US"/>
          </a:p>
        </p:txBody>
      </p:sp>
      <p:sp>
        <p:nvSpPr>
          <p:cNvPr id="53" name="Text 51"/>
          <p:cNvSpPr/>
          <p:nvPr/>
        </p:nvSpPr>
        <p:spPr>
          <a:xfrm>
            <a:off x="6438377" y="5478027"/>
            <a:ext cx="5222865" cy="159477"/>
          </a:xfrm>
          <a:prstGeom prst="rect">
            <a:avLst/>
          </a:prstGeom>
          <a:noFill/>
          <a:ln/>
        </p:spPr>
        <p:txBody>
          <a:bodyPr wrap="square" lIns="0" tIns="0" rIns="0" bIns="0" rtlCol="0" anchor="ctr"/>
          <a:lstStyle/>
          <a:p>
            <a:pPr>
              <a:lnSpc>
                <a:spcPct val="120000"/>
              </a:lnSpc>
            </a:pPr>
            <a:r>
              <a:rPr lang="en-US" sz="879" dirty="0">
                <a:solidFill>
                  <a:srgbClr val="E07A5F"/>
                </a:solidFill>
                <a:latin typeface="MiSans" pitchFamily="34" charset="0"/>
                <a:ea typeface="MiSans" pitchFamily="34" charset="-122"/>
                <a:cs typeface="MiSans" pitchFamily="34" charset="-120"/>
              </a:rPr>
              <a:t>const { Transform } = require('stream');</a:t>
            </a:r>
            <a:endParaRPr lang="en-US" sz="1600" dirty="0"/>
          </a:p>
        </p:txBody>
      </p:sp>
      <p:sp>
        <p:nvSpPr>
          <p:cNvPr id="54" name="Text 52"/>
          <p:cNvSpPr/>
          <p:nvPr/>
        </p:nvSpPr>
        <p:spPr>
          <a:xfrm>
            <a:off x="6438377" y="5637504"/>
            <a:ext cx="5222865" cy="159477"/>
          </a:xfrm>
          <a:prstGeom prst="rect">
            <a:avLst/>
          </a:prstGeom>
          <a:noFill/>
          <a:ln/>
        </p:spPr>
        <p:txBody>
          <a:bodyPr wrap="square" lIns="0" tIns="0" rIns="0" bIns="0" rtlCol="0" anchor="ctr"/>
          <a:lstStyle/>
          <a:p>
            <a:pPr>
              <a:lnSpc>
                <a:spcPct val="120000"/>
              </a:lnSpc>
            </a:pPr>
            <a:r>
              <a:rPr lang="en-US" sz="879" dirty="0">
                <a:solidFill>
                  <a:srgbClr val="8D99AE"/>
                </a:solidFill>
                <a:latin typeface="MiSans" pitchFamily="34" charset="0"/>
                <a:ea typeface="MiSans" pitchFamily="34" charset="-122"/>
                <a:cs typeface="MiSans" pitchFamily="34" charset="-120"/>
              </a:rPr>
              <a:t>const upperCase = new Transform({</a:t>
            </a:r>
            <a:endParaRPr lang="en-US" sz="1600" dirty="0"/>
          </a:p>
        </p:txBody>
      </p:sp>
      <p:sp>
        <p:nvSpPr>
          <p:cNvPr id="55" name="Text 53"/>
          <p:cNvSpPr/>
          <p:nvPr/>
        </p:nvSpPr>
        <p:spPr>
          <a:xfrm>
            <a:off x="6438377" y="5796981"/>
            <a:ext cx="5222865" cy="159477"/>
          </a:xfrm>
          <a:prstGeom prst="rect">
            <a:avLst/>
          </a:prstGeom>
          <a:noFill/>
          <a:ln/>
        </p:spPr>
        <p:txBody>
          <a:bodyPr wrap="square" lIns="0" tIns="0" rIns="0" bIns="0" rtlCol="0" anchor="ctr"/>
          <a:lstStyle/>
          <a:p>
            <a:pPr>
              <a:lnSpc>
                <a:spcPct val="120000"/>
              </a:lnSpc>
            </a:pPr>
            <a:r>
              <a:rPr lang="en-US" sz="879" dirty="0">
                <a:solidFill>
                  <a:srgbClr val="2D3142"/>
                </a:solidFill>
                <a:latin typeface="MiSans" pitchFamily="34" charset="0"/>
                <a:ea typeface="MiSans" pitchFamily="34" charset="-122"/>
                <a:cs typeface="MiSans" pitchFamily="34" charset="-120"/>
              </a:rPr>
              <a:t>transform(chunk, encoding, callback) {</a:t>
            </a:r>
            <a:endParaRPr lang="en-US" sz="1600" dirty="0"/>
          </a:p>
        </p:txBody>
      </p:sp>
      <p:sp>
        <p:nvSpPr>
          <p:cNvPr id="56" name="Text 54"/>
          <p:cNvSpPr/>
          <p:nvPr/>
        </p:nvSpPr>
        <p:spPr>
          <a:xfrm>
            <a:off x="6438377" y="5956458"/>
            <a:ext cx="5222865" cy="159477"/>
          </a:xfrm>
          <a:prstGeom prst="rect">
            <a:avLst/>
          </a:prstGeom>
          <a:noFill/>
          <a:ln/>
        </p:spPr>
        <p:txBody>
          <a:bodyPr wrap="square" lIns="0" tIns="0" rIns="0" bIns="0" rtlCol="0" anchor="ctr"/>
          <a:lstStyle/>
          <a:p>
            <a:pPr>
              <a:lnSpc>
                <a:spcPct val="120000"/>
              </a:lnSpc>
            </a:pPr>
            <a:r>
              <a:rPr lang="en-US" sz="879" dirty="0">
                <a:solidFill>
                  <a:srgbClr val="2D3142"/>
                </a:solidFill>
                <a:latin typeface="MiSans" pitchFamily="34" charset="0"/>
                <a:ea typeface="MiSans" pitchFamily="34" charset="-122"/>
                <a:cs typeface="MiSans" pitchFamily="34" charset="-120"/>
              </a:rPr>
              <a:t>this.push(chunk.toUpperCase());</a:t>
            </a:r>
            <a:endParaRPr lang="en-US" sz="1600" dirty="0"/>
          </a:p>
        </p:txBody>
      </p:sp>
      <p:sp>
        <p:nvSpPr>
          <p:cNvPr id="57" name="Text 55"/>
          <p:cNvSpPr/>
          <p:nvPr/>
        </p:nvSpPr>
        <p:spPr>
          <a:xfrm>
            <a:off x="6438377" y="6115935"/>
            <a:ext cx="5222865" cy="159477"/>
          </a:xfrm>
          <a:prstGeom prst="rect">
            <a:avLst/>
          </a:prstGeom>
          <a:noFill/>
          <a:ln/>
        </p:spPr>
        <p:txBody>
          <a:bodyPr wrap="square" lIns="0" tIns="0" rIns="0" bIns="0" rtlCol="0" anchor="ctr"/>
          <a:lstStyle/>
          <a:p>
            <a:pPr>
              <a:lnSpc>
                <a:spcPct val="120000"/>
              </a:lnSpc>
            </a:pPr>
            <a:r>
              <a:rPr lang="en-US" sz="879" dirty="0">
                <a:solidFill>
                  <a:srgbClr val="2D3142"/>
                </a:solidFill>
                <a:latin typeface="MiSans" pitchFamily="34" charset="0"/>
                <a:ea typeface="MiSans" pitchFamily="34" charset="-122"/>
                <a:cs typeface="MiSans" pitchFamily="34" charset="-120"/>
              </a:rPr>
              <a:t>callback();</a:t>
            </a:r>
            <a:endParaRPr lang="en-US" sz="1600" dirty="0"/>
          </a:p>
        </p:txBody>
      </p:sp>
      <p:sp>
        <p:nvSpPr>
          <p:cNvPr id="58" name="Text 56"/>
          <p:cNvSpPr/>
          <p:nvPr/>
        </p:nvSpPr>
        <p:spPr>
          <a:xfrm>
            <a:off x="6438377" y="6275411"/>
            <a:ext cx="5222865" cy="159477"/>
          </a:xfrm>
          <a:prstGeom prst="rect">
            <a:avLst/>
          </a:prstGeom>
          <a:noFill/>
          <a:ln/>
        </p:spPr>
        <p:txBody>
          <a:bodyPr wrap="square" lIns="0" tIns="0" rIns="0" bIns="0" rtlCol="0" anchor="ctr"/>
          <a:lstStyle/>
          <a:p>
            <a:pPr>
              <a:lnSpc>
                <a:spcPct val="120000"/>
              </a:lnSpc>
            </a:pPr>
            <a:r>
              <a:rPr lang="en-US" sz="879" dirty="0">
                <a:solidFill>
                  <a:srgbClr val="2D3142"/>
                </a:solidFill>
                <a:latin typeface="MiSans" pitchFamily="34" charset="0"/>
                <a:ea typeface="MiSans" pitchFamily="34" charset="-122"/>
                <a:cs typeface="MiSans" pitchFamily="34" charset="-120"/>
              </a:rPr>
              <a:t>}</a:t>
            </a:r>
            <a:endParaRPr lang="en-US" sz="1600" dirty="0"/>
          </a:p>
        </p:txBody>
      </p:sp>
      <p:sp>
        <p:nvSpPr>
          <p:cNvPr id="59" name="Text 57"/>
          <p:cNvSpPr/>
          <p:nvPr/>
        </p:nvSpPr>
        <p:spPr>
          <a:xfrm>
            <a:off x="6438377" y="6434888"/>
            <a:ext cx="5222865" cy="159477"/>
          </a:xfrm>
          <a:prstGeom prst="rect">
            <a:avLst/>
          </a:prstGeom>
          <a:noFill/>
          <a:ln/>
        </p:spPr>
        <p:txBody>
          <a:bodyPr wrap="square" lIns="0" tIns="0" rIns="0" bIns="0" rtlCol="0" anchor="ctr"/>
          <a:lstStyle/>
          <a:p>
            <a:pPr>
              <a:lnSpc>
                <a:spcPct val="120000"/>
              </a:lnSpc>
            </a:pPr>
            <a:r>
              <a:rPr lang="en-US" sz="879" dirty="0">
                <a:solidFill>
                  <a:srgbClr val="8D99AE"/>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18703" y="476250"/>
            <a:ext cx="178594" cy="158750"/>
          </a:xfrm>
          <a:custGeom>
            <a:avLst/>
            <a:gdLst/>
            <a:ahLst/>
            <a:cxnLst/>
            <a:rect l="l" t="t" r="r" b="b"/>
            <a:pathLst>
              <a:path w="178594" h="158750">
                <a:moveTo>
                  <a:pt x="59531" y="19844"/>
                </a:moveTo>
                <a:cubicBezTo>
                  <a:pt x="26665" y="19844"/>
                  <a:pt x="0" y="46509"/>
                  <a:pt x="0" y="79375"/>
                </a:cubicBezTo>
                <a:cubicBezTo>
                  <a:pt x="0" y="112241"/>
                  <a:pt x="26665" y="138906"/>
                  <a:pt x="59531" y="138906"/>
                </a:cubicBezTo>
                <a:lnTo>
                  <a:pt x="119062" y="138906"/>
                </a:lnTo>
                <a:cubicBezTo>
                  <a:pt x="151929" y="138906"/>
                  <a:pt x="178594" y="112241"/>
                  <a:pt x="178594" y="79375"/>
                </a:cubicBezTo>
                <a:cubicBezTo>
                  <a:pt x="178594" y="46509"/>
                  <a:pt x="151929" y="19844"/>
                  <a:pt x="119062" y="19844"/>
                </a:cubicBezTo>
                <a:lnTo>
                  <a:pt x="59531" y="19844"/>
                </a:lnTo>
                <a:close/>
                <a:moveTo>
                  <a:pt x="119062" y="49609"/>
                </a:moveTo>
                <a:cubicBezTo>
                  <a:pt x="135491" y="49609"/>
                  <a:pt x="148828" y="62947"/>
                  <a:pt x="148828" y="79375"/>
                </a:cubicBezTo>
                <a:cubicBezTo>
                  <a:pt x="148828" y="95803"/>
                  <a:pt x="135491" y="109141"/>
                  <a:pt x="119062" y="109141"/>
                </a:cubicBezTo>
                <a:cubicBezTo>
                  <a:pt x="102634" y="109141"/>
                  <a:pt x="89297" y="95803"/>
                  <a:pt x="89297" y="79375"/>
                </a:cubicBezTo>
                <a:cubicBezTo>
                  <a:pt x="89297" y="62947"/>
                  <a:pt x="102634" y="49609"/>
                  <a:pt x="119062" y="49609"/>
                </a:cubicBezTo>
                <a:close/>
              </a:path>
            </a:pathLst>
          </a:custGeom>
          <a:solidFill>
            <a:srgbClr val="FFFFFF"/>
          </a:solidFill>
          <a:ln/>
        </p:spPr>
        <p:txBody>
          <a:bodyPr/>
          <a:lstStyle/>
          <a:p>
            <a:endParaRPr lang="en-US"/>
          </a:p>
        </p:txBody>
      </p:sp>
      <p:sp>
        <p:nvSpPr>
          <p:cNvPr id="4" name="Text 2"/>
          <p:cNvSpPr/>
          <p:nvPr/>
        </p:nvSpPr>
        <p:spPr>
          <a:xfrm>
            <a:off x="793750" y="317500"/>
            <a:ext cx="3175000"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Operating Modes</a:t>
            </a:r>
            <a:endParaRPr lang="en-US" sz="1600" dirty="0"/>
          </a:p>
        </p:txBody>
      </p:sp>
      <p:sp>
        <p:nvSpPr>
          <p:cNvPr id="5" name="Text 3"/>
          <p:cNvSpPr/>
          <p:nvPr/>
        </p:nvSpPr>
        <p:spPr>
          <a:xfrm>
            <a:off x="793750" y="476250"/>
            <a:ext cx="3262313"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Flowing vs Paused Mode</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8D99AE"/>
              </a:gs>
              <a:gs pos="100000">
                <a:srgbClr val="8D99AE"/>
              </a:gs>
            </a:gsLst>
            <a:lin ang="0" scaled="1"/>
          </a:gradFill>
          <a:ln/>
        </p:spPr>
        <p:txBody>
          <a:bodyPr/>
          <a:lstStyle/>
          <a:p>
            <a:endParaRPr lang="en-US"/>
          </a:p>
        </p:txBody>
      </p:sp>
      <p:sp>
        <p:nvSpPr>
          <p:cNvPr id="7" name="Shape 5"/>
          <p:cNvSpPr/>
          <p:nvPr/>
        </p:nvSpPr>
        <p:spPr>
          <a:xfrm>
            <a:off x="321469" y="1083469"/>
            <a:ext cx="5691188" cy="5468938"/>
          </a:xfrm>
          <a:custGeom>
            <a:avLst/>
            <a:gdLst/>
            <a:ahLst/>
            <a:cxnLst/>
            <a:rect l="l" t="t" r="r" b="b"/>
            <a:pathLst>
              <a:path w="5691188" h="5468938">
                <a:moveTo>
                  <a:pt x="95269" y="0"/>
                </a:moveTo>
                <a:lnTo>
                  <a:pt x="5595919" y="0"/>
                </a:lnTo>
                <a:cubicBezTo>
                  <a:pt x="5648534" y="0"/>
                  <a:pt x="5691188" y="42653"/>
                  <a:pt x="5691188" y="95269"/>
                </a:cubicBezTo>
                <a:lnTo>
                  <a:pt x="5691188" y="5373669"/>
                </a:lnTo>
                <a:cubicBezTo>
                  <a:pt x="5691188" y="5426284"/>
                  <a:pt x="5648534" y="5468938"/>
                  <a:pt x="5595919" y="5468938"/>
                </a:cubicBezTo>
                <a:lnTo>
                  <a:pt x="95269" y="5468938"/>
                </a:lnTo>
                <a:cubicBezTo>
                  <a:pt x="42653" y="5468938"/>
                  <a:pt x="0" y="5426284"/>
                  <a:pt x="0" y="5373669"/>
                </a:cubicBezTo>
                <a:lnTo>
                  <a:pt x="0" y="95269"/>
                </a:lnTo>
                <a:cubicBezTo>
                  <a:pt x="0" y="42689"/>
                  <a:pt x="42689" y="0"/>
                  <a:pt x="95269" y="0"/>
                </a:cubicBezTo>
                <a:close/>
              </a:path>
            </a:pathLst>
          </a:custGeom>
          <a:solidFill>
            <a:srgbClr val="EAE7D6"/>
          </a:solidFill>
          <a:ln/>
        </p:spPr>
        <p:txBody>
          <a:bodyPr/>
          <a:lstStyle/>
          <a:p>
            <a:endParaRPr lang="en-US"/>
          </a:p>
        </p:txBody>
      </p:sp>
      <p:sp>
        <p:nvSpPr>
          <p:cNvPr id="8" name="Shape 6"/>
          <p:cNvSpPr/>
          <p:nvPr/>
        </p:nvSpPr>
        <p:spPr>
          <a:xfrm>
            <a:off x="484187" y="124618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E07A5F"/>
          </a:solidFill>
          <a:ln/>
        </p:spPr>
        <p:txBody>
          <a:bodyPr/>
          <a:lstStyle/>
          <a:p>
            <a:endParaRPr lang="en-US"/>
          </a:p>
        </p:txBody>
      </p:sp>
      <p:sp>
        <p:nvSpPr>
          <p:cNvPr id="9" name="Shape 7"/>
          <p:cNvSpPr/>
          <p:nvPr/>
        </p:nvSpPr>
        <p:spPr>
          <a:xfrm>
            <a:off x="611188" y="1373188"/>
            <a:ext cx="190500" cy="190500"/>
          </a:xfrm>
          <a:custGeom>
            <a:avLst/>
            <a:gdLst/>
            <a:ahLst/>
            <a:cxnLst/>
            <a:rect l="l" t="t" r="r" b="b"/>
            <a:pathLst>
              <a:path w="190500" h="190500">
                <a:moveTo>
                  <a:pt x="152772" y="46174"/>
                </a:moveTo>
                <a:cubicBezTo>
                  <a:pt x="160474" y="51978"/>
                  <a:pt x="169887" y="57596"/>
                  <a:pt x="180380" y="59010"/>
                </a:cubicBezTo>
                <a:cubicBezTo>
                  <a:pt x="185254" y="59680"/>
                  <a:pt x="189756" y="56220"/>
                  <a:pt x="190426" y="51346"/>
                </a:cubicBezTo>
                <a:cubicBezTo>
                  <a:pt x="191095" y="46472"/>
                  <a:pt x="187635" y="41970"/>
                  <a:pt x="182761" y="41300"/>
                </a:cubicBezTo>
                <a:cubicBezTo>
                  <a:pt x="176845" y="40518"/>
                  <a:pt x="170408" y="37095"/>
                  <a:pt x="163525" y="31924"/>
                </a:cubicBezTo>
                <a:cubicBezTo>
                  <a:pt x="149237" y="21134"/>
                  <a:pt x="129853" y="21134"/>
                  <a:pt x="115528" y="31924"/>
                </a:cubicBezTo>
                <a:cubicBezTo>
                  <a:pt x="106598" y="38658"/>
                  <a:pt x="100385" y="41709"/>
                  <a:pt x="95250" y="41709"/>
                </a:cubicBezTo>
                <a:cubicBezTo>
                  <a:pt x="90115" y="41709"/>
                  <a:pt x="83902" y="38658"/>
                  <a:pt x="74972" y="31924"/>
                </a:cubicBezTo>
                <a:cubicBezTo>
                  <a:pt x="60685" y="21134"/>
                  <a:pt x="41300" y="21134"/>
                  <a:pt x="26975" y="31924"/>
                </a:cubicBezTo>
                <a:cubicBezTo>
                  <a:pt x="20092" y="37095"/>
                  <a:pt x="13655" y="40518"/>
                  <a:pt x="7739" y="41300"/>
                </a:cubicBezTo>
                <a:cubicBezTo>
                  <a:pt x="2865" y="41970"/>
                  <a:pt x="-595" y="46434"/>
                  <a:pt x="74" y="51346"/>
                </a:cubicBezTo>
                <a:cubicBezTo>
                  <a:pt x="744" y="56257"/>
                  <a:pt x="5209" y="59680"/>
                  <a:pt x="10120" y="59010"/>
                </a:cubicBezTo>
                <a:cubicBezTo>
                  <a:pt x="20613" y="57596"/>
                  <a:pt x="30063" y="51978"/>
                  <a:pt x="37728" y="46174"/>
                </a:cubicBezTo>
                <a:cubicBezTo>
                  <a:pt x="45653" y="40184"/>
                  <a:pt x="56294" y="40184"/>
                  <a:pt x="64219" y="46174"/>
                </a:cubicBezTo>
                <a:cubicBezTo>
                  <a:pt x="73223" y="52983"/>
                  <a:pt x="83679" y="59531"/>
                  <a:pt x="95250" y="59531"/>
                </a:cubicBezTo>
                <a:cubicBezTo>
                  <a:pt x="106821" y="59531"/>
                  <a:pt x="117239" y="52946"/>
                  <a:pt x="126281" y="46174"/>
                </a:cubicBezTo>
                <a:cubicBezTo>
                  <a:pt x="134206" y="40184"/>
                  <a:pt x="144847" y="40184"/>
                  <a:pt x="152772" y="46174"/>
                </a:cubicBezTo>
                <a:close/>
                <a:moveTo>
                  <a:pt x="152772" y="99752"/>
                </a:moveTo>
                <a:cubicBezTo>
                  <a:pt x="160474" y="105556"/>
                  <a:pt x="169887" y="111175"/>
                  <a:pt x="180380" y="112588"/>
                </a:cubicBezTo>
                <a:cubicBezTo>
                  <a:pt x="185254" y="113258"/>
                  <a:pt x="189756" y="109798"/>
                  <a:pt x="190426" y="104924"/>
                </a:cubicBezTo>
                <a:cubicBezTo>
                  <a:pt x="191095" y="100050"/>
                  <a:pt x="187635" y="95548"/>
                  <a:pt x="182761" y="94878"/>
                </a:cubicBezTo>
                <a:cubicBezTo>
                  <a:pt x="176845" y="94097"/>
                  <a:pt x="170408" y="90674"/>
                  <a:pt x="163525" y="85502"/>
                </a:cubicBezTo>
                <a:cubicBezTo>
                  <a:pt x="149237" y="74712"/>
                  <a:pt x="129853" y="74712"/>
                  <a:pt x="115528" y="85502"/>
                </a:cubicBezTo>
                <a:cubicBezTo>
                  <a:pt x="106598" y="92236"/>
                  <a:pt x="100385" y="95287"/>
                  <a:pt x="95250" y="95287"/>
                </a:cubicBezTo>
                <a:cubicBezTo>
                  <a:pt x="90115" y="95287"/>
                  <a:pt x="83902" y="92236"/>
                  <a:pt x="74972" y="85502"/>
                </a:cubicBezTo>
                <a:cubicBezTo>
                  <a:pt x="60685" y="74712"/>
                  <a:pt x="41300" y="74712"/>
                  <a:pt x="26975" y="85502"/>
                </a:cubicBezTo>
                <a:cubicBezTo>
                  <a:pt x="20092" y="90674"/>
                  <a:pt x="13655" y="94097"/>
                  <a:pt x="7739" y="94878"/>
                </a:cubicBezTo>
                <a:cubicBezTo>
                  <a:pt x="2865" y="95510"/>
                  <a:pt x="-595" y="100013"/>
                  <a:pt x="74" y="104924"/>
                </a:cubicBezTo>
                <a:cubicBezTo>
                  <a:pt x="744" y="109835"/>
                  <a:pt x="5209" y="113258"/>
                  <a:pt x="10120" y="112588"/>
                </a:cubicBezTo>
                <a:cubicBezTo>
                  <a:pt x="20613" y="111175"/>
                  <a:pt x="30063" y="105556"/>
                  <a:pt x="37728" y="99752"/>
                </a:cubicBezTo>
                <a:cubicBezTo>
                  <a:pt x="45653" y="93762"/>
                  <a:pt x="56294" y="93762"/>
                  <a:pt x="64219" y="99752"/>
                </a:cubicBezTo>
                <a:cubicBezTo>
                  <a:pt x="73223" y="106561"/>
                  <a:pt x="83679" y="113109"/>
                  <a:pt x="95250" y="113109"/>
                </a:cubicBezTo>
                <a:cubicBezTo>
                  <a:pt x="106821" y="113109"/>
                  <a:pt x="117239" y="106524"/>
                  <a:pt x="126281" y="99752"/>
                </a:cubicBezTo>
                <a:cubicBezTo>
                  <a:pt x="134206" y="93762"/>
                  <a:pt x="144847" y="93762"/>
                  <a:pt x="152772" y="99752"/>
                </a:cubicBezTo>
                <a:close/>
                <a:moveTo>
                  <a:pt x="126281" y="153330"/>
                </a:moveTo>
                <a:cubicBezTo>
                  <a:pt x="134206" y="147340"/>
                  <a:pt x="144847" y="147340"/>
                  <a:pt x="152772" y="153330"/>
                </a:cubicBezTo>
                <a:cubicBezTo>
                  <a:pt x="160474" y="159134"/>
                  <a:pt x="169887" y="164753"/>
                  <a:pt x="180380" y="166167"/>
                </a:cubicBezTo>
                <a:cubicBezTo>
                  <a:pt x="185254" y="166836"/>
                  <a:pt x="189756" y="163376"/>
                  <a:pt x="190426" y="158502"/>
                </a:cubicBezTo>
                <a:cubicBezTo>
                  <a:pt x="191095" y="153628"/>
                  <a:pt x="187635" y="149126"/>
                  <a:pt x="182761" y="148456"/>
                </a:cubicBezTo>
                <a:cubicBezTo>
                  <a:pt x="176845" y="147675"/>
                  <a:pt x="170408" y="144252"/>
                  <a:pt x="163525" y="139080"/>
                </a:cubicBezTo>
                <a:cubicBezTo>
                  <a:pt x="149237" y="128290"/>
                  <a:pt x="129853" y="128290"/>
                  <a:pt x="115528" y="139080"/>
                </a:cubicBezTo>
                <a:cubicBezTo>
                  <a:pt x="106598" y="145814"/>
                  <a:pt x="100385" y="148865"/>
                  <a:pt x="95250" y="148865"/>
                </a:cubicBezTo>
                <a:cubicBezTo>
                  <a:pt x="90115" y="148865"/>
                  <a:pt x="83902" y="145814"/>
                  <a:pt x="74972" y="139080"/>
                </a:cubicBezTo>
                <a:cubicBezTo>
                  <a:pt x="60685" y="128290"/>
                  <a:pt x="41300" y="128290"/>
                  <a:pt x="26975" y="139080"/>
                </a:cubicBezTo>
                <a:cubicBezTo>
                  <a:pt x="20092" y="144252"/>
                  <a:pt x="13655" y="147675"/>
                  <a:pt x="7739" y="148456"/>
                </a:cubicBezTo>
                <a:cubicBezTo>
                  <a:pt x="2865" y="149126"/>
                  <a:pt x="-595" y="153591"/>
                  <a:pt x="74" y="158502"/>
                </a:cubicBezTo>
                <a:cubicBezTo>
                  <a:pt x="744" y="163413"/>
                  <a:pt x="5209" y="166836"/>
                  <a:pt x="10120" y="166167"/>
                </a:cubicBezTo>
                <a:cubicBezTo>
                  <a:pt x="20613" y="164753"/>
                  <a:pt x="30063" y="159134"/>
                  <a:pt x="37728" y="153330"/>
                </a:cubicBezTo>
                <a:cubicBezTo>
                  <a:pt x="45653" y="147340"/>
                  <a:pt x="56294" y="147340"/>
                  <a:pt x="64219" y="153330"/>
                </a:cubicBezTo>
                <a:cubicBezTo>
                  <a:pt x="73223" y="160139"/>
                  <a:pt x="83679" y="166688"/>
                  <a:pt x="95250" y="166688"/>
                </a:cubicBezTo>
                <a:cubicBezTo>
                  <a:pt x="106821" y="166688"/>
                  <a:pt x="117239" y="160102"/>
                  <a:pt x="126281" y="153330"/>
                </a:cubicBezTo>
                <a:close/>
              </a:path>
            </a:pathLst>
          </a:custGeom>
          <a:solidFill>
            <a:srgbClr val="FFFFFF"/>
          </a:solidFill>
          <a:ln/>
        </p:spPr>
        <p:txBody>
          <a:bodyPr/>
          <a:lstStyle/>
          <a:p>
            <a:endParaRPr lang="en-US"/>
          </a:p>
        </p:txBody>
      </p:sp>
      <p:sp>
        <p:nvSpPr>
          <p:cNvPr id="10" name="Text 8"/>
          <p:cNvSpPr/>
          <p:nvPr/>
        </p:nvSpPr>
        <p:spPr>
          <a:xfrm>
            <a:off x="1023938" y="1325563"/>
            <a:ext cx="1579563" cy="285750"/>
          </a:xfrm>
          <a:prstGeom prst="rect">
            <a:avLst/>
          </a:prstGeom>
          <a:noFill/>
          <a:ln/>
        </p:spPr>
        <p:txBody>
          <a:bodyPr wrap="square" lIns="0" tIns="0" rIns="0" bIns="0" rtlCol="0" anchor="ctr"/>
          <a:lstStyle/>
          <a:p>
            <a:pPr>
              <a:lnSpc>
                <a:spcPct val="100000"/>
              </a:lnSpc>
            </a:pPr>
            <a:r>
              <a:rPr lang="en-US" sz="1875" b="1" dirty="0">
                <a:solidFill>
                  <a:srgbClr val="2D3142"/>
                </a:solidFill>
                <a:latin typeface="Quattrocento Sans" pitchFamily="34" charset="0"/>
                <a:ea typeface="Quattrocento Sans" pitchFamily="34" charset="-122"/>
                <a:cs typeface="Quattrocento Sans" pitchFamily="34" charset="-120"/>
              </a:rPr>
              <a:t>Flowing Mode</a:t>
            </a:r>
            <a:endParaRPr lang="en-US" sz="1600" dirty="0"/>
          </a:p>
        </p:txBody>
      </p:sp>
      <p:sp>
        <p:nvSpPr>
          <p:cNvPr id="11" name="Shape 9"/>
          <p:cNvSpPr/>
          <p:nvPr/>
        </p:nvSpPr>
        <p:spPr>
          <a:xfrm>
            <a:off x="484187" y="1817688"/>
            <a:ext cx="5365750" cy="889000"/>
          </a:xfrm>
          <a:custGeom>
            <a:avLst/>
            <a:gdLst/>
            <a:ahLst/>
            <a:cxnLst/>
            <a:rect l="l" t="t" r="r" b="b"/>
            <a:pathLst>
              <a:path w="5365750" h="889000">
                <a:moveTo>
                  <a:pt x="63501" y="0"/>
                </a:moveTo>
                <a:lnTo>
                  <a:pt x="5302249" y="0"/>
                </a:lnTo>
                <a:cubicBezTo>
                  <a:pt x="5337320" y="0"/>
                  <a:pt x="5365750" y="28430"/>
                  <a:pt x="5365750" y="63501"/>
                </a:cubicBezTo>
                <a:lnTo>
                  <a:pt x="5365750" y="825499"/>
                </a:lnTo>
                <a:cubicBezTo>
                  <a:pt x="5365750" y="860570"/>
                  <a:pt x="5337320" y="889000"/>
                  <a:pt x="5302249" y="889000"/>
                </a:cubicBezTo>
                <a:lnTo>
                  <a:pt x="63501" y="889000"/>
                </a:lnTo>
                <a:cubicBezTo>
                  <a:pt x="28430" y="889000"/>
                  <a:pt x="0" y="860570"/>
                  <a:pt x="0" y="825499"/>
                </a:cubicBezTo>
                <a:lnTo>
                  <a:pt x="0" y="63501"/>
                </a:lnTo>
                <a:cubicBezTo>
                  <a:pt x="0" y="28454"/>
                  <a:pt x="28454" y="0"/>
                  <a:pt x="63501" y="0"/>
                </a:cubicBezTo>
                <a:close/>
              </a:path>
            </a:pathLst>
          </a:custGeom>
          <a:solidFill>
            <a:srgbClr val="EAE7D6"/>
          </a:solidFill>
          <a:ln/>
        </p:spPr>
        <p:txBody>
          <a:bodyPr/>
          <a:lstStyle/>
          <a:p>
            <a:endParaRPr lang="en-US"/>
          </a:p>
        </p:txBody>
      </p:sp>
      <p:sp>
        <p:nvSpPr>
          <p:cNvPr id="12" name="Text 10"/>
          <p:cNvSpPr/>
          <p:nvPr/>
        </p:nvSpPr>
        <p:spPr>
          <a:xfrm>
            <a:off x="611188" y="19446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Behavior</a:t>
            </a:r>
            <a:endParaRPr lang="en-US" sz="1600" dirty="0"/>
          </a:p>
        </p:txBody>
      </p:sp>
      <p:sp>
        <p:nvSpPr>
          <p:cNvPr id="13" name="Text 11"/>
          <p:cNvSpPr/>
          <p:nvPr/>
        </p:nvSpPr>
        <p:spPr>
          <a:xfrm>
            <a:off x="611188" y="2166938"/>
            <a:ext cx="5175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Data flows </a:t>
            </a:r>
            <a:r>
              <a:rPr lang="en-US" sz="1000" b="1" dirty="0">
                <a:solidFill>
                  <a:srgbClr val="2D3142"/>
                </a:solidFill>
                <a:latin typeface="Quattrocento Sans" pitchFamily="34" charset="0"/>
                <a:ea typeface="Quattrocento Sans" pitchFamily="34" charset="-122"/>
                <a:cs typeface="Quattrocento Sans" pitchFamily="34" charset="-120"/>
              </a:rPr>
              <a:t>automatically</a:t>
            </a:r>
            <a:r>
              <a:rPr lang="en-US" sz="1000" dirty="0">
                <a:solidFill>
                  <a:srgbClr val="2D3142"/>
                </a:solidFill>
                <a:latin typeface="Quattrocento Sans" pitchFamily="34" charset="0"/>
                <a:ea typeface="Quattrocento Sans" pitchFamily="34" charset="-122"/>
                <a:cs typeface="Quattrocento Sans" pitchFamily="34" charset="-120"/>
              </a:rPr>
              <a:t> from the underlying resource and is delivered via events as quickly as possible.</a:t>
            </a:r>
            <a:endParaRPr lang="en-US" sz="1600" dirty="0"/>
          </a:p>
        </p:txBody>
      </p:sp>
      <p:sp>
        <p:nvSpPr>
          <p:cNvPr id="14" name="Shape 12"/>
          <p:cNvSpPr/>
          <p:nvPr/>
        </p:nvSpPr>
        <p:spPr>
          <a:xfrm>
            <a:off x="484187" y="2801938"/>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EAE7D6"/>
          </a:solidFill>
          <a:ln/>
        </p:spPr>
        <p:txBody>
          <a:bodyPr/>
          <a:lstStyle/>
          <a:p>
            <a:endParaRPr lang="en-US"/>
          </a:p>
        </p:txBody>
      </p:sp>
      <p:sp>
        <p:nvSpPr>
          <p:cNvPr id="15" name="Text 13"/>
          <p:cNvSpPr/>
          <p:nvPr/>
        </p:nvSpPr>
        <p:spPr>
          <a:xfrm>
            <a:off x="611188" y="29289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Event Usage</a:t>
            </a:r>
            <a:endParaRPr lang="en-US" sz="1600" dirty="0"/>
          </a:p>
        </p:txBody>
      </p:sp>
      <p:sp>
        <p:nvSpPr>
          <p:cNvPr id="16" name="Text 14"/>
          <p:cNvSpPr/>
          <p:nvPr/>
        </p:nvSpPr>
        <p:spPr>
          <a:xfrm>
            <a:off x="611188" y="3151188"/>
            <a:ext cx="5175250" cy="190500"/>
          </a:xfrm>
          <a:prstGeom prst="rect">
            <a:avLst/>
          </a:prstGeom>
          <a:noFill/>
          <a:ln/>
        </p:spPr>
        <p:txBody>
          <a:bodyPr wrap="square" lIns="0" tIns="0" rIns="0" bIns="0" rtlCol="0" anchor="ctr"/>
          <a:lstStyle/>
          <a:p>
            <a:pPr>
              <a:lnSpc>
                <a:spcPct val="130000"/>
              </a:lnSpc>
            </a:pPr>
            <a:r>
              <a:rPr lang="en-US" sz="875" dirty="0">
                <a:solidFill>
                  <a:srgbClr val="2D3142"/>
                </a:solidFill>
                <a:highlight>
                  <a:srgbClr val="E07A5F">
                    <a:alpha val="30000"/>
                  </a:srgbClr>
                </a:highlight>
                <a:latin typeface="MiSans" pitchFamily="34" charset="0"/>
                <a:ea typeface="MiSans" pitchFamily="34" charset="-122"/>
                <a:cs typeface="MiSans" pitchFamily="34" charset="-120"/>
              </a:rPr>
              <a:t>'data' </a:t>
            </a:r>
            <a:r>
              <a:rPr lang="en-US" sz="1000" dirty="0">
                <a:solidFill>
                  <a:srgbClr val="2D3142"/>
                </a:solidFill>
                <a:latin typeface="Quattrocento Sans" pitchFamily="34" charset="0"/>
                <a:ea typeface="Quattrocento Sans" pitchFamily="34" charset="-122"/>
                <a:cs typeface="Quattrocento Sans" pitchFamily="34" charset="-120"/>
              </a:rPr>
              <a:t>event is used to receive data chunks</a:t>
            </a:r>
            <a:endParaRPr lang="en-US" sz="1600" dirty="0"/>
          </a:p>
        </p:txBody>
      </p:sp>
      <p:sp>
        <p:nvSpPr>
          <p:cNvPr id="17" name="Shape 15"/>
          <p:cNvSpPr/>
          <p:nvPr/>
        </p:nvSpPr>
        <p:spPr>
          <a:xfrm>
            <a:off x="500063" y="3563938"/>
            <a:ext cx="5349875" cy="1111250"/>
          </a:xfrm>
          <a:custGeom>
            <a:avLst/>
            <a:gdLst/>
            <a:ahLst/>
            <a:cxnLst/>
            <a:rect l="l" t="t" r="r" b="b"/>
            <a:pathLst>
              <a:path w="5349875" h="1111250">
                <a:moveTo>
                  <a:pt x="31750" y="0"/>
                </a:moveTo>
                <a:lnTo>
                  <a:pt x="5286378" y="0"/>
                </a:lnTo>
                <a:cubicBezTo>
                  <a:pt x="5321447" y="0"/>
                  <a:pt x="5349875" y="28428"/>
                  <a:pt x="5349875" y="63497"/>
                </a:cubicBezTo>
                <a:lnTo>
                  <a:pt x="5349875" y="1047753"/>
                </a:lnTo>
                <a:cubicBezTo>
                  <a:pt x="5349875" y="1082822"/>
                  <a:pt x="5321447" y="1111250"/>
                  <a:pt x="5286378" y="1111250"/>
                </a:cubicBezTo>
                <a:lnTo>
                  <a:pt x="31750" y="1111250"/>
                </a:lnTo>
                <a:cubicBezTo>
                  <a:pt x="14215" y="1111250"/>
                  <a:pt x="0" y="1097035"/>
                  <a:pt x="0" y="1079500"/>
                </a:cubicBezTo>
                <a:lnTo>
                  <a:pt x="0" y="31750"/>
                </a:lnTo>
                <a:cubicBezTo>
                  <a:pt x="0" y="14227"/>
                  <a:pt x="14227" y="0"/>
                  <a:pt x="31750" y="0"/>
                </a:cubicBezTo>
                <a:close/>
              </a:path>
            </a:pathLst>
          </a:custGeom>
          <a:solidFill>
            <a:srgbClr val="EAE7D6"/>
          </a:solidFill>
          <a:ln/>
        </p:spPr>
        <p:txBody>
          <a:bodyPr/>
          <a:lstStyle/>
          <a:p>
            <a:endParaRPr lang="en-US"/>
          </a:p>
        </p:txBody>
      </p:sp>
      <p:sp>
        <p:nvSpPr>
          <p:cNvPr id="18" name="Shape 16"/>
          <p:cNvSpPr/>
          <p:nvPr/>
        </p:nvSpPr>
        <p:spPr>
          <a:xfrm>
            <a:off x="500063" y="3563938"/>
            <a:ext cx="31750" cy="1111250"/>
          </a:xfrm>
          <a:custGeom>
            <a:avLst/>
            <a:gdLst/>
            <a:ahLst/>
            <a:cxnLst/>
            <a:rect l="l" t="t" r="r" b="b"/>
            <a:pathLst>
              <a:path w="31750" h="1111250">
                <a:moveTo>
                  <a:pt x="31750" y="0"/>
                </a:moveTo>
                <a:lnTo>
                  <a:pt x="31750" y="0"/>
                </a:lnTo>
                <a:lnTo>
                  <a:pt x="31750" y="1111250"/>
                </a:lnTo>
                <a:lnTo>
                  <a:pt x="31750" y="1111250"/>
                </a:lnTo>
                <a:cubicBezTo>
                  <a:pt x="14227" y="1111250"/>
                  <a:pt x="0" y="1097023"/>
                  <a:pt x="0" y="1079500"/>
                </a:cubicBezTo>
                <a:lnTo>
                  <a:pt x="0" y="31750"/>
                </a:lnTo>
                <a:cubicBezTo>
                  <a:pt x="0" y="14227"/>
                  <a:pt x="14227" y="0"/>
                  <a:pt x="31750" y="0"/>
                </a:cubicBezTo>
                <a:close/>
              </a:path>
            </a:pathLst>
          </a:custGeom>
          <a:solidFill>
            <a:srgbClr val="E07A5F"/>
          </a:solidFill>
          <a:ln/>
        </p:spPr>
        <p:txBody>
          <a:bodyPr/>
          <a:lstStyle/>
          <a:p>
            <a:endParaRPr lang="en-US"/>
          </a:p>
        </p:txBody>
      </p:sp>
      <p:sp>
        <p:nvSpPr>
          <p:cNvPr id="19" name="Text 17"/>
          <p:cNvSpPr/>
          <p:nvPr/>
        </p:nvSpPr>
        <p:spPr>
          <a:xfrm>
            <a:off x="642938" y="3690937"/>
            <a:ext cx="51355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Activation</a:t>
            </a:r>
            <a:endParaRPr lang="en-US" sz="1600" dirty="0"/>
          </a:p>
        </p:txBody>
      </p:sp>
      <p:sp>
        <p:nvSpPr>
          <p:cNvPr id="20" name="Text 18"/>
          <p:cNvSpPr/>
          <p:nvPr/>
        </p:nvSpPr>
        <p:spPr>
          <a:xfrm>
            <a:off x="642938" y="391318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Attaching a 'data' event listener</a:t>
            </a:r>
            <a:endParaRPr lang="en-US" sz="1600" dirty="0"/>
          </a:p>
        </p:txBody>
      </p:sp>
      <p:sp>
        <p:nvSpPr>
          <p:cNvPr id="21" name="Text 19"/>
          <p:cNvSpPr/>
          <p:nvPr/>
        </p:nvSpPr>
        <p:spPr>
          <a:xfrm>
            <a:off x="642938" y="413543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Calling pipe() method</a:t>
            </a:r>
            <a:endParaRPr lang="en-US" sz="1600" dirty="0"/>
          </a:p>
        </p:txBody>
      </p:sp>
      <p:sp>
        <p:nvSpPr>
          <p:cNvPr id="22" name="Text 20"/>
          <p:cNvSpPr/>
          <p:nvPr/>
        </p:nvSpPr>
        <p:spPr>
          <a:xfrm>
            <a:off x="642938" y="435768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Calling resume() method</a:t>
            </a:r>
            <a:endParaRPr lang="en-US" sz="1600" dirty="0"/>
          </a:p>
        </p:txBody>
      </p:sp>
      <p:sp>
        <p:nvSpPr>
          <p:cNvPr id="23" name="Shape 21"/>
          <p:cNvSpPr/>
          <p:nvPr/>
        </p:nvSpPr>
        <p:spPr>
          <a:xfrm>
            <a:off x="484187" y="4770438"/>
            <a:ext cx="5365750" cy="1143000"/>
          </a:xfrm>
          <a:custGeom>
            <a:avLst/>
            <a:gdLst/>
            <a:ahLst/>
            <a:cxnLst/>
            <a:rect l="l" t="t" r="r" b="b"/>
            <a:pathLst>
              <a:path w="5365750" h="1143000">
                <a:moveTo>
                  <a:pt x="63505" y="0"/>
                </a:moveTo>
                <a:lnTo>
                  <a:pt x="5302245" y="0"/>
                </a:lnTo>
                <a:cubicBezTo>
                  <a:pt x="5337318" y="0"/>
                  <a:pt x="5365750" y="28432"/>
                  <a:pt x="5365750" y="63505"/>
                </a:cubicBezTo>
                <a:lnTo>
                  <a:pt x="5365750" y="1079495"/>
                </a:lnTo>
                <a:cubicBezTo>
                  <a:pt x="5365750" y="1114568"/>
                  <a:pt x="5337318" y="1143000"/>
                  <a:pt x="5302245" y="1143000"/>
                </a:cubicBezTo>
                <a:lnTo>
                  <a:pt x="63505" y="1143000"/>
                </a:lnTo>
                <a:cubicBezTo>
                  <a:pt x="28432" y="1143000"/>
                  <a:pt x="0" y="1114568"/>
                  <a:pt x="0" y="1079495"/>
                </a:cubicBezTo>
                <a:lnTo>
                  <a:pt x="0" y="63505"/>
                </a:lnTo>
                <a:cubicBezTo>
                  <a:pt x="0" y="28456"/>
                  <a:pt x="28456" y="0"/>
                  <a:pt x="63505" y="0"/>
                </a:cubicBezTo>
                <a:close/>
              </a:path>
            </a:pathLst>
          </a:custGeom>
          <a:solidFill>
            <a:srgbClr val="EAE7D6"/>
          </a:solidFill>
          <a:ln/>
        </p:spPr>
        <p:txBody>
          <a:bodyPr/>
          <a:lstStyle/>
          <a:p>
            <a:endParaRPr lang="en-US"/>
          </a:p>
        </p:txBody>
      </p:sp>
      <p:sp>
        <p:nvSpPr>
          <p:cNvPr id="24" name="Text 22"/>
          <p:cNvSpPr/>
          <p:nvPr/>
        </p:nvSpPr>
        <p:spPr>
          <a:xfrm>
            <a:off x="611188" y="48974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Code Example</a:t>
            </a:r>
            <a:endParaRPr lang="en-US" sz="1600" dirty="0"/>
          </a:p>
        </p:txBody>
      </p:sp>
      <p:sp>
        <p:nvSpPr>
          <p:cNvPr id="25" name="Shape 23"/>
          <p:cNvSpPr/>
          <p:nvPr/>
        </p:nvSpPr>
        <p:spPr>
          <a:xfrm>
            <a:off x="611188" y="5119688"/>
            <a:ext cx="5111750" cy="666750"/>
          </a:xfrm>
          <a:custGeom>
            <a:avLst/>
            <a:gdLst/>
            <a:ahLst/>
            <a:cxnLst/>
            <a:rect l="l" t="t" r="r" b="b"/>
            <a:pathLst>
              <a:path w="5111750" h="666750">
                <a:moveTo>
                  <a:pt x="31751" y="0"/>
                </a:moveTo>
                <a:lnTo>
                  <a:pt x="5079999" y="0"/>
                </a:lnTo>
                <a:cubicBezTo>
                  <a:pt x="5097535" y="0"/>
                  <a:pt x="5111750" y="14215"/>
                  <a:pt x="5111750" y="31751"/>
                </a:cubicBezTo>
                <a:lnTo>
                  <a:pt x="5111750" y="634999"/>
                </a:lnTo>
                <a:cubicBezTo>
                  <a:pt x="5111750" y="652535"/>
                  <a:pt x="5097535" y="666750"/>
                  <a:pt x="5079999" y="666750"/>
                </a:cubicBezTo>
                <a:lnTo>
                  <a:pt x="31751" y="666750"/>
                </a:lnTo>
                <a:cubicBezTo>
                  <a:pt x="14215" y="666750"/>
                  <a:pt x="0" y="652535"/>
                  <a:pt x="0" y="634999"/>
                </a:cubicBezTo>
                <a:lnTo>
                  <a:pt x="0" y="31751"/>
                </a:lnTo>
                <a:cubicBezTo>
                  <a:pt x="0" y="14227"/>
                  <a:pt x="14227" y="0"/>
                  <a:pt x="31751" y="0"/>
                </a:cubicBezTo>
                <a:close/>
              </a:path>
            </a:pathLst>
          </a:custGeom>
          <a:solidFill>
            <a:srgbClr val="EAE7D6"/>
          </a:solidFill>
          <a:ln/>
        </p:spPr>
        <p:txBody>
          <a:bodyPr/>
          <a:lstStyle/>
          <a:p>
            <a:endParaRPr lang="en-US"/>
          </a:p>
        </p:txBody>
      </p:sp>
      <p:sp>
        <p:nvSpPr>
          <p:cNvPr id="26" name="Text 24"/>
          <p:cNvSpPr/>
          <p:nvPr/>
        </p:nvSpPr>
        <p:spPr>
          <a:xfrm>
            <a:off x="706438" y="521493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readable.on('data', (chunk) =&gt; {</a:t>
            </a:r>
            <a:endParaRPr lang="en-US" sz="1600" dirty="0"/>
          </a:p>
        </p:txBody>
      </p:sp>
      <p:sp>
        <p:nvSpPr>
          <p:cNvPr id="27" name="Text 25"/>
          <p:cNvSpPr/>
          <p:nvPr/>
        </p:nvSpPr>
        <p:spPr>
          <a:xfrm>
            <a:off x="706438" y="53736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console.log(chunk);</a:t>
            </a:r>
            <a:endParaRPr lang="en-US" sz="1600" dirty="0"/>
          </a:p>
        </p:txBody>
      </p:sp>
      <p:sp>
        <p:nvSpPr>
          <p:cNvPr id="28" name="Text 26"/>
          <p:cNvSpPr/>
          <p:nvPr/>
        </p:nvSpPr>
        <p:spPr>
          <a:xfrm>
            <a:off x="706438" y="553243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29" name="Shape 27"/>
          <p:cNvSpPr/>
          <p:nvPr/>
        </p:nvSpPr>
        <p:spPr>
          <a:xfrm>
            <a:off x="6179344" y="1083469"/>
            <a:ext cx="5691188" cy="5468938"/>
          </a:xfrm>
          <a:custGeom>
            <a:avLst/>
            <a:gdLst/>
            <a:ahLst/>
            <a:cxnLst/>
            <a:rect l="l" t="t" r="r" b="b"/>
            <a:pathLst>
              <a:path w="5691188" h="5468938">
                <a:moveTo>
                  <a:pt x="95269" y="0"/>
                </a:moveTo>
                <a:lnTo>
                  <a:pt x="5595919" y="0"/>
                </a:lnTo>
                <a:cubicBezTo>
                  <a:pt x="5648534" y="0"/>
                  <a:pt x="5691188" y="42653"/>
                  <a:pt x="5691188" y="95269"/>
                </a:cubicBezTo>
                <a:lnTo>
                  <a:pt x="5691188" y="5373669"/>
                </a:lnTo>
                <a:cubicBezTo>
                  <a:pt x="5691188" y="5426284"/>
                  <a:pt x="5648534" y="5468938"/>
                  <a:pt x="5595919" y="5468938"/>
                </a:cubicBezTo>
                <a:lnTo>
                  <a:pt x="95269" y="5468938"/>
                </a:lnTo>
                <a:cubicBezTo>
                  <a:pt x="42653" y="5468938"/>
                  <a:pt x="0" y="5426284"/>
                  <a:pt x="0" y="5373669"/>
                </a:cubicBezTo>
                <a:lnTo>
                  <a:pt x="0" y="95269"/>
                </a:lnTo>
                <a:cubicBezTo>
                  <a:pt x="0" y="42689"/>
                  <a:pt x="42689" y="0"/>
                  <a:pt x="95269" y="0"/>
                </a:cubicBezTo>
                <a:close/>
              </a:path>
            </a:pathLst>
          </a:custGeom>
          <a:solidFill>
            <a:srgbClr val="EAE7D6"/>
          </a:solidFill>
          <a:ln/>
        </p:spPr>
        <p:txBody>
          <a:bodyPr/>
          <a:lstStyle/>
          <a:p>
            <a:endParaRPr lang="en-US"/>
          </a:p>
        </p:txBody>
      </p:sp>
      <p:sp>
        <p:nvSpPr>
          <p:cNvPr id="30" name="Shape 28"/>
          <p:cNvSpPr/>
          <p:nvPr/>
        </p:nvSpPr>
        <p:spPr>
          <a:xfrm>
            <a:off x="6342063" y="1246188"/>
            <a:ext cx="444500" cy="444500"/>
          </a:xfrm>
          <a:custGeom>
            <a:avLst/>
            <a:gdLst/>
            <a:ahLst/>
            <a:cxnLst/>
            <a:rect l="l" t="t" r="r" b="b"/>
            <a:pathLst>
              <a:path w="444500" h="444500">
                <a:moveTo>
                  <a:pt x="222250" y="0"/>
                </a:moveTo>
                <a:lnTo>
                  <a:pt x="222250" y="0"/>
                </a:lnTo>
                <a:cubicBezTo>
                  <a:pt x="344913" y="0"/>
                  <a:pt x="444500" y="99587"/>
                  <a:pt x="444500" y="222250"/>
                </a:cubicBezTo>
                <a:lnTo>
                  <a:pt x="444500" y="222250"/>
                </a:lnTo>
                <a:cubicBezTo>
                  <a:pt x="444500" y="344913"/>
                  <a:pt x="344913" y="444500"/>
                  <a:pt x="222250" y="444500"/>
                </a:cubicBezTo>
                <a:lnTo>
                  <a:pt x="222250" y="444500"/>
                </a:lnTo>
                <a:cubicBezTo>
                  <a:pt x="99587" y="444500"/>
                  <a:pt x="0" y="344913"/>
                  <a:pt x="0" y="222250"/>
                </a:cubicBezTo>
                <a:lnTo>
                  <a:pt x="0" y="222250"/>
                </a:lnTo>
                <a:cubicBezTo>
                  <a:pt x="0" y="99587"/>
                  <a:pt x="99587" y="0"/>
                  <a:pt x="222250" y="0"/>
                </a:cubicBezTo>
                <a:close/>
              </a:path>
            </a:pathLst>
          </a:custGeom>
          <a:solidFill>
            <a:srgbClr val="8D99AE"/>
          </a:solidFill>
          <a:ln/>
        </p:spPr>
        <p:txBody>
          <a:bodyPr/>
          <a:lstStyle/>
          <a:p>
            <a:endParaRPr lang="en-US"/>
          </a:p>
        </p:txBody>
      </p:sp>
      <p:sp>
        <p:nvSpPr>
          <p:cNvPr id="31" name="Shape 29"/>
          <p:cNvSpPr/>
          <p:nvPr/>
        </p:nvSpPr>
        <p:spPr>
          <a:xfrm>
            <a:off x="6469063" y="1373188"/>
            <a:ext cx="190500" cy="190500"/>
          </a:xfrm>
          <a:custGeom>
            <a:avLst/>
            <a:gdLst/>
            <a:ahLst/>
            <a:cxnLst/>
            <a:rect l="l" t="t" r="r" b="b"/>
            <a:pathLst>
              <a:path w="190500" h="190500">
                <a:moveTo>
                  <a:pt x="107156" y="11906"/>
                </a:moveTo>
                <a:cubicBezTo>
                  <a:pt x="107156" y="5321"/>
                  <a:pt x="101836" y="0"/>
                  <a:pt x="95250" y="0"/>
                </a:cubicBezTo>
                <a:cubicBezTo>
                  <a:pt x="88664" y="0"/>
                  <a:pt x="83344" y="5321"/>
                  <a:pt x="83344" y="11906"/>
                </a:cubicBezTo>
                <a:lnTo>
                  <a:pt x="83344" y="89297"/>
                </a:lnTo>
                <a:cubicBezTo>
                  <a:pt x="83344" y="92571"/>
                  <a:pt x="80665" y="95250"/>
                  <a:pt x="77391" y="95250"/>
                </a:cubicBezTo>
                <a:cubicBezTo>
                  <a:pt x="74116" y="95250"/>
                  <a:pt x="71438" y="92571"/>
                  <a:pt x="71438" y="89297"/>
                </a:cubicBezTo>
                <a:lnTo>
                  <a:pt x="71438" y="23812"/>
                </a:lnTo>
                <a:cubicBezTo>
                  <a:pt x="71438" y="17227"/>
                  <a:pt x="66117" y="11906"/>
                  <a:pt x="59531" y="11906"/>
                </a:cubicBezTo>
                <a:cubicBezTo>
                  <a:pt x="52946" y="11906"/>
                  <a:pt x="47625" y="17227"/>
                  <a:pt x="47625" y="23812"/>
                </a:cubicBezTo>
                <a:lnTo>
                  <a:pt x="47625" y="125016"/>
                </a:lnTo>
                <a:cubicBezTo>
                  <a:pt x="47625" y="125574"/>
                  <a:pt x="47625" y="126169"/>
                  <a:pt x="47662" y="126727"/>
                </a:cubicBezTo>
                <a:lnTo>
                  <a:pt x="25152" y="105296"/>
                </a:lnTo>
                <a:cubicBezTo>
                  <a:pt x="19199" y="99640"/>
                  <a:pt x="9785" y="99864"/>
                  <a:pt x="4093" y="105817"/>
                </a:cubicBezTo>
                <a:cubicBezTo>
                  <a:pt x="-1600" y="111770"/>
                  <a:pt x="-1339" y="121183"/>
                  <a:pt x="4614" y="126876"/>
                </a:cubicBezTo>
                <a:lnTo>
                  <a:pt x="46434" y="166688"/>
                </a:lnTo>
                <a:cubicBezTo>
                  <a:pt x="62471" y="181980"/>
                  <a:pt x="83790" y="190500"/>
                  <a:pt x="105966" y="190500"/>
                </a:cubicBezTo>
                <a:lnTo>
                  <a:pt x="113109" y="190500"/>
                </a:lnTo>
                <a:cubicBezTo>
                  <a:pt x="149275" y="190500"/>
                  <a:pt x="178594" y="161181"/>
                  <a:pt x="178594" y="125016"/>
                </a:cubicBezTo>
                <a:lnTo>
                  <a:pt x="178594" y="47625"/>
                </a:lnTo>
                <a:cubicBezTo>
                  <a:pt x="178594" y="41039"/>
                  <a:pt x="173273" y="35719"/>
                  <a:pt x="166688" y="35719"/>
                </a:cubicBezTo>
                <a:cubicBezTo>
                  <a:pt x="160102" y="35719"/>
                  <a:pt x="154781" y="41039"/>
                  <a:pt x="154781" y="47625"/>
                </a:cubicBezTo>
                <a:lnTo>
                  <a:pt x="154781" y="89297"/>
                </a:lnTo>
                <a:cubicBezTo>
                  <a:pt x="154781" y="92571"/>
                  <a:pt x="152102" y="95250"/>
                  <a:pt x="148828" y="95250"/>
                </a:cubicBezTo>
                <a:cubicBezTo>
                  <a:pt x="145554" y="95250"/>
                  <a:pt x="142875" y="92571"/>
                  <a:pt x="142875" y="89297"/>
                </a:cubicBezTo>
                <a:lnTo>
                  <a:pt x="142875" y="23812"/>
                </a:lnTo>
                <a:cubicBezTo>
                  <a:pt x="142875" y="17227"/>
                  <a:pt x="137554" y="11906"/>
                  <a:pt x="130969" y="11906"/>
                </a:cubicBezTo>
                <a:cubicBezTo>
                  <a:pt x="124383" y="11906"/>
                  <a:pt x="119063" y="17227"/>
                  <a:pt x="119063" y="23812"/>
                </a:cubicBezTo>
                <a:lnTo>
                  <a:pt x="119063" y="89297"/>
                </a:lnTo>
                <a:cubicBezTo>
                  <a:pt x="119063" y="92571"/>
                  <a:pt x="116384" y="95250"/>
                  <a:pt x="113109" y="95250"/>
                </a:cubicBezTo>
                <a:cubicBezTo>
                  <a:pt x="109835" y="95250"/>
                  <a:pt x="107156" y="92571"/>
                  <a:pt x="107156" y="89297"/>
                </a:cubicBezTo>
                <a:lnTo>
                  <a:pt x="107156" y="11906"/>
                </a:lnTo>
                <a:close/>
              </a:path>
            </a:pathLst>
          </a:custGeom>
          <a:solidFill>
            <a:srgbClr val="FFFFFF"/>
          </a:solidFill>
          <a:ln/>
        </p:spPr>
        <p:txBody>
          <a:bodyPr/>
          <a:lstStyle/>
          <a:p>
            <a:endParaRPr lang="en-US"/>
          </a:p>
        </p:txBody>
      </p:sp>
      <p:sp>
        <p:nvSpPr>
          <p:cNvPr id="32" name="Text 30"/>
          <p:cNvSpPr/>
          <p:nvPr/>
        </p:nvSpPr>
        <p:spPr>
          <a:xfrm>
            <a:off x="6881813" y="1325563"/>
            <a:ext cx="1508125" cy="285750"/>
          </a:xfrm>
          <a:prstGeom prst="rect">
            <a:avLst/>
          </a:prstGeom>
          <a:noFill/>
          <a:ln/>
        </p:spPr>
        <p:txBody>
          <a:bodyPr wrap="square" lIns="0" tIns="0" rIns="0" bIns="0" rtlCol="0" anchor="ctr"/>
          <a:lstStyle/>
          <a:p>
            <a:pPr>
              <a:lnSpc>
                <a:spcPct val="100000"/>
              </a:lnSpc>
            </a:pPr>
            <a:r>
              <a:rPr lang="en-US" sz="1875" b="1" dirty="0">
                <a:solidFill>
                  <a:srgbClr val="2D3142"/>
                </a:solidFill>
                <a:latin typeface="Quattrocento Sans" pitchFamily="34" charset="0"/>
                <a:ea typeface="Quattrocento Sans" pitchFamily="34" charset="-122"/>
                <a:cs typeface="Quattrocento Sans" pitchFamily="34" charset="-120"/>
              </a:rPr>
              <a:t>Paused Mode</a:t>
            </a:r>
            <a:endParaRPr lang="en-US" sz="1600" dirty="0"/>
          </a:p>
        </p:txBody>
      </p:sp>
      <p:sp>
        <p:nvSpPr>
          <p:cNvPr id="33" name="Shape 31"/>
          <p:cNvSpPr/>
          <p:nvPr/>
        </p:nvSpPr>
        <p:spPr>
          <a:xfrm>
            <a:off x="6342063" y="1817688"/>
            <a:ext cx="5365750" cy="889000"/>
          </a:xfrm>
          <a:custGeom>
            <a:avLst/>
            <a:gdLst/>
            <a:ahLst/>
            <a:cxnLst/>
            <a:rect l="l" t="t" r="r" b="b"/>
            <a:pathLst>
              <a:path w="5365750" h="889000">
                <a:moveTo>
                  <a:pt x="63501" y="0"/>
                </a:moveTo>
                <a:lnTo>
                  <a:pt x="5302249" y="0"/>
                </a:lnTo>
                <a:cubicBezTo>
                  <a:pt x="5337320" y="0"/>
                  <a:pt x="5365750" y="28430"/>
                  <a:pt x="5365750" y="63501"/>
                </a:cubicBezTo>
                <a:lnTo>
                  <a:pt x="5365750" y="825499"/>
                </a:lnTo>
                <a:cubicBezTo>
                  <a:pt x="5365750" y="860570"/>
                  <a:pt x="5337320" y="889000"/>
                  <a:pt x="5302249" y="889000"/>
                </a:cubicBezTo>
                <a:lnTo>
                  <a:pt x="63501" y="889000"/>
                </a:lnTo>
                <a:cubicBezTo>
                  <a:pt x="28430" y="889000"/>
                  <a:pt x="0" y="860570"/>
                  <a:pt x="0" y="825499"/>
                </a:cubicBezTo>
                <a:lnTo>
                  <a:pt x="0" y="63501"/>
                </a:lnTo>
                <a:cubicBezTo>
                  <a:pt x="0" y="28454"/>
                  <a:pt x="28454" y="0"/>
                  <a:pt x="63501" y="0"/>
                </a:cubicBezTo>
                <a:close/>
              </a:path>
            </a:pathLst>
          </a:custGeom>
          <a:solidFill>
            <a:srgbClr val="EAE7D6"/>
          </a:solidFill>
          <a:ln/>
        </p:spPr>
        <p:txBody>
          <a:bodyPr/>
          <a:lstStyle/>
          <a:p>
            <a:endParaRPr lang="en-US"/>
          </a:p>
        </p:txBody>
      </p:sp>
      <p:sp>
        <p:nvSpPr>
          <p:cNvPr id="34" name="Text 32"/>
          <p:cNvSpPr/>
          <p:nvPr/>
        </p:nvSpPr>
        <p:spPr>
          <a:xfrm>
            <a:off x="6469063" y="19446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Behavior</a:t>
            </a:r>
            <a:endParaRPr lang="en-US" sz="1600" dirty="0"/>
          </a:p>
        </p:txBody>
      </p:sp>
      <p:sp>
        <p:nvSpPr>
          <p:cNvPr id="35" name="Text 33"/>
          <p:cNvSpPr/>
          <p:nvPr/>
        </p:nvSpPr>
        <p:spPr>
          <a:xfrm>
            <a:off x="6469063" y="2166938"/>
            <a:ext cx="5175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Data is read </a:t>
            </a:r>
            <a:r>
              <a:rPr lang="en-US" sz="1000" b="1" dirty="0">
                <a:solidFill>
                  <a:srgbClr val="2D3142"/>
                </a:solidFill>
                <a:latin typeface="Quattrocento Sans" pitchFamily="34" charset="0"/>
                <a:ea typeface="Quattrocento Sans" pitchFamily="34" charset="-122"/>
                <a:cs typeface="Quattrocento Sans" pitchFamily="34" charset="-120"/>
              </a:rPr>
              <a:t>explicitly</a:t>
            </a:r>
            <a:r>
              <a:rPr lang="en-US" sz="1000" dirty="0">
                <a:solidFill>
                  <a:srgbClr val="2D3142"/>
                </a:solidFill>
                <a:latin typeface="Quattrocento Sans" pitchFamily="34" charset="0"/>
                <a:ea typeface="Quattrocento Sans" pitchFamily="34" charset="-122"/>
                <a:cs typeface="Quattrocento Sans" pitchFamily="34" charset="-120"/>
              </a:rPr>
              <a:t> on demand using the read() method. The stream remains idle until explicitly consumed.</a:t>
            </a:r>
            <a:endParaRPr lang="en-US" sz="1600" dirty="0"/>
          </a:p>
        </p:txBody>
      </p:sp>
      <p:sp>
        <p:nvSpPr>
          <p:cNvPr id="36" name="Shape 34"/>
          <p:cNvSpPr/>
          <p:nvPr/>
        </p:nvSpPr>
        <p:spPr>
          <a:xfrm>
            <a:off x="6342063" y="2801938"/>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EAE7D6"/>
          </a:solidFill>
          <a:ln/>
        </p:spPr>
        <p:txBody>
          <a:bodyPr/>
          <a:lstStyle/>
          <a:p>
            <a:endParaRPr lang="en-US"/>
          </a:p>
        </p:txBody>
      </p:sp>
      <p:sp>
        <p:nvSpPr>
          <p:cNvPr id="37" name="Text 35"/>
          <p:cNvSpPr/>
          <p:nvPr/>
        </p:nvSpPr>
        <p:spPr>
          <a:xfrm>
            <a:off x="6469063" y="29289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Event Usage</a:t>
            </a:r>
            <a:endParaRPr lang="en-US" sz="1600" dirty="0"/>
          </a:p>
        </p:txBody>
      </p:sp>
      <p:sp>
        <p:nvSpPr>
          <p:cNvPr id="38" name="Text 36"/>
          <p:cNvSpPr/>
          <p:nvPr/>
        </p:nvSpPr>
        <p:spPr>
          <a:xfrm>
            <a:off x="6469063" y="3151188"/>
            <a:ext cx="5175250" cy="190500"/>
          </a:xfrm>
          <a:prstGeom prst="rect">
            <a:avLst/>
          </a:prstGeom>
          <a:noFill/>
          <a:ln/>
        </p:spPr>
        <p:txBody>
          <a:bodyPr wrap="square" lIns="0" tIns="0" rIns="0" bIns="0" rtlCol="0" anchor="ctr"/>
          <a:lstStyle/>
          <a:p>
            <a:pPr>
              <a:lnSpc>
                <a:spcPct val="130000"/>
              </a:lnSpc>
            </a:pPr>
            <a:r>
              <a:rPr lang="en-US" sz="875" dirty="0">
                <a:solidFill>
                  <a:srgbClr val="2D3142"/>
                </a:solidFill>
                <a:highlight>
                  <a:srgbClr val="E07A5F">
                    <a:alpha val="30000"/>
                  </a:srgbClr>
                </a:highlight>
                <a:latin typeface="MiSans" pitchFamily="34" charset="0"/>
                <a:ea typeface="MiSans" pitchFamily="34" charset="-122"/>
                <a:cs typeface="MiSans" pitchFamily="34" charset="-120"/>
              </a:rPr>
              <a:t>'readable' </a:t>
            </a:r>
            <a:r>
              <a:rPr lang="en-US" sz="1000" dirty="0">
                <a:solidFill>
                  <a:srgbClr val="2D3142"/>
                </a:solidFill>
                <a:latin typeface="Quattrocento Sans" pitchFamily="34" charset="0"/>
                <a:ea typeface="Quattrocento Sans" pitchFamily="34" charset="-122"/>
                <a:cs typeface="Quattrocento Sans" pitchFamily="34" charset="-120"/>
              </a:rPr>
              <a:t>event signals data is available</a:t>
            </a:r>
            <a:endParaRPr lang="en-US" sz="1600" dirty="0"/>
          </a:p>
        </p:txBody>
      </p:sp>
      <p:sp>
        <p:nvSpPr>
          <p:cNvPr id="39" name="Shape 37"/>
          <p:cNvSpPr/>
          <p:nvPr/>
        </p:nvSpPr>
        <p:spPr>
          <a:xfrm>
            <a:off x="6357938" y="3563938"/>
            <a:ext cx="5349875" cy="1111250"/>
          </a:xfrm>
          <a:custGeom>
            <a:avLst/>
            <a:gdLst/>
            <a:ahLst/>
            <a:cxnLst/>
            <a:rect l="l" t="t" r="r" b="b"/>
            <a:pathLst>
              <a:path w="5349875" h="1111250">
                <a:moveTo>
                  <a:pt x="31750" y="0"/>
                </a:moveTo>
                <a:lnTo>
                  <a:pt x="5286378" y="0"/>
                </a:lnTo>
                <a:cubicBezTo>
                  <a:pt x="5321447" y="0"/>
                  <a:pt x="5349875" y="28428"/>
                  <a:pt x="5349875" y="63497"/>
                </a:cubicBezTo>
                <a:lnTo>
                  <a:pt x="5349875" y="1047753"/>
                </a:lnTo>
                <a:cubicBezTo>
                  <a:pt x="5349875" y="1082822"/>
                  <a:pt x="5321447" y="1111250"/>
                  <a:pt x="5286378" y="1111250"/>
                </a:cubicBezTo>
                <a:lnTo>
                  <a:pt x="31750" y="1111250"/>
                </a:lnTo>
                <a:cubicBezTo>
                  <a:pt x="14215" y="1111250"/>
                  <a:pt x="0" y="1097035"/>
                  <a:pt x="0" y="1079500"/>
                </a:cubicBezTo>
                <a:lnTo>
                  <a:pt x="0" y="31750"/>
                </a:lnTo>
                <a:cubicBezTo>
                  <a:pt x="0" y="14227"/>
                  <a:pt x="14227" y="0"/>
                  <a:pt x="31750" y="0"/>
                </a:cubicBezTo>
                <a:close/>
              </a:path>
            </a:pathLst>
          </a:custGeom>
          <a:solidFill>
            <a:srgbClr val="EAE7D6"/>
          </a:solidFill>
          <a:ln/>
        </p:spPr>
        <p:txBody>
          <a:bodyPr/>
          <a:lstStyle/>
          <a:p>
            <a:endParaRPr lang="en-US"/>
          </a:p>
        </p:txBody>
      </p:sp>
      <p:sp>
        <p:nvSpPr>
          <p:cNvPr id="40" name="Shape 38"/>
          <p:cNvSpPr/>
          <p:nvPr/>
        </p:nvSpPr>
        <p:spPr>
          <a:xfrm>
            <a:off x="6357938" y="3563938"/>
            <a:ext cx="31750" cy="1111250"/>
          </a:xfrm>
          <a:custGeom>
            <a:avLst/>
            <a:gdLst/>
            <a:ahLst/>
            <a:cxnLst/>
            <a:rect l="l" t="t" r="r" b="b"/>
            <a:pathLst>
              <a:path w="31750" h="1111250">
                <a:moveTo>
                  <a:pt x="31750" y="0"/>
                </a:moveTo>
                <a:lnTo>
                  <a:pt x="31750" y="0"/>
                </a:lnTo>
                <a:lnTo>
                  <a:pt x="31750" y="1111250"/>
                </a:lnTo>
                <a:lnTo>
                  <a:pt x="31750" y="1111250"/>
                </a:lnTo>
                <a:cubicBezTo>
                  <a:pt x="14227" y="1111250"/>
                  <a:pt x="0" y="1097023"/>
                  <a:pt x="0" y="1079500"/>
                </a:cubicBezTo>
                <a:lnTo>
                  <a:pt x="0" y="31750"/>
                </a:lnTo>
                <a:cubicBezTo>
                  <a:pt x="0" y="14227"/>
                  <a:pt x="14227" y="0"/>
                  <a:pt x="31750" y="0"/>
                </a:cubicBezTo>
                <a:close/>
              </a:path>
            </a:pathLst>
          </a:custGeom>
          <a:solidFill>
            <a:srgbClr val="8D99AE"/>
          </a:solidFill>
          <a:ln/>
        </p:spPr>
        <p:txBody>
          <a:bodyPr/>
          <a:lstStyle/>
          <a:p>
            <a:endParaRPr lang="en-US"/>
          </a:p>
        </p:txBody>
      </p:sp>
      <p:sp>
        <p:nvSpPr>
          <p:cNvPr id="41" name="Text 39"/>
          <p:cNvSpPr/>
          <p:nvPr/>
        </p:nvSpPr>
        <p:spPr>
          <a:xfrm>
            <a:off x="6500813" y="3690937"/>
            <a:ext cx="513556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Activation</a:t>
            </a:r>
            <a:endParaRPr lang="en-US" sz="1600" dirty="0"/>
          </a:p>
        </p:txBody>
      </p:sp>
      <p:sp>
        <p:nvSpPr>
          <p:cNvPr id="42" name="Text 40"/>
          <p:cNvSpPr/>
          <p:nvPr/>
        </p:nvSpPr>
        <p:spPr>
          <a:xfrm>
            <a:off x="6500813" y="391318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Default mode initially</a:t>
            </a:r>
            <a:endParaRPr lang="en-US" sz="1600" dirty="0"/>
          </a:p>
        </p:txBody>
      </p:sp>
      <p:sp>
        <p:nvSpPr>
          <p:cNvPr id="43" name="Text 41"/>
          <p:cNvSpPr/>
          <p:nvPr/>
        </p:nvSpPr>
        <p:spPr>
          <a:xfrm>
            <a:off x="6500813" y="413543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Calling pause() method</a:t>
            </a:r>
            <a:endParaRPr lang="en-US" sz="1600" dirty="0"/>
          </a:p>
        </p:txBody>
      </p:sp>
      <p:sp>
        <p:nvSpPr>
          <p:cNvPr id="44" name="Text 42"/>
          <p:cNvSpPr/>
          <p:nvPr/>
        </p:nvSpPr>
        <p:spPr>
          <a:xfrm>
            <a:off x="6500813" y="4357688"/>
            <a:ext cx="514350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Unpipe all destinations</a:t>
            </a:r>
            <a:endParaRPr lang="en-US" sz="1600" dirty="0"/>
          </a:p>
        </p:txBody>
      </p:sp>
      <p:sp>
        <p:nvSpPr>
          <p:cNvPr id="45" name="Shape 43"/>
          <p:cNvSpPr/>
          <p:nvPr/>
        </p:nvSpPr>
        <p:spPr>
          <a:xfrm>
            <a:off x="6342063" y="4770438"/>
            <a:ext cx="5365750" cy="1619250"/>
          </a:xfrm>
          <a:custGeom>
            <a:avLst/>
            <a:gdLst/>
            <a:ahLst/>
            <a:cxnLst/>
            <a:rect l="l" t="t" r="r" b="b"/>
            <a:pathLst>
              <a:path w="5365750" h="1619250">
                <a:moveTo>
                  <a:pt x="63507" y="0"/>
                </a:moveTo>
                <a:lnTo>
                  <a:pt x="5302243" y="0"/>
                </a:lnTo>
                <a:cubicBezTo>
                  <a:pt x="5337317" y="0"/>
                  <a:pt x="5365750" y="28433"/>
                  <a:pt x="5365750" y="63507"/>
                </a:cubicBezTo>
                <a:lnTo>
                  <a:pt x="5365750" y="1555743"/>
                </a:lnTo>
                <a:cubicBezTo>
                  <a:pt x="5365750" y="1590817"/>
                  <a:pt x="5337317" y="1619250"/>
                  <a:pt x="5302243" y="1619250"/>
                </a:cubicBezTo>
                <a:lnTo>
                  <a:pt x="63507" y="1619250"/>
                </a:lnTo>
                <a:cubicBezTo>
                  <a:pt x="28433" y="1619250"/>
                  <a:pt x="0" y="1590817"/>
                  <a:pt x="0" y="1555743"/>
                </a:cubicBezTo>
                <a:lnTo>
                  <a:pt x="0" y="63507"/>
                </a:lnTo>
                <a:cubicBezTo>
                  <a:pt x="0" y="28457"/>
                  <a:pt x="28457" y="0"/>
                  <a:pt x="63507" y="0"/>
                </a:cubicBezTo>
                <a:close/>
              </a:path>
            </a:pathLst>
          </a:custGeom>
          <a:solidFill>
            <a:srgbClr val="EAE7D6"/>
          </a:solidFill>
          <a:ln/>
        </p:spPr>
        <p:txBody>
          <a:bodyPr/>
          <a:lstStyle/>
          <a:p>
            <a:endParaRPr lang="en-US"/>
          </a:p>
        </p:txBody>
      </p:sp>
      <p:sp>
        <p:nvSpPr>
          <p:cNvPr id="46" name="Text 44"/>
          <p:cNvSpPr/>
          <p:nvPr/>
        </p:nvSpPr>
        <p:spPr>
          <a:xfrm>
            <a:off x="6469063" y="48974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Code Example</a:t>
            </a:r>
            <a:endParaRPr lang="en-US" sz="1600" dirty="0"/>
          </a:p>
        </p:txBody>
      </p:sp>
      <p:sp>
        <p:nvSpPr>
          <p:cNvPr id="47" name="Shape 45"/>
          <p:cNvSpPr/>
          <p:nvPr/>
        </p:nvSpPr>
        <p:spPr>
          <a:xfrm>
            <a:off x="6469063" y="5119688"/>
            <a:ext cx="5111750" cy="1143000"/>
          </a:xfrm>
          <a:custGeom>
            <a:avLst/>
            <a:gdLst/>
            <a:ahLst/>
            <a:cxnLst/>
            <a:rect l="l" t="t" r="r" b="b"/>
            <a:pathLst>
              <a:path w="5111750" h="1143000">
                <a:moveTo>
                  <a:pt x="31753" y="0"/>
                </a:moveTo>
                <a:lnTo>
                  <a:pt x="5079997" y="0"/>
                </a:lnTo>
                <a:cubicBezTo>
                  <a:pt x="5097534" y="0"/>
                  <a:pt x="5111750" y="14216"/>
                  <a:pt x="5111750" y="31753"/>
                </a:cubicBezTo>
                <a:lnTo>
                  <a:pt x="5111750" y="1111247"/>
                </a:lnTo>
                <a:cubicBezTo>
                  <a:pt x="5111750" y="1128784"/>
                  <a:pt x="5097534" y="1143000"/>
                  <a:pt x="5079997" y="1143000"/>
                </a:cubicBezTo>
                <a:lnTo>
                  <a:pt x="31753" y="1143000"/>
                </a:lnTo>
                <a:cubicBezTo>
                  <a:pt x="14216" y="1143000"/>
                  <a:pt x="0" y="1128784"/>
                  <a:pt x="0" y="1111247"/>
                </a:cubicBezTo>
                <a:lnTo>
                  <a:pt x="0" y="31753"/>
                </a:lnTo>
                <a:cubicBezTo>
                  <a:pt x="0" y="14228"/>
                  <a:pt x="14228" y="0"/>
                  <a:pt x="31753" y="0"/>
                </a:cubicBezTo>
                <a:close/>
              </a:path>
            </a:pathLst>
          </a:custGeom>
          <a:solidFill>
            <a:srgbClr val="EAE7D6"/>
          </a:solidFill>
          <a:ln/>
        </p:spPr>
        <p:txBody>
          <a:bodyPr/>
          <a:lstStyle/>
          <a:p>
            <a:endParaRPr lang="en-US"/>
          </a:p>
        </p:txBody>
      </p:sp>
      <p:sp>
        <p:nvSpPr>
          <p:cNvPr id="48" name="Text 46"/>
          <p:cNvSpPr/>
          <p:nvPr/>
        </p:nvSpPr>
        <p:spPr>
          <a:xfrm>
            <a:off x="6564313" y="521493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readable.on('readable', () =&gt; {</a:t>
            </a:r>
            <a:endParaRPr lang="en-US" sz="1600" dirty="0"/>
          </a:p>
        </p:txBody>
      </p:sp>
      <p:sp>
        <p:nvSpPr>
          <p:cNvPr id="49" name="Text 47"/>
          <p:cNvSpPr/>
          <p:nvPr/>
        </p:nvSpPr>
        <p:spPr>
          <a:xfrm>
            <a:off x="6564313" y="53736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let chunk;</a:t>
            </a:r>
            <a:endParaRPr lang="en-US" sz="1600" dirty="0"/>
          </a:p>
        </p:txBody>
      </p:sp>
      <p:sp>
        <p:nvSpPr>
          <p:cNvPr id="50" name="Text 48"/>
          <p:cNvSpPr/>
          <p:nvPr/>
        </p:nvSpPr>
        <p:spPr>
          <a:xfrm>
            <a:off x="6564313" y="5532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while (chunk = readable.read()) {</a:t>
            </a:r>
            <a:endParaRPr lang="en-US" sz="1600" dirty="0"/>
          </a:p>
        </p:txBody>
      </p:sp>
      <p:sp>
        <p:nvSpPr>
          <p:cNvPr id="51" name="Text 49"/>
          <p:cNvSpPr/>
          <p:nvPr/>
        </p:nvSpPr>
        <p:spPr>
          <a:xfrm>
            <a:off x="6564313" y="5691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console.log(chunk);</a:t>
            </a:r>
            <a:endParaRPr lang="en-US" sz="1600" dirty="0"/>
          </a:p>
        </p:txBody>
      </p:sp>
      <p:sp>
        <p:nvSpPr>
          <p:cNvPr id="52" name="Text 50"/>
          <p:cNvSpPr/>
          <p:nvPr/>
        </p:nvSpPr>
        <p:spPr>
          <a:xfrm>
            <a:off x="6564313" y="58499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53" name="Text 51"/>
          <p:cNvSpPr/>
          <p:nvPr/>
        </p:nvSpPr>
        <p:spPr>
          <a:xfrm>
            <a:off x="6564313" y="600868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a:t>
            </a:r>
            <a:endParaRPr lang="en-US" sz="1600" dirty="0"/>
          </a:p>
        </p:txBody>
      </p:sp>
      <p:sp>
        <p:nvSpPr>
          <p:cNvPr id="54" name="Shape 52"/>
          <p:cNvSpPr/>
          <p:nvPr/>
        </p:nvSpPr>
        <p:spPr>
          <a:xfrm>
            <a:off x="321469" y="6687344"/>
            <a:ext cx="11549063" cy="865188"/>
          </a:xfrm>
          <a:custGeom>
            <a:avLst/>
            <a:gdLst/>
            <a:ahLst/>
            <a:cxnLst/>
            <a:rect l="l" t="t" r="r" b="b"/>
            <a:pathLst>
              <a:path w="11549063" h="865188">
                <a:moveTo>
                  <a:pt x="63496" y="0"/>
                </a:moveTo>
                <a:lnTo>
                  <a:pt x="11485566" y="0"/>
                </a:lnTo>
                <a:cubicBezTo>
                  <a:pt x="11520634" y="0"/>
                  <a:pt x="11549063" y="28428"/>
                  <a:pt x="11549063" y="63496"/>
                </a:cubicBezTo>
                <a:lnTo>
                  <a:pt x="11549063" y="801691"/>
                </a:lnTo>
                <a:cubicBezTo>
                  <a:pt x="11549063" y="836759"/>
                  <a:pt x="11520634" y="865188"/>
                  <a:pt x="11485566" y="865188"/>
                </a:cubicBezTo>
                <a:lnTo>
                  <a:pt x="63496" y="865188"/>
                </a:lnTo>
                <a:cubicBezTo>
                  <a:pt x="28428" y="865188"/>
                  <a:pt x="0" y="836759"/>
                  <a:pt x="0" y="801691"/>
                </a:cubicBezTo>
                <a:lnTo>
                  <a:pt x="0" y="63496"/>
                </a:lnTo>
                <a:cubicBezTo>
                  <a:pt x="0" y="28452"/>
                  <a:pt x="28452" y="0"/>
                  <a:pt x="63496" y="0"/>
                </a:cubicBezTo>
                <a:close/>
              </a:path>
            </a:pathLst>
          </a:custGeom>
          <a:solidFill>
            <a:srgbClr val="EAE7D6"/>
          </a:solidFill>
          <a:ln/>
        </p:spPr>
        <p:txBody>
          <a:bodyPr/>
          <a:lstStyle/>
          <a:p>
            <a:endParaRPr lang="en-US"/>
          </a:p>
        </p:txBody>
      </p:sp>
      <p:sp>
        <p:nvSpPr>
          <p:cNvPr id="55" name="Shape 53"/>
          <p:cNvSpPr/>
          <p:nvPr/>
        </p:nvSpPr>
        <p:spPr>
          <a:xfrm>
            <a:off x="458391" y="7040563"/>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8D99AE"/>
          </a:solidFill>
          <a:ln/>
        </p:spPr>
        <p:txBody>
          <a:bodyPr/>
          <a:lstStyle/>
          <a:p>
            <a:endParaRPr lang="en-US"/>
          </a:p>
        </p:txBody>
      </p:sp>
      <p:sp>
        <p:nvSpPr>
          <p:cNvPr id="56" name="Text 54"/>
          <p:cNvSpPr/>
          <p:nvPr/>
        </p:nvSpPr>
        <p:spPr>
          <a:xfrm>
            <a:off x="735645" y="6818313"/>
            <a:ext cx="11072813"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Interview Tip: Paused Mode Gives More Control</a:t>
            </a:r>
            <a:endParaRPr lang="en-US" sz="1600" dirty="0"/>
          </a:p>
        </p:txBody>
      </p:sp>
      <p:sp>
        <p:nvSpPr>
          <p:cNvPr id="57" name="Text 55"/>
          <p:cNvSpPr/>
          <p:nvPr/>
        </p:nvSpPr>
        <p:spPr>
          <a:xfrm>
            <a:off x="735645" y="7040563"/>
            <a:ext cx="11064875" cy="3810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Senior developers prefer paused mode for complex scenarios requiring precise flow control, backpressure handling, and conditional reading. It provides explicit control over when and how much data to consume.</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9790" y="367759"/>
            <a:ext cx="383748" cy="383748"/>
          </a:xfrm>
          <a:custGeom>
            <a:avLst/>
            <a:gdLst/>
            <a:ahLst/>
            <a:cxnLst/>
            <a:rect l="l" t="t" r="r" b="b"/>
            <a:pathLst>
              <a:path w="383748" h="383748">
                <a:moveTo>
                  <a:pt x="63959" y="0"/>
                </a:moveTo>
                <a:lnTo>
                  <a:pt x="319789" y="0"/>
                </a:lnTo>
                <a:cubicBezTo>
                  <a:pt x="355113" y="0"/>
                  <a:pt x="383748" y="28636"/>
                  <a:pt x="383748" y="63959"/>
                </a:cubicBezTo>
                <a:lnTo>
                  <a:pt x="383748" y="319789"/>
                </a:lnTo>
                <a:cubicBezTo>
                  <a:pt x="383748" y="355113"/>
                  <a:pt x="355113" y="383748"/>
                  <a:pt x="319789" y="383748"/>
                </a:cubicBezTo>
                <a:lnTo>
                  <a:pt x="63959" y="383748"/>
                </a:lnTo>
                <a:cubicBezTo>
                  <a:pt x="28636" y="383748"/>
                  <a:pt x="0" y="355113"/>
                  <a:pt x="0" y="319789"/>
                </a:cubicBezTo>
                <a:lnTo>
                  <a:pt x="0" y="63959"/>
                </a:lnTo>
                <a:cubicBezTo>
                  <a:pt x="0" y="28659"/>
                  <a:pt x="28659" y="0"/>
                  <a:pt x="63959" y="0"/>
                </a:cubicBezTo>
                <a:close/>
              </a:path>
            </a:pathLst>
          </a:custGeom>
          <a:gradFill flip="none" rotWithShape="1">
            <a:gsLst>
              <a:gs pos="0">
                <a:srgbClr val="9B2226"/>
              </a:gs>
              <a:gs pos="100000">
                <a:srgbClr val="B85042"/>
              </a:gs>
            </a:gsLst>
            <a:lin ang="2700000" scaled="1"/>
          </a:gradFill>
          <a:ln/>
        </p:spPr>
        <p:txBody>
          <a:bodyPr/>
          <a:lstStyle/>
          <a:p>
            <a:endParaRPr lang="en-US"/>
          </a:p>
        </p:txBody>
      </p:sp>
      <p:sp>
        <p:nvSpPr>
          <p:cNvPr id="3" name="Shape 1"/>
          <p:cNvSpPr/>
          <p:nvPr/>
        </p:nvSpPr>
        <p:spPr>
          <a:xfrm>
            <a:off x="431717" y="479685"/>
            <a:ext cx="159895" cy="159895"/>
          </a:xfrm>
          <a:custGeom>
            <a:avLst/>
            <a:gdLst/>
            <a:ahLst/>
            <a:cxnLst/>
            <a:rect l="l" t="t" r="r" b="b"/>
            <a:pathLst>
              <a:path w="159895" h="159895">
                <a:moveTo>
                  <a:pt x="79948" y="0"/>
                </a:moveTo>
                <a:cubicBezTo>
                  <a:pt x="84538" y="0"/>
                  <a:pt x="88754" y="2530"/>
                  <a:pt x="90940" y="6558"/>
                </a:cubicBezTo>
                <a:lnTo>
                  <a:pt x="158396" y="131476"/>
                </a:lnTo>
                <a:cubicBezTo>
                  <a:pt x="160488" y="135349"/>
                  <a:pt x="160395" y="140033"/>
                  <a:pt x="158146" y="143812"/>
                </a:cubicBezTo>
                <a:cubicBezTo>
                  <a:pt x="155898" y="147591"/>
                  <a:pt x="151807" y="149902"/>
                  <a:pt x="147403" y="149902"/>
                </a:cubicBezTo>
                <a:lnTo>
                  <a:pt x="12492" y="149902"/>
                </a:lnTo>
                <a:cubicBezTo>
                  <a:pt x="8088" y="149902"/>
                  <a:pt x="4029" y="147591"/>
                  <a:pt x="1749" y="143812"/>
                </a:cubicBezTo>
                <a:cubicBezTo>
                  <a:pt x="-531" y="140033"/>
                  <a:pt x="-593" y="135349"/>
                  <a:pt x="1499" y="131476"/>
                </a:cubicBezTo>
                <a:lnTo>
                  <a:pt x="68955" y="6558"/>
                </a:lnTo>
                <a:cubicBezTo>
                  <a:pt x="71141" y="2530"/>
                  <a:pt x="75357" y="0"/>
                  <a:pt x="79948" y="0"/>
                </a:cubicBezTo>
                <a:close/>
                <a:moveTo>
                  <a:pt x="79948" y="52466"/>
                </a:moveTo>
                <a:cubicBezTo>
                  <a:pt x="75794" y="52466"/>
                  <a:pt x="72452" y="55807"/>
                  <a:pt x="72452" y="59961"/>
                </a:cubicBezTo>
                <a:lnTo>
                  <a:pt x="72452" y="94938"/>
                </a:lnTo>
                <a:cubicBezTo>
                  <a:pt x="72452" y="99091"/>
                  <a:pt x="75794" y="102433"/>
                  <a:pt x="79948" y="102433"/>
                </a:cubicBezTo>
                <a:cubicBezTo>
                  <a:pt x="84101" y="102433"/>
                  <a:pt x="87443" y="99091"/>
                  <a:pt x="87443" y="94938"/>
                </a:cubicBezTo>
                <a:lnTo>
                  <a:pt x="87443" y="59961"/>
                </a:lnTo>
                <a:cubicBezTo>
                  <a:pt x="87443" y="55807"/>
                  <a:pt x="84101" y="52466"/>
                  <a:pt x="79948" y="52466"/>
                </a:cubicBezTo>
                <a:close/>
                <a:moveTo>
                  <a:pt x="88286" y="119921"/>
                </a:moveTo>
                <a:cubicBezTo>
                  <a:pt x="88476" y="116826"/>
                  <a:pt x="86932" y="113882"/>
                  <a:pt x="84279" y="112277"/>
                </a:cubicBezTo>
                <a:cubicBezTo>
                  <a:pt x="81626" y="110672"/>
                  <a:pt x="78301" y="110672"/>
                  <a:pt x="75648" y="112277"/>
                </a:cubicBezTo>
                <a:cubicBezTo>
                  <a:pt x="72994" y="113882"/>
                  <a:pt x="71451" y="116826"/>
                  <a:pt x="71640" y="119921"/>
                </a:cubicBezTo>
                <a:cubicBezTo>
                  <a:pt x="71451" y="123016"/>
                  <a:pt x="72994" y="125961"/>
                  <a:pt x="75648" y="127566"/>
                </a:cubicBezTo>
                <a:cubicBezTo>
                  <a:pt x="78301" y="129171"/>
                  <a:pt x="81626" y="129171"/>
                  <a:pt x="84279" y="127566"/>
                </a:cubicBezTo>
                <a:cubicBezTo>
                  <a:pt x="86932" y="125961"/>
                  <a:pt x="88476" y="123016"/>
                  <a:pt x="88286" y="119921"/>
                </a:cubicBezTo>
                <a:close/>
              </a:path>
            </a:pathLst>
          </a:custGeom>
          <a:solidFill>
            <a:srgbClr val="FFFFFF"/>
          </a:solidFill>
          <a:ln/>
        </p:spPr>
        <p:txBody>
          <a:bodyPr/>
          <a:lstStyle/>
          <a:p>
            <a:endParaRPr lang="en-US"/>
          </a:p>
        </p:txBody>
      </p:sp>
      <p:sp>
        <p:nvSpPr>
          <p:cNvPr id="4" name="Text 2"/>
          <p:cNvSpPr/>
          <p:nvPr/>
        </p:nvSpPr>
        <p:spPr>
          <a:xfrm>
            <a:off x="799475" y="319790"/>
            <a:ext cx="1790825" cy="159895"/>
          </a:xfrm>
          <a:prstGeom prst="rect">
            <a:avLst/>
          </a:prstGeom>
          <a:noFill/>
          <a:ln/>
        </p:spPr>
        <p:txBody>
          <a:bodyPr wrap="square" lIns="0" tIns="0" rIns="0" bIns="0" rtlCol="0" anchor="ctr"/>
          <a:lstStyle/>
          <a:p>
            <a:pPr>
              <a:lnSpc>
                <a:spcPct val="120000"/>
              </a:lnSpc>
            </a:pPr>
            <a:r>
              <a:rPr lang="en-US" sz="881" b="1" kern="0" spc="44" dirty="0">
                <a:solidFill>
                  <a:srgbClr val="B91C2B"/>
                </a:solidFill>
                <a:latin typeface="Quattrocento Sans" pitchFamily="34" charset="0"/>
                <a:ea typeface="Quattrocento Sans" pitchFamily="34" charset="-122"/>
                <a:cs typeface="Quattrocento Sans" pitchFamily="34" charset="-120"/>
              </a:rPr>
              <a:t>Critical Concept</a:t>
            </a:r>
            <a:endParaRPr lang="en-US" sz="1600" dirty="0"/>
          </a:p>
        </p:txBody>
      </p:sp>
      <p:sp>
        <p:nvSpPr>
          <p:cNvPr id="5" name="Text 3"/>
          <p:cNvSpPr/>
          <p:nvPr/>
        </p:nvSpPr>
        <p:spPr>
          <a:xfrm>
            <a:off x="799475" y="479685"/>
            <a:ext cx="1878767" cy="319790"/>
          </a:xfrm>
          <a:prstGeom prst="rect">
            <a:avLst/>
          </a:prstGeom>
          <a:noFill/>
          <a:ln/>
        </p:spPr>
        <p:txBody>
          <a:bodyPr wrap="square" lIns="0" tIns="0" rIns="0" bIns="0" rtlCol="0" anchor="ctr"/>
          <a:lstStyle/>
          <a:p>
            <a:pPr>
              <a:lnSpc>
                <a:spcPct val="90000"/>
              </a:lnSpc>
            </a:pPr>
            <a:r>
              <a:rPr lang="en-US" sz="2266" b="1" dirty="0">
                <a:solidFill>
                  <a:srgbClr val="2D3142"/>
                </a:solidFill>
                <a:latin typeface="Liter" pitchFamily="34" charset="0"/>
                <a:ea typeface="Liter" pitchFamily="34" charset="-122"/>
                <a:cs typeface="Liter" pitchFamily="34" charset="-120"/>
              </a:rPr>
              <a:t>Backpressure</a:t>
            </a:r>
            <a:endParaRPr lang="en-US" sz="1600" dirty="0"/>
          </a:p>
        </p:txBody>
      </p:sp>
      <p:sp>
        <p:nvSpPr>
          <p:cNvPr id="6" name="Shape 4"/>
          <p:cNvSpPr/>
          <p:nvPr/>
        </p:nvSpPr>
        <p:spPr>
          <a:xfrm>
            <a:off x="319790" y="895412"/>
            <a:ext cx="1023329" cy="31979"/>
          </a:xfrm>
          <a:custGeom>
            <a:avLst/>
            <a:gdLst/>
            <a:ahLst/>
            <a:cxnLst/>
            <a:rect l="l" t="t" r="r" b="b"/>
            <a:pathLst>
              <a:path w="1023329" h="31979">
                <a:moveTo>
                  <a:pt x="0" y="0"/>
                </a:moveTo>
                <a:lnTo>
                  <a:pt x="1023329" y="0"/>
                </a:lnTo>
                <a:lnTo>
                  <a:pt x="1023329" y="31979"/>
                </a:lnTo>
                <a:lnTo>
                  <a:pt x="0" y="31979"/>
                </a:lnTo>
                <a:lnTo>
                  <a:pt x="0" y="0"/>
                </a:lnTo>
                <a:close/>
              </a:path>
            </a:pathLst>
          </a:custGeom>
          <a:gradFill flip="none" rotWithShape="1">
            <a:gsLst>
              <a:gs pos="0">
                <a:srgbClr val="9B2226"/>
              </a:gs>
              <a:gs pos="100000">
                <a:srgbClr val="8D99AE"/>
              </a:gs>
            </a:gsLst>
            <a:lin ang="0" scaled="1"/>
          </a:gradFill>
          <a:ln/>
        </p:spPr>
        <p:txBody>
          <a:bodyPr/>
          <a:lstStyle/>
          <a:p>
            <a:endParaRPr lang="en-US"/>
          </a:p>
        </p:txBody>
      </p:sp>
      <p:sp>
        <p:nvSpPr>
          <p:cNvPr id="7" name="Shape 5"/>
          <p:cNvSpPr/>
          <p:nvPr/>
        </p:nvSpPr>
        <p:spPr>
          <a:xfrm>
            <a:off x="323788" y="1059305"/>
            <a:ext cx="7650980" cy="1926736"/>
          </a:xfrm>
          <a:custGeom>
            <a:avLst/>
            <a:gdLst/>
            <a:ahLst/>
            <a:cxnLst/>
            <a:rect l="l" t="t" r="r" b="b"/>
            <a:pathLst>
              <a:path w="7650980" h="1926736">
                <a:moveTo>
                  <a:pt x="95932" y="0"/>
                </a:moveTo>
                <a:lnTo>
                  <a:pt x="7555047" y="0"/>
                </a:lnTo>
                <a:cubicBezTo>
                  <a:pt x="7608029" y="0"/>
                  <a:pt x="7650980" y="42950"/>
                  <a:pt x="7650980" y="95932"/>
                </a:cubicBezTo>
                <a:lnTo>
                  <a:pt x="7650980" y="1830804"/>
                </a:lnTo>
                <a:cubicBezTo>
                  <a:pt x="7650980" y="1883785"/>
                  <a:pt x="7608029" y="1926736"/>
                  <a:pt x="7555047" y="1926736"/>
                </a:cubicBezTo>
                <a:lnTo>
                  <a:pt x="95932" y="1926736"/>
                </a:lnTo>
                <a:cubicBezTo>
                  <a:pt x="42950" y="1926736"/>
                  <a:pt x="0" y="1883785"/>
                  <a:pt x="0" y="1830804"/>
                </a:cubicBezTo>
                <a:lnTo>
                  <a:pt x="0" y="95932"/>
                </a:lnTo>
                <a:cubicBezTo>
                  <a:pt x="0" y="42950"/>
                  <a:pt x="42950" y="0"/>
                  <a:pt x="95932" y="0"/>
                </a:cubicBezTo>
                <a:close/>
              </a:path>
            </a:pathLst>
          </a:custGeom>
          <a:solidFill>
            <a:srgbClr val="EAE7D6"/>
          </a:solidFill>
          <a:ln/>
        </p:spPr>
        <p:txBody>
          <a:bodyPr/>
          <a:lstStyle/>
          <a:p>
            <a:endParaRPr lang="en-US" dirty="0"/>
          </a:p>
        </p:txBody>
      </p:sp>
      <p:sp>
        <p:nvSpPr>
          <p:cNvPr id="8" name="Shape 6"/>
          <p:cNvSpPr/>
          <p:nvPr/>
        </p:nvSpPr>
        <p:spPr>
          <a:xfrm>
            <a:off x="511664" y="1255176"/>
            <a:ext cx="191874" cy="191874"/>
          </a:xfrm>
          <a:custGeom>
            <a:avLst/>
            <a:gdLst/>
            <a:ahLst/>
            <a:cxnLst/>
            <a:rect l="l" t="t" r="r" b="b"/>
            <a:pathLst>
              <a:path w="191874" h="191874">
                <a:moveTo>
                  <a:pt x="95937" y="191874"/>
                </a:moveTo>
                <a:cubicBezTo>
                  <a:pt x="148886" y="191874"/>
                  <a:pt x="191874" y="148886"/>
                  <a:pt x="191874" y="95937"/>
                </a:cubicBezTo>
                <a:cubicBezTo>
                  <a:pt x="191874" y="42988"/>
                  <a:pt x="148886" y="0"/>
                  <a:pt x="95937" y="0"/>
                </a:cubicBezTo>
                <a:cubicBezTo>
                  <a:pt x="42988" y="0"/>
                  <a:pt x="0" y="42988"/>
                  <a:pt x="0" y="95937"/>
                </a:cubicBezTo>
                <a:cubicBezTo>
                  <a:pt x="0" y="148886"/>
                  <a:pt x="42988" y="191874"/>
                  <a:pt x="95937" y="191874"/>
                </a:cubicBezTo>
                <a:close/>
                <a:moveTo>
                  <a:pt x="95937" y="65957"/>
                </a:moveTo>
                <a:cubicBezTo>
                  <a:pt x="89304" y="65957"/>
                  <a:pt x="83945" y="71316"/>
                  <a:pt x="83945" y="77949"/>
                </a:cubicBezTo>
                <a:cubicBezTo>
                  <a:pt x="83945" y="82933"/>
                  <a:pt x="79935" y="86943"/>
                  <a:pt x="74951" y="86943"/>
                </a:cubicBezTo>
                <a:cubicBezTo>
                  <a:pt x="69967" y="86943"/>
                  <a:pt x="65957" y="82933"/>
                  <a:pt x="65957" y="77949"/>
                </a:cubicBezTo>
                <a:cubicBezTo>
                  <a:pt x="65957" y="61385"/>
                  <a:pt x="79373" y="47969"/>
                  <a:pt x="95937" y="47969"/>
                </a:cubicBezTo>
                <a:cubicBezTo>
                  <a:pt x="112501" y="47969"/>
                  <a:pt x="125917" y="61385"/>
                  <a:pt x="125917" y="77949"/>
                </a:cubicBezTo>
                <a:cubicBezTo>
                  <a:pt x="125917" y="95637"/>
                  <a:pt x="112426" y="103132"/>
                  <a:pt x="104931" y="105868"/>
                </a:cubicBezTo>
                <a:lnTo>
                  <a:pt x="104931" y="107292"/>
                </a:lnTo>
                <a:cubicBezTo>
                  <a:pt x="104931" y="112276"/>
                  <a:pt x="100921" y="116286"/>
                  <a:pt x="95937" y="116286"/>
                </a:cubicBezTo>
                <a:cubicBezTo>
                  <a:pt x="90953" y="116286"/>
                  <a:pt x="86943" y="112276"/>
                  <a:pt x="86943" y="107292"/>
                </a:cubicBezTo>
                <a:lnTo>
                  <a:pt x="86943" y="104257"/>
                </a:lnTo>
                <a:cubicBezTo>
                  <a:pt x="86943" y="96574"/>
                  <a:pt x="92489" y="91065"/>
                  <a:pt x="98223" y="89191"/>
                </a:cubicBezTo>
                <a:cubicBezTo>
                  <a:pt x="100621" y="88404"/>
                  <a:pt x="103170" y="87130"/>
                  <a:pt x="105044" y="85332"/>
                </a:cubicBezTo>
                <a:cubicBezTo>
                  <a:pt x="106655" y="83758"/>
                  <a:pt x="107929" y="81584"/>
                  <a:pt x="107929" y="77986"/>
                </a:cubicBezTo>
                <a:cubicBezTo>
                  <a:pt x="107929" y="71353"/>
                  <a:pt x="102570" y="65994"/>
                  <a:pt x="95937" y="65994"/>
                </a:cubicBezTo>
                <a:close/>
                <a:moveTo>
                  <a:pt x="83945" y="137910"/>
                </a:moveTo>
                <a:cubicBezTo>
                  <a:pt x="83945" y="131291"/>
                  <a:pt x="89318" y="125917"/>
                  <a:pt x="95937" y="125917"/>
                </a:cubicBezTo>
                <a:cubicBezTo>
                  <a:pt x="102556" y="125917"/>
                  <a:pt x="107929" y="131291"/>
                  <a:pt x="107929" y="137910"/>
                </a:cubicBezTo>
                <a:cubicBezTo>
                  <a:pt x="107929" y="144528"/>
                  <a:pt x="102556" y="149902"/>
                  <a:pt x="95937" y="149902"/>
                </a:cubicBezTo>
                <a:cubicBezTo>
                  <a:pt x="89318" y="149902"/>
                  <a:pt x="83945" y="144528"/>
                  <a:pt x="83945" y="137910"/>
                </a:cubicBezTo>
                <a:close/>
              </a:path>
            </a:pathLst>
          </a:custGeom>
          <a:solidFill>
            <a:srgbClr val="B91C2B"/>
          </a:solidFill>
          <a:ln/>
        </p:spPr>
        <p:txBody>
          <a:bodyPr/>
          <a:lstStyle/>
          <a:p>
            <a:endParaRPr lang="en-US"/>
          </a:p>
        </p:txBody>
      </p:sp>
      <p:sp>
        <p:nvSpPr>
          <p:cNvPr id="9" name="Text 7"/>
          <p:cNvSpPr/>
          <p:nvPr/>
        </p:nvSpPr>
        <p:spPr>
          <a:xfrm>
            <a:off x="823460" y="1223197"/>
            <a:ext cx="6820924" cy="255832"/>
          </a:xfrm>
          <a:prstGeom prst="rect">
            <a:avLst/>
          </a:prstGeom>
          <a:noFill/>
          <a:ln/>
        </p:spPr>
        <p:txBody>
          <a:bodyPr wrap="square" lIns="0" tIns="0" rIns="0" bIns="0" rtlCol="0" anchor="ctr"/>
          <a:lstStyle/>
          <a:p>
            <a:pPr>
              <a:lnSpc>
                <a:spcPct val="110000"/>
              </a:lnSpc>
            </a:pPr>
            <a:r>
              <a:rPr lang="en-US" sz="1511" b="1" dirty="0">
                <a:solidFill>
                  <a:srgbClr val="2D3142"/>
                </a:solidFill>
                <a:latin typeface="Quattrocento Sans" pitchFamily="34" charset="0"/>
                <a:ea typeface="Quattrocento Sans" pitchFamily="34" charset="-122"/>
                <a:cs typeface="Quattrocento Sans" pitchFamily="34" charset="-120"/>
              </a:rPr>
              <a:t>What is Backpressure? </a:t>
            </a:r>
            <a:r>
              <a:rPr lang="en-US" sz="1100" b="1" dirty="0">
                <a:solidFill>
                  <a:srgbClr val="2D3142"/>
                </a:solidFill>
                <a:latin typeface="Quattrocento Sans" pitchFamily="34" charset="0"/>
                <a:ea typeface="Quattrocento Sans" pitchFamily="34" charset="-122"/>
                <a:cs typeface="Quattrocento Sans" pitchFamily="34" charset="-120"/>
              </a:rPr>
              <a:t>(In software and system design, backpressure is a flow-control mechanism)</a:t>
            </a:r>
            <a:endParaRPr lang="en-US" sz="1600" dirty="0"/>
          </a:p>
        </p:txBody>
      </p:sp>
      <p:sp>
        <p:nvSpPr>
          <p:cNvPr id="10" name="Text 8"/>
          <p:cNvSpPr/>
          <p:nvPr/>
        </p:nvSpPr>
        <p:spPr>
          <a:xfrm>
            <a:off x="487680" y="1606946"/>
            <a:ext cx="7387153" cy="671558"/>
          </a:xfrm>
          <a:prstGeom prst="rect">
            <a:avLst/>
          </a:prstGeom>
          <a:noFill/>
          <a:ln/>
        </p:spPr>
        <p:txBody>
          <a:bodyPr wrap="square" lIns="0" tIns="0" rIns="0" bIns="0" rtlCol="0" anchor="ctr"/>
          <a:lstStyle/>
          <a:p>
            <a:pPr>
              <a:lnSpc>
                <a:spcPct val="140000"/>
              </a:lnSpc>
            </a:pPr>
            <a:r>
              <a:rPr lang="en-US" sz="1007" dirty="0">
                <a:solidFill>
                  <a:srgbClr val="2D3142"/>
                </a:solidFill>
                <a:latin typeface="Quattrocento Sans" pitchFamily="34" charset="0"/>
                <a:ea typeface="Quattrocento Sans" pitchFamily="34" charset="-122"/>
                <a:cs typeface="Quattrocento Sans" pitchFamily="34" charset="-120"/>
              </a:rPr>
              <a:t>Backpressure occurs when the </a:t>
            </a:r>
            <a:r>
              <a:rPr lang="en-US" sz="1007"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data producer is faster </a:t>
            </a:r>
            <a:r>
              <a:rPr lang="en-US" sz="1007" dirty="0">
                <a:solidFill>
                  <a:srgbClr val="2D3142"/>
                </a:solidFill>
                <a:latin typeface="Quattrocento Sans" pitchFamily="34" charset="0"/>
                <a:ea typeface="Quattrocento Sans" pitchFamily="34" charset="-122"/>
                <a:cs typeface="Quattrocento Sans" pitchFamily="34" charset="-120"/>
              </a:rPr>
              <a:t>than the data consumer can process. Without proper handling, this leads to memory overflow and application crashes. (used to control the flow of data to prevent parts of the system from becoming overloaded.</a:t>
            </a:r>
            <a:endParaRPr lang="en-US" sz="1600" dirty="0"/>
          </a:p>
        </p:txBody>
      </p:sp>
      <p:sp>
        <p:nvSpPr>
          <p:cNvPr id="11" name="Shape 9"/>
          <p:cNvSpPr/>
          <p:nvPr/>
        </p:nvSpPr>
        <p:spPr>
          <a:xfrm>
            <a:off x="487680" y="2278504"/>
            <a:ext cx="7323195" cy="543644"/>
          </a:xfrm>
          <a:custGeom>
            <a:avLst/>
            <a:gdLst/>
            <a:ahLst/>
            <a:cxnLst/>
            <a:rect l="l" t="t" r="r" b="b"/>
            <a:pathLst>
              <a:path w="7323195" h="671559">
                <a:moveTo>
                  <a:pt x="63959" y="0"/>
                </a:moveTo>
                <a:lnTo>
                  <a:pt x="7259235" y="0"/>
                </a:lnTo>
                <a:cubicBezTo>
                  <a:pt x="7294559" y="0"/>
                  <a:pt x="7323195" y="28636"/>
                  <a:pt x="7323195" y="63959"/>
                </a:cubicBezTo>
                <a:lnTo>
                  <a:pt x="7323195" y="607600"/>
                </a:lnTo>
                <a:cubicBezTo>
                  <a:pt x="7323195" y="642924"/>
                  <a:pt x="7294559" y="671559"/>
                  <a:pt x="7259235" y="671559"/>
                </a:cubicBezTo>
                <a:lnTo>
                  <a:pt x="63959" y="671559"/>
                </a:lnTo>
                <a:cubicBezTo>
                  <a:pt x="28636" y="671559"/>
                  <a:pt x="0" y="642924"/>
                  <a:pt x="0" y="607600"/>
                </a:cubicBezTo>
                <a:lnTo>
                  <a:pt x="0" y="63959"/>
                </a:lnTo>
                <a:cubicBezTo>
                  <a:pt x="0" y="28659"/>
                  <a:pt x="28659" y="0"/>
                  <a:pt x="63959" y="0"/>
                </a:cubicBezTo>
                <a:close/>
              </a:path>
            </a:pathLst>
          </a:custGeom>
          <a:solidFill>
            <a:srgbClr val="EAE7D6"/>
          </a:solidFill>
          <a:ln/>
        </p:spPr>
        <p:txBody>
          <a:bodyPr/>
          <a:lstStyle/>
          <a:p>
            <a:endParaRPr lang="en-US"/>
          </a:p>
        </p:txBody>
      </p:sp>
      <p:sp>
        <p:nvSpPr>
          <p:cNvPr id="12" name="Text 10"/>
          <p:cNvSpPr/>
          <p:nvPr/>
        </p:nvSpPr>
        <p:spPr>
          <a:xfrm>
            <a:off x="615596" y="2278505"/>
            <a:ext cx="7123326" cy="159895"/>
          </a:xfrm>
          <a:prstGeom prst="rect">
            <a:avLst/>
          </a:prstGeom>
          <a:noFill/>
          <a:ln/>
        </p:spPr>
        <p:txBody>
          <a:bodyPr wrap="square" lIns="0" tIns="0" rIns="0" bIns="0" rtlCol="0" anchor="ctr"/>
          <a:lstStyle/>
          <a:p>
            <a:pPr>
              <a:lnSpc>
                <a:spcPct val="120000"/>
              </a:lnSpc>
            </a:pPr>
            <a:r>
              <a:rPr lang="en-US" sz="881" dirty="0">
                <a:solidFill>
                  <a:srgbClr val="8D99AE"/>
                </a:solidFill>
                <a:latin typeface="Quattrocento Sans" pitchFamily="34" charset="0"/>
                <a:ea typeface="Quattrocento Sans" pitchFamily="34" charset="-122"/>
                <a:cs typeface="Quattrocento Sans" pitchFamily="34" charset="-120"/>
              </a:rPr>
              <a:t>Analogy</a:t>
            </a:r>
            <a:endParaRPr lang="en-US" sz="1600" dirty="0"/>
          </a:p>
        </p:txBody>
      </p:sp>
      <p:sp>
        <p:nvSpPr>
          <p:cNvPr id="13" name="Text 11"/>
          <p:cNvSpPr/>
          <p:nvPr/>
        </p:nvSpPr>
        <p:spPr>
          <a:xfrm>
            <a:off x="615596" y="2502358"/>
            <a:ext cx="7131321" cy="191874"/>
          </a:xfrm>
          <a:prstGeom prst="rect">
            <a:avLst/>
          </a:prstGeom>
          <a:noFill/>
          <a:ln/>
        </p:spPr>
        <p:txBody>
          <a:bodyPr wrap="square" lIns="0" tIns="0" rIns="0" bIns="0" rtlCol="0" anchor="ctr"/>
          <a:lstStyle/>
          <a:p>
            <a:pPr>
              <a:lnSpc>
                <a:spcPct val="120000"/>
              </a:lnSpc>
            </a:pPr>
            <a:r>
              <a:rPr lang="en-US" sz="1007" dirty="0">
                <a:solidFill>
                  <a:srgbClr val="2D3142"/>
                </a:solidFill>
                <a:latin typeface="Quattrocento Sans" pitchFamily="34" charset="0"/>
                <a:ea typeface="Quattrocento Sans" pitchFamily="34" charset="-122"/>
                <a:cs typeface="Quattrocento Sans" pitchFamily="34" charset="-120"/>
              </a:rPr>
              <a:t>Like a funnel - if you pour water faster than it can drain, it overflows. </a:t>
            </a:r>
            <a:r>
              <a:rPr lang="en-US" sz="1007" dirty="0">
                <a:solidFill>
                  <a:schemeClr val="bg1"/>
                </a:solidFill>
                <a:highlight>
                  <a:srgbClr val="008000"/>
                </a:highlight>
                <a:latin typeface="Quattrocento Sans" pitchFamily="34" charset="0"/>
                <a:ea typeface="Quattrocento Sans" pitchFamily="34" charset="-122"/>
                <a:cs typeface="Quattrocento Sans" pitchFamily="34" charset="-120"/>
              </a:rPr>
              <a:t>Backpressure is the mechanism to slow down the pouring</a:t>
            </a:r>
            <a:r>
              <a:rPr lang="en-US" sz="1007" dirty="0">
                <a:solidFill>
                  <a:srgbClr val="2D3142"/>
                </a:solidFill>
                <a:latin typeface="Quattrocento Sans" pitchFamily="34" charset="0"/>
                <a:ea typeface="Quattrocento Sans" pitchFamily="34" charset="-122"/>
                <a:cs typeface="Quattrocento Sans" pitchFamily="34" charset="-120"/>
              </a:rPr>
              <a:t>.</a:t>
            </a:r>
            <a:endParaRPr lang="en-US" sz="1600" dirty="0"/>
          </a:p>
        </p:txBody>
      </p:sp>
      <p:sp>
        <p:nvSpPr>
          <p:cNvPr id="14" name="Shape 12"/>
          <p:cNvSpPr/>
          <p:nvPr/>
        </p:nvSpPr>
        <p:spPr>
          <a:xfrm>
            <a:off x="323788" y="3121951"/>
            <a:ext cx="7650980" cy="2950064"/>
          </a:xfrm>
          <a:custGeom>
            <a:avLst/>
            <a:gdLst/>
            <a:ahLst/>
            <a:cxnLst/>
            <a:rect l="l" t="t" r="r" b="b"/>
            <a:pathLst>
              <a:path w="7650980" h="2950064">
                <a:moveTo>
                  <a:pt x="95936" y="0"/>
                </a:moveTo>
                <a:lnTo>
                  <a:pt x="7555044" y="0"/>
                </a:lnTo>
                <a:cubicBezTo>
                  <a:pt x="7608028" y="0"/>
                  <a:pt x="7650980" y="42952"/>
                  <a:pt x="7650980" y="95936"/>
                </a:cubicBezTo>
                <a:lnTo>
                  <a:pt x="7650980" y="2854128"/>
                </a:lnTo>
                <a:cubicBezTo>
                  <a:pt x="7650980" y="2907112"/>
                  <a:pt x="7608028" y="2950064"/>
                  <a:pt x="7555044" y="2950064"/>
                </a:cubicBezTo>
                <a:lnTo>
                  <a:pt x="95936" y="2950064"/>
                </a:lnTo>
                <a:cubicBezTo>
                  <a:pt x="42952" y="2950064"/>
                  <a:pt x="0" y="2907112"/>
                  <a:pt x="0" y="2854128"/>
                </a:cubicBezTo>
                <a:lnTo>
                  <a:pt x="0" y="95936"/>
                </a:lnTo>
                <a:cubicBezTo>
                  <a:pt x="0" y="42988"/>
                  <a:pt x="42988" y="0"/>
                  <a:pt x="95936" y="0"/>
                </a:cubicBezTo>
                <a:close/>
              </a:path>
            </a:pathLst>
          </a:custGeom>
          <a:solidFill>
            <a:srgbClr val="EAE7D6"/>
          </a:solidFill>
          <a:ln/>
        </p:spPr>
        <p:txBody>
          <a:bodyPr/>
          <a:lstStyle/>
          <a:p>
            <a:endParaRPr lang="en-US"/>
          </a:p>
        </p:txBody>
      </p:sp>
      <p:sp>
        <p:nvSpPr>
          <p:cNvPr id="15" name="Shape 13"/>
          <p:cNvSpPr/>
          <p:nvPr/>
        </p:nvSpPr>
        <p:spPr>
          <a:xfrm>
            <a:off x="499672" y="3317823"/>
            <a:ext cx="215858" cy="191874"/>
          </a:xfrm>
          <a:custGeom>
            <a:avLst/>
            <a:gdLst/>
            <a:ahLst/>
            <a:cxnLst/>
            <a:rect l="l" t="t" r="r" b="b"/>
            <a:pathLst>
              <a:path w="215858" h="191874">
                <a:moveTo>
                  <a:pt x="179882" y="-5996"/>
                </a:moveTo>
                <a:cubicBezTo>
                  <a:pt x="182468" y="-5996"/>
                  <a:pt x="184754" y="-4347"/>
                  <a:pt x="185578" y="-1911"/>
                </a:cubicBezTo>
                <a:lnTo>
                  <a:pt x="190637" y="13229"/>
                </a:lnTo>
                <a:lnTo>
                  <a:pt x="205777" y="18288"/>
                </a:lnTo>
                <a:cubicBezTo>
                  <a:pt x="208213" y="19112"/>
                  <a:pt x="209862" y="21398"/>
                  <a:pt x="209862" y="23984"/>
                </a:cubicBezTo>
                <a:cubicBezTo>
                  <a:pt x="209862" y="26570"/>
                  <a:pt x="208213" y="28856"/>
                  <a:pt x="205777" y="29681"/>
                </a:cubicBezTo>
                <a:lnTo>
                  <a:pt x="190637" y="34740"/>
                </a:lnTo>
                <a:lnTo>
                  <a:pt x="185578" y="49880"/>
                </a:lnTo>
                <a:cubicBezTo>
                  <a:pt x="184754" y="52316"/>
                  <a:pt x="182468" y="53965"/>
                  <a:pt x="179882" y="53965"/>
                </a:cubicBezTo>
                <a:cubicBezTo>
                  <a:pt x="177296" y="53965"/>
                  <a:pt x="175010" y="52316"/>
                  <a:pt x="174186" y="49880"/>
                </a:cubicBezTo>
                <a:lnTo>
                  <a:pt x="169127" y="34740"/>
                </a:lnTo>
                <a:lnTo>
                  <a:pt x="153986" y="29681"/>
                </a:lnTo>
                <a:cubicBezTo>
                  <a:pt x="151551" y="28856"/>
                  <a:pt x="149902" y="26570"/>
                  <a:pt x="149902" y="23984"/>
                </a:cubicBezTo>
                <a:cubicBezTo>
                  <a:pt x="149902" y="21398"/>
                  <a:pt x="151551" y="19112"/>
                  <a:pt x="153986" y="18288"/>
                </a:cubicBezTo>
                <a:lnTo>
                  <a:pt x="169127" y="13229"/>
                </a:lnTo>
                <a:lnTo>
                  <a:pt x="174186" y="-1911"/>
                </a:lnTo>
                <a:cubicBezTo>
                  <a:pt x="175010" y="-4347"/>
                  <a:pt x="177296" y="-5996"/>
                  <a:pt x="179882" y="-5996"/>
                </a:cubicBezTo>
                <a:close/>
                <a:moveTo>
                  <a:pt x="120446" y="36501"/>
                </a:moveTo>
                <a:cubicBezTo>
                  <a:pt x="125130" y="31817"/>
                  <a:pt x="132738" y="31817"/>
                  <a:pt x="137422" y="36501"/>
                </a:cubicBezTo>
                <a:lnTo>
                  <a:pt x="167403" y="66481"/>
                </a:lnTo>
                <a:cubicBezTo>
                  <a:pt x="172087" y="71166"/>
                  <a:pt x="172087" y="78773"/>
                  <a:pt x="167403" y="83458"/>
                </a:cubicBezTo>
                <a:lnTo>
                  <a:pt x="163318" y="87543"/>
                </a:lnTo>
                <a:cubicBezTo>
                  <a:pt x="166278" y="95787"/>
                  <a:pt x="167890" y="104669"/>
                  <a:pt x="167890" y="113963"/>
                </a:cubicBezTo>
                <a:cubicBezTo>
                  <a:pt x="167890" y="157022"/>
                  <a:pt x="133000" y="191912"/>
                  <a:pt x="89941" y="191912"/>
                </a:cubicBezTo>
                <a:cubicBezTo>
                  <a:pt x="46882" y="191912"/>
                  <a:pt x="11992" y="156984"/>
                  <a:pt x="11992" y="113925"/>
                </a:cubicBezTo>
                <a:cubicBezTo>
                  <a:pt x="11992" y="70866"/>
                  <a:pt x="46882" y="35976"/>
                  <a:pt x="89941" y="35976"/>
                </a:cubicBezTo>
                <a:cubicBezTo>
                  <a:pt x="99197" y="35976"/>
                  <a:pt x="108117" y="37588"/>
                  <a:pt x="116361" y="40586"/>
                </a:cubicBezTo>
                <a:lnTo>
                  <a:pt x="120446" y="36501"/>
                </a:lnTo>
                <a:close/>
                <a:moveTo>
                  <a:pt x="53965" y="113925"/>
                </a:moveTo>
                <a:cubicBezTo>
                  <a:pt x="53965" y="94063"/>
                  <a:pt x="70079" y="77949"/>
                  <a:pt x="89941" y="77949"/>
                </a:cubicBezTo>
                <a:cubicBezTo>
                  <a:pt x="94925" y="77949"/>
                  <a:pt x="98935" y="73939"/>
                  <a:pt x="98935" y="68955"/>
                </a:cubicBezTo>
                <a:cubicBezTo>
                  <a:pt x="98935" y="63971"/>
                  <a:pt x="94925" y="59961"/>
                  <a:pt x="89941" y="59961"/>
                </a:cubicBezTo>
                <a:cubicBezTo>
                  <a:pt x="60148" y="59961"/>
                  <a:pt x="35976" y="84132"/>
                  <a:pt x="35976" y="113925"/>
                </a:cubicBezTo>
                <a:cubicBezTo>
                  <a:pt x="35976" y="118909"/>
                  <a:pt x="39986" y="122919"/>
                  <a:pt x="44970" y="122919"/>
                </a:cubicBezTo>
                <a:cubicBezTo>
                  <a:pt x="49955" y="122919"/>
                  <a:pt x="53965" y="118909"/>
                  <a:pt x="53965" y="113925"/>
                </a:cubicBezTo>
                <a:close/>
              </a:path>
            </a:pathLst>
          </a:custGeom>
          <a:solidFill>
            <a:srgbClr val="B91C2B"/>
          </a:solidFill>
          <a:ln/>
        </p:spPr>
        <p:txBody>
          <a:bodyPr/>
          <a:lstStyle/>
          <a:p>
            <a:endParaRPr lang="en-US"/>
          </a:p>
        </p:txBody>
      </p:sp>
      <p:sp>
        <p:nvSpPr>
          <p:cNvPr id="16" name="Text 14"/>
          <p:cNvSpPr/>
          <p:nvPr/>
        </p:nvSpPr>
        <p:spPr>
          <a:xfrm>
            <a:off x="823460" y="3285844"/>
            <a:ext cx="1143250" cy="255832"/>
          </a:xfrm>
          <a:prstGeom prst="rect">
            <a:avLst/>
          </a:prstGeom>
          <a:noFill/>
          <a:ln/>
        </p:spPr>
        <p:txBody>
          <a:bodyPr wrap="square" lIns="0" tIns="0" rIns="0" bIns="0" rtlCol="0" anchor="ctr"/>
          <a:lstStyle/>
          <a:p>
            <a:pPr>
              <a:lnSpc>
                <a:spcPct val="110000"/>
              </a:lnSpc>
            </a:pPr>
            <a:r>
              <a:rPr lang="en-US" sz="1511" b="1" dirty="0">
                <a:solidFill>
                  <a:srgbClr val="2D3142"/>
                </a:solidFill>
                <a:latin typeface="Quattrocento Sans" pitchFamily="34" charset="0"/>
                <a:ea typeface="Quattrocento Sans" pitchFamily="34" charset="-122"/>
                <a:cs typeface="Quattrocento Sans" pitchFamily="34" charset="-120"/>
              </a:rPr>
              <a:t>The Problem</a:t>
            </a:r>
            <a:endParaRPr lang="en-US" sz="1600" dirty="0"/>
          </a:p>
        </p:txBody>
      </p:sp>
      <p:sp>
        <p:nvSpPr>
          <p:cNvPr id="17" name="Shape 15"/>
          <p:cNvSpPr/>
          <p:nvPr/>
        </p:nvSpPr>
        <p:spPr>
          <a:xfrm>
            <a:off x="503670" y="3669592"/>
            <a:ext cx="3581650" cy="927391"/>
          </a:xfrm>
          <a:custGeom>
            <a:avLst/>
            <a:gdLst/>
            <a:ahLst/>
            <a:cxnLst/>
            <a:rect l="l" t="t" r="r" b="b"/>
            <a:pathLst>
              <a:path w="3581650" h="927391">
                <a:moveTo>
                  <a:pt x="31979" y="0"/>
                </a:moveTo>
                <a:lnTo>
                  <a:pt x="3517688" y="0"/>
                </a:lnTo>
                <a:cubicBezTo>
                  <a:pt x="3553013" y="0"/>
                  <a:pt x="3581650" y="28637"/>
                  <a:pt x="3581650" y="63962"/>
                </a:cubicBezTo>
                <a:lnTo>
                  <a:pt x="3581650" y="863429"/>
                </a:lnTo>
                <a:cubicBezTo>
                  <a:pt x="3581650" y="898755"/>
                  <a:pt x="3553013" y="927391"/>
                  <a:pt x="3517688" y="927391"/>
                </a:cubicBezTo>
                <a:lnTo>
                  <a:pt x="31979" y="927391"/>
                </a:lnTo>
                <a:cubicBezTo>
                  <a:pt x="14317" y="927391"/>
                  <a:pt x="0" y="913074"/>
                  <a:pt x="0" y="895412"/>
                </a:cubicBezTo>
                <a:lnTo>
                  <a:pt x="0" y="31979"/>
                </a:lnTo>
                <a:cubicBezTo>
                  <a:pt x="0" y="14329"/>
                  <a:pt x="14329" y="0"/>
                  <a:pt x="31979" y="0"/>
                </a:cubicBezTo>
                <a:close/>
              </a:path>
            </a:pathLst>
          </a:custGeom>
          <a:solidFill>
            <a:srgbClr val="EAE7D6"/>
          </a:solidFill>
          <a:ln/>
        </p:spPr>
        <p:txBody>
          <a:bodyPr/>
          <a:lstStyle/>
          <a:p>
            <a:endParaRPr lang="en-US"/>
          </a:p>
        </p:txBody>
      </p:sp>
      <p:sp>
        <p:nvSpPr>
          <p:cNvPr id="18" name="Shape 16"/>
          <p:cNvSpPr/>
          <p:nvPr/>
        </p:nvSpPr>
        <p:spPr>
          <a:xfrm>
            <a:off x="503670" y="3669592"/>
            <a:ext cx="31979" cy="927391"/>
          </a:xfrm>
          <a:custGeom>
            <a:avLst/>
            <a:gdLst/>
            <a:ahLst/>
            <a:cxnLst/>
            <a:rect l="l" t="t" r="r" b="b"/>
            <a:pathLst>
              <a:path w="31979" h="927391">
                <a:moveTo>
                  <a:pt x="31979" y="0"/>
                </a:moveTo>
                <a:lnTo>
                  <a:pt x="31979" y="0"/>
                </a:lnTo>
                <a:lnTo>
                  <a:pt x="31979" y="927391"/>
                </a:lnTo>
                <a:lnTo>
                  <a:pt x="31979" y="927391"/>
                </a:lnTo>
                <a:cubicBezTo>
                  <a:pt x="14317" y="927391"/>
                  <a:pt x="0" y="913074"/>
                  <a:pt x="0" y="895412"/>
                </a:cubicBezTo>
                <a:lnTo>
                  <a:pt x="0" y="31979"/>
                </a:lnTo>
                <a:cubicBezTo>
                  <a:pt x="0" y="14329"/>
                  <a:pt x="14329" y="0"/>
                  <a:pt x="31979" y="0"/>
                </a:cubicBezTo>
                <a:close/>
              </a:path>
            </a:pathLst>
          </a:custGeom>
          <a:solidFill>
            <a:srgbClr val="B91C2B"/>
          </a:solidFill>
          <a:ln/>
        </p:spPr>
        <p:txBody>
          <a:bodyPr/>
          <a:lstStyle/>
          <a:p>
            <a:endParaRPr lang="en-US"/>
          </a:p>
        </p:txBody>
      </p:sp>
      <p:sp>
        <p:nvSpPr>
          <p:cNvPr id="19" name="Shape 17"/>
          <p:cNvSpPr/>
          <p:nvPr/>
        </p:nvSpPr>
        <p:spPr>
          <a:xfrm>
            <a:off x="663565" y="3845477"/>
            <a:ext cx="127916" cy="127916"/>
          </a:xfrm>
          <a:custGeom>
            <a:avLst/>
            <a:gdLst/>
            <a:ahLst/>
            <a:cxnLst/>
            <a:rect l="l" t="t" r="r" b="b"/>
            <a:pathLst>
              <a:path w="127916" h="127916">
                <a:moveTo>
                  <a:pt x="15990" y="15990"/>
                </a:moveTo>
                <a:cubicBezTo>
                  <a:pt x="7170" y="15990"/>
                  <a:pt x="0" y="23160"/>
                  <a:pt x="0" y="31979"/>
                </a:cubicBezTo>
                <a:lnTo>
                  <a:pt x="0" y="33828"/>
                </a:lnTo>
                <a:cubicBezTo>
                  <a:pt x="0" y="35527"/>
                  <a:pt x="1099" y="36976"/>
                  <a:pt x="2523" y="37900"/>
                </a:cubicBezTo>
                <a:cubicBezTo>
                  <a:pt x="5821" y="40049"/>
                  <a:pt x="7995" y="43746"/>
                  <a:pt x="7995" y="47969"/>
                </a:cubicBezTo>
                <a:cubicBezTo>
                  <a:pt x="7995" y="52191"/>
                  <a:pt x="5821" y="55888"/>
                  <a:pt x="2523" y="58037"/>
                </a:cubicBezTo>
                <a:cubicBezTo>
                  <a:pt x="1099" y="58961"/>
                  <a:pt x="0" y="60410"/>
                  <a:pt x="0" y="62109"/>
                </a:cubicBezTo>
                <a:lnTo>
                  <a:pt x="0" y="75950"/>
                </a:lnTo>
                <a:lnTo>
                  <a:pt x="127916" y="75950"/>
                </a:lnTo>
                <a:lnTo>
                  <a:pt x="127916" y="62109"/>
                </a:lnTo>
                <a:cubicBezTo>
                  <a:pt x="127916" y="60410"/>
                  <a:pt x="126817" y="58961"/>
                  <a:pt x="125393" y="58037"/>
                </a:cubicBezTo>
                <a:cubicBezTo>
                  <a:pt x="122095" y="55888"/>
                  <a:pt x="119921" y="52191"/>
                  <a:pt x="119921" y="47969"/>
                </a:cubicBezTo>
                <a:cubicBezTo>
                  <a:pt x="119921" y="43746"/>
                  <a:pt x="122095" y="40049"/>
                  <a:pt x="125393" y="37900"/>
                </a:cubicBezTo>
                <a:cubicBezTo>
                  <a:pt x="126817" y="36976"/>
                  <a:pt x="127916" y="35527"/>
                  <a:pt x="127916" y="33828"/>
                </a:cubicBezTo>
                <a:lnTo>
                  <a:pt x="127916" y="31979"/>
                </a:lnTo>
                <a:cubicBezTo>
                  <a:pt x="127916" y="23160"/>
                  <a:pt x="120746" y="15990"/>
                  <a:pt x="111927" y="15990"/>
                </a:cubicBezTo>
                <a:lnTo>
                  <a:pt x="15990" y="15990"/>
                </a:lnTo>
                <a:close/>
                <a:moveTo>
                  <a:pt x="127916" y="103932"/>
                </a:moveTo>
                <a:lnTo>
                  <a:pt x="127916" y="87942"/>
                </a:lnTo>
                <a:lnTo>
                  <a:pt x="0" y="87942"/>
                </a:lnTo>
                <a:lnTo>
                  <a:pt x="0" y="103932"/>
                </a:lnTo>
                <a:cubicBezTo>
                  <a:pt x="0" y="108354"/>
                  <a:pt x="3573" y="111927"/>
                  <a:pt x="7995" y="111927"/>
                </a:cubicBezTo>
                <a:lnTo>
                  <a:pt x="23984" y="111927"/>
                </a:lnTo>
                <a:lnTo>
                  <a:pt x="23984" y="105930"/>
                </a:lnTo>
                <a:cubicBezTo>
                  <a:pt x="23984" y="102608"/>
                  <a:pt x="26658" y="99934"/>
                  <a:pt x="29980" y="99934"/>
                </a:cubicBezTo>
                <a:cubicBezTo>
                  <a:pt x="33303" y="99934"/>
                  <a:pt x="35976" y="102608"/>
                  <a:pt x="35976" y="105930"/>
                </a:cubicBezTo>
                <a:lnTo>
                  <a:pt x="35976" y="111927"/>
                </a:lnTo>
                <a:lnTo>
                  <a:pt x="57962" y="111927"/>
                </a:lnTo>
                <a:lnTo>
                  <a:pt x="57962" y="105930"/>
                </a:lnTo>
                <a:cubicBezTo>
                  <a:pt x="57962" y="102608"/>
                  <a:pt x="60635" y="99934"/>
                  <a:pt x="63958" y="99934"/>
                </a:cubicBezTo>
                <a:cubicBezTo>
                  <a:pt x="67281" y="99934"/>
                  <a:pt x="69954" y="102608"/>
                  <a:pt x="69954" y="105930"/>
                </a:cubicBezTo>
                <a:lnTo>
                  <a:pt x="69954" y="111927"/>
                </a:lnTo>
                <a:lnTo>
                  <a:pt x="91940" y="111927"/>
                </a:lnTo>
                <a:lnTo>
                  <a:pt x="91940" y="105930"/>
                </a:lnTo>
                <a:cubicBezTo>
                  <a:pt x="91940" y="102608"/>
                  <a:pt x="94613" y="99934"/>
                  <a:pt x="97936" y="99934"/>
                </a:cubicBezTo>
                <a:cubicBezTo>
                  <a:pt x="101259" y="99934"/>
                  <a:pt x="103932" y="102608"/>
                  <a:pt x="103932" y="105930"/>
                </a:cubicBezTo>
                <a:lnTo>
                  <a:pt x="103932" y="111927"/>
                </a:lnTo>
                <a:lnTo>
                  <a:pt x="119921" y="111927"/>
                </a:lnTo>
                <a:cubicBezTo>
                  <a:pt x="124343" y="111927"/>
                  <a:pt x="127916" y="108354"/>
                  <a:pt x="127916" y="103932"/>
                </a:cubicBezTo>
                <a:close/>
                <a:moveTo>
                  <a:pt x="39974" y="39974"/>
                </a:moveTo>
                <a:lnTo>
                  <a:pt x="39974" y="55963"/>
                </a:lnTo>
                <a:cubicBezTo>
                  <a:pt x="39974" y="60385"/>
                  <a:pt x="36401" y="63958"/>
                  <a:pt x="31979" y="63958"/>
                </a:cubicBezTo>
                <a:cubicBezTo>
                  <a:pt x="27557" y="63958"/>
                  <a:pt x="23984" y="60385"/>
                  <a:pt x="23984" y="55963"/>
                </a:cubicBezTo>
                <a:lnTo>
                  <a:pt x="23984" y="39974"/>
                </a:lnTo>
                <a:cubicBezTo>
                  <a:pt x="23984" y="35552"/>
                  <a:pt x="27557" y="31979"/>
                  <a:pt x="31979" y="31979"/>
                </a:cubicBezTo>
                <a:cubicBezTo>
                  <a:pt x="36401" y="31979"/>
                  <a:pt x="39974" y="35552"/>
                  <a:pt x="39974" y="39974"/>
                </a:cubicBezTo>
                <a:close/>
                <a:moveTo>
                  <a:pt x="71953" y="39974"/>
                </a:moveTo>
                <a:lnTo>
                  <a:pt x="71953" y="55963"/>
                </a:lnTo>
                <a:cubicBezTo>
                  <a:pt x="71953" y="60385"/>
                  <a:pt x="68380" y="63958"/>
                  <a:pt x="63958" y="63958"/>
                </a:cubicBezTo>
                <a:cubicBezTo>
                  <a:pt x="59536" y="63958"/>
                  <a:pt x="55963" y="60385"/>
                  <a:pt x="55963" y="55963"/>
                </a:cubicBezTo>
                <a:lnTo>
                  <a:pt x="55963" y="39974"/>
                </a:lnTo>
                <a:cubicBezTo>
                  <a:pt x="55963" y="35552"/>
                  <a:pt x="59536" y="31979"/>
                  <a:pt x="63958" y="31979"/>
                </a:cubicBezTo>
                <a:cubicBezTo>
                  <a:pt x="68380" y="31979"/>
                  <a:pt x="71953" y="35552"/>
                  <a:pt x="71953" y="39974"/>
                </a:cubicBezTo>
                <a:close/>
                <a:moveTo>
                  <a:pt x="103932" y="39974"/>
                </a:moveTo>
                <a:lnTo>
                  <a:pt x="103932" y="55963"/>
                </a:lnTo>
                <a:cubicBezTo>
                  <a:pt x="103932" y="60385"/>
                  <a:pt x="100359" y="63958"/>
                  <a:pt x="95937" y="63958"/>
                </a:cubicBezTo>
                <a:cubicBezTo>
                  <a:pt x="91515" y="63958"/>
                  <a:pt x="87942" y="60385"/>
                  <a:pt x="87942" y="55963"/>
                </a:cubicBezTo>
                <a:lnTo>
                  <a:pt x="87942" y="39974"/>
                </a:lnTo>
                <a:cubicBezTo>
                  <a:pt x="87942" y="35552"/>
                  <a:pt x="91515" y="31979"/>
                  <a:pt x="95937" y="31979"/>
                </a:cubicBezTo>
                <a:cubicBezTo>
                  <a:pt x="100359" y="31979"/>
                  <a:pt x="103932" y="35552"/>
                  <a:pt x="103932" y="39974"/>
                </a:cubicBezTo>
                <a:close/>
              </a:path>
            </a:pathLst>
          </a:custGeom>
          <a:solidFill>
            <a:srgbClr val="B91C2B"/>
          </a:solidFill>
          <a:ln/>
        </p:spPr>
        <p:txBody>
          <a:bodyPr/>
          <a:lstStyle/>
          <a:p>
            <a:endParaRPr lang="en-US"/>
          </a:p>
        </p:txBody>
      </p:sp>
      <p:sp>
        <p:nvSpPr>
          <p:cNvPr id="20" name="Text 18"/>
          <p:cNvSpPr/>
          <p:nvPr/>
        </p:nvSpPr>
        <p:spPr>
          <a:xfrm>
            <a:off x="871428" y="3797508"/>
            <a:ext cx="1223197" cy="223853"/>
          </a:xfrm>
          <a:prstGeom prst="rect">
            <a:avLst/>
          </a:prstGeom>
          <a:noFill/>
          <a:ln/>
        </p:spPr>
        <p:txBody>
          <a:bodyPr wrap="square" lIns="0" tIns="0" rIns="0" bIns="0" rtlCol="0" anchor="ctr"/>
          <a:lstStyle/>
          <a:p>
            <a:pPr>
              <a:lnSpc>
                <a:spcPct val="130000"/>
              </a:lnSpc>
            </a:pPr>
            <a:r>
              <a:rPr lang="en-US" sz="1133" b="1" dirty="0">
                <a:solidFill>
                  <a:srgbClr val="2D3142"/>
                </a:solidFill>
                <a:latin typeface="Quattrocento Sans" pitchFamily="34" charset="0"/>
                <a:ea typeface="Quattrocento Sans" pitchFamily="34" charset="-122"/>
                <a:cs typeface="Quattrocento Sans" pitchFamily="34" charset="-120"/>
              </a:rPr>
              <a:t>Memory Overflow</a:t>
            </a:r>
            <a:endParaRPr lang="en-US" sz="1600" dirty="0"/>
          </a:p>
        </p:txBody>
      </p:sp>
      <p:sp>
        <p:nvSpPr>
          <p:cNvPr id="21" name="Text 19"/>
          <p:cNvSpPr/>
          <p:nvPr/>
        </p:nvSpPr>
        <p:spPr>
          <a:xfrm>
            <a:off x="647575" y="4085319"/>
            <a:ext cx="3373786" cy="383748"/>
          </a:xfrm>
          <a:prstGeom prst="rect">
            <a:avLst/>
          </a:prstGeom>
          <a:noFill/>
          <a:ln/>
        </p:spPr>
        <p:txBody>
          <a:bodyPr wrap="square" lIns="0" tIns="0" rIns="0" bIns="0" rtlCol="0" anchor="ctr"/>
          <a:lstStyle/>
          <a:p>
            <a:pPr>
              <a:lnSpc>
                <a:spcPct val="120000"/>
              </a:lnSpc>
            </a:pPr>
            <a:r>
              <a:rPr lang="en-US" sz="1007" dirty="0">
                <a:solidFill>
                  <a:srgbClr val="8D99AE"/>
                </a:solidFill>
                <a:latin typeface="Quattrocento Sans" pitchFamily="34" charset="0"/>
                <a:ea typeface="Quattrocento Sans" pitchFamily="34" charset="-122"/>
                <a:cs typeface="Quattrocento Sans" pitchFamily="34" charset="-120"/>
              </a:rPr>
              <a:t>Unconsumed data accumulates in buffers, consuming all available memory</a:t>
            </a:r>
            <a:endParaRPr lang="en-US" sz="1600" dirty="0"/>
          </a:p>
        </p:txBody>
      </p:sp>
      <p:sp>
        <p:nvSpPr>
          <p:cNvPr id="22" name="Shape 20"/>
          <p:cNvSpPr/>
          <p:nvPr/>
        </p:nvSpPr>
        <p:spPr>
          <a:xfrm>
            <a:off x="4230099" y="3669592"/>
            <a:ext cx="3581650" cy="927391"/>
          </a:xfrm>
          <a:custGeom>
            <a:avLst/>
            <a:gdLst/>
            <a:ahLst/>
            <a:cxnLst/>
            <a:rect l="l" t="t" r="r" b="b"/>
            <a:pathLst>
              <a:path w="3581650" h="927391">
                <a:moveTo>
                  <a:pt x="31979" y="0"/>
                </a:moveTo>
                <a:lnTo>
                  <a:pt x="3517688" y="0"/>
                </a:lnTo>
                <a:cubicBezTo>
                  <a:pt x="3553013" y="0"/>
                  <a:pt x="3581650" y="28637"/>
                  <a:pt x="3581650" y="63962"/>
                </a:cubicBezTo>
                <a:lnTo>
                  <a:pt x="3581650" y="863429"/>
                </a:lnTo>
                <a:cubicBezTo>
                  <a:pt x="3581650" y="898755"/>
                  <a:pt x="3553013" y="927391"/>
                  <a:pt x="3517688" y="927391"/>
                </a:cubicBezTo>
                <a:lnTo>
                  <a:pt x="31979" y="927391"/>
                </a:lnTo>
                <a:cubicBezTo>
                  <a:pt x="14317" y="927391"/>
                  <a:pt x="0" y="913074"/>
                  <a:pt x="0" y="895412"/>
                </a:cubicBezTo>
                <a:lnTo>
                  <a:pt x="0" y="31979"/>
                </a:lnTo>
                <a:cubicBezTo>
                  <a:pt x="0" y="14329"/>
                  <a:pt x="14329" y="0"/>
                  <a:pt x="31979" y="0"/>
                </a:cubicBezTo>
                <a:close/>
              </a:path>
            </a:pathLst>
          </a:custGeom>
          <a:solidFill>
            <a:srgbClr val="EAE7D6"/>
          </a:solidFill>
          <a:ln/>
        </p:spPr>
        <p:txBody>
          <a:bodyPr/>
          <a:lstStyle/>
          <a:p>
            <a:endParaRPr lang="en-US"/>
          </a:p>
        </p:txBody>
      </p:sp>
      <p:sp>
        <p:nvSpPr>
          <p:cNvPr id="23" name="Shape 21"/>
          <p:cNvSpPr/>
          <p:nvPr/>
        </p:nvSpPr>
        <p:spPr>
          <a:xfrm>
            <a:off x="4230099" y="3669592"/>
            <a:ext cx="31979" cy="927391"/>
          </a:xfrm>
          <a:custGeom>
            <a:avLst/>
            <a:gdLst/>
            <a:ahLst/>
            <a:cxnLst/>
            <a:rect l="l" t="t" r="r" b="b"/>
            <a:pathLst>
              <a:path w="31979" h="927391">
                <a:moveTo>
                  <a:pt x="31979" y="0"/>
                </a:moveTo>
                <a:lnTo>
                  <a:pt x="31979" y="0"/>
                </a:lnTo>
                <a:lnTo>
                  <a:pt x="31979" y="927391"/>
                </a:lnTo>
                <a:lnTo>
                  <a:pt x="31979" y="927391"/>
                </a:lnTo>
                <a:cubicBezTo>
                  <a:pt x="14317" y="927391"/>
                  <a:pt x="0" y="913074"/>
                  <a:pt x="0" y="895412"/>
                </a:cubicBezTo>
                <a:lnTo>
                  <a:pt x="0" y="31979"/>
                </a:lnTo>
                <a:cubicBezTo>
                  <a:pt x="0" y="14329"/>
                  <a:pt x="14329" y="0"/>
                  <a:pt x="31979" y="0"/>
                </a:cubicBezTo>
                <a:close/>
              </a:path>
            </a:pathLst>
          </a:custGeom>
          <a:solidFill>
            <a:srgbClr val="B91C2B"/>
          </a:solidFill>
          <a:ln/>
        </p:spPr>
        <p:txBody>
          <a:bodyPr/>
          <a:lstStyle/>
          <a:p>
            <a:endParaRPr lang="en-US"/>
          </a:p>
        </p:txBody>
      </p:sp>
      <p:sp>
        <p:nvSpPr>
          <p:cNvPr id="24" name="Shape 22"/>
          <p:cNvSpPr/>
          <p:nvPr/>
        </p:nvSpPr>
        <p:spPr>
          <a:xfrm>
            <a:off x="4397989" y="3845477"/>
            <a:ext cx="111927" cy="127916"/>
          </a:xfrm>
          <a:custGeom>
            <a:avLst/>
            <a:gdLst/>
            <a:ahLst/>
            <a:cxnLst/>
            <a:rect l="l" t="t" r="r" b="b"/>
            <a:pathLst>
              <a:path w="111927" h="127916">
                <a:moveTo>
                  <a:pt x="95937" y="35976"/>
                </a:moveTo>
                <a:cubicBezTo>
                  <a:pt x="95937" y="16114"/>
                  <a:pt x="78049" y="0"/>
                  <a:pt x="55963" y="0"/>
                </a:cubicBezTo>
                <a:cubicBezTo>
                  <a:pt x="33878" y="0"/>
                  <a:pt x="15990" y="16114"/>
                  <a:pt x="15990" y="35976"/>
                </a:cubicBezTo>
                <a:cubicBezTo>
                  <a:pt x="15990" y="47744"/>
                  <a:pt x="22260" y="58187"/>
                  <a:pt x="31979" y="64758"/>
                </a:cubicBezTo>
                <a:lnTo>
                  <a:pt x="31979" y="71953"/>
                </a:lnTo>
                <a:cubicBezTo>
                  <a:pt x="31979" y="76375"/>
                  <a:pt x="35552" y="79948"/>
                  <a:pt x="39974" y="79948"/>
                </a:cubicBezTo>
                <a:lnTo>
                  <a:pt x="71953" y="79948"/>
                </a:lnTo>
                <a:cubicBezTo>
                  <a:pt x="76375" y="79948"/>
                  <a:pt x="79948" y="76375"/>
                  <a:pt x="79948" y="71953"/>
                </a:cubicBezTo>
                <a:lnTo>
                  <a:pt x="79948" y="64758"/>
                </a:lnTo>
                <a:cubicBezTo>
                  <a:pt x="89666" y="58187"/>
                  <a:pt x="95937" y="47744"/>
                  <a:pt x="95937" y="35976"/>
                </a:cubicBezTo>
                <a:close/>
                <a:moveTo>
                  <a:pt x="39974" y="31979"/>
                </a:moveTo>
                <a:cubicBezTo>
                  <a:pt x="44386" y="31979"/>
                  <a:pt x="47969" y="35561"/>
                  <a:pt x="47969" y="39974"/>
                </a:cubicBezTo>
                <a:cubicBezTo>
                  <a:pt x="47969" y="44386"/>
                  <a:pt x="44386" y="47969"/>
                  <a:pt x="39974" y="47969"/>
                </a:cubicBezTo>
                <a:cubicBezTo>
                  <a:pt x="35561" y="47969"/>
                  <a:pt x="31979" y="44386"/>
                  <a:pt x="31979" y="39974"/>
                </a:cubicBezTo>
                <a:cubicBezTo>
                  <a:pt x="31979" y="35561"/>
                  <a:pt x="35561" y="31979"/>
                  <a:pt x="39974" y="31979"/>
                </a:cubicBezTo>
                <a:close/>
                <a:moveTo>
                  <a:pt x="63958" y="39974"/>
                </a:moveTo>
                <a:cubicBezTo>
                  <a:pt x="63958" y="35561"/>
                  <a:pt x="67540" y="31979"/>
                  <a:pt x="71953" y="31979"/>
                </a:cubicBezTo>
                <a:cubicBezTo>
                  <a:pt x="76365" y="31979"/>
                  <a:pt x="79948" y="35561"/>
                  <a:pt x="79948" y="39974"/>
                </a:cubicBezTo>
                <a:cubicBezTo>
                  <a:pt x="79948" y="44386"/>
                  <a:pt x="76365" y="47969"/>
                  <a:pt x="71953" y="47969"/>
                </a:cubicBezTo>
                <a:cubicBezTo>
                  <a:pt x="67540" y="47969"/>
                  <a:pt x="63958" y="44386"/>
                  <a:pt x="63958" y="39974"/>
                </a:cubicBezTo>
                <a:close/>
                <a:moveTo>
                  <a:pt x="111302" y="84869"/>
                </a:moveTo>
                <a:cubicBezTo>
                  <a:pt x="109603" y="80797"/>
                  <a:pt x="104931" y="78873"/>
                  <a:pt x="100859" y="80572"/>
                </a:cubicBezTo>
                <a:lnTo>
                  <a:pt x="55963" y="99260"/>
                </a:lnTo>
                <a:lnTo>
                  <a:pt x="11068" y="80572"/>
                </a:lnTo>
                <a:cubicBezTo>
                  <a:pt x="6995" y="78873"/>
                  <a:pt x="2323" y="80797"/>
                  <a:pt x="625" y="84869"/>
                </a:cubicBezTo>
                <a:cubicBezTo>
                  <a:pt x="-1074" y="88942"/>
                  <a:pt x="849" y="93614"/>
                  <a:pt x="4922" y="95312"/>
                </a:cubicBezTo>
                <a:lnTo>
                  <a:pt x="35177" y="107929"/>
                </a:lnTo>
                <a:lnTo>
                  <a:pt x="4922" y="120546"/>
                </a:lnTo>
                <a:cubicBezTo>
                  <a:pt x="849" y="122245"/>
                  <a:pt x="-1074" y="126917"/>
                  <a:pt x="625" y="130989"/>
                </a:cubicBezTo>
                <a:cubicBezTo>
                  <a:pt x="2323" y="135061"/>
                  <a:pt x="6995" y="136985"/>
                  <a:pt x="11068" y="135286"/>
                </a:cubicBezTo>
                <a:lnTo>
                  <a:pt x="55963" y="116598"/>
                </a:lnTo>
                <a:lnTo>
                  <a:pt x="100859" y="135286"/>
                </a:lnTo>
                <a:cubicBezTo>
                  <a:pt x="104931" y="136985"/>
                  <a:pt x="109603" y="135061"/>
                  <a:pt x="111302" y="130989"/>
                </a:cubicBezTo>
                <a:cubicBezTo>
                  <a:pt x="113001" y="126917"/>
                  <a:pt x="111077" y="122245"/>
                  <a:pt x="107005" y="120546"/>
                </a:cubicBezTo>
                <a:lnTo>
                  <a:pt x="76750" y="107929"/>
                </a:lnTo>
                <a:lnTo>
                  <a:pt x="107005" y="95312"/>
                </a:lnTo>
                <a:cubicBezTo>
                  <a:pt x="111077" y="93614"/>
                  <a:pt x="113001" y="88942"/>
                  <a:pt x="111302" y="84869"/>
                </a:cubicBezTo>
                <a:close/>
              </a:path>
            </a:pathLst>
          </a:custGeom>
          <a:solidFill>
            <a:srgbClr val="B91C2B"/>
          </a:solidFill>
          <a:ln/>
        </p:spPr>
        <p:txBody>
          <a:bodyPr/>
          <a:lstStyle/>
          <a:p>
            <a:endParaRPr lang="en-US"/>
          </a:p>
        </p:txBody>
      </p:sp>
      <p:sp>
        <p:nvSpPr>
          <p:cNvPr id="25" name="Text 23"/>
          <p:cNvSpPr/>
          <p:nvPr/>
        </p:nvSpPr>
        <p:spPr>
          <a:xfrm>
            <a:off x="4597858" y="3797508"/>
            <a:ext cx="719528" cy="223853"/>
          </a:xfrm>
          <a:prstGeom prst="rect">
            <a:avLst/>
          </a:prstGeom>
          <a:noFill/>
          <a:ln/>
        </p:spPr>
        <p:txBody>
          <a:bodyPr wrap="square" lIns="0" tIns="0" rIns="0" bIns="0" rtlCol="0" anchor="ctr"/>
          <a:lstStyle/>
          <a:p>
            <a:pPr>
              <a:lnSpc>
                <a:spcPct val="130000"/>
              </a:lnSpc>
            </a:pPr>
            <a:r>
              <a:rPr lang="en-US" sz="1133" b="1" dirty="0">
                <a:solidFill>
                  <a:srgbClr val="2D3142"/>
                </a:solidFill>
                <a:latin typeface="Quattrocento Sans" pitchFamily="34" charset="0"/>
                <a:ea typeface="Quattrocento Sans" pitchFamily="34" charset="-122"/>
                <a:cs typeface="Quattrocento Sans" pitchFamily="34" charset="-120"/>
              </a:rPr>
              <a:t>App Crash</a:t>
            </a:r>
            <a:endParaRPr lang="en-US" sz="1600" dirty="0"/>
          </a:p>
        </p:txBody>
      </p:sp>
      <p:sp>
        <p:nvSpPr>
          <p:cNvPr id="26" name="Text 24"/>
          <p:cNvSpPr/>
          <p:nvPr/>
        </p:nvSpPr>
        <p:spPr>
          <a:xfrm>
            <a:off x="4374005" y="4085319"/>
            <a:ext cx="3373786" cy="383748"/>
          </a:xfrm>
          <a:prstGeom prst="rect">
            <a:avLst/>
          </a:prstGeom>
          <a:noFill/>
          <a:ln/>
        </p:spPr>
        <p:txBody>
          <a:bodyPr wrap="square" lIns="0" tIns="0" rIns="0" bIns="0" rtlCol="0" anchor="ctr"/>
          <a:lstStyle/>
          <a:p>
            <a:pPr>
              <a:lnSpc>
                <a:spcPct val="120000"/>
              </a:lnSpc>
            </a:pPr>
            <a:r>
              <a:rPr lang="en-US" sz="1007" dirty="0">
                <a:solidFill>
                  <a:srgbClr val="8D99AE"/>
                </a:solidFill>
                <a:latin typeface="Quattrocento Sans" pitchFamily="34" charset="0"/>
                <a:ea typeface="Quattrocento Sans" pitchFamily="34" charset="-122"/>
                <a:cs typeface="Quattrocento Sans" pitchFamily="34" charset="-120"/>
              </a:rPr>
              <a:t>Process terminates with "JavaScript heap out of memory" error</a:t>
            </a:r>
            <a:endParaRPr lang="en-US" sz="1600" dirty="0"/>
          </a:p>
        </p:txBody>
      </p:sp>
      <p:sp>
        <p:nvSpPr>
          <p:cNvPr id="27" name="Shape 25"/>
          <p:cNvSpPr/>
          <p:nvPr/>
        </p:nvSpPr>
        <p:spPr>
          <a:xfrm>
            <a:off x="8112427" y="1059305"/>
            <a:ext cx="3757534" cy="3333812"/>
          </a:xfrm>
          <a:custGeom>
            <a:avLst/>
            <a:gdLst/>
            <a:ahLst/>
            <a:cxnLst/>
            <a:rect l="l" t="t" r="r" b="b"/>
            <a:pathLst>
              <a:path w="3757534" h="3333812">
                <a:moveTo>
                  <a:pt x="95947" y="0"/>
                </a:moveTo>
                <a:lnTo>
                  <a:pt x="3661587" y="0"/>
                </a:lnTo>
                <a:cubicBezTo>
                  <a:pt x="3714577" y="0"/>
                  <a:pt x="3757534" y="42957"/>
                  <a:pt x="3757534" y="95947"/>
                </a:cubicBezTo>
                <a:lnTo>
                  <a:pt x="3757534" y="3237865"/>
                </a:lnTo>
                <a:cubicBezTo>
                  <a:pt x="3757534" y="3290855"/>
                  <a:pt x="3714577" y="3333812"/>
                  <a:pt x="3661587" y="3333812"/>
                </a:cubicBezTo>
                <a:lnTo>
                  <a:pt x="95947" y="3333812"/>
                </a:lnTo>
                <a:cubicBezTo>
                  <a:pt x="42957" y="3333812"/>
                  <a:pt x="0" y="3290855"/>
                  <a:pt x="0" y="3237865"/>
                </a:cubicBezTo>
                <a:lnTo>
                  <a:pt x="0" y="95947"/>
                </a:lnTo>
                <a:cubicBezTo>
                  <a:pt x="0" y="42992"/>
                  <a:pt x="42992" y="0"/>
                  <a:pt x="95947" y="0"/>
                </a:cubicBezTo>
                <a:close/>
              </a:path>
            </a:pathLst>
          </a:custGeom>
          <a:solidFill>
            <a:srgbClr val="EAE7D6"/>
          </a:solidFill>
          <a:ln/>
        </p:spPr>
        <p:txBody>
          <a:bodyPr/>
          <a:lstStyle/>
          <a:p>
            <a:endParaRPr lang="en-US"/>
          </a:p>
        </p:txBody>
      </p:sp>
      <p:sp>
        <p:nvSpPr>
          <p:cNvPr id="28" name="Shape 26"/>
          <p:cNvSpPr/>
          <p:nvPr/>
        </p:nvSpPr>
        <p:spPr>
          <a:xfrm>
            <a:off x="8300304" y="1255176"/>
            <a:ext cx="191874" cy="191874"/>
          </a:xfrm>
          <a:custGeom>
            <a:avLst/>
            <a:gdLst/>
            <a:ahLst/>
            <a:cxnLst/>
            <a:rect l="l" t="t" r="r" b="b"/>
            <a:pathLst>
              <a:path w="191874" h="191874">
                <a:moveTo>
                  <a:pt x="95937" y="0"/>
                </a:moveTo>
                <a:cubicBezTo>
                  <a:pt x="97661" y="0"/>
                  <a:pt x="99385" y="375"/>
                  <a:pt x="100959" y="1087"/>
                </a:cubicBezTo>
                <a:lnTo>
                  <a:pt x="171562" y="31030"/>
                </a:lnTo>
                <a:cubicBezTo>
                  <a:pt x="179807" y="34515"/>
                  <a:pt x="185953" y="42647"/>
                  <a:pt x="185916" y="52466"/>
                </a:cubicBezTo>
                <a:cubicBezTo>
                  <a:pt x="185728" y="89641"/>
                  <a:pt x="170438" y="157659"/>
                  <a:pt x="105868" y="188576"/>
                </a:cubicBezTo>
                <a:cubicBezTo>
                  <a:pt x="99610" y="191574"/>
                  <a:pt x="92339" y="191574"/>
                  <a:pt x="86081" y="188576"/>
                </a:cubicBezTo>
                <a:cubicBezTo>
                  <a:pt x="21473" y="157659"/>
                  <a:pt x="6221" y="89641"/>
                  <a:pt x="6034" y="52466"/>
                </a:cubicBezTo>
                <a:cubicBezTo>
                  <a:pt x="5996" y="42647"/>
                  <a:pt x="12142" y="34515"/>
                  <a:pt x="20387" y="31030"/>
                </a:cubicBezTo>
                <a:lnTo>
                  <a:pt x="90953" y="1087"/>
                </a:lnTo>
                <a:cubicBezTo>
                  <a:pt x="92527" y="375"/>
                  <a:pt x="94213" y="0"/>
                  <a:pt x="95937" y="0"/>
                </a:cubicBezTo>
                <a:close/>
                <a:moveTo>
                  <a:pt x="95937" y="25034"/>
                </a:moveTo>
                <a:lnTo>
                  <a:pt x="95937" y="166728"/>
                </a:lnTo>
                <a:cubicBezTo>
                  <a:pt x="147653" y="141695"/>
                  <a:pt x="161556" y="86231"/>
                  <a:pt x="161894" y="53028"/>
                </a:cubicBezTo>
                <a:lnTo>
                  <a:pt x="95937" y="25071"/>
                </a:lnTo>
                <a:lnTo>
                  <a:pt x="95937" y="25071"/>
                </a:lnTo>
                <a:close/>
              </a:path>
            </a:pathLst>
          </a:custGeom>
          <a:solidFill>
            <a:srgbClr val="E07A5F"/>
          </a:solidFill>
          <a:ln/>
        </p:spPr>
        <p:txBody>
          <a:bodyPr/>
          <a:lstStyle/>
          <a:p>
            <a:endParaRPr lang="en-US"/>
          </a:p>
        </p:txBody>
      </p:sp>
      <p:sp>
        <p:nvSpPr>
          <p:cNvPr id="29" name="Text 27"/>
          <p:cNvSpPr/>
          <p:nvPr/>
        </p:nvSpPr>
        <p:spPr>
          <a:xfrm>
            <a:off x="8612099" y="1223197"/>
            <a:ext cx="1127260" cy="255832"/>
          </a:xfrm>
          <a:prstGeom prst="rect">
            <a:avLst/>
          </a:prstGeom>
          <a:noFill/>
          <a:ln/>
        </p:spPr>
        <p:txBody>
          <a:bodyPr wrap="square" lIns="0" tIns="0" rIns="0" bIns="0" rtlCol="0" anchor="ctr"/>
          <a:lstStyle/>
          <a:p>
            <a:pPr>
              <a:lnSpc>
                <a:spcPct val="110000"/>
              </a:lnSpc>
            </a:pPr>
            <a:r>
              <a:rPr lang="en-US" sz="1511" b="1" dirty="0">
                <a:solidFill>
                  <a:srgbClr val="2D3142"/>
                </a:solidFill>
                <a:latin typeface="Quattrocento Sans" pitchFamily="34" charset="0"/>
                <a:ea typeface="Quattrocento Sans" pitchFamily="34" charset="-122"/>
                <a:cs typeface="Quattrocento Sans" pitchFamily="34" charset="-120"/>
              </a:rPr>
              <a:t>The Solution</a:t>
            </a:r>
            <a:endParaRPr lang="en-US" sz="1600" dirty="0"/>
          </a:p>
        </p:txBody>
      </p:sp>
      <p:sp>
        <p:nvSpPr>
          <p:cNvPr id="30" name="Shape 28"/>
          <p:cNvSpPr/>
          <p:nvPr/>
        </p:nvSpPr>
        <p:spPr>
          <a:xfrm>
            <a:off x="8276319" y="1606946"/>
            <a:ext cx="3429750" cy="863433"/>
          </a:xfrm>
          <a:custGeom>
            <a:avLst/>
            <a:gdLst/>
            <a:ahLst/>
            <a:cxnLst/>
            <a:rect l="l" t="t" r="r" b="b"/>
            <a:pathLst>
              <a:path w="3429750" h="863433">
                <a:moveTo>
                  <a:pt x="63955" y="0"/>
                </a:moveTo>
                <a:lnTo>
                  <a:pt x="3365795" y="0"/>
                </a:lnTo>
                <a:cubicBezTo>
                  <a:pt x="3401116" y="0"/>
                  <a:pt x="3429750" y="28633"/>
                  <a:pt x="3429750" y="63955"/>
                </a:cubicBezTo>
                <a:lnTo>
                  <a:pt x="3429750" y="799479"/>
                </a:lnTo>
                <a:cubicBezTo>
                  <a:pt x="3429750" y="834800"/>
                  <a:pt x="3401116" y="863433"/>
                  <a:pt x="3365795" y="863433"/>
                </a:cubicBezTo>
                <a:lnTo>
                  <a:pt x="63955" y="863433"/>
                </a:lnTo>
                <a:cubicBezTo>
                  <a:pt x="28633" y="863433"/>
                  <a:pt x="0" y="834800"/>
                  <a:pt x="0" y="799479"/>
                </a:cubicBezTo>
                <a:lnTo>
                  <a:pt x="0" y="63955"/>
                </a:lnTo>
                <a:cubicBezTo>
                  <a:pt x="0" y="28657"/>
                  <a:pt x="28657" y="0"/>
                  <a:pt x="63955" y="0"/>
                </a:cubicBezTo>
                <a:close/>
              </a:path>
            </a:pathLst>
          </a:custGeom>
          <a:solidFill>
            <a:srgbClr val="EAE7D6"/>
          </a:solidFill>
          <a:ln/>
        </p:spPr>
        <p:txBody>
          <a:bodyPr/>
          <a:lstStyle/>
          <a:p>
            <a:endParaRPr lang="en-US"/>
          </a:p>
        </p:txBody>
      </p:sp>
      <p:sp>
        <p:nvSpPr>
          <p:cNvPr id="31" name="Text 29"/>
          <p:cNvSpPr/>
          <p:nvPr/>
        </p:nvSpPr>
        <p:spPr>
          <a:xfrm>
            <a:off x="8404235" y="1734862"/>
            <a:ext cx="3229881" cy="159895"/>
          </a:xfrm>
          <a:prstGeom prst="rect">
            <a:avLst/>
          </a:prstGeom>
          <a:noFill/>
          <a:ln/>
        </p:spPr>
        <p:txBody>
          <a:bodyPr wrap="square" lIns="0" tIns="0" rIns="0" bIns="0" rtlCol="0" anchor="ctr"/>
          <a:lstStyle/>
          <a:p>
            <a:pPr>
              <a:lnSpc>
                <a:spcPct val="120000"/>
              </a:lnSpc>
            </a:pPr>
            <a:r>
              <a:rPr lang="en-US" sz="881" dirty="0">
                <a:solidFill>
                  <a:schemeClr val="bg1"/>
                </a:solidFill>
                <a:highlight>
                  <a:srgbClr val="008000"/>
                </a:highlight>
                <a:latin typeface="Quattrocento Sans" pitchFamily="34" charset="0"/>
                <a:ea typeface="Quattrocento Sans" pitchFamily="34" charset="-122"/>
                <a:cs typeface="Quattrocento Sans" pitchFamily="34" charset="-120"/>
              </a:rPr>
              <a:t>Node.js Built-in</a:t>
            </a:r>
            <a:endParaRPr lang="en-US" sz="1600" dirty="0">
              <a:solidFill>
                <a:schemeClr val="bg1"/>
              </a:solidFill>
              <a:highlight>
                <a:srgbClr val="008000"/>
              </a:highlight>
            </a:endParaRPr>
          </a:p>
        </p:txBody>
      </p:sp>
      <p:sp>
        <p:nvSpPr>
          <p:cNvPr id="32" name="Text 30"/>
          <p:cNvSpPr/>
          <p:nvPr/>
        </p:nvSpPr>
        <p:spPr>
          <a:xfrm>
            <a:off x="8404235" y="1958715"/>
            <a:ext cx="3237875" cy="383748"/>
          </a:xfrm>
          <a:prstGeom prst="rect">
            <a:avLst/>
          </a:prstGeom>
          <a:noFill/>
          <a:ln/>
        </p:spPr>
        <p:txBody>
          <a:bodyPr wrap="square" lIns="0" tIns="0" rIns="0" bIns="0" rtlCol="0" anchor="ctr"/>
          <a:lstStyle/>
          <a:p>
            <a:pPr>
              <a:lnSpc>
                <a:spcPct val="120000"/>
              </a:lnSpc>
            </a:pPr>
            <a:r>
              <a:rPr lang="en-US" sz="1007" dirty="0">
                <a:solidFill>
                  <a:schemeClr val="bg1"/>
                </a:solidFill>
                <a:highlight>
                  <a:srgbClr val="008000"/>
                </a:highlight>
                <a:latin typeface="Quattrocento Sans" pitchFamily="34" charset="0"/>
                <a:ea typeface="Quattrocento Sans" pitchFamily="34" charset="-122"/>
                <a:cs typeface="Quattrocento Sans" pitchFamily="34" charset="-120"/>
              </a:rPr>
              <a:t>Node automatically manages flow control when using proper methods</a:t>
            </a:r>
            <a:endParaRPr lang="en-US" sz="1600" dirty="0">
              <a:solidFill>
                <a:schemeClr val="bg1"/>
              </a:solidFill>
              <a:highlight>
                <a:srgbClr val="008000"/>
              </a:highlight>
            </a:endParaRPr>
          </a:p>
        </p:txBody>
      </p:sp>
      <p:sp>
        <p:nvSpPr>
          <p:cNvPr id="33" name="Shape 31"/>
          <p:cNvSpPr/>
          <p:nvPr/>
        </p:nvSpPr>
        <p:spPr>
          <a:xfrm>
            <a:off x="8292309" y="2566316"/>
            <a:ext cx="3413760" cy="895412"/>
          </a:xfrm>
          <a:custGeom>
            <a:avLst/>
            <a:gdLst/>
            <a:ahLst/>
            <a:cxnLst/>
            <a:rect l="l" t="t" r="r" b="b"/>
            <a:pathLst>
              <a:path w="3413760" h="895412">
                <a:moveTo>
                  <a:pt x="31979" y="0"/>
                </a:moveTo>
                <a:lnTo>
                  <a:pt x="3349801" y="0"/>
                </a:lnTo>
                <a:cubicBezTo>
                  <a:pt x="3385124" y="0"/>
                  <a:pt x="3413760" y="28636"/>
                  <a:pt x="3413760" y="63959"/>
                </a:cubicBezTo>
                <a:lnTo>
                  <a:pt x="3413760" y="831453"/>
                </a:lnTo>
                <a:cubicBezTo>
                  <a:pt x="3413760" y="866777"/>
                  <a:pt x="3385124" y="895412"/>
                  <a:pt x="3349801" y="895412"/>
                </a:cubicBezTo>
                <a:lnTo>
                  <a:pt x="31979" y="895412"/>
                </a:lnTo>
                <a:cubicBezTo>
                  <a:pt x="14317" y="895412"/>
                  <a:pt x="0" y="881095"/>
                  <a:pt x="0" y="863433"/>
                </a:cubicBezTo>
                <a:lnTo>
                  <a:pt x="0" y="31979"/>
                </a:lnTo>
                <a:cubicBezTo>
                  <a:pt x="0" y="14329"/>
                  <a:pt x="14329" y="0"/>
                  <a:pt x="31979" y="0"/>
                </a:cubicBezTo>
                <a:close/>
              </a:path>
            </a:pathLst>
          </a:custGeom>
          <a:solidFill>
            <a:srgbClr val="EAE7D6"/>
          </a:solidFill>
          <a:ln/>
        </p:spPr>
        <p:txBody>
          <a:bodyPr/>
          <a:lstStyle/>
          <a:p>
            <a:endParaRPr lang="en-US"/>
          </a:p>
        </p:txBody>
      </p:sp>
      <p:sp>
        <p:nvSpPr>
          <p:cNvPr id="34" name="Shape 32"/>
          <p:cNvSpPr/>
          <p:nvPr/>
        </p:nvSpPr>
        <p:spPr>
          <a:xfrm>
            <a:off x="8292309" y="2566316"/>
            <a:ext cx="31979" cy="895412"/>
          </a:xfrm>
          <a:custGeom>
            <a:avLst/>
            <a:gdLst/>
            <a:ahLst/>
            <a:cxnLst/>
            <a:rect l="l" t="t" r="r" b="b"/>
            <a:pathLst>
              <a:path w="31979" h="895412">
                <a:moveTo>
                  <a:pt x="31979" y="0"/>
                </a:moveTo>
                <a:lnTo>
                  <a:pt x="31979" y="0"/>
                </a:lnTo>
                <a:lnTo>
                  <a:pt x="31979" y="895412"/>
                </a:lnTo>
                <a:lnTo>
                  <a:pt x="31979" y="895412"/>
                </a:lnTo>
                <a:cubicBezTo>
                  <a:pt x="14317" y="895412"/>
                  <a:pt x="0" y="881095"/>
                  <a:pt x="0" y="863433"/>
                </a:cubicBezTo>
                <a:lnTo>
                  <a:pt x="0" y="31979"/>
                </a:lnTo>
                <a:cubicBezTo>
                  <a:pt x="0" y="14329"/>
                  <a:pt x="14329" y="0"/>
                  <a:pt x="31979" y="0"/>
                </a:cubicBezTo>
                <a:close/>
              </a:path>
            </a:pathLst>
          </a:custGeom>
          <a:solidFill>
            <a:srgbClr val="E07A5F"/>
          </a:solidFill>
          <a:ln/>
        </p:spPr>
        <p:txBody>
          <a:bodyPr/>
          <a:lstStyle/>
          <a:p>
            <a:endParaRPr lang="en-US"/>
          </a:p>
        </p:txBody>
      </p:sp>
      <p:sp>
        <p:nvSpPr>
          <p:cNvPr id="35" name="Text 33"/>
          <p:cNvSpPr/>
          <p:nvPr/>
        </p:nvSpPr>
        <p:spPr>
          <a:xfrm>
            <a:off x="8436214" y="2694232"/>
            <a:ext cx="3197902" cy="159895"/>
          </a:xfrm>
          <a:prstGeom prst="rect">
            <a:avLst/>
          </a:prstGeom>
          <a:noFill/>
          <a:ln/>
        </p:spPr>
        <p:txBody>
          <a:bodyPr wrap="square" lIns="0" tIns="0" rIns="0" bIns="0" rtlCol="0" anchor="ctr"/>
          <a:lstStyle/>
          <a:p>
            <a:pPr>
              <a:lnSpc>
                <a:spcPct val="120000"/>
              </a:lnSpc>
            </a:pPr>
            <a:r>
              <a:rPr lang="en-US" sz="881" dirty="0">
                <a:solidFill>
                  <a:srgbClr val="8D99AE"/>
                </a:solidFill>
                <a:latin typeface="Quattrocento Sans" pitchFamily="34" charset="0"/>
                <a:ea typeface="Quattrocento Sans" pitchFamily="34" charset="-122"/>
                <a:cs typeface="Quattrocento Sans" pitchFamily="34" charset="-120"/>
              </a:rPr>
              <a:t>Key Mechanism</a:t>
            </a:r>
            <a:endParaRPr lang="en-US" sz="1600" dirty="0"/>
          </a:p>
        </p:txBody>
      </p:sp>
      <p:sp>
        <p:nvSpPr>
          <p:cNvPr id="36" name="Text 34"/>
          <p:cNvSpPr/>
          <p:nvPr/>
        </p:nvSpPr>
        <p:spPr>
          <a:xfrm>
            <a:off x="8436214" y="2918085"/>
            <a:ext cx="3205896" cy="191874"/>
          </a:xfrm>
          <a:prstGeom prst="rect">
            <a:avLst/>
          </a:prstGeom>
          <a:noFill/>
          <a:ln/>
        </p:spPr>
        <p:txBody>
          <a:bodyPr wrap="square" lIns="0" tIns="0" rIns="0" bIns="0" rtlCol="0" anchor="ctr"/>
          <a:lstStyle/>
          <a:p>
            <a:pPr>
              <a:lnSpc>
                <a:spcPct val="120000"/>
              </a:lnSpc>
            </a:pPr>
            <a:r>
              <a:rPr lang="en-US" sz="1007" b="1" dirty="0">
                <a:solidFill>
                  <a:srgbClr val="2D3142"/>
                </a:solidFill>
                <a:latin typeface="Quattrocento Sans" pitchFamily="34" charset="0"/>
                <a:ea typeface="Quattrocento Sans" pitchFamily="34" charset="-122"/>
                <a:cs typeface="Quattrocento Sans" pitchFamily="34" charset="-120"/>
              </a:rPr>
              <a:t>write() returns false</a:t>
            </a:r>
            <a:endParaRPr lang="en-US" sz="1600" dirty="0"/>
          </a:p>
        </p:txBody>
      </p:sp>
      <p:sp>
        <p:nvSpPr>
          <p:cNvPr id="37" name="Text 35"/>
          <p:cNvSpPr/>
          <p:nvPr/>
        </p:nvSpPr>
        <p:spPr>
          <a:xfrm>
            <a:off x="8436214" y="3173917"/>
            <a:ext cx="3197902" cy="159895"/>
          </a:xfrm>
          <a:prstGeom prst="rect">
            <a:avLst/>
          </a:prstGeom>
          <a:noFill/>
          <a:ln/>
        </p:spPr>
        <p:txBody>
          <a:bodyPr wrap="square" lIns="0" tIns="0" rIns="0" bIns="0" rtlCol="0" anchor="ctr"/>
          <a:lstStyle/>
          <a:p>
            <a:pPr>
              <a:lnSpc>
                <a:spcPct val="120000"/>
              </a:lnSpc>
            </a:pPr>
            <a:r>
              <a:rPr lang="en-US" sz="881" dirty="0">
                <a:solidFill>
                  <a:srgbClr val="8D99AE"/>
                </a:solidFill>
                <a:latin typeface="Quattrocento Sans" pitchFamily="34" charset="0"/>
                <a:ea typeface="Quattrocento Sans" pitchFamily="34" charset="-122"/>
                <a:cs typeface="Quattrocento Sans" pitchFamily="34" charset="-120"/>
              </a:rPr>
              <a:t>This signals the buffer is full - pause reading</a:t>
            </a:r>
            <a:endParaRPr lang="en-US" sz="1600" dirty="0"/>
          </a:p>
        </p:txBody>
      </p:sp>
      <p:sp>
        <p:nvSpPr>
          <p:cNvPr id="38" name="Shape 36"/>
          <p:cNvSpPr/>
          <p:nvPr/>
        </p:nvSpPr>
        <p:spPr>
          <a:xfrm>
            <a:off x="8276319" y="3557666"/>
            <a:ext cx="3429750" cy="671559"/>
          </a:xfrm>
          <a:custGeom>
            <a:avLst/>
            <a:gdLst/>
            <a:ahLst/>
            <a:cxnLst/>
            <a:rect l="l" t="t" r="r" b="b"/>
            <a:pathLst>
              <a:path w="3429750" h="671559">
                <a:moveTo>
                  <a:pt x="63959" y="0"/>
                </a:moveTo>
                <a:lnTo>
                  <a:pt x="3365790" y="0"/>
                </a:lnTo>
                <a:cubicBezTo>
                  <a:pt x="3401114" y="0"/>
                  <a:pt x="3429750" y="28636"/>
                  <a:pt x="3429750" y="63959"/>
                </a:cubicBezTo>
                <a:lnTo>
                  <a:pt x="3429750" y="607600"/>
                </a:lnTo>
                <a:cubicBezTo>
                  <a:pt x="3429750" y="642924"/>
                  <a:pt x="3401114" y="671559"/>
                  <a:pt x="3365790" y="671559"/>
                </a:cubicBezTo>
                <a:lnTo>
                  <a:pt x="63959" y="671559"/>
                </a:lnTo>
                <a:cubicBezTo>
                  <a:pt x="28636" y="671559"/>
                  <a:pt x="0" y="642924"/>
                  <a:pt x="0" y="607600"/>
                </a:cubicBezTo>
                <a:lnTo>
                  <a:pt x="0" y="63959"/>
                </a:lnTo>
                <a:cubicBezTo>
                  <a:pt x="0" y="28659"/>
                  <a:pt x="28659" y="0"/>
                  <a:pt x="63959" y="0"/>
                </a:cubicBezTo>
                <a:close/>
              </a:path>
            </a:pathLst>
          </a:custGeom>
          <a:solidFill>
            <a:srgbClr val="EAE7D6"/>
          </a:solidFill>
          <a:ln/>
        </p:spPr>
        <p:txBody>
          <a:bodyPr/>
          <a:lstStyle/>
          <a:p>
            <a:endParaRPr lang="en-US"/>
          </a:p>
        </p:txBody>
      </p:sp>
      <p:sp>
        <p:nvSpPr>
          <p:cNvPr id="39" name="Text 37"/>
          <p:cNvSpPr/>
          <p:nvPr/>
        </p:nvSpPr>
        <p:spPr>
          <a:xfrm>
            <a:off x="8404235" y="3685582"/>
            <a:ext cx="3229881" cy="159895"/>
          </a:xfrm>
          <a:prstGeom prst="rect">
            <a:avLst/>
          </a:prstGeom>
          <a:noFill/>
          <a:ln/>
        </p:spPr>
        <p:txBody>
          <a:bodyPr wrap="square" lIns="0" tIns="0" rIns="0" bIns="0" rtlCol="0" anchor="ctr"/>
          <a:lstStyle/>
          <a:p>
            <a:pPr>
              <a:lnSpc>
                <a:spcPct val="120000"/>
              </a:lnSpc>
            </a:pPr>
            <a:r>
              <a:rPr lang="en-US" sz="881" dirty="0">
                <a:solidFill>
                  <a:srgbClr val="8D99AE"/>
                </a:solidFill>
                <a:latin typeface="Quattrocento Sans" pitchFamily="34" charset="0"/>
                <a:ea typeface="Quattrocento Sans" pitchFamily="34" charset="-122"/>
                <a:cs typeface="Quattrocento Sans" pitchFamily="34" charset="-120"/>
              </a:rPr>
              <a:t>Recovery</a:t>
            </a:r>
            <a:endParaRPr lang="en-US" sz="1600" dirty="0"/>
          </a:p>
        </p:txBody>
      </p:sp>
      <p:sp>
        <p:nvSpPr>
          <p:cNvPr id="40" name="Text 38"/>
          <p:cNvSpPr/>
          <p:nvPr/>
        </p:nvSpPr>
        <p:spPr>
          <a:xfrm>
            <a:off x="8404235" y="3909435"/>
            <a:ext cx="3237875" cy="191874"/>
          </a:xfrm>
          <a:prstGeom prst="rect">
            <a:avLst/>
          </a:prstGeom>
          <a:noFill/>
          <a:ln/>
        </p:spPr>
        <p:txBody>
          <a:bodyPr wrap="square" lIns="0" tIns="0" rIns="0" bIns="0" rtlCol="0" anchor="ctr"/>
          <a:lstStyle/>
          <a:p>
            <a:pPr>
              <a:lnSpc>
                <a:spcPct val="120000"/>
              </a:lnSpc>
            </a:pPr>
            <a:r>
              <a:rPr lang="en-US" sz="1007" dirty="0">
                <a:solidFill>
                  <a:srgbClr val="2D3142"/>
                </a:solidFill>
                <a:latin typeface="Quattrocento Sans" pitchFamily="34" charset="0"/>
                <a:ea typeface="Quattrocento Sans" pitchFamily="34" charset="-122"/>
                <a:cs typeface="Quattrocento Sans" pitchFamily="34" charset="-120"/>
              </a:rPr>
              <a:t>Listen for </a:t>
            </a:r>
            <a:r>
              <a:rPr lang="en-US" sz="1007" dirty="0">
                <a:solidFill>
                  <a:schemeClr val="bg1"/>
                </a:solidFill>
                <a:highlight>
                  <a:srgbClr val="008000"/>
                </a:highlight>
                <a:latin typeface="Quattrocento Sans" pitchFamily="34" charset="0"/>
                <a:ea typeface="Quattrocento Sans" pitchFamily="34" charset="-122"/>
                <a:cs typeface="Quattrocento Sans" pitchFamily="34" charset="-120"/>
              </a:rPr>
              <a:t>'drain</a:t>
            </a:r>
            <a:r>
              <a:rPr lang="en-US" sz="1007" dirty="0">
                <a:solidFill>
                  <a:srgbClr val="2D3142"/>
                </a:solidFill>
                <a:latin typeface="Quattrocento Sans" pitchFamily="34" charset="0"/>
                <a:ea typeface="Quattrocento Sans" pitchFamily="34" charset="-122"/>
                <a:cs typeface="Quattrocento Sans" pitchFamily="34" charset="-120"/>
              </a:rPr>
              <a:t>' event to resume</a:t>
            </a:r>
            <a:endParaRPr lang="en-US" sz="1600" dirty="0"/>
          </a:p>
        </p:txBody>
      </p:sp>
      <p:sp>
        <p:nvSpPr>
          <p:cNvPr id="41" name="Shape 39"/>
          <p:cNvSpPr/>
          <p:nvPr/>
        </p:nvSpPr>
        <p:spPr>
          <a:xfrm>
            <a:off x="8112427" y="4529028"/>
            <a:ext cx="3757534" cy="1542988"/>
          </a:xfrm>
          <a:custGeom>
            <a:avLst/>
            <a:gdLst/>
            <a:ahLst/>
            <a:cxnLst/>
            <a:rect l="l" t="t" r="r" b="b"/>
            <a:pathLst>
              <a:path w="3757534" h="1542988">
                <a:moveTo>
                  <a:pt x="95943" y="0"/>
                </a:moveTo>
                <a:lnTo>
                  <a:pt x="3661591" y="0"/>
                </a:lnTo>
                <a:cubicBezTo>
                  <a:pt x="3714579" y="0"/>
                  <a:pt x="3757534" y="42955"/>
                  <a:pt x="3757534" y="95943"/>
                </a:cubicBezTo>
                <a:lnTo>
                  <a:pt x="3757534" y="1447045"/>
                </a:lnTo>
                <a:cubicBezTo>
                  <a:pt x="3757534" y="1500032"/>
                  <a:pt x="3714579" y="1542988"/>
                  <a:pt x="3661591" y="1542988"/>
                </a:cubicBezTo>
                <a:lnTo>
                  <a:pt x="95943" y="1542988"/>
                </a:lnTo>
                <a:cubicBezTo>
                  <a:pt x="42955" y="1542988"/>
                  <a:pt x="0" y="1500032"/>
                  <a:pt x="0" y="1447045"/>
                </a:cubicBezTo>
                <a:lnTo>
                  <a:pt x="0" y="95943"/>
                </a:lnTo>
                <a:cubicBezTo>
                  <a:pt x="0" y="42991"/>
                  <a:pt x="42991" y="0"/>
                  <a:pt x="95943" y="0"/>
                </a:cubicBezTo>
                <a:close/>
              </a:path>
            </a:pathLst>
          </a:custGeom>
          <a:solidFill>
            <a:srgbClr val="EAE7D6"/>
          </a:solidFill>
          <a:ln/>
        </p:spPr>
        <p:txBody>
          <a:bodyPr/>
          <a:lstStyle/>
          <a:p>
            <a:endParaRPr lang="en-US"/>
          </a:p>
        </p:txBody>
      </p:sp>
      <p:sp>
        <p:nvSpPr>
          <p:cNvPr id="42" name="Shape 40"/>
          <p:cNvSpPr/>
          <p:nvPr/>
        </p:nvSpPr>
        <p:spPr>
          <a:xfrm>
            <a:off x="8254334" y="4692921"/>
            <a:ext cx="179882" cy="159895"/>
          </a:xfrm>
          <a:custGeom>
            <a:avLst/>
            <a:gdLst/>
            <a:ahLst/>
            <a:cxnLst/>
            <a:rect l="l" t="t" r="r" b="b"/>
            <a:pathLst>
              <a:path w="179882" h="159895">
                <a:moveTo>
                  <a:pt x="112676" y="375"/>
                </a:moveTo>
                <a:cubicBezTo>
                  <a:pt x="107367" y="-1155"/>
                  <a:pt x="101839" y="1936"/>
                  <a:pt x="100309" y="7245"/>
                </a:cubicBezTo>
                <a:lnTo>
                  <a:pt x="60335" y="147153"/>
                </a:lnTo>
                <a:cubicBezTo>
                  <a:pt x="58805" y="152462"/>
                  <a:pt x="61897" y="157990"/>
                  <a:pt x="67206" y="159520"/>
                </a:cubicBezTo>
                <a:cubicBezTo>
                  <a:pt x="72515" y="161051"/>
                  <a:pt x="78043" y="157959"/>
                  <a:pt x="79573" y="152650"/>
                </a:cubicBezTo>
                <a:lnTo>
                  <a:pt x="119547" y="12742"/>
                </a:lnTo>
                <a:cubicBezTo>
                  <a:pt x="121077" y="7433"/>
                  <a:pt x="117985" y="1905"/>
                  <a:pt x="112676" y="375"/>
                </a:cubicBezTo>
                <a:close/>
                <a:moveTo>
                  <a:pt x="132850" y="42878"/>
                </a:moveTo>
                <a:cubicBezTo>
                  <a:pt x="128947" y="46782"/>
                  <a:pt x="128947" y="53121"/>
                  <a:pt x="132850" y="57025"/>
                </a:cubicBezTo>
                <a:lnTo>
                  <a:pt x="155773" y="79948"/>
                </a:lnTo>
                <a:lnTo>
                  <a:pt x="132850" y="102870"/>
                </a:lnTo>
                <a:cubicBezTo>
                  <a:pt x="128947" y="106774"/>
                  <a:pt x="128947" y="113113"/>
                  <a:pt x="132850" y="117017"/>
                </a:cubicBezTo>
                <a:cubicBezTo>
                  <a:pt x="136754" y="120921"/>
                  <a:pt x="143094" y="120921"/>
                  <a:pt x="146997" y="117017"/>
                </a:cubicBezTo>
                <a:lnTo>
                  <a:pt x="176978" y="87037"/>
                </a:lnTo>
                <a:cubicBezTo>
                  <a:pt x="180881" y="83133"/>
                  <a:pt x="180881" y="76793"/>
                  <a:pt x="176978" y="72890"/>
                </a:cubicBezTo>
                <a:lnTo>
                  <a:pt x="146997" y="42909"/>
                </a:lnTo>
                <a:cubicBezTo>
                  <a:pt x="143094" y="39006"/>
                  <a:pt x="136754" y="39006"/>
                  <a:pt x="132850" y="42909"/>
                </a:cubicBezTo>
                <a:close/>
                <a:moveTo>
                  <a:pt x="47063" y="42878"/>
                </a:moveTo>
                <a:cubicBezTo>
                  <a:pt x="43159" y="38974"/>
                  <a:pt x="36820" y="38974"/>
                  <a:pt x="32916" y="42878"/>
                </a:cubicBezTo>
                <a:lnTo>
                  <a:pt x="2936" y="72858"/>
                </a:lnTo>
                <a:cubicBezTo>
                  <a:pt x="-968" y="76762"/>
                  <a:pt x="-968" y="83102"/>
                  <a:pt x="2936" y="87005"/>
                </a:cubicBezTo>
                <a:lnTo>
                  <a:pt x="32916" y="116986"/>
                </a:lnTo>
                <a:cubicBezTo>
                  <a:pt x="36820" y="120889"/>
                  <a:pt x="43159" y="120889"/>
                  <a:pt x="47063" y="116986"/>
                </a:cubicBezTo>
                <a:cubicBezTo>
                  <a:pt x="50967" y="113082"/>
                  <a:pt x="50967" y="106742"/>
                  <a:pt x="47063" y="102839"/>
                </a:cubicBezTo>
                <a:lnTo>
                  <a:pt x="24140" y="79948"/>
                </a:lnTo>
                <a:lnTo>
                  <a:pt x="47032" y="57025"/>
                </a:lnTo>
                <a:cubicBezTo>
                  <a:pt x="50935" y="53121"/>
                  <a:pt x="50935" y="46782"/>
                  <a:pt x="47032" y="42878"/>
                </a:cubicBezTo>
                <a:close/>
              </a:path>
            </a:pathLst>
          </a:custGeom>
          <a:solidFill>
            <a:srgbClr val="8D99AE"/>
          </a:solidFill>
          <a:ln/>
        </p:spPr>
        <p:txBody>
          <a:bodyPr/>
          <a:lstStyle/>
          <a:p>
            <a:endParaRPr lang="en-US"/>
          </a:p>
        </p:txBody>
      </p:sp>
      <p:sp>
        <p:nvSpPr>
          <p:cNvPr id="43" name="Text 41"/>
          <p:cNvSpPr/>
          <p:nvPr/>
        </p:nvSpPr>
        <p:spPr>
          <a:xfrm>
            <a:off x="8540146" y="4660942"/>
            <a:ext cx="1175229" cy="223853"/>
          </a:xfrm>
          <a:prstGeom prst="rect">
            <a:avLst/>
          </a:prstGeom>
          <a:noFill/>
          <a:ln/>
        </p:spPr>
        <p:txBody>
          <a:bodyPr wrap="square" lIns="0" tIns="0" rIns="0" bIns="0" rtlCol="0" anchor="ctr"/>
          <a:lstStyle/>
          <a:p>
            <a:pPr>
              <a:lnSpc>
                <a:spcPct val="120000"/>
              </a:lnSpc>
            </a:pPr>
            <a:r>
              <a:rPr lang="en-US" sz="1259" b="1" dirty="0">
                <a:solidFill>
                  <a:srgbClr val="2D3142"/>
                </a:solidFill>
                <a:latin typeface="Quattrocento Sans" pitchFamily="34" charset="0"/>
                <a:ea typeface="Quattrocento Sans" pitchFamily="34" charset="-122"/>
                <a:cs typeface="Quattrocento Sans" pitchFamily="34" charset="-120"/>
              </a:rPr>
              <a:t>Implementation</a:t>
            </a:r>
            <a:endParaRPr lang="en-US" sz="1600" dirty="0"/>
          </a:p>
        </p:txBody>
      </p:sp>
      <p:sp>
        <p:nvSpPr>
          <p:cNvPr id="44" name="Shape 42"/>
          <p:cNvSpPr/>
          <p:nvPr/>
        </p:nvSpPr>
        <p:spPr>
          <a:xfrm>
            <a:off x="8244340" y="4980732"/>
            <a:ext cx="3493708" cy="959370"/>
          </a:xfrm>
          <a:custGeom>
            <a:avLst/>
            <a:gdLst/>
            <a:ahLst/>
            <a:cxnLst/>
            <a:rect l="l" t="t" r="r" b="b"/>
            <a:pathLst>
              <a:path w="3493708" h="959370">
                <a:moveTo>
                  <a:pt x="63961" y="0"/>
                </a:moveTo>
                <a:lnTo>
                  <a:pt x="3429746" y="0"/>
                </a:lnTo>
                <a:cubicBezTo>
                  <a:pt x="3465071" y="0"/>
                  <a:pt x="3493708" y="28636"/>
                  <a:pt x="3493708" y="63961"/>
                </a:cubicBezTo>
                <a:lnTo>
                  <a:pt x="3493708" y="895409"/>
                </a:lnTo>
                <a:cubicBezTo>
                  <a:pt x="3493708" y="930734"/>
                  <a:pt x="3465071" y="959370"/>
                  <a:pt x="3429746" y="959370"/>
                </a:cubicBezTo>
                <a:lnTo>
                  <a:pt x="63961" y="959370"/>
                </a:lnTo>
                <a:cubicBezTo>
                  <a:pt x="28636" y="959370"/>
                  <a:pt x="0" y="930734"/>
                  <a:pt x="0" y="895409"/>
                </a:cubicBezTo>
                <a:lnTo>
                  <a:pt x="0" y="63961"/>
                </a:lnTo>
                <a:cubicBezTo>
                  <a:pt x="0" y="28636"/>
                  <a:pt x="28636" y="0"/>
                  <a:pt x="63961" y="0"/>
                </a:cubicBezTo>
                <a:close/>
              </a:path>
            </a:pathLst>
          </a:custGeom>
          <a:solidFill>
            <a:srgbClr val="EAE7D6"/>
          </a:solidFill>
          <a:ln/>
        </p:spPr>
        <p:txBody>
          <a:bodyPr/>
          <a:lstStyle/>
          <a:p>
            <a:endParaRPr lang="en-US"/>
          </a:p>
        </p:txBody>
      </p:sp>
      <p:sp>
        <p:nvSpPr>
          <p:cNvPr id="45" name="Text 43"/>
          <p:cNvSpPr/>
          <p:nvPr/>
        </p:nvSpPr>
        <p:spPr>
          <a:xfrm>
            <a:off x="8340277" y="5076669"/>
            <a:ext cx="3349802" cy="127916"/>
          </a:xfrm>
          <a:prstGeom prst="rect">
            <a:avLst/>
          </a:prstGeom>
          <a:noFill/>
          <a:ln/>
        </p:spPr>
        <p:txBody>
          <a:bodyPr wrap="square" lIns="0" tIns="0" rIns="0" bIns="0" rtlCol="0" anchor="ctr"/>
          <a:lstStyle/>
          <a:p>
            <a:pPr>
              <a:lnSpc>
                <a:spcPct val="110000"/>
              </a:lnSpc>
            </a:pPr>
            <a:r>
              <a:rPr lang="en-US" sz="755" dirty="0">
                <a:solidFill>
                  <a:srgbClr val="E07A5F"/>
                </a:solidFill>
                <a:latin typeface="MiSans" pitchFamily="34" charset="0"/>
                <a:ea typeface="MiSans" pitchFamily="34" charset="-122"/>
                <a:cs typeface="MiSans" pitchFamily="34" charset="-120"/>
              </a:rPr>
              <a:t>if (!writable.write(chunk)) {</a:t>
            </a:r>
            <a:endParaRPr lang="en-US" sz="1600" dirty="0"/>
          </a:p>
        </p:txBody>
      </p:sp>
      <p:sp>
        <p:nvSpPr>
          <p:cNvPr id="46" name="Text 44"/>
          <p:cNvSpPr/>
          <p:nvPr/>
        </p:nvSpPr>
        <p:spPr>
          <a:xfrm>
            <a:off x="8340277" y="5204585"/>
            <a:ext cx="3349802" cy="127916"/>
          </a:xfrm>
          <a:prstGeom prst="rect">
            <a:avLst/>
          </a:prstGeom>
          <a:noFill/>
          <a:ln/>
        </p:spPr>
        <p:txBody>
          <a:bodyPr wrap="square" lIns="0" tIns="0" rIns="0" bIns="0" rtlCol="0" anchor="ctr"/>
          <a:lstStyle/>
          <a:p>
            <a:pPr>
              <a:lnSpc>
                <a:spcPct val="110000"/>
              </a:lnSpc>
            </a:pPr>
            <a:r>
              <a:rPr lang="en-US" sz="755" dirty="0">
                <a:solidFill>
                  <a:srgbClr val="2D3142"/>
                </a:solidFill>
                <a:latin typeface="MiSans" pitchFamily="34" charset="0"/>
                <a:ea typeface="MiSans" pitchFamily="34" charset="-122"/>
                <a:cs typeface="MiSans" pitchFamily="34" charset="-120"/>
              </a:rPr>
              <a:t>readable.pause();</a:t>
            </a:r>
            <a:endParaRPr lang="en-US" sz="1600" dirty="0"/>
          </a:p>
        </p:txBody>
      </p:sp>
      <p:sp>
        <p:nvSpPr>
          <p:cNvPr id="47" name="Text 45"/>
          <p:cNvSpPr/>
          <p:nvPr/>
        </p:nvSpPr>
        <p:spPr>
          <a:xfrm>
            <a:off x="8340277" y="5332501"/>
            <a:ext cx="3349802" cy="127916"/>
          </a:xfrm>
          <a:prstGeom prst="rect">
            <a:avLst/>
          </a:prstGeom>
          <a:noFill/>
          <a:ln/>
        </p:spPr>
        <p:txBody>
          <a:bodyPr wrap="square" lIns="0" tIns="0" rIns="0" bIns="0" rtlCol="0" anchor="ctr"/>
          <a:lstStyle/>
          <a:p>
            <a:pPr>
              <a:lnSpc>
                <a:spcPct val="110000"/>
              </a:lnSpc>
            </a:pPr>
            <a:r>
              <a:rPr lang="en-US" sz="755" dirty="0">
                <a:solidFill>
                  <a:srgbClr val="2D3142"/>
                </a:solidFill>
                <a:latin typeface="MiSans" pitchFamily="34" charset="0"/>
                <a:ea typeface="MiSans" pitchFamily="34" charset="-122"/>
                <a:cs typeface="MiSans" pitchFamily="34" charset="-120"/>
              </a:rPr>
              <a:t>writable.once('drain', () =&gt; {</a:t>
            </a:r>
            <a:endParaRPr lang="en-US" sz="1600" dirty="0"/>
          </a:p>
        </p:txBody>
      </p:sp>
      <p:sp>
        <p:nvSpPr>
          <p:cNvPr id="48" name="Text 46"/>
          <p:cNvSpPr/>
          <p:nvPr/>
        </p:nvSpPr>
        <p:spPr>
          <a:xfrm>
            <a:off x="8340277" y="5460417"/>
            <a:ext cx="3349802" cy="127916"/>
          </a:xfrm>
          <a:prstGeom prst="rect">
            <a:avLst/>
          </a:prstGeom>
          <a:noFill/>
          <a:ln/>
        </p:spPr>
        <p:txBody>
          <a:bodyPr wrap="square" lIns="0" tIns="0" rIns="0" bIns="0" rtlCol="0" anchor="ctr"/>
          <a:lstStyle/>
          <a:p>
            <a:pPr>
              <a:lnSpc>
                <a:spcPct val="110000"/>
              </a:lnSpc>
            </a:pPr>
            <a:r>
              <a:rPr lang="en-US" sz="755" dirty="0">
                <a:solidFill>
                  <a:srgbClr val="2D3142"/>
                </a:solidFill>
                <a:latin typeface="MiSans" pitchFamily="34" charset="0"/>
                <a:ea typeface="MiSans" pitchFamily="34" charset="-122"/>
                <a:cs typeface="MiSans" pitchFamily="34" charset="-120"/>
              </a:rPr>
              <a:t>readable.resume();</a:t>
            </a:r>
            <a:endParaRPr lang="en-US" sz="1600" dirty="0"/>
          </a:p>
        </p:txBody>
      </p:sp>
      <p:sp>
        <p:nvSpPr>
          <p:cNvPr id="49" name="Text 47"/>
          <p:cNvSpPr/>
          <p:nvPr/>
        </p:nvSpPr>
        <p:spPr>
          <a:xfrm>
            <a:off x="8340277" y="5588333"/>
            <a:ext cx="3349802" cy="127916"/>
          </a:xfrm>
          <a:prstGeom prst="rect">
            <a:avLst/>
          </a:prstGeom>
          <a:noFill/>
          <a:ln/>
        </p:spPr>
        <p:txBody>
          <a:bodyPr wrap="square" lIns="0" tIns="0" rIns="0" bIns="0" rtlCol="0" anchor="ctr"/>
          <a:lstStyle/>
          <a:p>
            <a:pPr>
              <a:lnSpc>
                <a:spcPct val="110000"/>
              </a:lnSpc>
            </a:pPr>
            <a:r>
              <a:rPr lang="en-US" sz="755" dirty="0">
                <a:solidFill>
                  <a:srgbClr val="2D3142"/>
                </a:solidFill>
                <a:latin typeface="MiSans" pitchFamily="34" charset="0"/>
                <a:ea typeface="MiSans" pitchFamily="34" charset="-122"/>
                <a:cs typeface="MiSans" pitchFamily="34" charset="-120"/>
              </a:rPr>
              <a:t>});</a:t>
            </a:r>
            <a:endParaRPr lang="en-US" sz="1600" dirty="0"/>
          </a:p>
        </p:txBody>
      </p:sp>
      <p:sp>
        <p:nvSpPr>
          <p:cNvPr id="50" name="Text 48"/>
          <p:cNvSpPr/>
          <p:nvPr/>
        </p:nvSpPr>
        <p:spPr>
          <a:xfrm>
            <a:off x="8340277" y="5716249"/>
            <a:ext cx="3349802" cy="127916"/>
          </a:xfrm>
          <a:prstGeom prst="rect">
            <a:avLst/>
          </a:prstGeom>
          <a:noFill/>
          <a:ln/>
        </p:spPr>
        <p:txBody>
          <a:bodyPr wrap="square" lIns="0" tIns="0" rIns="0" bIns="0" rtlCol="0" anchor="ctr"/>
          <a:lstStyle/>
          <a:p>
            <a:pPr>
              <a:lnSpc>
                <a:spcPct val="110000"/>
              </a:lnSpc>
            </a:pPr>
            <a:r>
              <a:rPr lang="en-US" sz="755" dirty="0">
                <a:solidFill>
                  <a:srgbClr val="E07A5F"/>
                </a:solidFill>
                <a:latin typeface="MiSans" pitchFamily="34" charset="0"/>
                <a:ea typeface="MiSans" pitchFamily="34" charset="-122"/>
                <a:cs typeface="MiSans" pitchFamily="34" charset="-120"/>
              </a:rPr>
              <a:t>}</a:t>
            </a:r>
            <a:endParaRPr lang="en-US" sz="1600" dirty="0"/>
          </a:p>
        </p:txBody>
      </p:sp>
      <p:sp>
        <p:nvSpPr>
          <p:cNvPr id="51" name="Shape 49"/>
          <p:cNvSpPr/>
          <p:nvPr/>
        </p:nvSpPr>
        <p:spPr>
          <a:xfrm>
            <a:off x="323788" y="6175948"/>
            <a:ext cx="11544425" cy="679554"/>
          </a:xfrm>
          <a:custGeom>
            <a:avLst/>
            <a:gdLst/>
            <a:ahLst/>
            <a:cxnLst/>
            <a:rect l="l" t="t" r="r" b="b"/>
            <a:pathLst>
              <a:path w="11544425" h="679554">
                <a:moveTo>
                  <a:pt x="63960" y="0"/>
                </a:moveTo>
                <a:lnTo>
                  <a:pt x="11480465" y="0"/>
                </a:lnTo>
                <a:cubicBezTo>
                  <a:pt x="11515789" y="0"/>
                  <a:pt x="11544425" y="28636"/>
                  <a:pt x="11544425" y="63960"/>
                </a:cubicBezTo>
                <a:lnTo>
                  <a:pt x="11544425" y="615594"/>
                </a:lnTo>
                <a:cubicBezTo>
                  <a:pt x="11544425" y="650918"/>
                  <a:pt x="11515789" y="679554"/>
                  <a:pt x="11480465" y="679554"/>
                </a:cubicBezTo>
                <a:lnTo>
                  <a:pt x="63960" y="679554"/>
                </a:lnTo>
                <a:cubicBezTo>
                  <a:pt x="28659" y="679554"/>
                  <a:pt x="0" y="650895"/>
                  <a:pt x="0" y="615594"/>
                </a:cubicBezTo>
                <a:lnTo>
                  <a:pt x="0" y="63960"/>
                </a:lnTo>
                <a:cubicBezTo>
                  <a:pt x="0" y="28659"/>
                  <a:pt x="28659" y="0"/>
                  <a:pt x="63960" y="0"/>
                </a:cubicBezTo>
                <a:close/>
              </a:path>
            </a:pathLst>
          </a:custGeom>
          <a:solidFill>
            <a:srgbClr val="EAE7D6"/>
          </a:solidFill>
          <a:ln/>
        </p:spPr>
        <p:txBody>
          <a:bodyPr/>
          <a:lstStyle/>
          <a:p>
            <a:endParaRPr lang="en-US"/>
          </a:p>
        </p:txBody>
      </p:sp>
      <p:sp>
        <p:nvSpPr>
          <p:cNvPr id="52" name="Shape 50"/>
          <p:cNvSpPr/>
          <p:nvPr/>
        </p:nvSpPr>
        <p:spPr>
          <a:xfrm>
            <a:off x="465694" y="6435777"/>
            <a:ext cx="179882" cy="159895"/>
          </a:xfrm>
          <a:custGeom>
            <a:avLst/>
            <a:gdLst/>
            <a:ahLst/>
            <a:cxnLst/>
            <a:rect l="l" t="t" r="r" b="b"/>
            <a:pathLst>
              <a:path w="179882" h="159895">
                <a:moveTo>
                  <a:pt x="14990" y="61147"/>
                </a:moveTo>
                <a:lnTo>
                  <a:pt x="80322" y="88036"/>
                </a:lnTo>
                <a:cubicBezTo>
                  <a:pt x="83383" y="89285"/>
                  <a:pt x="86631" y="89941"/>
                  <a:pt x="89941" y="89941"/>
                </a:cubicBezTo>
                <a:cubicBezTo>
                  <a:pt x="93251" y="89941"/>
                  <a:pt x="96499" y="89285"/>
                  <a:pt x="99560" y="88036"/>
                </a:cubicBezTo>
                <a:lnTo>
                  <a:pt x="175260" y="56869"/>
                </a:lnTo>
                <a:cubicBezTo>
                  <a:pt x="178071" y="55713"/>
                  <a:pt x="179882" y="52996"/>
                  <a:pt x="179882" y="49967"/>
                </a:cubicBezTo>
                <a:cubicBezTo>
                  <a:pt x="179882" y="46938"/>
                  <a:pt x="178071" y="44221"/>
                  <a:pt x="175260" y="43065"/>
                </a:cubicBezTo>
                <a:lnTo>
                  <a:pt x="99560" y="11898"/>
                </a:lnTo>
                <a:cubicBezTo>
                  <a:pt x="96499" y="10649"/>
                  <a:pt x="93251" y="9993"/>
                  <a:pt x="89941" y="9993"/>
                </a:cubicBezTo>
                <a:cubicBezTo>
                  <a:pt x="86631" y="9993"/>
                  <a:pt x="83383" y="10649"/>
                  <a:pt x="80322" y="11898"/>
                </a:cubicBezTo>
                <a:lnTo>
                  <a:pt x="4622" y="43065"/>
                </a:lnTo>
                <a:cubicBezTo>
                  <a:pt x="1811" y="44221"/>
                  <a:pt x="0" y="46938"/>
                  <a:pt x="0" y="49967"/>
                </a:cubicBezTo>
                <a:lnTo>
                  <a:pt x="0" y="142407"/>
                </a:lnTo>
                <a:cubicBezTo>
                  <a:pt x="0" y="146560"/>
                  <a:pt x="3342" y="149902"/>
                  <a:pt x="7495" y="149902"/>
                </a:cubicBezTo>
                <a:cubicBezTo>
                  <a:pt x="11649" y="149902"/>
                  <a:pt x="14990" y="146560"/>
                  <a:pt x="14990" y="142407"/>
                </a:cubicBezTo>
                <a:lnTo>
                  <a:pt x="14990" y="61147"/>
                </a:lnTo>
                <a:close/>
                <a:moveTo>
                  <a:pt x="29980" y="83539"/>
                </a:moveTo>
                <a:lnTo>
                  <a:pt x="29980" y="119921"/>
                </a:lnTo>
                <a:cubicBezTo>
                  <a:pt x="29980" y="136473"/>
                  <a:pt x="56838" y="149902"/>
                  <a:pt x="89941" y="149902"/>
                </a:cubicBezTo>
                <a:cubicBezTo>
                  <a:pt x="123044" y="149902"/>
                  <a:pt x="149902" y="136473"/>
                  <a:pt x="149902" y="119921"/>
                </a:cubicBezTo>
                <a:lnTo>
                  <a:pt x="149902" y="83508"/>
                </a:lnTo>
                <a:lnTo>
                  <a:pt x="105275" y="101902"/>
                </a:lnTo>
                <a:cubicBezTo>
                  <a:pt x="100403" y="103901"/>
                  <a:pt x="95219" y="104931"/>
                  <a:pt x="89941" y="104931"/>
                </a:cubicBezTo>
                <a:cubicBezTo>
                  <a:pt x="84663" y="104931"/>
                  <a:pt x="79479" y="103901"/>
                  <a:pt x="74607" y="101902"/>
                </a:cubicBezTo>
                <a:lnTo>
                  <a:pt x="29980" y="83508"/>
                </a:lnTo>
                <a:close/>
              </a:path>
            </a:pathLst>
          </a:custGeom>
          <a:solidFill>
            <a:srgbClr val="8D99AE"/>
          </a:solidFill>
          <a:ln/>
        </p:spPr>
        <p:txBody>
          <a:bodyPr/>
          <a:lstStyle/>
          <a:p>
            <a:endParaRPr lang="en-US"/>
          </a:p>
        </p:txBody>
      </p:sp>
      <p:sp>
        <p:nvSpPr>
          <p:cNvPr id="53" name="Text 51"/>
          <p:cNvSpPr/>
          <p:nvPr/>
        </p:nvSpPr>
        <p:spPr>
          <a:xfrm>
            <a:off x="751507" y="6307861"/>
            <a:ext cx="8570376" cy="223853"/>
          </a:xfrm>
          <a:prstGeom prst="rect">
            <a:avLst/>
          </a:prstGeom>
          <a:noFill/>
          <a:ln/>
        </p:spPr>
        <p:txBody>
          <a:bodyPr wrap="square" lIns="0" tIns="0" rIns="0" bIns="0" rtlCol="0" anchor="ctr"/>
          <a:lstStyle/>
          <a:p>
            <a:pPr>
              <a:lnSpc>
                <a:spcPct val="130000"/>
              </a:lnSpc>
            </a:pPr>
            <a:r>
              <a:rPr lang="en-US" sz="1133" b="1" dirty="0">
                <a:solidFill>
                  <a:srgbClr val="2D3142"/>
                </a:solidFill>
                <a:latin typeface="Quattrocento Sans" pitchFamily="34" charset="0"/>
                <a:ea typeface="Quattrocento Sans" pitchFamily="34" charset="-122"/>
                <a:cs typeface="Quattrocento Sans" pitchFamily="34" charset="-120"/>
              </a:rPr>
              <a:t>Senior-Level Must Know!</a:t>
            </a:r>
            <a:endParaRPr lang="en-US" sz="1600" dirty="0"/>
          </a:p>
        </p:txBody>
      </p:sp>
      <p:sp>
        <p:nvSpPr>
          <p:cNvPr id="54" name="Text 52"/>
          <p:cNvSpPr/>
          <p:nvPr/>
        </p:nvSpPr>
        <p:spPr>
          <a:xfrm>
            <a:off x="751507" y="6531714"/>
            <a:ext cx="8562382" cy="191874"/>
          </a:xfrm>
          <a:prstGeom prst="rect">
            <a:avLst/>
          </a:prstGeom>
          <a:noFill/>
          <a:ln/>
        </p:spPr>
        <p:txBody>
          <a:bodyPr wrap="square" lIns="0" tIns="0" rIns="0" bIns="0" rtlCol="0" anchor="ctr"/>
          <a:lstStyle/>
          <a:p>
            <a:pPr>
              <a:lnSpc>
                <a:spcPct val="120000"/>
              </a:lnSpc>
            </a:pPr>
            <a:r>
              <a:rPr lang="en-US" sz="1007" dirty="0">
                <a:solidFill>
                  <a:srgbClr val="2D3142"/>
                </a:solidFill>
                <a:latin typeface="Quattrocento Sans" pitchFamily="34" charset="0"/>
                <a:ea typeface="Quattrocento Sans" pitchFamily="34" charset="-122"/>
                <a:cs typeface="Quattrocento Sans" pitchFamily="34" charset="-120"/>
              </a:rPr>
              <a:t>Backpressure is one of the most important stream concepts in senior interviews. Be prepared to explain the problem, solution, and implementation details.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21265" y="369455"/>
            <a:ext cx="385518" cy="385518"/>
          </a:xfrm>
          <a:custGeom>
            <a:avLst/>
            <a:gdLst/>
            <a:ahLst/>
            <a:cxnLst/>
            <a:rect l="l" t="t" r="r" b="b"/>
            <a:pathLst>
              <a:path w="385518" h="385518">
                <a:moveTo>
                  <a:pt x="64254" y="0"/>
                </a:moveTo>
                <a:lnTo>
                  <a:pt x="321264" y="0"/>
                </a:lnTo>
                <a:cubicBezTo>
                  <a:pt x="356750" y="0"/>
                  <a:pt x="385518" y="28768"/>
                  <a:pt x="385518" y="64254"/>
                </a:cubicBezTo>
                <a:lnTo>
                  <a:pt x="385518" y="321264"/>
                </a:lnTo>
                <a:cubicBezTo>
                  <a:pt x="385518" y="356750"/>
                  <a:pt x="356750" y="385518"/>
                  <a:pt x="321264" y="385518"/>
                </a:cubicBezTo>
                <a:lnTo>
                  <a:pt x="64254" y="385518"/>
                </a:lnTo>
                <a:cubicBezTo>
                  <a:pt x="28768" y="385518"/>
                  <a:pt x="0" y="356750"/>
                  <a:pt x="0" y="321264"/>
                </a:cubicBezTo>
                <a:lnTo>
                  <a:pt x="0" y="64254"/>
                </a:lnTo>
                <a:cubicBezTo>
                  <a:pt x="0" y="28791"/>
                  <a:pt x="28791" y="0"/>
                  <a:pt x="64254"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23668" y="481897"/>
            <a:ext cx="180711" cy="160632"/>
          </a:xfrm>
          <a:custGeom>
            <a:avLst/>
            <a:gdLst/>
            <a:ahLst/>
            <a:cxnLst/>
            <a:rect l="l" t="t" r="r" b="b"/>
            <a:pathLst>
              <a:path w="180711" h="160632">
                <a:moveTo>
                  <a:pt x="65602" y="161950"/>
                </a:moveTo>
                <a:cubicBezTo>
                  <a:pt x="59735" y="167817"/>
                  <a:pt x="50198" y="167817"/>
                  <a:pt x="44299" y="161950"/>
                </a:cubicBezTo>
                <a:lnTo>
                  <a:pt x="8816" y="126467"/>
                </a:lnTo>
                <a:cubicBezTo>
                  <a:pt x="2949" y="120600"/>
                  <a:pt x="2949" y="111062"/>
                  <a:pt x="8816" y="105164"/>
                </a:cubicBezTo>
                <a:lnTo>
                  <a:pt x="14149" y="99831"/>
                </a:lnTo>
                <a:lnTo>
                  <a:pt x="37209" y="122890"/>
                </a:lnTo>
                <a:cubicBezTo>
                  <a:pt x="40158" y="125839"/>
                  <a:pt x="44927" y="125839"/>
                  <a:pt x="47845" y="122890"/>
                </a:cubicBezTo>
                <a:cubicBezTo>
                  <a:pt x="50762" y="119941"/>
                  <a:pt x="50794" y="115172"/>
                  <a:pt x="47845" y="112254"/>
                </a:cubicBezTo>
                <a:lnTo>
                  <a:pt x="24785" y="89195"/>
                </a:lnTo>
                <a:lnTo>
                  <a:pt x="35421" y="78559"/>
                </a:lnTo>
                <a:lnTo>
                  <a:pt x="51390" y="94528"/>
                </a:lnTo>
                <a:cubicBezTo>
                  <a:pt x="54339" y="97478"/>
                  <a:pt x="59108" y="97478"/>
                  <a:pt x="62025" y="94528"/>
                </a:cubicBezTo>
                <a:cubicBezTo>
                  <a:pt x="64943" y="91579"/>
                  <a:pt x="64975" y="86811"/>
                  <a:pt x="62025" y="83893"/>
                </a:cubicBezTo>
                <a:lnTo>
                  <a:pt x="46056" y="67924"/>
                </a:lnTo>
                <a:lnTo>
                  <a:pt x="56692" y="57288"/>
                </a:lnTo>
                <a:lnTo>
                  <a:pt x="79751" y="80348"/>
                </a:lnTo>
                <a:cubicBezTo>
                  <a:pt x="82701" y="83297"/>
                  <a:pt x="87469" y="83297"/>
                  <a:pt x="90387" y="80348"/>
                </a:cubicBezTo>
                <a:cubicBezTo>
                  <a:pt x="93305" y="77398"/>
                  <a:pt x="93336" y="72630"/>
                  <a:pt x="90387" y="69712"/>
                </a:cubicBezTo>
                <a:lnTo>
                  <a:pt x="67328" y="46652"/>
                </a:lnTo>
                <a:lnTo>
                  <a:pt x="77963" y="36017"/>
                </a:lnTo>
                <a:lnTo>
                  <a:pt x="93932" y="51986"/>
                </a:lnTo>
                <a:cubicBezTo>
                  <a:pt x="96881" y="54935"/>
                  <a:pt x="101650" y="54935"/>
                  <a:pt x="104568" y="51986"/>
                </a:cubicBezTo>
                <a:cubicBezTo>
                  <a:pt x="107486" y="49037"/>
                  <a:pt x="107517" y="44268"/>
                  <a:pt x="104568" y="41350"/>
                </a:cubicBezTo>
                <a:lnTo>
                  <a:pt x="88599" y="25381"/>
                </a:lnTo>
                <a:lnTo>
                  <a:pt x="99234" y="14746"/>
                </a:lnTo>
                <a:lnTo>
                  <a:pt x="122294" y="37805"/>
                </a:lnTo>
                <a:cubicBezTo>
                  <a:pt x="125243" y="40754"/>
                  <a:pt x="130012" y="40754"/>
                  <a:pt x="132930" y="37805"/>
                </a:cubicBezTo>
                <a:cubicBezTo>
                  <a:pt x="135847" y="34856"/>
                  <a:pt x="135879" y="30087"/>
                  <a:pt x="132930" y="27169"/>
                </a:cubicBezTo>
                <a:lnTo>
                  <a:pt x="109870" y="4110"/>
                </a:lnTo>
                <a:lnTo>
                  <a:pt x="115204" y="-1224"/>
                </a:lnTo>
                <a:cubicBezTo>
                  <a:pt x="121070" y="-7090"/>
                  <a:pt x="130608" y="-7090"/>
                  <a:pt x="136506" y="-1224"/>
                </a:cubicBezTo>
                <a:lnTo>
                  <a:pt x="172084" y="34166"/>
                </a:lnTo>
                <a:cubicBezTo>
                  <a:pt x="177951" y="40033"/>
                  <a:pt x="177951" y="49570"/>
                  <a:pt x="172084" y="55468"/>
                </a:cubicBezTo>
                <a:lnTo>
                  <a:pt x="65602" y="161950"/>
                </a:lnTo>
                <a:close/>
              </a:path>
            </a:pathLst>
          </a:custGeom>
          <a:solidFill>
            <a:srgbClr val="FFFFFF"/>
          </a:solidFill>
          <a:ln/>
        </p:spPr>
        <p:txBody>
          <a:bodyPr/>
          <a:lstStyle/>
          <a:p>
            <a:endParaRPr lang="en-US"/>
          </a:p>
        </p:txBody>
      </p:sp>
      <p:sp>
        <p:nvSpPr>
          <p:cNvPr id="4" name="Text 2"/>
          <p:cNvSpPr/>
          <p:nvPr/>
        </p:nvSpPr>
        <p:spPr>
          <a:xfrm>
            <a:off x="803162" y="321265"/>
            <a:ext cx="2048063" cy="160632"/>
          </a:xfrm>
          <a:prstGeom prst="rect">
            <a:avLst/>
          </a:prstGeom>
          <a:noFill/>
          <a:ln/>
        </p:spPr>
        <p:txBody>
          <a:bodyPr wrap="square" lIns="0" tIns="0" rIns="0" bIns="0" rtlCol="0" anchor="ctr"/>
          <a:lstStyle/>
          <a:p>
            <a:pPr>
              <a:lnSpc>
                <a:spcPct val="120000"/>
              </a:lnSpc>
            </a:pPr>
            <a:r>
              <a:rPr lang="en-US" sz="885" b="1" kern="0" spc="44" dirty="0">
                <a:solidFill>
                  <a:srgbClr val="8D99AE"/>
                </a:solidFill>
                <a:latin typeface="Quattrocento Sans" pitchFamily="34" charset="0"/>
                <a:ea typeface="Quattrocento Sans" pitchFamily="34" charset="-122"/>
                <a:cs typeface="Quattrocento Sans" pitchFamily="34" charset="-120"/>
              </a:rPr>
              <a:t>Buffer Configuration</a:t>
            </a:r>
            <a:endParaRPr lang="en-US" sz="1600" dirty="0"/>
          </a:p>
        </p:txBody>
      </p:sp>
      <p:sp>
        <p:nvSpPr>
          <p:cNvPr id="5" name="Text 3"/>
          <p:cNvSpPr/>
          <p:nvPr/>
        </p:nvSpPr>
        <p:spPr>
          <a:xfrm>
            <a:off x="803162" y="481897"/>
            <a:ext cx="2136411" cy="321265"/>
          </a:xfrm>
          <a:prstGeom prst="rect">
            <a:avLst/>
          </a:prstGeom>
          <a:noFill/>
          <a:ln/>
        </p:spPr>
        <p:txBody>
          <a:bodyPr wrap="square" lIns="0" tIns="0" rIns="0" bIns="0" rtlCol="0" anchor="ctr"/>
          <a:lstStyle/>
          <a:p>
            <a:pPr>
              <a:lnSpc>
                <a:spcPct val="90000"/>
              </a:lnSpc>
            </a:pPr>
            <a:r>
              <a:rPr lang="en-US" sz="2277" b="1" dirty="0">
                <a:solidFill>
                  <a:srgbClr val="2D3142"/>
                </a:solidFill>
                <a:latin typeface="Liter" pitchFamily="34" charset="0"/>
                <a:ea typeface="Liter" pitchFamily="34" charset="-122"/>
                <a:cs typeface="Liter" pitchFamily="34" charset="-120"/>
              </a:rPr>
              <a:t>highWaterMark</a:t>
            </a:r>
            <a:endParaRPr lang="en-US" sz="1600" dirty="0"/>
          </a:p>
        </p:txBody>
      </p:sp>
      <p:sp>
        <p:nvSpPr>
          <p:cNvPr id="6" name="Shape 4"/>
          <p:cNvSpPr/>
          <p:nvPr/>
        </p:nvSpPr>
        <p:spPr>
          <a:xfrm>
            <a:off x="321265" y="899542"/>
            <a:ext cx="1028047" cy="32126"/>
          </a:xfrm>
          <a:custGeom>
            <a:avLst/>
            <a:gdLst/>
            <a:ahLst/>
            <a:cxnLst/>
            <a:rect l="l" t="t" r="r" b="b"/>
            <a:pathLst>
              <a:path w="1028047" h="32126">
                <a:moveTo>
                  <a:pt x="0" y="0"/>
                </a:moveTo>
                <a:lnTo>
                  <a:pt x="1028047" y="0"/>
                </a:lnTo>
                <a:lnTo>
                  <a:pt x="1028047" y="32126"/>
                </a:lnTo>
                <a:lnTo>
                  <a:pt x="0" y="32126"/>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25281" y="1096316"/>
            <a:ext cx="6256632" cy="2136411"/>
          </a:xfrm>
          <a:custGeom>
            <a:avLst/>
            <a:gdLst/>
            <a:ahLst/>
            <a:cxnLst/>
            <a:rect l="l" t="t" r="r" b="b"/>
            <a:pathLst>
              <a:path w="6256632" h="2136411">
                <a:moveTo>
                  <a:pt x="96374" y="0"/>
                </a:moveTo>
                <a:lnTo>
                  <a:pt x="6160259" y="0"/>
                </a:lnTo>
                <a:cubicBezTo>
                  <a:pt x="6213485" y="0"/>
                  <a:pt x="6256632" y="43148"/>
                  <a:pt x="6256632" y="96374"/>
                </a:cubicBezTo>
                <a:lnTo>
                  <a:pt x="6256632" y="2040038"/>
                </a:lnTo>
                <a:cubicBezTo>
                  <a:pt x="6256632" y="2093263"/>
                  <a:pt x="6213485" y="2136411"/>
                  <a:pt x="6160259" y="2136411"/>
                </a:cubicBezTo>
                <a:lnTo>
                  <a:pt x="96374" y="2136411"/>
                </a:lnTo>
                <a:cubicBezTo>
                  <a:pt x="43148" y="2136411"/>
                  <a:pt x="0" y="2093263"/>
                  <a:pt x="0" y="2040038"/>
                </a:cubicBezTo>
                <a:lnTo>
                  <a:pt x="0" y="96374"/>
                </a:lnTo>
                <a:cubicBezTo>
                  <a:pt x="0" y="43184"/>
                  <a:pt x="43184" y="0"/>
                  <a:pt x="96374" y="0"/>
                </a:cubicBezTo>
                <a:close/>
              </a:path>
            </a:pathLst>
          </a:custGeom>
          <a:solidFill>
            <a:srgbClr val="EAE7D6"/>
          </a:solidFill>
          <a:ln/>
        </p:spPr>
        <p:txBody>
          <a:bodyPr/>
          <a:lstStyle/>
          <a:p>
            <a:endParaRPr lang="en-US"/>
          </a:p>
        </p:txBody>
      </p:sp>
      <p:sp>
        <p:nvSpPr>
          <p:cNvPr id="8" name="Shape 6"/>
          <p:cNvSpPr/>
          <p:nvPr/>
        </p:nvSpPr>
        <p:spPr>
          <a:xfrm>
            <a:off x="514024" y="1293091"/>
            <a:ext cx="192759" cy="192759"/>
          </a:xfrm>
          <a:custGeom>
            <a:avLst/>
            <a:gdLst/>
            <a:ahLst/>
            <a:cxnLst/>
            <a:rect l="l" t="t" r="r" b="b"/>
            <a:pathLst>
              <a:path w="192759" h="192759">
                <a:moveTo>
                  <a:pt x="96379" y="192759"/>
                </a:moveTo>
                <a:cubicBezTo>
                  <a:pt x="149573" y="192759"/>
                  <a:pt x="192759" y="149573"/>
                  <a:pt x="192759" y="96379"/>
                </a:cubicBezTo>
                <a:cubicBezTo>
                  <a:pt x="192759" y="43186"/>
                  <a:pt x="149573" y="0"/>
                  <a:pt x="96379" y="0"/>
                </a:cubicBezTo>
                <a:cubicBezTo>
                  <a:pt x="43186" y="0"/>
                  <a:pt x="0" y="43186"/>
                  <a:pt x="0" y="96379"/>
                </a:cubicBezTo>
                <a:cubicBezTo>
                  <a:pt x="0" y="149573"/>
                  <a:pt x="43186" y="192759"/>
                  <a:pt x="96379" y="192759"/>
                </a:cubicBezTo>
                <a:close/>
                <a:moveTo>
                  <a:pt x="84332" y="60237"/>
                </a:moveTo>
                <a:cubicBezTo>
                  <a:pt x="84332" y="53588"/>
                  <a:pt x="89730" y="48190"/>
                  <a:pt x="96379" y="48190"/>
                </a:cubicBezTo>
                <a:cubicBezTo>
                  <a:pt x="103029" y="48190"/>
                  <a:pt x="108427" y="53588"/>
                  <a:pt x="108427" y="60237"/>
                </a:cubicBezTo>
                <a:cubicBezTo>
                  <a:pt x="108427" y="66886"/>
                  <a:pt x="103029" y="72285"/>
                  <a:pt x="96379" y="72285"/>
                </a:cubicBezTo>
                <a:cubicBezTo>
                  <a:pt x="89730" y="72285"/>
                  <a:pt x="84332" y="66886"/>
                  <a:pt x="84332" y="60237"/>
                </a:cubicBezTo>
                <a:close/>
                <a:moveTo>
                  <a:pt x="81320" y="84332"/>
                </a:moveTo>
                <a:lnTo>
                  <a:pt x="99391" y="84332"/>
                </a:lnTo>
                <a:cubicBezTo>
                  <a:pt x="104399" y="84332"/>
                  <a:pt x="108427" y="88360"/>
                  <a:pt x="108427" y="93368"/>
                </a:cubicBezTo>
                <a:lnTo>
                  <a:pt x="108427" y="126498"/>
                </a:lnTo>
                <a:lnTo>
                  <a:pt x="111439" y="126498"/>
                </a:lnTo>
                <a:cubicBezTo>
                  <a:pt x="116446" y="126498"/>
                  <a:pt x="120474" y="130526"/>
                  <a:pt x="120474" y="135534"/>
                </a:cubicBezTo>
                <a:cubicBezTo>
                  <a:pt x="120474" y="140541"/>
                  <a:pt x="116446" y="144569"/>
                  <a:pt x="111439" y="144569"/>
                </a:cubicBezTo>
                <a:lnTo>
                  <a:pt x="81320" y="144569"/>
                </a:lnTo>
                <a:cubicBezTo>
                  <a:pt x="76313" y="144569"/>
                  <a:pt x="72285" y="140541"/>
                  <a:pt x="72285" y="135534"/>
                </a:cubicBezTo>
                <a:cubicBezTo>
                  <a:pt x="72285" y="130526"/>
                  <a:pt x="76313" y="126498"/>
                  <a:pt x="81320" y="126498"/>
                </a:cubicBezTo>
                <a:lnTo>
                  <a:pt x="90356" y="126498"/>
                </a:lnTo>
                <a:lnTo>
                  <a:pt x="90356" y="102403"/>
                </a:lnTo>
                <a:lnTo>
                  <a:pt x="81320" y="102403"/>
                </a:lnTo>
                <a:cubicBezTo>
                  <a:pt x="76313" y="102403"/>
                  <a:pt x="72285" y="98375"/>
                  <a:pt x="72285" y="93368"/>
                </a:cubicBezTo>
                <a:cubicBezTo>
                  <a:pt x="72285" y="88360"/>
                  <a:pt x="76313" y="84332"/>
                  <a:pt x="81320" y="84332"/>
                </a:cubicBezTo>
                <a:close/>
              </a:path>
            </a:pathLst>
          </a:custGeom>
          <a:solidFill>
            <a:srgbClr val="E07A5F"/>
          </a:solidFill>
          <a:ln/>
        </p:spPr>
        <p:txBody>
          <a:bodyPr/>
          <a:lstStyle/>
          <a:p>
            <a:endParaRPr lang="en-US"/>
          </a:p>
        </p:txBody>
      </p:sp>
      <p:sp>
        <p:nvSpPr>
          <p:cNvPr id="9" name="Text 7"/>
          <p:cNvSpPr/>
          <p:nvPr/>
        </p:nvSpPr>
        <p:spPr>
          <a:xfrm>
            <a:off x="827257" y="1260964"/>
            <a:ext cx="2168538" cy="257012"/>
          </a:xfrm>
          <a:prstGeom prst="rect">
            <a:avLst/>
          </a:prstGeom>
          <a:noFill/>
          <a:ln/>
        </p:spPr>
        <p:txBody>
          <a:bodyPr wrap="square" lIns="0" tIns="0" rIns="0" bIns="0" rtlCol="0" anchor="ctr"/>
          <a:lstStyle/>
          <a:p>
            <a:pPr>
              <a:lnSpc>
                <a:spcPct val="110000"/>
              </a:lnSpc>
            </a:pPr>
            <a:r>
              <a:rPr lang="en-US" sz="1518" b="1" dirty="0">
                <a:solidFill>
                  <a:srgbClr val="2D3142"/>
                </a:solidFill>
                <a:latin typeface="Quattrocento Sans" pitchFamily="34" charset="0"/>
                <a:ea typeface="Quattrocento Sans" pitchFamily="34" charset="-122"/>
                <a:cs typeface="Quattrocento Sans" pitchFamily="34" charset="-120"/>
              </a:rPr>
              <a:t>What is highWaterMark?</a:t>
            </a:r>
            <a:endParaRPr lang="en-US" sz="1600" dirty="0"/>
          </a:p>
        </p:txBody>
      </p:sp>
      <p:sp>
        <p:nvSpPr>
          <p:cNvPr id="10" name="Text 8"/>
          <p:cNvSpPr/>
          <p:nvPr/>
        </p:nvSpPr>
        <p:spPr>
          <a:xfrm>
            <a:off x="489929" y="1646482"/>
            <a:ext cx="5991589" cy="425676"/>
          </a:xfrm>
          <a:prstGeom prst="rect">
            <a:avLst/>
          </a:prstGeom>
          <a:noFill/>
          <a:ln/>
        </p:spPr>
        <p:txBody>
          <a:bodyPr wrap="square" lIns="0" tIns="0" rIns="0" bIns="0" rtlCol="0" anchor="ctr"/>
          <a:lstStyle/>
          <a:p>
            <a:pPr>
              <a:lnSpc>
                <a:spcPct val="140000"/>
              </a:lnSpc>
            </a:pPr>
            <a:r>
              <a:rPr lang="en-US" sz="1012" dirty="0">
                <a:solidFill>
                  <a:srgbClr val="2D3142"/>
                </a:solidFill>
                <a:latin typeface="Quattrocento Sans" pitchFamily="34" charset="0"/>
                <a:ea typeface="Quattrocento Sans" pitchFamily="34" charset="-122"/>
                <a:cs typeface="Quattrocento Sans" pitchFamily="34" charset="-120"/>
              </a:rPr>
              <a:t>The </a:t>
            </a:r>
            <a:r>
              <a:rPr lang="en-US" sz="1012" b="1" dirty="0">
                <a:solidFill>
                  <a:srgbClr val="2D3142"/>
                </a:solidFill>
                <a:highlight>
                  <a:srgbClr val="E07A5F">
                    <a:alpha val="30000"/>
                  </a:srgbClr>
                </a:highlight>
                <a:latin typeface="MiSans" pitchFamily="34" charset="0"/>
                <a:ea typeface="MiSans" pitchFamily="34" charset="-122"/>
                <a:cs typeface="MiSans" pitchFamily="34" charset="-120"/>
              </a:rPr>
              <a:t>highWaterMark </a:t>
            </a:r>
            <a:r>
              <a:rPr lang="en-US" sz="1012" dirty="0">
                <a:solidFill>
                  <a:srgbClr val="2D3142"/>
                </a:solidFill>
                <a:latin typeface="Quattrocento Sans" pitchFamily="34" charset="0"/>
                <a:ea typeface="Quattrocento Sans" pitchFamily="34" charset="-122"/>
                <a:cs typeface="Quattrocento Sans" pitchFamily="34" charset="-120"/>
              </a:rPr>
              <a:t>option defines the </a:t>
            </a:r>
            <a:r>
              <a:rPr lang="en-US" sz="1012" b="1" dirty="0">
                <a:solidFill>
                  <a:schemeClr val="bg1"/>
                </a:solidFill>
                <a:highlight>
                  <a:srgbClr val="008000"/>
                </a:highlight>
                <a:latin typeface="Quattrocento Sans" pitchFamily="34" charset="0"/>
                <a:ea typeface="Quattrocento Sans" pitchFamily="34" charset="-122"/>
                <a:cs typeface="Quattrocento Sans" pitchFamily="34" charset="-120"/>
              </a:rPr>
              <a:t>maximum buffer size</a:t>
            </a:r>
            <a:r>
              <a:rPr lang="en-US" sz="1012" dirty="0">
                <a:solidFill>
                  <a:schemeClr val="bg1"/>
                </a:solidFill>
                <a:highlight>
                  <a:srgbClr val="008000"/>
                </a:highlight>
                <a:latin typeface="Quattrocento Sans" pitchFamily="34" charset="0"/>
                <a:ea typeface="Quattrocento Sans" pitchFamily="34" charset="-122"/>
                <a:cs typeface="Quattrocento Sans" pitchFamily="34" charset="-120"/>
              </a:rPr>
              <a:t> </a:t>
            </a:r>
            <a:r>
              <a:rPr lang="en-US" sz="1012" dirty="0">
                <a:solidFill>
                  <a:srgbClr val="2D3142"/>
                </a:solidFill>
                <a:latin typeface="Quattrocento Sans" pitchFamily="34" charset="0"/>
                <a:ea typeface="Quattrocento Sans" pitchFamily="34" charset="-122"/>
                <a:cs typeface="Quattrocento Sans" pitchFamily="34" charset="-120"/>
              </a:rPr>
              <a:t>(in bytes or objects) for a stream before it stops reading/writing and applies backpressure.</a:t>
            </a:r>
            <a:endParaRPr lang="en-US" sz="1600" dirty="0"/>
          </a:p>
        </p:txBody>
      </p:sp>
      <p:sp>
        <p:nvSpPr>
          <p:cNvPr id="11" name="Shape 9"/>
          <p:cNvSpPr/>
          <p:nvPr/>
        </p:nvSpPr>
        <p:spPr>
          <a:xfrm>
            <a:off x="489929" y="2200664"/>
            <a:ext cx="5927336" cy="867415"/>
          </a:xfrm>
          <a:custGeom>
            <a:avLst/>
            <a:gdLst/>
            <a:ahLst/>
            <a:cxnLst/>
            <a:rect l="l" t="t" r="r" b="b"/>
            <a:pathLst>
              <a:path w="5927336" h="867415">
                <a:moveTo>
                  <a:pt x="64249" y="0"/>
                </a:moveTo>
                <a:lnTo>
                  <a:pt x="5863087" y="0"/>
                </a:lnTo>
                <a:cubicBezTo>
                  <a:pt x="5898571" y="0"/>
                  <a:pt x="5927336" y="28765"/>
                  <a:pt x="5927336" y="64249"/>
                </a:cubicBezTo>
                <a:lnTo>
                  <a:pt x="5927336" y="803166"/>
                </a:lnTo>
                <a:cubicBezTo>
                  <a:pt x="5927336" y="838650"/>
                  <a:pt x="5898571" y="867415"/>
                  <a:pt x="5863087" y="867415"/>
                </a:cubicBezTo>
                <a:lnTo>
                  <a:pt x="64249" y="867415"/>
                </a:lnTo>
                <a:cubicBezTo>
                  <a:pt x="28765" y="867415"/>
                  <a:pt x="0" y="838650"/>
                  <a:pt x="0" y="803166"/>
                </a:cubicBezTo>
                <a:lnTo>
                  <a:pt x="0" y="64249"/>
                </a:lnTo>
                <a:cubicBezTo>
                  <a:pt x="0" y="28789"/>
                  <a:pt x="28789" y="0"/>
                  <a:pt x="64249" y="0"/>
                </a:cubicBezTo>
                <a:close/>
              </a:path>
            </a:pathLst>
          </a:custGeom>
          <a:solidFill>
            <a:srgbClr val="EAE7D6"/>
          </a:solidFill>
          <a:ln/>
        </p:spPr>
        <p:txBody>
          <a:bodyPr/>
          <a:lstStyle/>
          <a:p>
            <a:endParaRPr lang="en-US"/>
          </a:p>
        </p:txBody>
      </p:sp>
      <p:sp>
        <p:nvSpPr>
          <p:cNvPr id="12" name="Text 10"/>
          <p:cNvSpPr/>
          <p:nvPr/>
        </p:nvSpPr>
        <p:spPr>
          <a:xfrm>
            <a:off x="618435" y="2329170"/>
            <a:ext cx="5726545" cy="160632"/>
          </a:xfrm>
          <a:prstGeom prst="rect">
            <a:avLst/>
          </a:prstGeom>
          <a:noFill/>
          <a:ln/>
        </p:spPr>
        <p:txBody>
          <a:bodyPr wrap="square" lIns="0" tIns="0" rIns="0" bIns="0" rtlCol="0" anchor="ctr"/>
          <a:lstStyle/>
          <a:p>
            <a:pPr>
              <a:lnSpc>
                <a:spcPct val="120000"/>
              </a:lnSpc>
            </a:pPr>
            <a:r>
              <a:rPr lang="en-US" sz="885" dirty="0">
                <a:solidFill>
                  <a:srgbClr val="8D99AE"/>
                </a:solidFill>
                <a:latin typeface="Quattrocento Sans" pitchFamily="34" charset="0"/>
                <a:ea typeface="Quattrocento Sans" pitchFamily="34" charset="-122"/>
                <a:cs typeface="Quattrocento Sans" pitchFamily="34" charset="-120"/>
              </a:rPr>
              <a:t>Purpose</a:t>
            </a:r>
            <a:endParaRPr lang="en-US" sz="1600" dirty="0"/>
          </a:p>
        </p:txBody>
      </p:sp>
      <p:sp>
        <p:nvSpPr>
          <p:cNvPr id="13" name="Text 11"/>
          <p:cNvSpPr/>
          <p:nvPr/>
        </p:nvSpPr>
        <p:spPr>
          <a:xfrm>
            <a:off x="618435" y="2554055"/>
            <a:ext cx="5734577" cy="385518"/>
          </a:xfrm>
          <a:prstGeom prst="rect">
            <a:avLst/>
          </a:prstGeom>
          <a:noFill/>
          <a:ln/>
        </p:spPr>
        <p:txBody>
          <a:bodyPr wrap="square" lIns="0" tIns="0" rIns="0" bIns="0" rtlCol="0" anchor="ctr"/>
          <a:lstStyle/>
          <a:p>
            <a:pPr>
              <a:lnSpc>
                <a:spcPct val="120000"/>
              </a:lnSpc>
            </a:pPr>
            <a:r>
              <a:rPr lang="en-US" sz="1012" dirty="0">
                <a:solidFill>
                  <a:srgbClr val="2D3142"/>
                </a:solidFill>
                <a:latin typeface="Quattrocento Sans" pitchFamily="34" charset="0"/>
                <a:ea typeface="Quattrocento Sans" pitchFamily="34" charset="-122"/>
                <a:cs typeface="Quattrocento Sans" pitchFamily="34" charset="-120"/>
              </a:rPr>
              <a:t>Controls the threshold at which backpressure is triggered. It's the </a:t>
            </a:r>
            <a:r>
              <a:rPr lang="en-US" sz="1012" dirty="0">
                <a:solidFill>
                  <a:schemeClr val="bg1"/>
                </a:solidFill>
                <a:highlight>
                  <a:srgbClr val="008000"/>
                </a:highlight>
                <a:latin typeface="Quattrocento Sans" pitchFamily="34" charset="0"/>
                <a:ea typeface="Quattrocento Sans" pitchFamily="34" charset="-122"/>
                <a:cs typeface="Quattrocento Sans" pitchFamily="34" charset="-120"/>
              </a:rPr>
              <a:t>buffer's "high water mark" </a:t>
            </a:r>
            <a:r>
              <a:rPr lang="en-US" sz="1012" dirty="0">
                <a:solidFill>
                  <a:srgbClr val="2D3142"/>
                </a:solidFill>
                <a:latin typeface="Quattrocento Sans" pitchFamily="34" charset="0"/>
                <a:ea typeface="Quattrocento Sans" pitchFamily="34" charset="-122"/>
                <a:cs typeface="Quattrocento Sans" pitchFamily="34" charset="-120"/>
              </a:rPr>
              <a:t>- when reached, the stream pauses to prevent memory overflow.</a:t>
            </a:r>
            <a:endParaRPr lang="en-US" sz="1600" dirty="0"/>
          </a:p>
        </p:txBody>
      </p:sp>
      <p:sp>
        <p:nvSpPr>
          <p:cNvPr id="14" name="Shape 12"/>
          <p:cNvSpPr/>
          <p:nvPr/>
        </p:nvSpPr>
        <p:spPr>
          <a:xfrm>
            <a:off x="325281" y="3369265"/>
            <a:ext cx="6256632" cy="2345233"/>
          </a:xfrm>
          <a:custGeom>
            <a:avLst/>
            <a:gdLst/>
            <a:ahLst/>
            <a:cxnLst/>
            <a:rect l="l" t="t" r="r" b="b"/>
            <a:pathLst>
              <a:path w="6256632" h="2345233">
                <a:moveTo>
                  <a:pt x="96389" y="0"/>
                </a:moveTo>
                <a:lnTo>
                  <a:pt x="6160243" y="0"/>
                </a:lnTo>
                <a:cubicBezTo>
                  <a:pt x="6213478" y="0"/>
                  <a:pt x="6256632" y="43155"/>
                  <a:pt x="6256632" y="96389"/>
                </a:cubicBezTo>
                <a:lnTo>
                  <a:pt x="6256632" y="2248844"/>
                </a:lnTo>
                <a:cubicBezTo>
                  <a:pt x="6256632" y="2302078"/>
                  <a:pt x="6213478" y="2345233"/>
                  <a:pt x="6160243" y="2345233"/>
                </a:cubicBezTo>
                <a:lnTo>
                  <a:pt x="96389" y="2345233"/>
                </a:lnTo>
                <a:cubicBezTo>
                  <a:pt x="43191" y="2345233"/>
                  <a:pt x="0" y="2302043"/>
                  <a:pt x="0" y="2248844"/>
                </a:cubicBezTo>
                <a:lnTo>
                  <a:pt x="0" y="96389"/>
                </a:lnTo>
                <a:cubicBezTo>
                  <a:pt x="0" y="43155"/>
                  <a:pt x="43155" y="0"/>
                  <a:pt x="96389" y="0"/>
                </a:cubicBezTo>
                <a:close/>
              </a:path>
            </a:pathLst>
          </a:custGeom>
          <a:solidFill>
            <a:srgbClr val="EAE7D6"/>
          </a:solidFill>
          <a:ln/>
        </p:spPr>
        <p:txBody>
          <a:bodyPr/>
          <a:lstStyle/>
          <a:p>
            <a:endParaRPr lang="en-US"/>
          </a:p>
        </p:txBody>
      </p:sp>
      <p:sp>
        <p:nvSpPr>
          <p:cNvPr id="15" name="Shape 13"/>
          <p:cNvSpPr/>
          <p:nvPr/>
        </p:nvSpPr>
        <p:spPr>
          <a:xfrm>
            <a:off x="514024" y="3566040"/>
            <a:ext cx="192759" cy="192759"/>
          </a:xfrm>
          <a:custGeom>
            <a:avLst/>
            <a:gdLst/>
            <a:ahLst/>
            <a:cxnLst/>
            <a:rect l="l" t="t" r="r" b="b"/>
            <a:pathLst>
              <a:path w="192759" h="192759">
                <a:moveTo>
                  <a:pt x="12047" y="24095"/>
                </a:moveTo>
                <a:cubicBezTo>
                  <a:pt x="5384" y="24095"/>
                  <a:pt x="0" y="29479"/>
                  <a:pt x="0" y="36142"/>
                </a:cubicBezTo>
                <a:cubicBezTo>
                  <a:pt x="0" y="42806"/>
                  <a:pt x="5384" y="48190"/>
                  <a:pt x="12047" y="48190"/>
                </a:cubicBezTo>
                <a:lnTo>
                  <a:pt x="44688" y="48190"/>
                </a:lnTo>
                <a:cubicBezTo>
                  <a:pt x="49319" y="58844"/>
                  <a:pt x="59936" y="66261"/>
                  <a:pt x="72285" y="66261"/>
                </a:cubicBezTo>
                <a:cubicBezTo>
                  <a:pt x="84633" y="66261"/>
                  <a:pt x="95250" y="58844"/>
                  <a:pt x="99881" y="48190"/>
                </a:cubicBezTo>
                <a:lnTo>
                  <a:pt x="180711" y="48190"/>
                </a:lnTo>
                <a:cubicBezTo>
                  <a:pt x="187375" y="48190"/>
                  <a:pt x="192759" y="42806"/>
                  <a:pt x="192759" y="36142"/>
                </a:cubicBezTo>
                <a:cubicBezTo>
                  <a:pt x="192759" y="29479"/>
                  <a:pt x="187375" y="24095"/>
                  <a:pt x="180711" y="24095"/>
                </a:cubicBezTo>
                <a:lnTo>
                  <a:pt x="99881" y="24095"/>
                </a:lnTo>
                <a:cubicBezTo>
                  <a:pt x="95250" y="13440"/>
                  <a:pt x="84633" y="6024"/>
                  <a:pt x="72285" y="6024"/>
                </a:cubicBezTo>
                <a:cubicBezTo>
                  <a:pt x="59936" y="6024"/>
                  <a:pt x="49319" y="13440"/>
                  <a:pt x="44688" y="24095"/>
                </a:cubicBezTo>
                <a:lnTo>
                  <a:pt x="12047" y="24095"/>
                </a:lnTo>
                <a:close/>
                <a:moveTo>
                  <a:pt x="12047" y="84332"/>
                </a:moveTo>
                <a:cubicBezTo>
                  <a:pt x="5384" y="84332"/>
                  <a:pt x="0" y="89716"/>
                  <a:pt x="0" y="96379"/>
                </a:cubicBezTo>
                <a:cubicBezTo>
                  <a:pt x="0" y="103043"/>
                  <a:pt x="5384" y="108427"/>
                  <a:pt x="12047" y="108427"/>
                </a:cubicBezTo>
                <a:lnTo>
                  <a:pt x="104926" y="108427"/>
                </a:lnTo>
                <a:cubicBezTo>
                  <a:pt x="109556" y="119081"/>
                  <a:pt x="120173" y="126498"/>
                  <a:pt x="132522" y="126498"/>
                </a:cubicBezTo>
                <a:cubicBezTo>
                  <a:pt x="144870" y="126498"/>
                  <a:pt x="155487" y="119081"/>
                  <a:pt x="160118" y="108427"/>
                </a:cubicBezTo>
                <a:lnTo>
                  <a:pt x="180711" y="108427"/>
                </a:lnTo>
                <a:cubicBezTo>
                  <a:pt x="187375" y="108427"/>
                  <a:pt x="192759" y="103043"/>
                  <a:pt x="192759" y="96379"/>
                </a:cubicBezTo>
                <a:cubicBezTo>
                  <a:pt x="192759" y="89716"/>
                  <a:pt x="187375" y="84332"/>
                  <a:pt x="180711" y="84332"/>
                </a:cubicBezTo>
                <a:lnTo>
                  <a:pt x="160118" y="84332"/>
                </a:lnTo>
                <a:cubicBezTo>
                  <a:pt x="155487" y="73678"/>
                  <a:pt x="144870" y="66261"/>
                  <a:pt x="132522" y="66261"/>
                </a:cubicBezTo>
                <a:cubicBezTo>
                  <a:pt x="120173" y="66261"/>
                  <a:pt x="109556" y="73678"/>
                  <a:pt x="104926" y="84332"/>
                </a:cubicBezTo>
                <a:lnTo>
                  <a:pt x="12047" y="84332"/>
                </a:lnTo>
                <a:close/>
                <a:moveTo>
                  <a:pt x="12047" y="144569"/>
                </a:moveTo>
                <a:cubicBezTo>
                  <a:pt x="5384" y="144569"/>
                  <a:pt x="0" y="149953"/>
                  <a:pt x="0" y="156617"/>
                </a:cubicBezTo>
                <a:cubicBezTo>
                  <a:pt x="0" y="163280"/>
                  <a:pt x="5384" y="168664"/>
                  <a:pt x="12047" y="168664"/>
                </a:cubicBezTo>
                <a:lnTo>
                  <a:pt x="32641" y="168664"/>
                </a:lnTo>
                <a:cubicBezTo>
                  <a:pt x="37272" y="179318"/>
                  <a:pt x="47889" y="186735"/>
                  <a:pt x="60237" y="186735"/>
                </a:cubicBezTo>
                <a:cubicBezTo>
                  <a:pt x="72586" y="186735"/>
                  <a:pt x="83203" y="179318"/>
                  <a:pt x="87833" y="168664"/>
                </a:cubicBezTo>
                <a:lnTo>
                  <a:pt x="180711" y="168664"/>
                </a:lnTo>
                <a:cubicBezTo>
                  <a:pt x="187375" y="168664"/>
                  <a:pt x="192759" y="163280"/>
                  <a:pt x="192759" y="156617"/>
                </a:cubicBezTo>
                <a:cubicBezTo>
                  <a:pt x="192759" y="149953"/>
                  <a:pt x="187375" y="144569"/>
                  <a:pt x="180711" y="144569"/>
                </a:cubicBezTo>
                <a:lnTo>
                  <a:pt x="87833" y="144569"/>
                </a:lnTo>
                <a:cubicBezTo>
                  <a:pt x="83203" y="133915"/>
                  <a:pt x="72586" y="126498"/>
                  <a:pt x="60237" y="126498"/>
                </a:cubicBezTo>
                <a:cubicBezTo>
                  <a:pt x="47889" y="126498"/>
                  <a:pt x="37272" y="133915"/>
                  <a:pt x="32641" y="144569"/>
                </a:cubicBezTo>
                <a:lnTo>
                  <a:pt x="12047" y="144569"/>
                </a:lnTo>
                <a:close/>
              </a:path>
            </a:pathLst>
          </a:custGeom>
          <a:solidFill>
            <a:srgbClr val="8D99AE"/>
          </a:solidFill>
          <a:ln/>
        </p:spPr>
        <p:txBody>
          <a:bodyPr/>
          <a:lstStyle/>
          <a:p>
            <a:endParaRPr lang="en-US"/>
          </a:p>
        </p:txBody>
      </p:sp>
      <p:sp>
        <p:nvSpPr>
          <p:cNvPr id="16" name="Text 14"/>
          <p:cNvSpPr/>
          <p:nvPr/>
        </p:nvSpPr>
        <p:spPr>
          <a:xfrm>
            <a:off x="827257" y="3533913"/>
            <a:ext cx="1301123" cy="257012"/>
          </a:xfrm>
          <a:prstGeom prst="rect">
            <a:avLst/>
          </a:prstGeom>
          <a:noFill/>
          <a:ln/>
        </p:spPr>
        <p:txBody>
          <a:bodyPr wrap="square" lIns="0" tIns="0" rIns="0" bIns="0" rtlCol="0" anchor="ctr"/>
          <a:lstStyle/>
          <a:p>
            <a:pPr>
              <a:lnSpc>
                <a:spcPct val="110000"/>
              </a:lnSpc>
            </a:pPr>
            <a:r>
              <a:rPr lang="en-US" sz="1518" b="1" dirty="0">
                <a:solidFill>
                  <a:srgbClr val="2D3142"/>
                </a:solidFill>
                <a:latin typeface="Quattrocento Sans" pitchFamily="34" charset="0"/>
                <a:ea typeface="Quattrocento Sans" pitchFamily="34" charset="-122"/>
                <a:cs typeface="Quattrocento Sans" pitchFamily="34" charset="-120"/>
              </a:rPr>
              <a:t>Default Values</a:t>
            </a:r>
            <a:endParaRPr lang="en-US" sz="1600" dirty="0"/>
          </a:p>
        </p:txBody>
      </p:sp>
      <p:sp>
        <p:nvSpPr>
          <p:cNvPr id="17" name="Shape 15"/>
          <p:cNvSpPr/>
          <p:nvPr/>
        </p:nvSpPr>
        <p:spPr>
          <a:xfrm>
            <a:off x="505992" y="3919431"/>
            <a:ext cx="5911273" cy="738909"/>
          </a:xfrm>
          <a:custGeom>
            <a:avLst/>
            <a:gdLst/>
            <a:ahLst/>
            <a:cxnLst/>
            <a:rect l="l" t="t" r="r" b="b"/>
            <a:pathLst>
              <a:path w="5911273" h="738909">
                <a:moveTo>
                  <a:pt x="32126" y="0"/>
                </a:moveTo>
                <a:lnTo>
                  <a:pt x="5847017" y="0"/>
                </a:lnTo>
                <a:cubicBezTo>
                  <a:pt x="5882505" y="0"/>
                  <a:pt x="5911273" y="28768"/>
                  <a:pt x="5911273" y="64256"/>
                </a:cubicBezTo>
                <a:lnTo>
                  <a:pt x="5911273" y="674654"/>
                </a:lnTo>
                <a:cubicBezTo>
                  <a:pt x="5911273" y="710141"/>
                  <a:pt x="5882505" y="738909"/>
                  <a:pt x="5847017" y="738909"/>
                </a:cubicBezTo>
                <a:lnTo>
                  <a:pt x="32126" y="738909"/>
                </a:lnTo>
                <a:cubicBezTo>
                  <a:pt x="14384" y="738909"/>
                  <a:pt x="0" y="724526"/>
                  <a:pt x="0" y="706783"/>
                </a:cubicBezTo>
                <a:lnTo>
                  <a:pt x="0" y="32126"/>
                </a:lnTo>
                <a:cubicBezTo>
                  <a:pt x="0" y="14384"/>
                  <a:pt x="14384" y="0"/>
                  <a:pt x="32126" y="0"/>
                </a:cubicBezTo>
                <a:close/>
              </a:path>
            </a:pathLst>
          </a:custGeom>
          <a:solidFill>
            <a:srgbClr val="EAE7D6"/>
          </a:solidFill>
          <a:ln/>
        </p:spPr>
        <p:txBody>
          <a:bodyPr/>
          <a:lstStyle/>
          <a:p>
            <a:endParaRPr lang="en-US"/>
          </a:p>
        </p:txBody>
      </p:sp>
      <p:sp>
        <p:nvSpPr>
          <p:cNvPr id="18" name="Shape 16"/>
          <p:cNvSpPr/>
          <p:nvPr/>
        </p:nvSpPr>
        <p:spPr>
          <a:xfrm>
            <a:off x="505992" y="3919431"/>
            <a:ext cx="32126" cy="738909"/>
          </a:xfrm>
          <a:custGeom>
            <a:avLst/>
            <a:gdLst/>
            <a:ahLst/>
            <a:cxnLst/>
            <a:rect l="l" t="t" r="r" b="b"/>
            <a:pathLst>
              <a:path w="32126" h="738909">
                <a:moveTo>
                  <a:pt x="32126" y="0"/>
                </a:moveTo>
                <a:lnTo>
                  <a:pt x="32126" y="0"/>
                </a:lnTo>
                <a:lnTo>
                  <a:pt x="32126" y="738909"/>
                </a:lnTo>
                <a:lnTo>
                  <a:pt x="32126" y="738909"/>
                </a:lnTo>
                <a:cubicBezTo>
                  <a:pt x="14384" y="738909"/>
                  <a:pt x="0" y="724526"/>
                  <a:pt x="0" y="706783"/>
                </a:cubicBezTo>
                <a:lnTo>
                  <a:pt x="0" y="32126"/>
                </a:lnTo>
                <a:cubicBezTo>
                  <a:pt x="0" y="14384"/>
                  <a:pt x="14384" y="0"/>
                  <a:pt x="32126" y="0"/>
                </a:cubicBezTo>
                <a:close/>
              </a:path>
            </a:pathLst>
          </a:custGeom>
          <a:solidFill>
            <a:srgbClr val="E07A5F"/>
          </a:solidFill>
          <a:ln/>
        </p:spPr>
        <p:txBody>
          <a:bodyPr/>
          <a:lstStyle/>
          <a:p>
            <a:endParaRPr lang="en-US"/>
          </a:p>
        </p:txBody>
      </p:sp>
      <p:sp>
        <p:nvSpPr>
          <p:cNvPr id="19" name="Text 17"/>
          <p:cNvSpPr/>
          <p:nvPr/>
        </p:nvSpPr>
        <p:spPr>
          <a:xfrm>
            <a:off x="650561" y="4047937"/>
            <a:ext cx="859383" cy="224885"/>
          </a:xfrm>
          <a:prstGeom prst="rect">
            <a:avLst/>
          </a:prstGeom>
          <a:noFill/>
          <a:ln/>
        </p:spPr>
        <p:txBody>
          <a:bodyPr wrap="square" lIns="0" tIns="0" rIns="0" bIns="0" rtlCol="0" anchor="ctr"/>
          <a:lstStyle/>
          <a:p>
            <a:pPr>
              <a:lnSpc>
                <a:spcPct val="130000"/>
              </a:lnSpc>
            </a:pPr>
            <a:r>
              <a:rPr lang="en-US" sz="1138" b="1" dirty="0">
                <a:solidFill>
                  <a:srgbClr val="2D3142"/>
                </a:solidFill>
                <a:latin typeface="Quattrocento Sans" pitchFamily="34" charset="0"/>
                <a:ea typeface="Quattrocento Sans" pitchFamily="34" charset="-122"/>
                <a:cs typeface="Quattrocento Sans" pitchFamily="34" charset="-120"/>
              </a:rPr>
              <a:t>Binary Mode</a:t>
            </a:r>
            <a:endParaRPr lang="en-US" sz="1600" dirty="0"/>
          </a:p>
        </p:txBody>
      </p:sp>
      <p:sp>
        <p:nvSpPr>
          <p:cNvPr id="20" name="Shape 18"/>
          <p:cNvSpPr/>
          <p:nvPr/>
        </p:nvSpPr>
        <p:spPr>
          <a:xfrm>
            <a:off x="5840933" y="4047937"/>
            <a:ext cx="449771" cy="224885"/>
          </a:xfrm>
          <a:custGeom>
            <a:avLst/>
            <a:gdLst/>
            <a:ahLst/>
            <a:cxnLst/>
            <a:rect l="l" t="t" r="r" b="b"/>
            <a:pathLst>
              <a:path w="449771" h="224885">
                <a:moveTo>
                  <a:pt x="112443" y="0"/>
                </a:moveTo>
                <a:lnTo>
                  <a:pt x="337328" y="0"/>
                </a:lnTo>
                <a:cubicBezTo>
                  <a:pt x="399387" y="0"/>
                  <a:pt x="449771" y="50384"/>
                  <a:pt x="449771" y="112443"/>
                </a:cubicBezTo>
                <a:lnTo>
                  <a:pt x="449771" y="112443"/>
                </a:lnTo>
                <a:cubicBezTo>
                  <a:pt x="449771" y="174501"/>
                  <a:pt x="399387" y="224885"/>
                  <a:pt x="337328" y="224885"/>
                </a:cubicBezTo>
                <a:lnTo>
                  <a:pt x="112443" y="224885"/>
                </a:lnTo>
                <a:cubicBezTo>
                  <a:pt x="50384" y="224885"/>
                  <a:pt x="0" y="174501"/>
                  <a:pt x="0" y="112443"/>
                </a:cubicBezTo>
                <a:lnTo>
                  <a:pt x="0" y="112443"/>
                </a:lnTo>
                <a:cubicBezTo>
                  <a:pt x="0" y="50384"/>
                  <a:pt x="50384" y="0"/>
                  <a:pt x="112443" y="0"/>
                </a:cubicBezTo>
                <a:close/>
              </a:path>
            </a:pathLst>
          </a:custGeom>
          <a:solidFill>
            <a:srgbClr val="E07A5F">
              <a:alpha val="30196"/>
            </a:srgbClr>
          </a:solidFill>
          <a:ln/>
        </p:spPr>
        <p:txBody>
          <a:bodyPr/>
          <a:lstStyle/>
          <a:p>
            <a:endParaRPr lang="en-US"/>
          </a:p>
        </p:txBody>
      </p:sp>
      <p:sp>
        <p:nvSpPr>
          <p:cNvPr id="21" name="Text 19"/>
          <p:cNvSpPr/>
          <p:nvPr/>
        </p:nvSpPr>
        <p:spPr>
          <a:xfrm>
            <a:off x="5840933" y="4047937"/>
            <a:ext cx="505992" cy="224885"/>
          </a:xfrm>
          <a:prstGeom prst="rect">
            <a:avLst/>
          </a:prstGeom>
          <a:noFill/>
          <a:ln/>
        </p:spPr>
        <p:txBody>
          <a:bodyPr wrap="square" lIns="96379" tIns="32126" rIns="96379" bIns="32126" rtlCol="0" anchor="ctr"/>
          <a:lstStyle/>
          <a:p>
            <a:pPr>
              <a:lnSpc>
                <a:spcPct val="120000"/>
              </a:lnSpc>
            </a:pPr>
            <a:r>
              <a:rPr lang="en-US" sz="885" b="1" dirty="0">
                <a:solidFill>
                  <a:srgbClr val="E07A5F"/>
                </a:solidFill>
                <a:latin typeface="Quattrocento Sans" pitchFamily="34" charset="0"/>
                <a:ea typeface="Quattrocento Sans" pitchFamily="34" charset="-122"/>
                <a:cs typeface="Quattrocento Sans" pitchFamily="34" charset="-120"/>
              </a:rPr>
              <a:t>16 KB</a:t>
            </a:r>
            <a:endParaRPr lang="en-US" sz="1600" dirty="0"/>
          </a:p>
        </p:txBody>
      </p:sp>
      <p:sp>
        <p:nvSpPr>
          <p:cNvPr id="22" name="Text 20"/>
          <p:cNvSpPr/>
          <p:nvPr/>
        </p:nvSpPr>
        <p:spPr>
          <a:xfrm>
            <a:off x="650561" y="4337075"/>
            <a:ext cx="5702451" cy="192759"/>
          </a:xfrm>
          <a:prstGeom prst="rect">
            <a:avLst/>
          </a:prstGeom>
          <a:noFill/>
          <a:ln/>
        </p:spPr>
        <p:txBody>
          <a:bodyPr wrap="square" lIns="0" tIns="0" rIns="0" bIns="0" rtlCol="0" anchor="ctr"/>
          <a:lstStyle/>
          <a:p>
            <a:pPr>
              <a:lnSpc>
                <a:spcPct val="120000"/>
              </a:lnSpc>
            </a:pPr>
            <a:r>
              <a:rPr lang="en-US" sz="1012" dirty="0">
                <a:solidFill>
                  <a:srgbClr val="8D99AE"/>
                </a:solidFill>
                <a:latin typeface="Quattrocento Sans" pitchFamily="34" charset="0"/>
                <a:ea typeface="Quattrocento Sans" pitchFamily="34" charset="-122"/>
                <a:cs typeface="Quattrocento Sans" pitchFamily="34" charset="-120"/>
              </a:rPr>
              <a:t>For streams handling Buffer data (default)</a:t>
            </a:r>
            <a:endParaRPr lang="en-US" sz="1600" dirty="0"/>
          </a:p>
        </p:txBody>
      </p:sp>
      <p:sp>
        <p:nvSpPr>
          <p:cNvPr id="23" name="Shape 21"/>
          <p:cNvSpPr/>
          <p:nvPr/>
        </p:nvSpPr>
        <p:spPr>
          <a:xfrm>
            <a:off x="505992" y="4754719"/>
            <a:ext cx="5911273" cy="738909"/>
          </a:xfrm>
          <a:custGeom>
            <a:avLst/>
            <a:gdLst/>
            <a:ahLst/>
            <a:cxnLst/>
            <a:rect l="l" t="t" r="r" b="b"/>
            <a:pathLst>
              <a:path w="5911273" h="738909">
                <a:moveTo>
                  <a:pt x="32126" y="0"/>
                </a:moveTo>
                <a:lnTo>
                  <a:pt x="5847017" y="0"/>
                </a:lnTo>
                <a:cubicBezTo>
                  <a:pt x="5882505" y="0"/>
                  <a:pt x="5911273" y="28768"/>
                  <a:pt x="5911273" y="64256"/>
                </a:cubicBezTo>
                <a:lnTo>
                  <a:pt x="5911273" y="674654"/>
                </a:lnTo>
                <a:cubicBezTo>
                  <a:pt x="5911273" y="710141"/>
                  <a:pt x="5882505" y="738909"/>
                  <a:pt x="5847017" y="738909"/>
                </a:cubicBezTo>
                <a:lnTo>
                  <a:pt x="32126" y="738909"/>
                </a:lnTo>
                <a:cubicBezTo>
                  <a:pt x="14384" y="738909"/>
                  <a:pt x="0" y="724526"/>
                  <a:pt x="0" y="706783"/>
                </a:cubicBezTo>
                <a:lnTo>
                  <a:pt x="0" y="32126"/>
                </a:lnTo>
                <a:cubicBezTo>
                  <a:pt x="0" y="14384"/>
                  <a:pt x="14384" y="0"/>
                  <a:pt x="32126" y="0"/>
                </a:cubicBezTo>
                <a:close/>
              </a:path>
            </a:pathLst>
          </a:custGeom>
          <a:solidFill>
            <a:srgbClr val="EAE7D6"/>
          </a:solidFill>
          <a:ln/>
        </p:spPr>
        <p:txBody>
          <a:bodyPr/>
          <a:lstStyle/>
          <a:p>
            <a:endParaRPr lang="en-US"/>
          </a:p>
        </p:txBody>
      </p:sp>
      <p:sp>
        <p:nvSpPr>
          <p:cNvPr id="24" name="Shape 22"/>
          <p:cNvSpPr/>
          <p:nvPr/>
        </p:nvSpPr>
        <p:spPr>
          <a:xfrm>
            <a:off x="505992" y="4754719"/>
            <a:ext cx="32126" cy="738909"/>
          </a:xfrm>
          <a:custGeom>
            <a:avLst/>
            <a:gdLst/>
            <a:ahLst/>
            <a:cxnLst/>
            <a:rect l="l" t="t" r="r" b="b"/>
            <a:pathLst>
              <a:path w="32126" h="738909">
                <a:moveTo>
                  <a:pt x="32126" y="0"/>
                </a:moveTo>
                <a:lnTo>
                  <a:pt x="32126" y="0"/>
                </a:lnTo>
                <a:lnTo>
                  <a:pt x="32126" y="738909"/>
                </a:lnTo>
                <a:lnTo>
                  <a:pt x="32126" y="738909"/>
                </a:lnTo>
                <a:cubicBezTo>
                  <a:pt x="14384" y="738909"/>
                  <a:pt x="0" y="724526"/>
                  <a:pt x="0" y="706783"/>
                </a:cubicBezTo>
                <a:lnTo>
                  <a:pt x="0" y="32126"/>
                </a:lnTo>
                <a:cubicBezTo>
                  <a:pt x="0" y="14384"/>
                  <a:pt x="14384" y="0"/>
                  <a:pt x="32126" y="0"/>
                </a:cubicBezTo>
                <a:close/>
              </a:path>
            </a:pathLst>
          </a:custGeom>
          <a:solidFill>
            <a:srgbClr val="8D99AE"/>
          </a:solidFill>
          <a:ln/>
        </p:spPr>
        <p:txBody>
          <a:bodyPr/>
          <a:lstStyle/>
          <a:p>
            <a:endParaRPr lang="en-US"/>
          </a:p>
        </p:txBody>
      </p:sp>
      <p:sp>
        <p:nvSpPr>
          <p:cNvPr id="25" name="Text 23"/>
          <p:cNvSpPr/>
          <p:nvPr/>
        </p:nvSpPr>
        <p:spPr>
          <a:xfrm>
            <a:off x="650561" y="4883225"/>
            <a:ext cx="883478" cy="224885"/>
          </a:xfrm>
          <a:prstGeom prst="rect">
            <a:avLst/>
          </a:prstGeom>
          <a:noFill/>
          <a:ln/>
        </p:spPr>
        <p:txBody>
          <a:bodyPr wrap="square" lIns="0" tIns="0" rIns="0" bIns="0" rtlCol="0" anchor="ctr"/>
          <a:lstStyle/>
          <a:p>
            <a:pPr>
              <a:lnSpc>
                <a:spcPct val="130000"/>
              </a:lnSpc>
            </a:pPr>
            <a:r>
              <a:rPr lang="en-US" sz="1138" b="1" dirty="0">
                <a:solidFill>
                  <a:srgbClr val="2D3142"/>
                </a:solidFill>
                <a:latin typeface="Quattrocento Sans" pitchFamily="34" charset="0"/>
                <a:ea typeface="Quattrocento Sans" pitchFamily="34" charset="-122"/>
                <a:cs typeface="Quattrocento Sans" pitchFamily="34" charset="-120"/>
              </a:rPr>
              <a:t>Object Mode</a:t>
            </a:r>
            <a:endParaRPr lang="en-US" sz="1600" dirty="0"/>
          </a:p>
        </p:txBody>
      </p:sp>
      <p:sp>
        <p:nvSpPr>
          <p:cNvPr id="26" name="Shape 24"/>
          <p:cNvSpPr/>
          <p:nvPr/>
        </p:nvSpPr>
        <p:spPr>
          <a:xfrm>
            <a:off x="5596785" y="4883225"/>
            <a:ext cx="690719" cy="224885"/>
          </a:xfrm>
          <a:custGeom>
            <a:avLst/>
            <a:gdLst/>
            <a:ahLst/>
            <a:cxnLst/>
            <a:rect l="l" t="t" r="r" b="b"/>
            <a:pathLst>
              <a:path w="690719" h="224885">
                <a:moveTo>
                  <a:pt x="112443" y="0"/>
                </a:moveTo>
                <a:lnTo>
                  <a:pt x="578277" y="0"/>
                </a:lnTo>
                <a:cubicBezTo>
                  <a:pt x="640335" y="0"/>
                  <a:pt x="690719" y="50384"/>
                  <a:pt x="690719" y="112443"/>
                </a:cubicBezTo>
                <a:lnTo>
                  <a:pt x="690719" y="112443"/>
                </a:lnTo>
                <a:cubicBezTo>
                  <a:pt x="690719" y="174501"/>
                  <a:pt x="640335" y="224885"/>
                  <a:pt x="578277" y="224885"/>
                </a:cubicBezTo>
                <a:lnTo>
                  <a:pt x="112443" y="224885"/>
                </a:lnTo>
                <a:cubicBezTo>
                  <a:pt x="50384" y="224885"/>
                  <a:pt x="0" y="174501"/>
                  <a:pt x="0" y="112443"/>
                </a:cubicBezTo>
                <a:lnTo>
                  <a:pt x="0" y="112443"/>
                </a:lnTo>
                <a:cubicBezTo>
                  <a:pt x="0" y="50384"/>
                  <a:pt x="50384" y="0"/>
                  <a:pt x="112443" y="0"/>
                </a:cubicBezTo>
                <a:close/>
              </a:path>
            </a:pathLst>
          </a:custGeom>
          <a:solidFill>
            <a:srgbClr val="8D99AE">
              <a:alpha val="30196"/>
            </a:srgbClr>
          </a:solidFill>
          <a:ln/>
        </p:spPr>
        <p:txBody>
          <a:bodyPr/>
          <a:lstStyle/>
          <a:p>
            <a:endParaRPr lang="en-US"/>
          </a:p>
        </p:txBody>
      </p:sp>
      <p:sp>
        <p:nvSpPr>
          <p:cNvPr id="27" name="Text 25"/>
          <p:cNvSpPr/>
          <p:nvPr/>
        </p:nvSpPr>
        <p:spPr>
          <a:xfrm>
            <a:off x="5596785" y="4883225"/>
            <a:ext cx="746941" cy="224885"/>
          </a:xfrm>
          <a:prstGeom prst="rect">
            <a:avLst/>
          </a:prstGeom>
          <a:noFill/>
          <a:ln/>
        </p:spPr>
        <p:txBody>
          <a:bodyPr wrap="square" lIns="96379" tIns="32126" rIns="96379" bIns="32126" rtlCol="0" anchor="ctr"/>
          <a:lstStyle/>
          <a:p>
            <a:pPr>
              <a:lnSpc>
                <a:spcPct val="120000"/>
              </a:lnSpc>
            </a:pPr>
            <a:r>
              <a:rPr lang="en-US" sz="885" b="1" dirty="0">
                <a:solidFill>
                  <a:srgbClr val="8D99AE"/>
                </a:solidFill>
                <a:latin typeface="Quattrocento Sans" pitchFamily="34" charset="0"/>
                <a:ea typeface="Quattrocento Sans" pitchFamily="34" charset="-122"/>
                <a:cs typeface="Quattrocento Sans" pitchFamily="34" charset="-120"/>
              </a:rPr>
              <a:t>16 Objects</a:t>
            </a:r>
            <a:endParaRPr lang="en-US" sz="1600" dirty="0"/>
          </a:p>
        </p:txBody>
      </p:sp>
      <p:sp>
        <p:nvSpPr>
          <p:cNvPr id="28" name="Text 26"/>
          <p:cNvSpPr/>
          <p:nvPr/>
        </p:nvSpPr>
        <p:spPr>
          <a:xfrm>
            <a:off x="650561" y="5172364"/>
            <a:ext cx="5702451" cy="192759"/>
          </a:xfrm>
          <a:prstGeom prst="rect">
            <a:avLst/>
          </a:prstGeom>
          <a:noFill/>
          <a:ln/>
        </p:spPr>
        <p:txBody>
          <a:bodyPr wrap="square" lIns="0" tIns="0" rIns="0" bIns="0" rtlCol="0" anchor="ctr"/>
          <a:lstStyle/>
          <a:p>
            <a:pPr>
              <a:lnSpc>
                <a:spcPct val="120000"/>
              </a:lnSpc>
            </a:pPr>
            <a:r>
              <a:rPr lang="en-US" sz="1012" dirty="0">
                <a:solidFill>
                  <a:srgbClr val="8D99AE"/>
                </a:solidFill>
                <a:latin typeface="Quattrocento Sans" pitchFamily="34" charset="0"/>
                <a:ea typeface="Quattrocento Sans" pitchFamily="34" charset="-122"/>
                <a:cs typeface="Quattrocento Sans" pitchFamily="34" charset="-120"/>
              </a:rPr>
              <a:t>For streams handling JavaScript objects</a:t>
            </a:r>
            <a:endParaRPr lang="en-US" sz="1600" dirty="0"/>
          </a:p>
        </p:txBody>
      </p:sp>
      <p:sp>
        <p:nvSpPr>
          <p:cNvPr id="29" name="Shape 27"/>
          <p:cNvSpPr/>
          <p:nvPr/>
        </p:nvSpPr>
        <p:spPr>
          <a:xfrm>
            <a:off x="6750765" y="1096316"/>
            <a:ext cx="5116142" cy="2931542"/>
          </a:xfrm>
          <a:custGeom>
            <a:avLst/>
            <a:gdLst/>
            <a:ahLst/>
            <a:cxnLst/>
            <a:rect l="l" t="t" r="r" b="b"/>
            <a:pathLst>
              <a:path w="5116142" h="2931542">
                <a:moveTo>
                  <a:pt x="96389" y="0"/>
                </a:moveTo>
                <a:lnTo>
                  <a:pt x="5019753" y="0"/>
                </a:lnTo>
                <a:cubicBezTo>
                  <a:pt x="5072987" y="0"/>
                  <a:pt x="5116142" y="43155"/>
                  <a:pt x="5116142" y="96389"/>
                </a:cubicBezTo>
                <a:lnTo>
                  <a:pt x="5116142" y="2835152"/>
                </a:lnTo>
                <a:cubicBezTo>
                  <a:pt x="5116142" y="2888387"/>
                  <a:pt x="5072987" y="2931542"/>
                  <a:pt x="5019753" y="2931542"/>
                </a:cubicBezTo>
                <a:lnTo>
                  <a:pt x="96389" y="2931542"/>
                </a:lnTo>
                <a:cubicBezTo>
                  <a:pt x="43155" y="2931542"/>
                  <a:pt x="0" y="2888387"/>
                  <a:pt x="0" y="2835152"/>
                </a:cubicBezTo>
                <a:lnTo>
                  <a:pt x="0" y="96389"/>
                </a:lnTo>
                <a:cubicBezTo>
                  <a:pt x="0" y="43155"/>
                  <a:pt x="43155" y="0"/>
                  <a:pt x="96389" y="0"/>
                </a:cubicBezTo>
                <a:close/>
              </a:path>
            </a:pathLst>
          </a:custGeom>
          <a:solidFill>
            <a:srgbClr val="EAE7D6"/>
          </a:solidFill>
          <a:ln/>
        </p:spPr>
        <p:txBody>
          <a:bodyPr/>
          <a:lstStyle/>
          <a:p>
            <a:endParaRPr lang="en-US"/>
          </a:p>
        </p:txBody>
      </p:sp>
      <p:sp>
        <p:nvSpPr>
          <p:cNvPr id="30" name="Shape 28"/>
          <p:cNvSpPr/>
          <p:nvPr/>
        </p:nvSpPr>
        <p:spPr>
          <a:xfrm>
            <a:off x="6927461" y="1293091"/>
            <a:ext cx="216854" cy="192759"/>
          </a:xfrm>
          <a:custGeom>
            <a:avLst/>
            <a:gdLst/>
            <a:ahLst/>
            <a:cxnLst/>
            <a:rect l="l" t="t" r="r" b="b"/>
            <a:pathLst>
              <a:path w="216854" h="192759">
                <a:moveTo>
                  <a:pt x="191780" y="37121"/>
                </a:moveTo>
                <a:cubicBezTo>
                  <a:pt x="194641" y="34260"/>
                  <a:pt x="199423" y="34975"/>
                  <a:pt x="200853" y="38740"/>
                </a:cubicBezTo>
                <a:cubicBezTo>
                  <a:pt x="203413" y="45404"/>
                  <a:pt x="204806" y="52670"/>
                  <a:pt x="204806" y="60237"/>
                </a:cubicBezTo>
                <a:cubicBezTo>
                  <a:pt x="204806" y="93518"/>
                  <a:pt x="177850" y="120474"/>
                  <a:pt x="144569" y="120474"/>
                </a:cubicBezTo>
                <a:cubicBezTo>
                  <a:pt x="137981" y="120474"/>
                  <a:pt x="131618" y="119420"/>
                  <a:pt x="125670" y="117462"/>
                </a:cubicBezTo>
                <a:lnTo>
                  <a:pt x="55305" y="187827"/>
                </a:lnTo>
                <a:cubicBezTo>
                  <a:pt x="44726" y="198406"/>
                  <a:pt x="27558" y="198406"/>
                  <a:pt x="16979" y="187827"/>
                </a:cubicBezTo>
                <a:cubicBezTo>
                  <a:pt x="6400" y="177248"/>
                  <a:pt x="6400" y="160080"/>
                  <a:pt x="16979" y="149501"/>
                </a:cubicBezTo>
                <a:lnTo>
                  <a:pt x="87344" y="79137"/>
                </a:lnTo>
                <a:cubicBezTo>
                  <a:pt x="85386" y="73188"/>
                  <a:pt x="84332" y="66863"/>
                  <a:pt x="84332" y="60237"/>
                </a:cubicBezTo>
                <a:cubicBezTo>
                  <a:pt x="84332" y="26956"/>
                  <a:pt x="111288" y="0"/>
                  <a:pt x="144569" y="0"/>
                </a:cubicBezTo>
                <a:cubicBezTo>
                  <a:pt x="152136" y="0"/>
                  <a:pt x="159403" y="1393"/>
                  <a:pt x="166066" y="3953"/>
                </a:cubicBezTo>
                <a:cubicBezTo>
                  <a:pt x="169831" y="5384"/>
                  <a:pt x="170509" y="10165"/>
                  <a:pt x="167685" y="13026"/>
                </a:cubicBezTo>
                <a:lnTo>
                  <a:pt x="134291" y="46420"/>
                </a:lnTo>
                <a:cubicBezTo>
                  <a:pt x="133162" y="47550"/>
                  <a:pt x="132522" y="49093"/>
                  <a:pt x="132522" y="50675"/>
                </a:cubicBezTo>
                <a:lnTo>
                  <a:pt x="132522" y="66261"/>
                </a:lnTo>
                <a:cubicBezTo>
                  <a:pt x="132522" y="69574"/>
                  <a:pt x="135232" y="72285"/>
                  <a:pt x="138545" y="72285"/>
                </a:cubicBezTo>
                <a:lnTo>
                  <a:pt x="154132" y="72285"/>
                </a:lnTo>
                <a:cubicBezTo>
                  <a:pt x="155713" y="72285"/>
                  <a:pt x="157257" y="71645"/>
                  <a:pt x="158386" y="70515"/>
                </a:cubicBezTo>
                <a:lnTo>
                  <a:pt x="191780" y="37121"/>
                </a:lnTo>
                <a:close/>
              </a:path>
            </a:pathLst>
          </a:custGeom>
          <a:solidFill>
            <a:srgbClr val="8D99AE"/>
          </a:solidFill>
          <a:ln/>
        </p:spPr>
        <p:txBody>
          <a:bodyPr/>
          <a:lstStyle/>
          <a:p>
            <a:endParaRPr lang="en-US"/>
          </a:p>
        </p:txBody>
      </p:sp>
      <p:sp>
        <p:nvSpPr>
          <p:cNvPr id="31" name="Text 29"/>
          <p:cNvSpPr/>
          <p:nvPr/>
        </p:nvSpPr>
        <p:spPr>
          <a:xfrm>
            <a:off x="7252742" y="1260964"/>
            <a:ext cx="1766957" cy="257012"/>
          </a:xfrm>
          <a:prstGeom prst="rect">
            <a:avLst/>
          </a:prstGeom>
          <a:noFill/>
          <a:ln/>
        </p:spPr>
        <p:txBody>
          <a:bodyPr wrap="square" lIns="0" tIns="0" rIns="0" bIns="0" rtlCol="0" anchor="ctr"/>
          <a:lstStyle/>
          <a:p>
            <a:pPr>
              <a:lnSpc>
                <a:spcPct val="110000"/>
              </a:lnSpc>
            </a:pPr>
            <a:r>
              <a:rPr lang="en-US" sz="1518" b="1" dirty="0">
                <a:solidFill>
                  <a:srgbClr val="2D3142"/>
                </a:solidFill>
                <a:latin typeface="Quattrocento Sans" pitchFamily="34" charset="0"/>
                <a:ea typeface="Quattrocento Sans" pitchFamily="34" charset="-122"/>
                <a:cs typeface="Quattrocento Sans" pitchFamily="34" charset="-120"/>
              </a:rPr>
              <a:t>Performance Tuning</a:t>
            </a:r>
            <a:endParaRPr lang="en-US" sz="1600" dirty="0"/>
          </a:p>
        </p:txBody>
      </p:sp>
      <p:sp>
        <p:nvSpPr>
          <p:cNvPr id="32" name="Shape 30"/>
          <p:cNvSpPr/>
          <p:nvPr/>
        </p:nvSpPr>
        <p:spPr>
          <a:xfrm>
            <a:off x="6931477" y="1646482"/>
            <a:ext cx="4770783" cy="1060174"/>
          </a:xfrm>
          <a:custGeom>
            <a:avLst/>
            <a:gdLst/>
            <a:ahLst/>
            <a:cxnLst/>
            <a:rect l="l" t="t" r="r" b="b"/>
            <a:pathLst>
              <a:path w="4770783" h="1060174">
                <a:moveTo>
                  <a:pt x="32126" y="0"/>
                </a:moveTo>
                <a:lnTo>
                  <a:pt x="4706525" y="0"/>
                </a:lnTo>
                <a:cubicBezTo>
                  <a:pt x="4742014" y="0"/>
                  <a:pt x="4770783" y="28769"/>
                  <a:pt x="4770783" y="64257"/>
                </a:cubicBezTo>
                <a:lnTo>
                  <a:pt x="4770783" y="995917"/>
                </a:lnTo>
                <a:cubicBezTo>
                  <a:pt x="4770783" y="1031405"/>
                  <a:pt x="4742014" y="1060174"/>
                  <a:pt x="4706525" y="1060174"/>
                </a:cubicBezTo>
                <a:lnTo>
                  <a:pt x="32126" y="1060174"/>
                </a:lnTo>
                <a:cubicBezTo>
                  <a:pt x="14384" y="1060174"/>
                  <a:pt x="0" y="1045790"/>
                  <a:pt x="0" y="1028047"/>
                </a:cubicBezTo>
                <a:lnTo>
                  <a:pt x="0" y="32126"/>
                </a:lnTo>
                <a:cubicBezTo>
                  <a:pt x="0" y="14384"/>
                  <a:pt x="14384" y="0"/>
                  <a:pt x="32126" y="0"/>
                </a:cubicBezTo>
                <a:close/>
              </a:path>
            </a:pathLst>
          </a:custGeom>
          <a:solidFill>
            <a:srgbClr val="EAE7D6"/>
          </a:solidFill>
          <a:ln/>
        </p:spPr>
        <p:txBody>
          <a:bodyPr/>
          <a:lstStyle/>
          <a:p>
            <a:endParaRPr lang="en-US"/>
          </a:p>
        </p:txBody>
      </p:sp>
      <p:sp>
        <p:nvSpPr>
          <p:cNvPr id="33" name="Shape 31"/>
          <p:cNvSpPr/>
          <p:nvPr/>
        </p:nvSpPr>
        <p:spPr>
          <a:xfrm>
            <a:off x="6931477" y="1646482"/>
            <a:ext cx="32126" cy="1060174"/>
          </a:xfrm>
          <a:custGeom>
            <a:avLst/>
            <a:gdLst/>
            <a:ahLst/>
            <a:cxnLst/>
            <a:rect l="l" t="t" r="r" b="b"/>
            <a:pathLst>
              <a:path w="32126" h="1060174">
                <a:moveTo>
                  <a:pt x="32126" y="0"/>
                </a:moveTo>
                <a:lnTo>
                  <a:pt x="32126" y="0"/>
                </a:lnTo>
                <a:lnTo>
                  <a:pt x="32126" y="1060174"/>
                </a:lnTo>
                <a:lnTo>
                  <a:pt x="32126" y="1060174"/>
                </a:lnTo>
                <a:cubicBezTo>
                  <a:pt x="14384" y="1060174"/>
                  <a:pt x="0" y="1045790"/>
                  <a:pt x="0" y="1028047"/>
                </a:cubicBezTo>
                <a:lnTo>
                  <a:pt x="0" y="32126"/>
                </a:lnTo>
                <a:cubicBezTo>
                  <a:pt x="0" y="14384"/>
                  <a:pt x="14384" y="0"/>
                  <a:pt x="32126" y="0"/>
                </a:cubicBezTo>
                <a:close/>
              </a:path>
            </a:pathLst>
          </a:custGeom>
          <a:solidFill>
            <a:srgbClr val="008000"/>
          </a:solidFill>
          <a:ln/>
        </p:spPr>
        <p:txBody>
          <a:bodyPr/>
          <a:lstStyle/>
          <a:p>
            <a:endParaRPr lang="en-US"/>
          </a:p>
        </p:txBody>
      </p:sp>
      <p:sp>
        <p:nvSpPr>
          <p:cNvPr id="34" name="Shape 32"/>
          <p:cNvSpPr/>
          <p:nvPr/>
        </p:nvSpPr>
        <p:spPr>
          <a:xfrm>
            <a:off x="7108172" y="1823178"/>
            <a:ext cx="96379" cy="128506"/>
          </a:xfrm>
          <a:custGeom>
            <a:avLst/>
            <a:gdLst/>
            <a:ahLst/>
            <a:cxnLst/>
            <a:rect l="l" t="t" r="r" b="b"/>
            <a:pathLst>
              <a:path w="96379" h="128506">
                <a:moveTo>
                  <a:pt x="53862" y="4367"/>
                </a:moveTo>
                <a:cubicBezTo>
                  <a:pt x="50725" y="1230"/>
                  <a:pt x="45630" y="1230"/>
                  <a:pt x="42492" y="4367"/>
                </a:cubicBezTo>
                <a:lnTo>
                  <a:pt x="2334" y="44525"/>
                </a:lnTo>
                <a:cubicBezTo>
                  <a:pt x="-803" y="47663"/>
                  <a:pt x="-803" y="52758"/>
                  <a:pt x="2334" y="55895"/>
                </a:cubicBezTo>
                <a:cubicBezTo>
                  <a:pt x="5472" y="59032"/>
                  <a:pt x="10567" y="59032"/>
                  <a:pt x="13704" y="55895"/>
                </a:cubicBezTo>
                <a:lnTo>
                  <a:pt x="40158" y="29441"/>
                </a:lnTo>
                <a:lnTo>
                  <a:pt x="40158" y="122482"/>
                </a:lnTo>
                <a:cubicBezTo>
                  <a:pt x="40158" y="126925"/>
                  <a:pt x="43747" y="130514"/>
                  <a:pt x="48190" y="130514"/>
                </a:cubicBezTo>
                <a:cubicBezTo>
                  <a:pt x="52632" y="130514"/>
                  <a:pt x="56221" y="126925"/>
                  <a:pt x="56221" y="122482"/>
                </a:cubicBezTo>
                <a:lnTo>
                  <a:pt x="56221" y="29441"/>
                </a:lnTo>
                <a:lnTo>
                  <a:pt x="82675" y="55895"/>
                </a:lnTo>
                <a:cubicBezTo>
                  <a:pt x="85813" y="59032"/>
                  <a:pt x="90908" y="59032"/>
                  <a:pt x="94045" y="55895"/>
                </a:cubicBezTo>
                <a:cubicBezTo>
                  <a:pt x="97183" y="52758"/>
                  <a:pt x="97183" y="47663"/>
                  <a:pt x="94045" y="44525"/>
                </a:cubicBezTo>
                <a:lnTo>
                  <a:pt x="53887" y="4367"/>
                </a:lnTo>
                <a:close/>
              </a:path>
            </a:pathLst>
          </a:custGeom>
          <a:solidFill>
            <a:srgbClr val="008000"/>
          </a:solidFill>
          <a:ln/>
        </p:spPr>
        <p:txBody>
          <a:bodyPr/>
          <a:lstStyle/>
          <a:p>
            <a:endParaRPr lang="en-US"/>
          </a:p>
        </p:txBody>
      </p:sp>
      <p:sp>
        <p:nvSpPr>
          <p:cNvPr id="35" name="Text 33"/>
          <p:cNvSpPr/>
          <p:nvPr/>
        </p:nvSpPr>
        <p:spPr>
          <a:xfrm>
            <a:off x="7300931" y="1774988"/>
            <a:ext cx="1574198" cy="224885"/>
          </a:xfrm>
          <a:prstGeom prst="rect">
            <a:avLst/>
          </a:prstGeom>
          <a:noFill/>
          <a:ln/>
        </p:spPr>
        <p:txBody>
          <a:bodyPr wrap="square" lIns="0" tIns="0" rIns="0" bIns="0" rtlCol="0" anchor="ctr"/>
          <a:lstStyle/>
          <a:p>
            <a:pPr>
              <a:lnSpc>
                <a:spcPct val="130000"/>
              </a:lnSpc>
            </a:pPr>
            <a:r>
              <a:rPr lang="en-US" sz="1138" b="1" dirty="0">
                <a:solidFill>
                  <a:srgbClr val="2D3142"/>
                </a:solidFill>
                <a:latin typeface="Quattrocento Sans" pitchFamily="34" charset="0"/>
                <a:ea typeface="Quattrocento Sans" pitchFamily="34" charset="-122"/>
                <a:cs typeface="Quattrocento Sans" pitchFamily="34" charset="-120"/>
              </a:rPr>
              <a:t>Increase → More Speed</a:t>
            </a:r>
            <a:endParaRPr lang="en-US" sz="1600" dirty="0"/>
          </a:p>
        </p:txBody>
      </p:sp>
      <p:sp>
        <p:nvSpPr>
          <p:cNvPr id="36" name="Text 34"/>
          <p:cNvSpPr/>
          <p:nvPr/>
        </p:nvSpPr>
        <p:spPr>
          <a:xfrm>
            <a:off x="7076046" y="2064126"/>
            <a:ext cx="4561960" cy="192759"/>
          </a:xfrm>
          <a:prstGeom prst="rect">
            <a:avLst/>
          </a:prstGeom>
          <a:noFill/>
          <a:ln/>
        </p:spPr>
        <p:txBody>
          <a:bodyPr wrap="square" lIns="0" tIns="0" rIns="0" bIns="0" rtlCol="0" anchor="ctr"/>
          <a:lstStyle/>
          <a:p>
            <a:pPr>
              <a:lnSpc>
                <a:spcPct val="120000"/>
              </a:lnSpc>
            </a:pPr>
            <a:r>
              <a:rPr lang="en-US" sz="1012" dirty="0">
                <a:solidFill>
                  <a:srgbClr val="8D99AE"/>
                </a:solidFill>
                <a:latin typeface="Quattrocento Sans" pitchFamily="34" charset="0"/>
                <a:ea typeface="Quattrocento Sans" pitchFamily="34" charset="-122"/>
                <a:cs typeface="Quattrocento Sans" pitchFamily="34" charset="-120"/>
              </a:rPr>
              <a:t>Larger buffer reduces I/O operations, improving throughput</a:t>
            </a:r>
            <a:endParaRPr lang="en-US" sz="1600" dirty="0"/>
          </a:p>
        </p:txBody>
      </p:sp>
      <p:sp>
        <p:nvSpPr>
          <p:cNvPr id="37" name="Shape 35"/>
          <p:cNvSpPr/>
          <p:nvPr/>
        </p:nvSpPr>
        <p:spPr>
          <a:xfrm>
            <a:off x="7076046" y="2321138"/>
            <a:ext cx="4497708" cy="257012"/>
          </a:xfrm>
          <a:custGeom>
            <a:avLst/>
            <a:gdLst/>
            <a:ahLst/>
            <a:cxnLst/>
            <a:rect l="l" t="t" r="r" b="b"/>
            <a:pathLst>
              <a:path w="4497708" h="257012">
                <a:moveTo>
                  <a:pt x="32126" y="0"/>
                </a:moveTo>
                <a:lnTo>
                  <a:pt x="4465581" y="0"/>
                </a:lnTo>
                <a:cubicBezTo>
                  <a:pt x="4483324" y="0"/>
                  <a:pt x="4497708" y="14384"/>
                  <a:pt x="4497708" y="32126"/>
                </a:cubicBezTo>
                <a:lnTo>
                  <a:pt x="4497708" y="224885"/>
                </a:lnTo>
                <a:cubicBezTo>
                  <a:pt x="4497708" y="242628"/>
                  <a:pt x="4483324" y="257012"/>
                  <a:pt x="4465581" y="257012"/>
                </a:cubicBezTo>
                <a:lnTo>
                  <a:pt x="32126" y="257012"/>
                </a:lnTo>
                <a:cubicBezTo>
                  <a:pt x="14384" y="257012"/>
                  <a:pt x="0" y="242628"/>
                  <a:pt x="0" y="224885"/>
                </a:cubicBezTo>
                <a:lnTo>
                  <a:pt x="0" y="32126"/>
                </a:lnTo>
                <a:cubicBezTo>
                  <a:pt x="0" y="14384"/>
                  <a:pt x="14384" y="0"/>
                  <a:pt x="32126" y="0"/>
                </a:cubicBezTo>
                <a:close/>
              </a:path>
            </a:pathLst>
          </a:custGeom>
          <a:solidFill>
            <a:srgbClr val="EAE7D6"/>
          </a:solidFill>
          <a:ln/>
        </p:spPr>
        <p:txBody>
          <a:bodyPr/>
          <a:lstStyle/>
          <a:p>
            <a:endParaRPr lang="en-US"/>
          </a:p>
        </p:txBody>
      </p:sp>
      <p:sp>
        <p:nvSpPr>
          <p:cNvPr id="38" name="Text 36"/>
          <p:cNvSpPr/>
          <p:nvPr/>
        </p:nvSpPr>
        <p:spPr>
          <a:xfrm>
            <a:off x="7076046" y="2321138"/>
            <a:ext cx="4545897" cy="257012"/>
          </a:xfrm>
          <a:prstGeom prst="rect">
            <a:avLst/>
          </a:prstGeom>
          <a:noFill/>
          <a:ln/>
        </p:spPr>
        <p:txBody>
          <a:bodyPr wrap="square" lIns="64253" tIns="64253" rIns="64253" bIns="64253" rtlCol="0" anchor="ctr"/>
          <a:lstStyle/>
          <a:p>
            <a:pPr>
              <a:lnSpc>
                <a:spcPct val="110000"/>
              </a:lnSpc>
            </a:pPr>
            <a:r>
              <a:rPr lang="en-US" sz="759" dirty="0">
                <a:solidFill>
                  <a:srgbClr val="008000"/>
                </a:solidFill>
                <a:latin typeface="MiSans" pitchFamily="34" charset="0"/>
                <a:ea typeface="MiSans" pitchFamily="34" charset="-122"/>
                <a:cs typeface="MiSans" pitchFamily="34" charset="-120"/>
              </a:rPr>
              <a:t>highWaterMark: 64 * 1024 // 64KB</a:t>
            </a:r>
            <a:endParaRPr lang="en-US" sz="1600" dirty="0"/>
          </a:p>
        </p:txBody>
      </p:sp>
      <p:sp>
        <p:nvSpPr>
          <p:cNvPr id="39" name="Shape 37"/>
          <p:cNvSpPr/>
          <p:nvPr/>
        </p:nvSpPr>
        <p:spPr>
          <a:xfrm>
            <a:off x="6931477" y="2803036"/>
            <a:ext cx="4770783" cy="1060174"/>
          </a:xfrm>
          <a:custGeom>
            <a:avLst/>
            <a:gdLst/>
            <a:ahLst/>
            <a:cxnLst/>
            <a:rect l="l" t="t" r="r" b="b"/>
            <a:pathLst>
              <a:path w="4770783" h="1060174">
                <a:moveTo>
                  <a:pt x="32126" y="0"/>
                </a:moveTo>
                <a:lnTo>
                  <a:pt x="4706525" y="0"/>
                </a:lnTo>
                <a:cubicBezTo>
                  <a:pt x="4742014" y="0"/>
                  <a:pt x="4770783" y="28769"/>
                  <a:pt x="4770783" y="64257"/>
                </a:cubicBezTo>
                <a:lnTo>
                  <a:pt x="4770783" y="995917"/>
                </a:lnTo>
                <a:cubicBezTo>
                  <a:pt x="4770783" y="1031405"/>
                  <a:pt x="4742014" y="1060174"/>
                  <a:pt x="4706525" y="1060174"/>
                </a:cubicBezTo>
                <a:lnTo>
                  <a:pt x="32126" y="1060174"/>
                </a:lnTo>
                <a:cubicBezTo>
                  <a:pt x="14384" y="1060174"/>
                  <a:pt x="0" y="1045790"/>
                  <a:pt x="0" y="1028047"/>
                </a:cubicBezTo>
                <a:lnTo>
                  <a:pt x="0" y="32126"/>
                </a:lnTo>
                <a:cubicBezTo>
                  <a:pt x="0" y="14384"/>
                  <a:pt x="14384" y="0"/>
                  <a:pt x="32126" y="0"/>
                </a:cubicBezTo>
                <a:close/>
              </a:path>
            </a:pathLst>
          </a:custGeom>
          <a:solidFill>
            <a:srgbClr val="EAE7D6"/>
          </a:solidFill>
          <a:ln/>
        </p:spPr>
        <p:txBody>
          <a:bodyPr/>
          <a:lstStyle/>
          <a:p>
            <a:endParaRPr lang="en-US"/>
          </a:p>
        </p:txBody>
      </p:sp>
      <p:sp>
        <p:nvSpPr>
          <p:cNvPr id="40" name="Shape 38"/>
          <p:cNvSpPr/>
          <p:nvPr/>
        </p:nvSpPr>
        <p:spPr>
          <a:xfrm>
            <a:off x="6931477" y="2803036"/>
            <a:ext cx="32126" cy="1060174"/>
          </a:xfrm>
          <a:custGeom>
            <a:avLst/>
            <a:gdLst/>
            <a:ahLst/>
            <a:cxnLst/>
            <a:rect l="l" t="t" r="r" b="b"/>
            <a:pathLst>
              <a:path w="32126" h="1060174">
                <a:moveTo>
                  <a:pt x="32126" y="0"/>
                </a:moveTo>
                <a:lnTo>
                  <a:pt x="32126" y="0"/>
                </a:lnTo>
                <a:lnTo>
                  <a:pt x="32126" y="1060174"/>
                </a:lnTo>
                <a:lnTo>
                  <a:pt x="32126" y="1060174"/>
                </a:lnTo>
                <a:cubicBezTo>
                  <a:pt x="14384" y="1060174"/>
                  <a:pt x="0" y="1045790"/>
                  <a:pt x="0" y="1028047"/>
                </a:cubicBezTo>
                <a:lnTo>
                  <a:pt x="0" y="32126"/>
                </a:lnTo>
                <a:cubicBezTo>
                  <a:pt x="0" y="14384"/>
                  <a:pt x="14384" y="0"/>
                  <a:pt x="32126" y="0"/>
                </a:cubicBezTo>
                <a:close/>
              </a:path>
            </a:pathLst>
          </a:custGeom>
          <a:solidFill>
            <a:srgbClr val="E07A5F"/>
          </a:solidFill>
          <a:ln/>
        </p:spPr>
        <p:txBody>
          <a:bodyPr/>
          <a:lstStyle/>
          <a:p>
            <a:endParaRPr lang="en-US"/>
          </a:p>
        </p:txBody>
      </p:sp>
      <p:sp>
        <p:nvSpPr>
          <p:cNvPr id="41" name="Shape 39"/>
          <p:cNvSpPr/>
          <p:nvPr/>
        </p:nvSpPr>
        <p:spPr>
          <a:xfrm>
            <a:off x="7108172" y="2979731"/>
            <a:ext cx="96379" cy="128506"/>
          </a:xfrm>
          <a:custGeom>
            <a:avLst/>
            <a:gdLst/>
            <a:ahLst/>
            <a:cxnLst/>
            <a:rect l="l" t="t" r="r" b="b"/>
            <a:pathLst>
              <a:path w="96379" h="128506">
                <a:moveTo>
                  <a:pt x="42517" y="126147"/>
                </a:moveTo>
                <a:cubicBezTo>
                  <a:pt x="45655" y="129284"/>
                  <a:pt x="50750" y="129284"/>
                  <a:pt x="53887" y="126147"/>
                </a:cubicBezTo>
                <a:lnTo>
                  <a:pt x="94045" y="85989"/>
                </a:lnTo>
                <a:cubicBezTo>
                  <a:pt x="97183" y="82851"/>
                  <a:pt x="97183" y="77756"/>
                  <a:pt x="94045" y="74619"/>
                </a:cubicBezTo>
                <a:cubicBezTo>
                  <a:pt x="90908" y="71481"/>
                  <a:pt x="85813" y="71481"/>
                  <a:pt x="82675" y="74619"/>
                </a:cubicBezTo>
                <a:lnTo>
                  <a:pt x="56221" y="101073"/>
                </a:lnTo>
                <a:lnTo>
                  <a:pt x="56221" y="8032"/>
                </a:lnTo>
                <a:cubicBezTo>
                  <a:pt x="56221" y="3589"/>
                  <a:pt x="52632" y="0"/>
                  <a:pt x="48190" y="0"/>
                </a:cubicBezTo>
                <a:cubicBezTo>
                  <a:pt x="43747" y="0"/>
                  <a:pt x="40158" y="3589"/>
                  <a:pt x="40158" y="8032"/>
                </a:cubicBezTo>
                <a:lnTo>
                  <a:pt x="40158" y="101073"/>
                </a:lnTo>
                <a:lnTo>
                  <a:pt x="13704" y="74619"/>
                </a:lnTo>
                <a:cubicBezTo>
                  <a:pt x="10567" y="71481"/>
                  <a:pt x="5472" y="71481"/>
                  <a:pt x="2334" y="74619"/>
                </a:cubicBezTo>
                <a:cubicBezTo>
                  <a:pt x="-803" y="77756"/>
                  <a:pt x="-803" y="82851"/>
                  <a:pt x="2334" y="85989"/>
                </a:cubicBezTo>
                <a:lnTo>
                  <a:pt x="42492" y="126147"/>
                </a:lnTo>
                <a:close/>
              </a:path>
            </a:pathLst>
          </a:custGeom>
          <a:solidFill>
            <a:srgbClr val="E07A5F"/>
          </a:solidFill>
          <a:ln/>
        </p:spPr>
        <p:txBody>
          <a:bodyPr/>
          <a:lstStyle/>
          <a:p>
            <a:endParaRPr lang="en-US"/>
          </a:p>
        </p:txBody>
      </p:sp>
      <p:sp>
        <p:nvSpPr>
          <p:cNvPr id="42" name="Text 40"/>
          <p:cNvSpPr/>
          <p:nvPr/>
        </p:nvSpPr>
        <p:spPr>
          <a:xfrm>
            <a:off x="7300931" y="2931542"/>
            <a:ext cx="1710735" cy="224885"/>
          </a:xfrm>
          <a:prstGeom prst="rect">
            <a:avLst/>
          </a:prstGeom>
          <a:noFill/>
          <a:ln/>
        </p:spPr>
        <p:txBody>
          <a:bodyPr wrap="square" lIns="0" tIns="0" rIns="0" bIns="0" rtlCol="0" anchor="ctr"/>
          <a:lstStyle/>
          <a:p>
            <a:pPr>
              <a:lnSpc>
                <a:spcPct val="130000"/>
              </a:lnSpc>
            </a:pPr>
            <a:r>
              <a:rPr lang="en-US" sz="1138" b="1" dirty="0">
                <a:solidFill>
                  <a:srgbClr val="2D3142"/>
                </a:solidFill>
                <a:latin typeface="Quattrocento Sans" pitchFamily="34" charset="0"/>
                <a:ea typeface="Quattrocento Sans" pitchFamily="34" charset="-122"/>
                <a:cs typeface="Quattrocento Sans" pitchFamily="34" charset="-120"/>
              </a:rPr>
              <a:t>Decrease → Less Memory</a:t>
            </a:r>
            <a:endParaRPr lang="en-US" sz="1600" dirty="0"/>
          </a:p>
        </p:txBody>
      </p:sp>
      <p:sp>
        <p:nvSpPr>
          <p:cNvPr id="43" name="Text 41"/>
          <p:cNvSpPr/>
          <p:nvPr/>
        </p:nvSpPr>
        <p:spPr>
          <a:xfrm>
            <a:off x="7076046" y="3220680"/>
            <a:ext cx="4561960" cy="192759"/>
          </a:xfrm>
          <a:prstGeom prst="rect">
            <a:avLst/>
          </a:prstGeom>
          <a:noFill/>
          <a:ln/>
        </p:spPr>
        <p:txBody>
          <a:bodyPr wrap="square" lIns="0" tIns="0" rIns="0" bIns="0" rtlCol="0" anchor="ctr"/>
          <a:lstStyle/>
          <a:p>
            <a:pPr>
              <a:lnSpc>
                <a:spcPct val="120000"/>
              </a:lnSpc>
            </a:pPr>
            <a:r>
              <a:rPr lang="en-US" sz="1012" dirty="0">
                <a:solidFill>
                  <a:srgbClr val="8D99AE"/>
                </a:solidFill>
                <a:latin typeface="Quattrocento Sans" pitchFamily="34" charset="0"/>
                <a:ea typeface="Quattrocento Sans" pitchFamily="34" charset="-122"/>
                <a:cs typeface="Quattrocento Sans" pitchFamily="34" charset="-120"/>
              </a:rPr>
              <a:t>Smaller buffer reduces memory footprint, better for constrained environments</a:t>
            </a:r>
            <a:endParaRPr lang="en-US" sz="1600" dirty="0"/>
          </a:p>
        </p:txBody>
      </p:sp>
      <p:sp>
        <p:nvSpPr>
          <p:cNvPr id="44" name="Shape 42"/>
          <p:cNvSpPr/>
          <p:nvPr/>
        </p:nvSpPr>
        <p:spPr>
          <a:xfrm>
            <a:off x="7076046" y="3477692"/>
            <a:ext cx="4497708" cy="257012"/>
          </a:xfrm>
          <a:custGeom>
            <a:avLst/>
            <a:gdLst/>
            <a:ahLst/>
            <a:cxnLst/>
            <a:rect l="l" t="t" r="r" b="b"/>
            <a:pathLst>
              <a:path w="4497708" h="257012">
                <a:moveTo>
                  <a:pt x="32126" y="0"/>
                </a:moveTo>
                <a:lnTo>
                  <a:pt x="4465581" y="0"/>
                </a:lnTo>
                <a:cubicBezTo>
                  <a:pt x="4483324" y="0"/>
                  <a:pt x="4497708" y="14384"/>
                  <a:pt x="4497708" y="32126"/>
                </a:cubicBezTo>
                <a:lnTo>
                  <a:pt x="4497708" y="224885"/>
                </a:lnTo>
                <a:cubicBezTo>
                  <a:pt x="4497708" y="242628"/>
                  <a:pt x="4483324" y="257012"/>
                  <a:pt x="4465581" y="257012"/>
                </a:cubicBezTo>
                <a:lnTo>
                  <a:pt x="32126" y="257012"/>
                </a:lnTo>
                <a:cubicBezTo>
                  <a:pt x="14384" y="257012"/>
                  <a:pt x="0" y="242628"/>
                  <a:pt x="0" y="224885"/>
                </a:cubicBezTo>
                <a:lnTo>
                  <a:pt x="0" y="32126"/>
                </a:lnTo>
                <a:cubicBezTo>
                  <a:pt x="0" y="14384"/>
                  <a:pt x="14384" y="0"/>
                  <a:pt x="32126" y="0"/>
                </a:cubicBezTo>
                <a:close/>
              </a:path>
            </a:pathLst>
          </a:custGeom>
          <a:solidFill>
            <a:srgbClr val="EAE7D6"/>
          </a:solidFill>
          <a:ln/>
        </p:spPr>
        <p:txBody>
          <a:bodyPr/>
          <a:lstStyle/>
          <a:p>
            <a:endParaRPr lang="en-US"/>
          </a:p>
        </p:txBody>
      </p:sp>
      <p:sp>
        <p:nvSpPr>
          <p:cNvPr id="45" name="Text 43"/>
          <p:cNvSpPr/>
          <p:nvPr/>
        </p:nvSpPr>
        <p:spPr>
          <a:xfrm>
            <a:off x="7076046" y="3477692"/>
            <a:ext cx="4545897" cy="257012"/>
          </a:xfrm>
          <a:prstGeom prst="rect">
            <a:avLst/>
          </a:prstGeom>
          <a:noFill/>
          <a:ln/>
        </p:spPr>
        <p:txBody>
          <a:bodyPr wrap="square" lIns="64253" tIns="64253" rIns="64253" bIns="64253" rtlCol="0" anchor="ctr"/>
          <a:lstStyle/>
          <a:p>
            <a:pPr>
              <a:lnSpc>
                <a:spcPct val="110000"/>
              </a:lnSpc>
            </a:pPr>
            <a:r>
              <a:rPr lang="en-US" sz="759" dirty="0">
                <a:solidFill>
                  <a:srgbClr val="E07A5F"/>
                </a:solidFill>
                <a:latin typeface="MiSans" pitchFamily="34" charset="0"/>
                <a:ea typeface="MiSans" pitchFamily="34" charset="-122"/>
                <a:cs typeface="MiSans" pitchFamily="34" charset="-120"/>
              </a:rPr>
              <a:t>highWaterMark: 4 * 1024 // 4KB</a:t>
            </a:r>
            <a:endParaRPr lang="en-US" sz="1600" dirty="0"/>
          </a:p>
        </p:txBody>
      </p:sp>
      <p:sp>
        <p:nvSpPr>
          <p:cNvPr id="46" name="Shape 44"/>
          <p:cNvSpPr/>
          <p:nvPr/>
        </p:nvSpPr>
        <p:spPr>
          <a:xfrm>
            <a:off x="6750765" y="4164395"/>
            <a:ext cx="5116142" cy="1485850"/>
          </a:xfrm>
          <a:custGeom>
            <a:avLst/>
            <a:gdLst/>
            <a:ahLst/>
            <a:cxnLst/>
            <a:rect l="l" t="t" r="r" b="b"/>
            <a:pathLst>
              <a:path w="5116142" h="1485850">
                <a:moveTo>
                  <a:pt x="96372" y="0"/>
                </a:moveTo>
                <a:lnTo>
                  <a:pt x="5019770" y="0"/>
                </a:lnTo>
                <a:cubicBezTo>
                  <a:pt x="5072995" y="0"/>
                  <a:pt x="5116142" y="43147"/>
                  <a:pt x="5116142" y="96372"/>
                </a:cubicBezTo>
                <a:lnTo>
                  <a:pt x="5116142" y="1389478"/>
                </a:lnTo>
                <a:cubicBezTo>
                  <a:pt x="5116142" y="1442702"/>
                  <a:pt x="5072995" y="1485850"/>
                  <a:pt x="5019770" y="1485850"/>
                </a:cubicBezTo>
                <a:lnTo>
                  <a:pt x="96372" y="1485850"/>
                </a:lnTo>
                <a:cubicBezTo>
                  <a:pt x="43147" y="1485850"/>
                  <a:pt x="0" y="1442702"/>
                  <a:pt x="0" y="1389478"/>
                </a:cubicBezTo>
                <a:lnTo>
                  <a:pt x="0" y="96372"/>
                </a:lnTo>
                <a:cubicBezTo>
                  <a:pt x="0" y="43183"/>
                  <a:pt x="43183" y="0"/>
                  <a:pt x="96372" y="0"/>
                </a:cubicBezTo>
                <a:close/>
              </a:path>
            </a:pathLst>
          </a:custGeom>
          <a:solidFill>
            <a:srgbClr val="EAE7D6"/>
          </a:solidFill>
          <a:ln/>
        </p:spPr>
        <p:txBody>
          <a:bodyPr/>
          <a:lstStyle/>
          <a:p>
            <a:endParaRPr lang="en-US"/>
          </a:p>
        </p:txBody>
      </p:sp>
      <p:sp>
        <p:nvSpPr>
          <p:cNvPr id="47" name="Shape 45"/>
          <p:cNvSpPr/>
          <p:nvPr/>
        </p:nvSpPr>
        <p:spPr>
          <a:xfrm>
            <a:off x="6925453" y="4361170"/>
            <a:ext cx="180711" cy="160632"/>
          </a:xfrm>
          <a:custGeom>
            <a:avLst/>
            <a:gdLst/>
            <a:ahLst/>
            <a:cxnLst/>
            <a:rect l="l" t="t" r="r" b="b"/>
            <a:pathLst>
              <a:path w="180711" h="160632">
                <a:moveTo>
                  <a:pt x="113196" y="376"/>
                </a:moveTo>
                <a:cubicBezTo>
                  <a:pt x="107862" y="-1161"/>
                  <a:pt x="102309" y="1945"/>
                  <a:pt x="100772" y="7279"/>
                </a:cubicBezTo>
                <a:lnTo>
                  <a:pt x="60614" y="147832"/>
                </a:lnTo>
                <a:cubicBezTo>
                  <a:pt x="59076" y="153166"/>
                  <a:pt x="62182" y="158719"/>
                  <a:pt x="67516" y="160256"/>
                </a:cubicBezTo>
                <a:cubicBezTo>
                  <a:pt x="72849" y="161793"/>
                  <a:pt x="78402" y="158687"/>
                  <a:pt x="79940" y="153354"/>
                </a:cubicBezTo>
                <a:lnTo>
                  <a:pt x="120098" y="12800"/>
                </a:lnTo>
                <a:cubicBezTo>
                  <a:pt x="121635" y="7467"/>
                  <a:pt x="118529" y="1914"/>
                  <a:pt x="113196" y="376"/>
                </a:cubicBezTo>
                <a:close/>
                <a:moveTo>
                  <a:pt x="133463" y="43076"/>
                </a:moveTo>
                <a:cubicBezTo>
                  <a:pt x="129541" y="46998"/>
                  <a:pt x="129541" y="53366"/>
                  <a:pt x="133463" y="57288"/>
                </a:cubicBezTo>
                <a:lnTo>
                  <a:pt x="156491" y="80316"/>
                </a:lnTo>
                <a:lnTo>
                  <a:pt x="133463" y="103344"/>
                </a:lnTo>
                <a:cubicBezTo>
                  <a:pt x="129541" y="107266"/>
                  <a:pt x="129541" y="113635"/>
                  <a:pt x="133463" y="117557"/>
                </a:cubicBezTo>
                <a:cubicBezTo>
                  <a:pt x="137385" y="121478"/>
                  <a:pt x="143753" y="121478"/>
                  <a:pt x="147675" y="117557"/>
                </a:cubicBezTo>
                <a:lnTo>
                  <a:pt x="177794" y="87438"/>
                </a:lnTo>
                <a:cubicBezTo>
                  <a:pt x="181715" y="83516"/>
                  <a:pt x="181715" y="77147"/>
                  <a:pt x="177794" y="73226"/>
                </a:cubicBezTo>
                <a:lnTo>
                  <a:pt x="147675" y="43107"/>
                </a:lnTo>
                <a:cubicBezTo>
                  <a:pt x="143753" y="39186"/>
                  <a:pt x="137385" y="39186"/>
                  <a:pt x="133463" y="43107"/>
                </a:cubicBezTo>
                <a:close/>
                <a:moveTo>
                  <a:pt x="47280" y="43076"/>
                </a:moveTo>
                <a:cubicBezTo>
                  <a:pt x="43358" y="39154"/>
                  <a:pt x="36989" y="39154"/>
                  <a:pt x="33068" y="43076"/>
                </a:cubicBezTo>
                <a:lnTo>
                  <a:pt x="2949" y="73194"/>
                </a:lnTo>
                <a:cubicBezTo>
                  <a:pt x="-973" y="77116"/>
                  <a:pt x="-973" y="83485"/>
                  <a:pt x="2949" y="87407"/>
                </a:cubicBezTo>
                <a:lnTo>
                  <a:pt x="33068" y="117525"/>
                </a:lnTo>
                <a:cubicBezTo>
                  <a:pt x="36989" y="121447"/>
                  <a:pt x="43358" y="121447"/>
                  <a:pt x="47280" y="117525"/>
                </a:cubicBezTo>
                <a:cubicBezTo>
                  <a:pt x="51202" y="113604"/>
                  <a:pt x="51202" y="107235"/>
                  <a:pt x="47280" y="103313"/>
                </a:cubicBezTo>
                <a:lnTo>
                  <a:pt x="24252" y="80316"/>
                </a:lnTo>
                <a:lnTo>
                  <a:pt x="47249" y="57288"/>
                </a:lnTo>
                <a:cubicBezTo>
                  <a:pt x="51170" y="53366"/>
                  <a:pt x="51170" y="46998"/>
                  <a:pt x="47249" y="43076"/>
                </a:cubicBezTo>
                <a:close/>
              </a:path>
            </a:pathLst>
          </a:custGeom>
          <a:solidFill>
            <a:srgbClr val="E07A5F"/>
          </a:solidFill>
          <a:ln/>
        </p:spPr>
        <p:txBody>
          <a:bodyPr/>
          <a:lstStyle/>
          <a:p>
            <a:endParaRPr lang="en-US"/>
          </a:p>
        </p:txBody>
      </p:sp>
      <p:sp>
        <p:nvSpPr>
          <p:cNvPr id="48" name="Text 46"/>
          <p:cNvSpPr/>
          <p:nvPr/>
        </p:nvSpPr>
        <p:spPr>
          <a:xfrm>
            <a:off x="7212583" y="4329043"/>
            <a:ext cx="1140490" cy="224885"/>
          </a:xfrm>
          <a:prstGeom prst="rect">
            <a:avLst/>
          </a:prstGeom>
          <a:noFill/>
          <a:ln/>
        </p:spPr>
        <p:txBody>
          <a:bodyPr wrap="square" lIns="0" tIns="0" rIns="0" bIns="0" rtlCol="0" anchor="ctr"/>
          <a:lstStyle/>
          <a:p>
            <a:pPr>
              <a:lnSpc>
                <a:spcPct val="120000"/>
              </a:lnSpc>
            </a:pPr>
            <a:r>
              <a:rPr lang="en-US" sz="1265" b="1" dirty="0">
                <a:solidFill>
                  <a:srgbClr val="2D3142"/>
                </a:solidFill>
                <a:latin typeface="Quattrocento Sans" pitchFamily="34" charset="0"/>
                <a:ea typeface="Quattrocento Sans" pitchFamily="34" charset="-122"/>
                <a:cs typeface="Quattrocento Sans" pitchFamily="34" charset="-120"/>
              </a:rPr>
              <a:t>Usage Example</a:t>
            </a:r>
            <a:endParaRPr lang="en-US" sz="1600" dirty="0"/>
          </a:p>
        </p:txBody>
      </p:sp>
      <p:sp>
        <p:nvSpPr>
          <p:cNvPr id="49" name="Shape 47"/>
          <p:cNvSpPr/>
          <p:nvPr/>
        </p:nvSpPr>
        <p:spPr>
          <a:xfrm>
            <a:off x="6915414" y="4650308"/>
            <a:ext cx="4786846" cy="835289"/>
          </a:xfrm>
          <a:custGeom>
            <a:avLst/>
            <a:gdLst/>
            <a:ahLst/>
            <a:cxnLst/>
            <a:rect l="l" t="t" r="r" b="b"/>
            <a:pathLst>
              <a:path w="4786846" h="835289">
                <a:moveTo>
                  <a:pt x="64250" y="0"/>
                </a:moveTo>
                <a:lnTo>
                  <a:pt x="4722595" y="0"/>
                </a:lnTo>
                <a:cubicBezTo>
                  <a:pt x="4758080" y="0"/>
                  <a:pt x="4786846" y="28766"/>
                  <a:pt x="4786846" y="64250"/>
                </a:cubicBezTo>
                <a:lnTo>
                  <a:pt x="4786846" y="771038"/>
                </a:lnTo>
                <a:cubicBezTo>
                  <a:pt x="4786846" y="806523"/>
                  <a:pt x="4758080" y="835289"/>
                  <a:pt x="4722595" y="835289"/>
                </a:cubicBezTo>
                <a:lnTo>
                  <a:pt x="64250" y="835289"/>
                </a:lnTo>
                <a:cubicBezTo>
                  <a:pt x="28766" y="835289"/>
                  <a:pt x="0" y="806523"/>
                  <a:pt x="0" y="771038"/>
                </a:cubicBezTo>
                <a:lnTo>
                  <a:pt x="0" y="64250"/>
                </a:lnTo>
                <a:cubicBezTo>
                  <a:pt x="0" y="28790"/>
                  <a:pt x="28790" y="0"/>
                  <a:pt x="64250" y="0"/>
                </a:cubicBezTo>
                <a:close/>
              </a:path>
            </a:pathLst>
          </a:custGeom>
          <a:solidFill>
            <a:srgbClr val="EAE7D6"/>
          </a:solidFill>
          <a:ln/>
        </p:spPr>
        <p:txBody>
          <a:bodyPr/>
          <a:lstStyle/>
          <a:p>
            <a:endParaRPr lang="en-US"/>
          </a:p>
        </p:txBody>
      </p:sp>
      <p:sp>
        <p:nvSpPr>
          <p:cNvPr id="50" name="Text 48"/>
          <p:cNvSpPr/>
          <p:nvPr/>
        </p:nvSpPr>
        <p:spPr>
          <a:xfrm>
            <a:off x="7011793" y="4746688"/>
            <a:ext cx="4650308" cy="160632"/>
          </a:xfrm>
          <a:prstGeom prst="rect">
            <a:avLst/>
          </a:prstGeom>
          <a:noFill/>
          <a:ln/>
        </p:spPr>
        <p:txBody>
          <a:bodyPr wrap="square" lIns="0" tIns="0" rIns="0" bIns="0" rtlCol="0" anchor="ctr"/>
          <a:lstStyle/>
          <a:p>
            <a:pPr>
              <a:lnSpc>
                <a:spcPct val="120000"/>
              </a:lnSpc>
            </a:pPr>
            <a:r>
              <a:rPr lang="en-US" sz="885" dirty="0">
                <a:solidFill>
                  <a:srgbClr val="E07A5F"/>
                </a:solidFill>
                <a:latin typeface="MiSans" pitchFamily="34" charset="0"/>
                <a:ea typeface="MiSans" pitchFamily="34" charset="-122"/>
                <a:cs typeface="MiSans" pitchFamily="34" charset="-120"/>
              </a:rPr>
              <a:t>const stream = fs.createReadStream(</a:t>
            </a:r>
            <a:endParaRPr lang="en-US" sz="1600" dirty="0"/>
          </a:p>
        </p:txBody>
      </p:sp>
      <p:sp>
        <p:nvSpPr>
          <p:cNvPr id="51" name="Text 49"/>
          <p:cNvSpPr/>
          <p:nvPr/>
        </p:nvSpPr>
        <p:spPr>
          <a:xfrm>
            <a:off x="7011793" y="4907320"/>
            <a:ext cx="4650308" cy="160632"/>
          </a:xfrm>
          <a:prstGeom prst="rect">
            <a:avLst/>
          </a:prstGeom>
          <a:noFill/>
          <a:ln/>
        </p:spPr>
        <p:txBody>
          <a:bodyPr wrap="square" lIns="0" tIns="0" rIns="0" bIns="0" rtlCol="0" anchor="ctr"/>
          <a:lstStyle/>
          <a:p>
            <a:pPr>
              <a:lnSpc>
                <a:spcPct val="120000"/>
              </a:lnSpc>
            </a:pPr>
            <a:r>
              <a:rPr lang="en-US" sz="885" dirty="0">
                <a:solidFill>
                  <a:srgbClr val="2D3142"/>
                </a:solidFill>
                <a:latin typeface="MiSans" pitchFamily="34" charset="0"/>
                <a:ea typeface="MiSans" pitchFamily="34" charset="-122"/>
                <a:cs typeface="MiSans" pitchFamily="34" charset="-120"/>
              </a:rPr>
              <a:t>'file.txt',</a:t>
            </a:r>
            <a:endParaRPr lang="en-US" sz="1600" dirty="0"/>
          </a:p>
        </p:txBody>
      </p:sp>
      <p:sp>
        <p:nvSpPr>
          <p:cNvPr id="52" name="Text 50"/>
          <p:cNvSpPr/>
          <p:nvPr/>
        </p:nvSpPr>
        <p:spPr>
          <a:xfrm>
            <a:off x="7011793" y="5067953"/>
            <a:ext cx="4650308" cy="160632"/>
          </a:xfrm>
          <a:prstGeom prst="rect">
            <a:avLst/>
          </a:prstGeom>
          <a:noFill/>
          <a:ln/>
        </p:spPr>
        <p:txBody>
          <a:bodyPr wrap="square" lIns="0" tIns="0" rIns="0" bIns="0" rtlCol="0" anchor="ctr"/>
          <a:lstStyle/>
          <a:p>
            <a:pPr>
              <a:lnSpc>
                <a:spcPct val="120000"/>
              </a:lnSpc>
            </a:pPr>
            <a:r>
              <a:rPr lang="en-US" sz="885" dirty="0">
                <a:solidFill>
                  <a:srgbClr val="2D3142"/>
                </a:solidFill>
                <a:latin typeface="MiSans" pitchFamily="34" charset="0"/>
                <a:ea typeface="MiSans" pitchFamily="34" charset="-122"/>
                <a:cs typeface="MiSans" pitchFamily="34" charset="-120"/>
              </a:rPr>
              <a:t>{ highWaterMark: 64 * 1024 }</a:t>
            </a:r>
            <a:endParaRPr lang="en-US" sz="1600" dirty="0"/>
          </a:p>
        </p:txBody>
      </p:sp>
      <p:sp>
        <p:nvSpPr>
          <p:cNvPr id="53" name="Text 51"/>
          <p:cNvSpPr/>
          <p:nvPr/>
        </p:nvSpPr>
        <p:spPr>
          <a:xfrm>
            <a:off x="7011793" y="5228585"/>
            <a:ext cx="4650308" cy="160632"/>
          </a:xfrm>
          <a:prstGeom prst="rect">
            <a:avLst/>
          </a:prstGeom>
          <a:noFill/>
          <a:ln/>
        </p:spPr>
        <p:txBody>
          <a:bodyPr wrap="square" lIns="0" tIns="0" rIns="0" bIns="0" rtlCol="0" anchor="ctr"/>
          <a:lstStyle/>
          <a:p>
            <a:pPr>
              <a:lnSpc>
                <a:spcPct val="120000"/>
              </a:lnSpc>
            </a:pPr>
            <a:r>
              <a:rPr lang="en-US" sz="885" dirty="0">
                <a:solidFill>
                  <a:srgbClr val="E07A5F"/>
                </a:solidFill>
                <a:latin typeface="MiSans" pitchFamily="34" charset="0"/>
                <a:ea typeface="MiSans" pitchFamily="34" charset="-122"/>
                <a:cs typeface="MiSans" pitchFamily="34" charset="-120"/>
              </a:rPr>
              <a:t>);</a:t>
            </a:r>
            <a:endParaRPr lang="en-US" sz="1600" dirty="0"/>
          </a:p>
        </p:txBody>
      </p:sp>
      <p:sp>
        <p:nvSpPr>
          <p:cNvPr id="54" name="Shape 52"/>
          <p:cNvSpPr/>
          <p:nvPr/>
        </p:nvSpPr>
        <p:spPr>
          <a:xfrm>
            <a:off x="325281" y="5851036"/>
            <a:ext cx="11541439" cy="682688"/>
          </a:xfrm>
          <a:custGeom>
            <a:avLst/>
            <a:gdLst/>
            <a:ahLst/>
            <a:cxnLst/>
            <a:rect l="l" t="t" r="r" b="b"/>
            <a:pathLst>
              <a:path w="11541439" h="682688">
                <a:moveTo>
                  <a:pt x="64255" y="0"/>
                </a:moveTo>
                <a:lnTo>
                  <a:pt x="11477184" y="0"/>
                </a:lnTo>
                <a:cubicBezTo>
                  <a:pt x="11512671" y="0"/>
                  <a:pt x="11541439" y="28768"/>
                  <a:pt x="11541439" y="64255"/>
                </a:cubicBezTo>
                <a:lnTo>
                  <a:pt x="11541439" y="618433"/>
                </a:lnTo>
                <a:cubicBezTo>
                  <a:pt x="11541439" y="653920"/>
                  <a:pt x="11512671" y="682688"/>
                  <a:pt x="11477184" y="682688"/>
                </a:cubicBezTo>
                <a:lnTo>
                  <a:pt x="64255" y="682688"/>
                </a:lnTo>
                <a:cubicBezTo>
                  <a:pt x="28768" y="682688"/>
                  <a:pt x="0" y="653920"/>
                  <a:pt x="0" y="618433"/>
                </a:cubicBezTo>
                <a:lnTo>
                  <a:pt x="0" y="64255"/>
                </a:lnTo>
                <a:cubicBezTo>
                  <a:pt x="0" y="28792"/>
                  <a:pt x="28792" y="0"/>
                  <a:pt x="64255" y="0"/>
                </a:cubicBezTo>
                <a:close/>
              </a:path>
            </a:pathLst>
          </a:custGeom>
          <a:solidFill>
            <a:srgbClr val="EAE7D6"/>
          </a:solidFill>
          <a:ln/>
        </p:spPr>
        <p:txBody>
          <a:bodyPr/>
          <a:lstStyle/>
          <a:p>
            <a:endParaRPr lang="en-US"/>
          </a:p>
        </p:txBody>
      </p:sp>
      <p:sp>
        <p:nvSpPr>
          <p:cNvPr id="55" name="Shape 53"/>
          <p:cNvSpPr/>
          <p:nvPr/>
        </p:nvSpPr>
        <p:spPr>
          <a:xfrm>
            <a:off x="497960" y="6112063"/>
            <a:ext cx="120474" cy="160632"/>
          </a:xfrm>
          <a:custGeom>
            <a:avLst/>
            <a:gdLst/>
            <a:ahLst/>
            <a:cxnLst/>
            <a:rect l="l" t="t" r="r" b="b"/>
            <a:pathLst>
              <a:path w="120474" h="160632">
                <a:moveTo>
                  <a:pt x="91893" y="120474"/>
                </a:moveTo>
                <a:cubicBezTo>
                  <a:pt x="94183" y="113478"/>
                  <a:pt x="98764" y="107141"/>
                  <a:pt x="103940" y="101682"/>
                </a:cubicBezTo>
                <a:cubicBezTo>
                  <a:pt x="114200" y="90889"/>
                  <a:pt x="120474" y="76300"/>
                  <a:pt x="120474" y="60237"/>
                </a:cubicBezTo>
                <a:cubicBezTo>
                  <a:pt x="120474" y="26981"/>
                  <a:pt x="93493" y="0"/>
                  <a:pt x="60237" y="0"/>
                </a:cubicBezTo>
                <a:cubicBezTo>
                  <a:pt x="26981" y="0"/>
                  <a:pt x="0" y="26981"/>
                  <a:pt x="0" y="60237"/>
                </a:cubicBezTo>
                <a:cubicBezTo>
                  <a:pt x="0" y="76300"/>
                  <a:pt x="6275" y="90889"/>
                  <a:pt x="16534" y="101682"/>
                </a:cubicBezTo>
                <a:cubicBezTo>
                  <a:pt x="21710" y="107141"/>
                  <a:pt x="26322" y="113478"/>
                  <a:pt x="28581" y="120474"/>
                </a:cubicBezTo>
                <a:lnTo>
                  <a:pt x="91862" y="120474"/>
                </a:lnTo>
                <a:close/>
                <a:moveTo>
                  <a:pt x="90356" y="135534"/>
                </a:moveTo>
                <a:lnTo>
                  <a:pt x="30119" y="135534"/>
                </a:lnTo>
                <a:lnTo>
                  <a:pt x="30119" y="140553"/>
                </a:lnTo>
                <a:cubicBezTo>
                  <a:pt x="30119" y="154420"/>
                  <a:pt x="41350" y="165652"/>
                  <a:pt x="55217" y="165652"/>
                </a:cubicBezTo>
                <a:lnTo>
                  <a:pt x="65257" y="165652"/>
                </a:lnTo>
                <a:cubicBezTo>
                  <a:pt x="79124" y="165652"/>
                  <a:pt x="90356" y="154420"/>
                  <a:pt x="90356" y="140553"/>
                </a:cubicBezTo>
                <a:lnTo>
                  <a:pt x="90356" y="135534"/>
                </a:lnTo>
                <a:close/>
                <a:moveTo>
                  <a:pt x="57727" y="35138"/>
                </a:moveTo>
                <a:cubicBezTo>
                  <a:pt x="45241" y="35138"/>
                  <a:pt x="35138" y="45241"/>
                  <a:pt x="35138" y="57727"/>
                </a:cubicBezTo>
                <a:cubicBezTo>
                  <a:pt x="35138" y="61900"/>
                  <a:pt x="31781" y="65257"/>
                  <a:pt x="27609" y="65257"/>
                </a:cubicBezTo>
                <a:cubicBezTo>
                  <a:pt x="23436" y="65257"/>
                  <a:pt x="20079" y="61900"/>
                  <a:pt x="20079" y="57727"/>
                </a:cubicBezTo>
                <a:cubicBezTo>
                  <a:pt x="20079" y="36927"/>
                  <a:pt x="36927" y="20079"/>
                  <a:pt x="57727" y="20079"/>
                </a:cubicBezTo>
                <a:cubicBezTo>
                  <a:pt x="61900" y="20079"/>
                  <a:pt x="65257" y="23436"/>
                  <a:pt x="65257" y="27609"/>
                </a:cubicBezTo>
                <a:cubicBezTo>
                  <a:pt x="65257" y="31781"/>
                  <a:pt x="61900" y="35138"/>
                  <a:pt x="57727" y="35138"/>
                </a:cubicBezTo>
                <a:close/>
              </a:path>
            </a:pathLst>
          </a:custGeom>
          <a:solidFill>
            <a:srgbClr val="8D99AE"/>
          </a:solidFill>
          <a:ln/>
        </p:spPr>
        <p:txBody>
          <a:bodyPr/>
          <a:lstStyle/>
          <a:p>
            <a:endParaRPr lang="en-US"/>
          </a:p>
        </p:txBody>
      </p:sp>
      <p:sp>
        <p:nvSpPr>
          <p:cNvPr id="56" name="Text 54"/>
          <p:cNvSpPr/>
          <p:nvPr/>
        </p:nvSpPr>
        <p:spPr>
          <a:xfrm>
            <a:off x="754972" y="5983557"/>
            <a:ext cx="11003320" cy="224885"/>
          </a:xfrm>
          <a:prstGeom prst="rect">
            <a:avLst/>
          </a:prstGeom>
          <a:noFill/>
          <a:ln/>
        </p:spPr>
        <p:txBody>
          <a:bodyPr wrap="square" lIns="0" tIns="0" rIns="0" bIns="0" rtlCol="0" anchor="ctr"/>
          <a:lstStyle/>
          <a:p>
            <a:pPr>
              <a:lnSpc>
                <a:spcPct val="130000"/>
              </a:lnSpc>
            </a:pPr>
            <a:r>
              <a:rPr lang="en-US" sz="1138" b="1" dirty="0">
                <a:solidFill>
                  <a:srgbClr val="2D3142"/>
                </a:solidFill>
                <a:latin typeface="Quattrocento Sans" pitchFamily="34" charset="0"/>
                <a:ea typeface="Quattrocento Sans" pitchFamily="34" charset="-122"/>
                <a:cs typeface="Quattrocento Sans" pitchFamily="34" charset="-120"/>
              </a:rPr>
              <a:t>Used for Performance Tuning</a:t>
            </a:r>
            <a:endParaRPr lang="en-US" sz="1600" dirty="0"/>
          </a:p>
        </p:txBody>
      </p:sp>
      <p:sp>
        <p:nvSpPr>
          <p:cNvPr id="57" name="Text 55"/>
          <p:cNvSpPr/>
          <p:nvPr/>
        </p:nvSpPr>
        <p:spPr>
          <a:xfrm>
            <a:off x="754972" y="6208443"/>
            <a:ext cx="10995289" cy="192759"/>
          </a:xfrm>
          <a:prstGeom prst="rect">
            <a:avLst/>
          </a:prstGeom>
          <a:noFill/>
          <a:ln/>
        </p:spPr>
        <p:txBody>
          <a:bodyPr wrap="square" lIns="0" tIns="0" rIns="0" bIns="0" rtlCol="0" anchor="ctr"/>
          <a:lstStyle/>
          <a:p>
            <a:pPr>
              <a:lnSpc>
                <a:spcPct val="120000"/>
              </a:lnSpc>
            </a:pPr>
            <a:r>
              <a:rPr lang="en-US" sz="1012" dirty="0">
                <a:solidFill>
                  <a:srgbClr val="2D3142"/>
                </a:solidFill>
                <a:latin typeface="Quattrocento Sans" pitchFamily="34" charset="0"/>
                <a:ea typeface="Quattrocento Sans" pitchFamily="34" charset="-122"/>
                <a:cs typeface="Quattrocento Sans" pitchFamily="34" charset="-120"/>
              </a:rPr>
              <a:t>Adjust highWaterMark based on your workload characteristics. Large files benefit from larger buffers, while memory-constrained environments need smaller ones. Benchmark to find optimal values.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33799" y="383869"/>
            <a:ext cx="400559" cy="400559"/>
          </a:xfrm>
          <a:custGeom>
            <a:avLst/>
            <a:gdLst/>
            <a:ahLst/>
            <a:cxnLst/>
            <a:rect l="l" t="t" r="r" b="b"/>
            <a:pathLst>
              <a:path w="400559" h="400559">
                <a:moveTo>
                  <a:pt x="66761" y="0"/>
                </a:moveTo>
                <a:lnTo>
                  <a:pt x="333797" y="0"/>
                </a:lnTo>
                <a:cubicBezTo>
                  <a:pt x="370644" y="0"/>
                  <a:pt x="400559" y="29915"/>
                  <a:pt x="400559" y="66761"/>
                </a:cubicBezTo>
                <a:lnTo>
                  <a:pt x="400559" y="333797"/>
                </a:lnTo>
                <a:cubicBezTo>
                  <a:pt x="400559" y="370644"/>
                  <a:pt x="370644" y="400559"/>
                  <a:pt x="333797" y="400559"/>
                </a:cubicBezTo>
                <a:lnTo>
                  <a:pt x="66761" y="400559"/>
                </a:lnTo>
                <a:cubicBezTo>
                  <a:pt x="29915" y="400559"/>
                  <a:pt x="0" y="370644"/>
                  <a:pt x="0" y="333797"/>
                </a:cubicBezTo>
                <a:lnTo>
                  <a:pt x="0" y="66761"/>
                </a:lnTo>
                <a:cubicBezTo>
                  <a:pt x="0" y="29915"/>
                  <a:pt x="29915" y="0"/>
                  <a:pt x="66761"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40197" y="500698"/>
            <a:ext cx="187762" cy="166899"/>
          </a:xfrm>
          <a:custGeom>
            <a:avLst/>
            <a:gdLst/>
            <a:ahLst/>
            <a:cxnLst/>
            <a:rect l="l" t="t" r="r" b="b"/>
            <a:pathLst>
              <a:path w="187762" h="166899">
                <a:moveTo>
                  <a:pt x="136747" y="31294"/>
                </a:moveTo>
                <a:cubicBezTo>
                  <a:pt x="131335" y="31294"/>
                  <a:pt x="126087" y="32761"/>
                  <a:pt x="121491" y="35434"/>
                </a:cubicBezTo>
                <a:cubicBezTo>
                  <a:pt x="116341" y="30218"/>
                  <a:pt x="110343" y="25850"/>
                  <a:pt x="103725" y="22557"/>
                </a:cubicBezTo>
                <a:cubicBezTo>
                  <a:pt x="112918" y="14734"/>
                  <a:pt x="124620" y="10431"/>
                  <a:pt x="136747" y="10431"/>
                </a:cubicBezTo>
                <a:cubicBezTo>
                  <a:pt x="164911" y="10431"/>
                  <a:pt x="187762" y="33249"/>
                  <a:pt x="187762" y="61446"/>
                </a:cubicBezTo>
                <a:cubicBezTo>
                  <a:pt x="187762" y="74974"/>
                  <a:pt x="182383" y="87948"/>
                  <a:pt x="172832" y="97499"/>
                </a:cubicBezTo>
                <a:lnTo>
                  <a:pt x="149655" y="120676"/>
                </a:lnTo>
                <a:cubicBezTo>
                  <a:pt x="140104" y="130227"/>
                  <a:pt x="127130" y="135606"/>
                  <a:pt x="113602" y="135606"/>
                </a:cubicBezTo>
                <a:cubicBezTo>
                  <a:pt x="85438" y="135606"/>
                  <a:pt x="62587" y="112787"/>
                  <a:pt x="62587" y="84591"/>
                </a:cubicBezTo>
                <a:cubicBezTo>
                  <a:pt x="62587" y="84102"/>
                  <a:pt x="62587" y="83613"/>
                  <a:pt x="62620" y="83124"/>
                </a:cubicBezTo>
                <a:cubicBezTo>
                  <a:pt x="62783" y="77354"/>
                  <a:pt x="67575" y="72823"/>
                  <a:pt x="73344" y="72986"/>
                </a:cubicBezTo>
                <a:cubicBezTo>
                  <a:pt x="79114" y="73149"/>
                  <a:pt x="83645" y="77941"/>
                  <a:pt x="83482" y="83710"/>
                </a:cubicBezTo>
                <a:cubicBezTo>
                  <a:pt x="83482" y="84004"/>
                  <a:pt x="83482" y="84297"/>
                  <a:pt x="83482" y="84558"/>
                </a:cubicBezTo>
                <a:cubicBezTo>
                  <a:pt x="83482" y="101215"/>
                  <a:pt x="96978" y="114711"/>
                  <a:pt x="113635" y="114711"/>
                </a:cubicBezTo>
                <a:cubicBezTo>
                  <a:pt x="121621" y="114711"/>
                  <a:pt x="129282" y="111549"/>
                  <a:pt x="134954" y="105877"/>
                </a:cubicBezTo>
                <a:lnTo>
                  <a:pt x="158131" y="82700"/>
                </a:lnTo>
                <a:cubicBezTo>
                  <a:pt x="163770" y="77061"/>
                  <a:pt x="166965" y="69368"/>
                  <a:pt x="166965" y="61381"/>
                </a:cubicBezTo>
                <a:cubicBezTo>
                  <a:pt x="166965" y="44724"/>
                  <a:pt x="153469" y="31228"/>
                  <a:pt x="136812" y="31228"/>
                </a:cubicBezTo>
                <a:close/>
                <a:moveTo>
                  <a:pt x="89708" y="56492"/>
                </a:moveTo>
                <a:cubicBezTo>
                  <a:pt x="89089" y="56231"/>
                  <a:pt x="88470" y="55872"/>
                  <a:pt x="87916" y="55481"/>
                </a:cubicBezTo>
                <a:cubicBezTo>
                  <a:pt x="83808" y="53362"/>
                  <a:pt x="79114" y="52156"/>
                  <a:pt x="74192" y="52156"/>
                </a:cubicBezTo>
                <a:cubicBezTo>
                  <a:pt x="66206" y="52156"/>
                  <a:pt x="58545" y="55318"/>
                  <a:pt x="52873" y="60990"/>
                </a:cubicBezTo>
                <a:lnTo>
                  <a:pt x="29696" y="84167"/>
                </a:lnTo>
                <a:cubicBezTo>
                  <a:pt x="24057" y="89806"/>
                  <a:pt x="20862" y="97499"/>
                  <a:pt x="20862" y="105486"/>
                </a:cubicBezTo>
                <a:cubicBezTo>
                  <a:pt x="20862" y="122143"/>
                  <a:pt x="34358" y="135638"/>
                  <a:pt x="51015" y="135638"/>
                </a:cubicBezTo>
                <a:cubicBezTo>
                  <a:pt x="56394" y="135638"/>
                  <a:pt x="61642" y="134204"/>
                  <a:pt x="66238" y="131531"/>
                </a:cubicBezTo>
                <a:cubicBezTo>
                  <a:pt x="71389" y="136747"/>
                  <a:pt x="77387" y="141115"/>
                  <a:pt x="84036" y="144407"/>
                </a:cubicBezTo>
                <a:cubicBezTo>
                  <a:pt x="74844" y="152198"/>
                  <a:pt x="63174" y="156533"/>
                  <a:pt x="51015" y="156533"/>
                </a:cubicBezTo>
                <a:cubicBezTo>
                  <a:pt x="22851" y="156533"/>
                  <a:pt x="0" y="133715"/>
                  <a:pt x="0" y="105518"/>
                </a:cubicBezTo>
                <a:cubicBezTo>
                  <a:pt x="0" y="91990"/>
                  <a:pt x="5379" y="79016"/>
                  <a:pt x="14930" y="69465"/>
                </a:cubicBezTo>
                <a:lnTo>
                  <a:pt x="38107" y="46289"/>
                </a:lnTo>
                <a:cubicBezTo>
                  <a:pt x="47658" y="36737"/>
                  <a:pt x="60631" y="31359"/>
                  <a:pt x="74159" y="31359"/>
                </a:cubicBezTo>
                <a:cubicBezTo>
                  <a:pt x="102389" y="31359"/>
                  <a:pt x="125175" y="54373"/>
                  <a:pt x="125175" y="82504"/>
                </a:cubicBezTo>
                <a:cubicBezTo>
                  <a:pt x="125175" y="82928"/>
                  <a:pt x="125175" y="83352"/>
                  <a:pt x="125175" y="83776"/>
                </a:cubicBezTo>
                <a:cubicBezTo>
                  <a:pt x="125044" y="89545"/>
                  <a:pt x="120252" y="94076"/>
                  <a:pt x="114483" y="93946"/>
                </a:cubicBezTo>
                <a:cubicBezTo>
                  <a:pt x="108713" y="93816"/>
                  <a:pt x="104182" y="89024"/>
                  <a:pt x="104312" y="83254"/>
                </a:cubicBezTo>
                <a:cubicBezTo>
                  <a:pt x="104312" y="82993"/>
                  <a:pt x="104312" y="82765"/>
                  <a:pt x="104312" y="82504"/>
                </a:cubicBezTo>
                <a:cubicBezTo>
                  <a:pt x="104312" y="71519"/>
                  <a:pt x="98445" y="61870"/>
                  <a:pt x="89708" y="56557"/>
                </a:cubicBezTo>
                <a:close/>
              </a:path>
            </a:pathLst>
          </a:custGeom>
          <a:solidFill>
            <a:srgbClr val="FFFFFF"/>
          </a:solidFill>
          <a:ln/>
        </p:spPr>
        <p:txBody>
          <a:bodyPr/>
          <a:lstStyle/>
          <a:p>
            <a:endParaRPr lang="en-US"/>
          </a:p>
        </p:txBody>
      </p:sp>
      <p:sp>
        <p:nvSpPr>
          <p:cNvPr id="4" name="Text 2"/>
          <p:cNvSpPr/>
          <p:nvPr/>
        </p:nvSpPr>
        <p:spPr>
          <a:xfrm>
            <a:off x="834497" y="333799"/>
            <a:ext cx="1343540" cy="166899"/>
          </a:xfrm>
          <a:prstGeom prst="rect">
            <a:avLst/>
          </a:prstGeom>
          <a:noFill/>
          <a:ln/>
        </p:spPr>
        <p:txBody>
          <a:bodyPr wrap="square" lIns="0" tIns="0" rIns="0" bIns="0" rtlCol="0" anchor="ctr"/>
          <a:lstStyle/>
          <a:p>
            <a:pPr>
              <a:lnSpc>
                <a:spcPct val="120000"/>
              </a:lnSpc>
            </a:pPr>
            <a:r>
              <a:rPr lang="en-US" sz="920" b="1" kern="0" spc="46" dirty="0">
                <a:solidFill>
                  <a:srgbClr val="8D99AE"/>
                </a:solidFill>
                <a:latin typeface="Quattrocento Sans" pitchFamily="34" charset="0"/>
                <a:ea typeface="Quattrocento Sans" pitchFamily="34" charset="-122"/>
                <a:cs typeface="Quattrocento Sans" pitchFamily="34" charset="-120"/>
              </a:rPr>
              <a:t>Stream Connection</a:t>
            </a:r>
            <a:endParaRPr lang="en-US" sz="1600" dirty="0"/>
          </a:p>
        </p:txBody>
      </p:sp>
      <p:sp>
        <p:nvSpPr>
          <p:cNvPr id="5" name="Text 3"/>
          <p:cNvSpPr/>
          <p:nvPr/>
        </p:nvSpPr>
        <p:spPr>
          <a:xfrm>
            <a:off x="834497" y="500698"/>
            <a:ext cx="1435335" cy="333799"/>
          </a:xfrm>
          <a:prstGeom prst="rect">
            <a:avLst/>
          </a:prstGeom>
          <a:noFill/>
          <a:ln/>
        </p:spPr>
        <p:txBody>
          <a:bodyPr wrap="square" lIns="0" tIns="0" rIns="0" bIns="0" rtlCol="0" anchor="ctr"/>
          <a:lstStyle/>
          <a:p>
            <a:pPr>
              <a:lnSpc>
                <a:spcPct val="90000"/>
              </a:lnSpc>
            </a:pPr>
            <a:r>
              <a:rPr lang="en-US" sz="2366" b="1" dirty="0">
                <a:solidFill>
                  <a:srgbClr val="2D3142"/>
                </a:solidFill>
                <a:latin typeface="Liter" pitchFamily="34" charset="0"/>
                <a:ea typeface="Liter" pitchFamily="34" charset="-122"/>
                <a:cs typeface="Liter" pitchFamily="34" charset="-120"/>
              </a:rPr>
              <a:t>pipe()</a:t>
            </a:r>
            <a:endParaRPr lang="en-US" sz="1600" dirty="0"/>
          </a:p>
        </p:txBody>
      </p:sp>
      <p:sp>
        <p:nvSpPr>
          <p:cNvPr id="6" name="Shape 4"/>
          <p:cNvSpPr/>
          <p:nvPr/>
        </p:nvSpPr>
        <p:spPr>
          <a:xfrm>
            <a:off x="333799" y="934637"/>
            <a:ext cx="1068156" cy="33380"/>
          </a:xfrm>
          <a:custGeom>
            <a:avLst/>
            <a:gdLst/>
            <a:ahLst/>
            <a:cxnLst/>
            <a:rect l="l" t="t" r="r" b="b"/>
            <a:pathLst>
              <a:path w="1068156" h="33380">
                <a:moveTo>
                  <a:pt x="0" y="0"/>
                </a:moveTo>
                <a:lnTo>
                  <a:pt x="1068156" y="0"/>
                </a:lnTo>
                <a:lnTo>
                  <a:pt x="1068156" y="33380"/>
                </a:lnTo>
                <a:lnTo>
                  <a:pt x="0" y="33380"/>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37971" y="1139088"/>
            <a:ext cx="5674579" cy="2219762"/>
          </a:xfrm>
          <a:custGeom>
            <a:avLst/>
            <a:gdLst/>
            <a:ahLst/>
            <a:cxnLst/>
            <a:rect l="l" t="t" r="r" b="b"/>
            <a:pathLst>
              <a:path w="5674579" h="2219762">
                <a:moveTo>
                  <a:pt x="100133" y="0"/>
                </a:moveTo>
                <a:lnTo>
                  <a:pt x="5574446" y="0"/>
                </a:lnTo>
                <a:cubicBezTo>
                  <a:pt x="5629748" y="0"/>
                  <a:pt x="5674579" y="44831"/>
                  <a:pt x="5674579" y="100133"/>
                </a:cubicBezTo>
                <a:lnTo>
                  <a:pt x="5674579" y="2119628"/>
                </a:lnTo>
                <a:cubicBezTo>
                  <a:pt x="5674579" y="2174931"/>
                  <a:pt x="5629748" y="2219762"/>
                  <a:pt x="5574446" y="2219762"/>
                </a:cubicBezTo>
                <a:lnTo>
                  <a:pt x="100133" y="2219762"/>
                </a:lnTo>
                <a:cubicBezTo>
                  <a:pt x="44831" y="2219762"/>
                  <a:pt x="0" y="2174931"/>
                  <a:pt x="0" y="2119628"/>
                </a:cubicBezTo>
                <a:lnTo>
                  <a:pt x="0" y="100133"/>
                </a:lnTo>
                <a:cubicBezTo>
                  <a:pt x="0" y="44868"/>
                  <a:pt x="44868" y="0"/>
                  <a:pt x="100133" y="0"/>
                </a:cubicBezTo>
                <a:close/>
              </a:path>
            </a:pathLst>
          </a:custGeom>
          <a:solidFill>
            <a:srgbClr val="EAE7D6"/>
          </a:solidFill>
          <a:ln/>
        </p:spPr>
        <p:txBody>
          <a:bodyPr/>
          <a:lstStyle/>
          <a:p>
            <a:endParaRPr lang="en-US"/>
          </a:p>
        </p:txBody>
      </p:sp>
      <p:sp>
        <p:nvSpPr>
          <p:cNvPr id="8" name="Shape 6"/>
          <p:cNvSpPr/>
          <p:nvPr/>
        </p:nvSpPr>
        <p:spPr>
          <a:xfrm>
            <a:off x="546595" y="1343540"/>
            <a:ext cx="175244" cy="200279"/>
          </a:xfrm>
          <a:custGeom>
            <a:avLst/>
            <a:gdLst/>
            <a:ahLst/>
            <a:cxnLst/>
            <a:rect l="l" t="t" r="r" b="b"/>
            <a:pathLst>
              <a:path w="175244" h="200279">
                <a:moveTo>
                  <a:pt x="50070" y="-12517"/>
                </a:moveTo>
                <a:cubicBezTo>
                  <a:pt x="56994" y="-12517"/>
                  <a:pt x="62587" y="-6924"/>
                  <a:pt x="62587" y="0"/>
                </a:cubicBezTo>
                <a:lnTo>
                  <a:pt x="62587" y="37552"/>
                </a:lnTo>
                <a:lnTo>
                  <a:pt x="112657" y="37552"/>
                </a:lnTo>
                <a:lnTo>
                  <a:pt x="112657" y="0"/>
                </a:lnTo>
                <a:cubicBezTo>
                  <a:pt x="112657" y="-6924"/>
                  <a:pt x="118251" y="-12517"/>
                  <a:pt x="125175" y="-12517"/>
                </a:cubicBezTo>
                <a:cubicBezTo>
                  <a:pt x="132098" y="-12517"/>
                  <a:pt x="137692" y="-6924"/>
                  <a:pt x="137692" y="0"/>
                </a:cubicBezTo>
                <a:lnTo>
                  <a:pt x="137692" y="37552"/>
                </a:lnTo>
                <a:lnTo>
                  <a:pt x="162727" y="37552"/>
                </a:lnTo>
                <a:cubicBezTo>
                  <a:pt x="169651" y="37552"/>
                  <a:pt x="175244" y="43146"/>
                  <a:pt x="175244" y="50070"/>
                </a:cubicBezTo>
                <a:cubicBezTo>
                  <a:pt x="175244" y="56994"/>
                  <a:pt x="169651" y="62587"/>
                  <a:pt x="162727" y="62587"/>
                </a:cubicBezTo>
                <a:lnTo>
                  <a:pt x="162727" y="87622"/>
                </a:lnTo>
                <a:cubicBezTo>
                  <a:pt x="162727" y="124822"/>
                  <a:pt x="135658" y="155725"/>
                  <a:pt x="100140" y="161671"/>
                </a:cubicBezTo>
                <a:lnTo>
                  <a:pt x="100140" y="187762"/>
                </a:lnTo>
                <a:cubicBezTo>
                  <a:pt x="100140" y="194686"/>
                  <a:pt x="94546" y="200279"/>
                  <a:pt x="87622" y="200279"/>
                </a:cubicBezTo>
                <a:cubicBezTo>
                  <a:pt x="80698" y="200279"/>
                  <a:pt x="75105" y="194686"/>
                  <a:pt x="75105" y="187762"/>
                </a:cubicBezTo>
                <a:lnTo>
                  <a:pt x="75105" y="161671"/>
                </a:lnTo>
                <a:cubicBezTo>
                  <a:pt x="39586" y="155725"/>
                  <a:pt x="12517" y="124822"/>
                  <a:pt x="12517" y="87622"/>
                </a:cubicBezTo>
                <a:lnTo>
                  <a:pt x="12517" y="62587"/>
                </a:lnTo>
                <a:cubicBezTo>
                  <a:pt x="5594" y="62587"/>
                  <a:pt x="0" y="56994"/>
                  <a:pt x="0" y="50070"/>
                </a:cubicBezTo>
                <a:cubicBezTo>
                  <a:pt x="0" y="43146"/>
                  <a:pt x="5594" y="37552"/>
                  <a:pt x="12517" y="37552"/>
                </a:cubicBezTo>
                <a:lnTo>
                  <a:pt x="37552" y="37552"/>
                </a:lnTo>
                <a:lnTo>
                  <a:pt x="37552" y="0"/>
                </a:lnTo>
                <a:cubicBezTo>
                  <a:pt x="37552" y="-6924"/>
                  <a:pt x="43146" y="-12517"/>
                  <a:pt x="50070" y="-12517"/>
                </a:cubicBezTo>
                <a:close/>
              </a:path>
            </a:pathLst>
          </a:custGeom>
          <a:solidFill>
            <a:srgbClr val="E07A5F"/>
          </a:solidFill>
          <a:ln/>
        </p:spPr>
        <p:txBody>
          <a:bodyPr/>
          <a:lstStyle/>
          <a:p>
            <a:endParaRPr lang="en-US"/>
          </a:p>
        </p:txBody>
      </p:sp>
      <p:sp>
        <p:nvSpPr>
          <p:cNvPr id="9" name="Text 7"/>
          <p:cNvSpPr/>
          <p:nvPr/>
        </p:nvSpPr>
        <p:spPr>
          <a:xfrm>
            <a:off x="859531" y="1310160"/>
            <a:ext cx="1887333" cy="267039"/>
          </a:xfrm>
          <a:prstGeom prst="rect">
            <a:avLst/>
          </a:prstGeom>
          <a:noFill/>
          <a:ln/>
        </p:spPr>
        <p:txBody>
          <a:bodyPr wrap="square" lIns="0" tIns="0" rIns="0" bIns="0" rtlCol="0" anchor="ctr"/>
          <a:lstStyle/>
          <a:p>
            <a:pPr>
              <a:lnSpc>
                <a:spcPct val="110000"/>
              </a:lnSpc>
            </a:pPr>
            <a:r>
              <a:rPr lang="en-US" sz="1577" b="1" dirty="0">
                <a:solidFill>
                  <a:srgbClr val="2D3142"/>
                </a:solidFill>
                <a:latin typeface="Quattrocento Sans" pitchFamily="34" charset="0"/>
                <a:ea typeface="Quattrocento Sans" pitchFamily="34" charset="-122"/>
                <a:cs typeface="Quattrocento Sans" pitchFamily="34" charset="-120"/>
              </a:rPr>
              <a:t>What is pipe()?</a:t>
            </a:r>
            <a:endParaRPr lang="en-US" sz="1600" dirty="0"/>
          </a:p>
        </p:txBody>
      </p:sp>
      <p:sp>
        <p:nvSpPr>
          <p:cNvPr id="10" name="Text 8"/>
          <p:cNvSpPr/>
          <p:nvPr/>
        </p:nvSpPr>
        <p:spPr>
          <a:xfrm>
            <a:off x="509043" y="1710719"/>
            <a:ext cx="5399195" cy="442283"/>
          </a:xfrm>
          <a:prstGeom prst="rect">
            <a:avLst/>
          </a:prstGeom>
          <a:noFill/>
          <a:ln/>
        </p:spPr>
        <p:txBody>
          <a:bodyPr wrap="square" lIns="0" tIns="0" rIns="0" bIns="0" rtlCol="0" anchor="ctr"/>
          <a:lstStyle/>
          <a:p>
            <a:pPr>
              <a:lnSpc>
                <a:spcPct val="140000"/>
              </a:lnSpc>
            </a:pPr>
            <a:r>
              <a:rPr lang="en-US" sz="1051" dirty="0">
                <a:solidFill>
                  <a:srgbClr val="2D3142"/>
                </a:solidFill>
                <a:latin typeface="Quattrocento Sans" pitchFamily="34" charset="0"/>
                <a:ea typeface="Quattrocento Sans" pitchFamily="34" charset="-122"/>
                <a:cs typeface="Quattrocento Sans" pitchFamily="34" charset="-120"/>
              </a:rPr>
              <a:t>The </a:t>
            </a:r>
            <a:r>
              <a:rPr lang="en-US" sz="1051" b="1" dirty="0">
                <a:solidFill>
                  <a:srgbClr val="2D3142"/>
                </a:solidFill>
                <a:highlight>
                  <a:srgbClr val="E07A5F">
                    <a:alpha val="30000"/>
                  </a:srgbClr>
                </a:highlight>
                <a:latin typeface="MiSans" pitchFamily="34" charset="0"/>
                <a:ea typeface="MiSans" pitchFamily="34" charset="-122"/>
                <a:cs typeface="MiSans" pitchFamily="34" charset="-120"/>
              </a:rPr>
              <a:t>pipe() </a:t>
            </a:r>
            <a:r>
              <a:rPr lang="en-US" sz="1051" dirty="0">
                <a:solidFill>
                  <a:srgbClr val="2D3142"/>
                </a:solidFill>
                <a:latin typeface="Quattrocento Sans" pitchFamily="34" charset="0"/>
                <a:ea typeface="Quattrocento Sans" pitchFamily="34" charset="-122"/>
                <a:cs typeface="Quattrocento Sans" pitchFamily="34" charset="-120"/>
              </a:rPr>
              <a:t>method connects a </a:t>
            </a:r>
            <a:r>
              <a:rPr lang="en-US" sz="1051" b="1" dirty="0">
                <a:solidFill>
                  <a:srgbClr val="2D3142"/>
                </a:solidFill>
                <a:latin typeface="Quattrocento Sans" pitchFamily="34" charset="0"/>
                <a:ea typeface="Quattrocento Sans" pitchFamily="34" charset="-122"/>
                <a:cs typeface="Quattrocento Sans" pitchFamily="34" charset="-120"/>
              </a:rPr>
              <a:t>Readable stream</a:t>
            </a:r>
            <a:r>
              <a:rPr lang="en-US" sz="1051" dirty="0">
                <a:solidFill>
                  <a:srgbClr val="2D3142"/>
                </a:solidFill>
                <a:latin typeface="Quattrocento Sans" pitchFamily="34" charset="0"/>
                <a:ea typeface="Quattrocento Sans" pitchFamily="34" charset="-122"/>
                <a:cs typeface="Quattrocento Sans" pitchFamily="34" charset="-120"/>
              </a:rPr>
              <a:t> to a </a:t>
            </a:r>
            <a:r>
              <a:rPr lang="en-US" sz="1051" b="1" dirty="0">
                <a:solidFill>
                  <a:srgbClr val="2D3142"/>
                </a:solidFill>
                <a:latin typeface="Quattrocento Sans" pitchFamily="34" charset="0"/>
                <a:ea typeface="Quattrocento Sans" pitchFamily="34" charset="-122"/>
                <a:cs typeface="Quattrocento Sans" pitchFamily="34" charset="-120"/>
              </a:rPr>
              <a:t>Writable stream</a:t>
            </a:r>
            <a:r>
              <a:rPr lang="en-US" sz="1051" dirty="0">
                <a:solidFill>
                  <a:srgbClr val="2D3142"/>
                </a:solidFill>
                <a:latin typeface="Quattrocento Sans" pitchFamily="34" charset="0"/>
                <a:ea typeface="Quattrocento Sans" pitchFamily="34" charset="-122"/>
                <a:cs typeface="Quattrocento Sans" pitchFamily="34" charset="-120"/>
              </a:rPr>
              <a:t>, automatically handling data flow and backpressure.</a:t>
            </a:r>
            <a:endParaRPr lang="en-US" sz="1600" dirty="0"/>
          </a:p>
        </p:txBody>
      </p:sp>
      <p:sp>
        <p:nvSpPr>
          <p:cNvPr id="11" name="Shape 9"/>
          <p:cNvSpPr/>
          <p:nvPr/>
        </p:nvSpPr>
        <p:spPr>
          <a:xfrm>
            <a:off x="509043" y="2286522"/>
            <a:ext cx="5332435" cy="901257"/>
          </a:xfrm>
          <a:custGeom>
            <a:avLst/>
            <a:gdLst/>
            <a:ahLst/>
            <a:cxnLst/>
            <a:rect l="l" t="t" r="r" b="b"/>
            <a:pathLst>
              <a:path w="5332435" h="901257">
                <a:moveTo>
                  <a:pt x="66756" y="0"/>
                </a:moveTo>
                <a:lnTo>
                  <a:pt x="5265679" y="0"/>
                </a:lnTo>
                <a:cubicBezTo>
                  <a:pt x="5302548" y="0"/>
                  <a:pt x="5332435" y="29888"/>
                  <a:pt x="5332435" y="66756"/>
                </a:cubicBezTo>
                <a:lnTo>
                  <a:pt x="5332435" y="834501"/>
                </a:lnTo>
                <a:cubicBezTo>
                  <a:pt x="5332435" y="871369"/>
                  <a:pt x="5302548" y="901257"/>
                  <a:pt x="5265679" y="901257"/>
                </a:cubicBezTo>
                <a:lnTo>
                  <a:pt x="66756" y="901257"/>
                </a:lnTo>
                <a:cubicBezTo>
                  <a:pt x="29888" y="901257"/>
                  <a:pt x="0" y="871369"/>
                  <a:pt x="0" y="834501"/>
                </a:cubicBezTo>
                <a:lnTo>
                  <a:pt x="0" y="66756"/>
                </a:lnTo>
                <a:cubicBezTo>
                  <a:pt x="0" y="29912"/>
                  <a:pt x="29912" y="0"/>
                  <a:pt x="66756" y="0"/>
                </a:cubicBezTo>
                <a:close/>
              </a:path>
            </a:pathLst>
          </a:custGeom>
          <a:solidFill>
            <a:srgbClr val="EAE7D6"/>
          </a:solidFill>
          <a:ln/>
        </p:spPr>
        <p:txBody>
          <a:bodyPr/>
          <a:lstStyle/>
          <a:p>
            <a:endParaRPr lang="en-US"/>
          </a:p>
        </p:txBody>
      </p:sp>
      <p:sp>
        <p:nvSpPr>
          <p:cNvPr id="12" name="Text 10"/>
          <p:cNvSpPr/>
          <p:nvPr/>
        </p:nvSpPr>
        <p:spPr>
          <a:xfrm>
            <a:off x="642563" y="2420041"/>
            <a:ext cx="5123811" cy="166899"/>
          </a:xfrm>
          <a:prstGeom prst="rect">
            <a:avLst/>
          </a:prstGeom>
          <a:noFill/>
          <a:ln/>
        </p:spPr>
        <p:txBody>
          <a:bodyPr wrap="square" lIns="0" tIns="0" rIns="0" bIns="0" rtlCol="0" anchor="ctr"/>
          <a:lstStyle/>
          <a:p>
            <a:pPr>
              <a:lnSpc>
                <a:spcPct val="120000"/>
              </a:lnSpc>
            </a:pPr>
            <a:r>
              <a:rPr lang="en-US" sz="920" dirty="0">
                <a:solidFill>
                  <a:srgbClr val="8D99AE"/>
                </a:solidFill>
                <a:latin typeface="Quattrocento Sans" pitchFamily="34" charset="0"/>
                <a:ea typeface="Quattrocento Sans" pitchFamily="34" charset="-122"/>
                <a:cs typeface="Quattrocento Sans" pitchFamily="34" charset="-120"/>
              </a:rPr>
              <a:t>Basic Syntax</a:t>
            </a:r>
            <a:endParaRPr lang="en-US" sz="1600" dirty="0"/>
          </a:p>
        </p:txBody>
      </p:sp>
      <p:sp>
        <p:nvSpPr>
          <p:cNvPr id="13" name="Shape 11"/>
          <p:cNvSpPr/>
          <p:nvPr/>
        </p:nvSpPr>
        <p:spPr>
          <a:xfrm>
            <a:off x="642563" y="2653700"/>
            <a:ext cx="5065396" cy="400559"/>
          </a:xfrm>
          <a:custGeom>
            <a:avLst/>
            <a:gdLst/>
            <a:ahLst/>
            <a:cxnLst/>
            <a:rect l="l" t="t" r="r" b="b"/>
            <a:pathLst>
              <a:path w="5065396" h="400559">
                <a:moveTo>
                  <a:pt x="33379" y="0"/>
                </a:moveTo>
                <a:lnTo>
                  <a:pt x="5032018" y="0"/>
                </a:lnTo>
                <a:cubicBezTo>
                  <a:pt x="5050452" y="0"/>
                  <a:pt x="5065396" y="14944"/>
                  <a:pt x="5065396" y="33379"/>
                </a:cubicBezTo>
                <a:lnTo>
                  <a:pt x="5065396" y="367180"/>
                </a:lnTo>
                <a:cubicBezTo>
                  <a:pt x="5065396" y="385614"/>
                  <a:pt x="5050452" y="400559"/>
                  <a:pt x="5032018" y="400559"/>
                </a:cubicBezTo>
                <a:lnTo>
                  <a:pt x="33379" y="400559"/>
                </a:lnTo>
                <a:cubicBezTo>
                  <a:pt x="14944" y="400559"/>
                  <a:pt x="0" y="385614"/>
                  <a:pt x="0" y="367180"/>
                </a:cubicBezTo>
                <a:lnTo>
                  <a:pt x="0" y="33379"/>
                </a:lnTo>
                <a:cubicBezTo>
                  <a:pt x="0" y="14956"/>
                  <a:pt x="14956" y="0"/>
                  <a:pt x="33379" y="0"/>
                </a:cubicBezTo>
                <a:close/>
              </a:path>
            </a:pathLst>
          </a:custGeom>
          <a:solidFill>
            <a:srgbClr val="EAE7D6"/>
          </a:solidFill>
          <a:ln/>
        </p:spPr>
        <p:txBody>
          <a:bodyPr/>
          <a:lstStyle/>
          <a:p>
            <a:endParaRPr lang="en-US"/>
          </a:p>
        </p:txBody>
      </p:sp>
      <p:sp>
        <p:nvSpPr>
          <p:cNvPr id="14" name="Text 12"/>
          <p:cNvSpPr/>
          <p:nvPr/>
        </p:nvSpPr>
        <p:spPr>
          <a:xfrm>
            <a:off x="742702" y="2753840"/>
            <a:ext cx="4931877" cy="200279"/>
          </a:xfrm>
          <a:prstGeom prst="rect">
            <a:avLst/>
          </a:prstGeom>
          <a:noFill/>
          <a:ln/>
        </p:spPr>
        <p:txBody>
          <a:bodyPr wrap="square" lIns="0" tIns="0" rIns="0" bIns="0" rtlCol="0" anchor="ctr"/>
          <a:lstStyle/>
          <a:p>
            <a:pPr>
              <a:lnSpc>
                <a:spcPct val="130000"/>
              </a:lnSpc>
            </a:pPr>
            <a:r>
              <a:rPr lang="en-US" sz="1051" dirty="0">
                <a:solidFill>
                  <a:srgbClr val="E07A5F"/>
                </a:solidFill>
                <a:latin typeface="MiSans" pitchFamily="34" charset="0"/>
                <a:ea typeface="MiSans" pitchFamily="34" charset="-122"/>
                <a:cs typeface="MiSans" pitchFamily="34" charset="-120"/>
              </a:rPr>
              <a:t>readable.pipe(writable)</a:t>
            </a:r>
            <a:endParaRPr lang="en-US" sz="1600" dirty="0"/>
          </a:p>
        </p:txBody>
      </p:sp>
      <p:sp>
        <p:nvSpPr>
          <p:cNvPr id="15" name="Shape 13"/>
          <p:cNvSpPr/>
          <p:nvPr/>
        </p:nvSpPr>
        <p:spPr>
          <a:xfrm>
            <a:off x="337971" y="3500715"/>
            <a:ext cx="5674579" cy="2503491"/>
          </a:xfrm>
          <a:custGeom>
            <a:avLst/>
            <a:gdLst/>
            <a:ahLst/>
            <a:cxnLst/>
            <a:rect l="l" t="t" r="r" b="b"/>
            <a:pathLst>
              <a:path w="5674579" h="2503491">
                <a:moveTo>
                  <a:pt x="100140" y="0"/>
                </a:moveTo>
                <a:lnTo>
                  <a:pt x="5574439" y="0"/>
                </a:lnTo>
                <a:cubicBezTo>
                  <a:pt x="5629745" y="0"/>
                  <a:pt x="5674579" y="44834"/>
                  <a:pt x="5674579" y="100140"/>
                </a:cubicBezTo>
                <a:lnTo>
                  <a:pt x="5674579" y="2403351"/>
                </a:lnTo>
                <a:cubicBezTo>
                  <a:pt x="5674579" y="2458657"/>
                  <a:pt x="5629745" y="2503491"/>
                  <a:pt x="5574439" y="2503491"/>
                </a:cubicBezTo>
                <a:lnTo>
                  <a:pt x="100140" y="2503491"/>
                </a:lnTo>
                <a:cubicBezTo>
                  <a:pt x="44834" y="2503491"/>
                  <a:pt x="0" y="2458657"/>
                  <a:pt x="0" y="2403351"/>
                </a:cubicBezTo>
                <a:lnTo>
                  <a:pt x="0" y="100140"/>
                </a:lnTo>
                <a:cubicBezTo>
                  <a:pt x="0" y="44834"/>
                  <a:pt x="44834" y="0"/>
                  <a:pt x="100140" y="0"/>
                </a:cubicBezTo>
                <a:close/>
              </a:path>
            </a:pathLst>
          </a:custGeom>
          <a:solidFill>
            <a:srgbClr val="EAE7D6"/>
          </a:solidFill>
          <a:ln/>
        </p:spPr>
        <p:txBody>
          <a:bodyPr/>
          <a:lstStyle/>
          <a:p>
            <a:endParaRPr lang="en-US"/>
          </a:p>
        </p:txBody>
      </p:sp>
      <p:sp>
        <p:nvSpPr>
          <p:cNvPr id="16" name="Shape 14"/>
          <p:cNvSpPr/>
          <p:nvPr/>
        </p:nvSpPr>
        <p:spPr>
          <a:xfrm>
            <a:off x="534078" y="3705166"/>
            <a:ext cx="200279" cy="200279"/>
          </a:xfrm>
          <a:custGeom>
            <a:avLst/>
            <a:gdLst/>
            <a:ahLst/>
            <a:cxnLst/>
            <a:rect l="l" t="t" r="r" b="b"/>
            <a:pathLst>
              <a:path w="200279" h="200279">
                <a:moveTo>
                  <a:pt x="100140" y="200279"/>
                </a:moveTo>
                <a:cubicBezTo>
                  <a:pt x="155408" y="200279"/>
                  <a:pt x="200279" y="155408"/>
                  <a:pt x="200279" y="100140"/>
                </a:cubicBezTo>
                <a:cubicBezTo>
                  <a:pt x="200279" y="44871"/>
                  <a:pt x="155408" y="0"/>
                  <a:pt x="100140" y="0"/>
                </a:cubicBezTo>
                <a:cubicBezTo>
                  <a:pt x="44871" y="0"/>
                  <a:pt x="0" y="44871"/>
                  <a:pt x="0" y="100140"/>
                </a:cubicBezTo>
                <a:cubicBezTo>
                  <a:pt x="0" y="155408"/>
                  <a:pt x="44871" y="200279"/>
                  <a:pt x="100140" y="200279"/>
                </a:cubicBezTo>
                <a:close/>
                <a:moveTo>
                  <a:pt x="133154" y="83202"/>
                </a:moveTo>
                <a:lnTo>
                  <a:pt x="101861" y="133272"/>
                </a:lnTo>
                <a:cubicBezTo>
                  <a:pt x="100218" y="135893"/>
                  <a:pt x="97401" y="137536"/>
                  <a:pt x="94311" y="137692"/>
                </a:cubicBezTo>
                <a:cubicBezTo>
                  <a:pt x="91221" y="137848"/>
                  <a:pt x="88248" y="136440"/>
                  <a:pt x="86410" y="133937"/>
                </a:cubicBezTo>
                <a:lnTo>
                  <a:pt x="67633" y="108902"/>
                </a:lnTo>
                <a:cubicBezTo>
                  <a:pt x="64504" y="104755"/>
                  <a:pt x="65365" y="98888"/>
                  <a:pt x="69511" y="95759"/>
                </a:cubicBezTo>
                <a:cubicBezTo>
                  <a:pt x="73657" y="92629"/>
                  <a:pt x="79525" y="93490"/>
                  <a:pt x="82654" y="97636"/>
                </a:cubicBezTo>
                <a:lnTo>
                  <a:pt x="93216" y="111718"/>
                </a:lnTo>
                <a:lnTo>
                  <a:pt x="117234" y="73266"/>
                </a:lnTo>
                <a:cubicBezTo>
                  <a:pt x="119972" y="68885"/>
                  <a:pt x="125761" y="67516"/>
                  <a:pt x="130182" y="70293"/>
                </a:cubicBezTo>
                <a:cubicBezTo>
                  <a:pt x="134602" y="73071"/>
                  <a:pt x="135932" y="78821"/>
                  <a:pt x="133154" y="83241"/>
                </a:cubicBezTo>
                <a:close/>
              </a:path>
            </a:pathLst>
          </a:custGeom>
          <a:solidFill>
            <a:srgbClr val="8D99AE"/>
          </a:solidFill>
          <a:ln/>
        </p:spPr>
        <p:txBody>
          <a:bodyPr/>
          <a:lstStyle/>
          <a:p>
            <a:endParaRPr lang="en-US"/>
          </a:p>
        </p:txBody>
      </p:sp>
      <p:sp>
        <p:nvSpPr>
          <p:cNvPr id="17" name="Text 15"/>
          <p:cNvSpPr/>
          <p:nvPr/>
        </p:nvSpPr>
        <p:spPr>
          <a:xfrm>
            <a:off x="859532" y="3671786"/>
            <a:ext cx="784427" cy="267039"/>
          </a:xfrm>
          <a:prstGeom prst="rect">
            <a:avLst/>
          </a:prstGeom>
          <a:noFill/>
          <a:ln/>
        </p:spPr>
        <p:txBody>
          <a:bodyPr wrap="square" lIns="0" tIns="0" rIns="0" bIns="0" rtlCol="0" anchor="ctr"/>
          <a:lstStyle/>
          <a:p>
            <a:pPr>
              <a:lnSpc>
                <a:spcPct val="110000"/>
              </a:lnSpc>
            </a:pPr>
            <a:r>
              <a:rPr lang="en-US" sz="1577" b="1" dirty="0">
                <a:solidFill>
                  <a:srgbClr val="2D3142"/>
                </a:solidFill>
                <a:latin typeface="Quattrocento Sans" pitchFamily="34" charset="0"/>
                <a:ea typeface="Quattrocento Sans" pitchFamily="34" charset="-122"/>
                <a:cs typeface="Quattrocento Sans" pitchFamily="34" charset="-120"/>
              </a:rPr>
              <a:t>Benefits</a:t>
            </a:r>
            <a:endParaRPr lang="en-US" sz="1600" dirty="0"/>
          </a:p>
        </p:txBody>
      </p:sp>
      <p:sp>
        <p:nvSpPr>
          <p:cNvPr id="18" name="Shape 16"/>
          <p:cNvSpPr/>
          <p:nvPr/>
        </p:nvSpPr>
        <p:spPr>
          <a:xfrm>
            <a:off x="525733" y="4072345"/>
            <a:ext cx="5315745" cy="767737"/>
          </a:xfrm>
          <a:custGeom>
            <a:avLst/>
            <a:gdLst/>
            <a:ahLst/>
            <a:cxnLst/>
            <a:rect l="l" t="t" r="r" b="b"/>
            <a:pathLst>
              <a:path w="5315745" h="767737">
                <a:moveTo>
                  <a:pt x="33380" y="0"/>
                </a:moveTo>
                <a:lnTo>
                  <a:pt x="5248983" y="0"/>
                </a:lnTo>
                <a:cubicBezTo>
                  <a:pt x="5285855" y="0"/>
                  <a:pt x="5315745" y="29891"/>
                  <a:pt x="5315745" y="66762"/>
                </a:cubicBezTo>
                <a:lnTo>
                  <a:pt x="5315745" y="700975"/>
                </a:lnTo>
                <a:cubicBezTo>
                  <a:pt x="5315745" y="737847"/>
                  <a:pt x="5285855" y="767737"/>
                  <a:pt x="5248983" y="767737"/>
                </a:cubicBezTo>
                <a:lnTo>
                  <a:pt x="33380" y="767737"/>
                </a:lnTo>
                <a:cubicBezTo>
                  <a:pt x="14945" y="767737"/>
                  <a:pt x="0" y="752792"/>
                  <a:pt x="0" y="734357"/>
                </a:cubicBezTo>
                <a:lnTo>
                  <a:pt x="0" y="33380"/>
                </a:lnTo>
                <a:cubicBezTo>
                  <a:pt x="0" y="14957"/>
                  <a:pt x="14957" y="0"/>
                  <a:pt x="33380" y="0"/>
                </a:cubicBezTo>
                <a:close/>
              </a:path>
            </a:pathLst>
          </a:custGeom>
          <a:solidFill>
            <a:srgbClr val="EAE7D6"/>
          </a:solidFill>
          <a:ln/>
        </p:spPr>
        <p:txBody>
          <a:bodyPr/>
          <a:lstStyle/>
          <a:p>
            <a:endParaRPr lang="en-US"/>
          </a:p>
        </p:txBody>
      </p:sp>
      <p:sp>
        <p:nvSpPr>
          <p:cNvPr id="19" name="Shape 17"/>
          <p:cNvSpPr/>
          <p:nvPr/>
        </p:nvSpPr>
        <p:spPr>
          <a:xfrm>
            <a:off x="525733" y="4072345"/>
            <a:ext cx="33380" cy="767737"/>
          </a:xfrm>
          <a:custGeom>
            <a:avLst/>
            <a:gdLst/>
            <a:ahLst/>
            <a:cxnLst/>
            <a:rect l="l" t="t" r="r" b="b"/>
            <a:pathLst>
              <a:path w="33380" h="767737">
                <a:moveTo>
                  <a:pt x="33380" y="0"/>
                </a:moveTo>
                <a:lnTo>
                  <a:pt x="33380" y="0"/>
                </a:lnTo>
                <a:lnTo>
                  <a:pt x="33380" y="767737"/>
                </a:lnTo>
                <a:lnTo>
                  <a:pt x="33380" y="767737"/>
                </a:lnTo>
                <a:cubicBezTo>
                  <a:pt x="14945" y="767737"/>
                  <a:pt x="0" y="752792"/>
                  <a:pt x="0" y="734357"/>
                </a:cubicBezTo>
                <a:lnTo>
                  <a:pt x="0" y="33380"/>
                </a:lnTo>
                <a:cubicBezTo>
                  <a:pt x="0" y="14957"/>
                  <a:pt x="14957" y="0"/>
                  <a:pt x="33380" y="0"/>
                </a:cubicBezTo>
                <a:close/>
              </a:path>
            </a:pathLst>
          </a:custGeom>
          <a:solidFill>
            <a:srgbClr val="E07A5F"/>
          </a:solidFill>
          <a:ln/>
        </p:spPr>
        <p:txBody>
          <a:bodyPr/>
          <a:lstStyle/>
          <a:p>
            <a:endParaRPr lang="en-US"/>
          </a:p>
        </p:txBody>
      </p:sp>
      <p:sp>
        <p:nvSpPr>
          <p:cNvPr id="20" name="Shape 18"/>
          <p:cNvSpPr/>
          <p:nvPr/>
        </p:nvSpPr>
        <p:spPr>
          <a:xfrm>
            <a:off x="692632" y="4255934"/>
            <a:ext cx="133520" cy="133520"/>
          </a:xfrm>
          <a:custGeom>
            <a:avLst/>
            <a:gdLst/>
            <a:ahLst/>
            <a:cxnLst/>
            <a:rect l="l" t="t" r="r" b="b"/>
            <a:pathLst>
              <a:path w="133520" h="133520">
                <a:moveTo>
                  <a:pt x="66760" y="133520"/>
                </a:moveTo>
                <a:cubicBezTo>
                  <a:pt x="103605" y="133520"/>
                  <a:pt x="133520" y="103605"/>
                  <a:pt x="133520" y="66760"/>
                </a:cubicBezTo>
                <a:cubicBezTo>
                  <a:pt x="133520" y="29914"/>
                  <a:pt x="103605" y="0"/>
                  <a:pt x="66760" y="0"/>
                </a:cubicBezTo>
                <a:cubicBezTo>
                  <a:pt x="29914" y="0"/>
                  <a:pt x="0" y="29914"/>
                  <a:pt x="0" y="66760"/>
                </a:cubicBezTo>
                <a:cubicBezTo>
                  <a:pt x="0" y="103605"/>
                  <a:pt x="29914" y="133520"/>
                  <a:pt x="66760" y="133520"/>
                </a:cubicBezTo>
                <a:close/>
                <a:moveTo>
                  <a:pt x="43133" y="83945"/>
                </a:moveTo>
                <a:cubicBezTo>
                  <a:pt x="48453" y="91247"/>
                  <a:pt x="57059" y="95967"/>
                  <a:pt x="66760" y="95967"/>
                </a:cubicBezTo>
                <a:cubicBezTo>
                  <a:pt x="76461" y="95967"/>
                  <a:pt x="85067" y="91247"/>
                  <a:pt x="90386" y="83945"/>
                </a:cubicBezTo>
                <a:cubicBezTo>
                  <a:pt x="92421" y="81155"/>
                  <a:pt x="96332" y="80529"/>
                  <a:pt x="99123" y="82563"/>
                </a:cubicBezTo>
                <a:cubicBezTo>
                  <a:pt x="101913" y="84597"/>
                  <a:pt x="102539" y="88509"/>
                  <a:pt x="100505" y="91299"/>
                </a:cubicBezTo>
                <a:cubicBezTo>
                  <a:pt x="92916" y="101704"/>
                  <a:pt x="80633" y="108485"/>
                  <a:pt x="66760" y="108485"/>
                </a:cubicBezTo>
                <a:cubicBezTo>
                  <a:pt x="52886" y="108485"/>
                  <a:pt x="40603" y="101704"/>
                  <a:pt x="33015" y="91299"/>
                </a:cubicBezTo>
                <a:cubicBezTo>
                  <a:pt x="30981" y="88509"/>
                  <a:pt x="31607" y="84597"/>
                  <a:pt x="34397" y="82563"/>
                </a:cubicBezTo>
                <a:cubicBezTo>
                  <a:pt x="37187" y="80529"/>
                  <a:pt x="41099" y="81155"/>
                  <a:pt x="43133" y="83945"/>
                </a:cubicBezTo>
                <a:close/>
                <a:moveTo>
                  <a:pt x="37552" y="54242"/>
                </a:moveTo>
                <a:cubicBezTo>
                  <a:pt x="37552" y="49637"/>
                  <a:pt x="41292" y="45897"/>
                  <a:pt x="45897" y="45897"/>
                </a:cubicBezTo>
                <a:cubicBezTo>
                  <a:pt x="50503" y="45897"/>
                  <a:pt x="54242" y="49637"/>
                  <a:pt x="54242" y="54242"/>
                </a:cubicBezTo>
                <a:cubicBezTo>
                  <a:pt x="54242" y="58848"/>
                  <a:pt x="50503" y="62587"/>
                  <a:pt x="45897" y="62587"/>
                </a:cubicBezTo>
                <a:cubicBezTo>
                  <a:pt x="41292" y="62587"/>
                  <a:pt x="37552" y="58848"/>
                  <a:pt x="37552" y="54242"/>
                </a:cubicBezTo>
                <a:close/>
                <a:moveTo>
                  <a:pt x="87622" y="45897"/>
                </a:moveTo>
                <a:cubicBezTo>
                  <a:pt x="92228" y="45897"/>
                  <a:pt x="95967" y="49637"/>
                  <a:pt x="95967" y="54242"/>
                </a:cubicBezTo>
                <a:cubicBezTo>
                  <a:pt x="95967" y="58848"/>
                  <a:pt x="92228" y="62587"/>
                  <a:pt x="87622" y="62587"/>
                </a:cubicBezTo>
                <a:cubicBezTo>
                  <a:pt x="83016" y="62587"/>
                  <a:pt x="79277" y="58848"/>
                  <a:pt x="79277" y="54242"/>
                </a:cubicBezTo>
                <a:cubicBezTo>
                  <a:pt x="79277" y="49637"/>
                  <a:pt x="83016" y="45897"/>
                  <a:pt x="87622" y="45897"/>
                </a:cubicBezTo>
                <a:close/>
              </a:path>
            </a:pathLst>
          </a:custGeom>
          <a:solidFill>
            <a:srgbClr val="E07A5F"/>
          </a:solidFill>
          <a:ln/>
        </p:spPr>
        <p:txBody>
          <a:bodyPr/>
          <a:lstStyle/>
          <a:p>
            <a:endParaRPr lang="en-US"/>
          </a:p>
        </p:txBody>
      </p:sp>
      <p:sp>
        <p:nvSpPr>
          <p:cNvPr id="21" name="Text 19"/>
          <p:cNvSpPr/>
          <p:nvPr/>
        </p:nvSpPr>
        <p:spPr>
          <a:xfrm>
            <a:off x="909602" y="4205864"/>
            <a:ext cx="517388" cy="233659"/>
          </a:xfrm>
          <a:prstGeom prst="rect">
            <a:avLst/>
          </a:prstGeom>
          <a:noFill/>
          <a:ln/>
        </p:spPr>
        <p:txBody>
          <a:bodyPr wrap="square" lIns="0" tIns="0" rIns="0" bIns="0" rtlCol="0" anchor="ctr"/>
          <a:lstStyle/>
          <a:p>
            <a:pPr>
              <a:lnSpc>
                <a:spcPct val="130000"/>
              </a:lnSpc>
            </a:pPr>
            <a:r>
              <a:rPr lang="en-US" sz="1183" b="1" dirty="0">
                <a:solidFill>
                  <a:srgbClr val="2D3142"/>
                </a:solidFill>
                <a:latin typeface="Quattrocento Sans" pitchFamily="34" charset="0"/>
                <a:ea typeface="Quattrocento Sans" pitchFamily="34" charset="-122"/>
                <a:cs typeface="Quattrocento Sans" pitchFamily="34" charset="-120"/>
              </a:rPr>
              <a:t>Simple</a:t>
            </a:r>
            <a:endParaRPr lang="en-US" sz="1600" dirty="0"/>
          </a:p>
        </p:txBody>
      </p:sp>
      <p:sp>
        <p:nvSpPr>
          <p:cNvPr id="22" name="Text 20"/>
          <p:cNvSpPr/>
          <p:nvPr/>
        </p:nvSpPr>
        <p:spPr>
          <a:xfrm>
            <a:off x="675943" y="4506283"/>
            <a:ext cx="5098776" cy="200279"/>
          </a:xfrm>
          <a:prstGeom prst="rect">
            <a:avLst/>
          </a:prstGeom>
          <a:noFill/>
          <a:ln/>
        </p:spPr>
        <p:txBody>
          <a:bodyPr wrap="square" lIns="0" tIns="0" rIns="0" bIns="0" rtlCol="0" anchor="ctr"/>
          <a:lstStyle/>
          <a:p>
            <a:pPr>
              <a:lnSpc>
                <a:spcPct val="130000"/>
              </a:lnSpc>
            </a:pPr>
            <a:r>
              <a:rPr lang="en-US" sz="1051" dirty="0">
                <a:solidFill>
                  <a:srgbClr val="8D99AE"/>
                </a:solidFill>
                <a:latin typeface="Quattrocento Sans" pitchFamily="34" charset="0"/>
                <a:ea typeface="Quattrocento Sans" pitchFamily="34" charset="-122"/>
                <a:cs typeface="Quattrocento Sans" pitchFamily="34" charset="-120"/>
              </a:rPr>
              <a:t>One-line connection between streams</a:t>
            </a:r>
            <a:endParaRPr lang="en-US" sz="1600" dirty="0"/>
          </a:p>
        </p:txBody>
      </p:sp>
      <p:sp>
        <p:nvSpPr>
          <p:cNvPr id="23" name="Shape 21"/>
          <p:cNvSpPr/>
          <p:nvPr/>
        </p:nvSpPr>
        <p:spPr>
          <a:xfrm>
            <a:off x="525733" y="4940222"/>
            <a:ext cx="5315745" cy="767737"/>
          </a:xfrm>
          <a:custGeom>
            <a:avLst/>
            <a:gdLst/>
            <a:ahLst/>
            <a:cxnLst/>
            <a:rect l="l" t="t" r="r" b="b"/>
            <a:pathLst>
              <a:path w="5315745" h="767737">
                <a:moveTo>
                  <a:pt x="33380" y="0"/>
                </a:moveTo>
                <a:lnTo>
                  <a:pt x="5248983" y="0"/>
                </a:lnTo>
                <a:cubicBezTo>
                  <a:pt x="5285855" y="0"/>
                  <a:pt x="5315745" y="29891"/>
                  <a:pt x="5315745" y="66762"/>
                </a:cubicBezTo>
                <a:lnTo>
                  <a:pt x="5315745" y="700975"/>
                </a:lnTo>
                <a:cubicBezTo>
                  <a:pt x="5315745" y="737847"/>
                  <a:pt x="5285855" y="767737"/>
                  <a:pt x="5248983" y="767737"/>
                </a:cubicBezTo>
                <a:lnTo>
                  <a:pt x="33380" y="767737"/>
                </a:lnTo>
                <a:cubicBezTo>
                  <a:pt x="14945" y="767737"/>
                  <a:pt x="0" y="752792"/>
                  <a:pt x="0" y="734357"/>
                </a:cubicBezTo>
                <a:lnTo>
                  <a:pt x="0" y="33380"/>
                </a:lnTo>
                <a:cubicBezTo>
                  <a:pt x="0" y="14957"/>
                  <a:pt x="14957" y="0"/>
                  <a:pt x="33380" y="0"/>
                </a:cubicBezTo>
                <a:close/>
              </a:path>
            </a:pathLst>
          </a:custGeom>
          <a:solidFill>
            <a:srgbClr val="EAE7D6"/>
          </a:solidFill>
          <a:ln/>
        </p:spPr>
        <p:txBody>
          <a:bodyPr/>
          <a:lstStyle/>
          <a:p>
            <a:endParaRPr lang="en-US"/>
          </a:p>
        </p:txBody>
      </p:sp>
      <p:sp>
        <p:nvSpPr>
          <p:cNvPr id="24" name="Shape 22"/>
          <p:cNvSpPr/>
          <p:nvPr/>
        </p:nvSpPr>
        <p:spPr>
          <a:xfrm>
            <a:off x="525733" y="4940222"/>
            <a:ext cx="33380" cy="767737"/>
          </a:xfrm>
          <a:custGeom>
            <a:avLst/>
            <a:gdLst/>
            <a:ahLst/>
            <a:cxnLst/>
            <a:rect l="l" t="t" r="r" b="b"/>
            <a:pathLst>
              <a:path w="33380" h="767737">
                <a:moveTo>
                  <a:pt x="33380" y="0"/>
                </a:moveTo>
                <a:lnTo>
                  <a:pt x="33380" y="0"/>
                </a:lnTo>
                <a:lnTo>
                  <a:pt x="33380" y="767737"/>
                </a:lnTo>
                <a:lnTo>
                  <a:pt x="33380" y="767737"/>
                </a:lnTo>
                <a:cubicBezTo>
                  <a:pt x="14945" y="767737"/>
                  <a:pt x="0" y="752792"/>
                  <a:pt x="0" y="734357"/>
                </a:cubicBezTo>
                <a:lnTo>
                  <a:pt x="0" y="33380"/>
                </a:lnTo>
                <a:cubicBezTo>
                  <a:pt x="0" y="14957"/>
                  <a:pt x="14957" y="0"/>
                  <a:pt x="33380" y="0"/>
                </a:cubicBezTo>
                <a:close/>
              </a:path>
            </a:pathLst>
          </a:custGeom>
          <a:solidFill>
            <a:srgbClr val="8D99AE"/>
          </a:solidFill>
          <a:ln/>
        </p:spPr>
        <p:txBody>
          <a:bodyPr/>
          <a:lstStyle/>
          <a:p>
            <a:endParaRPr lang="en-US"/>
          </a:p>
        </p:txBody>
      </p:sp>
      <p:sp>
        <p:nvSpPr>
          <p:cNvPr id="25" name="Shape 23"/>
          <p:cNvSpPr/>
          <p:nvPr/>
        </p:nvSpPr>
        <p:spPr>
          <a:xfrm>
            <a:off x="675943" y="5123811"/>
            <a:ext cx="166899" cy="133520"/>
          </a:xfrm>
          <a:custGeom>
            <a:avLst/>
            <a:gdLst/>
            <a:ahLst/>
            <a:cxnLst/>
            <a:rect l="l" t="t" r="r" b="b"/>
            <a:pathLst>
              <a:path w="166899" h="133520">
                <a:moveTo>
                  <a:pt x="108459" y="54894"/>
                </a:moveTo>
                <a:cubicBezTo>
                  <a:pt x="111640" y="54034"/>
                  <a:pt x="114978" y="55546"/>
                  <a:pt x="116412" y="58493"/>
                </a:cubicBezTo>
                <a:lnTo>
                  <a:pt x="121263" y="68298"/>
                </a:lnTo>
                <a:cubicBezTo>
                  <a:pt x="123949" y="68663"/>
                  <a:pt x="126583" y="69394"/>
                  <a:pt x="129060" y="70411"/>
                </a:cubicBezTo>
                <a:lnTo>
                  <a:pt x="138187" y="64334"/>
                </a:lnTo>
                <a:cubicBezTo>
                  <a:pt x="140926" y="62509"/>
                  <a:pt x="144551" y="62874"/>
                  <a:pt x="146871" y="65195"/>
                </a:cubicBezTo>
                <a:lnTo>
                  <a:pt x="151878" y="70202"/>
                </a:lnTo>
                <a:cubicBezTo>
                  <a:pt x="154199" y="72523"/>
                  <a:pt x="154564" y="76174"/>
                  <a:pt x="152739" y="78886"/>
                </a:cubicBezTo>
                <a:lnTo>
                  <a:pt x="146663" y="87987"/>
                </a:lnTo>
                <a:cubicBezTo>
                  <a:pt x="147158" y="89213"/>
                  <a:pt x="147602" y="90491"/>
                  <a:pt x="147967" y="91821"/>
                </a:cubicBezTo>
                <a:cubicBezTo>
                  <a:pt x="148332" y="93151"/>
                  <a:pt x="148567" y="94455"/>
                  <a:pt x="148749" y="95785"/>
                </a:cubicBezTo>
                <a:lnTo>
                  <a:pt x="158580" y="100635"/>
                </a:lnTo>
                <a:cubicBezTo>
                  <a:pt x="161527" y="102095"/>
                  <a:pt x="163040" y="105433"/>
                  <a:pt x="162179" y="108589"/>
                </a:cubicBezTo>
                <a:lnTo>
                  <a:pt x="160354" y="115421"/>
                </a:lnTo>
                <a:cubicBezTo>
                  <a:pt x="159493" y="118577"/>
                  <a:pt x="156546" y="120715"/>
                  <a:pt x="153261" y="120507"/>
                </a:cubicBezTo>
                <a:lnTo>
                  <a:pt x="142308" y="119802"/>
                </a:lnTo>
                <a:cubicBezTo>
                  <a:pt x="140665" y="121915"/>
                  <a:pt x="138761" y="123871"/>
                  <a:pt x="136597" y="125540"/>
                </a:cubicBezTo>
                <a:lnTo>
                  <a:pt x="137301" y="136466"/>
                </a:lnTo>
                <a:cubicBezTo>
                  <a:pt x="137509" y="139752"/>
                  <a:pt x="135371" y="142725"/>
                  <a:pt x="132216" y="143560"/>
                </a:cubicBezTo>
                <a:lnTo>
                  <a:pt x="125383" y="145385"/>
                </a:lnTo>
                <a:cubicBezTo>
                  <a:pt x="122202" y="146246"/>
                  <a:pt x="118890" y="144733"/>
                  <a:pt x="117429" y="141786"/>
                </a:cubicBezTo>
                <a:lnTo>
                  <a:pt x="112579" y="131981"/>
                </a:lnTo>
                <a:cubicBezTo>
                  <a:pt x="109893" y="131616"/>
                  <a:pt x="107259" y="130886"/>
                  <a:pt x="104782" y="129869"/>
                </a:cubicBezTo>
                <a:lnTo>
                  <a:pt x="95654" y="135945"/>
                </a:lnTo>
                <a:cubicBezTo>
                  <a:pt x="92916" y="137770"/>
                  <a:pt x="89291" y="137405"/>
                  <a:pt x="86970" y="135084"/>
                </a:cubicBezTo>
                <a:lnTo>
                  <a:pt x="81963" y="130077"/>
                </a:lnTo>
                <a:cubicBezTo>
                  <a:pt x="79642" y="127756"/>
                  <a:pt x="79277" y="124131"/>
                  <a:pt x="81103" y="121393"/>
                </a:cubicBezTo>
                <a:lnTo>
                  <a:pt x="87179" y="112266"/>
                </a:lnTo>
                <a:cubicBezTo>
                  <a:pt x="86683" y="111040"/>
                  <a:pt x="86240" y="109762"/>
                  <a:pt x="85875" y="108432"/>
                </a:cubicBezTo>
                <a:cubicBezTo>
                  <a:pt x="85510" y="107102"/>
                  <a:pt x="85275" y="105772"/>
                  <a:pt x="85093" y="104469"/>
                </a:cubicBezTo>
                <a:lnTo>
                  <a:pt x="75261" y="99618"/>
                </a:lnTo>
                <a:cubicBezTo>
                  <a:pt x="72314" y="98158"/>
                  <a:pt x="70828" y="94820"/>
                  <a:pt x="71662" y="91664"/>
                </a:cubicBezTo>
                <a:lnTo>
                  <a:pt x="73488" y="84832"/>
                </a:lnTo>
                <a:cubicBezTo>
                  <a:pt x="74348" y="81676"/>
                  <a:pt x="77295" y="79538"/>
                  <a:pt x="80581" y="79747"/>
                </a:cubicBezTo>
                <a:lnTo>
                  <a:pt x="91508" y="80451"/>
                </a:lnTo>
                <a:cubicBezTo>
                  <a:pt x="93151" y="78338"/>
                  <a:pt x="95054" y="76383"/>
                  <a:pt x="97219" y="74714"/>
                </a:cubicBezTo>
                <a:lnTo>
                  <a:pt x="96515" y="63813"/>
                </a:lnTo>
                <a:cubicBezTo>
                  <a:pt x="96306" y="60527"/>
                  <a:pt x="98445" y="57554"/>
                  <a:pt x="101600" y="56720"/>
                </a:cubicBezTo>
                <a:lnTo>
                  <a:pt x="108432" y="54894"/>
                </a:lnTo>
                <a:close/>
                <a:moveTo>
                  <a:pt x="116934" y="88665"/>
                </a:moveTo>
                <a:cubicBezTo>
                  <a:pt x="110601" y="88672"/>
                  <a:pt x="105465" y="93820"/>
                  <a:pt x="105473" y="100153"/>
                </a:cubicBezTo>
                <a:cubicBezTo>
                  <a:pt x="105480" y="106486"/>
                  <a:pt x="110627" y="111621"/>
                  <a:pt x="116960" y="111614"/>
                </a:cubicBezTo>
                <a:cubicBezTo>
                  <a:pt x="123293" y="111607"/>
                  <a:pt x="128428" y="106459"/>
                  <a:pt x="128421" y="100127"/>
                </a:cubicBezTo>
                <a:cubicBezTo>
                  <a:pt x="128414" y="93794"/>
                  <a:pt x="123267" y="88658"/>
                  <a:pt x="116934" y="88665"/>
                </a:cubicBezTo>
                <a:close/>
                <a:moveTo>
                  <a:pt x="58649" y="-11866"/>
                </a:moveTo>
                <a:lnTo>
                  <a:pt x="65482" y="-10040"/>
                </a:lnTo>
                <a:cubicBezTo>
                  <a:pt x="68637" y="-9179"/>
                  <a:pt x="70776" y="-6207"/>
                  <a:pt x="70567" y="-2947"/>
                </a:cubicBezTo>
                <a:lnTo>
                  <a:pt x="69863" y="7954"/>
                </a:lnTo>
                <a:cubicBezTo>
                  <a:pt x="72028" y="9623"/>
                  <a:pt x="73931" y="11553"/>
                  <a:pt x="75574" y="13691"/>
                </a:cubicBezTo>
                <a:lnTo>
                  <a:pt x="86527" y="12987"/>
                </a:lnTo>
                <a:cubicBezTo>
                  <a:pt x="89787" y="12778"/>
                  <a:pt x="92760" y="14917"/>
                  <a:pt x="93620" y="18072"/>
                </a:cubicBezTo>
                <a:lnTo>
                  <a:pt x="95446" y="24905"/>
                </a:lnTo>
                <a:cubicBezTo>
                  <a:pt x="96280" y="28060"/>
                  <a:pt x="94794" y="31398"/>
                  <a:pt x="91847" y="32858"/>
                </a:cubicBezTo>
                <a:lnTo>
                  <a:pt x="82015" y="37709"/>
                </a:lnTo>
                <a:cubicBezTo>
                  <a:pt x="81833" y="39039"/>
                  <a:pt x="81572" y="40369"/>
                  <a:pt x="81233" y="41673"/>
                </a:cubicBezTo>
                <a:cubicBezTo>
                  <a:pt x="80894" y="42977"/>
                  <a:pt x="80425" y="44280"/>
                  <a:pt x="79929" y="45506"/>
                </a:cubicBezTo>
                <a:lnTo>
                  <a:pt x="86005" y="54633"/>
                </a:lnTo>
                <a:cubicBezTo>
                  <a:pt x="87831" y="57372"/>
                  <a:pt x="87466" y="60997"/>
                  <a:pt x="85145" y="63317"/>
                </a:cubicBezTo>
                <a:lnTo>
                  <a:pt x="80138" y="68324"/>
                </a:lnTo>
                <a:cubicBezTo>
                  <a:pt x="77817" y="70645"/>
                  <a:pt x="74192" y="71010"/>
                  <a:pt x="71454" y="69185"/>
                </a:cubicBezTo>
                <a:lnTo>
                  <a:pt x="62326" y="63109"/>
                </a:lnTo>
                <a:cubicBezTo>
                  <a:pt x="59849" y="64126"/>
                  <a:pt x="57215" y="64856"/>
                  <a:pt x="54529" y="65221"/>
                </a:cubicBezTo>
                <a:lnTo>
                  <a:pt x="49679" y="75026"/>
                </a:lnTo>
                <a:cubicBezTo>
                  <a:pt x="48218" y="77973"/>
                  <a:pt x="44880" y="79460"/>
                  <a:pt x="41725" y="78625"/>
                </a:cubicBezTo>
                <a:lnTo>
                  <a:pt x="34892" y="76800"/>
                </a:lnTo>
                <a:cubicBezTo>
                  <a:pt x="31711" y="75939"/>
                  <a:pt x="29599" y="72966"/>
                  <a:pt x="29807" y="69707"/>
                </a:cubicBezTo>
                <a:lnTo>
                  <a:pt x="30511" y="58780"/>
                </a:lnTo>
                <a:cubicBezTo>
                  <a:pt x="28347" y="57111"/>
                  <a:pt x="26443" y="55181"/>
                  <a:pt x="24800" y="53043"/>
                </a:cubicBezTo>
                <a:lnTo>
                  <a:pt x="13847" y="53747"/>
                </a:lnTo>
                <a:cubicBezTo>
                  <a:pt x="10588" y="53955"/>
                  <a:pt x="7615" y="51817"/>
                  <a:pt x="6754" y="48662"/>
                </a:cubicBezTo>
                <a:lnTo>
                  <a:pt x="4929" y="41829"/>
                </a:lnTo>
                <a:cubicBezTo>
                  <a:pt x="4094" y="38674"/>
                  <a:pt x="5581" y="35336"/>
                  <a:pt x="8528" y="33875"/>
                </a:cubicBezTo>
                <a:lnTo>
                  <a:pt x="18359" y="29025"/>
                </a:lnTo>
                <a:cubicBezTo>
                  <a:pt x="18541" y="27695"/>
                  <a:pt x="18802" y="26391"/>
                  <a:pt x="19141" y="25061"/>
                </a:cubicBezTo>
                <a:cubicBezTo>
                  <a:pt x="19506" y="23731"/>
                  <a:pt x="19924" y="22453"/>
                  <a:pt x="20445" y="21228"/>
                </a:cubicBezTo>
                <a:lnTo>
                  <a:pt x="14369" y="12126"/>
                </a:lnTo>
                <a:cubicBezTo>
                  <a:pt x="12544" y="9388"/>
                  <a:pt x="12909" y="5763"/>
                  <a:pt x="15230" y="3442"/>
                </a:cubicBezTo>
                <a:lnTo>
                  <a:pt x="20237" y="-1565"/>
                </a:lnTo>
                <a:cubicBezTo>
                  <a:pt x="22557" y="-3886"/>
                  <a:pt x="26182" y="-4251"/>
                  <a:pt x="28921" y="-2425"/>
                </a:cubicBezTo>
                <a:lnTo>
                  <a:pt x="38048" y="3651"/>
                </a:lnTo>
                <a:cubicBezTo>
                  <a:pt x="40525" y="2634"/>
                  <a:pt x="43159" y="1904"/>
                  <a:pt x="45845" y="1539"/>
                </a:cubicBezTo>
                <a:lnTo>
                  <a:pt x="50696" y="-8267"/>
                </a:lnTo>
                <a:cubicBezTo>
                  <a:pt x="52156" y="-11214"/>
                  <a:pt x="55468" y="-12700"/>
                  <a:pt x="58649" y="-11866"/>
                </a:cubicBezTo>
                <a:close/>
                <a:moveTo>
                  <a:pt x="50174" y="21906"/>
                </a:moveTo>
                <a:cubicBezTo>
                  <a:pt x="43841" y="21906"/>
                  <a:pt x="38700" y="27047"/>
                  <a:pt x="38700" y="33380"/>
                </a:cubicBezTo>
                <a:cubicBezTo>
                  <a:pt x="38700" y="39713"/>
                  <a:pt x="43841" y="44854"/>
                  <a:pt x="50174" y="44854"/>
                </a:cubicBezTo>
                <a:cubicBezTo>
                  <a:pt x="56507" y="44854"/>
                  <a:pt x="61648" y="39713"/>
                  <a:pt x="61648" y="33380"/>
                </a:cubicBezTo>
                <a:cubicBezTo>
                  <a:pt x="61648" y="27047"/>
                  <a:pt x="56507" y="21906"/>
                  <a:pt x="50174" y="21906"/>
                </a:cubicBezTo>
                <a:close/>
              </a:path>
            </a:pathLst>
          </a:custGeom>
          <a:solidFill>
            <a:srgbClr val="8D99AE"/>
          </a:solidFill>
          <a:ln/>
        </p:spPr>
        <p:txBody>
          <a:bodyPr/>
          <a:lstStyle/>
          <a:p>
            <a:endParaRPr lang="en-US"/>
          </a:p>
        </p:txBody>
      </p:sp>
      <p:sp>
        <p:nvSpPr>
          <p:cNvPr id="26" name="Text 24"/>
          <p:cNvSpPr/>
          <p:nvPr/>
        </p:nvSpPr>
        <p:spPr>
          <a:xfrm>
            <a:off x="909602" y="5073741"/>
            <a:ext cx="1618924" cy="233659"/>
          </a:xfrm>
          <a:prstGeom prst="rect">
            <a:avLst/>
          </a:prstGeom>
          <a:noFill/>
          <a:ln/>
        </p:spPr>
        <p:txBody>
          <a:bodyPr wrap="square" lIns="0" tIns="0" rIns="0" bIns="0" rtlCol="0" anchor="ctr"/>
          <a:lstStyle/>
          <a:p>
            <a:pPr>
              <a:lnSpc>
                <a:spcPct val="130000"/>
              </a:lnSpc>
            </a:pPr>
            <a:r>
              <a:rPr lang="en-US" sz="1183" b="1" dirty="0">
                <a:solidFill>
                  <a:srgbClr val="2D3142"/>
                </a:solidFill>
                <a:latin typeface="Quattrocento Sans" pitchFamily="34" charset="0"/>
                <a:ea typeface="Quattrocento Sans" pitchFamily="34" charset="-122"/>
                <a:cs typeface="Quattrocento Sans" pitchFamily="34" charset="-120"/>
              </a:rPr>
              <a:t>Automatic Flow Control</a:t>
            </a:r>
            <a:endParaRPr lang="en-US" sz="1600" dirty="0"/>
          </a:p>
        </p:txBody>
      </p:sp>
      <p:sp>
        <p:nvSpPr>
          <p:cNvPr id="27" name="Text 25"/>
          <p:cNvSpPr/>
          <p:nvPr/>
        </p:nvSpPr>
        <p:spPr>
          <a:xfrm>
            <a:off x="675943" y="5374160"/>
            <a:ext cx="5098776" cy="200279"/>
          </a:xfrm>
          <a:prstGeom prst="rect">
            <a:avLst/>
          </a:prstGeom>
          <a:noFill/>
          <a:ln/>
        </p:spPr>
        <p:txBody>
          <a:bodyPr wrap="square" lIns="0" tIns="0" rIns="0" bIns="0" rtlCol="0" anchor="ctr"/>
          <a:lstStyle/>
          <a:p>
            <a:pPr>
              <a:lnSpc>
                <a:spcPct val="130000"/>
              </a:lnSpc>
            </a:pPr>
            <a:r>
              <a:rPr lang="en-US" sz="1051" dirty="0">
                <a:solidFill>
                  <a:schemeClr val="bg1"/>
                </a:solidFill>
                <a:highlight>
                  <a:srgbClr val="008000"/>
                </a:highlight>
                <a:latin typeface="Quattrocento Sans" pitchFamily="34" charset="0"/>
                <a:ea typeface="Quattrocento Sans" pitchFamily="34" charset="-122"/>
                <a:cs typeface="Quattrocento Sans" pitchFamily="34" charset="-120"/>
              </a:rPr>
              <a:t>Handles backpressure automatically</a:t>
            </a:r>
            <a:endParaRPr lang="en-US" sz="1600" dirty="0">
              <a:solidFill>
                <a:schemeClr val="bg1"/>
              </a:solidFill>
              <a:highlight>
                <a:srgbClr val="008000"/>
              </a:highlight>
            </a:endParaRPr>
          </a:p>
        </p:txBody>
      </p:sp>
      <p:sp>
        <p:nvSpPr>
          <p:cNvPr id="28" name="Shape 26"/>
          <p:cNvSpPr/>
          <p:nvPr/>
        </p:nvSpPr>
        <p:spPr>
          <a:xfrm>
            <a:off x="6184991" y="1139088"/>
            <a:ext cx="5674579" cy="2845634"/>
          </a:xfrm>
          <a:custGeom>
            <a:avLst/>
            <a:gdLst/>
            <a:ahLst/>
            <a:cxnLst/>
            <a:rect l="l" t="t" r="r" b="b"/>
            <a:pathLst>
              <a:path w="5674579" h="2845634">
                <a:moveTo>
                  <a:pt x="100138" y="0"/>
                </a:moveTo>
                <a:lnTo>
                  <a:pt x="5574441" y="0"/>
                </a:lnTo>
                <a:cubicBezTo>
                  <a:pt x="5629746" y="0"/>
                  <a:pt x="5674579" y="44833"/>
                  <a:pt x="5674579" y="100138"/>
                </a:cubicBezTo>
                <a:lnTo>
                  <a:pt x="5674579" y="2745497"/>
                </a:lnTo>
                <a:cubicBezTo>
                  <a:pt x="5674579" y="2800801"/>
                  <a:pt x="5629746" y="2845634"/>
                  <a:pt x="5574441" y="2845634"/>
                </a:cubicBezTo>
                <a:lnTo>
                  <a:pt x="100138" y="2845634"/>
                </a:lnTo>
                <a:cubicBezTo>
                  <a:pt x="44833" y="2845634"/>
                  <a:pt x="0" y="2800801"/>
                  <a:pt x="0" y="2745497"/>
                </a:cubicBezTo>
                <a:lnTo>
                  <a:pt x="0" y="100138"/>
                </a:lnTo>
                <a:cubicBezTo>
                  <a:pt x="0" y="44870"/>
                  <a:pt x="44870" y="0"/>
                  <a:pt x="100138" y="0"/>
                </a:cubicBezTo>
                <a:close/>
              </a:path>
            </a:pathLst>
          </a:custGeom>
          <a:solidFill>
            <a:srgbClr val="EAE7D6"/>
          </a:solidFill>
          <a:ln/>
        </p:spPr>
        <p:txBody>
          <a:bodyPr/>
          <a:lstStyle/>
          <a:p>
            <a:endParaRPr lang="en-US"/>
          </a:p>
        </p:txBody>
      </p:sp>
      <p:sp>
        <p:nvSpPr>
          <p:cNvPr id="29" name="Shape 27"/>
          <p:cNvSpPr/>
          <p:nvPr/>
        </p:nvSpPr>
        <p:spPr>
          <a:xfrm>
            <a:off x="6381098" y="1343540"/>
            <a:ext cx="200279" cy="200279"/>
          </a:xfrm>
          <a:custGeom>
            <a:avLst/>
            <a:gdLst/>
            <a:ahLst/>
            <a:cxnLst/>
            <a:rect l="l" t="t" r="r" b="b"/>
            <a:pathLst>
              <a:path w="200279" h="200279">
                <a:moveTo>
                  <a:pt x="100140" y="200279"/>
                </a:moveTo>
                <a:cubicBezTo>
                  <a:pt x="155408" y="200279"/>
                  <a:pt x="200279" y="155408"/>
                  <a:pt x="200279" y="100140"/>
                </a:cubicBezTo>
                <a:cubicBezTo>
                  <a:pt x="200279" y="44871"/>
                  <a:pt x="155408" y="0"/>
                  <a:pt x="100140" y="0"/>
                </a:cubicBezTo>
                <a:cubicBezTo>
                  <a:pt x="44871" y="0"/>
                  <a:pt x="0" y="44871"/>
                  <a:pt x="0" y="100140"/>
                </a:cubicBezTo>
                <a:cubicBezTo>
                  <a:pt x="0" y="155408"/>
                  <a:pt x="44871" y="200279"/>
                  <a:pt x="100140" y="200279"/>
                </a:cubicBezTo>
                <a:close/>
                <a:moveTo>
                  <a:pt x="65325" y="65325"/>
                </a:moveTo>
                <a:cubicBezTo>
                  <a:pt x="69002" y="61648"/>
                  <a:pt x="74948" y="61648"/>
                  <a:pt x="78586" y="65325"/>
                </a:cubicBezTo>
                <a:lnTo>
                  <a:pt x="100101" y="86840"/>
                </a:lnTo>
                <a:lnTo>
                  <a:pt x="121615" y="65325"/>
                </a:lnTo>
                <a:cubicBezTo>
                  <a:pt x="125292" y="61648"/>
                  <a:pt x="131238" y="61648"/>
                  <a:pt x="134876" y="65325"/>
                </a:cubicBezTo>
                <a:cubicBezTo>
                  <a:pt x="138513" y="69002"/>
                  <a:pt x="138553" y="74948"/>
                  <a:pt x="134876" y="78586"/>
                </a:cubicBezTo>
                <a:lnTo>
                  <a:pt x="113361" y="100101"/>
                </a:lnTo>
                <a:lnTo>
                  <a:pt x="134876" y="121615"/>
                </a:lnTo>
                <a:cubicBezTo>
                  <a:pt x="138553" y="125292"/>
                  <a:pt x="138553" y="131238"/>
                  <a:pt x="134876" y="134876"/>
                </a:cubicBezTo>
                <a:cubicBezTo>
                  <a:pt x="131199" y="138513"/>
                  <a:pt x="125253" y="138553"/>
                  <a:pt x="121615" y="134876"/>
                </a:cubicBezTo>
                <a:lnTo>
                  <a:pt x="100101" y="113361"/>
                </a:lnTo>
                <a:lnTo>
                  <a:pt x="78586" y="134876"/>
                </a:lnTo>
                <a:cubicBezTo>
                  <a:pt x="74909" y="138553"/>
                  <a:pt x="68963" y="138553"/>
                  <a:pt x="65325" y="134876"/>
                </a:cubicBezTo>
                <a:cubicBezTo>
                  <a:pt x="61688" y="131199"/>
                  <a:pt x="61648" y="125253"/>
                  <a:pt x="65325" y="121615"/>
                </a:cubicBezTo>
                <a:lnTo>
                  <a:pt x="86840" y="100101"/>
                </a:lnTo>
                <a:lnTo>
                  <a:pt x="65325" y="78586"/>
                </a:lnTo>
                <a:cubicBezTo>
                  <a:pt x="61648" y="74909"/>
                  <a:pt x="61648" y="68963"/>
                  <a:pt x="65325" y="65325"/>
                </a:cubicBezTo>
                <a:close/>
              </a:path>
            </a:pathLst>
          </a:custGeom>
          <a:solidFill>
            <a:srgbClr val="B91C2B"/>
          </a:solidFill>
          <a:ln/>
        </p:spPr>
        <p:txBody>
          <a:bodyPr/>
          <a:lstStyle/>
          <a:p>
            <a:endParaRPr lang="en-US"/>
          </a:p>
        </p:txBody>
      </p:sp>
      <p:sp>
        <p:nvSpPr>
          <p:cNvPr id="30" name="Text 28"/>
          <p:cNvSpPr/>
          <p:nvPr/>
        </p:nvSpPr>
        <p:spPr>
          <a:xfrm>
            <a:off x="6706552" y="1310160"/>
            <a:ext cx="1193331" cy="267039"/>
          </a:xfrm>
          <a:prstGeom prst="rect">
            <a:avLst/>
          </a:prstGeom>
          <a:noFill/>
          <a:ln/>
        </p:spPr>
        <p:txBody>
          <a:bodyPr wrap="square" lIns="0" tIns="0" rIns="0" bIns="0" rtlCol="0" anchor="ctr"/>
          <a:lstStyle/>
          <a:p>
            <a:pPr>
              <a:lnSpc>
                <a:spcPct val="110000"/>
              </a:lnSpc>
            </a:pPr>
            <a:r>
              <a:rPr lang="en-US" sz="1577" b="1" dirty="0">
                <a:solidFill>
                  <a:srgbClr val="2D3142"/>
                </a:solidFill>
                <a:latin typeface="Quattrocento Sans" pitchFamily="34" charset="0"/>
                <a:ea typeface="Quattrocento Sans" pitchFamily="34" charset="-122"/>
                <a:cs typeface="Quattrocento Sans" pitchFamily="34" charset="-120"/>
              </a:rPr>
              <a:t>The Problem</a:t>
            </a:r>
            <a:endParaRPr lang="en-US" sz="1600" dirty="0"/>
          </a:p>
        </p:txBody>
      </p:sp>
      <p:sp>
        <p:nvSpPr>
          <p:cNvPr id="31" name="Shape 29"/>
          <p:cNvSpPr/>
          <p:nvPr/>
        </p:nvSpPr>
        <p:spPr>
          <a:xfrm>
            <a:off x="6372753" y="1710719"/>
            <a:ext cx="5315745" cy="1235055"/>
          </a:xfrm>
          <a:custGeom>
            <a:avLst/>
            <a:gdLst/>
            <a:ahLst/>
            <a:cxnLst/>
            <a:rect l="l" t="t" r="r" b="b"/>
            <a:pathLst>
              <a:path w="5315745" h="1235055">
                <a:moveTo>
                  <a:pt x="33380" y="0"/>
                </a:moveTo>
                <a:lnTo>
                  <a:pt x="5248991" y="0"/>
                </a:lnTo>
                <a:cubicBezTo>
                  <a:pt x="5285858" y="0"/>
                  <a:pt x="5315745" y="29887"/>
                  <a:pt x="5315745" y="66755"/>
                </a:cubicBezTo>
                <a:lnTo>
                  <a:pt x="5315745" y="1168301"/>
                </a:lnTo>
                <a:cubicBezTo>
                  <a:pt x="5315745" y="1205168"/>
                  <a:pt x="5285858" y="1235055"/>
                  <a:pt x="5248991" y="1235055"/>
                </a:cubicBezTo>
                <a:lnTo>
                  <a:pt x="33380" y="1235055"/>
                </a:lnTo>
                <a:cubicBezTo>
                  <a:pt x="14945" y="1235055"/>
                  <a:pt x="0" y="1220111"/>
                  <a:pt x="0" y="1201676"/>
                </a:cubicBezTo>
                <a:lnTo>
                  <a:pt x="0" y="33380"/>
                </a:lnTo>
                <a:cubicBezTo>
                  <a:pt x="0" y="14957"/>
                  <a:pt x="14957" y="0"/>
                  <a:pt x="33380" y="0"/>
                </a:cubicBezTo>
                <a:close/>
              </a:path>
            </a:pathLst>
          </a:custGeom>
          <a:solidFill>
            <a:srgbClr val="EAE7D6"/>
          </a:solidFill>
          <a:ln/>
        </p:spPr>
        <p:txBody>
          <a:bodyPr/>
          <a:lstStyle/>
          <a:p>
            <a:endParaRPr lang="en-US"/>
          </a:p>
        </p:txBody>
      </p:sp>
      <p:sp>
        <p:nvSpPr>
          <p:cNvPr id="32" name="Shape 30"/>
          <p:cNvSpPr/>
          <p:nvPr/>
        </p:nvSpPr>
        <p:spPr>
          <a:xfrm>
            <a:off x="6372753" y="1710719"/>
            <a:ext cx="33380" cy="1235055"/>
          </a:xfrm>
          <a:custGeom>
            <a:avLst/>
            <a:gdLst/>
            <a:ahLst/>
            <a:cxnLst/>
            <a:rect l="l" t="t" r="r" b="b"/>
            <a:pathLst>
              <a:path w="33380" h="1235055">
                <a:moveTo>
                  <a:pt x="33380" y="0"/>
                </a:moveTo>
                <a:lnTo>
                  <a:pt x="33380" y="0"/>
                </a:lnTo>
                <a:lnTo>
                  <a:pt x="33380" y="1235055"/>
                </a:lnTo>
                <a:lnTo>
                  <a:pt x="33380" y="1235055"/>
                </a:lnTo>
                <a:cubicBezTo>
                  <a:pt x="14945" y="1235055"/>
                  <a:pt x="0" y="1220111"/>
                  <a:pt x="0" y="1201676"/>
                </a:cubicBezTo>
                <a:lnTo>
                  <a:pt x="0" y="33380"/>
                </a:lnTo>
                <a:cubicBezTo>
                  <a:pt x="0" y="14957"/>
                  <a:pt x="14957" y="0"/>
                  <a:pt x="33380" y="0"/>
                </a:cubicBezTo>
                <a:close/>
              </a:path>
            </a:pathLst>
          </a:custGeom>
          <a:solidFill>
            <a:srgbClr val="B91C2B"/>
          </a:solidFill>
          <a:ln/>
        </p:spPr>
        <p:txBody>
          <a:bodyPr/>
          <a:lstStyle/>
          <a:p>
            <a:endParaRPr lang="en-US"/>
          </a:p>
        </p:txBody>
      </p:sp>
      <p:sp>
        <p:nvSpPr>
          <p:cNvPr id="33" name="Shape 31"/>
          <p:cNvSpPr/>
          <p:nvPr/>
        </p:nvSpPr>
        <p:spPr>
          <a:xfrm>
            <a:off x="6539652" y="1894308"/>
            <a:ext cx="133520" cy="133520"/>
          </a:xfrm>
          <a:custGeom>
            <a:avLst/>
            <a:gdLst/>
            <a:ahLst/>
            <a:cxnLst/>
            <a:rect l="l" t="t" r="r" b="b"/>
            <a:pathLst>
              <a:path w="133520" h="133520">
                <a:moveTo>
                  <a:pt x="66760" y="0"/>
                </a:moveTo>
                <a:cubicBezTo>
                  <a:pt x="70593" y="0"/>
                  <a:pt x="74114" y="2112"/>
                  <a:pt x="75939" y="5476"/>
                </a:cubicBezTo>
                <a:lnTo>
                  <a:pt x="132268" y="109789"/>
                </a:lnTo>
                <a:cubicBezTo>
                  <a:pt x="134015" y="113022"/>
                  <a:pt x="133937" y="116934"/>
                  <a:pt x="132059" y="120089"/>
                </a:cubicBezTo>
                <a:cubicBezTo>
                  <a:pt x="130182" y="123245"/>
                  <a:pt x="126765" y="125175"/>
                  <a:pt x="123088" y="125175"/>
                </a:cubicBezTo>
                <a:lnTo>
                  <a:pt x="10431" y="125175"/>
                </a:lnTo>
                <a:cubicBezTo>
                  <a:pt x="6754" y="125175"/>
                  <a:pt x="3364" y="123245"/>
                  <a:pt x="1460" y="120089"/>
                </a:cubicBezTo>
                <a:cubicBezTo>
                  <a:pt x="-443" y="116934"/>
                  <a:pt x="-495" y="113022"/>
                  <a:pt x="1252" y="109789"/>
                </a:cubicBezTo>
                <a:lnTo>
                  <a:pt x="57580" y="5476"/>
                </a:lnTo>
                <a:cubicBezTo>
                  <a:pt x="59406" y="2112"/>
                  <a:pt x="62926" y="0"/>
                  <a:pt x="66760" y="0"/>
                </a:cubicBezTo>
                <a:close/>
                <a:moveTo>
                  <a:pt x="66760" y="43811"/>
                </a:moveTo>
                <a:cubicBezTo>
                  <a:pt x="63291" y="43811"/>
                  <a:pt x="60501" y="46601"/>
                  <a:pt x="60501" y="50070"/>
                </a:cubicBezTo>
                <a:lnTo>
                  <a:pt x="60501" y="79277"/>
                </a:lnTo>
                <a:cubicBezTo>
                  <a:pt x="60501" y="82746"/>
                  <a:pt x="63291" y="85536"/>
                  <a:pt x="66760" y="85536"/>
                </a:cubicBezTo>
                <a:cubicBezTo>
                  <a:pt x="70228" y="85536"/>
                  <a:pt x="73018" y="82746"/>
                  <a:pt x="73018" y="79277"/>
                </a:cubicBezTo>
                <a:lnTo>
                  <a:pt x="73018" y="50070"/>
                </a:lnTo>
                <a:cubicBezTo>
                  <a:pt x="73018" y="46601"/>
                  <a:pt x="70228" y="43811"/>
                  <a:pt x="66760" y="43811"/>
                </a:cubicBezTo>
                <a:close/>
                <a:moveTo>
                  <a:pt x="73723" y="100140"/>
                </a:moveTo>
                <a:cubicBezTo>
                  <a:pt x="73881" y="97555"/>
                  <a:pt x="72592" y="95096"/>
                  <a:pt x="70377" y="93756"/>
                </a:cubicBezTo>
                <a:cubicBezTo>
                  <a:pt x="68161" y="92416"/>
                  <a:pt x="65385" y="92416"/>
                  <a:pt x="63169" y="93756"/>
                </a:cubicBezTo>
                <a:cubicBezTo>
                  <a:pt x="60953" y="95096"/>
                  <a:pt x="59665" y="97555"/>
                  <a:pt x="59823" y="100140"/>
                </a:cubicBezTo>
                <a:cubicBezTo>
                  <a:pt x="59665" y="102724"/>
                  <a:pt x="60953" y="105183"/>
                  <a:pt x="63169" y="106523"/>
                </a:cubicBezTo>
                <a:cubicBezTo>
                  <a:pt x="65385" y="107863"/>
                  <a:pt x="68161" y="107863"/>
                  <a:pt x="70377" y="106523"/>
                </a:cubicBezTo>
                <a:cubicBezTo>
                  <a:pt x="72592" y="105183"/>
                  <a:pt x="73881" y="102724"/>
                  <a:pt x="73723" y="100140"/>
                </a:cubicBezTo>
                <a:close/>
              </a:path>
            </a:pathLst>
          </a:custGeom>
          <a:solidFill>
            <a:srgbClr val="B91C2B"/>
          </a:solidFill>
          <a:ln/>
        </p:spPr>
        <p:txBody>
          <a:bodyPr/>
          <a:lstStyle/>
          <a:p>
            <a:endParaRPr lang="en-US"/>
          </a:p>
        </p:txBody>
      </p:sp>
      <p:sp>
        <p:nvSpPr>
          <p:cNvPr id="34" name="Text 32"/>
          <p:cNvSpPr/>
          <p:nvPr/>
        </p:nvSpPr>
        <p:spPr>
          <a:xfrm>
            <a:off x="6756622" y="1844238"/>
            <a:ext cx="1527129" cy="233659"/>
          </a:xfrm>
          <a:prstGeom prst="rect">
            <a:avLst/>
          </a:prstGeom>
          <a:noFill/>
          <a:ln/>
        </p:spPr>
        <p:txBody>
          <a:bodyPr wrap="square" lIns="0" tIns="0" rIns="0" bIns="0" rtlCol="0" anchor="ctr"/>
          <a:lstStyle/>
          <a:p>
            <a:pPr>
              <a:lnSpc>
                <a:spcPct val="130000"/>
              </a:lnSpc>
            </a:pPr>
            <a:r>
              <a:rPr lang="en-US" sz="1183" b="1" dirty="0">
                <a:solidFill>
                  <a:srgbClr val="2D3142"/>
                </a:solidFill>
                <a:latin typeface="Quattrocento Sans" pitchFamily="34" charset="0"/>
                <a:ea typeface="Quattrocento Sans" pitchFamily="34" charset="-122"/>
                <a:cs typeface="Quattrocento Sans" pitchFamily="34" charset="-120"/>
              </a:rPr>
              <a:t>Manual Error Handling</a:t>
            </a:r>
            <a:endParaRPr lang="en-US" sz="1600" dirty="0"/>
          </a:p>
        </p:txBody>
      </p:sp>
      <p:sp>
        <p:nvSpPr>
          <p:cNvPr id="35" name="Text 33"/>
          <p:cNvSpPr/>
          <p:nvPr/>
        </p:nvSpPr>
        <p:spPr>
          <a:xfrm>
            <a:off x="6522963" y="2144657"/>
            <a:ext cx="5098776" cy="200279"/>
          </a:xfrm>
          <a:prstGeom prst="rect">
            <a:avLst/>
          </a:prstGeom>
          <a:noFill/>
          <a:ln/>
        </p:spPr>
        <p:txBody>
          <a:bodyPr wrap="square" lIns="0" tIns="0" rIns="0" bIns="0" rtlCol="0" anchor="ctr"/>
          <a:lstStyle/>
          <a:p>
            <a:pPr>
              <a:lnSpc>
                <a:spcPct val="130000"/>
              </a:lnSpc>
            </a:pPr>
            <a:r>
              <a:rPr lang="en-US" sz="1051" dirty="0">
                <a:solidFill>
                  <a:srgbClr val="8D99AE"/>
                </a:solidFill>
                <a:latin typeface="Quattrocento Sans" pitchFamily="34" charset="0"/>
                <a:ea typeface="Quattrocento Sans" pitchFamily="34" charset="-122"/>
                <a:cs typeface="Quattrocento Sans" pitchFamily="34" charset="-120"/>
              </a:rPr>
              <a:t>Errors on individual streams don't propagate through the pipe chain</a:t>
            </a:r>
            <a:endParaRPr lang="en-US" sz="1600" dirty="0"/>
          </a:p>
        </p:txBody>
      </p:sp>
      <p:sp>
        <p:nvSpPr>
          <p:cNvPr id="36" name="Shape 34"/>
          <p:cNvSpPr/>
          <p:nvPr/>
        </p:nvSpPr>
        <p:spPr>
          <a:xfrm>
            <a:off x="6522963" y="2411696"/>
            <a:ext cx="5032016" cy="400559"/>
          </a:xfrm>
          <a:custGeom>
            <a:avLst/>
            <a:gdLst/>
            <a:ahLst/>
            <a:cxnLst/>
            <a:rect l="l" t="t" r="r" b="b"/>
            <a:pathLst>
              <a:path w="5032016" h="400559">
                <a:moveTo>
                  <a:pt x="33379" y="0"/>
                </a:moveTo>
                <a:lnTo>
                  <a:pt x="4998638" y="0"/>
                </a:lnTo>
                <a:cubicBezTo>
                  <a:pt x="5017072" y="0"/>
                  <a:pt x="5032016" y="14944"/>
                  <a:pt x="5032016" y="33379"/>
                </a:cubicBezTo>
                <a:lnTo>
                  <a:pt x="5032016" y="367180"/>
                </a:lnTo>
                <a:cubicBezTo>
                  <a:pt x="5032016" y="385614"/>
                  <a:pt x="5017072" y="400559"/>
                  <a:pt x="4998638" y="400559"/>
                </a:cubicBezTo>
                <a:lnTo>
                  <a:pt x="33379" y="400559"/>
                </a:lnTo>
                <a:cubicBezTo>
                  <a:pt x="14944" y="400559"/>
                  <a:pt x="0" y="385614"/>
                  <a:pt x="0" y="367180"/>
                </a:cubicBezTo>
                <a:lnTo>
                  <a:pt x="0" y="33379"/>
                </a:lnTo>
                <a:cubicBezTo>
                  <a:pt x="0" y="14956"/>
                  <a:pt x="14956" y="0"/>
                  <a:pt x="33379" y="0"/>
                </a:cubicBezTo>
                <a:close/>
              </a:path>
            </a:pathLst>
          </a:custGeom>
          <a:solidFill>
            <a:srgbClr val="EAE7D6"/>
          </a:solidFill>
          <a:ln/>
        </p:spPr>
        <p:txBody>
          <a:bodyPr/>
          <a:lstStyle/>
          <a:p>
            <a:endParaRPr lang="en-US"/>
          </a:p>
        </p:txBody>
      </p:sp>
      <p:sp>
        <p:nvSpPr>
          <p:cNvPr id="37" name="Text 35"/>
          <p:cNvSpPr/>
          <p:nvPr/>
        </p:nvSpPr>
        <p:spPr>
          <a:xfrm>
            <a:off x="6589722" y="2478456"/>
            <a:ext cx="4948567" cy="133520"/>
          </a:xfrm>
          <a:prstGeom prst="rect">
            <a:avLst/>
          </a:prstGeom>
          <a:noFill/>
          <a:ln/>
        </p:spPr>
        <p:txBody>
          <a:bodyPr wrap="square" lIns="0" tIns="0" rIns="0" bIns="0" rtlCol="0" anchor="ctr"/>
          <a:lstStyle/>
          <a:p>
            <a:pPr>
              <a:lnSpc>
                <a:spcPct val="110000"/>
              </a:lnSpc>
            </a:pPr>
            <a:r>
              <a:rPr lang="en-US" sz="789" dirty="0">
                <a:solidFill>
                  <a:srgbClr val="B91C2B"/>
                </a:solidFill>
                <a:latin typeface="MiSans" pitchFamily="34" charset="0"/>
                <a:ea typeface="MiSans" pitchFamily="34" charset="-122"/>
                <a:cs typeface="MiSans" pitchFamily="34" charset="-120"/>
              </a:rPr>
              <a:t>// Error on 'from' won't stop 'to'</a:t>
            </a:r>
            <a:endParaRPr lang="en-US" sz="1600" dirty="0"/>
          </a:p>
        </p:txBody>
      </p:sp>
      <p:sp>
        <p:nvSpPr>
          <p:cNvPr id="38" name="Text 36"/>
          <p:cNvSpPr/>
          <p:nvPr/>
        </p:nvSpPr>
        <p:spPr>
          <a:xfrm>
            <a:off x="6589722" y="2611975"/>
            <a:ext cx="4948567" cy="133520"/>
          </a:xfrm>
          <a:prstGeom prst="rect">
            <a:avLst/>
          </a:prstGeom>
          <a:noFill/>
          <a:ln/>
        </p:spPr>
        <p:txBody>
          <a:bodyPr wrap="square" lIns="0" tIns="0" rIns="0" bIns="0" rtlCol="0" anchor="ctr"/>
          <a:lstStyle/>
          <a:p>
            <a:pPr>
              <a:lnSpc>
                <a:spcPct val="110000"/>
              </a:lnSpc>
            </a:pPr>
            <a:r>
              <a:rPr lang="en-US" sz="789" dirty="0">
                <a:solidFill>
                  <a:srgbClr val="B91C2B"/>
                </a:solidFill>
                <a:latin typeface="MiSans" pitchFamily="34" charset="0"/>
                <a:ea typeface="MiSans" pitchFamily="34" charset="-122"/>
                <a:cs typeface="MiSans" pitchFamily="34" charset="-120"/>
              </a:rPr>
              <a:t>from.pipe(to);</a:t>
            </a:r>
            <a:endParaRPr lang="en-US" sz="1600" dirty="0"/>
          </a:p>
        </p:txBody>
      </p:sp>
      <p:sp>
        <p:nvSpPr>
          <p:cNvPr id="39" name="Shape 37"/>
          <p:cNvSpPr/>
          <p:nvPr/>
        </p:nvSpPr>
        <p:spPr>
          <a:xfrm>
            <a:off x="6372753" y="3045914"/>
            <a:ext cx="5315745" cy="767737"/>
          </a:xfrm>
          <a:custGeom>
            <a:avLst/>
            <a:gdLst/>
            <a:ahLst/>
            <a:cxnLst/>
            <a:rect l="l" t="t" r="r" b="b"/>
            <a:pathLst>
              <a:path w="5315745" h="767737">
                <a:moveTo>
                  <a:pt x="33380" y="0"/>
                </a:moveTo>
                <a:lnTo>
                  <a:pt x="5248983" y="0"/>
                </a:lnTo>
                <a:cubicBezTo>
                  <a:pt x="5285855" y="0"/>
                  <a:pt x="5315745" y="29891"/>
                  <a:pt x="5315745" y="66762"/>
                </a:cubicBezTo>
                <a:lnTo>
                  <a:pt x="5315745" y="700975"/>
                </a:lnTo>
                <a:cubicBezTo>
                  <a:pt x="5315745" y="737847"/>
                  <a:pt x="5285855" y="767737"/>
                  <a:pt x="5248983" y="767737"/>
                </a:cubicBezTo>
                <a:lnTo>
                  <a:pt x="33380" y="767737"/>
                </a:lnTo>
                <a:cubicBezTo>
                  <a:pt x="14945" y="767737"/>
                  <a:pt x="0" y="752792"/>
                  <a:pt x="0" y="734357"/>
                </a:cubicBezTo>
                <a:lnTo>
                  <a:pt x="0" y="33380"/>
                </a:lnTo>
                <a:cubicBezTo>
                  <a:pt x="0" y="14957"/>
                  <a:pt x="14957" y="0"/>
                  <a:pt x="33380" y="0"/>
                </a:cubicBezTo>
                <a:close/>
              </a:path>
            </a:pathLst>
          </a:custGeom>
          <a:solidFill>
            <a:srgbClr val="EAE7D6"/>
          </a:solidFill>
          <a:ln/>
        </p:spPr>
        <p:txBody>
          <a:bodyPr/>
          <a:lstStyle/>
          <a:p>
            <a:endParaRPr lang="en-US"/>
          </a:p>
        </p:txBody>
      </p:sp>
      <p:sp>
        <p:nvSpPr>
          <p:cNvPr id="40" name="Shape 38"/>
          <p:cNvSpPr/>
          <p:nvPr/>
        </p:nvSpPr>
        <p:spPr>
          <a:xfrm>
            <a:off x="6372753" y="3045914"/>
            <a:ext cx="33380" cy="767737"/>
          </a:xfrm>
          <a:custGeom>
            <a:avLst/>
            <a:gdLst/>
            <a:ahLst/>
            <a:cxnLst/>
            <a:rect l="l" t="t" r="r" b="b"/>
            <a:pathLst>
              <a:path w="33380" h="767737">
                <a:moveTo>
                  <a:pt x="33380" y="0"/>
                </a:moveTo>
                <a:lnTo>
                  <a:pt x="33380" y="0"/>
                </a:lnTo>
                <a:lnTo>
                  <a:pt x="33380" y="767737"/>
                </a:lnTo>
                <a:lnTo>
                  <a:pt x="33380" y="767737"/>
                </a:lnTo>
                <a:cubicBezTo>
                  <a:pt x="14945" y="767737"/>
                  <a:pt x="0" y="752792"/>
                  <a:pt x="0" y="734357"/>
                </a:cubicBezTo>
                <a:lnTo>
                  <a:pt x="0" y="33380"/>
                </a:lnTo>
                <a:cubicBezTo>
                  <a:pt x="0" y="14957"/>
                  <a:pt x="14957" y="0"/>
                  <a:pt x="33380" y="0"/>
                </a:cubicBezTo>
                <a:close/>
              </a:path>
            </a:pathLst>
          </a:custGeom>
          <a:solidFill>
            <a:srgbClr val="B91C2B"/>
          </a:solidFill>
          <a:ln/>
        </p:spPr>
        <p:txBody>
          <a:bodyPr/>
          <a:lstStyle/>
          <a:p>
            <a:endParaRPr lang="en-US"/>
          </a:p>
        </p:txBody>
      </p:sp>
      <p:sp>
        <p:nvSpPr>
          <p:cNvPr id="41" name="Shape 39"/>
          <p:cNvSpPr/>
          <p:nvPr/>
        </p:nvSpPr>
        <p:spPr>
          <a:xfrm>
            <a:off x="6531307" y="3229503"/>
            <a:ext cx="150209" cy="133520"/>
          </a:xfrm>
          <a:custGeom>
            <a:avLst/>
            <a:gdLst/>
            <a:ahLst/>
            <a:cxnLst/>
            <a:rect l="l" t="t" r="r" b="b"/>
            <a:pathLst>
              <a:path w="150209" h="133520">
                <a:moveTo>
                  <a:pt x="50070" y="25035"/>
                </a:moveTo>
                <a:cubicBezTo>
                  <a:pt x="50070" y="11214"/>
                  <a:pt x="61283" y="0"/>
                  <a:pt x="75105" y="0"/>
                </a:cubicBezTo>
                <a:cubicBezTo>
                  <a:pt x="88926" y="0"/>
                  <a:pt x="100140" y="11214"/>
                  <a:pt x="100140" y="25035"/>
                </a:cubicBezTo>
                <a:lnTo>
                  <a:pt x="100140" y="25974"/>
                </a:lnTo>
                <a:cubicBezTo>
                  <a:pt x="100140" y="30068"/>
                  <a:pt x="96828" y="33380"/>
                  <a:pt x="92733" y="33380"/>
                </a:cubicBezTo>
                <a:lnTo>
                  <a:pt x="57502" y="33380"/>
                </a:lnTo>
                <a:cubicBezTo>
                  <a:pt x="53408" y="33380"/>
                  <a:pt x="50096" y="30068"/>
                  <a:pt x="50096" y="25974"/>
                </a:cubicBezTo>
                <a:lnTo>
                  <a:pt x="50096" y="25035"/>
                </a:lnTo>
                <a:close/>
                <a:moveTo>
                  <a:pt x="140195" y="28373"/>
                </a:moveTo>
                <a:cubicBezTo>
                  <a:pt x="142960" y="32050"/>
                  <a:pt x="142203" y="37292"/>
                  <a:pt x="138526" y="40056"/>
                </a:cubicBezTo>
                <a:lnTo>
                  <a:pt x="113022" y="59171"/>
                </a:lnTo>
                <a:cubicBezTo>
                  <a:pt x="114404" y="61492"/>
                  <a:pt x="115447" y="64048"/>
                  <a:pt x="116099" y="66760"/>
                </a:cubicBezTo>
                <a:lnTo>
                  <a:pt x="141864" y="66760"/>
                </a:lnTo>
                <a:cubicBezTo>
                  <a:pt x="146480" y="66760"/>
                  <a:pt x="150209" y="70489"/>
                  <a:pt x="150209" y="75105"/>
                </a:cubicBezTo>
                <a:cubicBezTo>
                  <a:pt x="150209" y="79721"/>
                  <a:pt x="146480" y="83450"/>
                  <a:pt x="141864" y="83450"/>
                </a:cubicBezTo>
                <a:lnTo>
                  <a:pt x="116830" y="83450"/>
                </a:lnTo>
                <a:lnTo>
                  <a:pt x="116830" y="91795"/>
                </a:lnTo>
                <a:cubicBezTo>
                  <a:pt x="116830" y="92473"/>
                  <a:pt x="116803" y="93177"/>
                  <a:pt x="116777" y="93855"/>
                </a:cubicBezTo>
                <a:lnTo>
                  <a:pt x="138526" y="110154"/>
                </a:lnTo>
                <a:cubicBezTo>
                  <a:pt x="142203" y="112918"/>
                  <a:pt x="142960" y="118160"/>
                  <a:pt x="140195" y="121837"/>
                </a:cubicBezTo>
                <a:cubicBezTo>
                  <a:pt x="137431" y="125514"/>
                  <a:pt x="132190" y="126270"/>
                  <a:pt x="128513" y="123506"/>
                </a:cubicBezTo>
                <a:lnTo>
                  <a:pt x="112057" y="111171"/>
                </a:lnTo>
                <a:cubicBezTo>
                  <a:pt x="106007" y="122697"/>
                  <a:pt x="94715" y="131042"/>
                  <a:pt x="81363" y="133050"/>
                </a:cubicBezTo>
                <a:lnTo>
                  <a:pt x="81363" y="73018"/>
                </a:lnTo>
                <a:cubicBezTo>
                  <a:pt x="81363" y="69550"/>
                  <a:pt x="78573" y="66760"/>
                  <a:pt x="75105" y="66760"/>
                </a:cubicBezTo>
                <a:cubicBezTo>
                  <a:pt x="71636" y="66760"/>
                  <a:pt x="68846" y="69550"/>
                  <a:pt x="68846" y="73018"/>
                </a:cubicBezTo>
                <a:lnTo>
                  <a:pt x="68846" y="133050"/>
                </a:lnTo>
                <a:cubicBezTo>
                  <a:pt x="55494" y="131042"/>
                  <a:pt x="44202" y="122697"/>
                  <a:pt x="38152" y="111171"/>
                </a:cubicBezTo>
                <a:lnTo>
                  <a:pt x="21697" y="123506"/>
                </a:lnTo>
                <a:cubicBezTo>
                  <a:pt x="18020" y="126270"/>
                  <a:pt x="12778" y="125514"/>
                  <a:pt x="10014" y="121837"/>
                </a:cubicBezTo>
                <a:cubicBezTo>
                  <a:pt x="7250" y="118160"/>
                  <a:pt x="8006" y="112918"/>
                  <a:pt x="11683" y="110154"/>
                </a:cubicBezTo>
                <a:lnTo>
                  <a:pt x="33432" y="93855"/>
                </a:lnTo>
                <a:cubicBezTo>
                  <a:pt x="33406" y="93177"/>
                  <a:pt x="33380" y="92499"/>
                  <a:pt x="33380" y="91795"/>
                </a:cubicBezTo>
                <a:lnTo>
                  <a:pt x="33380" y="83450"/>
                </a:lnTo>
                <a:lnTo>
                  <a:pt x="8345" y="83450"/>
                </a:lnTo>
                <a:cubicBezTo>
                  <a:pt x="3729" y="83450"/>
                  <a:pt x="0" y="79721"/>
                  <a:pt x="0" y="75105"/>
                </a:cubicBezTo>
                <a:cubicBezTo>
                  <a:pt x="0" y="70489"/>
                  <a:pt x="3729" y="66760"/>
                  <a:pt x="8345" y="66760"/>
                </a:cubicBezTo>
                <a:lnTo>
                  <a:pt x="34110" y="66760"/>
                </a:lnTo>
                <a:cubicBezTo>
                  <a:pt x="34762" y="64048"/>
                  <a:pt x="35805" y="61492"/>
                  <a:pt x="37187" y="59171"/>
                </a:cubicBezTo>
                <a:lnTo>
                  <a:pt x="11683" y="40056"/>
                </a:lnTo>
                <a:cubicBezTo>
                  <a:pt x="8006" y="37292"/>
                  <a:pt x="7250" y="32050"/>
                  <a:pt x="10014" y="28373"/>
                </a:cubicBezTo>
                <a:cubicBezTo>
                  <a:pt x="12778" y="24696"/>
                  <a:pt x="18020" y="23940"/>
                  <a:pt x="21697" y="26704"/>
                </a:cubicBezTo>
                <a:lnTo>
                  <a:pt x="50070" y="47984"/>
                </a:lnTo>
                <a:cubicBezTo>
                  <a:pt x="53277" y="46654"/>
                  <a:pt x="56798" y="45897"/>
                  <a:pt x="60501" y="45897"/>
                </a:cubicBezTo>
                <a:lnTo>
                  <a:pt x="89708" y="45897"/>
                </a:lnTo>
                <a:cubicBezTo>
                  <a:pt x="93411" y="45897"/>
                  <a:pt x="96932" y="46628"/>
                  <a:pt x="100140" y="47984"/>
                </a:cubicBezTo>
                <a:lnTo>
                  <a:pt x="128513" y="26704"/>
                </a:lnTo>
                <a:cubicBezTo>
                  <a:pt x="132190" y="23940"/>
                  <a:pt x="137431" y="24696"/>
                  <a:pt x="140195" y="28373"/>
                </a:cubicBezTo>
                <a:close/>
              </a:path>
            </a:pathLst>
          </a:custGeom>
          <a:solidFill>
            <a:srgbClr val="B91C2B"/>
          </a:solidFill>
          <a:ln/>
        </p:spPr>
        <p:txBody>
          <a:bodyPr/>
          <a:lstStyle/>
          <a:p>
            <a:endParaRPr lang="en-US"/>
          </a:p>
        </p:txBody>
      </p:sp>
      <p:sp>
        <p:nvSpPr>
          <p:cNvPr id="42" name="Text 40"/>
          <p:cNvSpPr/>
          <p:nvPr/>
        </p:nvSpPr>
        <p:spPr>
          <a:xfrm>
            <a:off x="6756622" y="3179433"/>
            <a:ext cx="1218366" cy="233659"/>
          </a:xfrm>
          <a:prstGeom prst="rect">
            <a:avLst/>
          </a:prstGeom>
          <a:noFill/>
          <a:ln/>
        </p:spPr>
        <p:txBody>
          <a:bodyPr wrap="square" lIns="0" tIns="0" rIns="0" bIns="0" rtlCol="0" anchor="ctr"/>
          <a:lstStyle/>
          <a:p>
            <a:pPr>
              <a:lnSpc>
                <a:spcPct val="130000"/>
              </a:lnSpc>
            </a:pPr>
            <a:r>
              <a:rPr lang="en-US" sz="1183" b="1" dirty="0">
                <a:solidFill>
                  <a:srgbClr val="2D3142"/>
                </a:solidFill>
                <a:latin typeface="Quattrocento Sans" pitchFamily="34" charset="0"/>
                <a:ea typeface="Quattrocento Sans" pitchFamily="34" charset="-122"/>
                <a:cs typeface="Quattrocento Sans" pitchFamily="34" charset="-120"/>
              </a:rPr>
              <a:t>No Auto-Cleanup</a:t>
            </a:r>
            <a:endParaRPr lang="en-US" sz="1600" dirty="0"/>
          </a:p>
        </p:txBody>
      </p:sp>
      <p:sp>
        <p:nvSpPr>
          <p:cNvPr id="43" name="Text 41"/>
          <p:cNvSpPr/>
          <p:nvPr/>
        </p:nvSpPr>
        <p:spPr>
          <a:xfrm>
            <a:off x="6522963" y="3479852"/>
            <a:ext cx="5098776" cy="200279"/>
          </a:xfrm>
          <a:prstGeom prst="rect">
            <a:avLst/>
          </a:prstGeom>
          <a:noFill/>
          <a:ln/>
        </p:spPr>
        <p:txBody>
          <a:bodyPr wrap="square" lIns="0" tIns="0" rIns="0" bIns="0" rtlCol="0" anchor="ctr"/>
          <a:lstStyle/>
          <a:p>
            <a:pPr>
              <a:lnSpc>
                <a:spcPct val="130000"/>
              </a:lnSpc>
            </a:pPr>
            <a:r>
              <a:rPr lang="en-US" sz="1051" dirty="0">
                <a:solidFill>
                  <a:srgbClr val="8D99AE"/>
                </a:solidFill>
                <a:latin typeface="Quattrocento Sans" pitchFamily="34" charset="0"/>
                <a:ea typeface="Quattrocento Sans" pitchFamily="34" charset="-122"/>
                <a:cs typeface="Quattrocento Sans" pitchFamily="34" charset="-120"/>
              </a:rPr>
              <a:t>Streams may not be properly destroyed on errors, causing memory leaks</a:t>
            </a:r>
            <a:endParaRPr lang="en-US" sz="1600" dirty="0"/>
          </a:p>
        </p:txBody>
      </p:sp>
      <p:sp>
        <p:nvSpPr>
          <p:cNvPr id="44" name="Shape 42"/>
          <p:cNvSpPr/>
          <p:nvPr/>
        </p:nvSpPr>
        <p:spPr>
          <a:xfrm>
            <a:off x="6184991" y="4126587"/>
            <a:ext cx="5674579" cy="1877618"/>
          </a:xfrm>
          <a:custGeom>
            <a:avLst/>
            <a:gdLst/>
            <a:ahLst/>
            <a:cxnLst/>
            <a:rect l="l" t="t" r="r" b="b"/>
            <a:pathLst>
              <a:path w="5674579" h="1877618">
                <a:moveTo>
                  <a:pt x="100133" y="0"/>
                </a:moveTo>
                <a:lnTo>
                  <a:pt x="5574446" y="0"/>
                </a:lnTo>
                <a:cubicBezTo>
                  <a:pt x="5629748" y="0"/>
                  <a:pt x="5674579" y="44831"/>
                  <a:pt x="5674579" y="100133"/>
                </a:cubicBezTo>
                <a:lnTo>
                  <a:pt x="5674579" y="1777485"/>
                </a:lnTo>
                <a:cubicBezTo>
                  <a:pt x="5674579" y="1832787"/>
                  <a:pt x="5629748" y="1877618"/>
                  <a:pt x="5574446" y="1877618"/>
                </a:cubicBezTo>
                <a:lnTo>
                  <a:pt x="100133" y="1877618"/>
                </a:lnTo>
                <a:cubicBezTo>
                  <a:pt x="44831" y="1877618"/>
                  <a:pt x="0" y="1832787"/>
                  <a:pt x="0" y="1777485"/>
                </a:cubicBezTo>
                <a:lnTo>
                  <a:pt x="0" y="100133"/>
                </a:lnTo>
                <a:cubicBezTo>
                  <a:pt x="0" y="44868"/>
                  <a:pt x="44868" y="0"/>
                  <a:pt x="100133" y="0"/>
                </a:cubicBezTo>
                <a:close/>
              </a:path>
            </a:pathLst>
          </a:custGeom>
          <a:solidFill>
            <a:srgbClr val="EAE7D6"/>
          </a:solidFill>
          <a:ln/>
        </p:spPr>
        <p:txBody>
          <a:bodyPr/>
          <a:lstStyle/>
          <a:p>
            <a:endParaRPr lang="en-US"/>
          </a:p>
        </p:txBody>
      </p:sp>
      <p:sp>
        <p:nvSpPr>
          <p:cNvPr id="45" name="Shape 43"/>
          <p:cNvSpPr/>
          <p:nvPr/>
        </p:nvSpPr>
        <p:spPr>
          <a:xfrm>
            <a:off x="6366494" y="4331039"/>
            <a:ext cx="187762" cy="166899"/>
          </a:xfrm>
          <a:custGeom>
            <a:avLst/>
            <a:gdLst/>
            <a:ahLst/>
            <a:cxnLst/>
            <a:rect l="l" t="t" r="r" b="b"/>
            <a:pathLst>
              <a:path w="187762" h="166899">
                <a:moveTo>
                  <a:pt x="117612" y="391"/>
                </a:moveTo>
                <a:cubicBezTo>
                  <a:pt x="112070" y="-1206"/>
                  <a:pt x="106301" y="2021"/>
                  <a:pt x="104703" y="7563"/>
                </a:cubicBezTo>
                <a:lnTo>
                  <a:pt x="62978" y="153600"/>
                </a:lnTo>
                <a:cubicBezTo>
                  <a:pt x="61381" y="159141"/>
                  <a:pt x="64608" y="164911"/>
                  <a:pt x="70150" y="166508"/>
                </a:cubicBezTo>
                <a:cubicBezTo>
                  <a:pt x="75691" y="168105"/>
                  <a:pt x="81461" y="164878"/>
                  <a:pt x="83059" y="159337"/>
                </a:cubicBezTo>
                <a:lnTo>
                  <a:pt x="124783" y="13300"/>
                </a:lnTo>
                <a:cubicBezTo>
                  <a:pt x="126381" y="7758"/>
                  <a:pt x="123153" y="1988"/>
                  <a:pt x="117612" y="391"/>
                </a:cubicBezTo>
                <a:close/>
                <a:moveTo>
                  <a:pt x="138670" y="44756"/>
                </a:moveTo>
                <a:cubicBezTo>
                  <a:pt x="134595" y="48831"/>
                  <a:pt x="134595" y="55448"/>
                  <a:pt x="138670" y="59523"/>
                </a:cubicBezTo>
                <a:lnTo>
                  <a:pt x="162597" y="83450"/>
                </a:lnTo>
                <a:lnTo>
                  <a:pt x="138670" y="107376"/>
                </a:lnTo>
                <a:cubicBezTo>
                  <a:pt x="134595" y="111451"/>
                  <a:pt x="134595" y="118068"/>
                  <a:pt x="138670" y="122143"/>
                </a:cubicBezTo>
                <a:cubicBezTo>
                  <a:pt x="142745" y="126218"/>
                  <a:pt x="149362" y="126218"/>
                  <a:pt x="153437" y="122143"/>
                </a:cubicBezTo>
                <a:lnTo>
                  <a:pt x="184730" y="90849"/>
                </a:lnTo>
                <a:cubicBezTo>
                  <a:pt x="188805" y="86775"/>
                  <a:pt x="188805" y="80157"/>
                  <a:pt x="184730" y="76083"/>
                </a:cubicBezTo>
                <a:lnTo>
                  <a:pt x="153437" y="44789"/>
                </a:lnTo>
                <a:cubicBezTo>
                  <a:pt x="149362" y="40714"/>
                  <a:pt x="142745" y="40714"/>
                  <a:pt x="138670" y="44789"/>
                </a:cubicBezTo>
                <a:close/>
                <a:moveTo>
                  <a:pt x="49124" y="44756"/>
                </a:moveTo>
                <a:cubicBezTo>
                  <a:pt x="45050" y="40682"/>
                  <a:pt x="38432" y="40682"/>
                  <a:pt x="34358" y="44756"/>
                </a:cubicBezTo>
                <a:lnTo>
                  <a:pt x="3064" y="76050"/>
                </a:lnTo>
                <a:cubicBezTo>
                  <a:pt x="-1011" y="80125"/>
                  <a:pt x="-1011" y="86742"/>
                  <a:pt x="3064" y="90817"/>
                </a:cubicBezTo>
                <a:lnTo>
                  <a:pt x="34358" y="122110"/>
                </a:lnTo>
                <a:cubicBezTo>
                  <a:pt x="38432" y="126185"/>
                  <a:pt x="45050" y="126185"/>
                  <a:pt x="49124" y="122110"/>
                </a:cubicBezTo>
                <a:cubicBezTo>
                  <a:pt x="53199" y="118036"/>
                  <a:pt x="53199" y="111418"/>
                  <a:pt x="49124" y="107344"/>
                </a:cubicBezTo>
                <a:lnTo>
                  <a:pt x="25198" y="83450"/>
                </a:lnTo>
                <a:lnTo>
                  <a:pt x="49092" y="59523"/>
                </a:lnTo>
                <a:cubicBezTo>
                  <a:pt x="53167" y="55448"/>
                  <a:pt x="53167" y="48831"/>
                  <a:pt x="49092" y="44756"/>
                </a:cubicBezTo>
                <a:close/>
              </a:path>
            </a:pathLst>
          </a:custGeom>
          <a:solidFill>
            <a:srgbClr val="8D99AE"/>
          </a:solidFill>
          <a:ln/>
        </p:spPr>
        <p:txBody>
          <a:bodyPr/>
          <a:lstStyle/>
          <a:p>
            <a:endParaRPr lang="en-US"/>
          </a:p>
        </p:txBody>
      </p:sp>
      <p:sp>
        <p:nvSpPr>
          <p:cNvPr id="46" name="Text 44"/>
          <p:cNvSpPr/>
          <p:nvPr/>
        </p:nvSpPr>
        <p:spPr>
          <a:xfrm>
            <a:off x="6664827" y="4297659"/>
            <a:ext cx="709322" cy="233659"/>
          </a:xfrm>
          <a:prstGeom prst="rect">
            <a:avLst/>
          </a:prstGeom>
          <a:noFill/>
          <a:ln/>
        </p:spPr>
        <p:txBody>
          <a:bodyPr wrap="square" lIns="0" tIns="0" rIns="0" bIns="0" rtlCol="0" anchor="ctr"/>
          <a:lstStyle/>
          <a:p>
            <a:pPr>
              <a:lnSpc>
                <a:spcPct val="120000"/>
              </a:lnSpc>
            </a:pPr>
            <a:r>
              <a:rPr lang="en-US" sz="1314" b="1" dirty="0">
                <a:solidFill>
                  <a:srgbClr val="2D3142"/>
                </a:solidFill>
                <a:latin typeface="Quattrocento Sans" pitchFamily="34" charset="0"/>
                <a:ea typeface="Quattrocento Sans" pitchFamily="34" charset="-122"/>
                <a:cs typeface="Quattrocento Sans" pitchFamily="34" charset="-120"/>
              </a:rPr>
              <a:t>Example</a:t>
            </a:r>
            <a:endParaRPr lang="en-US" sz="1600" dirty="0"/>
          </a:p>
        </p:txBody>
      </p:sp>
      <p:sp>
        <p:nvSpPr>
          <p:cNvPr id="47" name="Shape 45"/>
          <p:cNvSpPr/>
          <p:nvPr/>
        </p:nvSpPr>
        <p:spPr>
          <a:xfrm>
            <a:off x="6356063" y="4631458"/>
            <a:ext cx="5332435" cy="1201676"/>
          </a:xfrm>
          <a:custGeom>
            <a:avLst/>
            <a:gdLst/>
            <a:ahLst/>
            <a:cxnLst/>
            <a:rect l="l" t="t" r="r" b="b"/>
            <a:pathLst>
              <a:path w="5332435" h="1201676">
                <a:moveTo>
                  <a:pt x="66765" y="0"/>
                </a:moveTo>
                <a:lnTo>
                  <a:pt x="5265670" y="0"/>
                </a:lnTo>
                <a:cubicBezTo>
                  <a:pt x="5302544" y="0"/>
                  <a:pt x="5332435" y="29892"/>
                  <a:pt x="5332435" y="66765"/>
                </a:cubicBezTo>
                <a:lnTo>
                  <a:pt x="5332435" y="1134910"/>
                </a:lnTo>
                <a:cubicBezTo>
                  <a:pt x="5332435" y="1171784"/>
                  <a:pt x="5302544" y="1201676"/>
                  <a:pt x="5265670" y="1201676"/>
                </a:cubicBezTo>
                <a:lnTo>
                  <a:pt x="66765" y="1201676"/>
                </a:lnTo>
                <a:cubicBezTo>
                  <a:pt x="29892" y="1201676"/>
                  <a:pt x="0" y="1171784"/>
                  <a:pt x="0" y="1134910"/>
                </a:cubicBezTo>
                <a:lnTo>
                  <a:pt x="0" y="66765"/>
                </a:lnTo>
                <a:cubicBezTo>
                  <a:pt x="0" y="29916"/>
                  <a:pt x="29916" y="0"/>
                  <a:pt x="66765" y="0"/>
                </a:cubicBezTo>
                <a:close/>
              </a:path>
            </a:pathLst>
          </a:custGeom>
          <a:solidFill>
            <a:srgbClr val="EAE7D6"/>
          </a:solidFill>
          <a:ln/>
        </p:spPr>
        <p:txBody>
          <a:bodyPr/>
          <a:lstStyle/>
          <a:p>
            <a:endParaRPr lang="en-US"/>
          </a:p>
        </p:txBody>
      </p:sp>
      <p:sp>
        <p:nvSpPr>
          <p:cNvPr id="48" name="Text 46"/>
          <p:cNvSpPr/>
          <p:nvPr/>
        </p:nvSpPr>
        <p:spPr>
          <a:xfrm>
            <a:off x="6456203" y="4731598"/>
            <a:ext cx="5190571" cy="166899"/>
          </a:xfrm>
          <a:prstGeom prst="rect">
            <a:avLst/>
          </a:prstGeom>
          <a:noFill/>
          <a:ln/>
        </p:spPr>
        <p:txBody>
          <a:bodyPr wrap="square" lIns="0" tIns="0" rIns="0" bIns="0" rtlCol="0" anchor="ctr"/>
          <a:lstStyle/>
          <a:p>
            <a:pPr>
              <a:lnSpc>
                <a:spcPct val="120000"/>
              </a:lnSpc>
            </a:pPr>
            <a:r>
              <a:rPr lang="en-US" sz="920" dirty="0">
                <a:solidFill>
                  <a:srgbClr val="E07A5F"/>
                </a:solidFill>
                <a:latin typeface="MiSans" pitchFamily="34" charset="0"/>
                <a:ea typeface="MiSans" pitchFamily="34" charset="-122"/>
                <a:cs typeface="MiSans" pitchFamily="34" charset="-120"/>
              </a:rPr>
              <a:t>const fs = require('fs');</a:t>
            </a:r>
            <a:endParaRPr lang="en-US" sz="1600" dirty="0"/>
          </a:p>
        </p:txBody>
      </p:sp>
      <p:sp>
        <p:nvSpPr>
          <p:cNvPr id="49" name="Text 47"/>
          <p:cNvSpPr/>
          <p:nvPr/>
        </p:nvSpPr>
        <p:spPr>
          <a:xfrm>
            <a:off x="6456203" y="4898497"/>
            <a:ext cx="5190571" cy="166899"/>
          </a:xfrm>
          <a:prstGeom prst="rect">
            <a:avLst/>
          </a:prstGeom>
          <a:noFill/>
          <a:ln/>
        </p:spPr>
        <p:txBody>
          <a:bodyPr wrap="square" lIns="0" tIns="0" rIns="0" bIns="0" rtlCol="0" anchor="ctr"/>
          <a:lstStyle/>
          <a:p>
            <a:pPr>
              <a:lnSpc>
                <a:spcPct val="120000"/>
              </a:lnSpc>
            </a:pPr>
            <a:r>
              <a:rPr lang="en-US" sz="920" dirty="0">
                <a:solidFill>
                  <a:srgbClr val="E07A5F"/>
                </a:solidFill>
                <a:latin typeface="MiSans" pitchFamily="34" charset="0"/>
                <a:ea typeface="MiSans" pitchFamily="34" charset="-122"/>
                <a:cs typeface="MiSans" pitchFamily="34" charset="-120"/>
              </a:rPr>
              <a:t>const zlib = require('zlib');</a:t>
            </a:r>
            <a:endParaRPr lang="en-US" sz="1600" dirty="0"/>
          </a:p>
        </p:txBody>
      </p:sp>
      <p:sp>
        <p:nvSpPr>
          <p:cNvPr id="50" name="Text 48"/>
          <p:cNvSpPr/>
          <p:nvPr/>
        </p:nvSpPr>
        <p:spPr>
          <a:xfrm>
            <a:off x="6456203" y="5232296"/>
            <a:ext cx="5190571" cy="166899"/>
          </a:xfrm>
          <a:prstGeom prst="rect">
            <a:avLst/>
          </a:prstGeom>
          <a:noFill/>
          <a:ln/>
        </p:spPr>
        <p:txBody>
          <a:bodyPr wrap="square" lIns="0" tIns="0" rIns="0" bIns="0" rtlCol="0" anchor="ctr"/>
          <a:lstStyle/>
          <a:p>
            <a:pPr>
              <a:lnSpc>
                <a:spcPct val="120000"/>
              </a:lnSpc>
            </a:pPr>
            <a:r>
              <a:rPr lang="en-US" sz="920" dirty="0">
                <a:solidFill>
                  <a:srgbClr val="8D99AE"/>
                </a:solidFill>
                <a:latin typeface="MiSans" pitchFamily="34" charset="0"/>
                <a:ea typeface="MiSans" pitchFamily="34" charset="-122"/>
                <a:cs typeface="MiSans" pitchFamily="34" charset="-120"/>
              </a:rPr>
              <a:t>fs.createReadStream('input.txt')</a:t>
            </a:r>
            <a:endParaRPr lang="en-US" sz="1600" dirty="0"/>
          </a:p>
        </p:txBody>
      </p:sp>
      <p:sp>
        <p:nvSpPr>
          <p:cNvPr id="51" name="Text 49"/>
          <p:cNvSpPr/>
          <p:nvPr/>
        </p:nvSpPr>
        <p:spPr>
          <a:xfrm>
            <a:off x="6456203" y="5399195"/>
            <a:ext cx="5190571" cy="166899"/>
          </a:xfrm>
          <a:prstGeom prst="rect">
            <a:avLst/>
          </a:prstGeom>
          <a:noFill/>
          <a:ln/>
        </p:spPr>
        <p:txBody>
          <a:bodyPr wrap="square" lIns="0" tIns="0" rIns="0" bIns="0" rtlCol="0" anchor="ctr"/>
          <a:lstStyle/>
          <a:p>
            <a:pPr>
              <a:lnSpc>
                <a:spcPct val="120000"/>
              </a:lnSpc>
            </a:pPr>
            <a:r>
              <a:rPr lang="en-US" sz="920" dirty="0">
                <a:solidFill>
                  <a:srgbClr val="2D3142"/>
                </a:solidFill>
                <a:latin typeface="MiSans" pitchFamily="34" charset="0"/>
                <a:ea typeface="MiSans" pitchFamily="34" charset="-122"/>
                <a:cs typeface="MiSans" pitchFamily="34" charset="-120"/>
              </a:rPr>
              <a:t>.pipe(zlib.createGzip())</a:t>
            </a:r>
            <a:endParaRPr lang="en-US" sz="1600" dirty="0"/>
          </a:p>
        </p:txBody>
      </p:sp>
      <p:sp>
        <p:nvSpPr>
          <p:cNvPr id="52" name="Text 50"/>
          <p:cNvSpPr/>
          <p:nvPr/>
        </p:nvSpPr>
        <p:spPr>
          <a:xfrm>
            <a:off x="6456203" y="5566094"/>
            <a:ext cx="5190571" cy="166899"/>
          </a:xfrm>
          <a:prstGeom prst="rect">
            <a:avLst/>
          </a:prstGeom>
          <a:noFill/>
          <a:ln/>
        </p:spPr>
        <p:txBody>
          <a:bodyPr wrap="square" lIns="0" tIns="0" rIns="0" bIns="0" rtlCol="0" anchor="ctr"/>
          <a:lstStyle/>
          <a:p>
            <a:pPr>
              <a:lnSpc>
                <a:spcPct val="120000"/>
              </a:lnSpc>
            </a:pPr>
            <a:r>
              <a:rPr lang="en-US" sz="920" dirty="0">
                <a:solidFill>
                  <a:srgbClr val="2D3142"/>
                </a:solidFill>
                <a:latin typeface="MiSans" pitchFamily="34" charset="0"/>
                <a:ea typeface="MiSans" pitchFamily="34" charset="-122"/>
                <a:cs typeface="MiSans" pitchFamily="34" charset="-120"/>
              </a:rPr>
              <a:t>.pipe(fs.createWriteStream('out.gz'));</a:t>
            </a:r>
            <a:endParaRPr lang="en-US" sz="1600" dirty="0"/>
          </a:p>
        </p:txBody>
      </p:sp>
      <p:sp>
        <p:nvSpPr>
          <p:cNvPr id="53" name="Shape 51"/>
          <p:cNvSpPr/>
          <p:nvPr/>
        </p:nvSpPr>
        <p:spPr>
          <a:xfrm>
            <a:off x="337971" y="6146070"/>
            <a:ext cx="11516057" cy="709322"/>
          </a:xfrm>
          <a:custGeom>
            <a:avLst/>
            <a:gdLst/>
            <a:ahLst/>
            <a:cxnLst/>
            <a:rect l="l" t="t" r="r" b="b"/>
            <a:pathLst>
              <a:path w="11516057" h="709322">
                <a:moveTo>
                  <a:pt x="66761" y="0"/>
                </a:moveTo>
                <a:lnTo>
                  <a:pt x="11449296" y="0"/>
                </a:lnTo>
                <a:cubicBezTo>
                  <a:pt x="11486167" y="0"/>
                  <a:pt x="11516057" y="29890"/>
                  <a:pt x="11516057" y="66761"/>
                </a:cubicBezTo>
                <a:lnTo>
                  <a:pt x="11516057" y="642561"/>
                </a:lnTo>
                <a:cubicBezTo>
                  <a:pt x="11516057" y="679432"/>
                  <a:pt x="11486167" y="709322"/>
                  <a:pt x="11449296" y="709322"/>
                </a:cubicBezTo>
                <a:lnTo>
                  <a:pt x="66761" y="709322"/>
                </a:lnTo>
                <a:cubicBezTo>
                  <a:pt x="29915" y="709322"/>
                  <a:pt x="0" y="679408"/>
                  <a:pt x="0" y="642561"/>
                </a:cubicBezTo>
                <a:lnTo>
                  <a:pt x="0" y="66761"/>
                </a:lnTo>
                <a:cubicBezTo>
                  <a:pt x="0" y="29915"/>
                  <a:pt x="29915" y="0"/>
                  <a:pt x="66761" y="0"/>
                </a:cubicBezTo>
                <a:close/>
              </a:path>
            </a:pathLst>
          </a:custGeom>
          <a:solidFill>
            <a:srgbClr val="EAE7D6"/>
          </a:solidFill>
          <a:ln/>
        </p:spPr>
        <p:txBody>
          <a:bodyPr/>
          <a:lstStyle/>
          <a:p>
            <a:endParaRPr lang="en-US"/>
          </a:p>
        </p:txBody>
      </p:sp>
      <p:sp>
        <p:nvSpPr>
          <p:cNvPr id="54" name="Shape 52"/>
          <p:cNvSpPr/>
          <p:nvPr/>
        </p:nvSpPr>
        <p:spPr>
          <a:xfrm>
            <a:off x="496526" y="6417281"/>
            <a:ext cx="166899" cy="166899"/>
          </a:xfrm>
          <a:custGeom>
            <a:avLst/>
            <a:gdLst/>
            <a:ahLst/>
            <a:cxnLst/>
            <a:rect l="l" t="t" r="r" b="b"/>
            <a:pathLst>
              <a:path w="166899" h="166899">
                <a:moveTo>
                  <a:pt x="83450" y="166899"/>
                </a:moveTo>
                <a:cubicBezTo>
                  <a:pt x="129507" y="166899"/>
                  <a:pt x="166899" y="129507"/>
                  <a:pt x="166899" y="83450"/>
                </a:cubicBezTo>
                <a:cubicBezTo>
                  <a:pt x="166899" y="37393"/>
                  <a:pt x="129507" y="0"/>
                  <a:pt x="83450" y="0"/>
                </a:cubicBezTo>
                <a:cubicBezTo>
                  <a:pt x="37393" y="0"/>
                  <a:pt x="0" y="37393"/>
                  <a:pt x="0" y="83450"/>
                </a:cubicBezTo>
                <a:cubicBezTo>
                  <a:pt x="0" y="129507"/>
                  <a:pt x="37393" y="166899"/>
                  <a:pt x="83450" y="166899"/>
                </a:cubicBezTo>
                <a:close/>
                <a:moveTo>
                  <a:pt x="73018" y="52156"/>
                </a:moveTo>
                <a:cubicBezTo>
                  <a:pt x="73018" y="46399"/>
                  <a:pt x="77693" y="41725"/>
                  <a:pt x="83450" y="41725"/>
                </a:cubicBezTo>
                <a:cubicBezTo>
                  <a:pt x="89207" y="41725"/>
                  <a:pt x="93881" y="46399"/>
                  <a:pt x="93881" y="52156"/>
                </a:cubicBezTo>
                <a:cubicBezTo>
                  <a:pt x="93881" y="57913"/>
                  <a:pt x="89207" y="62587"/>
                  <a:pt x="83450" y="62587"/>
                </a:cubicBezTo>
                <a:cubicBezTo>
                  <a:pt x="77693" y="62587"/>
                  <a:pt x="73018" y="57913"/>
                  <a:pt x="73018" y="52156"/>
                </a:cubicBezTo>
                <a:close/>
                <a:moveTo>
                  <a:pt x="70411" y="73018"/>
                </a:moveTo>
                <a:lnTo>
                  <a:pt x="86057" y="73018"/>
                </a:lnTo>
                <a:cubicBezTo>
                  <a:pt x="90393" y="73018"/>
                  <a:pt x="93881" y="76506"/>
                  <a:pt x="93881" y="80842"/>
                </a:cubicBezTo>
                <a:lnTo>
                  <a:pt x="93881" y="109528"/>
                </a:lnTo>
                <a:lnTo>
                  <a:pt x="96489" y="109528"/>
                </a:lnTo>
                <a:cubicBezTo>
                  <a:pt x="100824" y="109528"/>
                  <a:pt x="104312" y="113016"/>
                  <a:pt x="104312" y="117351"/>
                </a:cubicBezTo>
                <a:cubicBezTo>
                  <a:pt x="104312" y="121687"/>
                  <a:pt x="100824" y="125175"/>
                  <a:pt x="96489" y="125175"/>
                </a:cubicBezTo>
                <a:lnTo>
                  <a:pt x="70411" y="125175"/>
                </a:lnTo>
                <a:cubicBezTo>
                  <a:pt x="66075" y="125175"/>
                  <a:pt x="62587" y="121687"/>
                  <a:pt x="62587" y="117351"/>
                </a:cubicBezTo>
                <a:cubicBezTo>
                  <a:pt x="62587" y="113016"/>
                  <a:pt x="66075" y="109528"/>
                  <a:pt x="70411" y="109528"/>
                </a:cubicBezTo>
                <a:lnTo>
                  <a:pt x="78234" y="109528"/>
                </a:lnTo>
                <a:lnTo>
                  <a:pt x="78234" y="88665"/>
                </a:lnTo>
                <a:lnTo>
                  <a:pt x="70411" y="88665"/>
                </a:lnTo>
                <a:cubicBezTo>
                  <a:pt x="66075" y="88665"/>
                  <a:pt x="62587" y="85177"/>
                  <a:pt x="62587" y="80842"/>
                </a:cubicBezTo>
                <a:cubicBezTo>
                  <a:pt x="62587" y="76506"/>
                  <a:pt x="66075" y="73018"/>
                  <a:pt x="70411" y="73018"/>
                </a:cubicBezTo>
                <a:close/>
              </a:path>
            </a:pathLst>
          </a:custGeom>
          <a:solidFill>
            <a:srgbClr val="E07A5F"/>
          </a:solidFill>
          <a:ln/>
        </p:spPr>
        <p:txBody>
          <a:bodyPr/>
          <a:lstStyle/>
          <a:p>
            <a:endParaRPr lang="en-US"/>
          </a:p>
        </p:txBody>
      </p:sp>
      <p:sp>
        <p:nvSpPr>
          <p:cNvPr id="55" name="Text 53"/>
          <p:cNvSpPr/>
          <p:nvPr/>
        </p:nvSpPr>
        <p:spPr>
          <a:xfrm>
            <a:off x="784427" y="6283762"/>
            <a:ext cx="8461799" cy="233659"/>
          </a:xfrm>
          <a:prstGeom prst="rect">
            <a:avLst/>
          </a:prstGeom>
          <a:noFill/>
          <a:ln/>
        </p:spPr>
        <p:txBody>
          <a:bodyPr wrap="square" lIns="0" tIns="0" rIns="0" bIns="0" rtlCol="0" anchor="ctr"/>
          <a:lstStyle/>
          <a:p>
            <a:pPr>
              <a:lnSpc>
                <a:spcPct val="130000"/>
              </a:lnSpc>
            </a:pPr>
            <a:r>
              <a:rPr lang="en-US" sz="1183" b="1" dirty="0">
                <a:solidFill>
                  <a:srgbClr val="2D3142"/>
                </a:solidFill>
                <a:latin typeface="Quattrocento Sans" pitchFamily="34" charset="0"/>
                <a:ea typeface="Quattrocento Sans" pitchFamily="34" charset="-122"/>
                <a:cs typeface="Quattrocento Sans" pitchFamily="34" charset="-120"/>
              </a:rPr>
              <a:t>Legacy but Still Used</a:t>
            </a:r>
            <a:endParaRPr lang="en-US" sz="1600" dirty="0"/>
          </a:p>
        </p:txBody>
      </p:sp>
      <p:sp>
        <p:nvSpPr>
          <p:cNvPr id="56" name="Text 54"/>
          <p:cNvSpPr/>
          <p:nvPr/>
        </p:nvSpPr>
        <p:spPr>
          <a:xfrm>
            <a:off x="784427" y="6517421"/>
            <a:ext cx="8453454" cy="200279"/>
          </a:xfrm>
          <a:prstGeom prst="rect">
            <a:avLst/>
          </a:prstGeom>
          <a:noFill/>
          <a:ln/>
        </p:spPr>
        <p:txBody>
          <a:bodyPr wrap="square" lIns="0" tIns="0" rIns="0" bIns="0" rtlCol="0" anchor="ctr"/>
          <a:lstStyle/>
          <a:p>
            <a:pPr>
              <a:lnSpc>
                <a:spcPct val="130000"/>
              </a:lnSpc>
            </a:pPr>
            <a:r>
              <a:rPr lang="en-US" sz="1051" dirty="0">
                <a:solidFill>
                  <a:srgbClr val="2D3142"/>
                </a:solidFill>
                <a:latin typeface="Quattrocento Sans" pitchFamily="34" charset="0"/>
                <a:ea typeface="Quattrocento Sans" pitchFamily="34" charset="-122"/>
                <a:cs typeface="Quattrocento Sans" pitchFamily="34" charset="-120"/>
              </a:rPr>
              <a:t>pipe() is simple and convenient for quick scripts, but for production applications, pipeline() is recommended for better error handling and cleanup.</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28625" y="476250"/>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FFFFFF"/>
          </a:solidFill>
          <a:ln/>
        </p:spPr>
        <p:txBody>
          <a:bodyPr/>
          <a:lstStyle/>
          <a:p>
            <a:endParaRPr lang="en-US"/>
          </a:p>
        </p:txBody>
      </p:sp>
      <p:sp>
        <p:nvSpPr>
          <p:cNvPr id="4" name="Text 2"/>
          <p:cNvSpPr/>
          <p:nvPr/>
        </p:nvSpPr>
        <p:spPr>
          <a:xfrm>
            <a:off x="793750" y="317500"/>
            <a:ext cx="1270000"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Production-Ready</a:t>
            </a:r>
            <a:endParaRPr lang="en-US" sz="1600" dirty="0"/>
          </a:p>
        </p:txBody>
      </p:sp>
      <p:sp>
        <p:nvSpPr>
          <p:cNvPr id="5" name="Text 3"/>
          <p:cNvSpPr/>
          <p:nvPr/>
        </p:nvSpPr>
        <p:spPr>
          <a:xfrm>
            <a:off x="793750" y="476250"/>
            <a:ext cx="1357313"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pipeline()</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7" name="Shape 5"/>
          <p:cNvSpPr/>
          <p:nvPr/>
        </p:nvSpPr>
        <p:spPr>
          <a:xfrm>
            <a:off x="321469" y="1083469"/>
            <a:ext cx="5691188" cy="2301875"/>
          </a:xfrm>
          <a:custGeom>
            <a:avLst/>
            <a:gdLst/>
            <a:ahLst/>
            <a:cxnLst/>
            <a:rect l="l" t="t" r="r" b="b"/>
            <a:pathLst>
              <a:path w="5691188" h="2301875">
                <a:moveTo>
                  <a:pt x="95252" y="0"/>
                </a:moveTo>
                <a:lnTo>
                  <a:pt x="5595936" y="0"/>
                </a:lnTo>
                <a:cubicBezTo>
                  <a:pt x="5648542" y="0"/>
                  <a:pt x="5691188" y="42646"/>
                  <a:pt x="5691188" y="95252"/>
                </a:cubicBezTo>
                <a:lnTo>
                  <a:pt x="5691188" y="2206623"/>
                </a:lnTo>
                <a:cubicBezTo>
                  <a:pt x="5691188" y="2259229"/>
                  <a:pt x="5648542" y="2301875"/>
                  <a:pt x="5595936" y="2301875"/>
                </a:cubicBezTo>
                <a:lnTo>
                  <a:pt x="95252" y="2301875"/>
                </a:lnTo>
                <a:cubicBezTo>
                  <a:pt x="42646" y="2301875"/>
                  <a:pt x="0" y="2259229"/>
                  <a:pt x="0" y="2206623"/>
                </a:cubicBezTo>
                <a:lnTo>
                  <a:pt x="0" y="95252"/>
                </a:lnTo>
                <a:cubicBezTo>
                  <a:pt x="0" y="42681"/>
                  <a:pt x="42681" y="0"/>
                  <a:pt x="95252" y="0"/>
                </a:cubicBezTo>
                <a:close/>
              </a:path>
            </a:pathLst>
          </a:custGeom>
          <a:solidFill>
            <a:srgbClr val="EAE7D6"/>
          </a:solidFill>
          <a:ln/>
        </p:spPr>
        <p:txBody>
          <a:bodyPr/>
          <a:lstStyle/>
          <a:p>
            <a:endParaRPr lang="en-US"/>
          </a:p>
        </p:txBody>
      </p:sp>
      <p:sp>
        <p:nvSpPr>
          <p:cNvPr id="8" name="Shape 6"/>
          <p:cNvSpPr/>
          <p:nvPr/>
        </p:nvSpPr>
        <p:spPr>
          <a:xfrm>
            <a:off x="508000" y="1277938"/>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8D99AE"/>
          </a:solidFill>
          <a:ln/>
        </p:spPr>
        <p:txBody>
          <a:bodyPr/>
          <a:lstStyle/>
          <a:p>
            <a:endParaRPr lang="en-US"/>
          </a:p>
        </p:txBody>
      </p:sp>
      <p:sp>
        <p:nvSpPr>
          <p:cNvPr id="9" name="Text 7"/>
          <p:cNvSpPr/>
          <p:nvPr/>
        </p:nvSpPr>
        <p:spPr>
          <a:xfrm>
            <a:off x="817563" y="1246188"/>
            <a:ext cx="1627188"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What is pipeline()?</a:t>
            </a:r>
            <a:endParaRPr lang="en-US" sz="1600" dirty="0"/>
          </a:p>
        </p:txBody>
      </p:sp>
      <p:sp>
        <p:nvSpPr>
          <p:cNvPr id="10" name="Text 8"/>
          <p:cNvSpPr/>
          <p:nvPr/>
        </p:nvSpPr>
        <p:spPr>
          <a:xfrm>
            <a:off x="484187" y="1627188"/>
            <a:ext cx="5429250" cy="420688"/>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The </a:t>
            </a:r>
            <a:r>
              <a:rPr lang="en-US" sz="1000" b="1" dirty="0">
                <a:solidFill>
                  <a:srgbClr val="2D3142"/>
                </a:solidFill>
                <a:highlight>
                  <a:srgbClr val="E07A5F">
                    <a:alpha val="30000"/>
                  </a:srgbClr>
                </a:highlight>
                <a:latin typeface="MiSans" pitchFamily="34" charset="0"/>
                <a:ea typeface="MiSans" pitchFamily="34" charset="-122"/>
                <a:cs typeface="MiSans" pitchFamily="34" charset="-120"/>
              </a:rPr>
              <a:t>pipeline() </a:t>
            </a:r>
            <a:r>
              <a:rPr lang="en-US" sz="1000" dirty="0">
                <a:solidFill>
                  <a:srgbClr val="2D3142"/>
                </a:solidFill>
                <a:latin typeface="Quattrocento Sans" pitchFamily="34" charset="0"/>
                <a:ea typeface="Quattrocento Sans" pitchFamily="34" charset="-122"/>
                <a:cs typeface="Quattrocento Sans" pitchFamily="34" charset="-120"/>
              </a:rPr>
              <a:t>method is a </a:t>
            </a:r>
            <a:r>
              <a:rPr lang="en-US" sz="1000" b="1" dirty="0">
                <a:solidFill>
                  <a:srgbClr val="2D3142"/>
                </a:solidFill>
                <a:latin typeface="Quattrocento Sans" pitchFamily="34" charset="0"/>
                <a:ea typeface="Quattrocento Sans" pitchFamily="34" charset="-122"/>
                <a:cs typeface="Quattrocento Sans" pitchFamily="34" charset="-120"/>
              </a:rPr>
              <a:t>safer version</a:t>
            </a:r>
            <a:r>
              <a:rPr lang="en-US" sz="1000" dirty="0">
                <a:solidFill>
                  <a:srgbClr val="2D3142"/>
                </a:solidFill>
                <a:latin typeface="Quattrocento Sans" pitchFamily="34" charset="0"/>
                <a:ea typeface="Quattrocento Sans" pitchFamily="34" charset="-122"/>
                <a:cs typeface="Quattrocento Sans" pitchFamily="34" charset="-120"/>
              </a:rPr>
              <a:t> of pipe() that handles errors, cleanup, and proper stream destruction automatically.</a:t>
            </a:r>
            <a:endParaRPr lang="en-US" sz="1600" dirty="0"/>
          </a:p>
        </p:txBody>
      </p:sp>
      <p:sp>
        <p:nvSpPr>
          <p:cNvPr id="11" name="Shape 9"/>
          <p:cNvSpPr/>
          <p:nvPr/>
        </p:nvSpPr>
        <p:spPr>
          <a:xfrm>
            <a:off x="484187" y="2174875"/>
            <a:ext cx="5365750" cy="1047750"/>
          </a:xfrm>
          <a:custGeom>
            <a:avLst/>
            <a:gdLst/>
            <a:ahLst/>
            <a:cxnLst/>
            <a:rect l="l" t="t" r="r" b="b"/>
            <a:pathLst>
              <a:path w="5365750" h="1047750">
                <a:moveTo>
                  <a:pt x="63504" y="0"/>
                </a:moveTo>
                <a:lnTo>
                  <a:pt x="5302246" y="0"/>
                </a:lnTo>
                <a:cubicBezTo>
                  <a:pt x="5337318" y="0"/>
                  <a:pt x="5365750" y="28432"/>
                  <a:pt x="5365750" y="63504"/>
                </a:cubicBezTo>
                <a:lnTo>
                  <a:pt x="5365750" y="984246"/>
                </a:lnTo>
                <a:cubicBezTo>
                  <a:pt x="5365750" y="1019318"/>
                  <a:pt x="5337318" y="1047750"/>
                  <a:pt x="5302246" y="1047750"/>
                </a:cubicBezTo>
                <a:lnTo>
                  <a:pt x="63504" y="1047750"/>
                </a:lnTo>
                <a:cubicBezTo>
                  <a:pt x="28432" y="1047750"/>
                  <a:pt x="0" y="1019318"/>
                  <a:pt x="0" y="984246"/>
                </a:cubicBezTo>
                <a:lnTo>
                  <a:pt x="0" y="63504"/>
                </a:lnTo>
                <a:cubicBezTo>
                  <a:pt x="0" y="28432"/>
                  <a:pt x="28432" y="0"/>
                  <a:pt x="63504" y="0"/>
                </a:cubicBezTo>
                <a:close/>
              </a:path>
            </a:pathLst>
          </a:custGeom>
          <a:solidFill>
            <a:srgbClr val="EAE7D6"/>
          </a:solidFill>
          <a:ln/>
        </p:spPr>
        <p:txBody>
          <a:bodyPr/>
          <a:lstStyle/>
          <a:p>
            <a:endParaRPr lang="en-US"/>
          </a:p>
        </p:txBody>
      </p:sp>
      <p:sp>
        <p:nvSpPr>
          <p:cNvPr id="12" name="Text 10"/>
          <p:cNvSpPr/>
          <p:nvPr/>
        </p:nvSpPr>
        <p:spPr>
          <a:xfrm>
            <a:off x="611188" y="2301875"/>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Module</a:t>
            </a:r>
            <a:endParaRPr lang="en-US" sz="1600" dirty="0"/>
          </a:p>
        </p:txBody>
      </p:sp>
      <p:sp>
        <p:nvSpPr>
          <p:cNvPr id="13" name="Shape 11"/>
          <p:cNvSpPr/>
          <p:nvPr/>
        </p:nvSpPr>
        <p:spPr>
          <a:xfrm>
            <a:off x="611188" y="2524125"/>
            <a:ext cx="5111750" cy="571500"/>
          </a:xfrm>
          <a:custGeom>
            <a:avLst/>
            <a:gdLst/>
            <a:ahLst/>
            <a:cxnLst/>
            <a:rect l="l" t="t" r="r" b="b"/>
            <a:pathLst>
              <a:path w="5111750" h="571500">
                <a:moveTo>
                  <a:pt x="31753" y="0"/>
                </a:moveTo>
                <a:lnTo>
                  <a:pt x="5079997" y="0"/>
                </a:lnTo>
                <a:cubicBezTo>
                  <a:pt x="5097534" y="0"/>
                  <a:pt x="5111750" y="14216"/>
                  <a:pt x="5111750" y="31753"/>
                </a:cubicBezTo>
                <a:lnTo>
                  <a:pt x="5111750" y="539747"/>
                </a:lnTo>
                <a:cubicBezTo>
                  <a:pt x="5111750" y="557284"/>
                  <a:pt x="5097534" y="571500"/>
                  <a:pt x="5079997" y="571500"/>
                </a:cubicBezTo>
                <a:lnTo>
                  <a:pt x="31753" y="571500"/>
                </a:lnTo>
                <a:cubicBezTo>
                  <a:pt x="14216" y="571500"/>
                  <a:pt x="0" y="557284"/>
                  <a:pt x="0" y="539747"/>
                </a:cubicBezTo>
                <a:lnTo>
                  <a:pt x="0" y="31753"/>
                </a:lnTo>
                <a:cubicBezTo>
                  <a:pt x="0" y="14228"/>
                  <a:pt x="14228" y="0"/>
                  <a:pt x="31753" y="0"/>
                </a:cubicBezTo>
                <a:close/>
              </a:path>
            </a:pathLst>
          </a:custGeom>
          <a:solidFill>
            <a:srgbClr val="EAE7D6"/>
          </a:solidFill>
          <a:ln/>
        </p:spPr>
        <p:txBody>
          <a:bodyPr/>
          <a:lstStyle/>
          <a:p>
            <a:endParaRPr lang="en-US"/>
          </a:p>
        </p:txBody>
      </p:sp>
      <p:sp>
        <p:nvSpPr>
          <p:cNvPr id="14" name="Text 12"/>
          <p:cNvSpPr/>
          <p:nvPr/>
        </p:nvSpPr>
        <p:spPr>
          <a:xfrm>
            <a:off x="706438" y="2619375"/>
            <a:ext cx="4984750" cy="190500"/>
          </a:xfrm>
          <a:prstGeom prst="rect">
            <a:avLst/>
          </a:prstGeom>
          <a:noFill/>
          <a:ln/>
        </p:spPr>
        <p:txBody>
          <a:bodyPr wrap="square" lIns="0" tIns="0" rIns="0" bIns="0" rtlCol="0" anchor="ctr"/>
          <a:lstStyle/>
          <a:p>
            <a:pPr>
              <a:lnSpc>
                <a:spcPct val="130000"/>
              </a:lnSpc>
            </a:pPr>
            <a:r>
              <a:rPr lang="en-US" sz="1000" dirty="0">
                <a:solidFill>
                  <a:srgbClr val="E07A5F"/>
                </a:solidFill>
                <a:latin typeface="MiSans" pitchFamily="34" charset="0"/>
                <a:ea typeface="MiSans" pitchFamily="34" charset="-122"/>
                <a:cs typeface="MiSans" pitchFamily="34" charset="-120"/>
              </a:rPr>
              <a:t>const { pipeline } = require('stream');</a:t>
            </a:r>
            <a:endParaRPr lang="en-US" sz="1600" dirty="0"/>
          </a:p>
        </p:txBody>
      </p:sp>
      <p:sp>
        <p:nvSpPr>
          <p:cNvPr id="15" name="Text 13"/>
          <p:cNvSpPr/>
          <p:nvPr/>
        </p:nvSpPr>
        <p:spPr>
          <a:xfrm>
            <a:off x="706438" y="2809875"/>
            <a:ext cx="4984750" cy="190500"/>
          </a:xfrm>
          <a:prstGeom prst="rect">
            <a:avLst/>
          </a:prstGeom>
          <a:noFill/>
          <a:ln/>
        </p:spPr>
        <p:txBody>
          <a:bodyPr wrap="square" lIns="0" tIns="0" rIns="0" bIns="0" rtlCol="0" anchor="ctr"/>
          <a:lstStyle/>
          <a:p>
            <a:pPr>
              <a:lnSpc>
                <a:spcPct val="130000"/>
              </a:lnSpc>
            </a:pPr>
            <a:r>
              <a:rPr lang="en-US" sz="1000" dirty="0">
                <a:solidFill>
                  <a:srgbClr val="E07A5F"/>
                </a:solidFill>
                <a:latin typeface="MiSans" pitchFamily="34" charset="0"/>
                <a:ea typeface="MiSans" pitchFamily="34" charset="-122"/>
                <a:cs typeface="MiSans" pitchFamily="34" charset="-120"/>
              </a:rPr>
              <a:t>const pipeline = require('stream').promises.pipeline;</a:t>
            </a:r>
            <a:endParaRPr lang="en-US" sz="1600" dirty="0"/>
          </a:p>
        </p:txBody>
      </p:sp>
      <p:sp>
        <p:nvSpPr>
          <p:cNvPr id="16" name="Shape 14"/>
          <p:cNvSpPr/>
          <p:nvPr/>
        </p:nvSpPr>
        <p:spPr>
          <a:xfrm>
            <a:off x="321469" y="3520281"/>
            <a:ext cx="5691188" cy="3524250"/>
          </a:xfrm>
          <a:custGeom>
            <a:avLst/>
            <a:gdLst/>
            <a:ahLst/>
            <a:cxnLst/>
            <a:rect l="l" t="t" r="r" b="b"/>
            <a:pathLst>
              <a:path w="5691188" h="3524250">
                <a:moveTo>
                  <a:pt x="95260" y="0"/>
                </a:moveTo>
                <a:lnTo>
                  <a:pt x="5595927" y="0"/>
                </a:lnTo>
                <a:cubicBezTo>
                  <a:pt x="5648538" y="0"/>
                  <a:pt x="5691188" y="42650"/>
                  <a:pt x="5691188" y="95260"/>
                </a:cubicBezTo>
                <a:lnTo>
                  <a:pt x="5691188" y="3428990"/>
                </a:lnTo>
                <a:cubicBezTo>
                  <a:pt x="5691188" y="3481600"/>
                  <a:pt x="5648538" y="3524250"/>
                  <a:pt x="5595927" y="3524250"/>
                </a:cubicBezTo>
                <a:lnTo>
                  <a:pt x="95260" y="3524250"/>
                </a:lnTo>
                <a:cubicBezTo>
                  <a:pt x="42650" y="3524250"/>
                  <a:pt x="0" y="3481600"/>
                  <a:pt x="0" y="3428990"/>
                </a:cubicBezTo>
                <a:lnTo>
                  <a:pt x="0" y="95260"/>
                </a:lnTo>
                <a:cubicBezTo>
                  <a:pt x="0" y="42650"/>
                  <a:pt x="42650" y="0"/>
                  <a:pt x="95260" y="0"/>
                </a:cubicBezTo>
                <a:close/>
              </a:path>
            </a:pathLst>
          </a:custGeom>
          <a:solidFill>
            <a:srgbClr val="EAE7D6"/>
          </a:solidFill>
          <a:ln/>
        </p:spPr>
        <p:txBody>
          <a:bodyPr/>
          <a:lstStyle/>
          <a:p>
            <a:endParaRPr lang="en-US"/>
          </a:p>
        </p:txBody>
      </p:sp>
      <p:sp>
        <p:nvSpPr>
          <p:cNvPr id="17" name="Shape 15"/>
          <p:cNvSpPr/>
          <p:nvPr/>
        </p:nvSpPr>
        <p:spPr>
          <a:xfrm>
            <a:off x="531813" y="3714750"/>
            <a:ext cx="142875" cy="190500"/>
          </a:xfrm>
          <a:custGeom>
            <a:avLst/>
            <a:gdLst/>
            <a:ahLst/>
            <a:cxnLst/>
            <a:rect l="l" t="t" r="r" b="b"/>
            <a:pathLst>
              <a:path w="142875" h="190500">
                <a:moveTo>
                  <a:pt x="92980" y="24854"/>
                </a:moveTo>
                <a:cubicBezTo>
                  <a:pt x="96850" y="19534"/>
                  <a:pt x="95659" y="12092"/>
                  <a:pt x="90339" y="8223"/>
                </a:cubicBezTo>
                <a:cubicBezTo>
                  <a:pt x="85018" y="4353"/>
                  <a:pt x="77577" y="5544"/>
                  <a:pt x="73707" y="10864"/>
                </a:cubicBezTo>
                <a:lnTo>
                  <a:pt x="34268" y="65075"/>
                </a:lnTo>
                <a:lnTo>
                  <a:pt x="20315" y="51122"/>
                </a:lnTo>
                <a:cubicBezTo>
                  <a:pt x="15664" y="46472"/>
                  <a:pt x="8111" y="46472"/>
                  <a:pt x="3460" y="51122"/>
                </a:cubicBezTo>
                <a:cubicBezTo>
                  <a:pt x="-1191" y="55773"/>
                  <a:pt x="-1191" y="63326"/>
                  <a:pt x="3460" y="67977"/>
                </a:cubicBezTo>
                <a:lnTo>
                  <a:pt x="27273" y="91790"/>
                </a:lnTo>
                <a:cubicBezTo>
                  <a:pt x="29728" y="94245"/>
                  <a:pt x="33151" y="95510"/>
                  <a:pt x="36612" y="95250"/>
                </a:cubicBezTo>
                <a:cubicBezTo>
                  <a:pt x="40072" y="94990"/>
                  <a:pt x="43272" y="93204"/>
                  <a:pt x="45318" y="90376"/>
                </a:cubicBezTo>
                <a:lnTo>
                  <a:pt x="92943" y="24892"/>
                </a:lnTo>
                <a:close/>
                <a:moveTo>
                  <a:pt x="140605" y="75456"/>
                </a:moveTo>
                <a:cubicBezTo>
                  <a:pt x="144475" y="70135"/>
                  <a:pt x="143284" y="62694"/>
                  <a:pt x="137964" y="58824"/>
                </a:cubicBezTo>
                <a:cubicBezTo>
                  <a:pt x="132643" y="54955"/>
                  <a:pt x="125202" y="56145"/>
                  <a:pt x="121332" y="61466"/>
                </a:cubicBezTo>
                <a:lnTo>
                  <a:pt x="58080" y="148419"/>
                </a:lnTo>
                <a:lnTo>
                  <a:pt x="32221" y="122560"/>
                </a:lnTo>
                <a:cubicBezTo>
                  <a:pt x="27570" y="117909"/>
                  <a:pt x="20017" y="117909"/>
                  <a:pt x="15367" y="122560"/>
                </a:cubicBezTo>
                <a:cubicBezTo>
                  <a:pt x="10716" y="127211"/>
                  <a:pt x="10716" y="134764"/>
                  <a:pt x="15367" y="139415"/>
                </a:cubicBezTo>
                <a:lnTo>
                  <a:pt x="51085" y="175133"/>
                </a:lnTo>
                <a:cubicBezTo>
                  <a:pt x="53541" y="177589"/>
                  <a:pt x="56964" y="178854"/>
                  <a:pt x="60424" y="178594"/>
                </a:cubicBezTo>
                <a:cubicBezTo>
                  <a:pt x="63884" y="178333"/>
                  <a:pt x="67084" y="176547"/>
                  <a:pt x="69131" y="173720"/>
                </a:cubicBezTo>
                <a:lnTo>
                  <a:pt x="140568" y="75493"/>
                </a:lnTo>
                <a:close/>
              </a:path>
            </a:pathLst>
          </a:custGeom>
          <a:solidFill>
            <a:srgbClr val="E07A5F"/>
          </a:solidFill>
          <a:ln/>
        </p:spPr>
        <p:txBody>
          <a:bodyPr/>
          <a:lstStyle/>
          <a:p>
            <a:endParaRPr lang="en-US"/>
          </a:p>
        </p:txBody>
      </p:sp>
      <p:sp>
        <p:nvSpPr>
          <p:cNvPr id="18" name="Text 16"/>
          <p:cNvSpPr/>
          <p:nvPr/>
        </p:nvSpPr>
        <p:spPr>
          <a:xfrm>
            <a:off x="817563" y="3683000"/>
            <a:ext cx="74612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Benefits</a:t>
            </a:r>
            <a:endParaRPr lang="en-US" sz="1600" dirty="0"/>
          </a:p>
        </p:txBody>
      </p:sp>
      <p:sp>
        <p:nvSpPr>
          <p:cNvPr id="19" name="Shape 17"/>
          <p:cNvSpPr/>
          <p:nvPr/>
        </p:nvSpPr>
        <p:spPr>
          <a:xfrm>
            <a:off x="500063" y="4064000"/>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0" name="Shape 18"/>
          <p:cNvSpPr/>
          <p:nvPr/>
        </p:nvSpPr>
        <p:spPr>
          <a:xfrm>
            <a:off x="500063" y="4064000"/>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E07A5F"/>
          </a:solidFill>
          <a:ln/>
        </p:spPr>
        <p:txBody>
          <a:bodyPr/>
          <a:lstStyle/>
          <a:p>
            <a:endParaRPr lang="en-US"/>
          </a:p>
        </p:txBody>
      </p:sp>
      <p:sp>
        <p:nvSpPr>
          <p:cNvPr id="21" name="Shape 19"/>
          <p:cNvSpPr/>
          <p:nvPr/>
        </p:nvSpPr>
        <p:spPr>
          <a:xfrm>
            <a:off x="650875" y="4238625"/>
            <a:ext cx="142875" cy="127000"/>
          </a:xfrm>
          <a:custGeom>
            <a:avLst/>
            <a:gdLst/>
            <a:ahLst/>
            <a:cxnLst/>
            <a:rect l="l" t="t" r="r" b="b"/>
            <a:pathLst>
              <a:path w="142875" h="127000">
                <a:moveTo>
                  <a:pt x="47625" y="23812"/>
                </a:moveTo>
                <a:cubicBezTo>
                  <a:pt x="47625" y="10666"/>
                  <a:pt x="58291" y="0"/>
                  <a:pt x="71438" y="0"/>
                </a:cubicBezTo>
                <a:cubicBezTo>
                  <a:pt x="84584" y="0"/>
                  <a:pt x="95250" y="10666"/>
                  <a:pt x="95250" y="23812"/>
                </a:cubicBezTo>
                <a:lnTo>
                  <a:pt x="95250" y="24705"/>
                </a:lnTo>
                <a:cubicBezTo>
                  <a:pt x="95250" y="28600"/>
                  <a:pt x="92100" y="31750"/>
                  <a:pt x="88205" y="31750"/>
                </a:cubicBezTo>
                <a:lnTo>
                  <a:pt x="54694" y="31750"/>
                </a:lnTo>
                <a:cubicBezTo>
                  <a:pt x="50800" y="31750"/>
                  <a:pt x="47650" y="28600"/>
                  <a:pt x="47650" y="24705"/>
                </a:cubicBezTo>
                <a:lnTo>
                  <a:pt x="47650" y="23812"/>
                </a:lnTo>
                <a:close/>
                <a:moveTo>
                  <a:pt x="133350" y="26988"/>
                </a:moveTo>
                <a:cubicBezTo>
                  <a:pt x="135979" y="30485"/>
                  <a:pt x="135260" y="35471"/>
                  <a:pt x="131763" y="38100"/>
                </a:cubicBezTo>
                <a:lnTo>
                  <a:pt x="107504" y="56282"/>
                </a:lnTo>
                <a:cubicBezTo>
                  <a:pt x="108818" y="58489"/>
                  <a:pt x="109810" y="60920"/>
                  <a:pt x="110430" y="63500"/>
                </a:cubicBezTo>
                <a:lnTo>
                  <a:pt x="134938" y="63500"/>
                </a:lnTo>
                <a:cubicBezTo>
                  <a:pt x="139328" y="63500"/>
                  <a:pt x="142875" y="67047"/>
                  <a:pt x="142875" y="71438"/>
                </a:cubicBezTo>
                <a:cubicBezTo>
                  <a:pt x="142875" y="75828"/>
                  <a:pt x="139328" y="79375"/>
                  <a:pt x="134938" y="79375"/>
                </a:cubicBezTo>
                <a:lnTo>
                  <a:pt x="111125" y="79375"/>
                </a:lnTo>
                <a:lnTo>
                  <a:pt x="111125" y="87313"/>
                </a:lnTo>
                <a:cubicBezTo>
                  <a:pt x="111125" y="87957"/>
                  <a:pt x="111100" y="88627"/>
                  <a:pt x="111075" y="89272"/>
                </a:cubicBezTo>
                <a:lnTo>
                  <a:pt x="131763" y="104775"/>
                </a:lnTo>
                <a:cubicBezTo>
                  <a:pt x="135260" y="107404"/>
                  <a:pt x="135979" y="112390"/>
                  <a:pt x="133350" y="115888"/>
                </a:cubicBezTo>
                <a:cubicBezTo>
                  <a:pt x="130721" y="119385"/>
                  <a:pt x="125735" y="120104"/>
                  <a:pt x="122238" y="117475"/>
                </a:cubicBezTo>
                <a:lnTo>
                  <a:pt x="106586" y="105742"/>
                </a:lnTo>
                <a:cubicBezTo>
                  <a:pt x="100831" y="116706"/>
                  <a:pt x="90091" y="124644"/>
                  <a:pt x="77391" y="126554"/>
                </a:cubicBezTo>
                <a:lnTo>
                  <a:pt x="77391" y="69453"/>
                </a:lnTo>
                <a:cubicBezTo>
                  <a:pt x="77391" y="66154"/>
                  <a:pt x="74737" y="63500"/>
                  <a:pt x="71438" y="63500"/>
                </a:cubicBezTo>
                <a:cubicBezTo>
                  <a:pt x="68138" y="63500"/>
                  <a:pt x="65484" y="66154"/>
                  <a:pt x="65484" y="69453"/>
                </a:cubicBezTo>
                <a:lnTo>
                  <a:pt x="65484" y="126554"/>
                </a:lnTo>
                <a:cubicBezTo>
                  <a:pt x="52784" y="124644"/>
                  <a:pt x="42044" y="116706"/>
                  <a:pt x="36289" y="105742"/>
                </a:cubicBezTo>
                <a:lnTo>
                  <a:pt x="20638" y="117475"/>
                </a:lnTo>
                <a:cubicBezTo>
                  <a:pt x="17140" y="120104"/>
                  <a:pt x="12154" y="119385"/>
                  <a:pt x="9525" y="115888"/>
                </a:cubicBezTo>
                <a:cubicBezTo>
                  <a:pt x="6896" y="112390"/>
                  <a:pt x="7615" y="107404"/>
                  <a:pt x="11113" y="104775"/>
                </a:cubicBezTo>
                <a:lnTo>
                  <a:pt x="31800" y="89272"/>
                </a:lnTo>
                <a:cubicBezTo>
                  <a:pt x="31775" y="88627"/>
                  <a:pt x="31750" y="87982"/>
                  <a:pt x="31750" y="87313"/>
                </a:cubicBezTo>
                <a:lnTo>
                  <a:pt x="31750" y="79375"/>
                </a:lnTo>
                <a:lnTo>
                  <a:pt x="7938" y="79375"/>
                </a:lnTo>
                <a:cubicBezTo>
                  <a:pt x="3547" y="79375"/>
                  <a:pt x="0" y="75828"/>
                  <a:pt x="0" y="71438"/>
                </a:cubicBezTo>
                <a:cubicBezTo>
                  <a:pt x="0" y="67047"/>
                  <a:pt x="3547" y="63500"/>
                  <a:pt x="7938" y="63500"/>
                </a:cubicBezTo>
                <a:lnTo>
                  <a:pt x="32445" y="63500"/>
                </a:lnTo>
                <a:cubicBezTo>
                  <a:pt x="33065" y="60920"/>
                  <a:pt x="34057" y="58489"/>
                  <a:pt x="35371" y="56282"/>
                </a:cubicBezTo>
                <a:lnTo>
                  <a:pt x="11113" y="38100"/>
                </a:lnTo>
                <a:cubicBezTo>
                  <a:pt x="7615" y="35471"/>
                  <a:pt x="6896" y="30485"/>
                  <a:pt x="9525" y="26988"/>
                </a:cubicBezTo>
                <a:cubicBezTo>
                  <a:pt x="12154" y="23490"/>
                  <a:pt x="17140" y="22771"/>
                  <a:pt x="20637" y="25400"/>
                </a:cubicBezTo>
                <a:lnTo>
                  <a:pt x="47625" y="45641"/>
                </a:lnTo>
                <a:cubicBezTo>
                  <a:pt x="50676" y="44376"/>
                  <a:pt x="54025" y="43656"/>
                  <a:pt x="57547" y="43656"/>
                </a:cubicBezTo>
                <a:lnTo>
                  <a:pt x="85328" y="43656"/>
                </a:lnTo>
                <a:cubicBezTo>
                  <a:pt x="88850" y="43656"/>
                  <a:pt x="92199" y="44351"/>
                  <a:pt x="95250" y="45641"/>
                </a:cubicBezTo>
                <a:lnTo>
                  <a:pt x="122238" y="25400"/>
                </a:lnTo>
                <a:cubicBezTo>
                  <a:pt x="125735" y="22771"/>
                  <a:pt x="130721" y="23490"/>
                  <a:pt x="133350" y="26988"/>
                </a:cubicBezTo>
                <a:close/>
              </a:path>
            </a:pathLst>
          </a:custGeom>
          <a:solidFill>
            <a:srgbClr val="E07A5F"/>
          </a:solidFill>
          <a:ln/>
        </p:spPr>
        <p:txBody>
          <a:bodyPr/>
          <a:lstStyle/>
          <a:p>
            <a:endParaRPr lang="en-US"/>
          </a:p>
        </p:txBody>
      </p:sp>
      <p:sp>
        <p:nvSpPr>
          <p:cNvPr id="22" name="Text 20"/>
          <p:cNvSpPr/>
          <p:nvPr/>
        </p:nvSpPr>
        <p:spPr>
          <a:xfrm>
            <a:off x="865188" y="4191000"/>
            <a:ext cx="1293813"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Auto Error Handling</a:t>
            </a:r>
            <a:endParaRPr lang="en-US" sz="1600" dirty="0"/>
          </a:p>
        </p:txBody>
      </p:sp>
      <p:sp>
        <p:nvSpPr>
          <p:cNvPr id="23" name="Text 21"/>
          <p:cNvSpPr/>
          <p:nvPr/>
        </p:nvSpPr>
        <p:spPr>
          <a:xfrm>
            <a:off x="642938" y="4476750"/>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Errors from any stream in the chain are caught and passed to callback</a:t>
            </a:r>
            <a:endParaRPr lang="en-US" sz="1600" dirty="0"/>
          </a:p>
        </p:txBody>
      </p:sp>
      <p:sp>
        <p:nvSpPr>
          <p:cNvPr id="24" name="Shape 22"/>
          <p:cNvSpPr/>
          <p:nvPr/>
        </p:nvSpPr>
        <p:spPr>
          <a:xfrm>
            <a:off x="500063" y="4889500"/>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5" name="Shape 23"/>
          <p:cNvSpPr/>
          <p:nvPr/>
        </p:nvSpPr>
        <p:spPr>
          <a:xfrm>
            <a:off x="500063" y="4889500"/>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6" name="Shape 24"/>
          <p:cNvSpPr/>
          <p:nvPr/>
        </p:nvSpPr>
        <p:spPr>
          <a:xfrm>
            <a:off x="650875" y="5064125"/>
            <a:ext cx="142875" cy="127000"/>
          </a:xfrm>
          <a:custGeom>
            <a:avLst/>
            <a:gdLst/>
            <a:ahLst/>
            <a:cxnLst/>
            <a:rect l="l" t="t" r="r" b="b"/>
            <a:pathLst>
              <a:path w="142875" h="127000">
                <a:moveTo>
                  <a:pt x="140543" y="13543"/>
                </a:moveTo>
                <a:cubicBezTo>
                  <a:pt x="143644" y="10443"/>
                  <a:pt x="143644" y="5407"/>
                  <a:pt x="140543" y="2307"/>
                </a:cubicBezTo>
                <a:cubicBezTo>
                  <a:pt x="137443" y="-794"/>
                  <a:pt x="132407" y="-794"/>
                  <a:pt x="129307" y="2307"/>
                </a:cubicBezTo>
                <a:lnTo>
                  <a:pt x="81682" y="49932"/>
                </a:lnTo>
                <a:lnTo>
                  <a:pt x="73075" y="41325"/>
                </a:lnTo>
                <a:cubicBezTo>
                  <a:pt x="72033" y="40283"/>
                  <a:pt x="70594" y="39688"/>
                  <a:pt x="69106" y="39688"/>
                </a:cubicBezTo>
                <a:cubicBezTo>
                  <a:pt x="66005" y="39688"/>
                  <a:pt x="63500" y="42193"/>
                  <a:pt x="63500" y="45293"/>
                </a:cubicBezTo>
                <a:lnTo>
                  <a:pt x="63500" y="52512"/>
                </a:lnTo>
                <a:lnTo>
                  <a:pt x="90363" y="79375"/>
                </a:lnTo>
                <a:lnTo>
                  <a:pt x="97582" y="79375"/>
                </a:lnTo>
                <a:cubicBezTo>
                  <a:pt x="100682" y="79375"/>
                  <a:pt x="103188" y="76870"/>
                  <a:pt x="103188" y="73769"/>
                </a:cubicBezTo>
                <a:cubicBezTo>
                  <a:pt x="103188" y="72281"/>
                  <a:pt x="102592" y="70842"/>
                  <a:pt x="101550" y="69800"/>
                </a:cubicBezTo>
                <a:lnTo>
                  <a:pt x="92943" y="61193"/>
                </a:lnTo>
                <a:lnTo>
                  <a:pt x="140568" y="13568"/>
                </a:lnTo>
                <a:close/>
                <a:moveTo>
                  <a:pt x="84609" y="87660"/>
                </a:moveTo>
                <a:lnTo>
                  <a:pt x="55215" y="58266"/>
                </a:lnTo>
                <a:cubicBezTo>
                  <a:pt x="44624" y="57348"/>
                  <a:pt x="34082" y="61168"/>
                  <a:pt x="26491" y="68759"/>
                </a:cubicBezTo>
                <a:lnTo>
                  <a:pt x="24507" y="70743"/>
                </a:lnTo>
                <a:cubicBezTo>
                  <a:pt x="18976" y="76274"/>
                  <a:pt x="15875" y="83765"/>
                  <a:pt x="15875" y="91579"/>
                </a:cubicBezTo>
                <a:cubicBezTo>
                  <a:pt x="15875" y="93266"/>
                  <a:pt x="17636" y="94357"/>
                  <a:pt x="19149" y="93613"/>
                </a:cubicBezTo>
                <a:lnTo>
                  <a:pt x="31824" y="87288"/>
                </a:lnTo>
                <a:cubicBezTo>
                  <a:pt x="33065" y="86668"/>
                  <a:pt x="34181" y="88305"/>
                  <a:pt x="33164" y="89247"/>
                </a:cubicBezTo>
                <a:lnTo>
                  <a:pt x="1811" y="117425"/>
                </a:lnTo>
                <a:cubicBezTo>
                  <a:pt x="670" y="118467"/>
                  <a:pt x="0" y="119955"/>
                  <a:pt x="0" y="121518"/>
                </a:cubicBezTo>
                <a:cubicBezTo>
                  <a:pt x="0" y="124544"/>
                  <a:pt x="2456" y="127000"/>
                  <a:pt x="5482" y="127000"/>
                </a:cubicBezTo>
                <a:lnTo>
                  <a:pt x="48468" y="127000"/>
                </a:lnTo>
                <a:cubicBezTo>
                  <a:pt x="58093" y="127000"/>
                  <a:pt x="67295" y="123180"/>
                  <a:pt x="74116" y="116384"/>
                </a:cubicBezTo>
                <a:cubicBezTo>
                  <a:pt x="81707" y="108793"/>
                  <a:pt x="85502" y="98251"/>
                  <a:pt x="84609" y="87660"/>
                </a:cubicBezTo>
                <a:close/>
              </a:path>
            </a:pathLst>
          </a:custGeom>
          <a:solidFill>
            <a:srgbClr val="8D99AE"/>
          </a:solidFill>
          <a:ln/>
        </p:spPr>
        <p:txBody>
          <a:bodyPr/>
          <a:lstStyle/>
          <a:p>
            <a:endParaRPr lang="en-US"/>
          </a:p>
        </p:txBody>
      </p:sp>
      <p:sp>
        <p:nvSpPr>
          <p:cNvPr id="27" name="Text 25"/>
          <p:cNvSpPr/>
          <p:nvPr/>
        </p:nvSpPr>
        <p:spPr>
          <a:xfrm>
            <a:off x="865188" y="5016500"/>
            <a:ext cx="912813"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Auto Cleanup</a:t>
            </a:r>
            <a:endParaRPr lang="en-US" sz="1600" dirty="0"/>
          </a:p>
        </p:txBody>
      </p:sp>
      <p:sp>
        <p:nvSpPr>
          <p:cNvPr id="28" name="Text 26"/>
          <p:cNvSpPr/>
          <p:nvPr/>
        </p:nvSpPr>
        <p:spPr>
          <a:xfrm>
            <a:off x="642938" y="5302250"/>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Properly destroys all streams on error, preventing memory leaks</a:t>
            </a:r>
            <a:endParaRPr lang="en-US" sz="1600" dirty="0"/>
          </a:p>
        </p:txBody>
      </p:sp>
      <p:sp>
        <p:nvSpPr>
          <p:cNvPr id="29" name="Shape 27"/>
          <p:cNvSpPr/>
          <p:nvPr/>
        </p:nvSpPr>
        <p:spPr>
          <a:xfrm>
            <a:off x="500063" y="5715000"/>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30" name="Shape 28"/>
          <p:cNvSpPr/>
          <p:nvPr/>
        </p:nvSpPr>
        <p:spPr>
          <a:xfrm>
            <a:off x="500063" y="5715000"/>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31" name="Shape 29"/>
          <p:cNvSpPr/>
          <p:nvPr/>
        </p:nvSpPr>
        <p:spPr>
          <a:xfrm>
            <a:off x="658813" y="5889625"/>
            <a:ext cx="127000" cy="127000"/>
          </a:xfrm>
          <a:custGeom>
            <a:avLst/>
            <a:gdLst/>
            <a:ahLst/>
            <a:cxnLst/>
            <a:rect l="l" t="t" r="r" b="b"/>
            <a:pathLst>
              <a:path w="127000" h="127000">
                <a:moveTo>
                  <a:pt x="7938" y="7938"/>
                </a:moveTo>
                <a:cubicBezTo>
                  <a:pt x="3547" y="7938"/>
                  <a:pt x="0" y="11485"/>
                  <a:pt x="0" y="15875"/>
                </a:cubicBezTo>
                <a:lnTo>
                  <a:pt x="0" y="107156"/>
                </a:lnTo>
                <a:cubicBezTo>
                  <a:pt x="0" y="113729"/>
                  <a:pt x="5333" y="119063"/>
                  <a:pt x="11906" y="119063"/>
                </a:cubicBezTo>
                <a:lnTo>
                  <a:pt x="115094" y="119063"/>
                </a:lnTo>
                <a:cubicBezTo>
                  <a:pt x="121667" y="119063"/>
                  <a:pt x="127000" y="113729"/>
                  <a:pt x="127000" y="107156"/>
                </a:cubicBezTo>
                <a:lnTo>
                  <a:pt x="127000" y="37753"/>
                </a:lnTo>
                <a:cubicBezTo>
                  <a:pt x="127000" y="33238"/>
                  <a:pt x="122188" y="30386"/>
                  <a:pt x="118219" y="32519"/>
                </a:cubicBezTo>
                <a:lnTo>
                  <a:pt x="79375" y="53429"/>
                </a:lnTo>
                <a:lnTo>
                  <a:pt x="79375" y="37753"/>
                </a:lnTo>
                <a:cubicBezTo>
                  <a:pt x="79375" y="33238"/>
                  <a:pt x="74563" y="30386"/>
                  <a:pt x="70594" y="32519"/>
                </a:cubicBezTo>
                <a:lnTo>
                  <a:pt x="31750" y="53429"/>
                </a:lnTo>
                <a:lnTo>
                  <a:pt x="31750" y="15875"/>
                </a:lnTo>
                <a:cubicBezTo>
                  <a:pt x="31750" y="11485"/>
                  <a:pt x="28203" y="7938"/>
                  <a:pt x="23812" y="7938"/>
                </a:cubicBezTo>
                <a:lnTo>
                  <a:pt x="7938" y="7938"/>
                </a:lnTo>
                <a:close/>
              </a:path>
            </a:pathLst>
          </a:custGeom>
          <a:solidFill>
            <a:srgbClr val="2D3142"/>
          </a:solidFill>
          <a:ln/>
        </p:spPr>
        <p:txBody>
          <a:bodyPr/>
          <a:lstStyle/>
          <a:p>
            <a:endParaRPr lang="en-US"/>
          </a:p>
        </p:txBody>
      </p:sp>
      <p:sp>
        <p:nvSpPr>
          <p:cNvPr id="32" name="Text 30"/>
          <p:cNvSpPr/>
          <p:nvPr/>
        </p:nvSpPr>
        <p:spPr>
          <a:xfrm>
            <a:off x="865188" y="5842000"/>
            <a:ext cx="1047750"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Production Safe</a:t>
            </a:r>
            <a:endParaRPr lang="en-US" sz="1600" dirty="0"/>
          </a:p>
        </p:txBody>
      </p:sp>
      <p:sp>
        <p:nvSpPr>
          <p:cNvPr id="33" name="Text 31"/>
          <p:cNvSpPr/>
          <p:nvPr/>
        </p:nvSpPr>
        <p:spPr>
          <a:xfrm>
            <a:off x="642938" y="6127750"/>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Recommended for all production applications</a:t>
            </a:r>
            <a:endParaRPr lang="en-US" sz="1600" dirty="0"/>
          </a:p>
        </p:txBody>
      </p:sp>
      <p:sp>
        <p:nvSpPr>
          <p:cNvPr id="34" name="Shape 32"/>
          <p:cNvSpPr/>
          <p:nvPr/>
        </p:nvSpPr>
        <p:spPr>
          <a:xfrm>
            <a:off x="6179344" y="1083469"/>
            <a:ext cx="5691188" cy="4516438"/>
          </a:xfrm>
          <a:custGeom>
            <a:avLst/>
            <a:gdLst/>
            <a:ahLst/>
            <a:cxnLst/>
            <a:rect l="l" t="t" r="r" b="b"/>
            <a:pathLst>
              <a:path w="5691188" h="4516438">
                <a:moveTo>
                  <a:pt x="95252" y="0"/>
                </a:moveTo>
                <a:lnTo>
                  <a:pt x="5595936" y="0"/>
                </a:lnTo>
                <a:cubicBezTo>
                  <a:pt x="5648542" y="0"/>
                  <a:pt x="5691188" y="42646"/>
                  <a:pt x="5691188" y="95252"/>
                </a:cubicBezTo>
                <a:lnTo>
                  <a:pt x="5691188" y="4421186"/>
                </a:lnTo>
                <a:cubicBezTo>
                  <a:pt x="5691188" y="4473792"/>
                  <a:pt x="5648542" y="4516438"/>
                  <a:pt x="5595936" y="4516438"/>
                </a:cubicBezTo>
                <a:lnTo>
                  <a:pt x="95252" y="4516438"/>
                </a:lnTo>
                <a:cubicBezTo>
                  <a:pt x="42646" y="4516438"/>
                  <a:pt x="0" y="4473792"/>
                  <a:pt x="0" y="4421186"/>
                </a:cubicBezTo>
                <a:lnTo>
                  <a:pt x="0" y="95252"/>
                </a:lnTo>
                <a:cubicBezTo>
                  <a:pt x="0" y="42681"/>
                  <a:pt x="42681" y="0"/>
                  <a:pt x="95252" y="0"/>
                </a:cubicBezTo>
                <a:close/>
              </a:path>
            </a:pathLst>
          </a:custGeom>
          <a:solidFill>
            <a:srgbClr val="EAE7D6"/>
          </a:solidFill>
          <a:ln/>
        </p:spPr>
        <p:txBody>
          <a:bodyPr/>
          <a:lstStyle/>
          <a:p>
            <a:endParaRPr lang="en-US"/>
          </a:p>
        </p:txBody>
      </p:sp>
      <p:sp>
        <p:nvSpPr>
          <p:cNvPr id="35" name="Shape 33"/>
          <p:cNvSpPr/>
          <p:nvPr/>
        </p:nvSpPr>
        <p:spPr>
          <a:xfrm>
            <a:off x="6353969" y="1277938"/>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E07A5F"/>
          </a:solidFill>
          <a:ln/>
        </p:spPr>
        <p:txBody>
          <a:bodyPr/>
          <a:lstStyle/>
          <a:p>
            <a:endParaRPr lang="en-US"/>
          </a:p>
        </p:txBody>
      </p:sp>
      <p:sp>
        <p:nvSpPr>
          <p:cNvPr id="36" name="Text 34"/>
          <p:cNvSpPr/>
          <p:nvPr/>
        </p:nvSpPr>
        <p:spPr>
          <a:xfrm>
            <a:off x="6675438" y="1246188"/>
            <a:ext cx="144462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Usage Examples</a:t>
            </a:r>
            <a:endParaRPr lang="en-US" sz="1600" dirty="0"/>
          </a:p>
        </p:txBody>
      </p:sp>
      <p:sp>
        <p:nvSpPr>
          <p:cNvPr id="37" name="Shape 35"/>
          <p:cNvSpPr/>
          <p:nvPr/>
        </p:nvSpPr>
        <p:spPr>
          <a:xfrm>
            <a:off x="6342063" y="1627188"/>
            <a:ext cx="5365750" cy="1936750"/>
          </a:xfrm>
          <a:custGeom>
            <a:avLst/>
            <a:gdLst/>
            <a:ahLst/>
            <a:cxnLst/>
            <a:rect l="l" t="t" r="r" b="b"/>
            <a:pathLst>
              <a:path w="5365750" h="1936750">
                <a:moveTo>
                  <a:pt x="63506" y="0"/>
                </a:moveTo>
                <a:lnTo>
                  <a:pt x="5302244" y="0"/>
                </a:lnTo>
                <a:cubicBezTo>
                  <a:pt x="5337317" y="0"/>
                  <a:pt x="5365750" y="28433"/>
                  <a:pt x="5365750" y="63506"/>
                </a:cubicBezTo>
                <a:lnTo>
                  <a:pt x="5365750" y="1873244"/>
                </a:lnTo>
                <a:cubicBezTo>
                  <a:pt x="5365750" y="1908317"/>
                  <a:pt x="5337317" y="1936750"/>
                  <a:pt x="5302244" y="1936750"/>
                </a:cubicBezTo>
                <a:lnTo>
                  <a:pt x="63506" y="1936750"/>
                </a:lnTo>
                <a:cubicBezTo>
                  <a:pt x="28433" y="1936750"/>
                  <a:pt x="0" y="1908317"/>
                  <a:pt x="0" y="1873244"/>
                </a:cubicBezTo>
                <a:lnTo>
                  <a:pt x="0" y="63506"/>
                </a:lnTo>
                <a:cubicBezTo>
                  <a:pt x="0" y="28456"/>
                  <a:pt x="28456" y="0"/>
                  <a:pt x="63506" y="0"/>
                </a:cubicBezTo>
                <a:close/>
              </a:path>
            </a:pathLst>
          </a:custGeom>
          <a:solidFill>
            <a:srgbClr val="EAE7D6"/>
          </a:solidFill>
          <a:ln/>
        </p:spPr>
        <p:txBody>
          <a:bodyPr/>
          <a:lstStyle/>
          <a:p>
            <a:endParaRPr lang="en-US"/>
          </a:p>
        </p:txBody>
      </p:sp>
      <p:sp>
        <p:nvSpPr>
          <p:cNvPr id="38" name="Text 36"/>
          <p:cNvSpPr/>
          <p:nvPr/>
        </p:nvSpPr>
        <p:spPr>
          <a:xfrm>
            <a:off x="6469063" y="17541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Callback Style</a:t>
            </a:r>
            <a:endParaRPr lang="en-US" sz="1600" dirty="0"/>
          </a:p>
        </p:txBody>
      </p:sp>
      <p:sp>
        <p:nvSpPr>
          <p:cNvPr id="39" name="Shape 37"/>
          <p:cNvSpPr/>
          <p:nvPr/>
        </p:nvSpPr>
        <p:spPr>
          <a:xfrm>
            <a:off x="6469063" y="1976438"/>
            <a:ext cx="5111750" cy="1460500"/>
          </a:xfrm>
          <a:custGeom>
            <a:avLst/>
            <a:gdLst/>
            <a:ahLst/>
            <a:cxnLst/>
            <a:rect l="l" t="t" r="r" b="b"/>
            <a:pathLst>
              <a:path w="5111750" h="1460500">
                <a:moveTo>
                  <a:pt x="31751" y="0"/>
                </a:moveTo>
                <a:lnTo>
                  <a:pt x="5079999" y="0"/>
                </a:lnTo>
                <a:cubicBezTo>
                  <a:pt x="5097534" y="0"/>
                  <a:pt x="5111750" y="14216"/>
                  <a:pt x="5111750" y="31751"/>
                </a:cubicBezTo>
                <a:lnTo>
                  <a:pt x="5111750" y="1428749"/>
                </a:lnTo>
                <a:cubicBezTo>
                  <a:pt x="5111750" y="1446284"/>
                  <a:pt x="5097534" y="1460500"/>
                  <a:pt x="5079999" y="1460500"/>
                </a:cubicBezTo>
                <a:lnTo>
                  <a:pt x="31751" y="1460500"/>
                </a:lnTo>
                <a:cubicBezTo>
                  <a:pt x="14216" y="1460500"/>
                  <a:pt x="0" y="1446284"/>
                  <a:pt x="0" y="1428749"/>
                </a:cubicBezTo>
                <a:lnTo>
                  <a:pt x="0" y="31751"/>
                </a:lnTo>
                <a:cubicBezTo>
                  <a:pt x="0" y="14227"/>
                  <a:pt x="14227" y="0"/>
                  <a:pt x="31751" y="0"/>
                </a:cubicBezTo>
                <a:close/>
              </a:path>
            </a:pathLst>
          </a:custGeom>
          <a:solidFill>
            <a:srgbClr val="EAE7D6"/>
          </a:solidFill>
          <a:ln/>
        </p:spPr>
        <p:txBody>
          <a:bodyPr/>
          <a:lstStyle/>
          <a:p>
            <a:endParaRPr lang="en-US"/>
          </a:p>
        </p:txBody>
      </p:sp>
      <p:sp>
        <p:nvSpPr>
          <p:cNvPr id="40" name="Text 38"/>
          <p:cNvSpPr/>
          <p:nvPr/>
        </p:nvSpPr>
        <p:spPr>
          <a:xfrm>
            <a:off x="6564313" y="2071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pipeline(</a:t>
            </a:r>
            <a:endParaRPr lang="en-US" sz="1600" dirty="0"/>
          </a:p>
        </p:txBody>
      </p:sp>
      <p:sp>
        <p:nvSpPr>
          <p:cNvPr id="41" name="Text 39"/>
          <p:cNvSpPr/>
          <p:nvPr/>
        </p:nvSpPr>
        <p:spPr>
          <a:xfrm>
            <a:off x="6564313" y="2230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fs.createReadStream('in.txt'),</a:t>
            </a:r>
            <a:endParaRPr lang="en-US" sz="1600" dirty="0"/>
          </a:p>
        </p:txBody>
      </p:sp>
      <p:sp>
        <p:nvSpPr>
          <p:cNvPr id="42" name="Text 40"/>
          <p:cNvSpPr/>
          <p:nvPr/>
        </p:nvSpPr>
        <p:spPr>
          <a:xfrm>
            <a:off x="6564313" y="2389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zlib.createGzip(),</a:t>
            </a:r>
            <a:endParaRPr lang="en-US" sz="1600" dirty="0"/>
          </a:p>
        </p:txBody>
      </p:sp>
      <p:sp>
        <p:nvSpPr>
          <p:cNvPr id="43" name="Text 41"/>
          <p:cNvSpPr/>
          <p:nvPr/>
        </p:nvSpPr>
        <p:spPr>
          <a:xfrm>
            <a:off x="6564313" y="25479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fs.createWriteStream('out.gz'),</a:t>
            </a:r>
            <a:endParaRPr lang="en-US" sz="1600" dirty="0"/>
          </a:p>
        </p:txBody>
      </p:sp>
      <p:sp>
        <p:nvSpPr>
          <p:cNvPr id="44" name="Text 42"/>
          <p:cNvSpPr/>
          <p:nvPr/>
        </p:nvSpPr>
        <p:spPr>
          <a:xfrm>
            <a:off x="6564313" y="270668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(err) =&gt; {</a:t>
            </a:r>
            <a:endParaRPr lang="en-US" sz="1600" dirty="0"/>
          </a:p>
        </p:txBody>
      </p:sp>
      <p:sp>
        <p:nvSpPr>
          <p:cNvPr id="45" name="Text 43"/>
          <p:cNvSpPr/>
          <p:nvPr/>
        </p:nvSpPr>
        <p:spPr>
          <a:xfrm>
            <a:off x="6564313" y="2865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if (err) console.error(err);</a:t>
            </a:r>
            <a:endParaRPr lang="en-US" sz="1600" dirty="0"/>
          </a:p>
        </p:txBody>
      </p:sp>
      <p:sp>
        <p:nvSpPr>
          <p:cNvPr id="46" name="Text 44"/>
          <p:cNvSpPr/>
          <p:nvPr/>
        </p:nvSpPr>
        <p:spPr>
          <a:xfrm>
            <a:off x="6564313" y="3024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47" name="Text 45"/>
          <p:cNvSpPr/>
          <p:nvPr/>
        </p:nvSpPr>
        <p:spPr>
          <a:xfrm>
            <a:off x="6564313" y="318293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48" name="Shape 46"/>
          <p:cNvSpPr/>
          <p:nvPr/>
        </p:nvSpPr>
        <p:spPr>
          <a:xfrm>
            <a:off x="6342063" y="3659187"/>
            <a:ext cx="5365750" cy="1778000"/>
          </a:xfrm>
          <a:custGeom>
            <a:avLst/>
            <a:gdLst/>
            <a:ahLst/>
            <a:cxnLst/>
            <a:rect l="l" t="t" r="r" b="b"/>
            <a:pathLst>
              <a:path w="5365750" h="1778000">
                <a:moveTo>
                  <a:pt x="63492" y="0"/>
                </a:moveTo>
                <a:lnTo>
                  <a:pt x="5302258" y="0"/>
                </a:lnTo>
                <a:cubicBezTo>
                  <a:pt x="5337323" y="0"/>
                  <a:pt x="5365750" y="28427"/>
                  <a:pt x="5365750" y="63492"/>
                </a:cubicBezTo>
                <a:lnTo>
                  <a:pt x="5365750" y="1714508"/>
                </a:lnTo>
                <a:cubicBezTo>
                  <a:pt x="5365750" y="1749573"/>
                  <a:pt x="5337323" y="1778000"/>
                  <a:pt x="5302258" y="1778000"/>
                </a:cubicBezTo>
                <a:lnTo>
                  <a:pt x="63492" y="1778000"/>
                </a:lnTo>
                <a:cubicBezTo>
                  <a:pt x="28427" y="1778000"/>
                  <a:pt x="0" y="1749573"/>
                  <a:pt x="0" y="1714508"/>
                </a:cubicBezTo>
                <a:lnTo>
                  <a:pt x="0" y="63492"/>
                </a:lnTo>
                <a:cubicBezTo>
                  <a:pt x="0" y="28450"/>
                  <a:pt x="28450" y="0"/>
                  <a:pt x="63492" y="0"/>
                </a:cubicBezTo>
                <a:close/>
              </a:path>
            </a:pathLst>
          </a:custGeom>
          <a:solidFill>
            <a:srgbClr val="EAE7D6"/>
          </a:solidFill>
          <a:ln/>
        </p:spPr>
        <p:txBody>
          <a:bodyPr/>
          <a:lstStyle/>
          <a:p>
            <a:endParaRPr lang="en-US"/>
          </a:p>
        </p:txBody>
      </p:sp>
      <p:sp>
        <p:nvSpPr>
          <p:cNvPr id="49" name="Text 47"/>
          <p:cNvSpPr/>
          <p:nvPr/>
        </p:nvSpPr>
        <p:spPr>
          <a:xfrm>
            <a:off x="6469063" y="37861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Promise/Async-Await Style</a:t>
            </a:r>
            <a:endParaRPr lang="en-US" sz="1600" dirty="0"/>
          </a:p>
        </p:txBody>
      </p:sp>
      <p:sp>
        <p:nvSpPr>
          <p:cNvPr id="50" name="Shape 48"/>
          <p:cNvSpPr/>
          <p:nvPr/>
        </p:nvSpPr>
        <p:spPr>
          <a:xfrm>
            <a:off x="6469063" y="4008438"/>
            <a:ext cx="5111750" cy="1301750"/>
          </a:xfrm>
          <a:custGeom>
            <a:avLst/>
            <a:gdLst/>
            <a:ahLst/>
            <a:cxnLst/>
            <a:rect l="l" t="t" r="r" b="b"/>
            <a:pathLst>
              <a:path w="5111750" h="1301750">
                <a:moveTo>
                  <a:pt x="31750" y="0"/>
                </a:moveTo>
                <a:lnTo>
                  <a:pt x="5080000" y="0"/>
                </a:lnTo>
                <a:cubicBezTo>
                  <a:pt x="5097535" y="0"/>
                  <a:pt x="5111750" y="14215"/>
                  <a:pt x="5111750" y="31750"/>
                </a:cubicBezTo>
                <a:lnTo>
                  <a:pt x="5111750" y="1270000"/>
                </a:lnTo>
                <a:cubicBezTo>
                  <a:pt x="5111750" y="1287535"/>
                  <a:pt x="5097535" y="1301750"/>
                  <a:pt x="5080000" y="1301750"/>
                </a:cubicBezTo>
                <a:lnTo>
                  <a:pt x="31750" y="1301750"/>
                </a:lnTo>
                <a:cubicBezTo>
                  <a:pt x="14215" y="1301750"/>
                  <a:pt x="0" y="1287535"/>
                  <a:pt x="0" y="1270000"/>
                </a:cubicBezTo>
                <a:lnTo>
                  <a:pt x="0" y="31750"/>
                </a:lnTo>
                <a:cubicBezTo>
                  <a:pt x="0" y="14227"/>
                  <a:pt x="14227" y="0"/>
                  <a:pt x="31750" y="0"/>
                </a:cubicBezTo>
                <a:close/>
              </a:path>
            </a:pathLst>
          </a:custGeom>
          <a:solidFill>
            <a:srgbClr val="EAE7D6"/>
          </a:solidFill>
          <a:ln/>
        </p:spPr>
        <p:txBody>
          <a:bodyPr/>
          <a:lstStyle/>
          <a:p>
            <a:endParaRPr lang="en-US"/>
          </a:p>
        </p:txBody>
      </p:sp>
      <p:sp>
        <p:nvSpPr>
          <p:cNvPr id="51" name="Text 49"/>
          <p:cNvSpPr/>
          <p:nvPr/>
        </p:nvSpPr>
        <p:spPr>
          <a:xfrm>
            <a:off x="6564313" y="4103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try {</a:t>
            </a:r>
            <a:endParaRPr lang="en-US" sz="1600" dirty="0"/>
          </a:p>
        </p:txBody>
      </p:sp>
      <p:sp>
        <p:nvSpPr>
          <p:cNvPr id="52" name="Text 50"/>
          <p:cNvSpPr/>
          <p:nvPr/>
        </p:nvSpPr>
        <p:spPr>
          <a:xfrm>
            <a:off x="6564313" y="4262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await pipeline(</a:t>
            </a:r>
            <a:endParaRPr lang="en-US" sz="1600" dirty="0"/>
          </a:p>
        </p:txBody>
      </p:sp>
      <p:sp>
        <p:nvSpPr>
          <p:cNvPr id="53" name="Text 51"/>
          <p:cNvSpPr/>
          <p:nvPr/>
        </p:nvSpPr>
        <p:spPr>
          <a:xfrm>
            <a:off x="6564313" y="4421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readable, transform, writable</a:t>
            </a:r>
            <a:endParaRPr lang="en-US" sz="1600" dirty="0"/>
          </a:p>
        </p:txBody>
      </p:sp>
      <p:sp>
        <p:nvSpPr>
          <p:cNvPr id="54" name="Text 52"/>
          <p:cNvSpPr/>
          <p:nvPr/>
        </p:nvSpPr>
        <p:spPr>
          <a:xfrm>
            <a:off x="6564313" y="45799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55" name="Text 53"/>
          <p:cNvSpPr/>
          <p:nvPr/>
        </p:nvSpPr>
        <p:spPr>
          <a:xfrm>
            <a:off x="6564313" y="4738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 catch (err) {</a:t>
            </a:r>
            <a:endParaRPr lang="en-US" sz="1600" dirty="0"/>
          </a:p>
        </p:txBody>
      </p:sp>
      <p:sp>
        <p:nvSpPr>
          <p:cNvPr id="56" name="Text 54"/>
          <p:cNvSpPr/>
          <p:nvPr/>
        </p:nvSpPr>
        <p:spPr>
          <a:xfrm>
            <a:off x="6564313" y="4897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console.error(err);</a:t>
            </a:r>
            <a:endParaRPr lang="en-US" sz="1600" dirty="0"/>
          </a:p>
        </p:txBody>
      </p:sp>
      <p:sp>
        <p:nvSpPr>
          <p:cNvPr id="57" name="Text 55"/>
          <p:cNvSpPr/>
          <p:nvPr/>
        </p:nvSpPr>
        <p:spPr>
          <a:xfrm>
            <a:off x="6564313" y="50561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58" name="Shape 56"/>
          <p:cNvSpPr/>
          <p:nvPr/>
        </p:nvSpPr>
        <p:spPr>
          <a:xfrm>
            <a:off x="6179344" y="5734844"/>
            <a:ext cx="5691188" cy="1309688"/>
          </a:xfrm>
          <a:custGeom>
            <a:avLst/>
            <a:gdLst/>
            <a:ahLst/>
            <a:cxnLst/>
            <a:rect l="l" t="t" r="r" b="b"/>
            <a:pathLst>
              <a:path w="5691188" h="1309688">
                <a:moveTo>
                  <a:pt x="95254" y="0"/>
                </a:moveTo>
                <a:lnTo>
                  <a:pt x="5595934" y="0"/>
                </a:lnTo>
                <a:cubicBezTo>
                  <a:pt x="5648506" y="0"/>
                  <a:pt x="5691188" y="42682"/>
                  <a:pt x="5691188" y="95254"/>
                </a:cubicBezTo>
                <a:lnTo>
                  <a:pt x="5691188" y="1214434"/>
                </a:lnTo>
                <a:cubicBezTo>
                  <a:pt x="5691188" y="1267041"/>
                  <a:pt x="5648541" y="1309688"/>
                  <a:pt x="5595934" y="1309688"/>
                </a:cubicBezTo>
                <a:lnTo>
                  <a:pt x="95254" y="1309688"/>
                </a:lnTo>
                <a:cubicBezTo>
                  <a:pt x="42682" y="1309688"/>
                  <a:pt x="0" y="1267006"/>
                  <a:pt x="0" y="1214434"/>
                </a:cubicBezTo>
                <a:lnTo>
                  <a:pt x="0" y="95254"/>
                </a:lnTo>
                <a:cubicBezTo>
                  <a:pt x="0" y="42682"/>
                  <a:pt x="42682" y="0"/>
                  <a:pt x="95254" y="0"/>
                </a:cubicBezTo>
                <a:close/>
              </a:path>
            </a:pathLst>
          </a:custGeom>
          <a:solidFill>
            <a:srgbClr val="EAE7D6"/>
          </a:solidFill>
          <a:ln/>
        </p:spPr>
        <p:txBody>
          <a:bodyPr/>
          <a:lstStyle/>
          <a:p>
            <a:endParaRPr lang="en-US"/>
          </a:p>
        </p:txBody>
      </p:sp>
      <p:sp>
        <p:nvSpPr>
          <p:cNvPr id="59" name="Shape 57"/>
          <p:cNvSpPr/>
          <p:nvPr/>
        </p:nvSpPr>
        <p:spPr>
          <a:xfrm>
            <a:off x="6351984" y="5929313"/>
            <a:ext cx="178594" cy="158750"/>
          </a:xfrm>
          <a:custGeom>
            <a:avLst/>
            <a:gdLst/>
            <a:ahLst/>
            <a:cxnLst/>
            <a:rect l="l" t="t" r="r" b="b"/>
            <a:pathLst>
              <a:path w="178594" h="158750">
                <a:moveTo>
                  <a:pt x="95963" y="-5860"/>
                </a:moveTo>
                <a:cubicBezTo>
                  <a:pt x="94692" y="-8341"/>
                  <a:pt x="92118" y="-9922"/>
                  <a:pt x="89328" y="-9922"/>
                </a:cubicBezTo>
                <a:cubicBezTo>
                  <a:pt x="86537" y="-9922"/>
                  <a:pt x="83964" y="-8341"/>
                  <a:pt x="82693" y="-5860"/>
                </a:cubicBezTo>
                <a:lnTo>
                  <a:pt x="59872" y="38850"/>
                </a:lnTo>
                <a:lnTo>
                  <a:pt x="10294" y="46726"/>
                </a:lnTo>
                <a:cubicBezTo>
                  <a:pt x="7534" y="47160"/>
                  <a:pt x="5240" y="49113"/>
                  <a:pt x="4372" y="51780"/>
                </a:cubicBezTo>
                <a:cubicBezTo>
                  <a:pt x="3504" y="54446"/>
                  <a:pt x="4217" y="57361"/>
                  <a:pt x="6170" y="59345"/>
                </a:cubicBezTo>
                <a:lnTo>
                  <a:pt x="41641" y="94847"/>
                </a:lnTo>
                <a:lnTo>
                  <a:pt x="33827" y="144425"/>
                </a:lnTo>
                <a:cubicBezTo>
                  <a:pt x="33393" y="147185"/>
                  <a:pt x="34541" y="149975"/>
                  <a:pt x="36804" y="151619"/>
                </a:cubicBezTo>
                <a:cubicBezTo>
                  <a:pt x="39067" y="153262"/>
                  <a:pt x="42044" y="153510"/>
                  <a:pt x="44555" y="152239"/>
                </a:cubicBezTo>
                <a:lnTo>
                  <a:pt x="89328" y="129480"/>
                </a:lnTo>
                <a:lnTo>
                  <a:pt x="134069" y="152239"/>
                </a:lnTo>
                <a:cubicBezTo>
                  <a:pt x="136550" y="153510"/>
                  <a:pt x="139557" y="153262"/>
                  <a:pt x="141821" y="151619"/>
                </a:cubicBezTo>
                <a:cubicBezTo>
                  <a:pt x="144084" y="149975"/>
                  <a:pt x="145231" y="147216"/>
                  <a:pt x="144797" y="144425"/>
                </a:cubicBezTo>
                <a:lnTo>
                  <a:pt x="136953" y="94847"/>
                </a:lnTo>
                <a:lnTo>
                  <a:pt x="172424" y="59345"/>
                </a:lnTo>
                <a:cubicBezTo>
                  <a:pt x="174408" y="57361"/>
                  <a:pt x="175090" y="54446"/>
                  <a:pt x="174222" y="51780"/>
                </a:cubicBezTo>
                <a:cubicBezTo>
                  <a:pt x="173354" y="49113"/>
                  <a:pt x="171090" y="47160"/>
                  <a:pt x="168300" y="46726"/>
                </a:cubicBezTo>
                <a:lnTo>
                  <a:pt x="118752" y="38850"/>
                </a:lnTo>
                <a:lnTo>
                  <a:pt x="95963" y="-5860"/>
                </a:lnTo>
                <a:close/>
              </a:path>
            </a:pathLst>
          </a:custGeom>
          <a:solidFill>
            <a:srgbClr val="8D99AE"/>
          </a:solidFill>
          <a:ln/>
        </p:spPr>
        <p:txBody>
          <a:bodyPr/>
          <a:lstStyle/>
          <a:p>
            <a:endParaRPr lang="en-US"/>
          </a:p>
        </p:txBody>
      </p:sp>
      <p:sp>
        <p:nvSpPr>
          <p:cNvPr id="60" name="Text 58"/>
          <p:cNvSpPr/>
          <p:nvPr/>
        </p:nvSpPr>
        <p:spPr>
          <a:xfrm>
            <a:off x="6635750" y="5897563"/>
            <a:ext cx="2047875"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Senior Developer Preference</a:t>
            </a:r>
            <a:endParaRPr lang="en-US" sz="1600" dirty="0"/>
          </a:p>
        </p:txBody>
      </p:sp>
      <p:sp>
        <p:nvSpPr>
          <p:cNvPr id="61" name="Shape 59"/>
          <p:cNvSpPr/>
          <p:nvPr/>
        </p:nvSpPr>
        <p:spPr>
          <a:xfrm>
            <a:off x="6342063" y="6215063"/>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EAE7D6"/>
          </a:solidFill>
          <a:ln/>
        </p:spPr>
        <p:txBody>
          <a:bodyPr/>
          <a:lstStyle/>
          <a:p>
            <a:endParaRPr lang="en-US"/>
          </a:p>
        </p:txBody>
      </p:sp>
      <p:sp>
        <p:nvSpPr>
          <p:cNvPr id="62" name="Text 60"/>
          <p:cNvSpPr/>
          <p:nvPr/>
        </p:nvSpPr>
        <p:spPr>
          <a:xfrm>
            <a:off x="6469063" y="6342063"/>
            <a:ext cx="5175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Always use </a:t>
            </a:r>
            <a:r>
              <a:rPr lang="en-US" sz="1000" b="1" dirty="0">
                <a:solidFill>
                  <a:srgbClr val="8D99AE"/>
                </a:solidFill>
                <a:latin typeface="Quattrocento Sans" pitchFamily="34" charset="0"/>
                <a:ea typeface="Quattrocento Sans" pitchFamily="34" charset="-122"/>
                <a:cs typeface="Quattrocento Sans" pitchFamily="34" charset="-120"/>
              </a:rPr>
              <a:t>pipeline()</a:t>
            </a:r>
            <a:r>
              <a:rPr lang="en-US" sz="1000" dirty="0">
                <a:solidFill>
                  <a:srgbClr val="2D3142"/>
                </a:solidFill>
                <a:latin typeface="Quattrocento Sans" pitchFamily="34" charset="0"/>
                <a:ea typeface="Quattrocento Sans" pitchFamily="34" charset="-122"/>
                <a:cs typeface="Quattrocento Sans" pitchFamily="34" charset="-120"/>
              </a:rPr>
              <a:t> in production code. It demonstrates understanding of error handling, resource management, and production-ready practices.</a:t>
            </a:r>
            <a:endParaRPr lang="en-US" sz="1600" dirty="0"/>
          </a:p>
        </p:txBody>
      </p:sp>
      <p:sp>
        <p:nvSpPr>
          <p:cNvPr id="63" name="Shape 61"/>
          <p:cNvSpPr/>
          <p:nvPr/>
        </p:nvSpPr>
        <p:spPr>
          <a:xfrm>
            <a:off x="321469" y="7179469"/>
            <a:ext cx="11549063" cy="674688"/>
          </a:xfrm>
          <a:custGeom>
            <a:avLst/>
            <a:gdLst/>
            <a:ahLst/>
            <a:cxnLst/>
            <a:rect l="l" t="t" r="r" b="b"/>
            <a:pathLst>
              <a:path w="11549063" h="674688">
                <a:moveTo>
                  <a:pt x="63502" y="0"/>
                </a:moveTo>
                <a:lnTo>
                  <a:pt x="11485561" y="0"/>
                </a:lnTo>
                <a:cubicBezTo>
                  <a:pt x="11520632" y="0"/>
                  <a:pt x="11549063" y="28431"/>
                  <a:pt x="11549063" y="63502"/>
                </a:cubicBezTo>
                <a:lnTo>
                  <a:pt x="11549063" y="611186"/>
                </a:lnTo>
                <a:cubicBezTo>
                  <a:pt x="11549062" y="646257"/>
                  <a:pt x="11520632" y="674688"/>
                  <a:pt x="11485561" y="674688"/>
                </a:cubicBezTo>
                <a:lnTo>
                  <a:pt x="63502" y="674688"/>
                </a:lnTo>
                <a:cubicBezTo>
                  <a:pt x="28431" y="674688"/>
                  <a:pt x="0" y="646257"/>
                  <a:pt x="0" y="611186"/>
                </a:cubicBezTo>
                <a:lnTo>
                  <a:pt x="0" y="63502"/>
                </a:lnTo>
                <a:cubicBezTo>
                  <a:pt x="0" y="28454"/>
                  <a:pt x="28454" y="0"/>
                  <a:pt x="63502" y="0"/>
                </a:cubicBezTo>
                <a:close/>
              </a:path>
            </a:pathLst>
          </a:custGeom>
          <a:solidFill>
            <a:srgbClr val="EAE7D6"/>
          </a:solidFill>
          <a:ln/>
        </p:spPr>
        <p:txBody>
          <a:bodyPr/>
          <a:lstStyle/>
          <a:p>
            <a:endParaRPr lang="en-US"/>
          </a:p>
        </p:txBody>
      </p:sp>
      <p:sp>
        <p:nvSpPr>
          <p:cNvPr id="64" name="Shape 62"/>
          <p:cNvSpPr/>
          <p:nvPr/>
        </p:nvSpPr>
        <p:spPr>
          <a:xfrm>
            <a:off x="472281" y="7437438"/>
            <a:ext cx="158750" cy="158750"/>
          </a:xfrm>
          <a:custGeom>
            <a:avLst/>
            <a:gdLst/>
            <a:ahLst/>
            <a:cxnLst/>
            <a:rect l="l" t="t" r="r" b="b"/>
            <a:pathLst>
              <a:path w="158750" h="158750">
                <a:moveTo>
                  <a:pt x="44741" y="0"/>
                </a:moveTo>
                <a:lnTo>
                  <a:pt x="114195" y="0"/>
                </a:lnTo>
                <a:cubicBezTo>
                  <a:pt x="122411" y="0"/>
                  <a:pt x="129108" y="6759"/>
                  <a:pt x="128798" y="14945"/>
                </a:cubicBezTo>
                <a:cubicBezTo>
                  <a:pt x="128736" y="16588"/>
                  <a:pt x="128674" y="18231"/>
                  <a:pt x="128581" y="19844"/>
                </a:cubicBezTo>
                <a:lnTo>
                  <a:pt x="143960" y="19844"/>
                </a:lnTo>
                <a:cubicBezTo>
                  <a:pt x="152053" y="19844"/>
                  <a:pt x="159184" y="26541"/>
                  <a:pt x="158564" y="35285"/>
                </a:cubicBezTo>
                <a:cubicBezTo>
                  <a:pt x="156239" y="67438"/>
                  <a:pt x="139805" y="85111"/>
                  <a:pt x="121977" y="94351"/>
                </a:cubicBezTo>
                <a:cubicBezTo>
                  <a:pt x="117078" y="96893"/>
                  <a:pt x="112086" y="98785"/>
                  <a:pt x="107342" y="100180"/>
                </a:cubicBezTo>
                <a:cubicBezTo>
                  <a:pt x="101079" y="109048"/>
                  <a:pt x="94568" y="113729"/>
                  <a:pt x="89390" y="116241"/>
                </a:cubicBezTo>
                <a:lnTo>
                  <a:pt x="89390" y="138906"/>
                </a:lnTo>
                <a:lnTo>
                  <a:pt x="109234" y="138906"/>
                </a:lnTo>
                <a:cubicBezTo>
                  <a:pt x="114722" y="138906"/>
                  <a:pt x="119156" y="143340"/>
                  <a:pt x="119156" y="148828"/>
                </a:cubicBezTo>
                <a:cubicBezTo>
                  <a:pt x="119156" y="154316"/>
                  <a:pt x="114722" y="158750"/>
                  <a:pt x="109234" y="158750"/>
                </a:cubicBezTo>
                <a:lnTo>
                  <a:pt x="49702" y="158750"/>
                </a:lnTo>
                <a:cubicBezTo>
                  <a:pt x="44214" y="158750"/>
                  <a:pt x="39781" y="154316"/>
                  <a:pt x="39781" y="148828"/>
                </a:cubicBezTo>
                <a:cubicBezTo>
                  <a:pt x="39781" y="143340"/>
                  <a:pt x="44214" y="138906"/>
                  <a:pt x="49702" y="138906"/>
                </a:cubicBezTo>
                <a:lnTo>
                  <a:pt x="69546" y="138906"/>
                </a:lnTo>
                <a:lnTo>
                  <a:pt x="69546" y="116241"/>
                </a:lnTo>
                <a:cubicBezTo>
                  <a:pt x="64585" y="113854"/>
                  <a:pt x="58415" y="109420"/>
                  <a:pt x="52400" y="101265"/>
                </a:cubicBezTo>
                <a:cubicBezTo>
                  <a:pt x="46695" y="99777"/>
                  <a:pt x="40494" y="97513"/>
                  <a:pt x="34448" y="94103"/>
                </a:cubicBezTo>
                <a:cubicBezTo>
                  <a:pt x="17673" y="84708"/>
                  <a:pt x="2542" y="67004"/>
                  <a:pt x="372" y="35223"/>
                </a:cubicBezTo>
                <a:cubicBezTo>
                  <a:pt x="-217" y="26510"/>
                  <a:pt x="6883" y="19813"/>
                  <a:pt x="14976" y="19813"/>
                </a:cubicBezTo>
                <a:lnTo>
                  <a:pt x="30355" y="19813"/>
                </a:lnTo>
                <a:cubicBezTo>
                  <a:pt x="30262" y="18200"/>
                  <a:pt x="30200" y="16588"/>
                  <a:pt x="30138" y="14914"/>
                </a:cubicBezTo>
                <a:cubicBezTo>
                  <a:pt x="29828" y="6697"/>
                  <a:pt x="36525" y="-31"/>
                  <a:pt x="44741" y="-31"/>
                </a:cubicBezTo>
                <a:close/>
                <a:moveTo>
                  <a:pt x="31471" y="34727"/>
                </a:moveTo>
                <a:lnTo>
                  <a:pt x="15224" y="34727"/>
                </a:lnTo>
                <a:cubicBezTo>
                  <a:pt x="17146" y="60989"/>
                  <a:pt x="29208" y="74135"/>
                  <a:pt x="41641" y="81111"/>
                </a:cubicBezTo>
                <a:cubicBezTo>
                  <a:pt x="37176" y="69546"/>
                  <a:pt x="33486" y="54446"/>
                  <a:pt x="31471" y="34727"/>
                </a:cubicBezTo>
                <a:close/>
                <a:moveTo>
                  <a:pt x="117822" y="79623"/>
                </a:moveTo>
                <a:cubicBezTo>
                  <a:pt x="130380" y="72244"/>
                  <a:pt x="141728" y="59128"/>
                  <a:pt x="143650" y="34727"/>
                </a:cubicBezTo>
                <a:lnTo>
                  <a:pt x="127434" y="34727"/>
                </a:lnTo>
                <a:cubicBezTo>
                  <a:pt x="125512" y="53609"/>
                  <a:pt x="122039" y="68275"/>
                  <a:pt x="117822" y="79623"/>
                </a:cubicBezTo>
                <a:close/>
              </a:path>
            </a:pathLst>
          </a:custGeom>
          <a:solidFill>
            <a:srgbClr val="8D99AE"/>
          </a:solidFill>
          <a:ln/>
        </p:spPr>
        <p:txBody>
          <a:bodyPr/>
          <a:lstStyle/>
          <a:p>
            <a:endParaRPr lang="en-US"/>
          </a:p>
        </p:txBody>
      </p:sp>
      <p:sp>
        <p:nvSpPr>
          <p:cNvPr id="65" name="Text 63"/>
          <p:cNvSpPr/>
          <p:nvPr/>
        </p:nvSpPr>
        <p:spPr>
          <a:xfrm>
            <a:off x="746125" y="7310438"/>
            <a:ext cx="842962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Senior Developers Prefer pipeline()</a:t>
            </a:r>
            <a:endParaRPr lang="en-US" sz="1600" dirty="0"/>
          </a:p>
        </p:txBody>
      </p:sp>
      <p:sp>
        <p:nvSpPr>
          <p:cNvPr id="66" name="Text 64"/>
          <p:cNvSpPr/>
          <p:nvPr/>
        </p:nvSpPr>
        <p:spPr>
          <a:xfrm>
            <a:off x="746125" y="7532687"/>
            <a:ext cx="8421688" cy="190500"/>
          </a:xfrm>
          <a:prstGeom prst="rect">
            <a:avLst/>
          </a:prstGeom>
          <a:noFill/>
          <a:ln/>
        </p:spPr>
        <p:txBody>
          <a:bodyPr wrap="square" lIns="0" tIns="0" rIns="0" bIns="0" rtlCol="0" anchor="ctr"/>
          <a:lstStyle/>
          <a:p>
            <a:pPr>
              <a:lnSpc>
                <a:spcPct val="130000"/>
              </a:lnSpc>
            </a:pPr>
            <a:r>
              <a:rPr lang="en-US" sz="1000" dirty="0">
                <a:solidFill>
                  <a:schemeClr val="bg1"/>
                </a:solidFill>
                <a:highlight>
                  <a:srgbClr val="008000"/>
                </a:highlight>
                <a:latin typeface="Quattrocento Sans" pitchFamily="34" charset="0"/>
                <a:ea typeface="Quattrocento Sans" pitchFamily="34" charset="-122"/>
                <a:cs typeface="Quattrocento Sans" pitchFamily="34" charset="-120"/>
              </a:rPr>
              <a:t>In interviews, always mention pipeline() over pipe() when discussing production code. It shows awareness of error handling, cleanup, and best practices.</a:t>
            </a:r>
            <a:endParaRPr lang="en-US" sz="1600" dirty="0">
              <a:solidFill>
                <a:schemeClr val="bg1"/>
              </a:solidFill>
              <a:highlight>
                <a:srgbClr val="008000"/>
              </a:highlight>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428625" y="476250"/>
            <a:ext cx="158750" cy="158750"/>
          </a:xfrm>
          <a:custGeom>
            <a:avLst/>
            <a:gdLst/>
            <a:ahLst/>
            <a:cxnLst/>
            <a:rect l="l" t="t" r="r" b="b"/>
            <a:pathLst>
              <a:path w="158750" h="158750">
                <a:moveTo>
                  <a:pt x="69546" y="-775"/>
                </a:moveTo>
                <a:cubicBezTo>
                  <a:pt x="75685" y="-4310"/>
                  <a:pt x="83251" y="-4310"/>
                  <a:pt x="89390" y="-775"/>
                </a:cubicBezTo>
                <a:lnTo>
                  <a:pt x="143929" y="30696"/>
                </a:lnTo>
                <a:cubicBezTo>
                  <a:pt x="150068" y="34230"/>
                  <a:pt x="153851" y="40804"/>
                  <a:pt x="153851" y="47873"/>
                </a:cubicBezTo>
                <a:lnTo>
                  <a:pt x="153851" y="110815"/>
                </a:lnTo>
                <a:cubicBezTo>
                  <a:pt x="153851" y="117915"/>
                  <a:pt x="150068" y="124458"/>
                  <a:pt x="143929" y="127992"/>
                </a:cubicBezTo>
                <a:lnTo>
                  <a:pt x="89390" y="159525"/>
                </a:lnTo>
                <a:cubicBezTo>
                  <a:pt x="83251" y="163060"/>
                  <a:pt x="75685" y="163060"/>
                  <a:pt x="69546" y="159525"/>
                </a:cubicBezTo>
                <a:lnTo>
                  <a:pt x="15038" y="128054"/>
                </a:lnTo>
                <a:cubicBezTo>
                  <a:pt x="8899" y="124520"/>
                  <a:pt x="5116" y="117946"/>
                  <a:pt x="5116" y="110877"/>
                </a:cubicBezTo>
                <a:lnTo>
                  <a:pt x="5116" y="47935"/>
                </a:lnTo>
                <a:cubicBezTo>
                  <a:pt x="5116" y="40835"/>
                  <a:pt x="8899" y="34292"/>
                  <a:pt x="15038" y="30758"/>
                </a:cubicBezTo>
                <a:lnTo>
                  <a:pt x="69546" y="-775"/>
                </a:lnTo>
                <a:close/>
                <a:moveTo>
                  <a:pt x="133976" y="110846"/>
                </a:moveTo>
                <a:lnTo>
                  <a:pt x="133976" y="59345"/>
                </a:lnTo>
                <a:lnTo>
                  <a:pt x="89390" y="85080"/>
                </a:lnTo>
                <a:lnTo>
                  <a:pt x="89390" y="136581"/>
                </a:lnTo>
                <a:lnTo>
                  <a:pt x="133976" y="110846"/>
                </a:lnTo>
                <a:close/>
              </a:path>
            </a:pathLst>
          </a:custGeom>
          <a:solidFill>
            <a:srgbClr val="FFFFFF"/>
          </a:solidFill>
          <a:ln/>
        </p:spPr>
        <p:txBody>
          <a:bodyPr/>
          <a:lstStyle/>
          <a:p>
            <a:endParaRPr lang="en-US"/>
          </a:p>
        </p:txBody>
      </p:sp>
      <p:sp>
        <p:nvSpPr>
          <p:cNvPr id="4" name="Text 2"/>
          <p:cNvSpPr/>
          <p:nvPr/>
        </p:nvSpPr>
        <p:spPr>
          <a:xfrm>
            <a:off x="793750" y="317500"/>
            <a:ext cx="1674813"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Advanced Feature</a:t>
            </a:r>
            <a:endParaRPr lang="en-US" sz="1600" dirty="0"/>
          </a:p>
        </p:txBody>
      </p:sp>
      <p:sp>
        <p:nvSpPr>
          <p:cNvPr id="5" name="Text 3"/>
          <p:cNvSpPr/>
          <p:nvPr/>
        </p:nvSpPr>
        <p:spPr>
          <a:xfrm>
            <a:off x="793750" y="476250"/>
            <a:ext cx="1762125"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Object Mode</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21469" y="1083469"/>
            <a:ext cx="6262688" cy="2103438"/>
          </a:xfrm>
          <a:custGeom>
            <a:avLst/>
            <a:gdLst/>
            <a:ahLst/>
            <a:cxnLst/>
            <a:rect l="l" t="t" r="r" b="b"/>
            <a:pathLst>
              <a:path w="6262688" h="2103438">
                <a:moveTo>
                  <a:pt x="95244" y="0"/>
                </a:moveTo>
                <a:lnTo>
                  <a:pt x="6167444" y="0"/>
                </a:lnTo>
                <a:cubicBezTo>
                  <a:pt x="6220045" y="0"/>
                  <a:pt x="6262688" y="42642"/>
                  <a:pt x="6262688" y="95244"/>
                </a:cubicBezTo>
                <a:lnTo>
                  <a:pt x="6262688" y="2008194"/>
                </a:lnTo>
                <a:cubicBezTo>
                  <a:pt x="6262688" y="2060795"/>
                  <a:pt x="6220045" y="2103438"/>
                  <a:pt x="6167444" y="2103438"/>
                </a:cubicBezTo>
                <a:lnTo>
                  <a:pt x="95244" y="2103438"/>
                </a:lnTo>
                <a:cubicBezTo>
                  <a:pt x="42642" y="2103438"/>
                  <a:pt x="0" y="2060795"/>
                  <a:pt x="0" y="2008194"/>
                </a:cubicBezTo>
                <a:lnTo>
                  <a:pt x="0" y="95244"/>
                </a:lnTo>
                <a:cubicBezTo>
                  <a:pt x="0" y="42642"/>
                  <a:pt x="42642" y="0"/>
                  <a:pt x="95244" y="0"/>
                </a:cubicBezTo>
                <a:close/>
              </a:path>
            </a:pathLst>
          </a:custGeom>
          <a:solidFill>
            <a:srgbClr val="EAE7D6"/>
          </a:solidFill>
          <a:ln/>
        </p:spPr>
        <p:txBody>
          <a:bodyPr/>
          <a:lstStyle/>
          <a:p>
            <a:endParaRPr lang="en-US"/>
          </a:p>
        </p:txBody>
      </p:sp>
      <p:sp>
        <p:nvSpPr>
          <p:cNvPr id="8" name="Shape 6"/>
          <p:cNvSpPr/>
          <p:nvPr/>
        </p:nvSpPr>
        <p:spPr>
          <a:xfrm>
            <a:off x="508000" y="1277938"/>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3" y="128997"/>
                  <a:pt x="119063" y="133945"/>
                </a:cubicBezTo>
                <a:cubicBezTo>
                  <a:pt x="119063" y="138894"/>
                  <a:pt x="115081" y="142875"/>
                  <a:pt x="110133" y="142875"/>
                </a:cubicBezTo>
                <a:lnTo>
                  <a:pt x="80367" y="142875"/>
                </a:lnTo>
                <a:cubicBezTo>
                  <a:pt x="75419" y="142875"/>
                  <a:pt x="71438" y="138894"/>
                  <a:pt x="71438" y="133945"/>
                </a:cubicBezTo>
                <a:cubicBezTo>
                  <a:pt x="71438" y="128997"/>
                  <a:pt x="75419" y="125016"/>
                  <a:pt x="80367" y="125016"/>
                </a:cubicBezTo>
                <a:lnTo>
                  <a:pt x="89297" y="125016"/>
                </a:lnTo>
                <a:lnTo>
                  <a:pt x="89297" y="101203"/>
                </a:lnTo>
                <a:lnTo>
                  <a:pt x="80367" y="101203"/>
                </a:lnTo>
                <a:cubicBezTo>
                  <a:pt x="75419" y="101203"/>
                  <a:pt x="71438" y="97222"/>
                  <a:pt x="71438" y="92273"/>
                </a:cubicBezTo>
                <a:cubicBezTo>
                  <a:pt x="71438" y="87325"/>
                  <a:pt x="75419" y="83344"/>
                  <a:pt x="80367" y="83344"/>
                </a:cubicBezTo>
                <a:close/>
              </a:path>
            </a:pathLst>
          </a:custGeom>
          <a:solidFill>
            <a:srgbClr val="E07A5F"/>
          </a:solidFill>
          <a:ln/>
        </p:spPr>
        <p:txBody>
          <a:bodyPr/>
          <a:lstStyle/>
          <a:p>
            <a:endParaRPr lang="en-US"/>
          </a:p>
        </p:txBody>
      </p:sp>
      <p:sp>
        <p:nvSpPr>
          <p:cNvPr id="9" name="Text 7"/>
          <p:cNvSpPr/>
          <p:nvPr/>
        </p:nvSpPr>
        <p:spPr>
          <a:xfrm>
            <a:off x="817563" y="1246188"/>
            <a:ext cx="1928813"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What is Object Mode?</a:t>
            </a:r>
            <a:endParaRPr lang="en-US" sz="1600" dirty="0"/>
          </a:p>
        </p:txBody>
      </p:sp>
      <p:sp>
        <p:nvSpPr>
          <p:cNvPr id="10" name="Text 8"/>
          <p:cNvSpPr/>
          <p:nvPr/>
        </p:nvSpPr>
        <p:spPr>
          <a:xfrm>
            <a:off x="484187" y="1627188"/>
            <a:ext cx="60007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By default, streams work with </a:t>
            </a:r>
            <a:r>
              <a:rPr lang="en-US" sz="1000" b="1" dirty="0">
                <a:solidFill>
                  <a:srgbClr val="2D3142"/>
                </a:solidFill>
                <a:latin typeface="Quattrocento Sans" pitchFamily="34" charset="0"/>
                <a:ea typeface="Quattrocento Sans" pitchFamily="34" charset="-122"/>
                <a:cs typeface="Quattrocento Sans" pitchFamily="34" charset="-120"/>
              </a:rPr>
              <a:t>Buffer or String</a:t>
            </a:r>
            <a:r>
              <a:rPr lang="en-US" sz="1000" dirty="0">
                <a:solidFill>
                  <a:srgbClr val="2D3142"/>
                </a:solidFill>
                <a:latin typeface="Quattrocento Sans" pitchFamily="34" charset="0"/>
                <a:ea typeface="Quattrocento Sans" pitchFamily="34" charset="-122"/>
                <a:cs typeface="Quattrocento Sans" pitchFamily="34" charset="-120"/>
              </a:rPr>
              <a:t> data. </a:t>
            </a:r>
            <a:r>
              <a:rPr lang="en-US" sz="1000"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Object mode </a:t>
            </a:r>
            <a:r>
              <a:rPr lang="en-US" sz="1000" dirty="0">
                <a:solidFill>
                  <a:srgbClr val="2D3142"/>
                </a:solidFill>
                <a:latin typeface="Quattrocento Sans" pitchFamily="34" charset="0"/>
                <a:ea typeface="Quattrocento Sans" pitchFamily="34" charset="-122"/>
                <a:cs typeface="Quattrocento Sans" pitchFamily="34" charset="-120"/>
              </a:rPr>
              <a:t>allows streams to handle </a:t>
            </a:r>
            <a:r>
              <a:rPr lang="en-US" sz="1000" b="1" dirty="0">
                <a:solidFill>
                  <a:srgbClr val="2D3142"/>
                </a:solidFill>
                <a:latin typeface="Quattrocento Sans" pitchFamily="34" charset="0"/>
                <a:ea typeface="Quattrocento Sans" pitchFamily="34" charset="-122"/>
                <a:cs typeface="Quattrocento Sans" pitchFamily="34" charset="-120"/>
              </a:rPr>
              <a:t>JavaScript objects</a:t>
            </a:r>
            <a:r>
              <a:rPr lang="en-US" sz="1000" dirty="0">
                <a:solidFill>
                  <a:srgbClr val="2D3142"/>
                </a:solidFill>
                <a:latin typeface="Quattrocento Sans" pitchFamily="34" charset="0"/>
                <a:ea typeface="Quattrocento Sans" pitchFamily="34" charset="-122"/>
                <a:cs typeface="Quattrocento Sans" pitchFamily="34" charset="-120"/>
              </a:rPr>
              <a:t> instead of raw bytes.</a:t>
            </a:r>
            <a:endParaRPr lang="en-US" sz="1600" dirty="0"/>
          </a:p>
        </p:txBody>
      </p:sp>
      <p:sp>
        <p:nvSpPr>
          <p:cNvPr id="11" name="Shape 9"/>
          <p:cNvSpPr/>
          <p:nvPr/>
        </p:nvSpPr>
        <p:spPr>
          <a:xfrm>
            <a:off x="484187" y="2166938"/>
            <a:ext cx="5937250" cy="857250"/>
          </a:xfrm>
          <a:custGeom>
            <a:avLst/>
            <a:gdLst/>
            <a:ahLst/>
            <a:cxnLst/>
            <a:rect l="l" t="t" r="r" b="b"/>
            <a:pathLst>
              <a:path w="5937250" h="857250">
                <a:moveTo>
                  <a:pt x="63497" y="0"/>
                </a:moveTo>
                <a:lnTo>
                  <a:pt x="5873753" y="0"/>
                </a:lnTo>
                <a:cubicBezTo>
                  <a:pt x="5908822" y="0"/>
                  <a:pt x="5937250" y="28428"/>
                  <a:pt x="5937250" y="63497"/>
                </a:cubicBezTo>
                <a:lnTo>
                  <a:pt x="5937250" y="793753"/>
                </a:lnTo>
                <a:cubicBezTo>
                  <a:pt x="5937250" y="828822"/>
                  <a:pt x="5908822" y="857250"/>
                  <a:pt x="5873753" y="857250"/>
                </a:cubicBezTo>
                <a:lnTo>
                  <a:pt x="63497" y="857250"/>
                </a:lnTo>
                <a:cubicBezTo>
                  <a:pt x="28428" y="857250"/>
                  <a:pt x="0" y="828822"/>
                  <a:pt x="0" y="793753"/>
                </a:cubicBezTo>
                <a:lnTo>
                  <a:pt x="0" y="63497"/>
                </a:lnTo>
                <a:cubicBezTo>
                  <a:pt x="0" y="28428"/>
                  <a:pt x="28428" y="0"/>
                  <a:pt x="63497" y="0"/>
                </a:cubicBezTo>
                <a:close/>
              </a:path>
            </a:pathLst>
          </a:custGeom>
          <a:solidFill>
            <a:srgbClr val="EAE7D6"/>
          </a:solidFill>
          <a:ln/>
        </p:spPr>
        <p:txBody>
          <a:bodyPr/>
          <a:lstStyle/>
          <a:p>
            <a:endParaRPr lang="en-US"/>
          </a:p>
        </p:txBody>
      </p:sp>
      <p:sp>
        <p:nvSpPr>
          <p:cNvPr id="12" name="Text 10"/>
          <p:cNvSpPr/>
          <p:nvPr/>
        </p:nvSpPr>
        <p:spPr>
          <a:xfrm>
            <a:off x="611188" y="2293938"/>
            <a:ext cx="5738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How It Works</a:t>
            </a:r>
            <a:endParaRPr lang="en-US" sz="1600" dirty="0"/>
          </a:p>
        </p:txBody>
      </p:sp>
      <p:sp>
        <p:nvSpPr>
          <p:cNvPr id="13" name="Text 11"/>
          <p:cNvSpPr/>
          <p:nvPr/>
        </p:nvSpPr>
        <p:spPr>
          <a:xfrm>
            <a:off x="611188" y="2516188"/>
            <a:ext cx="5746750" cy="3810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When objectMode: true, streams treat each chunk as a JavaScript object rather than Buffer data. This enables processing structured data through stream pipelines.</a:t>
            </a:r>
            <a:endParaRPr lang="en-US" sz="1600" dirty="0"/>
          </a:p>
        </p:txBody>
      </p:sp>
      <p:sp>
        <p:nvSpPr>
          <p:cNvPr id="14" name="Shape 12"/>
          <p:cNvSpPr/>
          <p:nvPr/>
        </p:nvSpPr>
        <p:spPr>
          <a:xfrm>
            <a:off x="321469" y="3321844"/>
            <a:ext cx="6262688" cy="3929063"/>
          </a:xfrm>
          <a:custGeom>
            <a:avLst/>
            <a:gdLst/>
            <a:ahLst/>
            <a:cxnLst/>
            <a:rect l="l" t="t" r="r" b="b"/>
            <a:pathLst>
              <a:path w="6262688" h="3929063">
                <a:moveTo>
                  <a:pt x="95240" y="0"/>
                </a:moveTo>
                <a:lnTo>
                  <a:pt x="6167447" y="0"/>
                </a:lnTo>
                <a:cubicBezTo>
                  <a:pt x="6220047" y="0"/>
                  <a:pt x="6262688" y="42641"/>
                  <a:pt x="6262688" y="95240"/>
                </a:cubicBezTo>
                <a:lnTo>
                  <a:pt x="6262688" y="3833822"/>
                </a:lnTo>
                <a:cubicBezTo>
                  <a:pt x="6262688" y="3886422"/>
                  <a:pt x="6220047" y="3929063"/>
                  <a:pt x="6167447" y="3929063"/>
                </a:cubicBezTo>
                <a:lnTo>
                  <a:pt x="95240" y="3929063"/>
                </a:lnTo>
                <a:cubicBezTo>
                  <a:pt x="42641" y="3929063"/>
                  <a:pt x="0" y="3886422"/>
                  <a:pt x="0" y="3833822"/>
                </a:cubicBezTo>
                <a:lnTo>
                  <a:pt x="0" y="95240"/>
                </a:lnTo>
                <a:cubicBezTo>
                  <a:pt x="0" y="42641"/>
                  <a:pt x="42641" y="0"/>
                  <a:pt x="95240" y="0"/>
                </a:cubicBezTo>
                <a:close/>
              </a:path>
            </a:pathLst>
          </a:custGeom>
          <a:solidFill>
            <a:srgbClr val="EAE7D6"/>
          </a:solidFill>
          <a:ln/>
        </p:spPr>
        <p:txBody>
          <a:bodyPr/>
          <a:lstStyle/>
          <a:p>
            <a:endParaRPr lang="en-US"/>
          </a:p>
        </p:txBody>
      </p:sp>
      <p:sp>
        <p:nvSpPr>
          <p:cNvPr id="15" name="Shape 13"/>
          <p:cNvSpPr/>
          <p:nvPr/>
        </p:nvSpPr>
        <p:spPr>
          <a:xfrm>
            <a:off x="508000" y="3516313"/>
            <a:ext cx="190500" cy="190500"/>
          </a:xfrm>
          <a:custGeom>
            <a:avLst/>
            <a:gdLst/>
            <a:ahLst/>
            <a:cxnLst/>
            <a:rect l="l" t="t" r="r" b="b"/>
            <a:pathLst>
              <a:path w="190500" h="190500">
                <a:moveTo>
                  <a:pt x="74414" y="17859"/>
                </a:moveTo>
                <a:lnTo>
                  <a:pt x="116086" y="17859"/>
                </a:lnTo>
                <a:cubicBezTo>
                  <a:pt x="117723" y="17859"/>
                  <a:pt x="119063" y="19199"/>
                  <a:pt x="119063" y="20836"/>
                </a:cubicBezTo>
                <a:lnTo>
                  <a:pt x="119063" y="35719"/>
                </a:lnTo>
                <a:lnTo>
                  <a:pt x="71438" y="35719"/>
                </a:lnTo>
                <a:lnTo>
                  <a:pt x="71438" y="20836"/>
                </a:lnTo>
                <a:cubicBezTo>
                  <a:pt x="71438" y="19199"/>
                  <a:pt x="72777" y="17859"/>
                  <a:pt x="74414" y="17859"/>
                </a:cubicBezTo>
                <a:close/>
                <a:moveTo>
                  <a:pt x="53578" y="20836"/>
                </a:moveTo>
                <a:lnTo>
                  <a:pt x="53578" y="35719"/>
                </a:lnTo>
                <a:lnTo>
                  <a:pt x="23812" y="35719"/>
                </a:lnTo>
                <a:cubicBezTo>
                  <a:pt x="10678" y="35719"/>
                  <a:pt x="0" y="46397"/>
                  <a:pt x="0" y="59531"/>
                </a:cubicBezTo>
                <a:lnTo>
                  <a:pt x="0" y="95250"/>
                </a:lnTo>
                <a:lnTo>
                  <a:pt x="190500" y="95250"/>
                </a:lnTo>
                <a:lnTo>
                  <a:pt x="190500" y="59531"/>
                </a:lnTo>
                <a:cubicBezTo>
                  <a:pt x="190500" y="46397"/>
                  <a:pt x="179822" y="35719"/>
                  <a:pt x="166688" y="35719"/>
                </a:cubicBezTo>
                <a:lnTo>
                  <a:pt x="136922" y="35719"/>
                </a:lnTo>
                <a:lnTo>
                  <a:pt x="136922" y="20836"/>
                </a:lnTo>
                <a:cubicBezTo>
                  <a:pt x="136922" y="9339"/>
                  <a:pt x="127583" y="0"/>
                  <a:pt x="116086" y="0"/>
                </a:cubicBezTo>
                <a:lnTo>
                  <a:pt x="74414" y="0"/>
                </a:lnTo>
                <a:cubicBezTo>
                  <a:pt x="62917" y="0"/>
                  <a:pt x="53578" y="9339"/>
                  <a:pt x="53578" y="20836"/>
                </a:cubicBezTo>
                <a:close/>
                <a:moveTo>
                  <a:pt x="190500" y="113109"/>
                </a:moveTo>
                <a:lnTo>
                  <a:pt x="119063" y="113109"/>
                </a:lnTo>
                <a:lnTo>
                  <a:pt x="119063" y="119063"/>
                </a:lnTo>
                <a:cubicBezTo>
                  <a:pt x="119063" y="125648"/>
                  <a:pt x="113742" y="130969"/>
                  <a:pt x="107156" y="130969"/>
                </a:cubicBezTo>
                <a:lnTo>
                  <a:pt x="83344" y="130969"/>
                </a:lnTo>
                <a:cubicBezTo>
                  <a:pt x="76758" y="130969"/>
                  <a:pt x="71438" y="125648"/>
                  <a:pt x="71438" y="119063"/>
                </a:cubicBezTo>
                <a:lnTo>
                  <a:pt x="71438" y="113109"/>
                </a:lnTo>
                <a:lnTo>
                  <a:pt x="0" y="113109"/>
                </a:lnTo>
                <a:lnTo>
                  <a:pt x="0" y="154781"/>
                </a:lnTo>
                <a:cubicBezTo>
                  <a:pt x="0" y="167915"/>
                  <a:pt x="10678" y="178594"/>
                  <a:pt x="23812" y="178594"/>
                </a:cubicBezTo>
                <a:lnTo>
                  <a:pt x="166688" y="178594"/>
                </a:lnTo>
                <a:cubicBezTo>
                  <a:pt x="179822" y="178594"/>
                  <a:pt x="190500" y="167915"/>
                  <a:pt x="190500" y="154781"/>
                </a:cubicBezTo>
                <a:lnTo>
                  <a:pt x="190500" y="113109"/>
                </a:lnTo>
                <a:close/>
              </a:path>
            </a:pathLst>
          </a:custGeom>
          <a:solidFill>
            <a:srgbClr val="8D99AE"/>
          </a:solidFill>
          <a:ln/>
        </p:spPr>
        <p:txBody>
          <a:bodyPr/>
          <a:lstStyle/>
          <a:p>
            <a:endParaRPr lang="en-US"/>
          </a:p>
        </p:txBody>
      </p:sp>
      <p:sp>
        <p:nvSpPr>
          <p:cNvPr id="16" name="Text 14"/>
          <p:cNvSpPr/>
          <p:nvPr/>
        </p:nvSpPr>
        <p:spPr>
          <a:xfrm>
            <a:off x="817563" y="3484563"/>
            <a:ext cx="1754188"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Common Use Cases</a:t>
            </a:r>
            <a:endParaRPr lang="en-US" sz="1600" dirty="0"/>
          </a:p>
        </p:txBody>
      </p:sp>
      <p:sp>
        <p:nvSpPr>
          <p:cNvPr id="17" name="Shape 15"/>
          <p:cNvSpPr/>
          <p:nvPr/>
        </p:nvSpPr>
        <p:spPr>
          <a:xfrm>
            <a:off x="500063" y="3865563"/>
            <a:ext cx="5921375" cy="730250"/>
          </a:xfrm>
          <a:custGeom>
            <a:avLst/>
            <a:gdLst/>
            <a:ahLst/>
            <a:cxnLst/>
            <a:rect l="l" t="t" r="r" b="b"/>
            <a:pathLst>
              <a:path w="5921375" h="730250">
                <a:moveTo>
                  <a:pt x="31750" y="0"/>
                </a:moveTo>
                <a:lnTo>
                  <a:pt x="5857872" y="0"/>
                </a:lnTo>
                <a:cubicBezTo>
                  <a:pt x="5892944" y="0"/>
                  <a:pt x="5921375" y="28431"/>
                  <a:pt x="5921375" y="63503"/>
                </a:cubicBezTo>
                <a:lnTo>
                  <a:pt x="5921375" y="666747"/>
                </a:lnTo>
                <a:cubicBezTo>
                  <a:pt x="5921375" y="701819"/>
                  <a:pt x="5892944" y="730250"/>
                  <a:pt x="58578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18" name="Shape 16"/>
          <p:cNvSpPr/>
          <p:nvPr/>
        </p:nvSpPr>
        <p:spPr>
          <a:xfrm>
            <a:off x="500063" y="3865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E07A5F"/>
          </a:solidFill>
          <a:ln/>
        </p:spPr>
        <p:txBody>
          <a:bodyPr/>
          <a:lstStyle/>
          <a:p>
            <a:endParaRPr lang="en-US"/>
          </a:p>
        </p:txBody>
      </p:sp>
      <p:sp>
        <p:nvSpPr>
          <p:cNvPr id="19" name="Shape 17"/>
          <p:cNvSpPr/>
          <p:nvPr/>
        </p:nvSpPr>
        <p:spPr>
          <a:xfrm>
            <a:off x="666750" y="4040188"/>
            <a:ext cx="111125" cy="127000"/>
          </a:xfrm>
          <a:custGeom>
            <a:avLst/>
            <a:gdLst/>
            <a:ahLst/>
            <a:cxnLst/>
            <a:rect l="l" t="t" r="r" b="b"/>
            <a:pathLst>
              <a:path w="111125" h="127000">
                <a:moveTo>
                  <a:pt x="111125" y="51048"/>
                </a:moveTo>
                <a:cubicBezTo>
                  <a:pt x="107454" y="53479"/>
                  <a:pt x="103237" y="55438"/>
                  <a:pt x="98847" y="57001"/>
                </a:cubicBezTo>
                <a:cubicBezTo>
                  <a:pt x="87188" y="61168"/>
                  <a:pt x="71884" y="63500"/>
                  <a:pt x="55563" y="63500"/>
                </a:cubicBezTo>
                <a:cubicBezTo>
                  <a:pt x="39241" y="63500"/>
                  <a:pt x="23912" y="61144"/>
                  <a:pt x="12278" y="57001"/>
                </a:cubicBezTo>
                <a:cubicBezTo>
                  <a:pt x="7913" y="55438"/>
                  <a:pt x="3671" y="53479"/>
                  <a:pt x="0" y="51048"/>
                </a:cubicBezTo>
                <a:lnTo>
                  <a:pt x="0" y="71438"/>
                </a:lnTo>
                <a:cubicBezTo>
                  <a:pt x="0" y="82401"/>
                  <a:pt x="24879" y="91281"/>
                  <a:pt x="55563" y="91281"/>
                </a:cubicBezTo>
                <a:cubicBezTo>
                  <a:pt x="86246" y="91281"/>
                  <a:pt x="111125" y="82401"/>
                  <a:pt x="111125" y="71438"/>
                </a:cubicBezTo>
                <a:lnTo>
                  <a:pt x="111125" y="51048"/>
                </a:lnTo>
                <a:close/>
                <a:moveTo>
                  <a:pt x="111125" y="31750"/>
                </a:moveTo>
                <a:lnTo>
                  <a:pt x="111125" y="19844"/>
                </a:lnTo>
                <a:cubicBezTo>
                  <a:pt x="111125" y="8880"/>
                  <a:pt x="86246" y="0"/>
                  <a:pt x="55563" y="0"/>
                </a:cubicBezTo>
                <a:cubicBezTo>
                  <a:pt x="24879" y="0"/>
                  <a:pt x="0" y="8880"/>
                  <a:pt x="0" y="19844"/>
                </a:cubicBezTo>
                <a:lnTo>
                  <a:pt x="0" y="31750"/>
                </a:lnTo>
                <a:cubicBezTo>
                  <a:pt x="0" y="42714"/>
                  <a:pt x="24879" y="51594"/>
                  <a:pt x="55563" y="51594"/>
                </a:cubicBezTo>
                <a:cubicBezTo>
                  <a:pt x="86246" y="51594"/>
                  <a:pt x="111125" y="42714"/>
                  <a:pt x="111125" y="31750"/>
                </a:cubicBezTo>
                <a:close/>
                <a:moveTo>
                  <a:pt x="98847" y="96689"/>
                </a:moveTo>
                <a:cubicBezTo>
                  <a:pt x="87213" y="100831"/>
                  <a:pt x="71909" y="103188"/>
                  <a:pt x="55563" y="103188"/>
                </a:cubicBezTo>
                <a:cubicBezTo>
                  <a:pt x="39216" y="103188"/>
                  <a:pt x="23912" y="100831"/>
                  <a:pt x="12278" y="96689"/>
                </a:cubicBezTo>
                <a:cubicBezTo>
                  <a:pt x="7913" y="95126"/>
                  <a:pt x="3671" y="93166"/>
                  <a:pt x="0" y="90736"/>
                </a:cubicBezTo>
                <a:lnTo>
                  <a:pt x="0" y="107156"/>
                </a:lnTo>
                <a:cubicBezTo>
                  <a:pt x="0" y="118120"/>
                  <a:pt x="24879" y="127000"/>
                  <a:pt x="55563" y="127000"/>
                </a:cubicBezTo>
                <a:cubicBezTo>
                  <a:pt x="86246" y="127000"/>
                  <a:pt x="111125" y="118120"/>
                  <a:pt x="111125" y="107156"/>
                </a:cubicBezTo>
                <a:lnTo>
                  <a:pt x="111125" y="90736"/>
                </a:lnTo>
                <a:cubicBezTo>
                  <a:pt x="107454" y="93166"/>
                  <a:pt x="103237" y="95126"/>
                  <a:pt x="98847" y="96689"/>
                </a:cubicBezTo>
                <a:close/>
              </a:path>
            </a:pathLst>
          </a:custGeom>
          <a:solidFill>
            <a:srgbClr val="E07A5F"/>
          </a:solidFill>
          <a:ln/>
        </p:spPr>
        <p:txBody>
          <a:bodyPr/>
          <a:lstStyle/>
          <a:p>
            <a:endParaRPr lang="en-US"/>
          </a:p>
        </p:txBody>
      </p:sp>
      <p:sp>
        <p:nvSpPr>
          <p:cNvPr id="20" name="Text 18"/>
          <p:cNvSpPr/>
          <p:nvPr/>
        </p:nvSpPr>
        <p:spPr>
          <a:xfrm>
            <a:off x="865188" y="3992563"/>
            <a:ext cx="109537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JSON Processing</a:t>
            </a:r>
            <a:endParaRPr lang="en-US" sz="1600" dirty="0"/>
          </a:p>
        </p:txBody>
      </p:sp>
      <p:sp>
        <p:nvSpPr>
          <p:cNvPr id="21" name="Text 19"/>
          <p:cNvSpPr/>
          <p:nvPr/>
        </p:nvSpPr>
        <p:spPr>
          <a:xfrm>
            <a:off x="642938" y="4278313"/>
            <a:ext cx="57150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Stream JSON objects through transformation pipelines</a:t>
            </a:r>
            <a:endParaRPr lang="en-US" sz="1600" dirty="0"/>
          </a:p>
        </p:txBody>
      </p:sp>
      <p:sp>
        <p:nvSpPr>
          <p:cNvPr id="22" name="Shape 20"/>
          <p:cNvSpPr/>
          <p:nvPr/>
        </p:nvSpPr>
        <p:spPr>
          <a:xfrm>
            <a:off x="500063" y="4691063"/>
            <a:ext cx="5921375" cy="730250"/>
          </a:xfrm>
          <a:custGeom>
            <a:avLst/>
            <a:gdLst/>
            <a:ahLst/>
            <a:cxnLst/>
            <a:rect l="l" t="t" r="r" b="b"/>
            <a:pathLst>
              <a:path w="5921375" h="730250">
                <a:moveTo>
                  <a:pt x="31750" y="0"/>
                </a:moveTo>
                <a:lnTo>
                  <a:pt x="5857872" y="0"/>
                </a:lnTo>
                <a:cubicBezTo>
                  <a:pt x="5892944" y="0"/>
                  <a:pt x="5921375" y="28431"/>
                  <a:pt x="5921375" y="63503"/>
                </a:cubicBezTo>
                <a:lnTo>
                  <a:pt x="5921375" y="666747"/>
                </a:lnTo>
                <a:cubicBezTo>
                  <a:pt x="5921375" y="701819"/>
                  <a:pt x="5892944" y="730250"/>
                  <a:pt x="58578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3" name="Shape 21"/>
          <p:cNvSpPr/>
          <p:nvPr/>
        </p:nvSpPr>
        <p:spPr>
          <a:xfrm>
            <a:off x="500063" y="46910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4" name="Shape 22"/>
          <p:cNvSpPr/>
          <p:nvPr/>
        </p:nvSpPr>
        <p:spPr>
          <a:xfrm>
            <a:off x="666750" y="4865688"/>
            <a:ext cx="111125" cy="127000"/>
          </a:xfrm>
          <a:custGeom>
            <a:avLst/>
            <a:gdLst/>
            <a:ahLst/>
            <a:cxnLst/>
            <a:rect l="l" t="t" r="r" b="b"/>
            <a:pathLst>
              <a:path w="111125" h="127000">
                <a:moveTo>
                  <a:pt x="63500" y="39688"/>
                </a:moveTo>
                <a:lnTo>
                  <a:pt x="63500" y="63500"/>
                </a:lnTo>
                <a:lnTo>
                  <a:pt x="95250" y="63500"/>
                </a:lnTo>
                <a:lnTo>
                  <a:pt x="95250" y="39688"/>
                </a:lnTo>
                <a:lnTo>
                  <a:pt x="63500" y="39688"/>
                </a:lnTo>
                <a:close/>
                <a:moveTo>
                  <a:pt x="47625" y="39688"/>
                </a:moveTo>
                <a:lnTo>
                  <a:pt x="15875" y="39688"/>
                </a:lnTo>
                <a:lnTo>
                  <a:pt x="15875" y="63500"/>
                </a:lnTo>
                <a:lnTo>
                  <a:pt x="47625" y="63500"/>
                </a:lnTo>
                <a:lnTo>
                  <a:pt x="47625" y="39688"/>
                </a:lnTo>
                <a:close/>
                <a:moveTo>
                  <a:pt x="0" y="79375"/>
                </a:moveTo>
                <a:lnTo>
                  <a:pt x="0" y="23812"/>
                </a:lnTo>
                <a:cubicBezTo>
                  <a:pt x="0" y="15056"/>
                  <a:pt x="7119" y="7938"/>
                  <a:pt x="15875" y="7938"/>
                </a:cubicBezTo>
                <a:lnTo>
                  <a:pt x="95250" y="7938"/>
                </a:lnTo>
                <a:cubicBezTo>
                  <a:pt x="104006" y="7938"/>
                  <a:pt x="111125" y="15056"/>
                  <a:pt x="111125" y="23812"/>
                </a:cubicBezTo>
                <a:lnTo>
                  <a:pt x="111125" y="103188"/>
                </a:lnTo>
                <a:cubicBezTo>
                  <a:pt x="111125" y="111944"/>
                  <a:pt x="104006" y="119063"/>
                  <a:pt x="95250" y="119063"/>
                </a:cubicBezTo>
                <a:lnTo>
                  <a:pt x="15875" y="119063"/>
                </a:lnTo>
                <a:cubicBezTo>
                  <a:pt x="7119" y="119063"/>
                  <a:pt x="0" y="111944"/>
                  <a:pt x="0" y="103188"/>
                </a:cubicBezTo>
                <a:lnTo>
                  <a:pt x="0" y="79375"/>
                </a:lnTo>
                <a:close/>
                <a:moveTo>
                  <a:pt x="95250" y="79375"/>
                </a:moveTo>
                <a:lnTo>
                  <a:pt x="63500" y="79375"/>
                </a:lnTo>
                <a:lnTo>
                  <a:pt x="63500" y="103188"/>
                </a:lnTo>
                <a:lnTo>
                  <a:pt x="95250" y="103188"/>
                </a:lnTo>
                <a:lnTo>
                  <a:pt x="95250" y="79375"/>
                </a:lnTo>
                <a:close/>
                <a:moveTo>
                  <a:pt x="47625" y="103188"/>
                </a:moveTo>
                <a:lnTo>
                  <a:pt x="47625" y="79375"/>
                </a:lnTo>
                <a:lnTo>
                  <a:pt x="15875" y="79375"/>
                </a:lnTo>
                <a:lnTo>
                  <a:pt x="15875" y="103188"/>
                </a:lnTo>
                <a:lnTo>
                  <a:pt x="47625" y="103188"/>
                </a:lnTo>
                <a:close/>
              </a:path>
            </a:pathLst>
          </a:custGeom>
          <a:solidFill>
            <a:srgbClr val="8D99AE"/>
          </a:solidFill>
          <a:ln/>
        </p:spPr>
        <p:txBody>
          <a:bodyPr/>
          <a:lstStyle/>
          <a:p>
            <a:endParaRPr lang="en-US"/>
          </a:p>
        </p:txBody>
      </p:sp>
      <p:sp>
        <p:nvSpPr>
          <p:cNvPr id="25" name="Text 23"/>
          <p:cNvSpPr/>
          <p:nvPr/>
        </p:nvSpPr>
        <p:spPr>
          <a:xfrm>
            <a:off x="865188" y="4818063"/>
            <a:ext cx="119062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Database Records</a:t>
            </a:r>
            <a:endParaRPr lang="en-US" sz="1600" dirty="0"/>
          </a:p>
        </p:txBody>
      </p:sp>
      <p:sp>
        <p:nvSpPr>
          <p:cNvPr id="26" name="Text 24"/>
          <p:cNvSpPr/>
          <p:nvPr/>
        </p:nvSpPr>
        <p:spPr>
          <a:xfrm>
            <a:off x="642938" y="5103813"/>
            <a:ext cx="57150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Process database query results as objects</a:t>
            </a:r>
            <a:endParaRPr lang="en-US" sz="1600" dirty="0"/>
          </a:p>
        </p:txBody>
      </p:sp>
      <p:sp>
        <p:nvSpPr>
          <p:cNvPr id="27" name="Shape 25"/>
          <p:cNvSpPr/>
          <p:nvPr/>
        </p:nvSpPr>
        <p:spPr>
          <a:xfrm>
            <a:off x="500063" y="5516563"/>
            <a:ext cx="5921375" cy="730250"/>
          </a:xfrm>
          <a:custGeom>
            <a:avLst/>
            <a:gdLst/>
            <a:ahLst/>
            <a:cxnLst/>
            <a:rect l="l" t="t" r="r" b="b"/>
            <a:pathLst>
              <a:path w="5921375" h="730250">
                <a:moveTo>
                  <a:pt x="31750" y="0"/>
                </a:moveTo>
                <a:lnTo>
                  <a:pt x="5857872" y="0"/>
                </a:lnTo>
                <a:cubicBezTo>
                  <a:pt x="5892944" y="0"/>
                  <a:pt x="5921375" y="28431"/>
                  <a:pt x="5921375" y="63503"/>
                </a:cubicBezTo>
                <a:lnTo>
                  <a:pt x="5921375" y="666747"/>
                </a:lnTo>
                <a:cubicBezTo>
                  <a:pt x="5921375" y="701819"/>
                  <a:pt x="5892944" y="730250"/>
                  <a:pt x="58578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8" name="Shape 26"/>
          <p:cNvSpPr/>
          <p:nvPr/>
        </p:nvSpPr>
        <p:spPr>
          <a:xfrm>
            <a:off x="500063" y="5516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9" name="Shape 27"/>
          <p:cNvSpPr/>
          <p:nvPr/>
        </p:nvSpPr>
        <p:spPr>
          <a:xfrm>
            <a:off x="658813" y="5691188"/>
            <a:ext cx="127000" cy="127000"/>
          </a:xfrm>
          <a:custGeom>
            <a:avLst/>
            <a:gdLst/>
            <a:ahLst/>
            <a:cxnLst/>
            <a:rect l="l" t="t" r="r" b="b"/>
            <a:pathLst>
              <a:path w="127000" h="127000">
                <a:moveTo>
                  <a:pt x="11906" y="15875"/>
                </a:moveTo>
                <a:cubicBezTo>
                  <a:pt x="5333" y="15875"/>
                  <a:pt x="0" y="21208"/>
                  <a:pt x="0" y="27781"/>
                </a:cubicBezTo>
                <a:cubicBezTo>
                  <a:pt x="0" y="31527"/>
                  <a:pt x="1761" y="35049"/>
                  <a:pt x="4763" y="37306"/>
                </a:cubicBezTo>
                <a:lnTo>
                  <a:pt x="56356" y="76002"/>
                </a:lnTo>
                <a:cubicBezTo>
                  <a:pt x="60598" y="79177"/>
                  <a:pt x="66402" y="79177"/>
                  <a:pt x="70644" y="76002"/>
                </a:cubicBezTo>
                <a:lnTo>
                  <a:pt x="122238" y="37306"/>
                </a:lnTo>
                <a:cubicBezTo>
                  <a:pt x="125239" y="35049"/>
                  <a:pt x="127000" y="31527"/>
                  <a:pt x="127000" y="27781"/>
                </a:cubicBezTo>
                <a:cubicBezTo>
                  <a:pt x="127000" y="21208"/>
                  <a:pt x="121667" y="15875"/>
                  <a:pt x="115094" y="15875"/>
                </a:cubicBezTo>
                <a:lnTo>
                  <a:pt x="11906" y="15875"/>
                </a:lnTo>
                <a:close/>
                <a:moveTo>
                  <a:pt x="0" y="48617"/>
                </a:moveTo>
                <a:lnTo>
                  <a:pt x="0" y="95250"/>
                </a:lnTo>
                <a:cubicBezTo>
                  <a:pt x="0" y="104006"/>
                  <a:pt x="7119" y="111125"/>
                  <a:pt x="15875" y="111125"/>
                </a:cubicBezTo>
                <a:lnTo>
                  <a:pt x="111125" y="111125"/>
                </a:lnTo>
                <a:cubicBezTo>
                  <a:pt x="119881" y="111125"/>
                  <a:pt x="127000" y="104006"/>
                  <a:pt x="127000" y="95250"/>
                </a:cubicBezTo>
                <a:lnTo>
                  <a:pt x="127000" y="48617"/>
                </a:lnTo>
                <a:lnTo>
                  <a:pt x="77788" y="85527"/>
                </a:lnTo>
                <a:cubicBezTo>
                  <a:pt x="69329" y="91877"/>
                  <a:pt x="57671" y="91877"/>
                  <a:pt x="49213" y="85527"/>
                </a:cubicBezTo>
                <a:lnTo>
                  <a:pt x="0" y="48617"/>
                </a:lnTo>
                <a:close/>
              </a:path>
            </a:pathLst>
          </a:custGeom>
          <a:solidFill>
            <a:srgbClr val="2D3142"/>
          </a:solidFill>
          <a:ln/>
        </p:spPr>
        <p:txBody>
          <a:bodyPr/>
          <a:lstStyle/>
          <a:p>
            <a:endParaRPr lang="en-US"/>
          </a:p>
        </p:txBody>
      </p:sp>
      <p:sp>
        <p:nvSpPr>
          <p:cNvPr id="30" name="Text 28"/>
          <p:cNvSpPr/>
          <p:nvPr/>
        </p:nvSpPr>
        <p:spPr>
          <a:xfrm>
            <a:off x="865188" y="5643563"/>
            <a:ext cx="1119188"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Message Queues</a:t>
            </a:r>
            <a:endParaRPr lang="en-US" sz="1600" dirty="0"/>
          </a:p>
        </p:txBody>
      </p:sp>
      <p:sp>
        <p:nvSpPr>
          <p:cNvPr id="31" name="Text 29"/>
          <p:cNvSpPr/>
          <p:nvPr/>
        </p:nvSpPr>
        <p:spPr>
          <a:xfrm>
            <a:off x="642938" y="5929313"/>
            <a:ext cx="57150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Stream messages from Kafka, RabbitMQ, etc.</a:t>
            </a:r>
            <a:endParaRPr lang="en-US" sz="1600" dirty="0"/>
          </a:p>
        </p:txBody>
      </p:sp>
      <p:sp>
        <p:nvSpPr>
          <p:cNvPr id="32" name="Shape 30"/>
          <p:cNvSpPr/>
          <p:nvPr/>
        </p:nvSpPr>
        <p:spPr>
          <a:xfrm>
            <a:off x="6749231" y="1083469"/>
            <a:ext cx="5119688" cy="4516438"/>
          </a:xfrm>
          <a:custGeom>
            <a:avLst/>
            <a:gdLst/>
            <a:ahLst/>
            <a:cxnLst/>
            <a:rect l="l" t="t" r="r" b="b"/>
            <a:pathLst>
              <a:path w="5119688" h="4516438">
                <a:moveTo>
                  <a:pt x="95252" y="0"/>
                </a:moveTo>
                <a:lnTo>
                  <a:pt x="5024436" y="0"/>
                </a:lnTo>
                <a:cubicBezTo>
                  <a:pt x="5077042" y="0"/>
                  <a:pt x="5119688" y="42646"/>
                  <a:pt x="5119688" y="95252"/>
                </a:cubicBezTo>
                <a:lnTo>
                  <a:pt x="5119688" y="4421186"/>
                </a:lnTo>
                <a:cubicBezTo>
                  <a:pt x="5119688" y="4473792"/>
                  <a:pt x="5077042" y="4516438"/>
                  <a:pt x="5024436" y="4516438"/>
                </a:cubicBezTo>
                <a:lnTo>
                  <a:pt x="95252" y="4516438"/>
                </a:lnTo>
                <a:cubicBezTo>
                  <a:pt x="42646" y="4516438"/>
                  <a:pt x="0" y="4473792"/>
                  <a:pt x="0" y="4421186"/>
                </a:cubicBezTo>
                <a:lnTo>
                  <a:pt x="0" y="95252"/>
                </a:lnTo>
                <a:cubicBezTo>
                  <a:pt x="0" y="42681"/>
                  <a:pt x="42681" y="0"/>
                  <a:pt x="95252" y="0"/>
                </a:cubicBezTo>
                <a:close/>
              </a:path>
            </a:pathLst>
          </a:custGeom>
          <a:solidFill>
            <a:srgbClr val="EAE7D6"/>
          </a:solidFill>
          <a:ln/>
        </p:spPr>
        <p:txBody>
          <a:bodyPr/>
          <a:lstStyle/>
          <a:p>
            <a:endParaRPr lang="en-US"/>
          </a:p>
        </p:txBody>
      </p:sp>
      <p:sp>
        <p:nvSpPr>
          <p:cNvPr id="33" name="Shape 31"/>
          <p:cNvSpPr/>
          <p:nvPr/>
        </p:nvSpPr>
        <p:spPr>
          <a:xfrm>
            <a:off x="6923856" y="1277938"/>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8D99AE"/>
          </a:solidFill>
          <a:ln/>
        </p:spPr>
        <p:txBody>
          <a:bodyPr/>
          <a:lstStyle/>
          <a:p>
            <a:endParaRPr lang="en-US"/>
          </a:p>
        </p:txBody>
      </p:sp>
      <p:sp>
        <p:nvSpPr>
          <p:cNvPr id="34" name="Text 32"/>
          <p:cNvSpPr/>
          <p:nvPr/>
        </p:nvSpPr>
        <p:spPr>
          <a:xfrm>
            <a:off x="7245325" y="1246188"/>
            <a:ext cx="1397000"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Implementation</a:t>
            </a:r>
            <a:endParaRPr lang="en-US" sz="1600" dirty="0"/>
          </a:p>
        </p:txBody>
      </p:sp>
      <p:sp>
        <p:nvSpPr>
          <p:cNvPr id="35" name="Shape 33"/>
          <p:cNvSpPr/>
          <p:nvPr/>
        </p:nvSpPr>
        <p:spPr>
          <a:xfrm>
            <a:off x="6911950" y="1627188"/>
            <a:ext cx="4794250" cy="2254250"/>
          </a:xfrm>
          <a:custGeom>
            <a:avLst/>
            <a:gdLst/>
            <a:ahLst/>
            <a:cxnLst/>
            <a:rect l="l" t="t" r="r" b="b"/>
            <a:pathLst>
              <a:path w="4794250" h="2254250">
                <a:moveTo>
                  <a:pt x="63502" y="0"/>
                </a:moveTo>
                <a:lnTo>
                  <a:pt x="4730748" y="0"/>
                </a:lnTo>
                <a:cubicBezTo>
                  <a:pt x="4765819" y="0"/>
                  <a:pt x="4794250" y="28431"/>
                  <a:pt x="4794250" y="63502"/>
                </a:cubicBezTo>
                <a:lnTo>
                  <a:pt x="4794250" y="2190748"/>
                </a:lnTo>
                <a:cubicBezTo>
                  <a:pt x="4794250" y="2225819"/>
                  <a:pt x="4765819" y="2254250"/>
                  <a:pt x="4730748" y="2254250"/>
                </a:cubicBezTo>
                <a:lnTo>
                  <a:pt x="63502" y="2254250"/>
                </a:lnTo>
                <a:cubicBezTo>
                  <a:pt x="28431" y="2254250"/>
                  <a:pt x="0" y="2225819"/>
                  <a:pt x="0" y="2190748"/>
                </a:cubicBezTo>
                <a:lnTo>
                  <a:pt x="0" y="63502"/>
                </a:lnTo>
                <a:cubicBezTo>
                  <a:pt x="0" y="28454"/>
                  <a:pt x="28454" y="0"/>
                  <a:pt x="63502" y="0"/>
                </a:cubicBezTo>
                <a:close/>
              </a:path>
            </a:pathLst>
          </a:custGeom>
          <a:solidFill>
            <a:srgbClr val="EAE7D6"/>
          </a:solidFill>
          <a:ln/>
        </p:spPr>
        <p:txBody>
          <a:bodyPr/>
          <a:lstStyle/>
          <a:p>
            <a:endParaRPr lang="en-US"/>
          </a:p>
        </p:txBody>
      </p:sp>
      <p:sp>
        <p:nvSpPr>
          <p:cNvPr id="36" name="Text 34"/>
          <p:cNvSpPr/>
          <p:nvPr/>
        </p:nvSpPr>
        <p:spPr>
          <a:xfrm>
            <a:off x="7038950" y="1754188"/>
            <a:ext cx="4595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Creating Object Mode Stream</a:t>
            </a:r>
            <a:endParaRPr lang="en-US" sz="1600" dirty="0"/>
          </a:p>
        </p:txBody>
      </p:sp>
      <p:sp>
        <p:nvSpPr>
          <p:cNvPr id="37" name="Shape 35"/>
          <p:cNvSpPr/>
          <p:nvPr/>
        </p:nvSpPr>
        <p:spPr>
          <a:xfrm>
            <a:off x="7038950" y="1976438"/>
            <a:ext cx="4540250" cy="1778000"/>
          </a:xfrm>
          <a:custGeom>
            <a:avLst/>
            <a:gdLst/>
            <a:ahLst/>
            <a:cxnLst/>
            <a:rect l="l" t="t" r="r" b="b"/>
            <a:pathLst>
              <a:path w="4540250" h="1778000">
                <a:moveTo>
                  <a:pt x="31755" y="0"/>
                </a:moveTo>
                <a:lnTo>
                  <a:pt x="4508495" y="0"/>
                </a:lnTo>
                <a:cubicBezTo>
                  <a:pt x="4526033" y="0"/>
                  <a:pt x="4540250" y="14217"/>
                  <a:pt x="4540250" y="31755"/>
                </a:cubicBezTo>
                <a:lnTo>
                  <a:pt x="4540250" y="1746245"/>
                </a:lnTo>
                <a:cubicBezTo>
                  <a:pt x="4540250" y="1763783"/>
                  <a:pt x="4526033" y="1778000"/>
                  <a:pt x="4508495" y="1778000"/>
                </a:cubicBezTo>
                <a:lnTo>
                  <a:pt x="31755" y="1778000"/>
                </a:lnTo>
                <a:cubicBezTo>
                  <a:pt x="14217" y="1778000"/>
                  <a:pt x="0" y="1763783"/>
                  <a:pt x="0" y="1746245"/>
                </a:cubicBezTo>
                <a:lnTo>
                  <a:pt x="0" y="31755"/>
                </a:lnTo>
                <a:cubicBezTo>
                  <a:pt x="0" y="14229"/>
                  <a:pt x="14229" y="0"/>
                  <a:pt x="31755" y="0"/>
                </a:cubicBezTo>
                <a:close/>
              </a:path>
            </a:pathLst>
          </a:custGeom>
          <a:solidFill>
            <a:srgbClr val="EAE7D6"/>
          </a:solidFill>
          <a:ln/>
        </p:spPr>
        <p:txBody>
          <a:bodyPr/>
          <a:lstStyle/>
          <a:p>
            <a:endParaRPr lang="en-US"/>
          </a:p>
        </p:txBody>
      </p:sp>
      <p:sp>
        <p:nvSpPr>
          <p:cNvPr id="38" name="Text 36"/>
          <p:cNvSpPr/>
          <p:nvPr/>
        </p:nvSpPr>
        <p:spPr>
          <a:xfrm>
            <a:off x="7134200" y="2071688"/>
            <a:ext cx="44053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const { Transform } = require('stream');</a:t>
            </a:r>
            <a:endParaRPr lang="en-US" sz="1600" dirty="0"/>
          </a:p>
        </p:txBody>
      </p:sp>
      <p:sp>
        <p:nvSpPr>
          <p:cNvPr id="39" name="Text 37"/>
          <p:cNvSpPr/>
          <p:nvPr/>
        </p:nvSpPr>
        <p:spPr>
          <a:xfrm>
            <a:off x="7134200" y="2389188"/>
            <a:ext cx="4405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const parser = new Transform({</a:t>
            </a:r>
            <a:endParaRPr lang="en-US" sz="1600" dirty="0"/>
          </a:p>
        </p:txBody>
      </p:sp>
      <p:sp>
        <p:nvSpPr>
          <p:cNvPr id="40" name="Text 38"/>
          <p:cNvSpPr/>
          <p:nvPr/>
        </p:nvSpPr>
        <p:spPr>
          <a:xfrm>
            <a:off x="7134200" y="254793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objectMode: true,</a:t>
            </a:r>
            <a:endParaRPr lang="en-US" sz="1600" dirty="0"/>
          </a:p>
        </p:txBody>
      </p:sp>
      <p:sp>
        <p:nvSpPr>
          <p:cNvPr id="41" name="Text 39"/>
          <p:cNvSpPr/>
          <p:nvPr/>
        </p:nvSpPr>
        <p:spPr>
          <a:xfrm>
            <a:off x="7134200" y="270668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transform(chunk, enc, cb) {</a:t>
            </a:r>
            <a:endParaRPr lang="en-US" sz="1600" dirty="0"/>
          </a:p>
        </p:txBody>
      </p:sp>
      <p:sp>
        <p:nvSpPr>
          <p:cNvPr id="42" name="Text 40"/>
          <p:cNvSpPr/>
          <p:nvPr/>
        </p:nvSpPr>
        <p:spPr>
          <a:xfrm>
            <a:off x="7134200" y="286543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 chunk is a JavaScript object</a:t>
            </a:r>
            <a:endParaRPr lang="en-US" sz="1600" dirty="0"/>
          </a:p>
        </p:txBody>
      </p:sp>
      <p:sp>
        <p:nvSpPr>
          <p:cNvPr id="43" name="Text 41"/>
          <p:cNvSpPr/>
          <p:nvPr/>
        </p:nvSpPr>
        <p:spPr>
          <a:xfrm>
            <a:off x="7134200" y="302418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this.push(processObject(chunk));</a:t>
            </a:r>
            <a:endParaRPr lang="en-US" sz="1600" dirty="0"/>
          </a:p>
        </p:txBody>
      </p:sp>
      <p:sp>
        <p:nvSpPr>
          <p:cNvPr id="44" name="Text 42"/>
          <p:cNvSpPr/>
          <p:nvPr/>
        </p:nvSpPr>
        <p:spPr>
          <a:xfrm>
            <a:off x="7134200" y="318293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cb();</a:t>
            </a:r>
            <a:endParaRPr lang="en-US" sz="1600" dirty="0"/>
          </a:p>
        </p:txBody>
      </p:sp>
      <p:sp>
        <p:nvSpPr>
          <p:cNvPr id="45" name="Text 43"/>
          <p:cNvSpPr/>
          <p:nvPr/>
        </p:nvSpPr>
        <p:spPr>
          <a:xfrm>
            <a:off x="7134200" y="334168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46" name="Text 44"/>
          <p:cNvSpPr/>
          <p:nvPr/>
        </p:nvSpPr>
        <p:spPr>
          <a:xfrm>
            <a:off x="7134200" y="3500438"/>
            <a:ext cx="4405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a:t>
            </a:r>
            <a:endParaRPr lang="en-US" sz="1600" dirty="0"/>
          </a:p>
        </p:txBody>
      </p:sp>
      <p:sp>
        <p:nvSpPr>
          <p:cNvPr id="47" name="Shape 45"/>
          <p:cNvSpPr/>
          <p:nvPr/>
        </p:nvSpPr>
        <p:spPr>
          <a:xfrm>
            <a:off x="6911950" y="3976687"/>
            <a:ext cx="4794250" cy="1460500"/>
          </a:xfrm>
          <a:custGeom>
            <a:avLst/>
            <a:gdLst/>
            <a:ahLst/>
            <a:cxnLst/>
            <a:rect l="l" t="t" r="r" b="b"/>
            <a:pathLst>
              <a:path w="4794250" h="1460500">
                <a:moveTo>
                  <a:pt x="63503" y="0"/>
                </a:moveTo>
                <a:lnTo>
                  <a:pt x="4730747" y="0"/>
                </a:lnTo>
                <a:cubicBezTo>
                  <a:pt x="4765819" y="0"/>
                  <a:pt x="4794250" y="28431"/>
                  <a:pt x="4794250" y="63503"/>
                </a:cubicBezTo>
                <a:lnTo>
                  <a:pt x="4794250" y="1396997"/>
                </a:lnTo>
                <a:cubicBezTo>
                  <a:pt x="4794250" y="1432069"/>
                  <a:pt x="4765819" y="1460500"/>
                  <a:pt x="4730747" y="1460500"/>
                </a:cubicBezTo>
                <a:lnTo>
                  <a:pt x="63503" y="1460500"/>
                </a:lnTo>
                <a:cubicBezTo>
                  <a:pt x="28431" y="1460500"/>
                  <a:pt x="0" y="1432069"/>
                  <a:pt x="0" y="1396997"/>
                </a:cubicBezTo>
                <a:lnTo>
                  <a:pt x="0" y="63503"/>
                </a:lnTo>
                <a:cubicBezTo>
                  <a:pt x="0" y="28455"/>
                  <a:pt x="28455" y="0"/>
                  <a:pt x="63503" y="0"/>
                </a:cubicBezTo>
                <a:close/>
              </a:path>
            </a:pathLst>
          </a:custGeom>
          <a:solidFill>
            <a:srgbClr val="EAE7D6"/>
          </a:solidFill>
          <a:ln/>
        </p:spPr>
        <p:txBody>
          <a:bodyPr/>
          <a:lstStyle/>
          <a:p>
            <a:endParaRPr lang="en-US"/>
          </a:p>
        </p:txBody>
      </p:sp>
      <p:sp>
        <p:nvSpPr>
          <p:cNvPr id="48" name="Text 46"/>
          <p:cNvSpPr/>
          <p:nvPr/>
        </p:nvSpPr>
        <p:spPr>
          <a:xfrm>
            <a:off x="7038950" y="4103688"/>
            <a:ext cx="4595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highWaterMark in Object Mode</a:t>
            </a:r>
            <a:endParaRPr lang="en-US" sz="1600" dirty="0"/>
          </a:p>
        </p:txBody>
      </p:sp>
      <p:sp>
        <p:nvSpPr>
          <p:cNvPr id="49" name="Shape 47"/>
          <p:cNvSpPr/>
          <p:nvPr/>
        </p:nvSpPr>
        <p:spPr>
          <a:xfrm>
            <a:off x="7038950" y="4325938"/>
            <a:ext cx="4540250" cy="984250"/>
          </a:xfrm>
          <a:custGeom>
            <a:avLst/>
            <a:gdLst/>
            <a:ahLst/>
            <a:cxnLst/>
            <a:rect l="l" t="t" r="r" b="b"/>
            <a:pathLst>
              <a:path w="4540250" h="984250">
                <a:moveTo>
                  <a:pt x="31752" y="0"/>
                </a:moveTo>
                <a:lnTo>
                  <a:pt x="4508498" y="0"/>
                </a:lnTo>
                <a:cubicBezTo>
                  <a:pt x="4526034" y="0"/>
                  <a:pt x="4540250" y="14216"/>
                  <a:pt x="4540250" y="31752"/>
                </a:cubicBezTo>
                <a:lnTo>
                  <a:pt x="4540250" y="952498"/>
                </a:lnTo>
                <a:cubicBezTo>
                  <a:pt x="4540250" y="970034"/>
                  <a:pt x="4526034" y="984250"/>
                  <a:pt x="4508498" y="984250"/>
                </a:cubicBezTo>
                <a:lnTo>
                  <a:pt x="31752" y="984250"/>
                </a:lnTo>
                <a:cubicBezTo>
                  <a:pt x="14216" y="984250"/>
                  <a:pt x="0" y="970034"/>
                  <a:pt x="0" y="952498"/>
                </a:cubicBezTo>
                <a:lnTo>
                  <a:pt x="0" y="31752"/>
                </a:lnTo>
                <a:cubicBezTo>
                  <a:pt x="0" y="14228"/>
                  <a:pt x="14228" y="0"/>
                  <a:pt x="31752" y="0"/>
                </a:cubicBezTo>
                <a:close/>
              </a:path>
            </a:pathLst>
          </a:custGeom>
          <a:solidFill>
            <a:srgbClr val="EAE7D6"/>
          </a:solidFill>
          <a:ln/>
        </p:spPr>
        <p:txBody>
          <a:bodyPr/>
          <a:lstStyle/>
          <a:p>
            <a:endParaRPr lang="en-US"/>
          </a:p>
        </p:txBody>
      </p:sp>
      <p:sp>
        <p:nvSpPr>
          <p:cNvPr id="50" name="Text 48"/>
          <p:cNvSpPr/>
          <p:nvPr/>
        </p:nvSpPr>
        <p:spPr>
          <a:xfrm>
            <a:off x="7134200" y="4421188"/>
            <a:ext cx="44053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 Default: 16 objects (not bytes!)</a:t>
            </a:r>
            <a:endParaRPr lang="en-US" sz="1600" dirty="0"/>
          </a:p>
        </p:txBody>
      </p:sp>
      <p:sp>
        <p:nvSpPr>
          <p:cNvPr id="51" name="Text 49"/>
          <p:cNvSpPr/>
          <p:nvPr/>
        </p:nvSpPr>
        <p:spPr>
          <a:xfrm>
            <a:off x="7134200" y="4579938"/>
            <a:ext cx="4405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new Readable({</a:t>
            </a:r>
            <a:endParaRPr lang="en-US" sz="1600" dirty="0"/>
          </a:p>
        </p:txBody>
      </p:sp>
      <p:sp>
        <p:nvSpPr>
          <p:cNvPr id="52" name="Text 50"/>
          <p:cNvSpPr/>
          <p:nvPr/>
        </p:nvSpPr>
        <p:spPr>
          <a:xfrm>
            <a:off x="7134200" y="473868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objectMode: true,</a:t>
            </a:r>
            <a:endParaRPr lang="en-US" sz="1600" dirty="0"/>
          </a:p>
        </p:txBody>
      </p:sp>
      <p:sp>
        <p:nvSpPr>
          <p:cNvPr id="53" name="Text 51"/>
          <p:cNvSpPr/>
          <p:nvPr/>
        </p:nvSpPr>
        <p:spPr>
          <a:xfrm>
            <a:off x="7134200" y="4897438"/>
            <a:ext cx="44053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highWaterMark: 10 // 10 objects</a:t>
            </a:r>
            <a:endParaRPr lang="en-US" sz="1600" dirty="0"/>
          </a:p>
        </p:txBody>
      </p:sp>
      <p:sp>
        <p:nvSpPr>
          <p:cNvPr id="54" name="Text 52"/>
          <p:cNvSpPr/>
          <p:nvPr/>
        </p:nvSpPr>
        <p:spPr>
          <a:xfrm>
            <a:off x="7134200" y="5056188"/>
            <a:ext cx="4405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a:t>
            </a:r>
            <a:endParaRPr lang="en-US" sz="1600" dirty="0"/>
          </a:p>
        </p:txBody>
      </p:sp>
      <p:sp>
        <p:nvSpPr>
          <p:cNvPr id="55" name="Shape 53"/>
          <p:cNvSpPr/>
          <p:nvPr/>
        </p:nvSpPr>
        <p:spPr>
          <a:xfrm>
            <a:off x="6749231" y="5734844"/>
            <a:ext cx="5119688" cy="1516063"/>
          </a:xfrm>
          <a:custGeom>
            <a:avLst/>
            <a:gdLst/>
            <a:ahLst/>
            <a:cxnLst/>
            <a:rect l="l" t="t" r="r" b="b"/>
            <a:pathLst>
              <a:path w="5119688" h="1516063">
                <a:moveTo>
                  <a:pt x="95254" y="0"/>
                </a:moveTo>
                <a:lnTo>
                  <a:pt x="5024433" y="0"/>
                </a:lnTo>
                <a:cubicBezTo>
                  <a:pt x="5077041" y="0"/>
                  <a:pt x="5119687" y="42647"/>
                  <a:pt x="5119687" y="95254"/>
                </a:cubicBezTo>
                <a:lnTo>
                  <a:pt x="5119688" y="1420808"/>
                </a:lnTo>
                <a:cubicBezTo>
                  <a:pt x="5119687" y="1473416"/>
                  <a:pt x="5077041" y="1516063"/>
                  <a:pt x="5024433" y="1516063"/>
                </a:cubicBezTo>
                <a:lnTo>
                  <a:pt x="95254" y="1516063"/>
                </a:lnTo>
                <a:cubicBezTo>
                  <a:pt x="42647" y="1516063"/>
                  <a:pt x="0" y="1473416"/>
                  <a:pt x="0" y="1420808"/>
                </a:cubicBezTo>
                <a:lnTo>
                  <a:pt x="0" y="95254"/>
                </a:lnTo>
                <a:cubicBezTo>
                  <a:pt x="0" y="42647"/>
                  <a:pt x="42647" y="0"/>
                  <a:pt x="95254" y="0"/>
                </a:cubicBezTo>
                <a:close/>
              </a:path>
            </a:pathLst>
          </a:custGeom>
          <a:solidFill>
            <a:srgbClr val="EAE7D6"/>
          </a:solidFill>
          <a:ln/>
        </p:spPr>
        <p:txBody>
          <a:bodyPr/>
          <a:lstStyle/>
          <a:p>
            <a:endParaRPr lang="en-US"/>
          </a:p>
        </p:txBody>
      </p:sp>
      <p:sp>
        <p:nvSpPr>
          <p:cNvPr id="56" name="Shape 54"/>
          <p:cNvSpPr/>
          <p:nvPr/>
        </p:nvSpPr>
        <p:spPr>
          <a:xfrm>
            <a:off x="6941716" y="5929313"/>
            <a:ext cx="138906" cy="158750"/>
          </a:xfrm>
          <a:custGeom>
            <a:avLst/>
            <a:gdLst/>
            <a:ahLst/>
            <a:cxnLst/>
            <a:rect l="l" t="t" r="r" b="b"/>
            <a:pathLst>
              <a:path w="138906" h="158750">
                <a:moveTo>
                  <a:pt x="69453" y="76895"/>
                </a:moveTo>
                <a:cubicBezTo>
                  <a:pt x="48918" y="76895"/>
                  <a:pt x="32246" y="60223"/>
                  <a:pt x="32246" y="39688"/>
                </a:cubicBezTo>
                <a:cubicBezTo>
                  <a:pt x="32246" y="19152"/>
                  <a:pt x="48918" y="2480"/>
                  <a:pt x="69453" y="2480"/>
                </a:cubicBezTo>
                <a:cubicBezTo>
                  <a:pt x="89988" y="2480"/>
                  <a:pt x="106660" y="19152"/>
                  <a:pt x="106660" y="39687"/>
                </a:cubicBezTo>
                <a:cubicBezTo>
                  <a:pt x="106660" y="60223"/>
                  <a:pt x="89988" y="76895"/>
                  <a:pt x="69453" y="76895"/>
                </a:cubicBezTo>
                <a:close/>
                <a:moveTo>
                  <a:pt x="59996" y="94258"/>
                </a:moveTo>
                <a:lnTo>
                  <a:pt x="78910" y="94258"/>
                </a:lnTo>
                <a:cubicBezTo>
                  <a:pt x="81917" y="94258"/>
                  <a:pt x="84336" y="96676"/>
                  <a:pt x="84336" y="99684"/>
                </a:cubicBezTo>
                <a:cubicBezTo>
                  <a:pt x="84336" y="100986"/>
                  <a:pt x="83871" y="102226"/>
                  <a:pt x="83034" y="103219"/>
                </a:cubicBezTo>
                <a:lnTo>
                  <a:pt x="74538" y="113140"/>
                </a:lnTo>
                <a:lnTo>
                  <a:pt x="84150" y="148828"/>
                </a:lnTo>
                <a:lnTo>
                  <a:pt x="84336" y="148828"/>
                </a:lnTo>
                <a:lnTo>
                  <a:pt x="95064" y="105885"/>
                </a:lnTo>
                <a:cubicBezTo>
                  <a:pt x="95746" y="103188"/>
                  <a:pt x="98506" y="101544"/>
                  <a:pt x="101110" y="102536"/>
                </a:cubicBezTo>
                <a:cubicBezTo>
                  <a:pt x="120303" y="109854"/>
                  <a:pt x="133945" y="128457"/>
                  <a:pt x="133945" y="150223"/>
                </a:cubicBezTo>
                <a:cubicBezTo>
                  <a:pt x="133945" y="154905"/>
                  <a:pt x="130132" y="158719"/>
                  <a:pt x="125450" y="158719"/>
                </a:cubicBezTo>
                <a:lnTo>
                  <a:pt x="13457" y="158750"/>
                </a:lnTo>
                <a:cubicBezTo>
                  <a:pt x="8775" y="158750"/>
                  <a:pt x="4961" y="154936"/>
                  <a:pt x="4961" y="150254"/>
                </a:cubicBezTo>
                <a:cubicBezTo>
                  <a:pt x="4961" y="128488"/>
                  <a:pt x="18604" y="109885"/>
                  <a:pt x="37796" y="102567"/>
                </a:cubicBezTo>
                <a:cubicBezTo>
                  <a:pt x="40401" y="101575"/>
                  <a:pt x="43160" y="103219"/>
                  <a:pt x="43842" y="105916"/>
                </a:cubicBezTo>
                <a:lnTo>
                  <a:pt x="54570" y="148859"/>
                </a:lnTo>
                <a:lnTo>
                  <a:pt x="54756" y="148859"/>
                </a:lnTo>
                <a:lnTo>
                  <a:pt x="64368" y="113171"/>
                </a:lnTo>
                <a:lnTo>
                  <a:pt x="55873" y="103250"/>
                </a:lnTo>
                <a:cubicBezTo>
                  <a:pt x="55035" y="102257"/>
                  <a:pt x="54570" y="101017"/>
                  <a:pt x="54570" y="99715"/>
                </a:cubicBezTo>
                <a:cubicBezTo>
                  <a:pt x="54570" y="96707"/>
                  <a:pt x="56989" y="94289"/>
                  <a:pt x="59996" y="94289"/>
                </a:cubicBezTo>
                <a:close/>
              </a:path>
            </a:pathLst>
          </a:custGeom>
          <a:solidFill>
            <a:srgbClr val="E07A5F"/>
          </a:solidFill>
          <a:ln/>
        </p:spPr>
        <p:txBody>
          <a:bodyPr/>
          <a:lstStyle/>
          <a:p>
            <a:endParaRPr lang="en-US"/>
          </a:p>
        </p:txBody>
      </p:sp>
      <p:sp>
        <p:nvSpPr>
          <p:cNvPr id="57" name="Text 55"/>
          <p:cNvSpPr/>
          <p:nvPr/>
        </p:nvSpPr>
        <p:spPr>
          <a:xfrm>
            <a:off x="7205638" y="5897563"/>
            <a:ext cx="1730375"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Backend Engineer Focus</a:t>
            </a:r>
            <a:endParaRPr lang="en-US" sz="1600" dirty="0"/>
          </a:p>
        </p:txBody>
      </p:sp>
      <p:sp>
        <p:nvSpPr>
          <p:cNvPr id="58" name="Shape 56"/>
          <p:cNvSpPr/>
          <p:nvPr/>
        </p:nvSpPr>
        <p:spPr>
          <a:xfrm>
            <a:off x="6911950" y="6215063"/>
            <a:ext cx="4794250" cy="873125"/>
          </a:xfrm>
          <a:custGeom>
            <a:avLst/>
            <a:gdLst/>
            <a:ahLst/>
            <a:cxnLst/>
            <a:rect l="l" t="t" r="r" b="b"/>
            <a:pathLst>
              <a:path w="4794250" h="873125">
                <a:moveTo>
                  <a:pt x="63502" y="0"/>
                </a:moveTo>
                <a:lnTo>
                  <a:pt x="4730748" y="0"/>
                </a:lnTo>
                <a:cubicBezTo>
                  <a:pt x="4765819" y="0"/>
                  <a:pt x="4794250" y="28431"/>
                  <a:pt x="4794250" y="63502"/>
                </a:cubicBezTo>
                <a:lnTo>
                  <a:pt x="4794250" y="809623"/>
                </a:lnTo>
                <a:cubicBezTo>
                  <a:pt x="4794250" y="844694"/>
                  <a:pt x="4765819" y="873125"/>
                  <a:pt x="4730748" y="873125"/>
                </a:cubicBezTo>
                <a:lnTo>
                  <a:pt x="63502" y="873125"/>
                </a:lnTo>
                <a:cubicBezTo>
                  <a:pt x="28431" y="873125"/>
                  <a:pt x="0" y="844694"/>
                  <a:pt x="0" y="809623"/>
                </a:cubicBezTo>
                <a:lnTo>
                  <a:pt x="0" y="63502"/>
                </a:lnTo>
                <a:cubicBezTo>
                  <a:pt x="0" y="28454"/>
                  <a:pt x="28454" y="0"/>
                  <a:pt x="63502" y="0"/>
                </a:cubicBezTo>
                <a:close/>
              </a:path>
            </a:pathLst>
          </a:custGeom>
          <a:solidFill>
            <a:srgbClr val="EAE7D6"/>
          </a:solidFill>
          <a:ln/>
        </p:spPr>
        <p:txBody>
          <a:bodyPr/>
          <a:lstStyle/>
          <a:p>
            <a:endParaRPr lang="en-US"/>
          </a:p>
        </p:txBody>
      </p:sp>
      <p:sp>
        <p:nvSpPr>
          <p:cNvPr id="59" name="Text 57"/>
          <p:cNvSpPr/>
          <p:nvPr/>
        </p:nvSpPr>
        <p:spPr>
          <a:xfrm>
            <a:off x="7038950" y="6342063"/>
            <a:ext cx="4603750" cy="619125"/>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Object mode is </a:t>
            </a:r>
            <a:r>
              <a:rPr lang="en-US" sz="1000" b="1" dirty="0">
                <a:solidFill>
                  <a:srgbClr val="2D3142"/>
                </a:solidFill>
                <a:latin typeface="Quattrocento Sans" pitchFamily="34" charset="0"/>
                <a:ea typeface="Quattrocento Sans" pitchFamily="34" charset="-122"/>
                <a:cs typeface="Quattrocento Sans" pitchFamily="34" charset="-120"/>
              </a:rPr>
              <a:t>essential for backend engineers</a:t>
            </a:r>
            <a:r>
              <a:rPr lang="en-US" sz="1000" dirty="0">
                <a:solidFill>
                  <a:srgbClr val="2D3142"/>
                </a:solidFill>
                <a:latin typeface="Quattrocento Sans" pitchFamily="34" charset="0"/>
                <a:ea typeface="Quattrocento Sans" pitchFamily="34" charset="-122"/>
                <a:cs typeface="Quattrocento Sans" pitchFamily="34" charset="-120"/>
              </a:rPr>
              <a:t> working with data pipelines, ETL processes, and message-driven architectures. It bridges the gap between stream processing and structured data.</a:t>
            </a:r>
            <a:endParaRPr lang="en-US" sz="1600" dirty="0"/>
          </a:p>
        </p:txBody>
      </p:sp>
      <p:sp>
        <p:nvSpPr>
          <p:cNvPr id="60" name="Shape 58"/>
          <p:cNvSpPr/>
          <p:nvPr/>
        </p:nvSpPr>
        <p:spPr>
          <a:xfrm>
            <a:off x="321469" y="7385844"/>
            <a:ext cx="11549063" cy="674688"/>
          </a:xfrm>
          <a:custGeom>
            <a:avLst/>
            <a:gdLst/>
            <a:ahLst/>
            <a:cxnLst/>
            <a:rect l="l" t="t" r="r" b="b"/>
            <a:pathLst>
              <a:path w="11549063" h="674688">
                <a:moveTo>
                  <a:pt x="63502" y="0"/>
                </a:moveTo>
                <a:lnTo>
                  <a:pt x="11485561" y="0"/>
                </a:lnTo>
                <a:cubicBezTo>
                  <a:pt x="11520632" y="0"/>
                  <a:pt x="11549063" y="28431"/>
                  <a:pt x="11549063" y="63502"/>
                </a:cubicBezTo>
                <a:lnTo>
                  <a:pt x="11549063" y="611186"/>
                </a:lnTo>
                <a:cubicBezTo>
                  <a:pt x="11549062" y="646257"/>
                  <a:pt x="11520632" y="674688"/>
                  <a:pt x="11485561" y="674688"/>
                </a:cubicBezTo>
                <a:lnTo>
                  <a:pt x="63502" y="674688"/>
                </a:lnTo>
                <a:cubicBezTo>
                  <a:pt x="28431" y="674688"/>
                  <a:pt x="0" y="646257"/>
                  <a:pt x="0" y="611186"/>
                </a:cubicBezTo>
                <a:lnTo>
                  <a:pt x="0" y="63502"/>
                </a:lnTo>
                <a:cubicBezTo>
                  <a:pt x="0" y="28454"/>
                  <a:pt x="28454" y="0"/>
                  <a:pt x="63502" y="0"/>
                </a:cubicBezTo>
                <a:close/>
              </a:path>
            </a:pathLst>
          </a:custGeom>
          <a:solidFill>
            <a:srgbClr val="EAE7D6"/>
          </a:solidFill>
          <a:ln/>
        </p:spPr>
        <p:txBody>
          <a:bodyPr/>
          <a:lstStyle/>
          <a:p>
            <a:endParaRPr lang="en-US"/>
          </a:p>
        </p:txBody>
      </p:sp>
      <p:sp>
        <p:nvSpPr>
          <p:cNvPr id="61" name="Shape 59"/>
          <p:cNvSpPr/>
          <p:nvPr/>
        </p:nvSpPr>
        <p:spPr>
          <a:xfrm>
            <a:off x="492125" y="7643813"/>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8D99AE"/>
          </a:solidFill>
          <a:ln/>
        </p:spPr>
        <p:txBody>
          <a:bodyPr/>
          <a:lstStyle/>
          <a:p>
            <a:endParaRPr lang="en-US"/>
          </a:p>
        </p:txBody>
      </p:sp>
      <p:sp>
        <p:nvSpPr>
          <p:cNvPr id="62" name="Text 60"/>
          <p:cNvSpPr/>
          <p:nvPr/>
        </p:nvSpPr>
        <p:spPr>
          <a:xfrm>
            <a:off x="746125" y="7516813"/>
            <a:ext cx="10199688"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Important for Backend Engineers</a:t>
            </a:r>
            <a:endParaRPr lang="en-US" sz="1600" dirty="0"/>
          </a:p>
        </p:txBody>
      </p:sp>
      <p:sp>
        <p:nvSpPr>
          <p:cNvPr id="63" name="Text 61"/>
          <p:cNvSpPr/>
          <p:nvPr/>
        </p:nvSpPr>
        <p:spPr>
          <a:xfrm>
            <a:off x="746125" y="7739062"/>
            <a:ext cx="10191750"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Understanding object mode demonstrates ability to work with real-world data processing scenarios. Be prepared to discuss when to use it and how it differs from standard binary mode.</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28625" y="476250"/>
            <a:ext cx="158750" cy="158750"/>
          </a:xfrm>
          <a:custGeom>
            <a:avLst/>
            <a:gdLst/>
            <a:ahLst/>
            <a:cxnLst/>
            <a:rect l="l" t="t" r="r" b="b"/>
            <a:pathLst>
              <a:path w="158750" h="158750">
                <a:moveTo>
                  <a:pt x="148859" y="59531"/>
                </a:moveTo>
                <a:lnTo>
                  <a:pt x="151309" y="59531"/>
                </a:lnTo>
                <a:cubicBezTo>
                  <a:pt x="155432" y="59531"/>
                  <a:pt x="158750" y="56214"/>
                  <a:pt x="158750" y="52090"/>
                </a:cubicBezTo>
                <a:lnTo>
                  <a:pt x="158750" y="7441"/>
                </a:lnTo>
                <a:cubicBezTo>
                  <a:pt x="158750" y="4434"/>
                  <a:pt x="156952" y="1705"/>
                  <a:pt x="154161" y="558"/>
                </a:cubicBezTo>
                <a:cubicBezTo>
                  <a:pt x="151371" y="-589"/>
                  <a:pt x="148177" y="62"/>
                  <a:pt x="146038" y="2170"/>
                </a:cubicBezTo>
                <a:lnTo>
                  <a:pt x="130008" y="18231"/>
                </a:lnTo>
                <a:cubicBezTo>
                  <a:pt x="116272" y="6852"/>
                  <a:pt x="98599" y="0"/>
                  <a:pt x="79375" y="0"/>
                </a:cubicBezTo>
                <a:cubicBezTo>
                  <a:pt x="39377" y="0"/>
                  <a:pt x="6294" y="29580"/>
                  <a:pt x="806" y="68058"/>
                </a:cubicBezTo>
                <a:cubicBezTo>
                  <a:pt x="31" y="73484"/>
                  <a:pt x="3783" y="78507"/>
                  <a:pt x="9209" y="79282"/>
                </a:cubicBezTo>
                <a:cubicBezTo>
                  <a:pt x="14635" y="80057"/>
                  <a:pt x="19658" y="76274"/>
                  <a:pt x="20433" y="70879"/>
                </a:cubicBezTo>
                <a:cubicBezTo>
                  <a:pt x="24557" y="42013"/>
                  <a:pt x="49392" y="19844"/>
                  <a:pt x="79375" y="19844"/>
                </a:cubicBezTo>
                <a:cubicBezTo>
                  <a:pt x="93142" y="19844"/>
                  <a:pt x="105792" y="24495"/>
                  <a:pt x="115869" y="32339"/>
                </a:cubicBezTo>
                <a:lnTo>
                  <a:pt x="101389" y="46819"/>
                </a:lnTo>
                <a:cubicBezTo>
                  <a:pt x="99250" y="48958"/>
                  <a:pt x="98630" y="52152"/>
                  <a:pt x="99777" y="54942"/>
                </a:cubicBezTo>
                <a:cubicBezTo>
                  <a:pt x="100924" y="57733"/>
                  <a:pt x="103653" y="59531"/>
                  <a:pt x="106660" y="59531"/>
                </a:cubicBezTo>
                <a:lnTo>
                  <a:pt x="148859" y="59531"/>
                </a:lnTo>
                <a:close/>
                <a:moveTo>
                  <a:pt x="157975" y="90692"/>
                </a:moveTo>
                <a:cubicBezTo>
                  <a:pt x="158750" y="85266"/>
                  <a:pt x="154967" y="80243"/>
                  <a:pt x="149572" y="79468"/>
                </a:cubicBezTo>
                <a:cubicBezTo>
                  <a:pt x="144177" y="78693"/>
                  <a:pt x="139123" y="82476"/>
                  <a:pt x="138348" y="87871"/>
                </a:cubicBezTo>
                <a:cubicBezTo>
                  <a:pt x="134224" y="116706"/>
                  <a:pt x="109389" y="138875"/>
                  <a:pt x="79406" y="138875"/>
                </a:cubicBezTo>
                <a:cubicBezTo>
                  <a:pt x="65639" y="138875"/>
                  <a:pt x="52989" y="134224"/>
                  <a:pt x="42912" y="126380"/>
                </a:cubicBezTo>
                <a:lnTo>
                  <a:pt x="57361" y="111931"/>
                </a:lnTo>
                <a:cubicBezTo>
                  <a:pt x="59500" y="109792"/>
                  <a:pt x="60120" y="106598"/>
                  <a:pt x="58973" y="103808"/>
                </a:cubicBezTo>
                <a:cubicBezTo>
                  <a:pt x="57826" y="101017"/>
                  <a:pt x="55097" y="99219"/>
                  <a:pt x="52090" y="99219"/>
                </a:cubicBezTo>
                <a:lnTo>
                  <a:pt x="7441" y="99219"/>
                </a:lnTo>
                <a:cubicBezTo>
                  <a:pt x="3318" y="99219"/>
                  <a:pt x="0" y="102536"/>
                  <a:pt x="0" y="106660"/>
                </a:cubicBezTo>
                <a:lnTo>
                  <a:pt x="0" y="151309"/>
                </a:lnTo>
                <a:cubicBezTo>
                  <a:pt x="0" y="154316"/>
                  <a:pt x="1798" y="157045"/>
                  <a:pt x="4589" y="158192"/>
                </a:cubicBezTo>
                <a:cubicBezTo>
                  <a:pt x="7379" y="159339"/>
                  <a:pt x="10573" y="158688"/>
                  <a:pt x="12712" y="156580"/>
                </a:cubicBezTo>
                <a:lnTo>
                  <a:pt x="28773" y="140519"/>
                </a:lnTo>
                <a:cubicBezTo>
                  <a:pt x="42478" y="151898"/>
                  <a:pt x="60151" y="158750"/>
                  <a:pt x="79375" y="158750"/>
                </a:cubicBezTo>
                <a:cubicBezTo>
                  <a:pt x="119373" y="158750"/>
                  <a:pt x="152456" y="129170"/>
                  <a:pt x="157944" y="90692"/>
                </a:cubicBezTo>
                <a:close/>
              </a:path>
            </a:pathLst>
          </a:custGeom>
          <a:solidFill>
            <a:srgbClr val="FFFFFF"/>
          </a:solidFill>
          <a:ln/>
        </p:spPr>
        <p:txBody>
          <a:bodyPr/>
          <a:lstStyle/>
          <a:p>
            <a:endParaRPr lang="en-US"/>
          </a:p>
        </p:txBody>
      </p:sp>
      <p:sp>
        <p:nvSpPr>
          <p:cNvPr id="4" name="Text 2"/>
          <p:cNvSpPr/>
          <p:nvPr/>
        </p:nvSpPr>
        <p:spPr>
          <a:xfrm>
            <a:off x="793750" y="317500"/>
            <a:ext cx="3667125"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Modern Approach</a:t>
            </a:r>
            <a:endParaRPr lang="en-US" sz="1600" dirty="0"/>
          </a:p>
        </p:txBody>
      </p:sp>
      <p:sp>
        <p:nvSpPr>
          <p:cNvPr id="5" name="Text 3"/>
          <p:cNvSpPr/>
          <p:nvPr/>
        </p:nvSpPr>
        <p:spPr>
          <a:xfrm>
            <a:off x="793750" y="476250"/>
            <a:ext cx="3754438"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Async Iterators with Streams</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7" name="Shape 5"/>
          <p:cNvSpPr/>
          <p:nvPr/>
        </p:nvSpPr>
        <p:spPr>
          <a:xfrm>
            <a:off x="321469" y="1083469"/>
            <a:ext cx="5691188" cy="2103438"/>
          </a:xfrm>
          <a:custGeom>
            <a:avLst/>
            <a:gdLst/>
            <a:ahLst/>
            <a:cxnLst/>
            <a:rect l="l" t="t" r="r" b="b"/>
            <a:pathLst>
              <a:path w="5691188" h="2103438">
                <a:moveTo>
                  <a:pt x="95244" y="0"/>
                </a:moveTo>
                <a:lnTo>
                  <a:pt x="5595944" y="0"/>
                </a:lnTo>
                <a:cubicBezTo>
                  <a:pt x="5648545" y="0"/>
                  <a:pt x="5691188" y="42642"/>
                  <a:pt x="5691188" y="95244"/>
                </a:cubicBezTo>
                <a:lnTo>
                  <a:pt x="5691188" y="2008194"/>
                </a:lnTo>
                <a:cubicBezTo>
                  <a:pt x="5691188" y="2060795"/>
                  <a:pt x="5648545" y="2103438"/>
                  <a:pt x="5595944" y="2103438"/>
                </a:cubicBezTo>
                <a:lnTo>
                  <a:pt x="95244" y="2103438"/>
                </a:lnTo>
                <a:cubicBezTo>
                  <a:pt x="42642" y="2103438"/>
                  <a:pt x="0" y="2060795"/>
                  <a:pt x="0" y="2008194"/>
                </a:cubicBezTo>
                <a:lnTo>
                  <a:pt x="0" y="95244"/>
                </a:lnTo>
                <a:cubicBezTo>
                  <a:pt x="0" y="42642"/>
                  <a:pt x="42642" y="0"/>
                  <a:pt x="95244" y="0"/>
                </a:cubicBezTo>
                <a:close/>
              </a:path>
            </a:pathLst>
          </a:custGeom>
          <a:solidFill>
            <a:srgbClr val="EAE7D6"/>
          </a:solidFill>
          <a:ln/>
        </p:spPr>
        <p:txBody>
          <a:bodyPr/>
          <a:lstStyle/>
          <a:p>
            <a:endParaRPr lang="en-US"/>
          </a:p>
        </p:txBody>
      </p:sp>
      <p:sp>
        <p:nvSpPr>
          <p:cNvPr id="8" name="Shape 6"/>
          <p:cNvSpPr/>
          <p:nvPr/>
        </p:nvSpPr>
        <p:spPr>
          <a:xfrm>
            <a:off x="508000" y="1277938"/>
            <a:ext cx="190500" cy="190500"/>
          </a:xfrm>
          <a:custGeom>
            <a:avLst/>
            <a:gdLst/>
            <a:ahLst/>
            <a:cxnLst/>
            <a:rect l="l" t="t" r="r" b="b"/>
            <a:pathLst>
              <a:path w="190500" h="190500">
                <a:moveTo>
                  <a:pt x="148270" y="4539"/>
                </a:moveTo>
                <a:lnTo>
                  <a:pt x="115453" y="37356"/>
                </a:lnTo>
                <a:lnTo>
                  <a:pt x="153144" y="75047"/>
                </a:lnTo>
                <a:lnTo>
                  <a:pt x="185961" y="42230"/>
                </a:lnTo>
                <a:cubicBezTo>
                  <a:pt x="188863" y="39291"/>
                  <a:pt x="190500" y="35347"/>
                  <a:pt x="190500" y="31254"/>
                </a:cubicBezTo>
                <a:cubicBezTo>
                  <a:pt x="190500" y="27161"/>
                  <a:pt x="188863" y="23217"/>
                  <a:pt x="185961" y="20278"/>
                </a:cubicBezTo>
                <a:lnTo>
                  <a:pt x="170222" y="4539"/>
                </a:lnTo>
                <a:cubicBezTo>
                  <a:pt x="167283" y="1637"/>
                  <a:pt x="163339" y="0"/>
                  <a:pt x="159246" y="0"/>
                </a:cubicBezTo>
                <a:cubicBezTo>
                  <a:pt x="155153" y="0"/>
                  <a:pt x="151209" y="1637"/>
                  <a:pt x="148270" y="4539"/>
                </a:cubicBezTo>
                <a:close/>
                <a:moveTo>
                  <a:pt x="102840" y="49969"/>
                </a:moveTo>
                <a:lnTo>
                  <a:pt x="4539" y="148270"/>
                </a:lnTo>
                <a:cubicBezTo>
                  <a:pt x="1637" y="151209"/>
                  <a:pt x="0" y="155153"/>
                  <a:pt x="0" y="159246"/>
                </a:cubicBezTo>
                <a:cubicBezTo>
                  <a:pt x="0" y="163339"/>
                  <a:pt x="1637" y="167283"/>
                  <a:pt x="4539" y="170222"/>
                </a:cubicBezTo>
                <a:lnTo>
                  <a:pt x="20278" y="185961"/>
                </a:lnTo>
                <a:cubicBezTo>
                  <a:pt x="23217" y="188863"/>
                  <a:pt x="27161" y="190500"/>
                  <a:pt x="31254" y="190500"/>
                </a:cubicBezTo>
                <a:cubicBezTo>
                  <a:pt x="35347" y="190500"/>
                  <a:pt x="39291" y="188863"/>
                  <a:pt x="42230" y="185961"/>
                </a:cubicBezTo>
                <a:lnTo>
                  <a:pt x="140531" y="87660"/>
                </a:lnTo>
                <a:lnTo>
                  <a:pt x="102840" y="49969"/>
                </a:lnTo>
                <a:close/>
              </a:path>
            </a:pathLst>
          </a:custGeom>
          <a:solidFill>
            <a:srgbClr val="8D99AE"/>
          </a:solidFill>
          <a:ln/>
        </p:spPr>
        <p:txBody>
          <a:bodyPr/>
          <a:lstStyle/>
          <a:p>
            <a:endParaRPr lang="en-US"/>
          </a:p>
        </p:txBody>
      </p:sp>
      <p:sp>
        <p:nvSpPr>
          <p:cNvPr id="9" name="Text 7"/>
          <p:cNvSpPr/>
          <p:nvPr/>
        </p:nvSpPr>
        <p:spPr>
          <a:xfrm>
            <a:off x="817563" y="1246188"/>
            <a:ext cx="134937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Modern Syntax</a:t>
            </a:r>
            <a:endParaRPr lang="en-US" sz="1600" dirty="0"/>
          </a:p>
        </p:txBody>
      </p:sp>
      <p:sp>
        <p:nvSpPr>
          <p:cNvPr id="10" name="Text 8"/>
          <p:cNvSpPr/>
          <p:nvPr/>
        </p:nvSpPr>
        <p:spPr>
          <a:xfrm>
            <a:off x="484187" y="1627188"/>
            <a:ext cx="5429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Readable streams implement the </a:t>
            </a:r>
            <a:r>
              <a:rPr lang="en-US" sz="1000" b="1" dirty="0">
                <a:solidFill>
                  <a:srgbClr val="2D3142"/>
                </a:solidFill>
                <a:latin typeface="Quattrocento Sans" pitchFamily="34" charset="0"/>
                <a:ea typeface="Quattrocento Sans" pitchFamily="34" charset="-122"/>
                <a:cs typeface="Quattrocento Sans" pitchFamily="34" charset="-120"/>
              </a:rPr>
              <a:t>async iterator protocol</a:t>
            </a:r>
            <a:r>
              <a:rPr lang="en-US" sz="1000" dirty="0">
                <a:solidFill>
                  <a:srgbClr val="2D3142"/>
                </a:solidFill>
                <a:latin typeface="Quattrocento Sans" pitchFamily="34" charset="0"/>
                <a:ea typeface="Quattrocento Sans" pitchFamily="34" charset="-122"/>
                <a:cs typeface="Quattrocento Sans" pitchFamily="34" charset="-120"/>
              </a:rPr>
              <a:t>, allowing you to use </a:t>
            </a:r>
            <a:r>
              <a:rPr lang="en-US" sz="1000" b="1" dirty="0">
                <a:solidFill>
                  <a:srgbClr val="2D3142"/>
                </a:solidFill>
                <a:highlight>
                  <a:srgbClr val="E07A5F">
                    <a:alpha val="30000"/>
                  </a:srgbClr>
                </a:highlight>
                <a:latin typeface="Quattrocento Sans" pitchFamily="34" charset="0"/>
                <a:ea typeface="Quattrocento Sans" pitchFamily="34" charset="-122"/>
                <a:cs typeface="Quattrocento Sans" pitchFamily="34" charset="-120"/>
              </a:rPr>
              <a:t>for await...of </a:t>
            </a:r>
            <a:r>
              <a:rPr lang="en-US" sz="1000" dirty="0">
                <a:solidFill>
                  <a:srgbClr val="2D3142"/>
                </a:solidFill>
                <a:latin typeface="Quattrocento Sans" pitchFamily="34" charset="0"/>
                <a:ea typeface="Quattrocento Sans" pitchFamily="34" charset="-122"/>
                <a:cs typeface="Quattrocento Sans" pitchFamily="34" charset="-120"/>
              </a:rPr>
              <a:t>loops for clean, modern stream consumption.</a:t>
            </a:r>
            <a:endParaRPr lang="en-US" sz="1600" dirty="0"/>
          </a:p>
        </p:txBody>
      </p:sp>
      <p:sp>
        <p:nvSpPr>
          <p:cNvPr id="11" name="Shape 9"/>
          <p:cNvSpPr/>
          <p:nvPr/>
        </p:nvSpPr>
        <p:spPr>
          <a:xfrm>
            <a:off x="484187" y="2166938"/>
            <a:ext cx="5365750" cy="857250"/>
          </a:xfrm>
          <a:custGeom>
            <a:avLst/>
            <a:gdLst/>
            <a:ahLst/>
            <a:cxnLst/>
            <a:rect l="l" t="t" r="r" b="b"/>
            <a:pathLst>
              <a:path w="5365750" h="857250">
                <a:moveTo>
                  <a:pt x="63497" y="0"/>
                </a:moveTo>
                <a:lnTo>
                  <a:pt x="5302253" y="0"/>
                </a:lnTo>
                <a:cubicBezTo>
                  <a:pt x="5337322" y="0"/>
                  <a:pt x="5365750" y="28428"/>
                  <a:pt x="5365750" y="63497"/>
                </a:cubicBezTo>
                <a:lnTo>
                  <a:pt x="5365750" y="793753"/>
                </a:lnTo>
                <a:cubicBezTo>
                  <a:pt x="5365750" y="828822"/>
                  <a:pt x="5337322" y="857250"/>
                  <a:pt x="5302253" y="857250"/>
                </a:cubicBezTo>
                <a:lnTo>
                  <a:pt x="63497" y="857250"/>
                </a:lnTo>
                <a:cubicBezTo>
                  <a:pt x="28428" y="857250"/>
                  <a:pt x="0" y="828822"/>
                  <a:pt x="0" y="793753"/>
                </a:cubicBezTo>
                <a:lnTo>
                  <a:pt x="0" y="63497"/>
                </a:lnTo>
                <a:cubicBezTo>
                  <a:pt x="0" y="28428"/>
                  <a:pt x="28428" y="0"/>
                  <a:pt x="63497" y="0"/>
                </a:cubicBezTo>
                <a:close/>
              </a:path>
            </a:pathLst>
          </a:custGeom>
          <a:solidFill>
            <a:srgbClr val="EAE7D6"/>
          </a:solidFill>
          <a:ln/>
        </p:spPr>
        <p:txBody>
          <a:bodyPr/>
          <a:lstStyle/>
          <a:p>
            <a:endParaRPr lang="en-US"/>
          </a:p>
        </p:txBody>
      </p:sp>
      <p:sp>
        <p:nvSpPr>
          <p:cNvPr id="12" name="Text 10"/>
          <p:cNvSpPr/>
          <p:nvPr/>
        </p:nvSpPr>
        <p:spPr>
          <a:xfrm>
            <a:off x="611188" y="22939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Why Modern?</a:t>
            </a:r>
            <a:endParaRPr lang="en-US" sz="1600" dirty="0"/>
          </a:p>
        </p:txBody>
      </p:sp>
      <p:sp>
        <p:nvSpPr>
          <p:cNvPr id="13" name="Text 11"/>
          <p:cNvSpPr/>
          <p:nvPr/>
        </p:nvSpPr>
        <p:spPr>
          <a:xfrm>
            <a:off x="611188" y="2516188"/>
            <a:ext cx="5175250" cy="3810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Eliminates callback-based event handling in favor of synchronous-looking async code that's easier to read and maintain.</a:t>
            </a:r>
            <a:endParaRPr lang="en-US" sz="1600" dirty="0"/>
          </a:p>
        </p:txBody>
      </p:sp>
      <p:sp>
        <p:nvSpPr>
          <p:cNvPr id="14" name="Shape 12"/>
          <p:cNvSpPr/>
          <p:nvPr/>
        </p:nvSpPr>
        <p:spPr>
          <a:xfrm>
            <a:off x="321469" y="3321844"/>
            <a:ext cx="5691188" cy="3087688"/>
          </a:xfrm>
          <a:custGeom>
            <a:avLst/>
            <a:gdLst/>
            <a:ahLst/>
            <a:cxnLst/>
            <a:rect l="l" t="t" r="r" b="b"/>
            <a:pathLst>
              <a:path w="5691188" h="3087688">
                <a:moveTo>
                  <a:pt x="95255" y="0"/>
                </a:moveTo>
                <a:lnTo>
                  <a:pt x="5595932" y="0"/>
                </a:lnTo>
                <a:cubicBezTo>
                  <a:pt x="5648540" y="0"/>
                  <a:pt x="5691188" y="42647"/>
                  <a:pt x="5691188" y="95255"/>
                </a:cubicBezTo>
                <a:lnTo>
                  <a:pt x="5691188" y="2992432"/>
                </a:lnTo>
                <a:cubicBezTo>
                  <a:pt x="5691188" y="3045040"/>
                  <a:pt x="5648540" y="3087688"/>
                  <a:pt x="5595932" y="3087688"/>
                </a:cubicBezTo>
                <a:lnTo>
                  <a:pt x="95255" y="3087688"/>
                </a:lnTo>
                <a:cubicBezTo>
                  <a:pt x="42647" y="3087688"/>
                  <a:pt x="0" y="3045040"/>
                  <a:pt x="0" y="2992432"/>
                </a:cubicBezTo>
                <a:lnTo>
                  <a:pt x="0" y="95255"/>
                </a:lnTo>
                <a:cubicBezTo>
                  <a:pt x="0" y="42647"/>
                  <a:pt x="42647" y="0"/>
                  <a:pt x="95255" y="0"/>
                </a:cubicBezTo>
                <a:close/>
              </a:path>
            </a:pathLst>
          </a:custGeom>
          <a:solidFill>
            <a:srgbClr val="EAE7D6"/>
          </a:solidFill>
          <a:ln/>
        </p:spPr>
        <p:txBody>
          <a:bodyPr/>
          <a:lstStyle/>
          <a:p>
            <a:endParaRPr lang="en-US"/>
          </a:p>
        </p:txBody>
      </p:sp>
      <p:sp>
        <p:nvSpPr>
          <p:cNvPr id="15" name="Shape 13"/>
          <p:cNvSpPr/>
          <p:nvPr/>
        </p:nvSpPr>
        <p:spPr>
          <a:xfrm>
            <a:off x="508000" y="351631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E07A5F"/>
          </a:solidFill>
          <a:ln/>
        </p:spPr>
        <p:txBody>
          <a:bodyPr/>
          <a:lstStyle/>
          <a:p>
            <a:endParaRPr lang="en-US"/>
          </a:p>
        </p:txBody>
      </p:sp>
      <p:sp>
        <p:nvSpPr>
          <p:cNvPr id="16" name="Text 14"/>
          <p:cNvSpPr/>
          <p:nvPr/>
        </p:nvSpPr>
        <p:spPr>
          <a:xfrm>
            <a:off x="817563" y="3484563"/>
            <a:ext cx="74612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Benefits</a:t>
            </a:r>
            <a:endParaRPr lang="en-US" sz="1600" dirty="0"/>
          </a:p>
        </p:txBody>
      </p:sp>
      <p:sp>
        <p:nvSpPr>
          <p:cNvPr id="17" name="Shape 15"/>
          <p:cNvSpPr/>
          <p:nvPr/>
        </p:nvSpPr>
        <p:spPr>
          <a:xfrm>
            <a:off x="500063" y="38655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18" name="Shape 16"/>
          <p:cNvSpPr/>
          <p:nvPr/>
        </p:nvSpPr>
        <p:spPr>
          <a:xfrm>
            <a:off x="500063" y="3865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E07A5F"/>
          </a:solidFill>
          <a:ln/>
        </p:spPr>
        <p:txBody>
          <a:bodyPr/>
          <a:lstStyle/>
          <a:p>
            <a:endParaRPr lang="en-US"/>
          </a:p>
        </p:txBody>
      </p:sp>
      <p:sp>
        <p:nvSpPr>
          <p:cNvPr id="19" name="Shape 17"/>
          <p:cNvSpPr/>
          <p:nvPr/>
        </p:nvSpPr>
        <p:spPr>
          <a:xfrm>
            <a:off x="650875" y="4040188"/>
            <a:ext cx="142875" cy="127000"/>
          </a:xfrm>
          <a:custGeom>
            <a:avLst/>
            <a:gdLst/>
            <a:ahLst/>
            <a:cxnLst/>
            <a:rect l="l" t="t" r="r" b="b"/>
            <a:pathLst>
              <a:path w="142875" h="127000">
                <a:moveTo>
                  <a:pt x="140543" y="13543"/>
                </a:moveTo>
                <a:cubicBezTo>
                  <a:pt x="143644" y="10443"/>
                  <a:pt x="143644" y="5407"/>
                  <a:pt x="140543" y="2307"/>
                </a:cubicBezTo>
                <a:cubicBezTo>
                  <a:pt x="137443" y="-794"/>
                  <a:pt x="132407" y="-794"/>
                  <a:pt x="129307" y="2307"/>
                </a:cubicBezTo>
                <a:lnTo>
                  <a:pt x="81682" y="49932"/>
                </a:lnTo>
                <a:lnTo>
                  <a:pt x="73075" y="41325"/>
                </a:lnTo>
                <a:cubicBezTo>
                  <a:pt x="72033" y="40283"/>
                  <a:pt x="70594" y="39688"/>
                  <a:pt x="69106" y="39688"/>
                </a:cubicBezTo>
                <a:cubicBezTo>
                  <a:pt x="66005" y="39688"/>
                  <a:pt x="63500" y="42193"/>
                  <a:pt x="63500" y="45293"/>
                </a:cubicBezTo>
                <a:lnTo>
                  <a:pt x="63500" y="52512"/>
                </a:lnTo>
                <a:lnTo>
                  <a:pt x="90363" y="79375"/>
                </a:lnTo>
                <a:lnTo>
                  <a:pt x="97582" y="79375"/>
                </a:lnTo>
                <a:cubicBezTo>
                  <a:pt x="100682" y="79375"/>
                  <a:pt x="103188" y="76870"/>
                  <a:pt x="103188" y="73769"/>
                </a:cubicBezTo>
                <a:cubicBezTo>
                  <a:pt x="103188" y="72281"/>
                  <a:pt x="102592" y="70842"/>
                  <a:pt x="101550" y="69800"/>
                </a:cubicBezTo>
                <a:lnTo>
                  <a:pt x="92943" y="61193"/>
                </a:lnTo>
                <a:lnTo>
                  <a:pt x="140568" y="13568"/>
                </a:lnTo>
                <a:close/>
                <a:moveTo>
                  <a:pt x="84609" y="87660"/>
                </a:moveTo>
                <a:lnTo>
                  <a:pt x="55215" y="58266"/>
                </a:lnTo>
                <a:cubicBezTo>
                  <a:pt x="44624" y="57348"/>
                  <a:pt x="34082" y="61168"/>
                  <a:pt x="26491" y="68759"/>
                </a:cubicBezTo>
                <a:lnTo>
                  <a:pt x="24507" y="70743"/>
                </a:lnTo>
                <a:cubicBezTo>
                  <a:pt x="18976" y="76274"/>
                  <a:pt x="15875" y="83765"/>
                  <a:pt x="15875" y="91579"/>
                </a:cubicBezTo>
                <a:cubicBezTo>
                  <a:pt x="15875" y="93266"/>
                  <a:pt x="17636" y="94357"/>
                  <a:pt x="19149" y="93613"/>
                </a:cubicBezTo>
                <a:lnTo>
                  <a:pt x="31824" y="87288"/>
                </a:lnTo>
                <a:cubicBezTo>
                  <a:pt x="33065" y="86668"/>
                  <a:pt x="34181" y="88305"/>
                  <a:pt x="33164" y="89247"/>
                </a:cubicBezTo>
                <a:lnTo>
                  <a:pt x="1811" y="117425"/>
                </a:lnTo>
                <a:cubicBezTo>
                  <a:pt x="670" y="118467"/>
                  <a:pt x="0" y="119955"/>
                  <a:pt x="0" y="121518"/>
                </a:cubicBezTo>
                <a:cubicBezTo>
                  <a:pt x="0" y="124544"/>
                  <a:pt x="2456" y="127000"/>
                  <a:pt x="5482" y="127000"/>
                </a:cubicBezTo>
                <a:lnTo>
                  <a:pt x="48468" y="127000"/>
                </a:lnTo>
                <a:cubicBezTo>
                  <a:pt x="58093" y="127000"/>
                  <a:pt x="67295" y="123180"/>
                  <a:pt x="74116" y="116384"/>
                </a:cubicBezTo>
                <a:cubicBezTo>
                  <a:pt x="81707" y="108793"/>
                  <a:pt x="85502" y="98251"/>
                  <a:pt x="84609" y="87660"/>
                </a:cubicBezTo>
                <a:close/>
              </a:path>
            </a:pathLst>
          </a:custGeom>
          <a:solidFill>
            <a:srgbClr val="E07A5F"/>
          </a:solidFill>
          <a:ln/>
        </p:spPr>
        <p:txBody>
          <a:bodyPr/>
          <a:lstStyle/>
          <a:p>
            <a:endParaRPr lang="en-US"/>
          </a:p>
        </p:txBody>
      </p:sp>
      <p:sp>
        <p:nvSpPr>
          <p:cNvPr id="20" name="Text 18"/>
          <p:cNvSpPr/>
          <p:nvPr/>
        </p:nvSpPr>
        <p:spPr>
          <a:xfrm>
            <a:off x="865188" y="3992563"/>
            <a:ext cx="87312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Clean Syntax</a:t>
            </a:r>
            <a:endParaRPr lang="en-US" sz="1600" dirty="0"/>
          </a:p>
        </p:txBody>
      </p:sp>
      <p:sp>
        <p:nvSpPr>
          <p:cNvPr id="21" name="Text 19"/>
          <p:cNvSpPr/>
          <p:nvPr/>
        </p:nvSpPr>
        <p:spPr>
          <a:xfrm>
            <a:off x="642938" y="42783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No event listeners or callbacks needed</a:t>
            </a:r>
            <a:endParaRPr lang="en-US" sz="1600" dirty="0"/>
          </a:p>
        </p:txBody>
      </p:sp>
      <p:sp>
        <p:nvSpPr>
          <p:cNvPr id="22" name="Shape 20"/>
          <p:cNvSpPr/>
          <p:nvPr/>
        </p:nvSpPr>
        <p:spPr>
          <a:xfrm>
            <a:off x="500063" y="46910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3" name="Shape 21"/>
          <p:cNvSpPr/>
          <p:nvPr/>
        </p:nvSpPr>
        <p:spPr>
          <a:xfrm>
            <a:off x="500063" y="46910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4" name="Shape 22"/>
          <p:cNvSpPr/>
          <p:nvPr/>
        </p:nvSpPr>
        <p:spPr>
          <a:xfrm>
            <a:off x="658813" y="4865688"/>
            <a:ext cx="127000" cy="127000"/>
          </a:xfrm>
          <a:custGeom>
            <a:avLst/>
            <a:gdLst/>
            <a:ahLst/>
            <a:cxnLst/>
            <a:rect l="l" t="t" r="r" b="b"/>
            <a:pathLst>
              <a:path w="127000" h="127000">
                <a:moveTo>
                  <a:pt x="63500" y="35049"/>
                </a:moveTo>
                <a:lnTo>
                  <a:pt x="63500" y="111770"/>
                </a:lnTo>
                <a:lnTo>
                  <a:pt x="63624" y="111720"/>
                </a:lnTo>
                <a:cubicBezTo>
                  <a:pt x="77167" y="106090"/>
                  <a:pt x="91703" y="103188"/>
                  <a:pt x="106363" y="103188"/>
                </a:cubicBezTo>
                <a:lnTo>
                  <a:pt x="111125" y="103188"/>
                </a:lnTo>
                <a:lnTo>
                  <a:pt x="111125" y="23812"/>
                </a:lnTo>
                <a:lnTo>
                  <a:pt x="106363" y="23812"/>
                </a:lnTo>
                <a:cubicBezTo>
                  <a:pt x="95895" y="23812"/>
                  <a:pt x="85502" y="25896"/>
                  <a:pt x="75828" y="29914"/>
                </a:cubicBezTo>
                <a:cubicBezTo>
                  <a:pt x="71661" y="31651"/>
                  <a:pt x="67543" y="33362"/>
                  <a:pt x="63500" y="35049"/>
                </a:cubicBezTo>
                <a:close/>
                <a:moveTo>
                  <a:pt x="57274" y="15255"/>
                </a:moveTo>
                <a:lnTo>
                  <a:pt x="63500" y="17859"/>
                </a:lnTo>
                <a:lnTo>
                  <a:pt x="69726" y="15255"/>
                </a:lnTo>
                <a:cubicBezTo>
                  <a:pt x="81335" y="10418"/>
                  <a:pt x="93787" y="7938"/>
                  <a:pt x="106363" y="7938"/>
                </a:cubicBezTo>
                <a:lnTo>
                  <a:pt x="115094" y="7938"/>
                </a:lnTo>
                <a:cubicBezTo>
                  <a:pt x="121667" y="7938"/>
                  <a:pt x="127000" y="13271"/>
                  <a:pt x="127000" y="19844"/>
                </a:cubicBezTo>
                <a:lnTo>
                  <a:pt x="127000" y="107156"/>
                </a:lnTo>
                <a:cubicBezTo>
                  <a:pt x="127000" y="113729"/>
                  <a:pt x="121667" y="119063"/>
                  <a:pt x="115094" y="119063"/>
                </a:cubicBezTo>
                <a:lnTo>
                  <a:pt x="106363" y="119063"/>
                </a:lnTo>
                <a:cubicBezTo>
                  <a:pt x="93787" y="119063"/>
                  <a:pt x="81335" y="121543"/>
                  <a:pt x="69726" y="126380"/>
                </a:cubicBezTo>
                <a:lnTo>
                  <a:pt x="66551" y="127695"/>
                </a:lnTo>
                <a:cubicBezTo>
                  <a:pt x="64591" y="128513"/>
                  <a:pt x="62409" y="128513"/>
                  <a:pt x="60449" y="127695"/>
                </a:cubicBezTo>
                <a:lnTo>
                  <a:pt x="57274" y="126380"/>
                </a:lnTo>
                <a:cubicBezTo>
                  <a:pt x="45665" y="121543"/>
                  <a:pt x="33213" y="119063"/>
                  <a:pt x="20638" y="119063"/>
                </a:cubicBezTo>
                <a:lnTo>
                  <a:pt x="11906" y="119063"/>
                </a:lnTo>
                <a:cubicBezTo>
                  <a:pt x="5333" y="119063"/>
                  <a:pt x="0" y="113729"/>
                  <a:pt x="0" y="107156"/>
                </a:cubicBezTo>
                <a:lnTo>
                  <a:pt x="0" y="19844"/>
                </a:lnTo>
                <a:cubicBezTo>
                  <a:pt x="0" y="13271"/>
                  <a:pt x="5333" y="7938"/>
                  <a:pt x="11906" y="7938"/>
                </a:cubicBezTo>
                <a:lnTo>
                  <a:pt x="20638" y="7938"/>
                </a:lnTo>
                <a:cubicBezTo>
                  <a:pt x="33213" y="7938"/>
                  <a:pt x="45665" y="10418"/>
                  <a:pt x="57274" y="15255"/>
                </a:cubicBezTo>
                <a:close/>
              </a:path>
            </a:pathLst>
          </a:custGeom>
          <a:solidFill>
            <a:srgbClr val="8D99AE"/>
          </a:solidFill>
          <a:ln/>
        </p:spPr>
        <p:txBody>
          <a:bodyPr/>
          <a:lstStyle/>
          <a:p>
            <a:endParaRPr lang="en-US"/>
          </a:p>
        </p:txBody>
      </p:sp>
      <p:sp>
        <p:nvSpPr>
          <p:cNvPr id="25" name="Text 23"/>
          <p:cNvSpPr/>
          <p:nvPr/>
        </p:nvSpPr>
        <p:spPr>
          <a:xfrm>
            <a:off x="865188" y="4818063"/>
            <a:ext cx="865188"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Easy to Read</a:t>
            </a:r>
            <a:endParaRPr lang="en-US" sz="1600" dirty="0"/>
          </a:p>
        </p:txBody>
      </p:sp>
      <p:sp>
        <p:nvSpPr>
          <p:cNvPr id="26" name="Text 24"/>
          <p:cNvSpPr/>
          <p:nvPr/>
        </p:nvSpPr>
        <p:spPr>
          <a:xfrm>
            <a:off x="642938" y="51038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Familiar loop structure, intuitive flow</a:t>
            </a:r>
            <a:endParaRPr lang="en-US" sz="1600" dirty="0"/>
          </a:p>
        </p:txBody>
      </p:sp>
      <p:sp>
        <p:nvSpPr>
          <p:cNvPr id="27" name="Shape 25"/>
          <p:cNvSpPr/>
          <p:nvPr/>
        </p:nvSpPr>
        <p:spPr>
          <a:xfrm>
            <a:off x="500063" y="55165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8" name="Shape 26"/>
          <p:cNvSpPr/>
          <p:nvPr/>
        </p:nvSpPr>
        <p:spPr>
          <a:xfrm>
            <a:off x="500063" y="5516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9" name="Shape 27"/>
          <p:cNvSpPr/>
          <p:nvPr/>
        </p:nvSpPr>
        <p:spPr>
          <a:xfrm>
            <a:off x="658813" y="5691188"/>
            <a:ext cx="127000" cy="127000"/>
          </a:xfrm>
          <a:custGeom>
            <a:avLst/>
            <a:gdLst/>
            <a:ahLst/>
            <a:cxnLst/>
            <a:rect l="l" t="t" r="r" b="b"/>
            <a:pathLst>
              <a:path w="127000" h="127000">
                <a:moveTo>
                  <a:pt x="63500" y="0"/>
                </a:moveTo>
                <a:cubicBezTo>
                  <a:pt x="98547" y="0"/>
                  <a:pt x="127000" y="28453"/>
                  <a:pt x="127000" y="63500"/>
                </a:cubicBezTo>
                <a:cubicBezTo>
                  <a:pt x="127000" y="98547"/>
                  <a:pt x="98547" y="127000"/>
                  <a:pt x="63500" y="127000"/>
                </a:cubicBezTo>
                <a:cubicBezTo>
                  <a:pt x="28453" y="127000"/>
                  <a:pt x="0" y="98547"/>
                  <a:pt x="0" y="63500"/>
                </a:cubicBezTo>
                <a:cubicBezTo>
                  <a:pt x="0" y="28453"/>
                  <a:pt x="28453" y="0"/>
                  <a:pt x="63500" y="0"/>
                </a:cubicBezTo>
                <a:close/>
                <a:moveTo>
                  <a:pt x="57547" y="29766"/>
                </a:moveTo>
                <a:lnTo>
                  <a:pt x="57547" y="63500"/>
                </a:lnTo>
                <a:cubicBezTo>
                  <a:pt x="57547" y="65484"/>
                  <a:pt x="58539" y="67345"/>
                  <a:pt x="60201" y="68461"/>
                </a:cubicBezTo>
                <a:lnTo>
                  <a:pt x="84013" y="84336"/>
                </a:lnTo>
                <a:cubicBezTo>
                  <a:pt x="86742" y="86171"/>
                  <a:pt x="90438" y="85427"/>
                  <a:pt x="92273" y="82674"/>
                </a:cubicBezTo>
                <a:cubicBezTo>
                  <a:pt x="94109" y="79921"/>
                  <a:pt x="93365" y="76250"/>
                  <a:pt x="90612" y="74414"/>
                </a:cubicBezTo>
                <a:lnTo>
                  <a:pt x="69453" y="60325"/>
                </a:lnTo>
                <a:lnTo>
                  <a:pt x="69453" y="29766"/>
                </a:lnTo>
                <a:cubicBezTo>
                  <a:pt x="69453" y="26467"/>
                  <a:pt x="66799" y="23812"/>
                  <a:pt x="63500" y="23812"/>
                </a:cubicBezTo>
                <a:cubicBezTo>
                  <a:pt x="60201" y="23812"/>
                  <a:pt x="57547" y="26467"/>
                  <a:pt x="57547" y="29766"/>
                </a:cubicBezTo>
                <a:close/>
              </a:path>
            </a:pathLst>
          </a:custGeom>
          <a:solidFill>
            <a:srgbClr val="2D3142"/>
          </a:solidFill>
          <a:ln/>
        </p:spPr>
        <p:txBody>
          <a:bodyPr/>
          <a:lstStyle/>
          <a:p>
            <a:endParaRPr lang="en-US"/>
          </a:p>
        </p:txBody>
      </p:sp>
      <p:sp>
        <p:nvSpPr>
          <p:cNvPr id="30" name="Text 28"/>
          <p:cNvSpPr/>
          <p:nvPr/>
        </p:nvSpPr>
        <p:spPr>
          <a:xfrm>
            <a:off x="865188" y="5643563"/>
            <a:ext cx="1587500"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Works with async/await</a:t>
            </a:r>
            <a:endParaRPr lang="en-US" sz="1600" dirty="0"/>
          </a:p>
        </p:txBody>
      </p:sp>
      <p:sp>
        <p:nvSpPr>
          <p:cNvPr id="31" name="Text 29"/>
          <p:cNvSpPr/>
          <p:nvPr/>
        </p:nvSpPr>
        <p:spPr>
          <a:xfrm>
            <a:off x="642938" y="59293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Seamlessly integrates with modern async patterns</a:t>
            </a:r>
            <a:endParaRPr lang="en-US" sz="1600" dirty="0"/>
          </a:p>
        </p:txBody>
      </p:sp>
      <p:sp>
        <p:nvSpPr>
          <p:cNvPr id="32" name="Shape 30"/>
          <p:cNvSpPr/>
          <p:nvPr/>
        </p:nvSpPr>
        <p:spPr>
          <a:xfrm>
            <a:off x="6179344" y="1083469"/>
            <a:ext cx="5691188" cy="3722688"/>
          </a:xfrm>
          <a:custGeom>
            <a:avLst/>
            <a:gdLst/>
            <a:ahLst/>
            <a:cxnLst/>
            <a:rect l="l" t="t" r="r" b="b"/>
            <a:pathLst>
              <a:path w="5691188" h="3722688">
                <a:moveTo>
                  <a:pt x="95264" y="0"/>
                </a:moveTo>
                <a:lnTo>
                  <a:pt x="5595924" y="0"/>
                </a:lnTo>
                <a:cubicBezTo>
                  <a:pt x="5648537" y="0"/>
                  <a:pt x="5691188" y="42651"/>
                  <a:pt x="5691188" y="95264"/>
                </a:cubicBezTo>
                <a:lnTo>
                  <a:pt x="5691188" y="3627424"/>
                </a:lnTo>
                <a:cubicBezTo>
                  <a:pt x="5691188" y="3680037"/>
                  <a:pt x="5648537" y="3722688"/>
                  <a:pt x="5595924" y="3722688"/>
                </a:cubicBezTo>
                <a:lnTo>
                  <a:pt x="95264" y="3722688"/>
                </a:lnTo>
                <a:cubicBezTo>
                  <a:pt x="42651" y="3722688"/>
                  <a:pt x="0" y="3680037"/>
                  <a:pt x="0" y="3627424"/>
                </a:cubicBezTo>
                <a:lnTo>
                  <a:pt x="0" y="95264"/>
                </a:lnTo>
                <a:cubicBezTo>
                  <a:pt x="0" y="42651"/>
                  <a:pt x="42651" y="0"/>
                  <a:pt x="95264" y="0"/>
                </a:cubicBezTo>
                <a:close/>
              </a:path>
            </a:pathLst>
          </a:custGeom>
          <a:solidFill>
            <a:srgbClr val="EAE7D6"/>
          </a:solidFill>
          <a:ln/>
        </p:spPr>
        <p:txBody>
          <a:bodyPr/>
          <a:lstStyle/>
          <a:p>
            <a:endParaRPr lang="en-US"/>
          </a:p>
        </p:txBody>
      </p:sp>
      <p:sp>
        <p:nvSpPr>
          <p:cNvPr id="33" name="Shape 31"/>
          <p:cNvSpPr/>
          <p:nvPr/>
        </p:nvSpPr>
        <p:spPr>
          <a:xfrm>
            <a:off x="6353969" y="1277938"/>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E07A5F"/>
          </a:solidFill>
          <a:ln/>
        </p:spPr>
        <p:txBody>
          <a:bodyPr/>
          <a:lstStyle/>
          <a:p>
            <a:endParaRPr lang="en-US"/>
          </a:p>
        </p:txBody>
      </p:sp>
      <p:sp>
        <p:nvSpPr>
          <p:cNvPr id="34" name="Text 32"/>
          <p:cNvSpPr/>
          <p:nvPr/>
        </p:nvSpPr>
        <p:spPr>
          <a:xfrm>
            <a:off x="6675438" y="1246188"/>
            <a:ext cx="1373188"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Code Examples</a:t>
            </a:r>
            <a:endParaRPr lang="en-US" sz="1600" dirty="0"/>
          </a:p>
        </p:txBody>
      </p:sp>
      <p:sp>
        <p:nvSpPr>
          <p:cNvPr id="35" name="Shape 33"/>
          <p:cNvSpPr/>
          <p:nvPr/>
        </p:nvSpPr>
        <p:spPr>
          <a:xfrm>
            <a:off x="6342063" y="1627188"/>
            <a:ext cx="5365750" cy="1619250"/>
          </a:xfrm>
          <a:custGeom>
            <a:avLst/>
            <a:gdLst/>
            <a:ahLst/>
            <a:cxnLst/>
            <a:rect l="l" t="t" r="r" b="b"/>
            <a:pathLst>
              <a:path w="5365750" h="1619250">
                <a:moveTo>
                  <a:pt x="63507" y="0"/>
                </a:moveTo>
                <a:lnTo>
                  <a:pt x="5302243" y="0"/>
                </a:lnTo>
                <a:cubicBezTo>
                  <a:pt x="5337317" y="0"/>
                  <a:pt x="5365750" y="28433"/>
                  <a:pt x="5365750" y="63507"/>
                </a:cubicBezTo>
                <a:lnTo>
                  <a:pt x="5365750" y="1555743"/>
                </a:lnTo>
                <a:cubicBezTo>
                  <a:pt x="5365750" y="1590817"/>
                  <a:pt x="5337317" y="1619250"/>
                  <a:pt x="5302243" y="1619250"/>
                </a:cubicBezTo>
                <a:lnTo>
                  <a:pt x="63507" y="1619250"/>
                </a:lnTo>
                <a:cubicBezTo>
                  <a:pt x="28433" y="1619250"/>
                  <a:pt x="0" y="1590817"/>
                  <a:pt x="0" y="1555743"/>
                </a:cubicBezTo>
                <a:lnTo>
                  <a:pt x="0" y="63507"/>
                </a:lnTo>
                <a:cubicBezTo>
                  <a:pt x="0" y="28457"/>
                  <a:pt x="28457" y="0"/>
                  <a:pt x="63507" y="0"/>
                </a:cubicBezTo>
                <a:close/>
              </a:path>
            </a:pathLst>
          </a:custGeom>
          <a:solidFill>
            <a:srgbClr val="EAE7D6"/>
          </a:solidFill>
          <a:ln/>
        </p:spPr>
        <p:txBody>
          <a:bodyPr/>
          <a:lstStyle/>
          <a:p>
            <a:endParaRPr lang="en-US"/>
          </a:p>
        </p:txBody>
      </p:sp>
      <p:sp>
        <p:nvSpPr>
          <p:cNvPr id="36" name="Text 34"/>
          <p:cNvSpPr/>
          <p:nvPr/>
        </p:nvSpPr>
        <p:spPr>
          <a:xfrm>
            <a:off x="6469063" y="17541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Traditional Event-Based</a:t>
            </a:r>
            <a:endParaRPr lang="en-US" sz="1600" dirty="0"/>
          </a:p>
        </p:txBody>
      </p:sp>
      <p:sp>
        <p:nvSpPr>
          <p:cNvPr id="37" name="Shape 35"/>
          <p:cNvSpPr/>
          <p:nvPr/>
        </p:nvSpPr>
        <p:spPr>
          <a:xfrm>
            <a:off x="6469063" y="1976438"/>
            <a:ext cx="5111750" cy="1143000"/>
          </a:xfrm>
          <a:custGeom>
            <a:avLst/>
            <a:gdLst/>
            <a:ahLst/>
            <a:cxnLst/>
            <a:rect l="l" t="t" r="r" b="b"/>
            <a:pathLst>
              <a:path w="5111750" h="1143000">
                <a:moveTo>
                  <a:pt x="31753" y="0"/>
                </a:moveTo>
                <a:lnTo>
                  <a:pt x="5079997" y="0"/>
                </a:lnTo>
                <a:cubicBezTo>
                  <a:pt x="5097534" y="0"/>
                  <a:pt x="5111750" y="14216"/>
                  <a:pt x="5111750" y="31753"/>
                </a:cubicBezTo>
                <a:lnTo>
                  <a:pt x="5111750" y="1111247"/>
                </a:lnTo>
                <a:cubicBezTo>
                  <a:pt x="5111750" y="1128784"/>
                  <a:pt x="5097534" y="1143000"/>
                  <a:pt x="5079997" y="1143000"/>
                </a:cubicBezTo>
                <a:lnTo>
                  <a:pt x="31753" y="1143000"/>
                </a:lnTo>
                <a:cubicBezTo>
                  <a:pt x="14216" y="1143000"/>
                  <a:pt x="0" y="1128784"/>
                  <a:pt x="0" y="1111247"/>
                </a:cubicBezTo>
                <a:lnTo>
                  <a:pt x="0" y="31753"/>
                </a:lnTo>
                <a:cubicBezTo>
                  <a:pt x="0" y="14228"/>
                  <a:pt x="14228" y="0"/>
                  <a:pt x="31753" y="0"/>
                </a:cubicBezTo>
                <a:close/>
              </a:path>
            </a:pathLst>
          </a:custGeom>
          <a:solidFill>
            <a:srgbClr val="EAE7D6"/>
          </a:solidFill>
          <a:ln/>
        </p:spPr>
        <p:txBody>
          <a:bodyPr/>
          <a:lstStyle/>
          <a:p>
            <a:endParaRPr lang="en-US"/>
          </a:p>
        </p:txBody>
      </p:sp>
      <p:sp>
        <p:nvSpPr>
          <p:cNvPr id="38" name="Text 36"/>
          <p:cNvSpPr/>
          <p:nvPr/>
        </p:nvSpPr>
        <p:spPr>
          <a:xfrm>
            <a:off x="6564313" y="2071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readable.on('data', (chunk) =&gt; {</a:t>
            </a:r>
            <a:endParaRPr lang="en-US" sz="1600" dirty="0"/>
          </a:p>
        </p:txBody>
      </p:sp>
      <p:sp>
        <p:nvSpPr>
          <p:cNvPr id="39" name="Text 37"/>
          <p:cNvSpPr/>
          <p:nvPr/>
        </p:nvSpPr>
        <p:spPr>
          <a:xfrm>
            <a:off x="6564313" y="2230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console.log(chunk);</a:t>
            </a:r>
            <a:endParaRPr lang="en-US" sz="1600" dirty="0"/>
          </a:p>
        </p:txBody>
      </p:sp>
      <p:sp>
        <p:nvSpPr>
          <p:cNvPr id="40" name="Text 38"/>
          <p:cNvSpPr/>
          <p:nvPr/>
        </p:nvSpPr>
        <p:spPr>
          <a:xfrm>
            <a:off x="6564313" y="23891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41" name="Text 39"/>
          <p:cNvSpPr/>
          <p:nvPr/>
        </p:nvSpPr>
        <p:spPr>
          <a:xfrm>
            <a:off x="6564313" y="254793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readable.on('end', () =&gt; {</a:t>
            </a:r>
            <a:endParaRPr lang="en-US" sz="1600" dirty="0"/>
          </a:p>
        </p:txBody>
      </p:sp>
      <p:sp>
        <p:nvSpPr>
          <p:cNvPr id="42" name="Text 40"/>
          <p:cNvSpPr/>
          <p:nvPr/>
        </p:nvSpPr>
        <p:spPr>
          <a:xfrm>
            <a:off x="6564313" y="27066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console.log('done');</a:t>
            </a:r>
            <a:endParaRPr lang="en-US" sz="1600" dirty="0"/>
          </a:p>
        </p:txBody>
      </p:sp>
      <p:sp>
        <p:nvSpPr>
          <p:cNvPr id="43" name="Text 41"/>
          <p:cNvSpPr/>
          <p:nvPr/>
        </p:nvSpPr>
        <p:spPr>
          <a:xfrm>
            <a:off x="6564313" y="286543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a:t>
            </a:r>
            <a:endParaRPr lang="en-US" sz="1600" dirty="0"/>
          </a:p>
        </p:txBody>
      </p:sp>
      <p:sp>
        <p:nvSpPr>
          <p:cNvPr id="44" name="Shape 42"/>
          <p:cNvSpPr/>
          <p:nvPr/>
        </p:nvSpPr>
        <p:spPr>
          <a:xfrm>
            <a:off x="6342063" y="3341688"/>
            <a:ext cx="5365750" cy="1301750"/>
          </a:xfrm>
          <a:custGeom>
            <a:avLst/>
            <a:gdLst/>
            <a:ahLst/>
            <a:cxnLst/>
            <a:rect l="l" t="t" r="r" b="b"/>
            <a:pathLst>
              <a:path w="5365750" h="1301750">
                <a:moveTo>
                  <a:pt x="63499" y="0"/>
                </a:moveTo>
                <a:lnTo>
                  <a:pt x="5302251" y="0"/>
                </a:lnTo>
                <a:cubicBezTo>
                  <a:pt x="5337320" y="0"/>
                  <a:pt x="5365750" y="28430"/>
                  <a:pt x="5365750" y="63499"/>
                </a:cubicBezTo>
                <a:lnTo>
                  <a:pt x="5365750" y="1238251"/>
                </a:lnTo>
                <a:cubicBezTo>
                  <a:pt x="5365750" y="1273320"/>
                  <a:pt x="5337320" y="1301750"/>
                  <a:pt x="5302251" y="1301750"/>
                </a:cubicBezTo>
                <a:lnTo>
                  <a:pt x="63499" y="1301750"/>
                </a:lnTo>
                <a:cubicBezTo>
                  <a:pt x="28430" y="1301750"/>
                  <a:pt x="0" y="1273320"/>
                  <a:pt x="0" y="1238251"/>
                </a:cubicBezTo>
                <a:lnTo>
                  <a:pt x="0" y="63499"/>
                </a:lnTo>
                <a:cubicBezTo>
                  <a:pt x="0" y="28453"/>
                  <a:pt x="28453" y="0"/>
                  <a:pt x="63499" y="0"/>
                </a:cubicBezTo>
                <a:close/>
              </a:path>
            </a:pathLst>
          </a:custGeom>
          <a:solidFill>
            <a:srgbClr val="EAE7D6"/>
          </a:solidFill>
          <a:ln/>
        </p:spPr>
        <p:txBody>
          <a:bodyPr/>
          <a:lstStyle/>
          <a:p>
            <a:endParaRPr lang="en-US"/>
          </a:p>
        </p:txBody>
      </p:sp>
      <p:sp>
        <p:nvSpPr>
          <p:cNvPr id="45" name="Text 43"/>
          <p:cNvSpPr/>
          <p:nvPr/>
        </p:nvSpPr>
        <p:spPr>
          <a:xfrm>
            <a:off x="6469063" y="346868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Modern Async Iterator</a:t>
            </a:r>
            <a:endParaRPr lang="en-US" sz="1600" dirty="0"/>
          </a:p>
        </p:txBody>
      </p:sp>
      <p:sp>
        <p:nvSpPr>
          <p:cNvPr id="46" name="Shape 44"/>
          <p:cNvSpPr/>
          <p:nvPr/>
        </p:nvSpPr>
        <p:spPr>
          <a:xfrm>
            <a:off x="6469063" y="3690937"/>
            <a:ext cx="5111750" cy="825500"/>
          </a:xfrm>
          <a:custGeom>
            <a:avLst/>
            <a:gdLst/>
            <a:ahLst/>
            <a:cxnLst/>
            <a:rect l="l" t="t" r="r" b="b"/>
            <a:pathLst>
              <a:path w="5111750" h="825500">
                <a:moveTo>
                  <a:pt x="31749" y="0"/>
                </a:moveTo>
                <a:lnTo>
                  <a:pt x="5080001" y="0"/>
                </a:lnTo>
                <a:cubicBezTo>
                  <a:pt x="5097536" y="0"/>
                  <a:pt x="5111750" y="14214"/>
                  <a:pt x="5111750" y="31749"/>
                </a:cubicBezTo>
                <a:lnTo>
                  <a:pt x="5111750" y="793751"/>
                </a:lnTo>
                <a:cubicBezTo>
                  <a:pt x="5111750" y="811286"/>
                  <a:pt x="5097536" y="825500"/>
                  <a:pt x="5080001" y="825500"/>
                </a:cubicBezTo>
                <a:lnTo>
                  <a:pt x="31749" y="825500"/>
                </a:lnTo>
                <a:cubicBezTo>
                  <a:pt x="14214" y="825500"/>
                  <a:pt x="0" y="811286"/>
                  <a:pt x="0" y="793751"/>
                </a:cubicBezTo>
                <a:lnTo>
                  <a:pt x="0" y="31749"/>
                </a:lnTo>
                <a:cubicBezTo>
                  <a:pt x="0" y="14226"/>
                  <a:pt x="14226" y="0"/>
                  <a:pt x="31749" y="0"/>
                </a:cubicBezTo>
                <a:close/>
              </a:path>
            </a:pathLst>
          </a:custGeom>
          <a:solidFill>
            <a:srgbClr val="EAE7D6"/>
          </a:solidFill>
          <a:ln/>
        </p:spPr>
        <p:txBody>
          <a:bodyPr/>
          <a:lstStyle/>
          <a:p>
            <a:endParaRPr lang="en-US"/>
          </a:p>
        </p:txBody>
      </p:sp>
      <p:sp>
        <p:nvSpPr>
          <p:cNvPr id="47" name="Text 45"/>
          <p:cNvSpPr/>
          <p:nvPr/>
        </p:nvSpPr>
        <p:spPr>
          <a:xfrm>
            <a:off x="6564313" y="37861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for await (const chunk of readable) {</a:t>
            </a:r>
            <a:endParaRPr lang="en-US" sz="1600" dirty="0"/>
          </a:p>
        </p:txBody>
      </p:sp>
      <p:sp>
        <p:nvSpPr>
          <p:cNvPr id="48" name="Text 46"/>
          <p:cNvSpPr/>
          <p:nvPr/>
        </p:nvSpPr>
        <p:spPr>
          <a:xfrm>
            <a:off x="6564313" y="3944937"/>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console.log(chunk);</a:t>
            </a:r>
            <a:endParaRPr lang="en-US" sz="1600" dirty="0"/>
          </a:p>
        </p:txBody>
      </p:sp>
      <p:sp>
        <p:nvSpPr>
          <p:cNvPr id="49" name="Text 47"/>
          <p:cNvSpPr/>
          <p:nvPr/>
        </p:nvSpPr>
        <p:spPr>
          <a:xfrm>
            <a:off x="6564313" y="4103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50" name="Text 48"/>
          <p:cNvSpPr/>
          <p:nvPr/>
        </p:nvSpPr>
        <p:spPr>
          <a:xfrm>
            <a:off x="6564313" y="426243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console.log('done');</a:t>
            </a:r>
            <a:endParaRPr lang="en-US" sz="1600" dirty="0"/>
          </a:p>
        </p:txBody>
      </p:sp>
      <p:sp>
        <p:nvSpPr>
          <p:cNvPr id="51" name="Shape 49"/>
          <p:cNvSpPr/>
          <p:nvPr/>
        </p:nvSpPr>
        <p:spPr>
          <a:xfrm>
            <a:off x="6179344" y="4941094"/>
            <a:ext cx="5691188" cy="1309688"/>
          </a:xfrm>
          <a:custGeom>
            <a:avLst/>
            <a:gdLst/>
            <a:ahLst/>
            <a:cxnLst/>
            <a:rect l="l" t="t" r="r" b="b"/>
            <a:pathLst>
              <a:path w="5691188" h="1309688">
                <a:moveTo>
                  <a:pt x="95254" y="0"/>
                </a:moveTo>
                <a:lnTo>
                  <a:pt x="5595934" y="0"/>
                </a:lnTo>
                <a:cubicBezTo>
                  <a:pt x="5648506" y="0"/>
                  <a:pt x="5691188" y="42682"/>
                  <a:pt x="5691188" y="95254"/>
                </a:cubicBezTo>
                <a:lnTo>
                  <a:pt x="5691188" y="1214434"/>
                </a:lnTo>
                <a:cubicBezTo>
                  <a:pt x="5691188" y="1267041"/>
                  <a:pt x="5648541" y="1309688"/>
                  <a:pt x="5595934" y="1309688"/>
                </a:cubicBezTo>
                <a:lnTo>
                  <a:pt x="95254" y="1309688"/>
                </a:lnTo>
                <a:cubicBezTo>
                  <a:pt x="42682" y="1309688"/>
                  <a:pt x="0" y="1267006"/>
                  <a:pt x="0" y="1214434"/>
                </a:cubicBezTo>
                <a:lnTo>
                  <a:pt x="0" y="95254"/>
                </a:lnTo>
                <a:cubicBezTo>
                  <a:pt x="0" y="42682"/>
                  <a:pt x="42682" y="0"/>
                  <a:pt x="95254" y="0"/>
                </a:cubicBezTo>
                <a:close/>
              </a:path>
            </a:pathLst>
          </a:custGeom>
          <a:solidFill>
            <a:srgbClr val="EAE7D6"/>
          </a:solidFill>
          <a:ln/>
        </p:spPr>
        <p:txBody>
          <a:bodyPr/>
          <a:lstStyle/>
          <a:p>
            <a:endParaRPr lang="en-US"/>
          </a:p>
        </p:txBody>
      </p:sp>
      <p:sp>
        <p:nvSpPr>
          <p:cNvPr id="52" name="Shape 50"/>
          <p:cNvSpPr/>
          <p:nvPr/>
        </p:nvSpPr>
        <p:spPr>
          <a:xfrm>
            <a:off x="6361906" y="5135563"/>
            <a:ext cx="158750" cy="158750"/>
          </a:xfrm>
          <a:custGeom>
            <a:avLst/>
            <a:gdLst/>
            <a:ahLst/>
            <a:cxnLst/>
            <a:rect l="l" t="t" r="r" b="b"/>
            <a:pathLst>
              <a:path w="158750" h="158750">
                <a:moveTo>
                  <a:pt x="37207" y="17363"/>
                </a:moveTo>
                <a:cubicBezTo>
                  <a:pt x="37207" y="7782"/>
                  <a:pt x="44990" y="0"/>
                  <a:pt x="54570" y="0"/>
                </a:cubicBezTo>
                <a:lnTo>
                  <a:pt x="62012" y="0"/>
                </a:lnTo>
                <a:cubicBezTo>
                  <a:pt x="67500" y="0"/>
                  <a:pt x="71934" y="4434"/>
                  <a:pt x="71934" y="9922"/>
                </a:cubicBezTo>
                <a:lnTo>
                  <a:pt x="71934" y="148828"/>
                </a:lnTo>
                <a:cubicBezTo>
                  <a:pt x="71934" y="154316"/>
                  <a:pt x="67500" y="158750"/>
                  <a:pt x="62012" y="158750"/>
                </a:cubicBezTo>
                <a:lnTo>
                  <a:pt x="52090" y="158750"/>
                </a:lnTo>
                <a:cubicBezTo>
                  <a:pt x="42850" y="158750"/>
                  <a:pt x="35068" y="152425"/>
                  <a:pt x="32866" y="143867"/>
                </a:cubicBezTo>
                <a:cubicBezTo>
                  <a:pt x="32649" y="143867"/>
                  <a:pt x="32463" y="143867"/>
                  <a:pt x="32246" y="143867"/>
                </a:cubicBezTo>
                <a:cubicBezTo>
                  <a:pt x="18542" y="143867"/>
                  <a:pt x="7441" y="132767"/>
                  <a:pt x="7441" y="119062"/>
                </a:cubicBezTo>
                <a:cubicBezTo>
                  <a:pt x="7441" y="113481"/>
                  <a:pt x="9302" y="108334"/>
                  <a:pt x="12402" y="104180"/>
                </a:cubicBezTo>
                <a:cubicBezTo>
                  <a:pt x="6387" y="99653"/>
                  <a:pt x="2480" y="92459"/>
                  <a:pt x="2480" y="84336"/>
                </a:cubicBezTo>
                <a:cubicBezTo>
                  <a:pt x="2480" y="74755"/>
                  <a:pt x="7938" y="66415"/>
                  <a:pt x="15875" y="62291"/>
                </a:cubicBezTo>
                <a:cubicBezTo>
                  <a:pt x="13674" y="58570"/>
                  <a:pt x="12402" y="54229"/>
                  <a:pt x="12402" y="49609"/>
                </a:cubicBezTo>
                <a:cubicBezTo>
                  <a:pt x="12402" y="35905"/>
                  <a:pt x="23502" y="24805"/>
                  <a:pt x="37207" y="24805"/>
                </a:cubicBezTo>
                <a:lnTo>
                  <a:pt x="37207" y="17363"/>
                </a:lnTo>
                <a:close/>
                <a:moveTo>
                  <a:pt x="121543" y="17363"/>
                </a:moveTo>
                <a:lnTo>
                  <a:pt x="121543" y="24805"/>
                </a:lnTo>
                <a:cubicBezTo>
                  <a:pt x="135248" y="24805"/>
                  <a:pt x="146348" y="35905"/>
                  <a:pt x="146348" y="49609"/>
                </a:cubicBezTo>
                <a:cubicBezTo>
                  <a:pt x="146348" y="54260"/>
                  <a:pt x="145076" y="58601"/>
                  <a:pt x="142875" y="62291"/>
                </a:cubicBezTo>
                <a:cubicBezTo>
                  <a:pt x="150844" y="66415"/>
                  <a:pt x="156270" y="74724"/>
                  <a:pt x="156270" y="84336"/>
                </a:cubicBezTo>
                <a:cubicBezTo>
                  <a:pt x="156270" y="92459"/>
                  <a:pt x="152363" y="99653"/>
                  <a:pt x="146348" y="104180"/>
                </a:cubicBezTo>
                <a:cubicBezTo>
                  <a:pt x="149448" y="108334"/>
                  <a:pt x="151309" y="113481"/>
                  <a:pt x="151309" y="119062"/>
                </a:cubicBezTo>
                <a:cubicBezTo>
                  <a:pt x="151309" y="132767"/>
                  <a:pt x="140208" y="143867"/>
                  <a:pt x="126504" y="143867"/>
                </a:cubicBezTo>
                <a:cubicBezTo>
                  <a:pt x="126287" y="143867"/>
                  <a:pt x="126101" y="143867"/>
                  <a:pt x="125884" y="143867"/>
                </a:cubicBezTo>
                <a:cubicBezTo>
                  <a:pt x="123682" y="152425"/>
                  <a:pt x="115900" y="158750"/>
                  <a:pt x="106660" y="158750"/>
                </a:cubicBezTo>
                <a:lnTo>
                  <a:pt x="96738" y="158750"/>
                </a:lnTo>
                <a:cubicBezTo>
                  <a:pt x="91250" y="158750"/>
                  <a:pt x="86816" y="154316"/>
                  <a:pt x="86816" y="148828"/>
                </a:cubicBezTo>
                <a:lnTo>
                  <a:pt x="86816" y="9922"/>
                </a:lnTo>
                <a:cubicBezTo>
                  <a:pt x="86816" y="4434"/>
                  <a:pt x="91250" y="0"/>
                  <a:pt x="96738" y="0"/>
                </a:cubicBezTo>
                <a:lnTo>
                  <a:pt x="104180" y="0"/>
                </a:lnTo>
                <a:cubicBezTo>
                  <a:pt x="113760" y="0"/>
                  <a:pt x="121543" y="7782"/>
                  <a:pt x="121543" y="17363"/>
                </a:cubicBezTo>
                <a:close/>
              </a:path>
            </a:pathLst>
          </a:custGeom>
          <a:solidFill>
            <a:srgbClr val="8D99AE"/>
          </a:solidFill>
          <a:ln/>
        </p:spPr>
        <p:txBody>
          <a:bodyPr/>
          <a:lstStyle/>
          <a:p>
            <a:endParaRPr lang="en-US"/>
          </a:p>
        </p:txBody>
      </p:sp>
      <p:sp>
        <p:nvSpPr>
          <p:cNvPr id="53" name="Text 51"/>
          <p:cNvSpPr/>
          <p:nvPr/>
        </p:nvSpPr>
        <p:spPr>
          <a:xfrm>
            <a:off x="6635750" y="5103813"/>
            <a:ext cx="1936750"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Shows Modern Knowledge</a:t>
            </a:r>
            <a:endParaRPr lang="en-US" sz="1600" dirty="0"/>
          </a:p>
        </p:txBody>
      </p:sp>
      <p:sp>
        <p:nvSpPr>
          <p:cNvPr id="54" name="Shape 52"/>
          <p:cNvSpPr/>
          <p:nvPr/>
        </p:nvSpPr>
        <p:spPr>
          <a:xfrm>
            <a:off x="6342063" y="5421313"/>
            <a:ext cx="5365750" cy="666750"/>
          </a:xfrm>
          <a:custGeom>
            <a:avLst/>
            <a:gdLst/>
            <a:ahLst/>
            <a:cxnLst/>
            <a:rect l="l" t="t" r="r" b="b"/>
            <a:pathLst>
              <a:path w="5365750" h="666750">
                <a:moveTo>
                  <a:pt x="63501" y="0"/>
                </a:moveTo>
                <a:lnTo>
                  <a:pt x="5302249" y="0"/>
                </a:lnTo>
                <a:cubicBezTo>
                  <a:pt x="5337320" y="0"/>
                  <a:pt x="5365750" y="28430"/>
                  <a:pt x="5365750" y="63501"/>
                </a:cubicBezTo>
                <a:lnTo>
                  <a:pt x="5365750" y="603249"/>
                </a:lnTo>
                <a:cubicBezTo>
                  <a:pt x="5365750" y="638320"/>
                  <a:pt x="5337320" y="666750"/>
                  <a:pt x="5302249" y="666750"/>
                </a:cubicBezTo>
                <a:lnTo>
                  <a:pt x="63501" y="666750"/>
                </a:lnTo>
                <a:cubicBezTo>
                  <a:pt x="28430" y="666750"/>
                  <a:pt x="0" y="638320"/>
                  <a:pt x="0" y="603249"/>
                </a:cubicBezTo>
                <a:lnTo>
                  <a:pt x="0" y="63501"/>
                </a:lnTo>
                <a:cubicBezTo>
                  <a:pt x="0" y="28454"/>
                  <a:pt x="28454" y="0"/>
                  <a:pt x="63501" y="0"/>
                </a:cubicBezTo>
                <a:close/>
              </a:path>
            </a:pathLst>
          </a:custGeom>
          <a:solidFill>
            <a:srgbClr val="EAE7D6"/>
          </a:solidFill>
          <a:ln/>
        </p:spPr>
        <p:txBody>
          <a:bodyPr/>
          <a:lstStyle/>
          <a:p>
            <a:endParaRPr lang="en-US"/>
          </a:p>
        </p:txBody>
      </p:sp>
      <p:sp>
        <p:nvSpPr>
          <p:cNvPr id="55" name="Text 53"/>
          <p:cNvSpPr/>
          <p:nvPr/>
        </p:nvSpPr>
        <p:spPr>
          <a:xfrm>
            <a:off x="6469063" y="5548313"/>
            <a:ext cx="5175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Using async iterators in interviews demonstrates you're up-to-date with modern Node.js patterns (ES2018+) and prefer clean, maintainable code over legacy approaches.</a:t>
            </a:r>
            <a:endParaRPr lang="en-US" sz="1600" dirty="0"/>
          </a:p>
        </p:txBody>
      </p:sp>
      <p:sp>
        <p:nvSpPr>
          <p:cNvPr id="56" name="Shape 54"/>
          <p:cNvSpPr/>
          <p:nvPr/>
        </p:nvSpPr>
        <p:spPr>
          <a:xfrm>
            <a:off x="321469" y="6544469"/>
            <a:ext cx="11549063" cy="674688"/>
          </a:xfrm>
          <a:custGeom>
            <a:avLst/>
            <a:gdLst/>
            <a:ahLst/>
            <a:cxnLst/>
            <a:rect l="l" t="t" r="r" b="b"/>
            <a:pathLst>
              <a:path w="11549063" h="674688">
                <a:moveTo>
                  <a:pt x="63502" y="0"/>
                </a:moveTo>
                <a:lnTo>
                  <a:pt x="11485561" y="0"/>
                </a:lnTo>
                <a:cubicBezTo>
                  <a:pt x="11520632" y="0"/>
                  <a:pt x="11549063" y="28431"/>
                  <a:pt x="11549063" y="63502"/>
                </a:cubicBezTo>
                <a:lnTo>
                  <a:pt x="11549063" y="611186"/>
                </a:lnTo>
                <a:cubicBezTo>
                  <a:pt x="11549062" y="646257"/>
                  <a:pt x="11520632" y="674688"/>
                  <a:pt x="11485561" y="674688"/>
                </a:cubicBezTo>
                <a:lnTo>
                  <a:pt x="63502" y="674688"/>
                </a:lnTo>
                <a:cubicBezTo>
                  <a:pt x="28431" y="674688"/>
                  <a:pt x="0" y="646257"/>
                  <a:pt x="0" y="611186"/>
                </a:cubicBezTo>
                <a:lnTo>
                  <a:pt x="0" y="63502"/>
                </a:lnTo>
                <a:cubicBezTo>
                  <a:pt x="0" y="28454"/>
                  <a:pt x="28454" y="0"/>
                  <a:pt x="63502" y="0"/>
                </a:cubicBezTo>
                <a:close/>
              </a:path>
            </a:pathLst>
          </a:custGeom>
          <a:solidFill>
            <a:srgbClr val="EAE7D6"/>
          </a:solidFill>
          <a:ln/>
        </p:spPr>
        <p:txBody>
          <a:bodyPr/>
          <a:lstStyle/>
          <a:p>
            <a:endParaRPr lang="en-US"/>
          </a:p>
        </p:txBody>
      </p:sp>
      <p:sp>
        <p:nvSpPr>
          <p:cNvPr id="57" name="Shape 55"/>
          <p:cNvSpPr/>
          <p:nvPr/>
        </p:nvSpPr>
        <p:spPr>
          <a:xfrm>
            <a:off x="462359" y="6802438"/>
            <a:ext cx="178594" cy="158750"/>
          </a:xfrm>
          <a:custGeom>
            <a:avLst/>
            <a:gdLst/>
            <a:ahLst/>
            <a:cxnLst/>
            <a:rect l="l" t="t" r="r" b="b"/>
            <a:pathLst>
              <a:path w="178594" h="158750">
                <a:moveTo>
                  <a:pt x="14883" y="60709"/>
                </a:moveTo>
                <a:lnTo>
                  <a:pt x="79747" y="87406"/>
                </a:lnTo>
                <a:cubicBezTo>
                  <a:pt x="82786" y="88646"/>
                  <a:pt x="86010" y="89297"/>
                  <a:pt x="89297" y="89297"/>
                </a:cubicBezTo>
                <a:cubicBezTo>
                  <a:pt x="92583" y="89297"/>
                  <a:pt x="95808" y="88646"/>
                  <a:pt x="98847" y="87406"/>
                </a:cubicBezTo>
                <a:lnTo>
                  <a:pt x="174005" y="56462"/>
                </a:lnTo>
                <a:cubicBezTo>
                  <a:pt x="176795" y="55314"/>
                  <a:pt x="178594" y="52617"/>
                  <a:pt x="178594" y="49609"/>
                </a:cubicBezTo>
                <a:cubicBezTo>
                  <a:pt x="178594" y="46602"/>
                  <a:pt x="176795" y="43904"/>
                  <a:pt x="174005" y="42757"/>
                </a:cubicBezTo>
                <a:lnTo>
                  <a:pt x="98847" y="11813"/>
                </a:lnTo>
                <a:cubicBezTo>
                  <a:pt x="95808" y="10573"/>
                  <a:pt x="92583" y="9922"/>
                  <a:pt x="89297" y="9922"/>
                </a:cubicBezTo>
                <a:cubicBezTo>
                  <a:pt x="86010" y="9922"/>
                  <a:pt x="82786" y="10573"/>
                  <a:pt x="79747" y="11813"/>
                </a:cubicBezTo>
                <a:lnTo>
                  <a:pt x="4589" y="42757"/>
                </a:lnTo>
                <a:cubicBezTo>
                  <a:pt x="1798" y="43904"/>
                  <a:pt x="0" y="46602"/>
                  <a:pt x="0" y="49609"/>
                </a:cubicBezTo>
                <a:lnTo>
                  <a:pt x="0" y="141387"/>
                </a:lnTo>
                <a:cubicBezTo>
                  <a:pt x="0" y="145510"/>
                  <a:pt x="3318" y="148828"/>
                  <a:pt x="7441" y="148828"/>
                </a:cubicBezTo>
                <a:cubicBezTo>
                  <a:pt x="11565" y="148828"/>
                  <a:pt x="14883" y="145510"/>
                  <a:pt x="14883" y="141387"/>
                </a:cubicBezTo>
                <a:lnTo>
                  <a:pt x="14883" y="60709"/>
                </a:lnTo>
                <a:close/>
                <a:moveTo>
                  <a:pt x="29766" y="82941"/>
                </a:moveTo>
                <a:lnTo>
                  <a:pt x="29766" y="119062"/>
                </a:lnTo>
                <a:cubicBezTo>
                  <a:pt x="29766" y="135496"/>
                  <a:pt x="56431" y="148828"/>
                  <a:pt x="89297" y="148828"/>
                </a:cubicBezTo>
                <a:cubicBezTo>
                  <a:pt x="122163" y="148828"/>
                  <a:pt x="148828" y="135496"/>
                  <a:pt x="148828" y="119062"/>
                </a:cubicBezTo>
                <a:lnTo>
                  <a:pt x="148828" y="82910"/>
                </a:lnTo>
                <a:lnTo>
                  <a:pt x="104521" y="101172"/>
                </a:lnTo>
                <a:cubicBezTo>
                  <a:pt x="99684" y="103156"/>
                  <a:pt x="94537" y="104180"/>
                  <a:pt x="89297" y="104180"/>
                </a:cubicBezTo>
                <a:cubicBezTo>
                  <a:pt x="84057" y="104180"/>
                  <a:pt x="78910" y="103156"/>
                  <a:pt x="74073" y="101172"/>
                </a:cubicBezTo>
                <a:lnTo>
                  <a:pt x="29766" y="82910"/>
                </a:lnTo>
                <a:close/>
              </a:path>
            </a:pathLst>
          </a:custGeom>
          <a:solidFill>
            <a:srgbClr val="8D99AE"/>
          </a:solidFill>
          <a:ln/>
        </p:spPr>
        <p:txBody>
          <a:bodyPr/>
          <a:lstStyle/>
          <a:p>
            <a:endParaRPr lang="en-US"/>
          </a:p>
        </p:txBody>
      </p:sp>
      <p:sp>
        <p:nvSpPr>
          <p:cNvPr id="58" name="Text 56"/>
          <p:cNvSpPr/>
          <p:nvPr/>
        </p:nvSpPr>
        <p:spPr>
          <a:xfrm>
            <a:off x="746125" y="6675438"/>
            <a:ext cx="10088563"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Shows Modern Node.js Knowledge</a:t>
            </a:r>
            <a:endParaRPr lang="en-US" sz="1600" dirty="0"/>
          </a:p>
        </p:txBody>
      </p:sp>
      <p:sp>
        <p:nvSpPr>
          <p:cNvPr id="59" name="Text 57"/>
          <p:cNvSpPr/>
          <p:nvPr/>
        </p:nvSpPr>
        <p:spPr>
          <a:xfrm>
            <a:off x="746125" y="6897688"/>
            <a:ext cx="10080625" cy="190500"/>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Async iterators represent the evolution of stream handling in Node.js. Mentioning them in interviews shows you stay current with language features and prefer modern, clean solutions.</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08781" y="476250"/>
            <a:ext cx="198438" cy="158750"/>
          </a:xfrm>
          <a:custGeom>
            <a:avLst/>
            <a:gdLst/>
            <a:ahLst/>
            <a:cxnLst/>
            <a:rect l="l" t="t" r="r" b="b"/>
            <a:pathLst>
              <a:path w="198438" h="158750">
                <a:moveTo>
                  <a:pt x="76553" y="5674"/>
                </a:moveTo>
                <a:lnTo>
                  <a:pt x="84026" y="1178"/>
                </a:lnTo>
                <a:cubicBezTo>
                  <a:pt x="90723" y="-2853"/>
                  <a:pt x="98382" y="-4961"/>
                  <a:pt x="106195" y="-4961"/>
                </a:cubicBezTo>
                <a:cubicBezTo>
                  <a:pt x="117605" y="-4961"/>
                  <a:pt x="128581" y="-434"/>
                  <a:pt x="136643" y="7658"/>
                </a:cubicBezTo>
                <a:lnTo>
                  <a:pt x="156456" y="27471"/>
                </a:lnTo>
                <a:cubicBezTo>
                  <a:pt x="161106" y="32122"/>
                  <a:pt x="163711" y="38447"/>
                  <a:pt x="163711" y="45021"/>
                </a:cubicBezTo>
                <a:lnTo>
                  <a:pt x="163711" y="54601"/>
                </a:lnTo>
                <a:lnTo>
                  <a:pt x="169819" y="60709"/>
                </a:lnTo>
                <a:lnTo>
                  <a:pt x="169819" y="60709"/>
                </a:lnTo>
                <a:cubicBezTo>
                  <a:pt x="174656" y="55873"/>
                  <a:pt x="182500" y="55873"/>
                  <a:pt x="187368" y="60709"/>
                </a:cubicBezTo>
                <a:cubicBezTo>
                  <a:pt x="192236" y="65546"/>
                  <a:pt x="192205" y="73391"/>
                  <a:pt x="187368" y="78259"/>
                </a:cubicBezTo>
                <a:lnTo>
                  <a:pt x="167525" y="98103"/>
                </a:lnTo>
                <a:cubicBezTo>
                  <a:pt x="162688" y="102939"/>
                  <a:pt x="154843" y="102939"/>
                  <a:pt x="149975" y="98103"/>
                </a:cubicBezTo>
                <a:cubicBezTo>
                  <a:pt x="145107" y="93266"/>
                  <a:pt x="145138" y="85421"/>
                  <a:pt x="149975" y="80553"/>
                </a:cubicBezTo>
                <a:lnTo>
                  <a:pt x="143867" y="74414"/>
                </a:lnTo>
                <a:lnTo>
                  <a:pt x="134286" y="74414"/>
                </a:lnTo>
                <a:cubicBezTo>
                  <a:pt x="127713" y="74414"/>
                  <a:pt x="121388" y="71810"/>
                  <a:pt x="116737" y="67159"/>
                </a:cubicBezTo>
                <a:lnTo>
                  <a:pt x="101513" y="51935"/>
                </a:lnTo>
                <a:cubicBezTo>
                  <a:pt x="96862" y="47284"/>
                  <a:pt x="94258" y="40959"/>
                  <a:pt x="94258" y="34385"/>
                </a:cubicBezTo>
                <a:lnTo>
                  <a:pt x="94258" y="30448"/>
                </a:lnTo>
                <a:cubicBezTo>
                  <a:pt x="94258" y="26975"/>
                  <a:pt x="92428" y="23719"/>
                  <a:pt x="89452" y="21952"/>
                </a:cubicBezTo>
                <a:lnTo>
                  <a:pt x="76553" y="14201"/>
                </a:lnTo>
                <a:cubicBezTo>
                  <a:pt x="73329" y="12278"/>
                  <a:pt x="73329" y="7627"/>
                  <a:pt x="76553" y="5705"/>
                </a:cubicBezTo>
                <a:close/>
                <a:moveTo>
                  <a:pt x="15720" y="124861"/>
                </a:moveTo>
                <a:lnTo>
                  <a:pt x="84584" y="55997"/>
                </a:lnTo>
                <a:lnTo>
                  <a:pt x="112644" y="84057"/>
                </a:lnTo>
                <a:lnTo>
                  <a:pt x="43780" y="152921"/>
                </a:lnTo>
                <a:cubicBezTo>
                  <a:pt x="36029" y="160672"/>
                  <a:pt x="23471" y="160672"/>
                  <a:pt x="15720" y="152921"/>
                </a:cubicBezTo>
                <a:cubicBezTo>
                  <a:pt x="7969" y="145169"/>
                  <a:pt x="7969" y="132612"/>
                  <a:pt x="15720" y="124861"/>
                </a:cubicBezTo>
                <a:close/>
              </a:path>
            </a:pathLst>
          </a:custGeom>
          <a:solidFill>
            <a:srgbClr val="FFFFFF"/>
          </a:solidFill>
          <a:ln/>
        </p:spPr>
        <p:txBody>
          <a:bodyPr/>
          <a:lstStyle/>
          <a:p>
            <a:endParaRPr lang="en-US"/>
          </a:p>
        </p:txBody>
      </p:sp>
      <p:sp>
        <p:nvSpPr>
          <p:cNvPr id="4" name="Text 2"/>
          <p:cNvSpPr/>
          <p:nvPr/>
        </p:nvSpPr>
        <p:spPr>
          <a:xfrm>
            <a:off x="793750" y="317500"/>
            <a:ext cx="2159000"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Advanced Topic</a:t>
            </a:r>
            <a:endParaRPr lang="en-US" sz="1600" dirty="0"/>
          </a:p>
        </p:txBody>
      </p:sp>
      <p:sp>
        <p:nvSpPr>
          <p:cNvPr id="5" name="Text 3"/>
          <p:cNvSpPr/>
          <p:nvPr/>
        </p:nvSpPr>
        <p:spPr>
          <a:xfrm>
            <a:off x="793750" y="476250"/>
            <a:ext cx="2246313"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Custom Streams</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8D99AE"/>
              </a:gs>
              <a:gs pos="100000">
                <a:srgbClr val="8D99AE"/>
              </a:gs>
            </a:gsLst>
            <a:lin ang="0" scaled="1"/>
          </a:gradFill>
          <a:ln/>
        </p:spPr>
        <p:txBody>
          <a:bodyPr/>
          <a:lstStyle/>
          <a:p>
            <a:endParaRPr lang="en-US"/>
          </a:p>
        </p:txBody>
      </p:sp>
      <p:sp>
        <p:nvSpPr>
          <p:cNvPr id="7" name="Shape 5"/>
          <p:cNvSpPr/>
          <p:nvPr/>
        </p:nvSpPr>
        <p:spPr>
          <a:xfrm>
            <a:off x="321469" y="1083469"/>
            <a:ext cx="5691188" cy="2611438"/>
          </a:xfrm>
          <a:custGeom>
            <a:avLst/>
            <a:gdLst/>
            <a:ahLst/>
            <a:cxnLst/>
            <a:rect l="l" t="t" r="r" b="b"/>
            <a:pathLst>
              <a:path w="5691188" h="2611438">
                <a:moveTo>
                  <a:pt x="95239" y="0"/>
                </a:moveTo>
                <a:lnTo>
                  <a:pt x="5595948" y="0"/>
                </a:lnTo>
                <a:cubicBezTo>
                  <a:pt x="5648547" y="0"/>
                  <a:pt x="5691187" y="42640"/>
                  <a:pt x="5691187" y="95239"/>
                </a:cubicBezTo>
                <a:lnTo>
                  <a:pt x="5691188" y="2516198"/>
                </a:lnTo>
                <a:cubicBezTo>
                  <a:pt x="5691187" y="2568797"/>
                  <a:pt x="5648547" y="2611437"/>
                  <a:pt x="5595948" y="2611438"/>
                </a:cubicBezTo>
                <a:lnTo>
                  <a:pt x="95239" y="2611438"/>
                </a:lnTo>
                <a:cubicBezTo>
                  <a:pt x="42640" y="2611438"/>
                  <a:pt x="0" y="2568797"/>
                  <a:pt x="0" y="2516198"/>
                </a:cubicBezTo>
                <a:lnTo>
                  <a:pt x="0" y="95239"/>
                </a:lnTo>
                <a:cubicBezTo>
                  <a:pt x="0" y="42675"/>
                  <a:pt x="42675" y="0"/>
                  <a:pt x="95239" y="0"/>
                </a:cubicBezTo>
                <a:close/>
              </a:path>
            </a:pathLst>
          </a:custGeom>
          <a:solidFill>
            <a:srgbClr val="EAE7D6"/>
          </a:solidFill>
          <a:ln/>
        </p:spPr>
        <p:txBody>
          <a:bodyPr/>
          <a:lstStyle/>
          <a:p>
            <a:endParaRPr lang="en-US"/>
          </a:p>
        </p:txBody>
      </p:sp>
      <p:sp>
        <p:nvSpPr>
          <p:cNvPr id="8" name="Shape 6"/>
          <p:cNvSpPr/>
          <p:nvPr/>
        </p:nvSpPr>
        <p:spPr>
          <a:xfrm>
            <a:off x="484187" y="1277938"/>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8D99AE"/>
          </a:solidFill>
          <a:ln/>
        </p:spPr>
        <p:txBody>
          <a:bodyPr/>
          <a:lstStyle/>
          <a:p>
            <a:endParaRPr lang="en-US"/>
          </a:p>
        </p:txBody>
      </p:sp>
      <p:sp>
        <p:nvSpPr>
          <p:cNvPr id="9" name="Text 7"/>
          <p:cNvSpPr/>
          <p:nvPr/>
        </p:nvSpPr>
        <p:spPr>
          <a:xfrm>
            <a:off x="817563" y="1246188"/>
            <a:ext cx="2190750"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Creating Custom Streams</a:t>
            </a:r>
            <a:endParaRPr lang="en-US" sz="1600" dirty="0"/>
          </a:p>
        </p:txBody>
      </p:sp>
      <p:sp>
        <p:nvSpPr>
          <p:cNvPr id="10" name="Text 8"/>
          <p:cNvSpPr/>
          <p:nvPr/>
        </p:nvSpPr>
        <p:spPr>
          <a:xfrm>
            <a:off x="484187" y="1627188"/>
            <a:ext cx="5429250" cy="412750"/>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Node.js allows you to create </a:t>
            </a:r>
            <a:r>
              <a:rPr lang="en-US" sz="1000" b="1" dirty="0">
                <a:solidFill>
                  <a:srgbClr val="2D3142"/>
                </a:solidFill>
                <a:latin typeface="Quattrocento Sans" pitchFamily="34" charset="0"/>
                <a:ea typeface="Quattrocento Sans" pitchFamily="34" charset="-122"/>
                <a:cs typeface="Quattrocento Sans" pitchFamily="34" charset="-120"/>
              </a:rPr>
              <a:t>custom stream implementations</a:t>
            </a:r>
            <a:r>
              <a:rPr lang="en-US" sz="1000" dirty="0">
                <a:solidFill>
                  <a:srgbClr val="2D3142"/>
                </a:solidFill>
                <a:latin typeface="Quattrocento Sans" pitchFamily="34" charset="0"/>
                <a:ea typeface="Quattrocento Sans" pitchFamily="34" charset="-122"/>
                <a:cs typeface="Quattrocento Sans" pitchFamily="34" charset="-120"/>
              </a:rPr>
              <a:t> by extending the base stream classes. This enables specialized data processing logic tailored to your application needs. (OOP)</a:t>
            </a:r>
            <a:endParaRPr lang="en-US" sz="1600" dirty="0"/>
          </a:p>
        </p:txBody>
      </p:sp>
      <p:sp>
        <p:nvSpPr>
          <p:cNvPr id="11" name="Shape 9"/>
          <p:cNvSpPr/>
          <p:nvPr/>
        </p:nvSpPr>
        <p:spPr>
          <a:xfrm>
            <a:off x="484187" y="2166938"/>
            <a:ext cx="5365750" cy="1365250"/>
          </a:xfrm>
          <a:custGeom>
            <a:avLst/>
            <a:gdLst/>
            <a:ahLst/>
            <a:cxnLst/>
            <a:rect l="l" t="t" r="r" b="b"/>
            <a:pathLst>
              <a:path w="5365750" h="1365250">
                <a:moveTo>
                  <a:pt x="63498" y="0"/>
                </a:moveTo>
                <a:lnTo>
                  <a:pt x="5302252" y="0"/>
                </a:lnTo>
                <a:cubicBezTo>
                  <a:pt x="5337321" y="0"/>
                  <a:pt x="5365750" y="28429"/>
                  <a:pt x="5365750" y="63498"/>
                </a:cubicBezTo>
                <a:lnTo>
                  <a:pt x="5365750" y="1301752"/>
                </a:lnTo>
                <a:cubicBezTo>
                  <a:pt x="5365750" y="1336821"/>
                  <a:pt x="5337321" y="1365250"/>
                  <a:pt x="5302252" y="1365250"/>
                </a:cubicBezTo>
                <a:lnTo>
                  <a:pt x="63498" y="1365250"/>
                </a:lnTo>
                <a:cubicBezTo>
                  <a:pt x="28429" y="1365250"/>
                  <a:pt x="0" y="1336821"/>
                  <a:pt x="0" y="1301752"/>
                </a:cubicBezTo>
                <a:lnTo>
                  <a:pt x="0" y="63498"/>
                </a:lnTo>
                <a:cubicBezTo>
                  <a:pt x="0" y="28452"/>
                  <a:pt x="28452" y="0"/>
                  <a:pt x="63498" y="0"/>
                </a:cubicBezTo>
                <a:close/>
              </a:path>
            </a:pathLst>
          </a:custGeom>
          <a:solidFill>
            <a:srgbClr val="EAE7D6"/>
          </a:solidFill>
          <a:ln/>
        </p:spPr>
        <p:txBody>
          <a:bodyPr/>
          <a:lstStyle/>
          <a:p>
            <a:endParaRPr lang="en-US"/>
          </a:p>
        </p:txBody>
      </p:sp>
      <p:sp>
        <p:nvSpPr>
          <p:cNvPr id="12" name="Text 10"/>
          <p:cNvSpPr/>
          <p:nvPr/>
        </p:nvSpPr>
        <p:spPr>
          <a:xfrm>
            <a:off x="611188" y="2293938"/>
            <a:ext cx="5167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Base Classes</a:t>
            </a:r>
            <a:endParaRPr lang="en-US" sz="1600" dirty="0"/>
          </a:p>
        </p:txBody>
      </p:sp>
      <p:sp>
        <p:nvSpPr>
          <p:cNvPr id="13" name="Text 11"/>
          <p:cNvSpPr/>
          <p:nvPr/>
        </p:nvSpPr>
        <p:spPr>
          <a:xfrm>
            <a:off x="611188" y="2516188"/>
            <a:ext cx="5175250" cy="198438"/>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a:t>
            </a:r>
            <a:r>
              <a:rPr lang="en-US" sz="1000" dirty="0">
                <a:solidFill>
                  <a:srgbClr val="E07A5F"/>
                </a:solidFill>
                <a:latin typeface="MiSans" pitchFamily="34" charset="0"/>
                <a:ea typeface="MiSans" pitchFamily="34" charset="-122"/>
                <a:cs typeface="MiSans" pitchFamily="34" charset="-120"/>
              </a:rPr>
              <a:t>stream.Readable</a:t>
            </a:r>
            <a:endParaRPr lang="en-US" sz="1600" dirty="0"/>
          </a:p>
        </p:txBody>
      </p:sp>
      <p:sp>
        <p:nvSpPr>
          <p:cNvPr id="14" name="Text 12"/>
          <p:cNvSpPr/>
          <p:nvPr/>
        </p:nvSpPr>
        <p:spPr>
          <a:xfrm>
            <a:off x="611188" y="2746375"/>
            <a:ext cx="5175250" cy="198438"/>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a:t>
            </a:r>
            <a:r>
              <a:rPr lang="en-US" sz="1000" dirty="0">
                <a:solidFill>
                  <a:srgbClr val="8D99AE"/>
                </a:solidFill>
                <a:latin typeface="MiSans" pitchFamily="34" charset="0"/>
                <a:ea typeface="MiSans" pitchFamily="34" charset="-122"/>
                <a:cs typeface="MiSans" pitchFamily="34" charset="-120"/>
              </a:rPr>
              <a:t>stream.Writable</a:t>
            </a:r>
            <a:endParaRPr lang="en-US" sz="1600" dirty="0"/>
          </a:p>
        </p:txBody>
      </p:sp>
      <p:sp>
        <p:nvSpPr>
          <p:cNvPr id="15" name="Text 13"/>
          <p:cNvSpPr/>
          <p:nvPr/>
        </p:nvSpPr>
        <p:spPr>
          <a:xfrm>
            <a:off x="611188" y="2976563"/>
            <a:ext cx="5175250" cy="198438"/>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a:t>
            </a:r>
            <a:r>
              <a:rPr lang="en-US" sz="1000" dirty="0">
                <a:solidFill>
                  <a:srgbClr val="8D99AE"/>
                </a:solidFill>
                <a:latin typeface="MiSans" pitchFamily="34" charset="0"/>
                <a:ea typeface="MiSans" pitchFamily="34" charset="-122"/>
                <a:cs typeface="MiSans" pitchFamily="34" charset="-120"/>
              </a:rPr>
              <a:t>stream.Duplex</a:t>
            </a:r>
            <a:endParaRPr lang="en-US" sz="1600" dirty="0"/>
          </a:p>
        </p:txBody>
      </p:sp>
      <p:sp>
        <p:nvSpPr>
          <p:cNvPr id="16" name="Text 14"/>
          <p:cNvSpPr/>
          <p:nvPr/>
        </p:nvSpPr>
        <p:spPr>
          <a:xfrm>
            <a:off x="611188" y="3206750"/>
            <a:ext cx="5175250" cy="198438"/>
          </a:xfrm>
          <a:prstGeom prst="rect">
            <a:avLst/>
          </a:prstGeom>
          <a:noFill/>
          <a:ln/>
        </p:spPr>
        <p:txBody>
          <a:bodyPr wrap="square" lIns="0" tIns="0" rIns="0" bIns="0" rtlCol="0" anchor="ctr"/>
          <a:lstStyle/>
          <a:p>
            <a:pPr>
              <a:lnSpc>
                <a:spcPct val="130000"/>
              </a:lnSpc>
            </a:pPr>
            <a:r>
              <a:rPr lang="en-US" sz="1000" dirty="0">
                <a:solidFill>
                  <a:srgbClr val="2D3142"/>
                </a:solidFill>
                <a:latin typeface="Quattrocento Sans" pitchFamily="34" charset="0"/>
                <a:ea typeface="Quattrocento Sans" pitchFamily="34" charset="-122"/>
                <a:cs typeface="Quattrocento Sans" pitchFamily="34" charset="-120"/>
              </a:rPr>
              <a:t>• </a:t>
            </a:r>
            <a:r>
              <a:rPr lang="en-US" sz="1000" dirty="0">
                <a:solidFill>
                  <a:srgbClr val="E07A5F"/>
                </a:solidFill>
                <a:latin typeface="MiSans" pitchFamily="34" charset="0"/>
                <a:ea typeface="MiSans" pitchFamily="34" charset="-122"/>
                <a:cs typeface="MiSans" pitchFamily="34" charset="-120"/>
              </a:rPr>
              <a:t>stream.Transform</a:t>
            </a:r>
            <a:endParaRPr lang="en-US" sz="1600" dirty="0"/>
          </a:p>
        </p:txBody>
      </p:sp>
      <p:sp>
        <p:nvSpPr>
          <p:cNvPr id="17" name="Shape 15"/>
          <p:cNvSpPr/>
          <p:nvPr/>
        </p:nvSpPr>
        <p:spPr>
          <a:xfrm>
            <a:off x="321469" y="3829844"/>
            <a:ext cx="5691188" cy="3182938"/>
          </a:xfrm>
          <a:custGeom>
            <a:avLst/>
            <a:gdLst/>
            <a:ahLst/>
            <a:cxnLst/>
            <a:rect l="l" t="t" r="r" b="b"/>
            <a:pathLst>
              <a:path w="5691188" h="3182938">
                <a:moveTo>
                  <a:pt x="95265" y="0"/>
                </a:moveTo>
                <a:lnTo>
                  <a:pt x="5595922" y="0"/>
                </a:lnTo>
                <a:cubicBezTo>
                  <a:pt x="5648536" y="0"/>
                  <a:pt x="5691188" y="42652"/>
                  <a:pt x="5691188" y="95265"/>
                </a:cubicBezTo>
                <a:lnTo>
                  <a:pt x="5691188" y="3087672"/>
                </a:lnTo>
                <a:cubicBezTo>
                  <a:pt x="5691187" y="3140286"/>
                  <a:pt x="5648536" y="3182938"/>
                  <a:pt x="5595922" y="3182938"/>
                </a:cubicBezTo>
                <a:lnTo>
                  <a:pt x="95265" y="3182938"/>
                </a:lnTo>
                <a:cubicBezTo>
                  <a:pt x="42652" y="3182938"/>
                  <a:pt x="0" y="3140286"/>
                  <a:pt x="0" y="3087672"/>
                </a:cubicBezTo>
                <a:lnTo>
                  <a:pt x="0" y="95265"/>
                </a:lnTo>
                <a:cubicBezTo>
                  <a:pt x="0" y="42687"/>
                  <a:pt x="42687" y="0"/>
                  <a:pt x="95265" y="0"/>
                </a:cubicBezTo>
                <a:close/>
              </a:path>
            </a:pathLst>
          </a:custGeom>
          <a:solidFill>
            <a:srgbClr val="EAE7D6"/>
          </a:solidFill>
          <a:ln/>
        </p:spPr>
        <p:txBody>
          <a:bodyPr/>
          <a:lstStyle/>
          <a:p>
            <a:r>
              <a:rPr lang="en-US" dirty="0"/>
              <a:t> </a:t>
            </a:r>
          </a:p>
        </p:txBody>
      </p:sp>
      <p:sp>
        <p:nvSpPr>
          <p:cNvPr id="18" name="Shape 16"/>
          <p:cNvSpPr/>
          <p:nvPr/>
        </p:nvSpPr>
        <p:spPr>
          <a:xfrm>
            <a:off x="496094" y="4024313"/>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E07A5F"/>
          </a:solidFill>
          <a:ln/>
        </p:spPr>
        <p:txBody>
          <a:bodyPr/>
          <a:lstStyle/>
          <a:p>
            <a:endParaRPr lang="en-US"/>
          </a:p>
        </p:txBody>
      </p:sp>
      <p:sp>
        <p:nvSpPr>
          <p:cNvPr id="19" name="Text 17"/>
          <p:cNvSpPr/>
          <p:nvPr/>
        </p:nvSpPr>
        <p:spPr>
          <a:xfrm>
            <a:off x="817563" y="3992563"/>
            <a:ext cx="1444625"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Why Important?</a:t>
            </a:r>
            <a:endParaRPr lang="en-US" sz="1600" dirty="0"/>
          </a:p>
        </p:txBody>
      </p:sp>
      <p:sp>
        <p:nvSpPr>
          <p:cNvPr id="20" name="Shape 18"/>
          <p:cNvSpPr/>
          <p:nvPr/>
        </p:nvSpPr>
        <p:spPr>
          <a:xfrm>
            <a:off x="500063" y="43735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1" name="Shape 19"/>
          <p:cNvSpPr/>
          <p:nvPr/>
        </p:nvSpPr>
        <p:spPr>
          <a:xfrm>
            <a:off x="500063" y="4373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E07A5F"/>
          </a:solidFill>
          <a:ln/>
        </p:spPr>
        <p:txBody>
          <a:bodyPr/>
          <a:lstStyle/>
          <a:p>
            <a:endParaRPr lang="en-US"/>
          </a:p>
        </p:txBody>
      </p:sp>
      <p:sp>
        <p:nvSpPr>
          <p:cNvPr id="22" name="Shape 20"/>
          <p:cNvSpPr/>
          <p:nvPr/>
        </p:nvSpPr>
        <p:spPr>
          <a:xfrm>
            <a:off x="658813" y="4548188"/>
            <a:ext cx="127000" cy="127000"/>
          </a:xfrm>
          <a:custGeom>
            <a:avLst/>
            <a:gdLst/>
            <a:ahLst/>
            <a:cxnLst/>
            <a:rect l="l" t="t" r="r" b="b"/>
            <a:pathLst>
              <a:path w="127000" h="127000">
                <a:moveTo>
                  <a:pt x="29766" y="13891"/>
                </a:moveTo>
                <a:cubicBezTo>
                  <a:pt x="29766" y="6226"/>
                  <a:pt x="35992" y="0"/>
                  <a:pt x="43656" y="0"/>
                </a:cubicBezTo>
                <a:lnTo>
                  <a:pt x="49609" y="0"/>
                </a:lnTo>
                <a:cubicBezTo>
                  <a:pt x="54000" y="0"/>
                  <a:pt x="57547" y="3547"/>
                  <a:pt x="57547" y="7938"/>
                </a:cubicBezTo>
                <a:lnTo>
                  <a:pt x="57547" y="119063"/>
                </a:lnTo>
                <a:cubicBezTo>
                  <a:pt x="57547" y="123453"/>
                  <a:pt x="54000" y="127000"/>
                  <a:pt x="49609" y="127000"/>
                </a:cubicBezTo>
                <a:lnTo>
                  <a:pt x="41672" y="127000"/>
                </a:lnTo>
                <a:cubicBezTo>
                  <a:pt x="34280" y="127000"/>
                  <a:pt x="28054" y="121940"/>
                  <a:pt x="26293" y="115094"/>
                </a:cubicBezTo>
                <a:cubicBezTo>
                  <a:pt x="26119" y="115094"/>
                  <a:pt x="25971" y="115094"/>
                  <a:pt x="25797" y="115094"/>
                </a:cubicBezTo>
                <a:cubicBezTo>
                  <a:pt x="14833" y="115094"/>
                  <a:pt x="5953" y="106214"/>
                  <a:pt x="5953" y="95250"/>
                </a:cubicBezTo>
                <a:cubicBezTo>
                  <a:pt x="5953" y="90785"/>
                  <a:pt x="7441" y="86668"/>
                  <a:pt x="9922" y="83344"/>
                </a:cubicBezTo>
                <a:cubicBezTo>
                  <a:pt x="5110" y="79722"/>
                  <a:pt x="1984" y="73968"/>
                  <a:pt x="1984" y="67469"/>
                </a:cubicBezTo>
                <a:cubicBezTo>
                  <a:pt x="1984" y="59804"/>
                  <a:pt x="6350" y="53132"/>
                  <a:pt x="12700" y="49833"/>
                </a:cubicBezTo>
                <a:cubicBezTo>
                  <a:pt x="10939" y="46856"/>
                  <a:pt x="9922" y="43383"/>
                  <a:pt x="9922" y="39688"/>
                </a:cubicBezTo>
                <a:cubicBezTo>
                  <a:pt x="9922" y="28724"/>
                  <a:pt x="18802" y="19844"/>
                  <a:pt x="29766" y="19844"/>
                </a:cubicBezTo>
                <a:lnTo>
                  <a:pt x="29766" y="13891"/>
                </a:lnTo>
                <a:close/>
                <a:moveTo>
                  <a:pt x="97234" y="13891"/>
                </a:moveTo>
                <a:lnTo>
                  <a:pt x="97234" y="19844"/>
                </a:lnTo>
                <a:cubicBezTo>
                  <a:pt x="108198" y="19844"/>
                  <a:pt x="117078" y="28724"/>
                  <a:pt x="117078" y="39688"/>
                </a:cubicBezTo>
                <a:cubicBezTo>
                  <a:pt x="117078" y="43408"/>
                  <a:pt x="116061" y="46881"/>
                  <a:pt x="114300" y="49833"/>
                </a:cubicBezTo>
                <a:cubicBezTo>
                  <a:pt x="120675" y="53132"/>
                  <a:pt x="125016" y="59779"/>
                  <a:pt x="125016" y="67469"/>
                </a:cubicBezTo>
                <a:cubicBezTo>
                  <a:pt x="125016" y="73968"/>
                  <a:pt x="121890" y="79722"/>
                  <a:pt x="117078" y="83344"/>
                </a:cubicBezTo>
                <a:cubicBezTo>
                  <a:pt x="119559" y="86668"/>
                  <a:pt x="121047" y="90785"/>
                  <a:pt x="121047" y="95250"/>
                </a:cubicBezTo>
                <a:cubicBezTo>
                  <a:pt x="121047" y="106214"/>
                  <a:pt x="112167" y="115094"/>
                  <a:pt x="101203" y="115094"/>
                </a:cubicBezTo>
                <a:cubicBezTo>
                  <a:pt x="101029" y="115094"/>
                  <a:pt x="100881" y="115094"/>
                  <a:pt x="100707" y="115094"/>
                </a:cubicBezTo>
                <a:cubicBezTo>
                  <a:pt x="98946" y="121940"/>
                  <a:pt x="92720" y="127000"/>
                  <a:pt x="85328" y="127000"/>
                </a:cubicBezTo>
                <a:lnTo>
                  <a:pt x="77391" y="127000"/>
                </a:lnTo>
                <a:cubicBezTo>
                  <a:pt x="73000" y="127000"/>
                  <a:pt x="69453" y="123453"/>
                  <a:pt x="69453" y="119063"/>
                </a:cubicBezTo>
                <a:lnTo>
                  <a:pt x="69453" y="7938"/>
                </a:lnTo>
                <a:cubicBezTo>
                  <a:pt x="69453" y="3547"/>
                  <a:pt x="73000" y="0"/>
                  <a:pt x="77391" y="0"/>
                </a:cubicBezTo>
                <a:lnTo>
                  <a:pt x="83344" y="0"/>
                </a:lnTo>
                <a:cubicBezTo>
                  <a:pt x="91008" y="0"/>
                  <a:pt x="97234" y="6226"/>
                  <a:pt x="97234" y="13891"/>
                </a:cubicBezTo>
                <a:close/>
              </a:path>
            </a:pathLst>
          </a:custGeom>
          <a:solidFill>
            <a:srgbClr val="E07A5F"/>
          </a:solidFill>
          <a:ln/>
        </p:spPr>
        <p:txBody>
          <a:bodyPr/>
          <a:lstStyle/>
          <a:p>
            <a:endParaRPr lang="en-US"/>
          </a:p>
        </p:txBody>
      </p:sp>
      <p:sp>
        <p:nvSpPr>
          <p:cNvPr id="23" name="Text 21"/>
          <p:cNvSpPr/>
          <p:nvPr/>
        </p:nvSpPr>
        <p:spPr>
          <a:xfrm>
            <a:off x="865188" y="4500563"/>
            <a:ext cx="1587500"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Shows Deep Knowledge</a:t>
            </a:r>
            <a:endParaRPr lang="en-US" sz="1600" dirty="0"/>
          </a:p>
        </p:txBody>
      </p:sp>
      <p:sp>
        <p:nvSpPr>
          <p:cNvPr id="24" name="Text 22"/>
          <p:cNvSpPr/>
          <p:nvPr/>
        </p:nvSpPr>
        <p:spPr>
          <a:xfrm>
            <a:off x="642938" y="47863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Understanding stream internals and implementation details</a:t>
            </a:r>
            <a:endParaRPr lang="en-US" sz="1600" dirty="0"/>
          </a:p>
        </p:txBody>
      </p:sp>
      <p:sp>
        <p:nvSpPr>
          <p:cNvPr id="25" name="Shape 23"/>
          <p:cNvSpPr/>
          <p:nvPr/>
        </p:nvSpPr>
        <p:spPr>
          <a:xfrm>
            <a:off x="500063" y="51990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26" name="Shape 24"/>
          <p:cNvSpPr/>
          <p:nvPr/>
        </p:nvSpPr>
        <p:spPr>
          <a:xfrm>
            <a:off x="500063" y="51990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27" name="Shape 25"/>
          <p:cNvSpPr/>
          <p:nvPr/>
        </p:nvSpPr>
        <p:spPr>
          <a:xfrm>
            <a:off x="666750" y="5373688"/>
            <a:ext cx="111125" cy="127000"/>
          </a:xfrm>
          <a:custGeom>
            <a:avLst/>
            <a:gdLst/>
            <a:ahLst/>
            <a:cxnLst/>
            <a:rect l="l" t="t" r="r" b="b"/>
            <a:pathLst>
              <a:path w="111125" h="127000">
                <a:moveTo>
                  <a:pt x="91629" y="31750"/>
                </a:moveTo>
                <a:lnTo>
                  <a:pt x="83121" y="19844"/>
                </a:lnTo>
                <a:lnTo>
                  <a:pt x="28029" y="19844"/>
                </a:lnTo>
                <a:lnTo>
                  <a:pt x="19521" y="31750"/>
                </a:lnTo>
                <a:lnTo>
                  <a:pt x="91629" y="31750"/>
                </a:lnTo>
                <a:close/>
                <a:moveTo>
                  <a:pt x="0" y="36835"/>
                </a:moveTo>
                <a:cubicBezTo>
                  <a:pt x="0" y="33536"/>
                  <a:pt x="1042" y="30311"/>
                  <a:pt x="2952" y="27608"/>
                </a:cubicBezTo>
                <a:lnTo>
                  <a:pt x="15106" y="10616"/>
                </a:lnTo>
                <a:cubicBezTo>
                  <a:pt x="18083" y="6449"/>
                  <a:pt x="22895" y="3969"/>
                  <a:pt x="28004" y="3969"/>
                </a:cubicBezTo>
                <a:lnTo>
                  <a:pt x="83096" y="3969"/>
                </a:lnTo>
                <a:cubicBezTo>
                  <a:pt x="88230" y="3969"/>
                  <a:pt x="93042" y="6449"/>
                  <a:pt x="96019" y="10616"/>
                </a:cubicBezTo>
                <a:lnTo>
                  <a:pt x="108148" y="27608"/>
                </a:lnTo>
                <a:cubicBezTo>
                  <a:pt x="110083" y="30311"/>
                  <a:pt x="111100" y="33536"/>
                  <a:pt x="111100" y="36835"/>
                </a:cubicBezTo>
                <a:lnTo>
                  <a:pt x="111125" y="103188"/>
                </a:lnTo>
                <a:cubicBezTo>
                  <a:pt x="111125" y="111944"/>
                  <a:pt x="104006" y="119063"/>
                  <a:pt x="95250" y="119063"/>
                </a:cubicBezTo>
                <a:lnTo>
                  <a:pt x="15875" y="119063"/>
                </a:lnTo>
                <a:cubicBezTo>
                  <a:pt x="7119" y="119063"/>
                  <a:pt x="0" y="111944"/>
                  <a:pt x="0" y="103188"/>
                </a:cubicBezTo>
                <a:lnTo>
                  <a:pt x="0" y="36835"/>
                </a:lnTo>
                <a:close/>
              </a:path>
            </a:pathLst>
          </a:custGeom>
          <a:solidFill>
            <a:srgbClr val="8D99AE"/>
          </a:solidFill>
          <a:ln/>
        </p:spPr>
        <p:txBody>
          <a:bodyPr/>
          <a:lstStyle/>
          <a:p>
            <a:endParaRPr lang="en-US"/>
          </a:p>
        </p:txBody>
      </p:sp>
      <p:sp>
        <p:nvSpPr>
          <p:cNvPr id="28" name="Text 26"/>
          <p:cNvSpPr/>
          <p:nvPr/>
        </p:nvSpPr>
        <p:spPr>
          <a:xfrm>
            <a:off x="865188" y="5326063"/>
            <a:ext cx="109537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Used in Libraries</a:t>
            </a:r>
            <a:endParaRPr lang="en-US" sz="1600" dirty="0"/>
          </a:p>
        </p:txBody>
      </p:sp>
      <p:sp>
        <p:nvSpPr>
          <p:cNvPr id="29" name="Text 27"/>
          <p:cNvSpPr/>
          <p:nvPr/>
        </p:nvSpPr>
        <p:spPr>
          <a:xfrm>
            <a:off x="642938" y="56118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Many npm packages implement custom streams</a:t>
            </a:r>
            <a:endParaRPr lang="en-US" sz="1600" dirty="0"/>
          </a:p>
        </p:txBody>
      </p:sp>
      <p:sp>
        <p:nvSpPr>
          <p:cNvPr id="30" name="Shape 28"/>
          <p:cNvSpPr/>
          <p:nvPr/>
        </p:nvSpPr>
        <p:spPr>
          <a:xfrm>
            <a:off x="500063" y="6024563"/>
            <a:ext cx="5349875" cy="730250"/>
          </a:xfrm>
          <a:custGeom>
            <a:avLst/>
            <a:gdLst/>
            <a:ahLst/>
            <a:cxnLst/>
            <a:rect l="l" t="t" r="r" b="b"/>
            <a:pathLst>
              <a:path w="5349875" h="730250">
                <a:moveTo>
                  <a:pt x="31750" y="0"/>
                </a:moveTo>
                <a:lnTo>
                  <a:pt x="5286372" y="0"/>
                </a:lnTo>
                <a:cubicBezTo>
                  <a:pt x="5321444" y="0"/>
                  <a:pt x="5349875" y="28431"/>
                  <a:pt x="5349875" y="63503"/>
                </a:cubicBezTo>
                <a:lnTo>
                  <a:pt x="5349875" y="666747"/>
                </a:lnTo>
                <a:cubicBezTo>
                  <a:pt x="5349875" y="701819"/>
                  <a:pt x="5321444" y="730250"/>
                  <a:pt x="5286372" y="730250"/>
                </a:cubicBezTo>
                <a:lnTo>
                  <a:pt x="31750" y="730250"/>
                </a:lnTo>
                <a:cubicBezTo>
                  <a:pt x="14227" y="730250"/>
                  <a:pt x="0" y="716023"/>
                  <a:pt x="0" y="698500"/>
                </a:cubicBezTo>
                <a:lnTo>
                  <a:pt x="0" y="31750"/>
                </a:lnTo>
                <a:cubicBezTo>
                  <a:pt x="0" y="14227"/>
                  <a:pt x="14227" y="0"/>
                  <a:pt x="31750" y="0"/>
                </a:cubicBezTo>
                <a:close/>
              </a:path>
            </a:pathLst>
          </a:custGeom>
          <a:solidFill>
            <a:srgbClr val="EAE7D6"/>
          </a:solidFill>
          <a:ln/>
        </p:spPr>
        <p:txBody>
          <a:bodyPr/>
          <a:lstStyle/>
          <a:p>
            <a:endParaRPr lang="en-US"/>
          </a:p>
        </p:txBody>
      </p:sp>
      <p:sp>
        <p:nvSpPr>
          <p:cNvPr id="31" name="Shape 29"/>
          <p:cNvSpPr/>
          <p:nvPr/>
        </p:nvSpPr>
        <p:spPr>
          <a:xfrm>
            <a:off x="500063" y="6024563"/>
            <a:ext cx="31750" cy="730250"/>
          </a:xfrm>
          <a:custGeom>
            <a:avLst/>
            <a:gdLst/>
            <a:ahLst/>
            <a:cxnLst/>
            <a:rect l="l" t="t" r="r" b="b"/>
            <a:pathLst>
              <a:path w="31750" h="730250">
                <a:moveTo>
                  <a:pt x="31750" y="0"/>
                </a:moveTo>
                <a:lnTo>
                  <a:pt x="31750" y="0"/>
                </a:lnTo>
                <a:lnTo>
                  <a:pt x="31750" y="730250"/>
                </a:lnTo>
                <a:lnTo>
                  <a:pt x="31750" y="730250"/>
                </a:lnTo>
                <a:cubicBezTo>
                  <a:pt x="14227" y="730250"/>
                  <a:pt x="0" y="716023"/>
                  <a:pt x="0" y="698500"/>
                </a:cubicBezTo>
                <a:lnTo>
                  <a:pt x="0" y="31750"/>
                </a:lnTo>
                <a:cubicBezTo>
                  <a:pt x="0" y="14227"/>
                  <a:pt x="14227" y="0"/>
                  <a:pt x="31750" y="0"/>
                </a:cubicBezTo>
                <a:close/>
              </a:path>
            </a:pathLst>
          </a:custGeom>
          <a:solidFill>
            <a:srgbClr val="8D99AE"/>
          </a:solidFill>
          <a:ln/>
        </p:spPr>
        <p:txBody>
          <a:bodyPr/>
          <a:lstStyle/>
          <a:p>
            <a:endParaRPr lang="en-US"/>
          </a:p>
        </p:txBody>
      </p:sp>
      <p:sp>
        <p:nvSpPr>
          <p:cNvPr id="32" name="Shape 30"/>
          <p:cNvSpPr/>
          <p:nvPr/>
        </p:nvSpPr>
        <p:spPr>
          <a:xfrm>
            <a:off x="658813" y="6199188"/>
            <a:ext cx="127000" cy="127000"/>
          </a:xfrm>
          <a:custGeom>
            <a:avLst/>
            <a:gdLst/>
            <a:ahLst/>
            <a:cxnLst/>
            <a:rect l="l" t="t" r="r" b="b"/>
            <a:pathLst>
              <a:path w="127000" h="127000">
                <a:moveTo>
                  <a:pt x="35793" y="0"/>
                </a:moveTo>
                <a:lnTo>
                  <a:pt x="91356" y="0"/>
                </a:lnTo>
                <a:cubicBezTo>
                  <a:pt x="97929" y="0"/>
                  <a:pt x="103287" y="5407"/>
                  <a:pt x="103039" y="11956"/>
                </a:cubicBezTo>
                <a:cubicBezTo>
                  <a:pt x="102989" y="13271"/>
                  <a:pt x="102939" y="14585"/>
                  <a:pt x="102865" y="15875"/>
                </a:cubicBezTo>
                <a:lnTo>
                  <a:pt x="115168" y="15875"/>
                </a:lnTo>
                <a:cubicBezTo>
                  <a:pt x="121642" y="15875"/>
                  <a:pt x="127347" y="21233"/>
                  <a:pt x="126851" y="28228"/>
                </a:cubicBezTo>
                <a:cubicBezTo>
                  <a:pt x="124991" y="53950"/>
                  <a:pt x="111844" y="68089"/>
                  <a:pt x="97582" y="75481"/>
                </a:cubicBezTo>
                <a:cubicBezTo>
                  <a:pt x="93663" y="77515"/>
                  <a:pt x="89669" y="79028"/>
                  <a:pt x="85874" y="80144"/>
                </a:cubicBezTo>
                <a:cubicBezTo>
                  <a:pt x="80863" y="87238"/>
                  <a:pt x="75654" y="90984"/>
                  <a:pt x="71512" y="92993"/>
                </a:cubicBezTo>
                <a:lnTo>
                  <a:pt x="71512" y="111125"/>
                </a:lnTo>
                <a:lnTo>
                  <a:pt x="87387" y="111125"/>
                </a:lnTo>
                <a:cubicBezTo>
                  <a:pt x="91777" y="111125"/>
                  <a:pt x="95324" y="114672"/>
                  <a:pt x="95324" y="119063"/>
                </a:cubicBezTo>
                <a:cubicBezTo>
                  <a:pt x="95324" y="123453"/>
                  <a:pt x="91777" y="127000"/>
                  <a:pt x="87387" y="127000"/>
                </a:cubicBezTo>
                <a:lnTo>
                  <a:pt x="39762" y="127000"/>
                </a:lnTo>
                <a:cubicBezTo>
                  <a:pt x="35371" y="127000"/>
                  <a:pt x="31824" y="123453"/>
                  <a:pt x="31824" y="119063"/>
                </a:cubicBezTo>
                <a:cubicBezTo>
                  <a:pt x="31824" y="114672"/>
                  <a:pt x="35371" y="111125"/>
                  <a:pt x="39762" y="111125"/>
                </a:cubicBezTo>
                <a:lnTo>
                  <a:pt x="55637" y="111125"/>
                </a:lnTo>
                <a:lnTo>
                  <a:pt x="55637" y="92993"/>
                </a:lnTo>
                <a:cubicBezTo>
                  <a:pt x="51668" y="91083"/>
                  <a:pt x="46732" y="87536"/>
                  <a:pt x="41920" y="81012"/>
                </a:cubicBezTo>
                <a:cubicBezTo>
                  <a:pt x="37356" y="79821"/>
                  <a:pt x="32395" y="78011"/>
                  <a:pt x="27558" y="75282"/>
                </a:cubicBezTo>
                <a:cubicBezTo>
                  <a:pt x="14139" y="67766"/>
                  <a:pt x="2034" y="53603"/>
                  <a:pt x="298" y="28178"/>
                </a:cubicBezTo>
                <a:cubicBezTo>
                  <a:pt x="-174" y="21208"/>
                  <a:pt x="5507" y="15850"/>
                  <a:pt x="11981" y="15850"/>
                </a:cubicBezTo>
                <a:lnTo>
                  <a:pt x="24284" y="15850"/>
                </a:lnTo>
                <a:cubicBezTo>
                  <a:pt x="24209" y="14560"/>
                  <a:pt x="24160" y="13271"/>
                  <a:pt x="24110" y="11931"/>
                </a:cubicBezTo>
                <a:cubicBezTo>
                  <a:pt x="23862" y="5358"/>
                  <a:pt x="29220" y="-25"/>
                  <a:pt x="35793" y="-25"/>
                </a:cubicBezTo>
                <a:close/>
                <a:moveTo>
                  <a:pt x="25177" y="27781"/>
                </a:moveTo>
                <a:lnTo>
                  <a:pt x="12179" y="27781"/>
                </a:lnTo>
                <a:cubicBezTo>
                  <a:pt x="13717" y="48791"/>
                  <a:pt x="23366" y="59308"/>
                  <a:pt x="33313" y="64889"/>
                </a:cubicBezTo>
                <a:cubicBezTo>
                  <a:pt x="29741" y="55637"/>
                  <a:pt x="26789" y="43557"/>
                  <a:pt x="25177" y="27781"/>
                </a:cubicBezTo>
                <a:close/>
                <a:moveTo>
                  <a:pt x="94258" y="63698"/>
                </a:moveTo>
                <a:cubicBezTo>
                  <a:pt x="104304" y="57795"/>
                  <a:pt x="113382" y="47303"/>
                  <a:pt x="114920" y="27781"/>
                </a:cubicBezTo>
                <a:lnTo>
                  <a:pt x="101947" y="27781"/>
                </a:lnTo>
                <a:cubicBezTo>
                  <a:pt x="100409" y="42887"/>
                  <a:pt x="97631" y="54620"/>
                  <a:pt x="94258" y="63698"/>
                </a:cubicBezTo>
                <a:close/>
              </a:path>
            </a:pathLst>
          </a:custGeom>
          <a:solidFill>
            <a:srgbClr val="2D3142"/>
          </a:solidFill>
          <a:ln/>
        </p:spPr>
        <p:txBody>
          <a:bodyPr/>
          <a:lstStyle/>
          <a:p>
            <a:endParaRPr lang="en-US"/>
          </a:p>
        </p:txBody>
      </p:sp>
      <p:sp>
        <p:nvSpPr>
          <p:cNvPr id="33" name="Text 31"/>
          <p:cNvSpPr/>
          <p:nvPr/>
        </p:nvSpPr>
        <p:spPr>
          <a:xfrm>
            <a:off x="865188" y="6151563"/>
            <a:ext cx="1381125" cy="222250"/>
          </a:xfrm>
          <a:prstGeom prst="rect">
            <a:avLst/>
          </a:prstGeom>
          <a:noFill/>
          <a:ln/>
        </p:spPr>
        <p:txBody>
          <a:bodyPr wrap="square" lIns="0" tIns="0" rIns="0" bIns="0" rtlCol="0" anchor="ctr"/>
          <a:lstStyle/>
          <a:p>
            <a:pPr>
              <a:lnSpc>
                <a:spcPct val="130000"/>
              </a:lnSpc>
            </a:pPr>
            <a:r>
              <a:rPr lang="en-US" sz="1125" b="1" dirty="0">
                <a:solidFill>
                  <a:srgbClr val="2D3142"/>
                </a:solidFill>
                <a:latin typeface="Quattrocento Sans" pitchFamily="34" charset="0"/>
                <a:ea typeface="Quattrocento Sans" pitchFamily="34" charset="-122"/>
                <a:cs typeface="Quattrocento Sans" pitchFamily="34" charset="-120"/>
              </a:rPr>
              <a:t>Advanced Interviews</a:t>
            </a:r>
            <a:endParaRPr lang="en-US" sz="1600" dirty="0"/>
          </a:p>
        </p:txBody>
      </p:sp>
      <p:sp>
        <p:nvSpPr>
          <p:cNvPr id="34" name="Text 32"/>
          <p:cNvSpPr/>
          <p:nvPr/>
        </p:nvSpPr>
        <p:spPr>
          <a:xfrm>
            <a:off x="642938" y="6437313"/>
            <a:ext cx="5143500" cy="190500"/>
          </a:xfrm>
          <a:prstGeom prst="rect">
            <a:avLst/>
          </a:prstGeom>
          <a:noFill/>
          <a:ln/>
        </p:spPr>
        <p:txBody>
          <a:bodyPr wrap="square" lIns="0" tIns="0" rIns="0" bIns="0" rtlCol="0" anchor="ctr"/>
          <a:lstStyle/>
          <a:p>
            <a:pPr>
              <a:lnSpc>
                <a:spcPct val="130000"/>
              </a:lnSpc>
            </a:pPr>
            <a:r>
              <a:rPr lang="en-US" sz="1000" dirty="0">
                <a:solidFill>
                  <a:srgbClr val="8D99AE"/>
                </a:solidFill>
                <a:latin typeface="Quattrocento Sans" pitchFamily="34" charset="0"/>
                <a:ea typeface="Quattrocento Sans" pitchFamily="34" charset="-122"/>
                <a:cs typeface="Quattrocento Sans" pitchFamily="34" charset="-120"/>
              </a:rPr>
              <a:t>Expected knowledge for senior/staff positions</a:t>
            </a:r>
            <a:endParaRPr lang="en-US" sz="1600" dirty="0"/>
          </a:p>
        </p:txBody>
      </p:sp>
      <p:sp>
        <p:nvSpPr>
          <p:cNvPr id="35" name="Shape 33"/>
          <p:cNvSpPr/>
          <p:nvPr/>
        </p:nvSpPr>
        <p:spPr>
          <a:xfrm>
            <a:off x="6179344" y="1083469"/>
            <a:ext cx="5691188" cy="3913188"/>
          </a:xfrm>
          <a:custGeom>
            <a:avLst/>
            <a:gdLst/>
            <a:ahLst/>
            <a:cxnLst/>
            <a:rect l="l" t="t" r="r" b="b"/>
            <a:pathLst>
              <a:path w="5691188" h="3913188">
                <a:moveTo>
                  <a:pt x="95247" y="0"/>
                </a:moveTo>
                <a:lnTo>
                  <a:pt x="5595941" y="0"/>
                </a:lnTo>
                <a:cubicBezTo>
                  <a:pt x="5648544" y="0"/>
                  <a:pt x="5691188" y="42644"/>
                  <a:pt x="5691188" y="95247"/>
                </a:cubicBezTo>
                <a:lnTo>
                  <a:pt x="5691188" y="3817941"/>
                </a:lnTo>
                <a:cubicBezTo>
                  <a:pt x="5691187" y="3870544"/>
                  <a:pt x="5648544" y="3913188"/>
                  <a:pt x="5595941" y="3913188"/>
                </a:cubicBezTo>
                <a:lnTo>
                  <a:pt x="95247" y="3913188"/>
                </a:lnTo>
                <a:cubicBezTo>
                  <a:pt x="42644" y="3913188"/>
                  <a:pt x="0" y="3870544"/>
                  <a:pt x="0" y="3817941"/>
                </a:cubicBezTo>
                <a:lnTo>
                  <a:pt x="0" y="95247"/>
                </a:lnTo>
                <a:cubicBezTo>
                  <a:pt x="0" y="42644"/>
                  <a:pt x="42644" y="0"/>
                  <a:pt x="95247" y="0"/>
                </a:cubicBezTo>
                <a:close/>
              </a:path>
            </a:pathLst>
          </a:custGeom>
          <a:solidFill>
            <a:srgbClr val="EAE7D6"/>
          </a:solidFill>
          <a:ln/>
        </p:spPr>
        <p:txBody>
          <a:bodyPr/>
          <a:lstStyle/>
          <a:p>
            <a:endParaRPr lang="en-US"/>
          </a:p>
        </p:txBody>
      </p:sp>
      <p:sp>
        <p:nvSpPr>
          <p:cNvPr id="36" name="Shape 34"/>
          <p:cNvSpPr/>
          <p:nvPr/>
        </p:nvSpPr>
        <p:spPr>
          <a:xfrm>
            <a:off x="6353969" y="1277938"/>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8D99AE"/>
          </a:solidFill>
          <a:ln/>
        </p:spPr>
        <p:txBody>
          <a:bodyPr/>
          <a:lstStyle/>
          <a:p>
            <a:endParaRPr lang="en-US"/>
          </a:p>
        </p:txBody>
      </p:sp>
      <p:sp>
        <p:nvSpPr>
          <p:cNvPr id="37" name="Text 35"/>
          <p:cNvSpPr/>
          <p:nvPr/>
        </p:nvSpPr>
        <p:spPr>
          <a:xfrm>
            <a:off x="6675438" y="1246188"/>
            <a:ext cx="2151063" cy="254000"/>
          </a:xfrm>
          <a:prstGeom prst="rect">
            <a:avLst/>
          </a:prstGeom>
          <a:noFill/>
          <a:ln/>
        </p:spPr>
        <p:txBody>
          <a:bodyPr wrap="square" lIns="0" tIns="0" rIns="0" bIns="0" rtlCol="0" anchor="ctr"/>
          <a:lstStyle/>
          <a:p>
            <a:pPr>
              <a:lnSpc>
                <a:spcPct val="110000"/>
              </a:lnSpc>
            </a:pPr>
            <a:r>
              <a:rPr lang="en-US" sz="1500" b="1" dirty="0">
                <a:solidFill>
                  <a:srgbClr val="2D3142"/>
                </a:solidFill>
                <a:latin typeface="Quattrocento Sans" pitchFamily="34" charset="0"/>
                <a:ea typeface="Quattrocento Sans" pitchFamily="34" charset="-122"/>
                <a:cs typeface="Quattrocento Sans" pitchFamily="34" charset="-120"/>
              </a:rPr>
              <a:t>Implementation Example</a:t>
            </a:r>
            <a:endParaRPr lang="en-US" sz="1600" dirty="0"/>
          </a:p>
        </p:txBody>
      </p:sp>
      <p:sp>
        <p:nvSpPr>
          <p:cNvPr id="38" name="Shape 36"/>
          <p:cNvSpPr/>
          <p:nvPr/>
        </p:nvSpPr>
        <p:spPr>
          <a:xfrm>
            <a:off x="6342063" y="1627188"/>
            <a:ext cx="5365750" cy="3206750"/>
          </a:xfrm>
          <a:custGeom>
            <a:avLst/>
            <a:gdLst/>
            <a:ahLst/>
            <a:cxnLst/>
            <a:rect l="l" t="t" r="r" b="b"/>
            <a:pathLst>
              <a:path w="5365750" h="3206750">
                <a:moveTo>
                  <a:pt x="63494" y="0"/>
                </a:moveTo>
                <a:lnTo>
                  <a:pt x="5302256" y="0"/>
                </a:lnTo>
                <a:cubicBezTo>
                  <a:pt x="5337323" y="0"/>
                  <a:pt x="5365750" y="28427"/>
                  <a:pt x="5365750" y="63494"/>
                </a:cubicBezTo>
                <a:lnTo>
                  <a:pt x="5365750" y="3143256"/>
                </a:lnTo>
                <a:cubicBezTo>
                  <a:pt x="5365750" y="3178323"/>
                  <a:pt x="5337323" y="3206750"/>
                  <a:pt x="5302256" y="3206750"/>
                </a:cubicBezTo>
                <a:lnTo>
                  <a:pt x="63494" y="3206750"/>
                </a:lnTo>
                <a:cubicBezTo>
                  <a:pt x="28427" y="3206750"/>
                  <a:pt x="0" y="3178323"/>
                  <a:pt x="0" y="3143256"/>
                </a:cubicBezTo>
                <a:lnTo>
                  <a:pt x="0" y="63494"/>
                </a:lnTo>
                <a:cubicBezTo>
                  <a:pt x="0" y="28451"/>
                  <a:pt x="28451" y="0"/>
                  <a:pt x="63494" y="0"/>
                </a:cubicBezTo>
                <a:close/>
              </a:path>
            </a:pathLst>
          </a:custGeom>
          <a:solidFill>
            <a:srgbClr val="EAE7D6"/>
          </a:solidFill>
          <a:ln/>
        </p:spPr>
        <p:txBody>
          <a:bodyPr/>
          <a:lstStyle/>
          <a:p>
            <a:endParaRPr lang="en-US"/>
          </a:p>
        </p:txBody>
      </p:sp>
      <p:sp>
        <p:nvSpPr>
          <p:cNvPr id="39" name="Text 37"/>
          <p:cNvSpPr/>
          <p:nvPr/>
        </p:nvSpPr>
        <p:spPr>
          <a:xfrm>
            <a:off x="6469063" y="1754188"/>
            <a:ext cx="5167313" cy="158750"/>
          </a:xfrm>
          <a:prstGeom prst="rect">
            <a:avLst/>
          </a:prstGeom>
          <a:noFill/>
          <a:ln/>
        </p:spPr>
        <p:txBody>
          <a:bodyPr wrap="square" lIns="0" tIns="0" rIns="0" bIns="0" rtlCol="0" anchor="ctr"/>
          <a:lstStyle/>
          <a:p>
            <a:pPr>
              <a:lnSpc>
                <a:spcPct val="120000"/>
              </a:lnSpc>
            </a:pPr>
            <a:r>
              <a:rPr lang="en-US" sz="875" b="1" dirty="0">
                <a:solidFill>
                  <a:srgbClr val="8D99AE"/>
                </a:solidFill>
                <a:latin typeface="Quattrocento Sans" pitchFamily="34" charset="0"/>
                <a:ea typeface="Quattrocento Sans" pitchFamily="34" charset="-122"/>
                <a:cs typeface="Quattrocento Sans" pitchFamily="34" charset="-120"/>
              </a:rPr>
              <a:t>Custom Transform Stream , like creating a file that adds comma </a:t>
            </a:r>
            <a:r>
              <a:rPr lang="en-US" sz="875" b="1" dirty="0" err="1">
                <a:solidFill>
                  <a:srgbClr val="8D99AE"/>
                </a:solidFill>
                <a:latin typeface="Quattrocento Sans" pitchFamily="34" charset="0"/>
                <a:ea typeface="Quattrocento Sans" pitchFamily="34" charset="-122"/>
                <a:cs typeface="Quattrocento Sans" pitchFamily="34" charset="-120"/>
              </a:rPr>
              <a:t>agfter</a:t>
            </a:r>
            <a:r>
              <a:rPr lang="en-US" sz="875" b="1" dirty="0">
                <a:solidFill>
                  <a:srgbClr val="8D99AE"/>
                </a:solidFill>
                <a:latin typeface="Quattrocento Sans" pitchFamily="34" charset="0"/>
                <a:ea typeface="Quattrocento Sans" pitchFamily="34" charset="-122"/>
                <a:cs typeface="Quattrocento Sans" pitchFamily="34" charset="-120"/>
              </a:rPr>
              <a:t> each word</a:t>
            </a:r>
            <a:endParaRPr lang="en-US" sz="1600" b="1" dirty="0"/>
          </a:p>
        </p:txBody>
      </p:sp>
      <p:sp>
        <p:nvSpPr>
          <p:cNvPr id="40" name="Shape 38"/>
          <p:cNvSpPr/>
          <p:nvPr/>
        </p:nvSpPr>
        <p:spPr>
          <a:xfrm>
            <a:off x="6469063" y="1976438"/>
            <a:ext cx="5111750" cy="2730500"/>
          </a:xfrm>
          <a:custGeom>
            <a:avLst/>
            <a:gdLst/>
            <a:ahLst/>
            <a:cxnLst/>
            <a:rect l="l" t="t" r="r" b="b"/>
            <a:pathLst>
              <a:path w="5111750" h="2730500">
                <a:moveTo>
                  <a:pt x="31756" y="0"/>
                </a:moveTo>
                <a:lnTo>
                  <a:pt x="5079994" y="0"/>
                </a:lnTo>
                <a:cubicBezTo>
                  <a:pt x="5097532" y="0"/>
                  <a:pt x="5111750" y="14218"/>
                  <a:pt x="5111750" y="31756"/>
                </a:cubicBezTo>
                <a:lnTo>
                  <a:pt x="5111750" y="2698744"/>
                </a:lnTo>
                <a:cubicBezTo>
                  <a:pt x="5111750" y="2716282"/>
                  <a:pt x="5097532" y="2730500"/>
                  <a:pt x="5079994" y="2730500"/>
                </a:cubicBezTo>
                <a:lnTo>
                  <a:pt x="31756" y="2730500"/>
                </a:lnTo>
                <a:cubicBezTo>
                  <a:pt x="14218" y="2730500"/>
                  <a:pt x="0" y="2716282"/>
                  <a:pt x="0" y="2698744"/>
                </a:cubicBezTo>
                <a:lnTo>
                  <a:pt x="0" y="31756"/>
                </a:lnTo>
                <a:cubicBezTo>
                  <a:pt x="0" y="14218"/>
                  <a:pt x="14218" y="0"/>
                  <a:pt x="31756" y="0"/>
                </a:cubicBezTo>
                <a:close/>
              </a:path>
            </a:pathLst>
          </a:custGeom>
          <a:solidFill>
            <a:srgbClr val="EAE7D6"/>
          </a:solidFill>
          <a:ln/>
        </p:spPr>
        <p:txBody>
          <a:bodyPr/>
          <a:lstStyle/>
          <a:p>
            <a:endParaRPr lang="en-US"/>
          </a:p>
        </p:txBody>
      </p:sp>
      <p:sp>
        <p:nvSpPr>
          <p:cNvPr id="41" name="Text 39"/>
          <p:cNvSpPr/>
          <p:nvPr/>
        </p:nvSpPr>
        <p:spPr>
          <a:xfrm>
            <a:off x="6564313" y="2071688"/>
            <a:ext cx="4976813"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const { Transform } = require('stream');</a:t>
            </a:r>
            <a:endParaRPr lang="en-US" sz="1600" dirty="0"/>
          </a:p>
        </p:txBody>
      </p:sp>
      <p:sp>
        <p:nvSpPr>
          <p:cNvPr id="42" name="Text 40"/>
          <p:cNvSpPr/>
          <p:nvPr/>
        </p:nvSpPr>
        <p:spPr>
          <a:xfrm>
            <a:off x="6564313" y="238918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class LineSplitter extends Transform {</a:t>
            </a:r>
            <a:endParaRPr lang="en-US" sz="1600" dirty="0"/>
          </a:p>
        </p:txBody>
      </p:sp>
      <p:sp>
        <p:nvSpPr>
          <p:cNvPr id="43" name="Text 41"/>
          <p:cNvSpPr/>
          <p:nvPr/>
        </p:nvSpPr>
        <p:spPr>
          <a:xfrm>
            <a:off x="6564313" y="25479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constructor() {</a:t>
            </a:r>
            <a:endParaRPr lang="en-US" sz="1600" dirty="0"/>
          </a:p>
        </p:txBody>
      </p:sp>
      <p:sp>
        <p:nvSpPr>
          <p:cNvPr id="44" name="Text 42"/>
          <p:cNvSpPr/>
          <p:nvPr/>
        </p:nvSpPr>
        <p:spPr>
          <a:xfrm>
            <a:off x="6564313" y="27066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super({ objectMode: true });</a:t>
            </a:r>
            <a:endParaRPr lang="en-US" sz="1600" dirty="0"/>
          </a:p>
        </p:txBody>
      </p:sp>
      <p:sp>
        <p:nvSpPr>
          <p:cNvPr id="45" name="Text 43"/>
          <p:cNvSpPr/>
          <p:nvPr/>
        </p:nvSpPr>
        <p:spPr>
          <a:xfrm>
            <a:off x="6564313" y="2865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this.buffer = '';</a:t>
            </a:r>
            <a:endParaRPr lang="en-US" sz="1600" dirty="0"/>
          </a:p>
        </p:txBody>
      </p:sp>
      <p:sp>
        <p:nvSpPr>
          <p:cNvPr id="46" name="Text 44"/>
          <p:cNvSpPr/>
          <p:nvPr/>
        </p:nvSpPr>
        <p:spPr>
          <a:xfrm>
            <a:off x="6564313" y="3024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47" name="Text 45"/>
          <p:cNvSpPr/>
          <p:nvPr/>
        </p:nvSpPr>
        <p:spPr>
          <a:xfrm>
            <a:off x="6564313" y="33416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_transform(chunk, enc, cb) {</a:t>
            </a:r>
            <a:endParaRPr lang="en-US" sz="1600" dirty="0"/>
          </a:p>
        </p:txBody>
      </p:sp>
      <p:sp>
        <p:nvSpPr>
          <p:cNvPr id="48" name="Text 46"/>
          <p:cNvSpPr/>
          <p:nvPr/>
        </p:nvSpPr>
        <p:spPr>
          <a:xfrm>
            <a:off x="6564313" y="3500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this.buffer += chunk;</a:t>
            </a:r>
            <a:endParaRPr lang="en-US" sz="1600" dirty="0"/>
          </a:p>
        </p:txBody>
      </p:sp>
      <p:sp>
        <p:nvSpPr>
          <p:cNvPr id="49" name="Text 47"/>
          <p:cNvSpPr/>
          <p:nvPr/>
        </p:nvSpPr>
        <p:spPr>
          <a:xfrm>
            <a:off x="6564313" y="3659187"/>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const lines = this.buffer.split('\n');</a:t>
            </a:r>
            <a:endParaRPr lang="en-US" sz="1600" dirty="0"/>
          </a:p>
        </p:txBody>
      </p:sp>
      <p:sp>
        <p:nvSpPr>
          <p:cNvPr id="50" name="Text 48"/>
          <p:cNvSpPr/>
          <p:nvPr/>
        </p:nvSpPr>
        <p:spPr>
          <a:xfrm>
            <a:off x="6564313" y="38179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this.buffer = lines.pop();</a:t>
            </a:r>
            <a:endParaRPr lang="en-US" sz="1600" dirty="0"/>
          </a:p>
        </p:txBody>
      </p:sp>
      <p:sp>
        <p:nvSpPr>
          <p:cNvPr id="51" name="Text 49"/>
          <p:cNvSpPr/>
          <p:nvPr/>
        </p:nvSpPr>
        <p:spPr>
          <a:xfrm>
            <a:off x="6564313" y="3976687"/>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lines.forEach(line =&gt; this.push(line));</a:t>
            </a:r>
            <a:endParaRPr lang="en-US" sz="1600" dirty="0"/>
          </a:p>
        </p:txBody>
      </p:sp>
      <p:sp>
        <p:nvSpPr>
          <p:cNvPr id="52" name="Text 50"/>
          <p:cNvSpPr/>
          <p:nvPr/>
        </p:nvSpPr>
        <p:spPr>
          <a:xfrm>
            <a:off x="6564313" y="413543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cb();</a:t>
            </a:r>
            <a:endParaRPr lang="en-US" sz="1600" dirty="0"/>
          </a:p>
        </p:txBody>
      </p:sp>
      <p:sp>
        <p:nvSpPr>
          <p:cNvPr id="53" name="Text 51"/>
          <p:cNvSpPr/>
          <p:nvPr/>
        </p:nvSpPr>
        <p:spPr>
          <a:xfrm>
            <a:off x="6564313" y="4294188"/>
            <a:ext cx="4976813"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54" name="Text 52"/>
          <p:cNvSpPr/>
          <p:nvPr/>
        </p:nvSpPr>
        <p:spPr>
          <a:xfrm>
            <a:off x="6564313" y="4452938"/>
            <a:ext cx="49768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a:t>
            </a:r>
            <a:endParaRPr lang="en-US" sz="1600" dirty="0"/>
          </a:p>
        </p:txBody>
      </p:sp>
      <p:sp>
        <p:nvSpPr>
          <p:cNvPr id="55" name="Shape 53"/>
          <p:cNvSpPr/>
          <p:nvPr/>
        </p:nvSpPr>
        <p:spPr>
          <a:xfrm>
            <a:off x="6179344" y="5131594"/>
            <a:ext cx="5691188" cy="1881187"/>
          </a:xfrm>
          <a:custGeom>
            <a:avLst/>
            <a:gdLst/>
            <a:ahLst/>
            <a:cxnLst/>
            <a:rect l="l" t="t" r="r" b="b"/>
            <a:pathLst>
              <a:path w="5691188" h="1881187">
                <a:moveTo>
                  <a:pt x="95245" y="0"/>
                </a:moveTo>
                <a:lnTo>
                  <a:pt x="5595943" y="0"/>
                </a:lnTo>
                <a:cubicBezTo>
                  <a:pt x="5648545" y="0"/>
                  <a:pt x="5691188" y="42642"/>
                  <a:pt x="5691188" y="95245"/>
                </a:cubicBezTo>
                <a:lnTo>
                  <a:pt x="5691188" y="1785943"/>
                </a:lnTo>
                <a:cubicBezTo>
                  <a:pt x="5691188" y="1838545"/>
                  <a:pt x="5648545" y="1881187"/>
                  <a:pt x="5595943" y="1881188"/>
                </a:cubicBezTo>
                <a:lnTo>
                  <a:pt x="95245" y="1881187"/>
                </a:lnTo>
                <a:cubicBezTo>
                  <a:pt x="42642" y="1881188"/>
                  <a:pt x="0" y="1838545"/>
                  <a:pt x="0" y="1785943"/>
                </a:cubicBezTo>
                <a:lnTo>
                  <a:pt x="0" y="95245"/>
                </a:lnTo>
                <a:cubicBezTo>
                  <a:pt x="0" y="42642"/>
                  <a:pt x="42642" y="0"/>
                  <a:pt x="95245" y="0"/>
                </a:cubicBezTo>
                <a:close/>
              </a:path>
            </a:pathLst>
          </a:custGeom>
          <a:solidFill>
            <a:srgbClr val="EAE7D6"/>
          </a:solidFill>
          <a:ln/>
        </p:spPr>
        <p:txBody>
          <a:bodyPr/>
          <a:lstStyle/>
          <a:p>
            <a:endParaRPr lang="en-US"/>
          </a:p>
        </p:txBody>
      </p:sp>
      <p:sp>
        <p:nvSpPr>
          <p:cNvPr id="56" name="Shape 54"/>
          <p:cNvSpPr/>
          <p:nvPr/>
        </p:nvSpPr>
        <p:spPr>
          <a:xfrm>
            <a:off x="6381750" y="5326063"/>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E07A5F"/>
          </a:solidFill>
          <a:ln/>
        </p:spPr>
        <p:txBody>
          <a:bodyPr/>
          <a:lstStyle/>
          <a:p>
            <a:endParaRPr lang="en-US"/>
          </a:p>
        </p:txBody>
      </p:sp>
      <p:sp>
        <p:nvSpPr>
          <p:cNvPr id="57" name="Text 55"/>
          <p:cNvSpPr/>
          <p:nvPr/>
        </p:nvSpPr>
        <p:spPr>
          <a:xfrm>
            <a:off x="6635750" y="5294313"/>
            <a:ext cx="1944688"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Key Methods to Implement</a:t>
            </a:r>
            <a:endParaRPr lang="en-US" sz="1600" dirty="0"/>
          </a:p>
        </p:txBody>
      </p:sp>
      <p:sp>
        <p:nvSpPr>
          <p:cNvPr id="58" name="Shape 56"/>
          <p:cNvSpPr/>
          <p:nvPr/>
        </p:nvSpPr>
        <p:spPr>
          <a:xfrm>
            <a:off x="6342063" y="5611813"/>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59" name="Text 57"/>
          <p:cNvSpPr/>
          <p:nvPr/>
        </p:nvSpPr>
        <p:spPr>
          <a:xfrm>
            <a:off x="6437313" y="5707063"/>
            <a:ext cx="2508250" cy="190500"/>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Readable</a:t>
            </a:r>
            <a:endParaRPr lang="en-US" sz="1600" dirty="0"/>
          </a:p>
        </p:txBody>
      </p:sp>
      <p:sp>
        <p:nvSpPr>
          <p:cNvPr id="60" name="Text 58"/>
          <p:cNvSpPr/>
          <p:nvPr/>
        </p:nvSpPr>
        <p:spPr>
          <a:xfrm>
            <a:off x="6437313" y="5929313"/>
            <a:ext cx="2500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_read()</a:t>
            </a:r>
            <a:endParaRPr lang="en-US" sz="1600" dirty="0"/>
          </a:p>
        </p:txBody>
      </p:sp>
      <p:sp>
        <p:nvSpPr>
          <p:cNvPr id="61" name="Shape 59"/>
          <p:cNvSpPr/>
          <p:nvPr/>
        </p:nvSpPr>
        <p:spPr>
          <a:xfrm>
            <a:off x="9072563" y="5611813"/>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62" name="Text 60"/>
          <p:cNvSpPr/>
          <p:nvPr/>
        </p:nvSpPr>
        <p:spPr>
          <a:xfrm>
            <a:off x="9167813" y="5707063"/>
            <a:ext cx="2508250" cy="190500"/>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Writable</a:t>
            </a:r>
            <a:endParaRPr lang="en-US" sz="1600" dirty="0"/>
          </a:p>
        </p:txBody>
      </p:sp>
      <p:sp>
        <p:nvSpPr>
          <p:cNvPr id="63" name="Text 61"/>
          <p:cNvSpPr/>
          <p:nvPr/>
        </p:nvSpPr>
        <p:spPr>
          <a:xfrm>
            <a:off x="9167813" y="5929313"/>
            <a:ext cx="2500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_write()</a:t>
            </a:r>
            <a:endParaRPr lang="en-US" sz="1600" dirty="0"/>
          </a:p>
        </p:txBody>
      </p:sp>
      <p:sp>
        <p:nvSpPr>
          <p:cNvPr id="64" name="Shape 62"/>
          <p:cNvSpPr/>
          <p:nvPr/>
        </p:nvSpPr>
        <p:spPr>
          <a:xfrm>
            <a:off x="6342063" y="6278563"/>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65" name="Text 63"/>
          <p:cNvSpPr/>
          <p:nvPr/>
        </p:nvSpPr>
        <p:spPr>
          <a:xfrm>
            <a:off x="6437313" y="6373813"/>
            <a:ext cx="2508250" cy="190500"/>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Transform</a:t>
            </a:r>
            <a:endParaRPr lang="en-US" sz="1600" dirty="0"/>
          </a:p>
        </p:txBody>
      </p:sp>
      <p:sp>
        <p:nvSpPr>
          <p:cNvPr id="66" name="Text 64"/>
          <p:cNvSpPr/>
          <p:nvPr/>
        </p:nvSpPr>
        <p:spPr>
          <a:xfrm>
            <a:off x="6437313" y="6596063"/>
            <a:ext cx="2500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_transform()</a:t>
            </a:r>
            <a:endParaRPr lang="en-US" sz="1600" dirty="0"/>
          </a:p>
        </p:txBody>
      </p:sp>
      <p:sp>
        <p:nvSpPr>
          <p:cNvPr id="67" name="Shape 65"/>
          <p:cNvSpPr/>
          <p:nvPr/>
        </p:nvSpPr>
        <p:spPr>
          <a:xfrm>
            <a:off x="9072563" y="6278563"/>
            <a:ext cx="2635250" cy="571500"/>
          </a:xfrm>
          <a:custGeom>
            <a:avLst/>
            <a:gdLst/>
            <a:ahLst/>
            <a:cxnLst/>
            <a:rect l="l" t="t" r="r" b="b"/>
            <a:pathLst>
              <a:path w="2635250" h="571500">
                <a:moveTo>
                  <a:pt x="63499" y="0"/>
                </a:moveTo>
                <a:lnTo>
                  <a:pt x="2571751" y="0"/>
                </a:lnTo>
                <a:cubicBezTo>
                  <a:pt x="2606820" y="0"/>
                  <a:pt x="2635250" y="28430"/>
                  <a:pt x="2635250" y="63499"/>
                </a:cubicBezTo>
                <a:lnTo>
                  <a:pt x="2635250" y="508001"/>
                </a:lnTo>
                <a:cubicBezTo>
                  <a:pt x="2635250" y="543070"/>
                  <a:pt x="2606820" y="571500"/>
                  <a:pt x="2571751" y="571500"/>
                </a:cubicBezTo>
                <a:lnTo>
                  <a:pt x="63499" y="571500"/>
                </a:lnTo>
                <a:cubicBezTo>
                  <a:pt x="28430" y="571500"/>
                  <a:pt x="0" y="543070"/>
                  <a:pt x="0" y="508001"/>
                </a:cubicBezTo>
                <a:lnTo>
                  <a:pt x="0" y="63499"/>
                </a:lnTo>
                <a:cubicBezTo>
                  <a:pt x="0" y="28453"/>
                  <a:pt x="28453" y="0"/>
                  <a:pt x="63499" y="0"/>
                </a:cubicBezTo>
                <a:close/>
              </a:path>
            </a:pathLst>
          </a:custGeom>
          <a:solidFill>
            <a:srgbClr val="EAE7D6"/>
          </a:solidFill>
          <a:ln/>
        </p:spPr>
        <p:txBody>
          <a:bodyPr/>
          <a:lstStyle/>
          <a:p>
            <a:endParaRPr lang="en-US"/>
          </a:p>
        </p:txBody>
      </p:sp>
      <p:sp>
        <p:nvSpPr>
          <p:cNvPr id="68" name="Text 66"/>
          <p:cNvSpPr/>
          <p:nvPr/>
        </p:nvSpPr>
        <p:spPr>
          <a:xfrm>
            <a:off x="9167813" y="6373813"/>
            <a:ext cx="2508250" cy="190500"/>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Duplex</a:t>
            </a:r>
            <a:endParaRPr lang="en-US" sz="1600" dirty="0"/>
          </a:p>
        </p:txBody>
      </p:sp>
      <p:sp>
        <p:nvSpPr>
          <p:cNvPr id="69" name="Text 67"/>
          <p:cNvSpPr/>
          <p:nvPr/>
        </p:nvSpPr>
        <p:spPr>
          <a:xfrm>
            <a:off x="9167813" y="6596063"/>
            <a:ext cx="2500313"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_read() + _write()</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81000" y="43815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 name="Shape 1"/>
          <p:cNvSpPr/>
          <p:nvPr/>
        </p:nvSpPr>
        <p:spPr>
          <a:xfrm>
            <a:off x="514350" y="571500"/>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FFFFFF"/>
          </a:solidFill>
          <a:ln/>
        </p:spPr>
        <p:txBody>
          <a:bodyPr/>
          <a:lstStyle/>
          <a:p>
            <a:endParaRPr lang="en-US"/>
          </a:p>
        </p:txBody>
      </p:sp>
      <p:sp>
        <p:nvSpPr>
          <p:cNvPr id="4" name="Text 2"/>
          <p:cNvSpPr/>
          <p:nvPr/>
        </p:nvSpPr>
        <p:spPr>
          <a:xfrm>
            <a:off x="952500" y="381000"/>
            <a:ext cx="3362325" cy="190500"/>
          </a:xfrm>
          <a:prstGeom prst="rect">
            <a:avLst/>
          </a:prstGeom>
          <a:noFill/>
          <a:ln/>
        </p:spPr>
        <p:txBody>
          <a:bodyPr wrap="square" lIns="0" tIns="0" rIns="0" bIns="0" rtlCol="0" anchor="ctr"/>
          <a:lstStyle/>
          <a:p>
            <a:pPr>
              <a:lnSpc>
                <a:spcPct val="120000"/>
              </a:lnSpc>
            </a:pPr>
            <a:r>
              <a:rPr lang="en-US" sz="1050" b="1" kern="0" spc="53" dirty="0">
                <a:solidFill>
                  <a:srgbClr val="8D99AE"/>
                </a:solidFill>
                <a:latin typeface="Quattrocento Sans" pitchFamily="34" charset="0"/>
                <a:ea typeface="Quattrocento Sans" pitchFamily="34" charset="-122"/>
                <a:cs typeface="Quattrocento Sans" pitchFamily="34" charset="-120"/>
              </a:rPr>
              <a:t>Production Scenarios</a:t>
            </a:r>
            <a:endParaRPr lang="en-US" sz="1600" dirty="0"/>
          </a:p>
        </p:txBody>
      </p:sp>
      <p:sp>
        <p:nvSpPr>
          <p:cNvPr id="5" name="Text 3"/>
          <p:cNvSpPr/>
          <p:nvPr/>
        </p:nvSpPr>
        <p:spPr>
          <a:xfrm>
            <a:off x="952500" y="571500"/>
            <a:ext cx="3467100" cy="381000"/>
          </a:xfrm>
          <a:prstGeom prst="rect">
            <a:avLst/>
          </a:prstGeom>
          <a:noFill/>
          <a:ln/>
        </p:spPr>
        <p:txBody>
          <a:bodyPr wrap="square" lIns="0" tIns="0" rIns="0" bIns="0" rtlCol="0" anchor="ctr"/>
          <a:lstStyle/>
          <a:p>
            <a:pPr>
              <a:lnSpc>
                <a:spcPct val="90000"/>
              </a:lnSpc>
            </a:pPr>
            <a:r>
              <a:rPr lang="en-US" sz="2700" b="1" dirty="0">
                <a:solidFill>
                  <a:srgbClr val="2D3142"/>
                </a:solidFill>
                <a:latin typeface="Liter" pitchFamily="34" charset="0"/>
                <a:ea typeface="Liter" pitchFamily="34" charset="-122"/>
                <a:cs typeface="Liter" pitchFamily="34" charset="-120"/>
              </a:rPr>
              <a:t>Real-world Use Cases</a:t>
            </a:r>
            <a:endParaRPr lang="en-US" sz="1600" dirty="0"/>
          </a:p>
        </p:txBody>
      </p:sp>
      <p:sp>
        <p:nvSpPr>
          <p:cNvPr id="6" name="Shape 4"/>
          <p:cNvSpPr/>
          <p:nvPr/>
        </p:nvSpPr>
        <p:spPr>
          <a:xfrm>
            <a:off x="381000" y="106680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7" name="Shape 5"/>
          <p:cNvSpPr/>
          <p:nvPr/>
        </p:nvSpPr>
        <p:spPr>
          <a:xfrm>
            <a:off x="385763" y="130016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8" name="Shape 6"/>
          <p:cNvSpPr/>
          <p:nvPr/>
        </p:nvSpPr>
        <p:spPr>
          <a:xfrm>
            <a:off x="581025" y="14954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E07A5F"/>
          </a:solidFill>
          <a:ln/>
        </p:spPr>
        <p:txBody>
          <a:bodyPr/>
          <a:lstStyle/>
          <a:p>
            <a:endParaRPr lang="en-US"/>
          </a:p>
        </p:txBody>
      </p:sp>
      <p:sp>
        <p:nvSpPr>
          <p:cNvPr id="9" name="Shape 7"/>
          <p:cNvSpPr/>
          <p:nvPr/>
        </p:nvSpPr>
        <p:spPr>
          <a:xfrm>
            <a:off x="702469" y="1628775"/>
            <a:ext cx="214313" cy="190500"/>
          </a:xfrm>
          <a:custGeom>
            <a:avLst/>
            <a:gdLst/>
            <a:ahLst/>
            <a:cxnLst/>
            <a:rect l="l" t="t" r="r" b="b"/>
            <a:pathLst>
              <a:path w="214313" h="190500">
                <a:moveTo>
                  <a:pt x="53578" y="178594"/>
                </a:moveTo>
                <a:cubicBezTo>
                  <a:pt x="23999" y="178594"/>
                  <a:pt x="0" y="154595"/>
                  <a:pt x="0" y="125016"/>
                </a:cubicBezTo>
                <a:cubicBezTo>
                  <a:pt x="0" y="101426"/>
                  <a:pt x="15255" y="81409"/>
                  <a:pt x="36426" y="74228"/>
                </a:cubicBezTo>
                <a:cubicBezTo>
                  <a:pt x="35942" y="71363"/>
                  <a:pt x="35719" y="68461"/>
                  <a:pt x="35719" y="65484"/>
                </a:cubicBezTo>
                <a:cubicBezTo>
                  <a:pt x="35719" y="35905"/>
                  <a:pt x="59717" y="11906"/>
                  <a:pt x="89297" y="11906"/>
                </a:cubicBezTo>
                <a:cubicBezTo>
                  <a:pt x="109910" y="11906"/>
                  <a:pt x="127806" y="23552"/>
                  <a:pt x="136773" y="40593"/>
                </a:cubicBezTo>
                <a:cubicBezTo>
                  <a:pt x="142056" y="37505"/>
                  <a:pt x="148233" y="35719"/>
                  <a:pt x="154781" y="35719"/>
                </a:cubicBezTo>
                <a:cubicBezTo>
                  <a:pt x="174501" y="35719"/>
                  <a:pt x="190500" y="51718"/>
                  <a:pt x="190500" y="71438"/>
                </a:cubicBezTo>
                <a:cubicBezTo>
                  <a:pt x="190500" y="77279"/>
                  <a:pt x="189086" y="82823"/>
                  <a:pt x="186593" y="87697"/>
                </a:cubicBezTo>
                <a:cubicBezTo>
                  <a:pt x="202964" y="95250"/>
                  <a:pt x="214313" y="111770"/>
                  <a:pt x="214313" y="130969"/>
                </a:cubicBezTo>
                <a:cubicBezTo>
                  <a:pt x="214313" y="157274"/>
                  <a:pt x="192993" y="178594"/>
                  <a:pt x="166688" y="178594"/>
                </a:cubicBezTo>
                <a:lnTo>
                  <a:pt x="53578" y="178594"/>
                </a:lnTo>
                <a:close/>
                <a:moveTo>
                  <a:pt x="113481" y="71065"/>
                </a:moveTo>
                <a:cubicBezTo>
                  <a:pt x="109984" y="67568"/>
                  <a:pt x="104329" y="67568"/>
                  <a:pt x="100868" y="71065"/>
                </a:cubicBezTo>
                <a:lnTo>
                  <a:pt x="74079" y="97854"/>
                </a:lnTo>
                <a:cubicBezTo>
                  <a:pt x="70582" y="101352"/>
                  <a:pt x="70582" y="107007"/>
                  <a:pt x="74079" y="110468"/>
                </a:cubicBezTo>
                <a:cubicBezTo>
                  <a:pt x="77577" y="113928"/>
                  <a:pt x="83232" y="113965"/>
                  <a:pt x="86692" y="110468"/>
                </a:cubicBezTo>
                <a:lnTo>
                  <a:pt x="98227" y="98933"/>
                </a:lnTo>
                <a:lnTo>
                  <a:pt x="98227" y="136922"/>
                </a:lnTo>
                <a:cubicBezTo>
                  <a:pt x="98227" y="141870"/>
                  <a:pt x="102208" y="145852"/>
                  <a:pt x="107156" y="145852"/>
                </a:cubicBezTo>
                <a:cubicBezTo>
                  <a:pt x="112105" y="145852"/>
                  <a:pt x="116086" y="141870"/>
                  <a:pt x="116086" y="136922"/>
                </a:cubicBezTo>
                <a:lnTo>
                  <a:pt x="116086" y="98933"/>
                </a:lnTo>
                <a:lnTo>
                  <a:pt x="127620" y="110468"/>
                </a:lnTo>
                <a:cubicBezTo>
                  <a:pt x="131118" y="113965"/>
                  <a:pt x="136773" y="113965"/>
                  <a:pt x="140233" y="110468"/>
                </a:cubicBezTo>
                <a:cubicBezTo>
                  <a:pt x="143694" y="106970"/>
                  <a:pt x="143731" y="101315"/>
                  <a:pt x="140233" y="97854"/>
                </a:cubicBezTo>
                <a:lnTo>
                  <a:pt x="113444" y="71065"/>
                </a:lnTo>
                <a:close/>
              </a:path>
            </a:pathLst>
          </a:custGeom>
          <a:solidFill>
            <a:srgbClr val="FFFFFF"/>
          </a:solidFill>
          <a:ln/>
        </p:spPr>
        <p:txBody>
          <a:bodyPr/>
          <a:lstStyle/>
          <a:p>
            <a:endParaRPr lang="en-US"/>
          </a:p>
        </p:txBody>
      </p:sp>
      <p:sp>
        <p:nvSpPr>
          <p:cNvPr id="10" name="Text 8"/>
          <p:cNvSpPr/>
          <p:nvPr/>
        </p:nvSpPr>
        <p:spPr>
          <a:xfrm>
            <a:off x="1152525" y="1590675"/>
            <a:ext cx="212407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File Uploads/Downloads</a:t>
            </a:r>
            <a:endParaRPr lang="en-US" sz="1600" dirty="0"/>
          </a:p>
        </p:txBody>
      </p:sp>
      <p:sp>
        <p:nvSpPr>
          <p:cNvPr id="11" name="Shape 9"/>
          <p:cNvSpPr/>
          <p:nvPr/>
        </p:nvSpPr>
        <p:spPr>
          <a:xfrm>
            <a:off x="581025" y="2105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12" name="Text 10"/>
          <p:cNvSpPr/>
          <p:nvPr/>
        </p:nvSpPr>
        <p:spPr>
          <a:xfrm>
            <a:off x="695325" y="221932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Stream large files directly to/from storage without loading into memory</a:t>
            </a:r>
            <a:endParaRPr lang="en-US" sz="1600" dirty="0"/>
          </a:p>
        </p:txBody>
      </p:sp>
      <p:sp>
        <p:nvSpPr>
          <p:cNvPr id="13" name="Shape 11"/>
          <p:cNvSpPr/>
          <p:nvPr/>
        </p:nvSpPr>
        <p:spPr>
          <a:xfrm>
            <a:off x="600075" y="29432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14" name="Shape 12"/>
          <p:cNvSpPr/>
          <p:nvPr/>
        </p:nvSpPr>
        <p:spPr>
          <a:xfrm>
            <a:off x="600075" y="29432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E07A5F"/>
          </a:solidFill>
          <a:ln/>
        </p:spPr>
        <p:txBody>
          <a:bodyPr/>
          <a:lstStyle/>
          <a:p>
            <a:endParaRPr lang="en-US"/>
          </a:p>
        </p:txBody>
      </p:sp>
      <p:sp>
        <p:nvSpPr>
          <p:cNvPr id="15" name="Text 13"/>
          <p:cNvSpPr/>
          <p:nvPr/>
        </p:nvSpPr>
        <p:spPr>
          <a:xfrm>
            <a:off x="733425" y="305752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16" name="Text 14"/>
          <p:cNvSpPr/>
          <p:nvPr/>
        </p:nvSpPr>
        <p:spPr>
          <a:xfrm>
            <a:off x="733425" y="328612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AWS S3, Google Cloud Storage uploads</a:t>
            </a:r>
            <a:endParaRPr lang="en-US" sz="1600" dirty="0"/>
          </a:p>
        </p:txBody>
      </p:sp>
      <p:sp>
        <p:nvSpPr>
          <p:cNvPr id="17" name="Shape 15"/>
          <p:cNvSpPr/>
          <p:nvPr/>
        </p:nvSpPr>
        <p:spPr>
          <a:xfrm>
            <a:off x="4246513" y="130016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18" name="Shape 16"/>
          <p:cNvSpPr/>
          <p:nvPr/>
        </p:nvSpPr>
        <p:spPr>
          <a:xfrm>
            <a:off x="4441775" y="14954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D99AE"/>
          </a:solidFill>
          <a:ln/>
        </p:spPr>
        <p:txBody>
          <a:bodyPr/>
          <a:lstStyle/>
          <a:p>
            <a:endParaRPr lang="en-US"/>
          </a:p>
        </p:txBody>
      </p:sp>
      <p:sp>
        <p:nvSpPr>
          <p:cNvPr id="19" name="Shape 17"/>
          <p:cNvSpPr/>
          <p:nvPr/>
        </p:nvSpPr>
        <p:spPr>
          <a:xfrm>
            <a:off x="4563219" y="1628775"/>
            <a:ext cx="214313" cy="190500"/>
          </a:xfrm>
          <a:custGeom>
            <a:avLst/>
            <a:gdLst/>
            <a:ahLst/>
            <a:cxnLst/>
            <a:rect l="l" t="t" r="r" b="b"/>
            <a:pathLst>
              <a:path w="214313" h="190500">
                <a:moveTo>
                  <a:pt x="35719" y="23812"/>
                </a:moveTo>
                <a:cubicBezTo>
                  <a:pt x="22585" y="23812"/>
                  <a:pt x="11906" y="34491"/>
                  <a:pt x="11906" y="47625"/>
                </a:cubicBezTo>
                <a:lnTo>
                  <a:pt x="11906" y="142875"/>
                </a:lnTo>
                <a:cubicBezTo>
                  <a:pt x="11906" y="156009"/>
                  <a:pt x="22585" y="166688"/>
                  <a:pt x="35719" y="166688"/>
                </a:cubicBezTo>
                <a:lnTo>
                  <a:pt x="130969" y="166688"/>
                </a:lnTo>
                <a:cubicBezTo>
                  <a:pt x="144103" y="166688"/>
                  <a:pt x="154781" y="156009"/>
                  <a:pt x="154781" y="142875"/>
                </a:cubicBezTo>
                <a:lnTo>
                  <a:pt x="154781" y="47625"/>
                </a:lnTo>
                <a:cubicBezTo>
                  <a:pt x="154781" y="34491"/>
                  <a:pt x="144103" y="23812"/>
                  <a:pt x="130969" y="23812"/>
                </a:cubicBezTo>
                <a:lnTo>
                  <a:pt x="35719" y="23812"/>
                </a:lnTo>
                <a:close/>
                <a:moveTo>
                  <a:pt x="172641" y="125016"/>
                </a:moveTo>
                <a:lnTo>
                  <a:pt x="199988" y="146893"/>
                </a:lnTo>
                <a:cubicBezTo>
                  <a:pt x="201550" y="148158"/>
                  <a:pt x="203485" y="148828"/>
                  <a:pt x="205494" y="148828"/>
                </a:cubicBezTo>
                <a:cubicBezTo>
                  <a:pt x="210369" y="148828"/>
                  <a:pt x="214313" y="144884"/>
                  <a:pt x="214313" y="140010"/>
                </a:cubicBezTo>
                <a:lnTo>
                  <a:pt x="214313" y="50490"/>
                </a:lnTo>
                <a:cubicBezTo>
                  <a:pt x="214313" y="45616"/>
                  <a:pt x="210369" y="41672"/>
                  <a:pt x="205494" y="41672"/>
                </a:cubicBezTo>
                <a:cubicBezTo>
                  <a:pt x="203485" y="41672"/>
                  <a:pt x="201550" y="42342"/>
                  <a:pt x="199988" y="43607"/>
                </a:cubicBezTo>
                <a:lnTo>
                  <a:pt x="172641" y="65484"/>
                </a:lnTo>
                <a:lnTo>
                  <a:pt x="172641" y="125016"/>
                </a:lnTo>
                <a:close/>
              </a:path>
            </a:pathLst>
          </a:custGeom>
          <a:solidFill>
            <a:srgbClr val="FFFFFF"/>
          </a:solidFill>
          <a:ln/>
        </p:spPr>
        <p:txBody>
          <a:bodyPr/>
          <a:lstStyle/>
          <a:p>
            <a:endParaRPr lang="en-US"/>
          </a:p>
        </p:txBody>
      </p:sp>
      <p:sp>
        <p:nvSpPr>
          <p:cNvPr id="20" name="Text 18"/>
          <p:cNvSpPr/>
          <p:nvPr/>
        </p:nvSpPr>
        <p:spPr>
          <a:xfrm>
            <a:off x="5013275" y="1590675"/>
            <a:ext cx="145732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Video Streaming</a:t>
            </a:r>
            <a:endParaRPr lang="en-US" sz="1600" dirty="0"/>
          </a:p>
        </p:txBody>
      </p:sp>
      <p:sp>
        <p:nvSpPr>
          <p:cNvPr id="21" name="Shape 19"/>
          <p:cNvSpPr/>
          <p:nvPr/>
        </p:nvSpPr>
        <p:spPr>
          <a:xfrm>
            <a:off x="4441775" y="2105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22" name="Text 20"/>
          <p:cNvSpPr/>
          <p:nvPr/>
        </p:nvSpPr>
        <p:spPr>
          <a:xfrm>
            <a:off x="4556075" y="221932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Serve video content progressively with adaptive bitrate streaming</a:t>
            </a:r>
            <a:endParaRPr lang="en-US" sz="1600" dirty="0"/>
          </a:p>
        </p:txBody>
      </p:sp>
      <p:sp>
        <p:nvSpPr>
          <p:cNvPr id="23" name="Shape 21"/>
          <p:cNvSpPr/>
          <p:nvPr/>
        </p:nvSpPr>
        <p:spPr>
          <a:xfrm>
            <a:off x="4460825" y="29432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24" name="Shape 22"/>
          <p:cNvSpPr/>
          <p:nvPr/>
        </p:nvSpPr>
        <p:spPr>
          <a:xfrm>
            <a:off x="4460825" y="29432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8D99AE"/>
          </a:solidFill>
          <a:ln/>
        </p:spPr>
        <p:txBody>
          <a:bodyPr/>
          <a:lstStyle/>
          <a:p>
            <a:endParaRPr lang="en-US"/>
          </a:p>
        </p:txBody>
      </p:sp>
      <p:sp>
        <p:nvSpPr>
          <p:cNvPr id="25" name="Text 23"/>
          <p:cNvSpPr/>
          <p:nvPr/>
        </p:nvSpPr>
        <p:spPr>
          <a:xfrm>
            <a:off x="4594175" y="305752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26" name="Text 24"/>
          <p:cNvSpPr/>
          <p:nvPr/>
        </p:nvSpPr>
        <p:spPr>
          <a:xfrm>
            <a:off x="4594175" y="328612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Netflix, YouTube-like services</a:t>
            </a:r>
            <a:endParaRPr lang="en-US" sz="1600" dirty="0"/>
          </a:p>
        </p:txBody>
      </p:sp>
      <p:sp>
        <p:nvSpPr>
          <p:cNvPr id="27" name="Shape 25"/>
          <p:cNvSpPr/>
          <p:nvPr/>
        </p:nvSpPr>
        <p:spPr>
          <a:xfrm>
            <a:off x="8107338" y="130016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28" name="Shape 26"/>
          <p:cNvSpPr/>
          <p:nvPr/>
        </p:nvSpPr>
        <p:spPr>
          <a:xfrm>
            <a:off x="8302600" y="14954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D99AE"/>
          </a:solidFill>
          <a:ln/>
        </p:spPr>
        <p:txBody>
          <a:bodyPr/>
          <a:lstStyle/>
          <a:p>
            <a:endParaRPr lang="en-US"/>
          </a:p>
        </p:txBody>
      </p:sp>
      <p:sp>
        <p:nvSpPr>
          <p:cNvPr id="29" name="Shape 27"/>
          <p:cNvSpPr/>
          <p:nvPr/>
        </p:nvSpPr>
        <p:spPr>
          <a:xfrm>
            <a:off x="8435950" y="1628775"/>
            <a:ext cx="190500" cy="190500"/>
          </a:xfrm>
          <a:custGeom>
            <a:avLst/>
            <a:gdLst/>
            <a:ahLst/>
            <a:cxnLst/>
            <a:rect l="l" t="t" r="r" b="b"/>
            <a:pathLst>
              <a:path w="190500" h="190500">
                <a:moveTo>
                  <a:pt x="169664" y="83344"/>
                </a:moveTo>
                <a:lnTo>
                  <a:pt x="116086" y="83344"/>
                </a:lnTo>
                <a:cubicBezTo>
                  <a:pt x="111137" y="83344"/>
                  <a:pt x="107156" y="79363"/>
                  <a:pt x="107156" y="74414"/>
                </a:cubicBezTo>
                <a:lnTo>
                  <a:pt x="107156" y="20836"/>
                </a:lnTo>
                <a:cubicBezTo>
                  <a:pt x="107156" y="17227"/>
                  <a:pt x="109314" y="13953"/>
                  <a:pt x="112663" y="12576"/>
                </a:cubicBezTo>
                <a:cubicBezTo>
                  <a:pt x="116012" y="11199"/>
                  <a:pt x="119844" y="11981"/>
                  <a:pt x="122411" y="14511"/>
                </a:cubicBezTo>
                <a:lnTo>
                  <a:pt x="137294" y="29394"/>
                </a:lnTo>
                <a:lnTo>
                  <a:pt x="164604" y="2084"/>
                </a:lnTo>
                <a:cubicBezTo>
                  <a:pt x="165943" y="744"/>
                  <a:pt x="167767" y="0"/>
                  <a:pt x="169664" y="0"/>
                </a:cubicBezTo>
                <a:cubicBezTo>
                  <a:pt x="171562" y="0"/>
                  <a:pt x="173385" y="744"/>
                  <a:pt x="174761" y="2121"/>
                </a:cubicBezTo>
                <a:lnTo>
                  <a:pt x="188416" y="15776"/>
                </a:lnTo>
                <a:cubicBezTo>
                  <a:pt x="189756" y="17115"/>
                  <a:pt x="190500" y="18938"/>
                  <a:pt x="190500" y="20836"/>
                </a:cubicBezTo>
                <a:cubicBezTo>
                  <a:pt x="190500" y="22733"/>
                  <a:pt x="189756" y="24557"/>
                  <a:pt x="188379" y="25933"/>
                </a:cubicBezTo>
                <a:lnTo>
                  <a:pt x="161106" y="53206"/>
                </a:lnTo>
                <a:lnTo>
                  <a:pt x="175989" y="68089"/>
                </a:lnTo>
                <a:cubicBezTo>
                  <a:pt x="178557" y="70656"/>
                  <a:pt x="179301" y="74488"/>
                  <a:pt x="177924" y="77837"/>
                </a:cubicBezTo>
                <a:cubicBezTo>
                  <a:pt x="176547" y="81186"/>
                  <a:pt x="173273" y="83344"/>
                  <a:pt x="169664" y="83344"/>
                </a:cubicBezTo>
                <a:close/>
                <a:moveTo>
                  <a:pt x="169664" y="107156"/>
                </a:moveTo>
                <a:cubicBezTo>
                  <a:pt x="173273" y="107156"/>
                  <a:pt x="176547" y="109314"/>
                  <a:pt x="177924" y="112663"/>
                </a:cubicBezTo>
                <a:cubicBezTo>
                  <a:pt x="179301" y="116012"/>
                  <a:pt x="178557" y="119844"/>
                  <a:pt x="175989" y="122411"/>
                </a:cubicBezTo>
                <a:lnTo>
                  <a:pt x="161106" y="137294"/>
                </a:lnTo>
                <a:lnTo>
                  <a:pt x="188416" y="164604"/>
                </a:lnTo>
                <a:cubicBezTo>
                  <a:pt x="189756" y="165943"/>
                  <a:pt x="190537" y="167767"/>
                  <a:pt x="190537" y="169701"/>
                </a:cubicBezTo>
                <a:cubicBezTo>
                  <a:pt x="190537" y="171636"/>
                  <a:pt x="189793" y="173422"/>
                  <a:pt x="188416" y="174799"/>
                </a:cubicBezTo>
                <a:lnTo>
                  <a:pt x="174761" y="188454"/>
                </a:lnTo>
                <a:cubicBezTo>
                  <a:pt x="173385" y="189756"/>
                  <a:pt x="171562" y="190500"/>
                  <a:pt x="169664" y="190500"/>
                </a:cubicBezTo>
                <a:cubicBezTo>
                  <a:pt x="167767" y="190500"/>
                  <a:pt x="165943" y="189756"/>
                  <a:pt x="164567" y="188379"/>
                </a:cubicBezTo>
                <a:lnTo>
                  <a:pt x="137294" y="161106"/>
                </a:lnTo>
                <a:lnTo>
                  <a:pt x="122411" y="175989"/>
                </a:lnTo>
                <a:cubicBezTo>
                  <a:pt x="119844" y="178557"/>
                  <a:pt x="116012" y="179301"/>
                  <a:pt x="112663" y="177924"/>
                </a:cubicBezTo>
                <a:cubicBezTo>
                  <a:pt x="109314" y="176547"/>
                  <a:pt x="107156" y="173273"/>
                  <a:pt x="107156" y="169664"/>
                </a:cubicBezTo>
                <a:lnTo>
                  <a:pt x="107156" y="116086"/>
                </a:lnTo>
                <a:cubicBezTo>
                  <a:pt x="107156" y="111137"/>
                  <a:pt x="111137" y="107156"/>
                  <a:pt x="116086" y="107156"/>
                </a:cubicBezTo>
                <a:lnTo>
                  <a:pt x="169664" y="107156"/>
                </a:lnTo>
                <a:close/>
                <a:moveTo>
                  <a:pt x="74414" y="107156"/>
                </a:moveTo>
                <a:cubicBezTo>
                  <a:pt x="79363" y="107156"/>
                  <a:pt x="83344" y="111137"/>
                  <a:pt x="83344" y="116086"/>
                </a:cubicBezTo>
                <a:lnTo>
                  <a:pt x="83344" y="169664"/>
                </a:lnTo>
                <a:cubicBezTo>
                  <a:pt x="83344" y="173273"/>
                  <a:pt x="81186" y="176547"/>
                  <a:pt x="77837" y="177924"/>
                </a:cubicBezTo>
                <a:cubicBezTo>
                  <a:pt x="74488" y="179301"/>
                  <a:pt x="70656" y="178557"/>
                  <a:pt x="68089" y="175989"/>
                </a:cubicBezTo>
                <a:lnTo>
                  <a:pt x="53206" y="161106"/>
                </a:lnTo>
                <a:lnTo>
                  <a:pt x="25896" y="188416"/>
                </a:lnTo>
                <a:cubicBezTo>
                  <a:pt x="24557" y="189756"/>
                  <a:pt x="22733" y="190500"/>
                  <a:pt x="20836" y="190500"/>
                </a:cubicBezTo>
                <a:cubicBezTo>
                  <a:pt x="18938" y="190500"/>
                  <a:pt x="17115" y="189756"/>
                  <a:pt x="15739" y="188379"/>
                </a:cubicBezTo>
                <a:lnTo>
                  <a:pt x="2121" y="174761"/>
                </a:lnTo>
                <a:cubicBezTo>
                  <a:pt x="744" y="173385"/>
                  <a:pt x="0" y="171562"/>
                  <a:pt x="0" y="169664"/>
                </a:cubicBezTo>
                <a:cubicBezTo>
                  <a:pt x="0" y="167767"/>
                  <a:pt x="744" y="165943"/>
                  <a:pt x="2121" y="164567"/>
                </a:cubicBezTo>
                <a:lnTo>
                  <a:pt x="29394" y="137294"/>
                </a:lnTo>
                <a:lnTo>
                  <a:pt x="14511" y="122411"/>
                </a:lnTo>
                <a:cubicBezTo>
                  <a:pt x="11943" y="119844"/>
                  <a:pt x="11199" y="116012"/>
                  <a:pt x="12576" y="112663"/>
                </a:cubicBezTo>
                <a:cubicBezTo>
                  <a:pt x="13953" y="109314"/>
                  <a:pt x="17227" y="107156"/>
                  <a:pt x="20836" y="107156"/>
                </a:cubicBezTo>
                <a:lnTo>
                  <a:pt x="74414" y="107156"/>
                </a:lnTo>
                <a:close/>
                <a:moveTo>
                  <a:pt x="20836" y="83344"/>
                </a:moveTo>
                <a:cubicBezTo>
                  <a:pt x="17227" y="83344"/>
                  <a:pt x="13953" y="81186"/>
                  <a:pt x="12576" y="77837"/>
                </a:cubicBezTo>
                <a:cubicBezTo>
                  <a:pt x="11199" y="74488"/>
                  <a:pt x="11981" y="70656"/>
                  <a:pt x="14511" y="68089"/>
                </a:cubicBezTo>
                <a:lnTo>
                  <a:pt x="29394" y="53206"/>
                </a:lnTo>
                <a:lnTo>
                  <a:pt x="2121" y="25933"/>
                </a:lnTo>
                <a:cubicBezTo>
                  <a:pt x="744" y="24557"/>
                  <a:pt x="0" y="22733"/>
                  <a:pt x="0" y="20836"/>
                </a:cubicBezTo>
                <a:cubicBezTo>
                  <a:pt x="0" y="18938"/>
                  <a:pt x="744" y="17115"/>
                  <a:pt x="2121" y="15739"/>
                </a:cubicBezTo>
                <a:lnTo>
                  <a:pt x="15739" y="2121"/>
                </a:lnTo>
                <a:cubicBezTo>
                  <a:pt x="17115" y="744"/>
                  <a:pt x="18938" y="0"/>
                  <a:pt x="20836" y="0"/>
                </a:cubicBezTo>
                <a:cubicBezTo>
                  <a:pt x="22733" y="0"/>
                  <a:pt x="24557" y="744"/>
                  <a:pt x="25933" y="2121"/>
                </a:cubicBezTo>
                <a:lnTo>
                  <a:pt x="53206" y="29394"/>
                </a:lnTo>
                <a:lnTo>
                  <a:pt x="68089" y="14511"/>
                </a:lnTo>
                <a:cubicBezTo>
                  <a:pt x="70656" y="11943"/>
                  <a:pt x="74488" y="11199"/>
                  <a:pt x="77837" y="12576"/>
                </a:cubicBezTo>
                <a:cubicBezTo>
                  <a:pt x="81186" y="13953"/>
                  <a:pt x="83344" y="17227"/>
                  <a:pt x="83344" y="20836"/>
                </a:cubicBezTo>
                <a:lnTo>
                  <a:pt x="83344" y="74414"/>
                </a:lnTo>
                <a:cubicBezTo>
                  <a:pt x="83344" y="79363"/>
                  <a:pt x="79363" y="83344"/>
                  <a:pt x="74414" y="83344"/>
                </a:cubicBezTo>
                <a:lnTo>
                  <a:pt x="20836" y="83344"/>
                </a:lnTo>
                <a:close/>
              </a:path>
            </a:pathLst>
          </a:custGeom>
          <a:solidFill>
            <a:srgbClr val="FFFFFF"/>
          </a:solidFill>
          <a:ln/>
        </p:spPr>
        <p:txBody>
          <a:bodyPr/>
          <a:lstStyle/>
          <a:p>
            <a:endParaRPr lang="en-US"/>
          </a:p>
        </p:txBody>
      </p:sp>
      <p:sp>
        <p:nvSpPr>
          <p:cNvPr id="30" name="Text 28"/>
          <p:cNvSpPr/>
          <p:nvPr/>
        </p:nvSpPr>
        <p:spPr>
          <a:xfrm>
            <a:off x="8874100" y="1590675"/>
            <a:ext cx="119062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Compression</a:t>
            </a:r>
            <a:endParaRPr lang="en-US" sz="1600" dirty="0"/>
          </a:p>
        </p:txBody>
      </p:sp>
      <p:sp>
        <p:nvSpPr>
          <p:cNvPr id="31" name="Shape 29"/>
          <p:cNvSpPr/>
          <p:nvPr/>
        </p:nvSpPr>
        <p:spPr>
          <a:xfrm>
            <a:off x="8302600" y="2105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32" name="Text 30"/>
          <p:cNvSpPr/>
          <p:nvPr/>
        </p:nvSpPr>
        <p:spPr>
          <a:xfrm>
            <a:off x="8416900" y="221932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Compress/decompress data on-the-fly with gzip, brotli, deflate</a:t>
            </a:r>
            <a:endParaRPr lang="en-US" sz="1600" dirty="0"/>
          </a:p>
        </p:txBody>
      </p:sp>
      <p:sp>
        <p:nvSpPr>
          <p:cNvPr id="33" name="Shape 31"/>
          <p:cNvSpPr/>
          <p:nvPr/>
        </p:nvSpPr>
        <p:spPr>
          <a:xfrm>
            <a:off x="8321650" y="29432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34" name="Shape 32"/>
          <p:cNvSpPr/>
          <p:nvPr/>
        </p:nvSpPr>
        <p:spPr>
          <a:xfrm>
            <a:off x="8321650" y="29432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2D3142"/>
          </a:solidFill>
          <a:ln/>
        </p:spPr>
        <p:txBody>
          <a:bodyPr/>
          <a:lstStyle/>
          <a:p>
            <a:endParaRPr lang="en-US"/>
          </a:p>
        </p:txBody>
      </p:sp>
      <p:sp>
        <p:nvSpPr>
          <p:cNvPr id="35" name="Text 33"/>
          <p:cNvSpPr/>
          <p:nvPr/>
        </p:nvSpPr>
        <p:spPr>
          <a:xfrm>
            <a:off x="8455000" y="305752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36" name="Text 34"/>
          <p:cNvSpPr/>
          <p:nvPr/>
        </p:nvSpPr>
        <p:spPr>
          <a:xfrm>
            <a:off x="8455000" y="328612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HTTP response compression</a:t>
            </a:r>
            <a:endParaRPr lang="en-US" sz="1600" dirty="0"/>
          </a:p>
        </p:txBody>
      </p:sp>
      <p:sp>
        <p:nvSpPr>
          <p:cNvPr id="37" name="Shape 35"/>
          <p:cNvSpPr/>
          <p:nvPr/>
        </p:nvSpPr>
        <p:spPr>
          <a:xfrm>
            <a:off x="385763" y="398621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38" name="Shape 36"/>
          <p:cNvSpPr/>
          <p:nvPr/>
        </p:nvSpPr>
        <p:spPr>
          <a:xfrm>
            <a:off x="581025" y="41814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9" name="Shape 37"/>
          <p:cNvSpPr/>
          <p:nvPr/>
        </p:nvSpPr>
        <p:spPr>
          <a:xfrm>
            <a:off x="726281" y="4314825"/>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FFFFFF"/>
          </a:solidFill>
          <a:ln/>
        </p:spPr>
        <p:txBody>
          <a:bodyPr/>
          <a:lstStyle/>
          <a:p>
            <a:endParaRPr lang="en-US"/>
          </a:p>
        </p:txBody>
      </p:sp>
      <p:sp>
        <p:nvSpPr>
          <p:cNvPr id="40" name="Text 38"/>
          <p:cNvSpPr/>
          <p:nvPr/>
        </p:nvSpPr>
        <p:spPr>
          <a:xfrm>
            <a:off x="1152525" y="4276725"/>
            <a:ext cx="88582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API Proxy</a:t>
            </a:r>
            <a:endParaRPr lang="en-US" sz="1600" dirty="0"/>
          </a:p>
        </p:txBody>
      </p:sp>
      <p:sp>
        <p:nvSpPr>
          <p:cNvPr id="41" name="Shape 39"/>
          <p:cNvSpPr/>
          <p:nvPr/>
        </p:nvSpPr>
        <p:spPr>
          <a:xfrm>
            <a:off x="581025" y="479107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42" name="Text 40"/>
          <p:cNvSpPr/>
          <p:nvPr/>
        </p:nvSpPr>
        <p:spPr>
          <a:xfrm>
            <a:off x="695325" y="490537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Stream requests/responses through proxy servers with transformation</a:t>
            </a:r>
            <a:endParaRPr lang="en-US" sz="1600" dirty="0"/>
          </a:p>
        </p:txBody>
      </p:sp>
      <p:sp>
        <p:nvSpPr>
          <p:cNvPr id="43" name="Shape 41"/>
          <p:cNvSpPr/>
          <p:nvPr/>
        </p:nvSpPr>
        <p:spPr>
          <a:xfrm>
            <a:off x="600075" y="562927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44" name="Shape 42"/>
          <p:cNvSpPr/>
          <p:nvPr/>
        </p:nvSpPr>
        <p:spPr>
          <a:xfrm>
            <a:off x="600075" y="56292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E07A5F"/>
          </a:solidFill>
          <a:ln/>
        </p:spPr>
        <p:txBody>
          <a:bodyPr/>
          <a:lstStyle/>
          <a:p>
            <a:endParaRPr lang="en-US"/>
          </a:p>
        </p:txBody>
      </p:sp>
      <p:sp>
        <p:nvSpPr>
          <p:cNvPr id="45" name="Text 43"/>
          <p:cNvSpPr/>
          <p:nvPr/>
        </p:nvSpPr>
        <p:spPr>
          <a:xfrm>
            <a:off x="733425" y="574357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46" name="Text 44"/>
          <p:cNvSpPr/>
          <p:nvPr/>
        </p:nvSpPr>
        <p:spPr>
          <a:xfrm>
            <a:off x="733425" y="597217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API gateways, reverse proxies</a:t>
            </a:r>
            <a:endParaRPr lang="en-US" sz="1600" dirty="0"/>
          </a:p>
        </p:txBody>
      </p:sp>
      <p:sp>
        <p:nvSpPr>
          <p:cNvPr id="47" name="Shape 45"/>
          <p:cNvSpPr/>
          <p:nvPr/>
        </p:nvSpPr>
        <p:spPr>
          <a:xfrm>
            <a:off x="4246513" y="398621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48" name="Shape 46"/>
          <p:cNvSpPr/>
          <p:nvPr/>
        </p:nvSpPr>
        <p:spPr>
          <a:xfrm>
            <a:off x="4441775" y="41814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49" name="Shape 47"/>
          <p:cNvSpPr/>
          <p:nvPr/>
        </p:nvSpPr>
        <p:spPr>
          <a:xfrm>
            <a:off x="4598938" y="4314825"/>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44648" y="95250"/>
                </a:moveTo>
                <a:cubicBezTo>
                  <a:pt x="39700" y="95250"/>
                  <a:pt x="35719" y="99231"/>
                  <a:pt x="35719" y="104180"/>
                </a:cubicBezTo>
                <a:cubicBezTo>
                  <a:pt x="35719" y="109128"/>
                  <a:pt x="39700" y="113109"/>
                  <a:pt x="44648" y="113109"/>
                </a:cubicBezTo>
                <a:lnTo>
                  <a:pt x="98227" y="113109"/>
                </a:lnTo>
                <a:cubicBezTo>
                  <a:pt x="103175" y="113109"/>
                  <a:pt x="107156" y="109128"/>
                  <a:pt x="107156" y="104180"/>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8"/>
                  <a:pt x="44648" y="148828"/>
                </a:cubicBezTo>
                <a:lnTo>
                  <a:pt x="98227" y="148828"/>
                </a:lnTo>
                <a:cubicBezTo>
                  <a:pt x="103175" y="148828"/>
                  <a:pt x="107156" y="144847"/>
                  <a:pt x="107156" y="139898"/>
                </a:cubicBezTo>
                <a:cubicBezTo>
                  <a:pt x="107156" y="134950"/>
                  <a:pt x="103175" y="130969"/>
                  <a:pt x="98227" y="130969"/>
                </a:cubicBezTo>
                <a:lnTo>
                  <a:pt x="44648" y="130969"/>
                </a:lnTo>
                <a:close/>
              </a:path>
            </a:pathLst>
          </a:custGeom>
          <a:solidFill>
            <a:srgbClr val="FFFFFF"/>
          </a:solidFill>
          <a:ln/>
        </p:spPr>
        <p:txBody>
          <a:bodyPr/>
          <a:lstStyle/>
          <a:p>
            <a:endParaRPr lang="en-US"/>
          </a:p>
        </p:txBody>
      </p:sp>
      <p:sp>
        <p:nvSpPr>
          <p:cNvPr id="50" name="Text 48"/>
          <p:cNvSpPr/>
          <p:nvPr/>
        </p:nvSpPr>
        <p:spPr>
          <a:xfrm>
            <a:off x="5013275" y="4276725"/>
            <a:ext cx="1323975"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Log Processing</a:t>
            </a:r>
            <a:endParaRPr lang="en-US" sz="1600" dirty="0"/>
          </a:p>
        </p:txBody>
      </p:sp>
      <p:sp>
        <p:nvSpPr>
          <p:cNvPr id="51" name="Shape 49"/>
          <p:cNvSpPr/>
          <p:nvPr/>
        </p:nvSpPr>
        <p:spPr>
          <a:xfrm>
            <a:off x="4441775" y="479107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52" name="Text 50"/>
          <p:cNvSpPr/>
          <p:nvPr/>
        </p:nvSpPr>
        <p:spPr>
          <a:xfrm>
            <a:off x="4556075" y="490537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Process massive log files in real-time with parsing and filtering</a:t>
            </a:r>
            <a:endParaRPr lang="en-US" sz="1600" dirty="0"/>
          </a:p>
        </p:txBody>
      </p:sp>
      <p:sp>
        <p:nvSpPr>
          <p:cNvPr id="53" name="Shape 51"/>
          <p:cNvSpPr/>
          <p:nvPr/>
        </p:nvSpPr>
        <p:spPr>
          <a:xfrm>
            <a:off x="4460825" y="562927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54" name="Shape 52"/>
          <p:cNvSpPr/>
          <p:nvPr/>
        </p:nvSpPr>
        <p:spPr>
          <a:xfrm>
            <a:off x="4460825" y="56292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8D99AE"/>
          </a:solidFill>
          <a:ln/>
        </p:spPr>
        <p:txBody>
          <a:bodyPr/>
          <a:lstStyle/>
          <a:p>
            <a:endParaRPr lang="en-US"/>
          </a:p>
        </p:txBody>
      </p:sp>
      <p:sp>
        <p:nvSpPr>
          <p:cNvPr id="55" name="Text 53"/>
          <p:cNvSpPr/>
          <p:nvPr/>
        </p:nvSpPr>
        <p:spPr>
          <a:xfrm>
            <a:off x="4594175" y="574357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56" name="Text 54"/>
          <p:cNvSpPr/>
          <p:nvPr/>
        </p:nvSpPr>
        <p:spPr>
          <a:xfrm>
            <a:off x="4594175" y="597217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ELK stack, log aggregation</a:t>
            </a:r>
            <a:endParaRPr lang="en-US" sz="1600" dirty="0"/>
          </a:p>
        </p:txBody>
      </p:sp>
      <p:sp>
        <p:nvSpPr>
          <p:cNvPr id="57" name="Shape 55"/>
          <p:cNvSpPr/>
          <p:nvPr/>
        </p:nvSpPr>
        <p:spPr>
          <a:xfrm>
            <a:off x="8107338" y="3986213"/>
            <a:ext cx="3695700" cy="2524125"/>
          </a:xfrm>
          <a:custGeom>
            <a:avLst/>
            <a:gdLst/>
            <a:ahLst/>
            <a:cxnLst/>
            <a:rect l="l" t="t" r="r" b="b"/>
            <a:pathLst>
              <a:path w="3695700" h="2524125">
                <a:moveTo>
                  <a:pt x="114292" y="0"/>
                </a:moveTo>
                <a:lnTo>
                  <a:pt x="3581408" y="0"/>
                </a:lnTo>
                <a:cubicBezTo>
                  <a:pt x="3644530" y="0"/>
                  <a:pt x="3695700" y="51170"/>
                  <a:pt x="3695700" y="114292"/>
                </a:cubicBezTo>
                <a:lnTo>
                  <a:pt x="3695700" y="2409833"/>
                </a:lnTo>
                <a:cubicBezTo>
                  <a:pt x="3695700" y="2472955"/>
                  <a:pt x="3644530" y="2524125"/>
                  <a:pt x="3581408" y="2524125"/>
                </a:cubicBezTo>
                <a:lnTo>
                  <a:pt x="114292" y="2524125"/>
                </a:lnTo>
                <a:cubicBezTo>
                  <a:pt x="51170" y="2524125"/>
                  <a:pt x="0" y="2472955"/>
                  <a:pt x="0" y="2409833"/>
                </a:cubicBezTo>
                <a:lnTo>
                  <a:pt x="0" y="114292"/>
                </a:lnTo>
                <a:cubicBezTo>
                  <a:pt x="0" y="51213"/>
                  <a:pt x="51213" y="0"/>
                  <a:pt x="114292" y="0"/>
                </a:cubicBezTo>
                <a:close/>
              </a:path>
            </a:pathLst>
          </a:custGeom>
          <a:solidFill>
            <a:srgbClr val="EAE7D6"/>
          </a:solidFill>
          <a:ln/>
        </p:spPr>
        <p:txBody>
          <a:bodyPr/>
          <a:lstStyle/>
          <a:p>
            <a:endParaRPr lang="en-US"/>
          </a:p>
        </p:txBody>
      </p:sp>
      <p:sp>
        <p:nvSpPr>
          <p:cNvPr id="58" name="Shape 56"/>
          <p:cNvSpPr/>
          <p:nvPr/>
        </p:nvSpPr>
        <p:spPr>
          <a:xfrm>
            <a:off x="8302600" y="41814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D99AE"/>
          </a:solidFill>
          <a:ln/>
        </p:spPr>
        <p:txBody>
          <a:bodyPr/>
          <a:lstStyle/>
          <a:p>
            <a:endParaRPr lang="en-US"/>
          </a:p>
        </p:txBody>
      </p:sp>
      <p:sp>
        <p:nvSpPr>
          <p:cNvPr id="59" name="Shape 57"/>
          <p:cNvSpPr/>
          <p:nvPr/>
        </p:nvSpPr>
        <p:spPr>
          <a:xfrm>
            <a:off x="8447856" y="4314825"/>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a:ln/>
        </p:spPr>
        <p:txBody>
          <a:bodyPr/>
          <a:lstStyle/>
          <a:p>
            <a:endParaRPr lang="en-US"/>
          </a:p>
        </p:txBody>
      </p:sp>
      <p:sp>
        <p:nvSpPr>
          <p:cNvPr id="60" name="Text 58"/>
          <p:cNvSpPr/>
          <p:nvPr/>
        </p:nvSpPr>
        <p:spPr>
          <a:xfrm>
            <a:off x="8874100" y="4276725"/>
            <a:ext cx="1162050" cy="266700"/>
          </a:xfrm>
          <a:prstGeom prst="rect">
            <a:avLst/>
          </a:prstGeom>
          <a:noFill/>
          <a:ln/>
        </p:spPr>
        <p:txBody>
          <a:bodyPr wrap="square" lIns="0" tIns="0" rIns="0" bIns="0" rtlCol="0" anchor="ctr"/>
          <a:lstStyle/>
          <a:p>
            <a:pPr>
              <a:lnSpc>
                <a:spcPct val="120000"/>
              </a:lnSpc>
            </a:pPr>
            <a:r>
              <a:rPr lang="en-US" sz="1500" b="1" dirty="0">
                <a:solidFill>
                  <a:srgbClr val="2D3142"/>
                </a:solidFill>
                <a:latin typeface="Quattrocento Sans" pitchFamily="34" charset="0"/>
                <a:ea typeface="Quattrocento Sans" pitchFamily="34" charset="-122"/>
                <a:cs typeface="Quattrocento Sans" pitchFamily="34" charset="-120"/>
              </a:rPr>
              <a:t>ETL Pipelines</a:t>
            </a:r>
            <a:endParaRPr lang="en-US" sz="1600" dirty="0"/>
          </a:p>
        </p:txBody>
      </p:sp>
      <p:sp>
        <p:nvSpPr>
          <p:cNvPr id="61" name="Shape 59"/>
          <p:cNvSpPr/>
          <p:nvPr/>
        </p:nvSpPr>
        <p:spPr>
          <a:xfrm>
            <a:off x="8302600" y="479107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EAE7D6"/>
          </a:solidFill>
          <a:ln/>
        </p:spPr>
        <p:txBody>
          <a:bodyPr/>
          <a:lstStyle/>
          <a:p>
            <a:endParaRPr lang="en-US"/>
          </a:p>
        </p:txBody>
      </p:sp>
      <p:sp>
        <p:nvSpPr>
          <p:cNvPr id="62" name="Text 60"/>
          <p:cNvSpPr/>
          <p:nvPr/>
        </p:nvSpPr>
        <p:spPr>
          <a:xfrm>
            <a:off x="8416900" y="4905375"/>
            <a:ext cx="3152775" cy="495300"/>
          </a:xfrm>
          <a:prstGeom prst="rect">
            <a:avLst/>
          </a:prstGeom>
          <a:noFill/>
          <a:ln/>
        </p:spPr>
        <p:txBody>
          <a:bodyPr wrap="square" lIns="0" tIns="0" rIns="0" bIns="0" rtlCol="0" anchor="ctr"/>
          <a:lstStyle/>
          <a:p>
            <a:pPr>
              <a:lnSpc>
                <a:spcPct val="140000"/>
              </a:lnSpc>
            </a:pPr>
            <a:r>
              <a:rPr lang="en-US" sz="1200" dirty="0">
                <a:solidFill>
                  <a:srgbClr val="2D3142"/>
                </a:solidFill>
                <a:latin typeface="Quattrocento Sans" pitchFamily="34" charset="0"/>
                <a:ea typeface="Quattrocento Sans" pitchFamily="34" charset="-122"/>
                <a:cs typeface="Quattrocento Sans" pitchFamily="34" charset="-120"/>
              </a:rPr>
              <a:t>Extract, transform, load data between systems with streaming</a:t>
            </a:r>
            <a:endParaRPr lang="en-US" sz="1600" dirty="0"/>
          </a:p>
        </p:txBody>
      </p:sp>
      <p:sp>
        <p:nvSpPr>
          <p:cNvPr id="63" name="Shape 61"/>
          <p:cNvSpPr/>
          <p:nvPr/>
        </p:nvSpPr>
        <p:spPr>
          <a:xfrm>
            <a:off x="8321650" y="562927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EAE7D6"/>
          </a:solidFill>
          <a:ln/>
        </p:spPr>
        <p:txBody>
          <a:bodyPr/>
          <a:lstStyle/>
          <a:p>
            <a:endParaRPr lang="en-US"/>
          </a:p>
        </p:txBody>
      </p:sp>
      <p:sp>
        <p:nvSpPr>
          <p:cNvPr id="64" name="Shape 62"/>
          <p:cNvSpPr/>
          <p:nvPr/>
        </p:nvSpPr>
        <p:spPr>
          <a:xfrm>
            <a:off x="8321650" y="56292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2D3142"/>
          </a:solidFill>
          <a:ln/>
        </p:spPr>
        <p:txBody>
          <a:bodyPr/>
          <a:lstStyle/>
          <a:p>
            <a:endParaRPr lang="en-US"/>
          </a:p>
        </p:txBody>
      </p:sp>
      <p:sp>
        <p:nvSpPr>
          <p:cNvPr id="65" name="Text 63"/>
          <p:cNvSpPr/>
          <p:nvPr/>
        </p:nvSpPr>
        <p:spPr>
          <a:xfrm>
            <a:off x="8455000" y="5743575"/>
            <a:ext cx="31051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Example</a:t>
            </a:r>
            <a:endParaRPr lang="en-US" sz="1600" dirty="0"/>
          </a:p>
        </p:txBody>
      </p:sp>
      <p:sp>
        <p:nvSpPr>
          <p:cNvPr id="66" name="Text 64"/>
          <p:cNvSpPr/>
          <p:nvPr/>
        </p:nvSpPr>
        <p:spPr>
          <a:xfrm>
            <a:off x="8455000" y="5972175"/>
            <a:ext cx="3114675" cy="228600"/>
          </a:xfrm>
          <a:prstGeom prst="rect">
            <a:avLst/>
          </a:prstGeom>
          <a:noFill/>
          <a:ln/>
        </p:spPr>
        <p:txBody>
          <a:bodyPr wrap="square" lIns="0" tIns="0" rIns="0" bIns="0" rtlCol="0" anchor="ctr"/>
          <a:lstStyle/>
          <a:p>
            <a:pPr>
              <a:lnSpc>
                <a:spcPct val="130000"/>
              </a:lnSpc>
            </a:pPr>
            <a:r>
              <a:rPr lang="en-US" sz="1200" dirty="0">
                <a:solidFill>
                  <a:srgbClr val="2D3142"/>
                </a:solidFill>
                <a:latin typeface="Quattrocento Sans" pitchFamily="34" charset="0"/>
                <a:ea typeface="Quattrocento Sans" pitchFamily="34" charset="-122"/>
                <a:cs typeface="Quattrocento Sans" pitchFamily="34" charset="-120"/>
              </a:rPr>
              <a:t>Data warehousing, migrations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DE"/>
        </a:solidFill>
        <a:effectLst/>
      </p:bgPr>
    </p:bg>
    <p:spTree>
      <p:nvGrpSpPr>
        <p:cNvPr id="1" name=""/>
        <p:cNvGrpSpPr/>
        <p:nvPr/>
      </p:nvGrpSpPr>
      <p:grpSpPr>
        <a:xfrm>
          <a:off x="0" y="0"/>
          <a:ext cx="0" cy="0"/>
          <a:chOff x="0" y="0"/>
          <a:chExt cx="0" cy="0"/>
        </a:xfrm>
      </p:grpSpPr>
      <p:sp>
        <p:nvSpPr>
          <p:cNvPr id="2" name="Shape 0"/>
          <p:cNvSpPr/>
          <p:nvPr/>
        </p:nvSpPr>
        <p:spPr>
          <a:xfrm>
            <a:off x="365303" y="420099"/>
            <a:ext cx="438364" cy="438364"/>
          </a:xfrm>
          <a:custGeom>
            <a:avLst/>
            <a:gdLst/>
            <a:ahLst/>
            <a:cxnLst/>
            <a:rect l="l" t="t" r="r" b="b"/>
            <a:pathLst>
              <a:path w="438364" h="438364">
                <a:moveTo>
                  <a:pt x="73062" y="0"/>
                </a:moveTo>
                <a:lnTo>
                  <a:pt x="365302" y="0"/>
                </a:lnTo>
                <a:cubicBezTo>
                  <a:pt x="405653" y="0"/>
                  <a:pt x="438364" y="32711"/>
                  <a:pt x="438364" y="73062"/>
                </a:cubicBezTo>
                <a:lnTo>
                  <a:pt x="438364" y="365302"/>
                </a:lnTo>
                <a:cubicBezTo>
                  <a:pt x="438364" y="405653"/>
                  <a:pt x="405653" y="438364"/>
                  <a:pt x="365302" y="438364"/>
                </a:cubicBezTo>
                <a:lnTo>
                  <a:pt x="73062" y="438364"/>
                </a:lnTo>
                <a:cubicBezTo>
                  <a:pt x="32711" y="438364"/>
                  <a:pt x="0" y="405653"/>
                  <a:pt x="0" y="365302"/>
                </a:cubicBezTo>
                <a:lnTo>
                  <a:pt x="0" y="73062"/>
                </a:lnTo>
                <a:cubicBezTo>
                  <a:pt x="0" y="32738"/>
                  <a:pt x="32738" y="0"/>
                  <a:pt x="73062"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 name="Shape 1"/>
          <p:cNvSpPr/>
          <p:nvPr/>
        </p:nvSpPr>
        <p:spPr>
          <a:xfrm>
            <a:off x="493160" y="547955"/>
            <a:ext cx="182652" cy="182652"/>
          </a:xfrm>
          <a:custGeom>
            <a:avLst/>
            <a:gdLst/>
            <a:ahLst/>
            <a:cxnLst/>
            <a:rect l="l" t="t" r="r" b="b"/>
            <a:pathLst>
              <a:path w="182652" h="182652">
                <a:moveTo>
                  <a:pt x="91326" y="182652"/>
                </a:moveTo>
                <a:cubicBezTo>
                  <a:pt x="141730" y="182652"/>
                  <a:pt x="182652" y="141730"/>
                  <a:pt x="182652" y="91326"/>
                </a:cubicBezTo>
                <a:cubicBezTo>
                  <a:pt x="182652" y="40922"/>
                  <a:pt x="141730" y="0"/>
                  <a:pt x="91326" y="0"/>
                </a:cubicBezTo>
                <a:cubicBezTo>
                  <a:pt x="40922" y="0"/>
                  <a:pt x="0" y="40922"/>
                  <a:pt x="0" y="91326"/>
                </a:cubicBezTo>
                <a:cubicBezTo>
                  <a:pt x="0" y="141730"/>
                  <a:pt x="40922" y="182652"/>
                  <a:pt x="91326" y="182652"/>
                </a:cubicBezTo>
                <a:close/>
                <a:moveTo>
                  <a:pt x="91326" y="62787"/>
                </a:moveTo>
                <a:cubicBezTo>
                  <a:pt x="85012" y="62787"/>
                  <a:pt x="79910" y="67888"/>
                  <a:pt x="79910" y="74202"/>
                </a:cubicBezTo>
                <a:cubicBezTo>
                  <a:pt x="79910" y="78947"/>
                  <a:pt x="76093" y="82764"/>
                  <a:pt x="71348" y="82764"/>
                </a:cubicBezTo>
                <a:cubicBezTo>
                  <a:pt x="66604" y="82764"/>
                  <a:pt x="62787" y="78947"/>
                  <a:pt x="62787" y="74202"/>
                </a:cubicBezTo>
                <a:cubicBezTo>
                  <a:pt x="62787" y="58434"/>
                  <a:pt x="75558" y="45663"/>
                  <a:pt x="91326" y="45663"/>
                </a:cubicBezTo>
                <a:cubicBezTo>
                  <a:pt x="107094" y="45663"/>
                  <a:pt x="119865" y="58434"/>
                  <a:pt x="119865" y="74202"/>
                </a:cubicBezTo>
                <a:cubicBezTo>
                  <a:pt x="119865" y="91040"/>
                  <a:pt x="107022" y="98175"/>
                  <a:pt x="99888" y="100779"/>
                </a:cubicBezTo>
                <a:lnTo>
                  <a:pt x="99888" y="102135"/>
                </a:lnTo>
                <a:cubicBezTo>
                  <a:pt x="99888" y="106880"/>
                  <a:pt x="96071" y="110697"/>
                  <a:pt x="91326" y="110697"/>
                </a:cubicBezTo>
                <a:cubicBezTo>
                  <a:pt x="86581" y="110697"/>
                  <a:pt x="82764" y="106880"/>
                  <a:pt x="82764" y="102135"/>
                </a:cubicBezTo>
                <a:lnTo>
                  <a:pt x="82764" y="99246"/>
                </a:lnTo>
                <a:cubicBezTo>
                  <a:pt x="82764" y="91932"/>
                  <a:pt x="88044" y="86688"/>
                  <a:pt x="93502" y="84904"/>
                </a:cubicBezTo>
                <a:cubicBezTo>
                  <a:pt x="95785" y="84155"/>
                  <a:pt x="98211" y="82942"/>
                  <a:pt x="99995" y="81230"/>
                </a:cubicBezTo>
                <a:cubicBezTo>
                  <a:pt x="101529" y="79732"/>
                  <a:pt x="102742" y="77663"/>
                  <a:pt x="102742" y="74238"/>
                </a:cubicBezTo>
                <a:cubicBezTo>
                  <a:pt x="102742" y="67924"/>
                  <a:pt x="97640" y="62822"/>
                  <a:pt x="91326" y="62822"/>
                </a:cubicBezTo>
                <a:close/>
                <a:moveTo>
                  <a:pt x="79910" y="131281"/>
                </a:moveTo>
                <a:cubicBezTo>
                  <a:pt x="79910" y="124980"/>
                  <a:pt x="85025" y="119865"/>
                  <a:pt x="91326" y="119865"/>
                </a:cubicBezTo>
                <a:cubicBezTo>
                  <a:pt x="97626" y="119865"/>
                  <a:pt x="102742" y="124980"/>
                  <a:pt x="102742" y="131281"/>
                </a:cubicBezTo>
                <a:cubicBezTo>
                  <a:pt x="102742" y="137581"/>
                  <a:pt x="97626" y="142697"/>
                  <a:pt x="91326" y="142697"/>
                </a:cubicBezTo>
                <a:cubicBezTo>
                  <a:pt x="85025" y="142697"/>
                  <a:pt x="79910" y="137581"/>
                  <a:pt x="79910" y="131281"/>
                </a:cubicBezTo>
                <a:close/>
              </a:path>
            </a:pathLst>
          </a:custGeom>
          <a:solidFill>
            <a:srgbClr val="FFFFFF"/>
          </a:solidFill>
          <a:ln/>
        </p:spPr>
        <p:txBody>
          <a:bodyPr/>
          <a:lstStyle/>
          <a:p>
            <a:endParaRPr lang="en-US"/>
          </a:p>
        </p:txBody>
      </p:sp>
      <p:sp>
        <p:nvSpPr>
          <p:cNvPr id="4" name="Text 2"/>
          <p:cNvSpPr/>
          <p:nvPr/>
        </p:nvSpPr>
        <p:spPr>
          <a:xfrm>
            <a:off x="913258" y="365303"/>
            <a:ext cx="4337978" cy="182652"/>
          </a:xfrm>
          <a:prstGeom prst="rect">
            <a:avLst/>
          </a:prstGeom>
          <a:noFill/>
          <a:ln/>
        </p:spPr>
        <p:txBody>
          <a:bodyPr wrap="square" lIns="0" tIns="0" rIns="0" bIns="0" rtlCol="0" anchor="ctr"/>
          <a:lstStyle/>
          <a:p>
            <a:pPr>
              <a:lnSpc>
                <a:spcPct val="120000"/>
              </a:lnSpc>
            </a:pPr>
            <a:r>
              <a:rPr lang="en-US" sz="1007" b="1" kern="0" spc="50" dirty="0">
                <a:solidFill>
                  <a:srgbClr val="8D99AE"/>
                </a:solidFill>
                <a:latin typeface="Quattrocento Sans" pitchFamily="34" charset="0"/>
                <a:ea typeface="Quattrocento Sans" pitchFamily="34" charset="-122"/>
                <a:cs typeface="Quattrocento Sans" pitchFamily="34" charset="-120"/>
              </a:rPr>
              <a:t>Interview Prep</a:t>
            </a:r>
            <a:endParaRPr lang="en-US" sz="1600" dirty="0"/>
          </a:p>
        </p:txBody>
      </p:sp>
      <p:sp>
        <p:nvSpPr>
          <p:cNvPr id="5" name="Text 3"/>
          <p:cNvSpPr/>
          <p:nvPr/>
        </p:nvSpPr>
        <p:spPr>
          <a:xfrm>
            <a:off x="913258" y="547955"/>
            <a:ext cx="4438436" cy="365303"/>
          </a:xfrm>
          <a:prstGeom prst="rect">
            <a:avLst/>
          </a:prstGeom>
          <a:noFill/>
          <a:ln/>
        </p:spPr>
        <p:txBody>
          <a:bodyPr wrap="square" lIns="0" tIns="0" rIns="0" bIns="0" rtlCol="0" anchor="ctr"/>
          <a:lstStyle/>
          <a:p>
            <a:pPr>
              <a:lnSpc>
                <a:spcPct val="90000"/>
              </a:lnSpc>
            </a:pPr>
            <a:r>
              <a:rPr lang="en-US" sz="2589" b="1" dirty="0">
                <a:solidFill>
                  <a:srgbClr val="2D3142"/>
                </a:solidFill>
                <a:latin typeface="Liter" pitchFamily="34" charset="0"/>
                <a:ea typeface="Liter" pitchFamily="34" charset="-122"/>
                <a:cs typeface="Liter" pitchFamily="34" charset="-120"/>
              </a:rPr>
              <a:t>Common Interview Questions</a:t>
            </a:r>
            <a:endParaRPr lang="en-US" sz="1600" dirty="0"/>
          </a:p>
        </p:txBody>
      </p:sp>
      <p:sp>
        <p:nvSpPr>
          <p:cNvPr id="6" name="Shape 4"/>
          <p:cNvSpPr/>
          <p:nvPr/>
        </p:nvSpPr>
        <p:spPr>
          <a:xfrm>
            <a:off x="365303" y="1022849"/>
            <a:ext cx="1168971" cy="36530"/>
          </a:xfrm>
          <a:custGeom>
            <a:avLst/>
            <a:gdLst/>
            <a:ahLst/>
            <a:cxnLst/>
            <a:rect l="l" t="t" r="r" b="b"/>
            <a:pathLst>
              <a:path w="1168971" h="36530">
                <a:moveTo>
                  <a:pt x="0" y="0"/>
                </a:moveTo>
                <a:lnTo>
                  <a:pt x="1168971" y="0"/>
                </a:lnTo>
                <a:lnTo>
                  <a:pt x="1168971" y="36530"/>
                </a:lnTo>
                <a:lnTo>
                  <a:pt x="0" y="36530"/>
                </a:lnTo>
                <a:lnTo>
                  <a:pt x="0" y="0"/>
                </a:lnTo>
                <a:close/>
              </a:path>
            </a:pathLst>
          </a:custGeom>
          <a:gradFill flip="none" rotWithShape="1">
            <a:gsLst>
              <a:gs pos="0">
                <a:srgbClr val="8D99AE"/>
              </a:gs>
              <a:gs pos="100000">
                <a:srgbClr val="E07A5F"/>
              </a:gs>
            </a:gsLst>
            <a:lin ang="0" scaled="1"/>
          </a:gradFill>
          <a:ln/>
        </p:spPr>
        <p:txBody>
          <a:bodyPr/>
          <a:lstStyle/>
          <a:p>
            <a:endParaRPr lang="en-US"/>
          </a:p>
        </p:txBody>
      </p:sp>
      <p:sp>
        <p:nvSpPr>
          <p:cNvPr id="7" name="Shape 5"/>
          <p:cNvSpPr/>
          <p:nvPr/>
        </p:nvSpPr>
        <p:spPr>
          <a:xfrm>
            <a:off x="369870" y="1246598"/>
            <a:ext cx="5653070" cy="2146157"/>
          </a:xfrm>
          <a:custGeom>
            <a:avLst/>
            <a:gdLst/>
            <a:ahLst/>
            <a:cxnLst/>
            <a:rect l="l" t="t" r="r" b="b"/>
            <a:pathLst>
              <a:path w="5653070" h="2146157">
                <a:moveTo>
                  <a:pt x="109583" y="0"/>
                </a:moveTo>
                <a:lnTo>
                  <a:pt x="5543487" y="0"/>
                </a:lnTo>
                <a:cubicBezTo>
                  <a:pt x="5604008" y="0"/>
                  <a:pt x="5653070" y="49062"/>
                  <a:pt x="5653070" y="109583"/>
                </a:cubicBezTo>
                <a:lnTo>
                  <a:pt x="5653070" y="2036575"/>
                </a:lnTo>
                <a:cubicBezTo>
                  <a:pt x="5653070" y="2097095"/>
                  <a:pt x="5604008" y="2146157"/>
                  <a:pt x="5543487" y="2146157"/>
                </a:cubicBezTo>
                <a:lnTo>
                  <a:pt x="109583" y="2146157"/>
                </a:lnTo>
                <a:cubicBezTo>
                  <a:pt x="49062" y="2146157"/>
                  <a:pt x="0" y="2097095"/>
                  <a:pt x="0" y="2036575"/>
                </a:cubicBezTo>
                <a:lnTo>
                  <a:pt x="0" y="109583"/>
                </a:lnTo>
                <a:cubicBezTo>
                  <a:pt x="0" y="49102"/>
                  <a:pt x="49102" y="0"/>
                  <a:pt x="109583" y="0"/>
                </a:cubicBezTo>
                <a:close/>
              </a:path>
            </a:pathLst>
          </a:custGeom>
          <a:solidFill>
            <a:srgbClr val="EAE7D6"/>
          </a:solidFill>
          <a:ln/>
        </p:spPr>
        <p:txBody>
          <a:bodyPr/>
          <a:lstStyle/>
          <a:p>
            <a:endParaRPr lang="en-US"/>
          </a:p>
        </p:txBody>
      </p:sp>
      <p:sp>
        <p:nvSpPr>
          <p:cNvPr id="8" name="Shape 6"/>
          <p:cNvSpPr/>
          <p:nvPr/>
        </p:nvSpPr>
        <p:spPr>
          <a:xfrm>
            <a:off x="557088" y="1433816"/>
            <a:ext cx="365303" cy="365303"/>
          </a:xfrm>
          <a:custGeom>
            <a:avLst/>
            <a:gdLst/>
            <a:ahLst/>
            <a:cxnLst/>
            <a:rect l="l" t="t" r="r" b="b"/>
            <a:pathLst>
              <a:path w="365303" h="365303">
                <a:moveTo>
                  <a:pt x="182652" y="0"/>
                </a:moveTo>
                <a:lnTo>
                  <a:pt x="182652" y="0"/>
                </a:lnTo>
                <a:cubicBezTo>
                  <a:pt x="283527" y="0"/>
                  <a:pt x="365303" y="81776"/>
                  <a:pt x="365303" y="182652"/>
                </a:cubicBezTo>
                <a:lnTo>
                  <a:pt x="365303" y="182652"/>
                </a:lnTo>
                <a:cubicBezTo>
                  <a:pt x="365303" y="283527"/>
                  <a:pt x="283527" y="365303"/>
                  <a:pt x="182652" y="365303"/>
                </a:cubicBezTo>
                <a:lnTo>
                  <a:pt x="182652" y="365303"/>
                </a:lnTo>
                <a:cubicBezTo>
                  <a:pt x="81776" y="365303"/>
                  <a:pt x="0" y="283527"/>
                  <a:pt x="0" y="182652"/>
                </a:cubicBezTo>
                <a:lnTo>
                  <a:pt x="0" y="182652"/>
                </a:lnTo>
                <a:cubicBezTo>
                  <a:pt x="0" y="81776"/>
                  <a:pt x="81776" y="0"/>
                  <a:pt x="182652" y="0"/>
                </a:cubicBezTo>
                <a:close/>
              </a:path>
            </a:pathLst>
          </a:custGeom>
          <a:solidFill>
            <a:srgbClr val="E07A5F"/>
          </a:solidFill>
          <a:ln/>
        </p:spPr>
        <p:txBody>
          <a:bodyPr/>
          <a:lstStyle/>
          <a:p>
            <a:endParaRPr lang="en-US"/>
          </a:p>
        </p:txBody>
      </p:sp>
      <p:sp>
        <p:nvSpPr>
          <p:cNvPr id="9" name="Text 7"/>
          <p:cNvSpPr/>
          <p:nvPr/>
        </p:nvSpPr>
        <p:spPr>
          <a:xfrm>
            <a:off x="520557" y="1433816"/>
            <a:ext cx="438364" cy="365303"/>
          </a:xfrm>
          <a:prstGeom prst="rect">
            <a:avLst/>
          </a:prstGeom>
          <a:noFill/>
          <a:ln/>
        </p:spPr>
        <p:txBody>
          <a:bodyPr wrap="square" lIns="0" tIns="0" rIns="0" bIns="0" rtlCol="0" anchor="ctr"/>
          <a:lstStyle/>
          <a:p>
            <a:pPr algn="ctr">
              <a:lnSpc>
                <a:spcPct val="130000"/>
              </a:lnSpc>
            </a:pPr>
            <a:r>
              <a:rPr lang="en-US" sz="1151" b="1" dirty="0">
                <a:solidFill>
                  <a:srgbClr val="FFFFFF"/>
                </a:solidFill>
                <a:latin typeface="Quattrocento Sans" pitchFamily="34" charset="0"/>
                <a:ea typeface="Quattrocento Sans" pitchFamily="34" charset="-122"/>
                <a:cs typeface="Quattrocento Sans" pitchFamily="34" charset="-120"/>
              </a:rPr>
              <a:t>Q1</a:t>
            </a:r>
            <a:endParaRPr lang="en-US" sz="1600" dirty="0"/>
          </a:p>
        </p:txBody>
      </p:sp>
      <p:sp>
        <p:nvSpPr>
          <p:cNvPr id="10" name="Text 8"/>
          <p:cNvSpPr/>
          <p:nvPr/>
        </p:nvSpPr>
        <p:spPr>
          <a:xfrm>
            <a:off x="1031982" y="1488611"/>
            <a:ext cx="1470346" cy="255712"/>
          </a:xfrm>
          <a:prstGeom prst="rect">
            <a:avLst/>
          </a:prstGeom>
          <a:noFill/>
          <a:ln/>
        </p:spPr>
        <p:txBody>
          <a:bodyPr wrap="square" lIns="0" tIns="0" rIns="0" bIns="0" rtlCol="0" anchor="ctr"/>
          <a:lstStyle/>
          <a:p>
            <a:pPr>
              <a:lnSpc>
                <a:spcPct val="120000"/>
              </a:lnSpc>
            </a:pPr>
            <a:r>
              <a:rPr lang="en-US" sz="1438" b="1" dirty="0">
                <a:solidFill>
                  <a:srgbClr val="2D3142"/>
                </a:solidFill>
                <a:latin typeface="Quattrocento Sans" pitchFamily="34" charset="0"/>
                <a:ea typeface="Quattrocento Sans" pitchFamily="34" charset="-122"/>
                <a:cs typeface="Quattrocento Sans" pitchFamily="34" charset="-120"/>
              </a:rPr>
              <a:t>Stream vs Buffer?</a:t>
            </a:r>
            <a:endParaRPr lang="en-US" sz="1600" dirty="0"/>
          </a:p>
        </p:txBody>
      </p:sp>
      <p:sp>
        <p:nvSpPr>
          <p:cNvPr id="11" name="Shape 9"/>
          <p:cNvSpPr/>
          <p:nvPr/>
        </p:nvSpPr>
        <p:spPr>
          <a:xfrm>
            <a:off x="557088" y="1945240"/>
            <a:ext cx="5278634" cy="1260297"/>
          </a:xfrm>
          <a:custGeom>
            <a:avLst/>
            <a:gdLst/>
            <a:ahLst/>
            <a:cxnLst/>
            <a:rect l="l" t="t" r="r" b="b"/>
            <a:pathLst>
              <a:path w="5278634" h="1260297">
                <a:moveTo>
                  <a:pt x="73059" y="0"/>
                </a:moveTo>
                <a:lnTo>
                  <a:pt x="5205574" y="0"/>
                </a:lnTo>
                <a:cubicBezTo>
                  <a:pt x="5245924" y="0"/>
                  <a:pt x="5278634" y="32710"/>
                  <a:pt x="5278634" y="73059"/>
                </a:cubicBezTo>
                <a:lnTo>
                  <a:pt x="5278634" y="1187237"/>
                </a:lnTo>
                <a:cubicBezTo>
                  <a:pt x="5278634" y="1227587"/>
                  <a:pt x="5245924" y="1260297"/>
                  <a:pt x="5205574" y="1260297"/>
                </a:cubicBezTo>
                <a:lnTo>
                  <a:pt x="73059" y="1260297"/>
                </a:lnTo>
                <a:cubicBezTo>
                  <a:pt x="32710" y="1260297"/>
                  <a:pt x="0" y="1227587"/>
                  <a:pt x="0" y="1187237"/>
                </a:cubicBezTo>
                <a:lnTo>
                  <a:pt x="0" y="73059"/>
                </a:lnTo>
                <a:cubicBezTo>
                  <a:pt x="0" y="32710"/>
                  <a:pt x="32710" y="0"/>
                  <a:pt x="73059" y="0"/>
                </a:cubicBezTo>
                <a:close/>
              </a:path>
            </a:pathLst>
          </a:custGeom>
          <a:solidFill>
            <a:srgbClr val="EAE7D6"/>
          </a:solidFill>
          <a:ln/>
        </p:spPr>
        <p:txBody>
          <a:bodyPr/>
          <a:lstStyle/>
          <a:p>
            <a:endParaRPr lang="en-US"/>
          </a:p>
        </p:txBody>
      </p:sp>
      <p:sp>
        <p:nvSpPr>
          <p:cNvPr id="12" name="Text 10"/>
          <p:cNvSpPr/>
          <p:nvPr/>
        </p:nvSpPr>
        <p:spPr>
          <a:xfrm>
            <a:off x="703209" y="2091362"/>
            <a:ext cx="5050319" cy="182652"/>
          </a:xfrm>
          <a:prstGeom prst="rect">
            <a:avLst/>
          </a:prstGeom>
          <a:noFill/>
          <a:ln/>
        </p:spPr>
        <p:txBody>
          <a:bodyPr wrap="square" lIns="0" tIns="0" rIns="0" bIns="0" rtlCol="0" anchor="ctr"/>
          <a:lstStyle/>
          <a:p>
            <a:pPr>
              <a:lnSpc>
                <a:spcPct val="120000"/>
              </a:lnSpc>
            </a:pPr>
            <a:r>
              <a:rPr lang="en-US" sz="1007" b="1" dirty="0">
                <a:solidFill>
                  <a:srgbClr val="8D99AE"/>
                </a:solidFill>
                <a:latin typeface="Quattrocento Sans" pitchFamily="34" charset="0"/>
                <a:ea typeface="Quattrocento Sans" pitchFamily="34" charset="-122"/>
                <a:cs typeface="Quattrocento Sans" pitchFamily="34" charset="-120"/>
              </a:rPr>
              <a:t>Answer</a:t>
            </a:r>
            <a:endParaRPr lang="en-US" sz="1600" dirty="0"/>
          </a:p>
        </p:txBody>
      </p:sp>
      <p:sp>
        <p:nvSpPr>
          <p:cNvPr id="13" name="Text 11"/>
          <p:cNvSpPr/>
          <p:nvPr/>
        </p:nvSpPr>
        <p:spPr>
          <a:xfrm>
            <a:off x="703209" y="2347074"/>
            <a:ext cx="5059452" cy="712342"/>
          </a:xfrm>
          <a:prstGeom prst="rect">
            <a:avLst/>
          </a:prstGeom>
          <a:noFill/>
          <a:ln/>
        </p:spPr>
        <p:txBody>
          <a:bodyPr wrap="square" lIns="0" tIns="0" rIns="0" bIns="0" rtlCol="0" anchor="ctr"/>
          <a:lstStyle/>
          <a:p>
            <a:pPr>
              <a:lnSpc>
                <a:spcPct val="140000"/>
              </a:lnSpc>
            </a:pPr>
            <a:r>
              <a:rPr lang="en-US" sz="1151" b="1" dirty="0">
                <a:solidFill>
                  <a:srgbClr val="2D3142"/>
                </a:solidFill>
                <a:latin typeface="Quattrocento Sans" pitchFamily="34" charset="0"/>
                <a:ea typeface="Quattrocento Sans" pitchFamily="34" charset="-122"/>
                <a:cs typeface="Quattrocento Sans" pitchFamily="34" charset="-120"/>
              </a:rPr>
              <a:t>Buffer</a:t>
            </a:r>
            <a:r>
              <a:rPr lang="en-US" sz="1151" dirty="0">
                <a:solidFill>
                  <a:srgbClr val="2D3142"/>
                </a:solidFill>
                <a:latin typeface="Quattrocento Sans" pitchFamily="34" charset="0"/>
                <a:ea typeface="Quattrocento Sans" pitchFamily="34" charset="-122"/>
                <a:cs typeface="Quattrocento Sans" pitchFamily="34" charset="-120"/>
              </a:rPr>
              <a:t> = Load entire data into memory at once. </a:t>
            </a:r>
            <a:r>
              <a:rPr lang="en-US" sz="1151" b="1" dirty="0">
                <a:solidFill>
                  <a:srgbClr val="2D3142"/>
                </a:solidFill>
                <a:latin typeface="Quattrocento Sans" pitchFamily="34" charset="0"/>
                <a:ea typeface="Quattrocento Sans" pitchFamily="34" charset="-122"/>
                <a:cs typeface="Quattrocento Sans" pitchFamily="34" charset="-120"/>
              </a:rPr>
              <a:t>Stream</a:t>
            </a:r>
            <a:r>
              <a:rPr lang="en-US" sz="1151" dirty="0">
                <a:solidFill>
                  <a:srgbClr val="2D3142"/>
                </a:solidFill>
                <a:latin typeface="Quattrocento Sans" pitchFamily="34" charset="0"/>
                <a:ea typeface="Quattrocento Sans" pitchFamily="34" charset="-122"/>
                <a:cs typeface="Quattrocento Sans" pitchFamily="34" charset="-120"/>
              </a:rPr>
              <a:t> = Process data in chunks as it arrives. Streams are memory-efficient and enable real-time processing, while buffers are simpler for small data.</a:t>
            </a:r>
            <a:endParaRPr lang="en-US" sz="1600" dirty="0"/>
          </a:p>
        </p:txBody>
      </p:sp>
      <p:sp>
        <p:nvSpPr>
          <p:cNvPr id="14" name="Shape 12"/>
          <p:cNvSpPr/>
          <p:nvPr/>
        </p:nvSpPr>
        <p:spPr>
          <a:xfrm>
            <a:off x="6174126" y="1246598"/>
            <a:ext cx="5653070" cy="2146157"/>
          </a:xfrm>
          <a:custGeom>
            <a:avLst/>
            <a:gdLst/>
            <a:ahLst/>
            <a:cxnLst/>
            <a:rect l="l" t="t" r="r" b="b"/>
            <a:pathLst>
              <a:path w="5653070" h="2146157">
                <a:moveTo>
                  <a:pt x="109583" y="0"/>
                </a:moveTo>
                <a:lnTo>
                  <a:pt x="5543487" y="0"/>
                </a:lnTo>
                <a:cubicBezTo>
                  <a:pt x="5604008" y="0"/>
                  <a:pt x="5653070" y="49062"/>
                  <a:pt x="5653070" y="109583"/>
                </a:cubicBezTo>
                <a:lnTo>
                  <a:pt x="5653070" y="2036575"/>
                </a:lnTo>
                <a:cubicBezTo>
                  <a:pt x="5653070" y="2097095"/>
                  <a:pt x="5604008" y="2146157"/>
                  <a:pt x="5543487" y="2146157"/>
                </a:cubicBezTo>
                <a:lnTo>
                  <a:pt x="109583" y="2146157"/>
                </a:lnTo>
                <a:cubicBezTo>
                  <a:pt x="49062" y="2146157"/>
                  <a:pt x="0" y="2097095"/>
                  <a:pt x="0" y="2036575"/>
                </a:cubicBezTo>
                <a:lnTo>
                  <a:pt x="0" y="109583"/>
                </a:lnTo>
                <a:cubicBezTo>
                  <a:pt x="0" y="49102"/>
                  <a:pt x="49102" y="0"/>
                  <a:pt x="109583" y="0"/>
                </a:cubicBezTo>
                <a:close/>
              </a:path>
            </a:pathLst>
          </a:custGeom>
          <a:solidFill>
            <a:srgbClr val="EAE7D6"/>
          </a:solidFill>
          <a:ln/>
        </p:spPr>
        <p:txBody>
          <a:bodyPr/>
          <a:lstStyle/>
          <a:p>
            <a:endParaRPr lang="en-US"/>
          </a:p>
        </p:txBody>
      </p:sp>
      <p:sp>
        <p:nvSpPr>
          <p:cNvPr id="15" name="Shape 13"/>
          <p:cNvSpPr/>
          <p:nvPr/>
        </p:nvSpPr>
        <p:spPr>
          <a:xfrm>
            <a:off x="6361344" y="1433816"/>
            <a:ext cx="365303" cy="365303"/>
          </a:xfrm>
          <a:custGeom>
            <a:avLst/>
            <a:gdLst/>
            <a:ahLst/>
            <a:cxnLst/>
            <a:rect l="l" t="t" r="r" b="b"/>
            <a:pathLst>
              <a:path w="365303" h="365303">
                <a:moveTo>
                  <a:pt x="182652" y="0"/>
                </a:moveTo>
                <a:lnTo>
                  <a:pt x="182652" y="0"/>
                </a:lnTo>
                <a:cubicBezTo>
                  <a:pt x="283527" y="0"/>
                  <a:pt x="365303" y="81776"/>
                  <a:pt x="365303" y="182652"/>
                </a:cubicBezTo>
                <a:lnTo>
                  <a:pt x="365303" y="182652"/>
                </a:lnTo>
                <a:cubicBezTo>
                  <a:pt x="365303" y="283527"/>
                  <a:pt x="283527" y="365303"/>
                  <a:pt x="182652" y="365303"/>
                </a:cubicBezTo>
                <a:lnTo>
                  <a:pt x="182652" y="365303"/>
                </a:lnTo>
                <a:cubicBezTo>
                  <a:pt x="81776" y="365303"/>
                  <a:pt x="0" y="283527"/>
                  <a:pt x="0" y="182652"/>
                </a:cubicBezTo>
                <a:lnTo>
                  <a:pt x="0" y="182652"/>
                </a:lnTo>
                <a:cubicBezTo>
                  <a:pt x="0" y="81776"/>
                  <a:pt x="81776" y="0"/>
                  <a:pt x="182652" y="0"/>
                </a:cubicBezTo>
                <a:close/>
              </a:path>
            </a:pathLst>
          </a:custGeom>
          <a:solidFill>
            <a:srgbClr val="8D99AE"/>
          </a:solidFill>
          <a:ln/>
        </p:spPr>
        <p:txBody>
          <a:bodyPr/>
          <a:lstStyle/>
          <a:p>
            <a:endParaRPr lang="en-US"/>
          </a:p>
        </p:txBody>
      </p:sp>
      <p:sp>
        <p:nvSpPr>
          <p:cNvPr id="16" name="Text 14"/>
          <p:cNvSpPr/>
          <p:nvPr/>
        </p:nvSpPr>
        <p:spPr>
          <a:xfrm>
            <a:off x="6324814" y="1433816"/>
            <a:ext cx="438364" cy="365303"/>
          </a:xfrm>
          <a:prstGeom prst="rect">
            <a:avLst/>
          </a:prstGeom>
          <a:noFill/>
          <a:ln/>
        </p:spPr>
        <p:txBody>
          <a:bodyPr wrap="square" lIns="0" tIns="0" rIns="0" bIns="0" rtlCol="0" anchor="ctr"/>
          <a:lstStyle/>
          <a:p>
            <a:pPr algn="ctr">
              <a:lnSpc>
                <a:spcPct val="130000"/>
              </a:lnSpc>
            </a:pPr>
            <a:r>
              <a:rPr lang="en-US" sz="1151" b="1" dirty="0">
                <a:solidFill>
                  <a:srgbClr val="FFFFFF"/>
                </a:solidFill>
                <a:latin typeface="Quattrocento Sans" pitchFamily="34" charset="0"/>
                <a:ea typeface="Quattrocento Sans" pitchFamily="34" charset="-122"/>
                <a:cs typeface="Quattrocento Sans" pitchFamily="34" charset="-120"/>
              </a:rPr>
              <a:t>Q2</a:t>
            </a:r>
            <a:endParaRPr lang="en-US" sz="1600" dirty="0"/>
          </a:p>
        </p:txBody>
      </p:sp>
      <p:sp>
        <p:nvSpPr>
          <p:cNvPr id="17" name="Text 15"/>
          <p:cNvSpPr/>
          <p:nvPr/>
        </p:nvSpPr>
        <p:spPr>
          <a:xfrm>
            <a:off x="6836239" y="1488611"/>
            <a:ext cx="2264881" cy="255712"/>
          </a:xfrm>
          <a:prstGeom prst="rect">
            <a:avLst/>
          </a:prstGeom>
          <a:noFill/>
          <a:ln/>
        </p:spPr>
        <p:txBody>
          <a:bodyPr wrap="square" lIns="0" tIns="0" rIns="0" bIns="0" rtlCol="0" anchor="ctr"/>
          <a:lstStyle/>
          <a:p>
            <a:pPr>
              <a:lnSpc>
                <a:spcPct val="120000"/>
              </a:lnSpc>
            </a:pPr>
            <a:r>
              <a:rPr lang="en-US" sz="1438" b="1" dirty="0">
                <a:solidFill>
                  <a:srgbClr val="2D3142"/>
                </a:solidFill>
                <a:latin typeface="Quattrocento Sans" pitchFamily="34" charset="0"/>
                <a:ea typeface="Quattrocento Sans" pitchFamily="34" charset="-122"/>
                <a:cs typeface="Quattrocento Sans" pitchFamily="34" charset="-120"/>
              </a:rPr>
              <a:t>When NOT to use streams?</a:t>
            </a:r>
            <a:endParaRPr lang="en-US" sz="1600" dirty="0"/>
          </a:p>
        </p:txBody>
      </p:sp>
      <p:sp>
        <p:nvSpPr>
          <p:cNvPr id="18" name="Shape 16"/>
          <p:cNvSpPr/>
          <p:nvPr/>
        </p:nvSpPr>
        <p:spPr>
          <a:xfrm>
            <a:off x="6361344" y="1945240"/>
            <a:ext cx="5278634" cy="1260297"/>
          </a:xfrm>
          <a:custGeom>
            <a:avLst/>
            <a:gdLst/>
            <a:ahLst/>
            <a:cxnLst/>
            <a:rect l="l" t="t" r="r" b="b"/>
            <a:pathLst>
              <a:path w="5278634" h="1260297">
                <a:moveTo>
                  <a:pt x="73059" y="0"/>
                </a:moveTo>
                <a:lnTo>
                  <a:pt x="5205574" y="0"/>
                </a:lnTo>
                <a:cubicBezTo>
                  <a:pt x="5245924" y="0"/>
                  <a:pt x="5278634" y="32710"/>
                  <a:pt x="5278634" y="73059"/>
                </a:cubicBezTo>
                <a:lnTo>
                  <a:pt x="5278634" y="1187237"/>
                </a:lnTo>
                <a:cubicBezTo>
                  <a:pt x="5278634" y="1227587"/>
                  <a:pt x="5245924" y="1260297"/>
                  <a:pt x="5205574" y="1260297"/>
                </a:cubicBezTo>
                <a:lnTo>
                  <a:pt x="73059" y="1260297"/>
                </a:lnTo>
                <a:cubicBezTo>
                  <a:pt x="32710" y="1260297"/>
                  <a:pt x="0" y="1227587"/>
                  <a:pt x="0" y="1187237"/>
                </a:cubicBezTo>
                <a:lnTo>
                  <a:pt x="0" y="73059"/>
                </a:lnTo>
                <a:cubicBezTo>
                  <a:pt x="0" y="32710"/>
                  <a:pt x="32710" y="0"/>
                  <a:pt x="73059" y="0"/>
                </a:cubicBezTo>
                <a:close/>
              </a:path>
            </a:pathLst>
          </a:custGeom>
          <a:solidFill>
            <a:srgbClr val="EAE7D6"/>
          </a:solidFill>
          <a:ln/>
        </p:spPr>
        <p:txBody>
          <a:bodyPr/>
          <a:lstStyle/>
          <a:p>
            <a:endParaRPr lang="en-US"/>
          </a:p>
        </p:txBody>
      </p:sp>
      <p:sp>
        <p:nvSpPr>
          <p:cNvPr id="19" name="Text 17"/>
          <p:cNvSpPr/>
          <p:nvPr/>
        </p:nvSpPr>
        <p:spPr>
          <a:xfrm>
            <a:off x="6507466" y="2091362"/>
            <a:ext cx="5050319" cy="182652"/>
          </a:xfrm>
          <a:prstGeom prst="rect">
            <a:avLst/>
          </a:prstGeom>
          <a:noFill/>
          <a:ln/>
        </p:spPr>
        <p:txBody>
          <a:bodyPr wrap="square" lIns="0" tIns="0" rIns="0" bIns="0" rtlCol="0" anchor="ctr"/>
          <a:lstStyle/>
          <a:p>
            <a:pPr>
              <a:lnSpc>
                <a:spcPct val="120000"/>
              </a:lnSpc>
            </a:pPr>
            <a:r>
              <a:rPr lang="en-US" sz="1007" b="1" dirty="0">
                <a:solidFill>
                  <a:srgbClr val="8D99AE"/>
                </a:solidFill>
                <a:latin typeface="Quattrocento Sans" pitchFamily="34" charset="0"/>
                <a:ea typeface="Quattrocento Sans" pitchFamily="34" charset="-122"/>
                <a:cs typeface="Quattrocento Sans" pitchFamily="34" charset="-120"/>
              </a:rPr>
              <a:t>Answer</a:t>
            </a:r>
            <a:endParaRPr lang="en-US" sz="1600" dirty="0"/>
          </a:p>
        </p:txBody>
      </p:sp>
      <p:sp>
        <p:nvSpPr>
          <p:cNvPr id="20" name="Text 18"/>
          <p:cNvSpPr/>
          <p:nvPr/>
        </p:nvSpPr>
        <p:spPr>
          <a:xfrm>
            <a:off x="6507466" y="2347074"/>
            <a:ext cx="5059452" cy="712342"/>
          </a:xfrm>
          <a:prstGeom prst="rect">
            <a:avLst/>
          </a:prstGeom>
          <a:noFill/>
          <a:ln/>
        </p:spPr>
        <p:txBody>
          <a:bodyPr wrap="square" lIns="0" tIns="0" rIns="0" bIns="0" rtlCol="0" anchor="ctr"/>
          <a:lstStyle/>
          <a:p>
            <a:pPr>
              <a:lnSpc>
                <a:spcPct val="140000"/>
              </a:lnSpc>
            </a:pPr>
            <a:r>
              <a:rPr lang="en-US" sz="1151" dirty="0">
                <a:solidFill>
                  <a:srgbClr val="2D3142"/>
                </a:solidFill>
                <a:latin typeface="Quattrocento Sans" pitchFamily="34" charset="0"/>
                <a:ea typeface="Quattrocento Sans" pitchFamily="34" charset="-122"/>
                <a:cs typeface="Quattrocento Sans" pitchFamily="34" charset="-120"/>
              </a:rPr>
              <a:t>Don't use streams for </a:t>
            </a:r>
            <a:r>
              <a:rPr lang="en-US" sz="1151" b="1" dirty="0">
                <a:solidFill>
                  <a:srgbClr val="2D3142"/>
                </a:solidFill>
                <a:latin typeface="Quattrocento Sans" pitchFamily="34" charset="0"/>
                <a:ea typeface="Quattrocento Sans" pitchFamily="34" charset="-122"/>
                <a:cs typeface="Quattrocento Sans" pitchFamily="34" charset="-120"/>
              </a:rPr>
              <a:t>small data</a:t>
            </a:r>
            <a:r>
              <a:rPr lang="en-US" sz="1151" dirty="0">
                <a:solidFill>
                  <a:srgbClr val="2D3142"/>
                </a:solidFill>
                <a:latin typeface="Quattrocento Sans" pitchFamily="34" charset="0"/>
                <a:ea typeface="Quattrocento Sans" pitchFamily="34" charset="-122"/>
                <a:cs typeface="Quattrocento Sans" pitchFamily="34" charset="-120"/>
              </a:rPr>
              <a:t> that fits easily in memory. The overhead of stream machinery isn't worth it for simple, small operations. Use regular buffers/arrays instead.</a:t>
            </a:r>
            <a:endParaRPr lang="en-US" sz="1600" dirty="0"/>
          </a:p>
        </p:txBody>
      </p:sp>
      <p:sp>
        <p:nvSpPr>
          <p:cNvPr id="21" name="Shape 19"/>
          <p:cNvSpPr/>
          <p:nvPr/>
        </p:nvSpPr>
        <p:spPr>
          <a:xfrm>
            <a:off x="369870" y="3548009"/>
            <a:ext cx="5653070" cy="2155290"/>
          </a:xfrm>
          <a:custGeom>
            <a:avLst/>
            <a:gdLst/>
            <a:ahLst/>
            <a:cxnLst/>
            <a:rect l="l" t="t" r="r" b="b"/>
            <a:pathLst>
              <a:path w="5653070" h="2155290">
                <a:moveTo>
                  <a:pt x="109596" y="0"/>
                </a:moveTo>
                <a:lnTo>
                  <a:pt x="5543473" y="0"/>
                </a:lnTo>
                <a:cubicBezTo>
                  <a:pt x="5604002" y="0"/>
                  <a:pt x="5653070" y="49068"/>
                  <a:pt x="5653070" y="109596"/>
                </a:cubicBezTo>
                <a:lnTo>
                  <a:pt x="5653070" y="2045693"/>
                </a:lnTo>
                <a:cubicBezTo>
                  <a:pt x="5653070" y="2106181"/>
                  <a:pt x="5603961" y="2155290"/>
                  <a:pt x="5543473" y="2155290"/>
                </a:cubicBezTo>
                <a:lnTo>
                  <a:pt x="109596" y="2155290"/>
                </a:lnTo>
                <a:cubicBezTo>
                  <a:pt x="49068" y="2155290"/>
                  <a:pt x="0" y="2106222"/>
                  <a:pt x="0" y="2045693"/>
                </a:cubicBezTo>
                <a:lnTo>
                  <a:pt x="0" y="109596"/>
                </a:lnTo>
                <a:cubicBezTo>
                  <a:pt x="0" y="49109"/>
                  <a:pt x="49109" y="0"/>
                  <a:pt x="109596" y="0"/>
                </a:cubicBezTo>
                <a:close/>
              </a:path>
            </a:pathLst>
          </a:custGeom>
          <a:solidFill>
            <a:srgbClr val="EAE7D6"/>
          </a:solidFill>
          <a:ln/>
        </p:spPr>
        <p:txBody>
          <a:bodyPr/>
          <a:lstStyle/>
          <a:p>
            <a:endParaRPr lang="en-US"/>
          </a:p>
        </p:txBody>
      </p:sp>
      <p:sp>
        <p:nvSpPr>
          <p:cNvPr id="22" name="Shape 20"/>
          <p:cNvSpPr/>
          <p:nvPr/>
        </p:nvSpPr>
        <p:spPr>
          <a:xfrm>
            <a:off x="557088" y="3735227"/>
            <a:ext cx="365303" cy="365303"/>
          </a:xfrm>
          <a:custGeom>
            <a:avLst/>
            <a:gdLst/>
            <a:ahLst/>
            <a:cxnLst/>
            <a:rect l="l" t="t" r="r" b="b"/>
            <a:pathLst>
              <a:path w="365303" h="365303">
                <a:moveTo>
                  <a:pt x="182652" y="0"/>
                </a:moveTo>
                <a:lnTo>
                  <a:pt x="182652" y="0"/>
                </a:lnTo>
                <a:cubicBezTo>
                  <a:pt x="283527" y="0"/>
                  <a:pt x="365303" y="81776"/>
                  <a:pt x="365303" y="182652"/>
                </a:cubicBezTo>
                <a:lnTo>
                  <a:pt x="365303" y="182652"/>
                </a:lnTo>
                <a:cubicBezTo>
                  <a:pt x="365303" y="283527"/>
                  <a:pt x="283527" y="365303"/>
                  <a:pt x="182652" y="365303"/>
                </a:cubicBezTo>
                <a:lnTo>
                  <a:pt x="182652" y="365303"/>
                </a:lnTo>
                <a:cubicBezTo>
                  <a:pt x="81776" y="365303"/>
                  <a:pt x="0" y="283527"/>
                  <a:pt x="0" y="182652"/>
                </a:cubicBezTo>
                <a:lnTo>
                  <a:pt x="0" y="182652"/>
                </a:lnTo>
                <a:cubicBezTo>
                  <a:pt x="0" y="81776"/>
                  <a:pt x="81776" y="0"/>
                  <a:pt x="182652" y="0"/>
                </a:cubicBezTo>
                <a:close/>
              </a:path>
            </a:pathLst>
          </a:custGeom>
          <a:solidFill>
            <a:srgbClr val="8D99AE"/>
          </a:solidFill>
          <a:ln/>
        </p:spPr>
        <p:txBody>
          <a:bodyPr/>
          <a:lstStyle/>
          <a:p>
            <a:endParaRPr lang="en-US"/>
          </a:p>
        </p:txBody>
      </p:sp>
      <p:sp>
        <p:nvSpPr>
          <p:cNvPr id="23" name="Text 21"/>
          <p:cNvSpPr/>
          <p:nvPr/>
        </p:nvSpPr>
        <p:spPr>
          <a:xfrm>
            <a:off x="520557" y="3735227"/>
            <a:ext cx="438364" cy="365303"/>
          </a:xfrm>
          <a:prstGeom prst="rect">
            <a:avLst/>
          </a:prstGeom>
          <a:noFill/>
          <a:ln/>
        </p:spPr>
        <p:txBody>
          <a:bodyPr wrap="square" lIns="0" tIns="0" rIns="0" bIns="0" rtlCol="0" anchor="ctr"/>
          <a:lstStyle/>
          <a:p>
            <a:pPr algn="ctr">
              <a:lnSpc>
                <a:spcPct val="130000"/>
              </a:lnSpc>
            </a:pPr>
            <a:r>
              <a:rPr lang="en-US" sz="1151" b="1" dirty="0">
                <a:solidFill>
                  <a:srgbClr val="FFFFFF"/>
                </a:solidFill>
                <a:latin typeface="Quattrocento Sans" pitchFamily="34" charset="0"/>
                <a:ea typeface="Quattrocento Sans" pitchFamily="34" charset="-122"/>
                <a:cs typeface="Quattrocento Sans" pitchFamily="34" charset="-120"/>
              </a:rPr>
              <a:t>Q3</a:t>
            </a:r>
            <a:endParaRPr lang="en-US" sz="1600" dirty="0"/>
          </a:p>
        </p:txBody>
      </p:sp>
      <p:sp>
        <p:nvSpPr>
          <p:cNvPr id="24" name="Text 22"/>
          <p:cNvSpPr/>
          <p:nvPr/>
        </p:nvSpPr>
        <p:spPr>
          <a:xfrm>
            <a:off x="1031982" y="3790022"/>
            <a:ext cx="2520593" cy="255712"/>
          </a:xfrm>
          <a:prstGeom prst="rect">
            <a:avLst/>
          </a:prstGeom>
          <a:noFill/>
          <a:ln/>
        </p:spPr>
        <p:txBody>
          <a:bodyPr wrap="square" lIns="0" tIns="0" rIns="0" bIns="0" rtlCol="0" anchor="ctr"/>
          <a:lstStyle/>
          <a:p>
            <a:pPr>
              <a:lnSpc>
                <a:spcPct val="120000"/>
              </a:lnSpc>
            </a:pPr>
            <a:r>
              <a:rPr lang="en-US" sz="1438" b="1" dirty="0">
                <a:solidFill>
                  <a:srgbClr val="2D3142"/>
                </a:solidFill>
                <a:latin typeface="Quattrocento Sans" pitchFamily="34" charset="0"/>
                <a:ea typeface="Quattrocento Sans" pitchFamily="34" charset="-122"/>
                <a:cs typeface="Quattrocento Sans" pitchFamily="34" charset="-120"/>
              </a:rPr>
              <a:t>How to improve performance?</a:t>
            </a:r>
            <a:endParaRPr lang="en-US" sz="1600" dirty="0"/>
          </a:p>
        </p:txBody>
      </p:sp>
      <p:sp>
        <p:nvSpPr>
          <p:cNvPr id="25" name="Shape 23"/>
          <p:cNvSpPr/>
          <p:nvPr/>
        </p:nvSpPr>
        <p:spPr>
          <a:xfrm>
            <a:off x="557088" y="4246652"/>
            <a:ext cx="5278634" cy="1269429"/>
          </a:xfrm>
          <a:custGeom>
            <a:avLst/>
            <a:gdLst/>
            <a:ahLst/>
            <a:cxnLst/>
            <a:rect l="l" t="t" r="r" b="b"/>
            <a:pathLst>
              <a:path w="5278634" h="1269429">
                <a:moveTo>
                  <a:pt x="73056" y="0"/>
                </a:moveTo>
                <a:lnTo>
                  <a:pt x="5205578" y="0"/>
                </a:lnTo>
                <a:cubicBezTo>
                  <a:pt x="5245926" y="0"/>
                  <a:pt x="5278634" y="32708"/>
                  <a:pt x="5278634" y="73056"/>
                </a:cubicBezTo>
                <a:lnTo>
                  <a:pt x="5278634" y="1196374"/>
                </a:lnTo>
                <a:cubicBezTo>
                  <a:pt x="5278634" y="1236721"/>
                  <a:pt x="5245926" y="1269429"/>
                  <a:pt x="5205578" y="1269429"/>
                </a:cubicBezTo>
                <a:lnTo>
                  <a:pt x="73056" y="1269429"/>
                </a:lnTo>
                <a:cubicBezTo>
                  <a:pt x="32708" y="1269429"/>
                  <a:pt x="0" y="1236721"/>
                  <a:pt x="0" y="1196374"/>
                </a:cubicBezTo>
                <a:lnTo>
                  <a:pt x="0" y="73056"/>
                </a:lnTo>
                <a:cubicBezTo>
                  <a:pt x="0" y="32735"/>
                  <a:pt x="32735" y="0"/>
                  <a:pt x="73056" y="0"/>
                </a:cubicBezTo>
                <a:close/>
              </a:path>
            </a:pathLst>
          </a:custGeom>
          <a:solidFill>
            <a:srgbClr val="EAE7D6"/>
          </a:solidFill>
          <a:ln/>
        </p:spPr>
        <p:txBody>
          <a:bodyPr/>
          <a:lstStyle/>
          <a:p>
            <a:endParaRPr lang="en-US"/>
          </a:p>
        </p:txBody>
      </p:sp>
      <p:sp>
        <p:nvSpPr>
          <p:cNvPr id="26" name="Text 24"/>
          <p:cNvSpPr/>
          <p:nvPr/>
        </p:nvSpPr>
        <p:spPr>
          <a:xfrm>
            <a:off x="703209" y="4392773"/>
            <a:ext cx="5050319" cy="182652"/>
          </a:xfrm>
          <a:prstGeom prst="rect">
            <a:avLst/>
          </a:prstGeom>
          <a:noFill/>
          <a:ln/>
        </p:spPr>
        <p:txBody>
          <a:bodyPr wrap="square" lIns="0" tIns="0" rIns="0" bIns="0" rtlCol="0" anchor="ctr"/>
          <a:lstStyle/>
          <a:p>
            <a:pPr>
              <a:lnSpc>
                <a:spcPct val="120000"/>
              </a:lnSpc>
            </a:pPr>
            <a:r>
              <a:rPr lang="en-US" sz="1007" b="1" dirty="0">
                <a:solidFill>
                  <a:srgbClr val="8D99AE"/>
                </a:solidFill>
                <a:latin typeface="Quattrocento Sans" pitchFamily="34" charset="0"/>
                <a:ea typeface="Quattrocento Sans" pitchFamily="34" charset="-122"/>
                <a:cs typeface="Quattrocento Sans" pitchFamily="34" charset="-120"/>
              </a:rPr>
              <a:t>Answer</a:t>
            </a:r>
            <a:endParaRPr lang="en-US" sz="1600" dirty="0"/>
          </a:p>
        </p:txBody>
      </p:sp>
      <p:sp>
        <p:nvSpPr>
          <p:cNvPr id="27" name="Text 25"/>
          <p:cNvSpPr/>
          <p:nvPr/>
        </p:nvSpPr>
        <p:spPr>
          <a:xfrm>
            <a:off x="703209" y="4648485"/>
            <a:ext cx="5059452" cy="721474"/>
          </a:xfrm>
          <a:prstGeom prst="rect">
            <a:avLst/>
          </a:prstGeom>
          <a:noFill/>
          <a:ln/>
        </p:spPr>
        <p:txBody>
          <a:bodyPr wrap="square" lIns="0" tIns="0" rIns="0" bIns="0" rtlCol="0" anchor="ctr"/>
          <a:lstStyle/>
          <a:p>
            <a:pPr>
              <a:lnSpc>
                <a:spcPct val="140000"/>
              </a:lnSpc>
            </a:pPr>
            <a:r>
              <a:rPr lang="en-US" sz="1151" dirty="0">
                <a:solidFill>
                  <a:srgbClr val="2D3142"/>
                </a:solidFill>
                <a:latin typeface="Quattrocento Sans" pitchFamily="34" charset="0"/>
                <a:ea typeface="Quattrocento Sans" pitchFamily="34" charset="-122"/>
                <a:cs typeface="Quattrocento Sans" pitchFamily="34" charset="-120"/>
              </a:rPr>
              <a:t>Tune </a:t>
            </a:r>
            <a:r>
              <a:rPr lang="en-US" sz="1151" dirty="0">
                <a:solidFill>
                  <a:srgbClr val="E07A5F"/>
                </a:solidFill>
                <a:latin typeface="MiSans" pitchFamily="34" charset="0"/>
                <a:ea typeface="MiSans" pitchFamily="34" charset="-122"/>
                <a:cs typeface="MiSans" pitchFamily="34" charset="-120"/>
              </a:rPr>
              <a:t>highWaterMark</a:t>
            </a:r>
            <a:r>
              <a:rPr lang="en-US" sz="1151" dirty="0">
                <a:solidFill>
                  <a:srgbClr val="2D3142"/>
                </a:solidFill>
                <a:latin typeface="Quattrocento Sans" pitchFamily="34" charset="0"/>
                <a:ea typeface="Quattrocento Sans" pitchFamily="34" charset="-122"/>
                <a:cs typeface="Quattrocento Sans" pitchFamily="34" charset="-120"/>
              </a:rPr>
              <a:t> based on workload. Increase for large sequential files, decrease for memory-constrained environments. Also use object mode for structured data and pipeline() for error handling.</a:t>
            </a:r>
            <a:endParaRPr lang="en-US" sz="1600" dirty="0"/>
          </a:p>
        </p:txBody>
      </p:sp>
      <p:sp>
        <p:nvSpPr>
          <p:cNvPr id="28" name="Shape 26"/>
          <p:cNvSpPr/>
          <p:nvPr/>
        </p:nvSpPr>
        <p:spPr>
          <a:xfrm>
            <a:off x="6174126" y="3548009"/>
            <a:ext cx="5653070" cy="2155290"/>
          </a:xfrm>
          <a:custGeom>
            <a:avLst/>
            <a:gdLst/>
            <a:ahLst/>
            <a:cxnLst/>
            <a:rect l="l" t="t" r="r" b="b"/>
            <a:pathLst>
              <a:path w="5653070" h="2155290">
                <a:moveTo>
                  <a:pt x="109596" y="0"/>
                </a:moveTo>
                <a:lnTo>
                  <a:pt x="5543473" y="0"/>
                </a:lnTo>
                <a:cubicBezTo>
                  <a:pt x="5604002" y="0"/>
                  <a:pt x="5653070" y="49068"/>
                  <a:pt x="5653070" y="109596"/>
                </a:cubicBezTo>
                <a:lnTo>
                  <a:pt x="5653070" y="2045693"/>
                </a:lnTo>
                <a:cubicBezTo>
                  <a:pt x="5653070" y="2106181"/>
                  <a:pt x="5603961" y="2155290"/>
                  <a:pt x="5543473" y="2155290"/>
                </a:cubicBezTo>
                <a:lnTo>
                  <a:pt x="109596" y="2155290"/>
                </a:lnTo>
                <a:cubicBezTo>
                  <a:pt x="49068" y="2155290"/>
                  <a:pt x="0" y="2106222"/>
                  <a:pt x="0" y="2045693"/>
                </a:cubicBezTo>
                <a:lnTo>
                  <a:pt x="0" y="109596"/>
                </a:lnTo>
                <a:cubicBezTo>
                  <a:pt x="0" y="49109"/>
                  <a:pt x="49109" y="0"/>
                  <a:pt x="109596" y="0"/>
                </a:cubicBezTo>
                <a:close/>
              </a:path>
            </a:pathLst>
          </a:custGeom>
          <a:solidFill>
            <a:srgbClr val="EAE7D6"/>
          </a:solidFill>
          <a:ln/>
        </p:spPr>
        <p:txBody>
          <a:bodyPr/>
          <a:lstStyle/>
          <a:p>
            <a:endParaRPr lang="en-US"/>
          </a:p>
        </p:txBody>
      </p:sp>
      <p:sp>
        <p:nvSpPr>
          <p:cNvPr id="29" name="Shape 27"/>
          <p:cNvSpPr/>
          <p:nvPr/>
        </p:nvSpPr>
        <p:spPr>
          <a:xfrm>
            <a:off x="6361344" y="3735227"/>
            <a:ext cx="365303" cy="365303"/>
          </a:xfrm>
          <a:custGeom>
            <a:avLst/>
            <a:gdLst/>
            <a:ahLst/>
            <a:cxnLst/>
            <a:rect l="l" t="t" r="r" b="b"/>
            <a:pathLst>
              <a:path w="365303" h="365303">
                <a:moveTo>
                  <a:pt x="182652" y="0"/>
                </a:moveTo>
                <a:lnTo>
                  <a:pt x="182652" y="0"/>
                </a:lnTo>
                <a:cubicBezTo>
                  <a:pt x="283527" y="0"/>
                  <a:pt x="365303" y="81776"/>
                  <a:pt x="365303" y="182652"/>
                </a:cubicBezTo>
                <a:lnTo>
                  <a:pt x="365303" y="182652"/>
                </a:lnTo>
                <a:cubicBezTo>
                  <a:pt x="365303" y="283527"/>
                  <a:pt x="283527" y="365303"/>
                  <a:pt x="182652" y="365303"/>
                </a:cubicBezTo>
                <a:lnTo>
                  <a:pt x="182652" y="365303"/>
                </a:lnTo>
                <a:cubicBezTo>
                  <a:pt x="81776" y="365303"/>
                  <a:pt x="0" y="283527"/>
                  <a:pt x="0" y="182652"/>
                </a:cubicBezTo>
                <a:lnTo>
                  <a:pt x="0" y="182652"/>
                </a:lnTo>
                <a:cubicBezTo>
                  <a:pt x="0" y="81776"/>
                  <a:pt x="81776" y="0"/>
                  <a:pt x="182652"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30" name="Text 28"/>
          <p:cNvSpPr/>
          <p:nvPr/>
        </p:nvSpPr>
        <p:spPr>
          <a:xfrm>
            <a:off x="6324814" y="3735227"/>
            <a:ext cx="438364" cy="365303"/>
          </a:xfrm>
          <a:prstGeom prst="rect">
            <a:avLst/>
          </a:prstGeom>
          <a:noFill/>
          <a:ln/>
        </p:spPr>
        <p:txBody>
          <a:bodyPr wrap="square" lIns="0" tIns="0" rIns="0" bIns="0" rtlCol="0" anchor="ctr"/>
          <a:lstStyle/>
          <a:p>
            <a:pPr algn="ctr">
              <a:lnSpc>
                <a:spcPct val="130000"/>
              </a:lnSpc>
            </a:pPr>
            <a:r>
              <a:rPr lang="en-US" sz="1151" b="1" dirty="0">
                <a:solidFill>
                  <a:srgbClr val="FFFFFF"/>
                </a:solidFill>
                <a:latin typeface="Quattrocento Sans" pitchFamily="34" charset="0"/>
                <a:ea typeface="Quattrocento Sans" pitchFamily="34" charset="-122"/>
                <a:cs typeface="Quattrocento Sans" pitchFamily="34" charset="-120"/>
              </a:rPr>
              <a:t>Q4</a:t>
            </a:r>
            <a:endParaRPr lang="en-US" sz="1600" dirty="0"/>
          </a:p>
        </p:txBody>
      </p:sp>
      <p:sp>
        <p:nvSpPr>
          <p:cNvPr id="31" name="Text 29"/>
          <p:cNvSpPr/>
          <p:nvPr/>
        </p:nvSpPr>
        <p:spPr>
          <a:xfrm>
            <a:off x="6836239" y="3790022"/>
            <a:ext cx="2073097" cy="255712"/>
          </a:xfrm>
          <a:prstGeom prst="rect">
            <a:avLst/>
          </a:prstGeom>
          <a:noFill/>
          <a:ln/>
        </p:spPr>
        <p:txBody>
          <a:bodyPr wrap="square" lIns="0" tIns="0" rIns="0" bIns="0" rtlCol="0" anchor="ctr"/>
          <a:lstStyle/>
          <a:p>
            <a:pPr>
              <a:lnSpc>
                <a:spcPct val="120000"/>
              </a:lnSpc>
            </a:pPr>
            <a:r>
              <a:rPr lang="en-US" sz="1438" b="1" dirty="0">
                <a:solidFill>
                  <a:srgbClr val="2D3142"/>
                </a:solidFill>
                <a:latin typeface="Quattrocento Sans" pitchFamily="34" charset="0"/>
                <a:ea typeface="Quattrocento Sans" pitchFamily="34" charset="-122"/>
                <a:cs typeface="Quattrocento Sans" pitchFamily="34" charset="-120"/>
              </a:rPr>
              <a:t>Error handling approach?</a:t>
            </a:r>
            <a:endParaRPr lang="en-US" sz="1600" dirty="0"/>
          </a:p>
        </p:txBody>
      </p:sp>
      <p:sp>
        <p:nvSpPr>
          <p:cNvPr id="32" name="Shape 30"/>
          <p:cNvSpPr/>
          <p:nvPr/>
        </p:nvSpPr>
        <p:spPr>
          <a:xfrm>
            <a:off x="6361344" y="4246652"/>
            <a:ext cx="5278634" cy="1269429"/>
          </a:xfrm>
          <a:custGeom>
            <a:avLst/>
            <a:gdLst/>
            <a:ahLst/>
            <a:cxnLst/>
            <a:rect l="l" t="t" r="r" b="b"/>
            <a:pathLst>
              <a:path w="5278634" h="1269429">
                <a:moveTo>
                  <a:pt x="73056" y="0"/>
                </a:moveTo>
                <a:lnTo>
                  <a:pt x="5205578" y="0"/>
                </a:lnTo>
                <a:cubicBezTo>
                  <a:pt x="5245926" y="0"/>
                  <a:pt x="5278634" y="32708"/>
                  <a:pt x="5278634" y="73056"/>
                </a:cubicBezTo>
                <a:lnTo>
                  <a:pt x="5278634" y="1196374"/>
                </a:lnTo>
                <a:cubicBezTo>
                  <a:pt x="5278634" y="1236721"/>
                  <a:pt x="5245926" y="1269429"/>
                  <a:pt x="5205578" y="1269429"/>
                </a:cubicBezTo>
                <a:lnTo>
                  <a:pt x="73056" y="1269429"/>
                </a:lnTo>
                <a:cubicBezTo>
                  <a:pt x="32708" y="1269429"/>
                  <a:pt x="0" y="1236721"/>
                  <a:pt x="0" y="1196374"/>
                </a:cubicBezTo>
                <a:lnTo>
                  <a:pt x="0" y="73056"/>
                </a:lnTo>
                <a:cubicBezTo>
                  <a:pt x="0" y="32735"/>
                  <a:pt x="32735" y="0"/>
                  <a:pt x="73056" y="0"/>
                </a:cubicBezTo>
                <a:close/>
              </a:path>
            </a:pathLst>
          </a:custGeom>
          <a:solidFill>
            <a:srgbClr val="EAE7D6"/>
          </a:solidFill>
          <a:ln/>
        </p:spPr>
        <p:txBody>
          <a:bodyPr/>
          <a:lstStyle/>
          <a:p>
            <a:endParaRPr lang="en-US"/>
          </a:p>
        </p:txBody>
      </p:sp>
      <p:sp>
        <p:nvSpPr>
          <p:cNvPr id="33" name="Text 31"/>
          <p:cNvSpPr/>
          <p:nvPr/>
        </p:nvSpPr>
        <p:spPr>
          <a:xfrm>
            <a:off x="6507466" y="4392773"/>
            <a:ext cx="5050319" cy="182652"/>
          </a:xfrm>
          <a:prstGeom prst="rect">
            <a:avLst/>
          </a:prstGeom>
          <a:noFill/>
          <a:ln/>
        </p:spPr>
        <p:txBody>
          <a:bodyPr wrap="square" lIns="0" tIns="0" rIns="0" bIns="0" rtlCol="0" anchor="ctr"/>
          <a:lstStyle/>
          <a:p>
            <a:pPr>
              <a:lnSpc>
                <a:spcPct val="120000"/>
              </a:lnSpc>
            </a:pPr>
            <a:r>
              <a:rPr lang="en-US" sz="1007" b="1" dirty="0">
                <a:solidFill>
                  <a:srgbClr val="8D99AE"/>
                </a:solidFill>
                <a:latin typeface="Quattrocento Sans" pitchFamily="34" charset="0"/>
                <a:ea typeface="Quattrocento Sans" pitchFamily="34" charset="-122"/>
                <a:cs typeface="Quattrocento Sans" pitchFamily="34" charset="-120"/>
              </a:rPr>
              <a:t>Answer</a:t>
            </a:r>
            <a:endParaRPr lang="en-US" sz="1600" dirty="0"/>
          </a:p>
        </p:txBody>
      </p:sp>
      <p:sp>
        <p:nvSpPr>
          <p:cNvPr id="34" name="Text 32"/>
          <p:cNvSpPr/>
          <p:nvPr/>
        </p:nvSpPr>
        <p:spPr>
          <a:xfrm>
            <a:off x="6507466" y="4648485"/>
            <a:ext cx="5059452" cy="721474"/>
          </a:xfrm>
          <a:prstGeom prst="rect">
            <a:avLst/>
          </a:prstGeom>
          <a:noFill/>
          <a:ln/>
        </p:spPr>
        <p:txBody>
          <a:bodyPr wrap="square" lIns="0" tIns="0" rIns="0" bIns="0" rtlCol="0" anchor="ctr"/>
          <a:lstStyle/>
          <a:p>
            <a:pPr>
              <a:lnSpc>
                <a:spcPct val="140000"/>
              </a:lnSpc>
            </a:pPr>
            <a:r>
              <a:rPr lang="en-US" sz="1151" dirty="0">
                <a:solidFill>
                  <a:srgbClr val="2D3142"/>
                </a:solidFill>
                <a:latin typeface="Quattrocento Sans" pitchFamily="34" charset="0"/>
                <a:ea typeface="Quattrocento Sans" pitchFamily="34" charset="-122"/>
                <a:cs typeface="Quattrocento Sans" pitchFamily="34" charset="-120"/>
              </a:rPr>
              <a:t>Always use </a:t>
            </a:r>
            <a:r>
              <a:rPr lang="en-US" sz="1151" dirty="0">
                <a:solidFill>
                  <a:srgbClr val="8D99AE"/>
                </a:solidFill>
                <a:latin typeface="MiSans" pitchFamily="34" charset="0"/>
                <a:ea typeface="MiSans" pitchFamily="34" charset="-122"/>
                <a:cs typeface="MiSans" pitchFamily="34" charset="-120"/>
              </a:rPr>
              <a:t>pipeline()</a:t>
            </a:r>
            <a:r>
              <a:rPr lang="en-US" sz="1151" dirty="0">
                <a:solidFill>
                  <a:srgbClr val="2D3142"/>
                </a:solidFill>
                <a:latin typeface="Quattrocento Sans" pitchFamily="34" charset="0"/>
                <a:ea typeface="Quattrocento Sans" pitchFamily="34" charset="-122"/>
                <a:cs typeface="Quattrocento Sans" pitchFamily="34" charset="-120"/>
              </a:rPr>
              <a:t> instead of pipe() for production code. It provides automatic error propagation, cleanup, and stream destruction. Handle errors in the callback or try-catch for async/await.</a:t>
            </a:r>
            <a:endParaRPr lang="en-US" sz="1600" dirty="0"/>
          </a:p>
        </p:txBody>
      </p:sp>
      <p:sp>
        <p:nvSpPr>
          <p:cNvPr id="35" name="Shape 33"/>
          <p:cNvSpPr/>
          <p:nvPr/>
        </p:nvSpPr>
        <p:spPr>
          <a:xfrm>
            <a:off x="369870" y="5858553"/>
            <a:ext cx="11452261" cy="995452"/>
          </a:xfrm>
          <a:custGeom>
            <a:avLst/>
            <a:gdLst/>
            <a:ahLst/>
            <a:cxnLst/>
            <a:rect l="l" t="t" r="r" b="b"/>
            <a:pathLst>
              <a:path w="11452261" h="995452">
                <a:moveTo>
                  <a:pt x="73056" y="0"/>
                </a:moveTo>
                <a:lnTo>
                  <a:pt x="11379204" y="0"/>
                </a:lnTo>
                <a:cubicBezTo>
                  <a:pt x="11419552" y="0"/>
                  <a:pt x="11452261" y="32708"/>
                  <a:pt x="11452261" y="73056"/>
                </a:cubicBezTo>
                <a:lnTo>
                  <a:pt x="11452261" y="922395"/>
                </a:lnTo>
                <a:cubicBezTo>
                  <a:pt x="11452261" y="962743"/>
                  <a:pt x="11419552" y="995452"/>
                  <a:pt x="11379204" y="995452"/>
                </a:cubicBezTo>
                <a:lnTo>
                  <a:pt x="73056" y="995452"/>
                </a:lnTo>
                <a:cubicBezTo>
                  <a:pt x="32735" y="995452"/>
                  <a:pt x="0" y="962716"/>
                  <a:pt x="0" y="922395"/>
                </a:cubicBezTo>
                <a:lnTo>
                  <a:pt x="0" y="73056"/>
                </a:lnTo>
                <a:cubicBezTo>
                  <a:pt x="0" y="32735"/>
                  <a:pt x="32735" y="0"/>
                  <a:pt x="73056" y="0"/>
                </a:cubicBezTo>
                <a:close/>
              </a:path>
            </a:pathLst>
          </a:custGeom>
          <a:solidFill>
            <a:srgbClr val="EAE7D6"/>
          </a:solidFill>
          <a:ln/>
        </p:spPr>
        <p:txBody>
          <a:bodyPr/>
          <a:lstStyle/>
          <a:p>
            <a:endParaRPr lang="en-US"/>
          </a:p>
        </p:txBody>
      </p:sp>
      <p:sp>
        <p:nvSpPr>
          <p:cNvPr id="36" name="Shape 34"/>
          <p:cNvSpPr/>
          <p:nvPr/>
        </p:nvSpPr>
        <p:spPr>
          <a:xfrm>
            <a:off x="557088" y="6264953"/>
            <a:ext cx="136989" cy="182652"/>
          </a:xfrm>
          <a:custGeom>
            <a:avLst/>
            <a:gdLst/>
            <a:ahLst/>
            <a:cxnLst/>
            <a:rect l="l" t="t" r="r" b="b"/>
            <a:pathLst>
              <a:path w="136989" h="182652">
                <a:moveTo>
                  <a:pt x="104490" y="136989"/>
                </a:moveTo>
                <a:cubicBezTo>
                  <a:pt x="107094" y="129033"/>
                  <a:pt x="112302" y="121827"/>
                  <a:pt x="118188" y="115620"/>
                </a:cubicBezTo>
                <a:cubicBezTo>
                  <a:pt x="129854" y="103348"/>
                  <a:pt x="136989" y="86760"/>
                  <a:pt x="136989" y="68494"/>
                </a:cubicBezTo>
                <a:cubicBezTo>
                  <a:pt x="136989" y="30680"/>
                  <a:pt x="106309" y="0"/>
                  <a:pt x="68494" y="0"/>
                </a:cubicBezTo>
                <a:cubicBezTo>
                  <a:pt x="30680" y="0"/>
                  <a:pt x="0" y="30680"/>
                  <a:pt x="0" y="68494"/>
                </a:cubicBezTo>
                <a:cubicBezTo>
                  <a:pt x="0" y="86760"/>
                  <a:pt x="7135" y="103348"/>
                  <a:pt x="18800" y="115620"/>
                </a:cubicBezTo>
                <a:cubicBezTo>
                  <a:pt x="24687" y="121827"/>
                  <a:pt x="29931" y="129033"/>
                  <a:pt x="32499" y="136989"/>
                </a:cubicBezTo>
                <a:lnTo>
                  <a:pt x="104454" y="136989"/>
                </a:lnTo>
                <a:close/>
                <a:moveTo>
                  <a:pt x="102742" y="154112"/>
                </a:moveTo>
                <a:lnTo>
                  <a:pt x="34247" y="154112"/>
                </a:lnTo>
                <a:lnTo>
                  <a:pt x="34247" y="159820"/>
                </a:lnTo>
                <a:cubicBezTo>
                  <a:pt x="34247" y="175588"/>
                  <a:pt x="47019" y="188360"/>
                  <a:pt x="62787" y="188360"/>
                </a:cubicBezTo>
                <a:lnTo>
                  <a:pt x="74202" y="188360"/>
                </a:lnTo>
                <a:cubicBezTo>
                  <a:pt x="89970" y="188360"/>
                  <a:pt x="102742" y="175588"/>
                  <a:pt x="102742" y="159820"/>
                </a:cubicBezTo>
                <a:lnTo>
                  <a:pt x="102742" y="154112"/>
                </a:lnTo>
                <a:close/>
                <a:moveTo>
                  <a:pt x="65640" y="39955"/>
                </a:moveTo>
                <a:cubicBezTo>
                  <a:pt x="51442" y="39955"/>
                  <a:pt x="39955" y="51442"/>
                  <a:pt x="39955" y="65640"/>
                </a:cubicBezTo>
                <a:cubicBezTo>
                  <a:pt x="39955" y="70385"/>
                  <a:pt x="36138" y="74202"/>
                  <a:pt x="31393" y="74202"/>
                </a:cubicBezTo>
                <a:cubicBezTo>
                  <a:pt x="26649" y="74202"/>
                  <a:pt x="22831" y="70385"/>
                  <a:pt x="22831" y="65640"/>
                </a:cubicBezTo>
                <a:cubicBezTo>
                  <a:pt x="22831" y="41988"/>
                  <a:pt x="41988" y="22831"/>
                  <a:pt x="65640" y="22831"/>
                </a:cubicBezTo>
                <a:cubicBezTo>
                  <a:pt x="70385" y="22831"/>
                  <a:pt x="74202" y="26649"/>
                  <a:pt x="74202" y="31393"/>
                </a:cubicBezTo>
                <a:cubicBezTo>
                  <a:pt x="74202" y="36138"/>
                  <a:pt x="70385" y="39955"/>
                  <a:pt x="65640" y="39955"/>
                </a:cubicBezTo>
                <a:close/>
              </a:path>
            </a:pathLst>
          </a:custGeom>
          <a:solidFill>
            <a:srgbClr val="8D99AE"/>
          </a:solidFill>
          <a:ln/>
        </p:spPr>
        <p:txBody>
          <a:bodyPr/>
          <a:lstStyle/>
          <a:p>
            <a:endParaRPr lang="en-US"/>
          </a:p>
        </p:txBody>
      </p:sp>
      <p:sp>
        <p:nvSpPr>
          <p:cNvPr id="37" name="Text 35"/>
          <p:cNvSpPr/>
          <p:nvPr/>
        </p:nvSpPr>
        <p:spPr>
          <a:xfrm>
            <a:off x="838557" y="6009240"/>
            <a:ext cx="10913438" cy="255712"/>
          </a:xfrm>
          <a:prstGeom prst="rect">
            <a:avLst/>
          </a:prstGeom>
          <a:noFill/>
          <a:ln/>
        </p:spPr>
        <p:txBody>
          <a:bodyPr wrap="square" lIns="0" tIns="0" rIns="0" bIns="0" rtlCol="0" anchor="ctr"/>
          <a:lstStyle/>
          <a:p>
            <a:pPr>
              <a:lnSpc>
                <a:spcPct val="130000"/>
              </a:lnSpc>
            </a:pPr>
            <a:r>
              <a:rPr lang="en-US" sz="1294" b="1" dirty="0">
                <a:solidFill>
                  <a:srgbClr val="2D3142"/>
                </a:solidFill>
                <a:latin typeface="Quattrocento Sans" pitchFamily="34" charset="0"/>
                <a:ea typeface="Quattrocento Sans" pitchFamily="34" charset="-122"/>
                <a:cs typeface="Quattrocento Sans" pitchFamily="34" charset="-120"/>
              </a:rPr>
              <a:t>Additional Questions to Prepare</a:t>
            </a:r>
            <a:endParaRPr lang="en-US" sz="1600" dirty="0"/>
          </a:p>
        </p:txBody>
      </p:sp>
      <p:sp>
        <p:nvSpPr>
          <p:cNvPr id="38" name="Text 36"/>
          <p:cNvSpPr/>
          <p:nvPr/>
        </p:nvSpPr>
        <p:spPr>
          <a:xfrm>
            <a:off x="838557" y="6264953"/>
            <a:ext cx="10904306" cy="438364"/>
          </a:xfrm>
          <a:prstGeom prst="rect">
            <a:avLst/>
          </a:prstGeom>
          <a:noFill/>
          <a:ln/>
        </p:spPr>
        <p:txBody>
          <a:bodyPr wrap="square" lIns="0" tIns="0" rIns="0" bIns="0" rtlCol="0" anchor="ctr"/>
          <a:lstStyle/>
          <a:p>
            <a:pPr>
              <a:lnSpc>
                <a:spcPct val="130000"/>
              </a:lnSpc>
            </a:pPr>
            <a:r>
              <a:rPr lang="en-US" sz="1151" dirty="0">
                <a:solidFill>
                  <a:srgbClr val="2D3142"/>
                </a:solidFill>
                <a:latin typeface="Quattrocento Sans" pitchFamily="34" charset="0"/>
                <a:ea typeface="Quattrocento Sans" pitchFamily="34" charset="-122"/>
                <a:cs typeface="Quattrocento Sans" pitchFamily="34" charset="-120"/>
              </a:rPr>
              <a:t>• Explain backpressure and how to handle it • Difference between flowing and paused mode • When to use each stream type • How to create custom streams • Object mode vs binary mode</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DE"/>
        </a:solidFill>
        <a:effectLst/>
      </p:bgPr>
    </p:bg>
    <p:spTree>
      <p:nvGrpSpPr>
        <p:cNvPr id="1" name=""/>
        <p:cNvGrpSpPr/>
        <p:nvPr/>
      </p:nvGrpSpPr>
      <p:grpSpPr>
        <a:xfrm>
          <a:off x="0" y="0"/>
          <a:ext cx="0" cy="0"/>
          <a:chOff x="0" y="0"/>
          <a:chExt cx="0" cy="0"/>
        </a:xfrm>
      </p:grpSpPr>
      <p:sp>
        <p:nvSpPr>
          <p:cNvPr id="50" name="Shape 48"/>
          <p:cNvSpPr/>
          <p:nvPr/>
        </p:nvSpPr>
        <p:spPr>
          <a:xfrm>
            <a:off x="281781" y="6394587"/>
            <a:ext cx="11549063" cy="1661976"/>
          </a:xfrm>
          <a:custGeom>
            <a:avLst/>
            <a:gdLst/>
            <a:ahLst/>
            <a:cxnLst/>
            <a:rect l="l" t="t" r="r" b="b"/>
            <a:pathLst>
              <a:path w="11549063" h="1658938">
                <a:moveTo>
                  <a:pt x="95256" y="0"/>
                </a:moveTo>
                <a:lnTo>
                  <a:pt x="11453806" y="0"/>
                </a:lnTo>
                <a:cubicBezTo>
                  <a:pt x="11506415" y="0"/>
                  <a:pt x="11549063" y="42648"/>
                  <a:pt x="11549063" y="95256"/>
                </a:cubicBezTo>
                <a:lnTo>
                  <a:pt x="11549063" y="1563681"/>
                </a:lnTo>
                <a:cubicBezTo>
                  <a:pt x="11549063" y="1616290"/>
                  <a:pt x="11506415" y="1658937"/>
                  <a:pt x="11453806" y="1658938"/>
                </a:cubicBezTo>
                <a:lnTo>
                  <a:pt x="95256" y="1658938"/>
                </a:lnTo>
                <a:cubicBezTo>
                  <a:pt x="42648" y="1658938"/>
                  <a:pt x="0" y="1616290"/>
                  <a:pt x="0" y="1563681"/>
                </a:cubicBezTo>
                <a:lnTo>
                  <a:pt x="0" y="95256"/>
                </a:lnTo>
                <a:cubicBezTo>
                  <a:pt x="0" y="42683"/>
                  <a:pt x="42683" y="0"/>
                  <a:pt x="95256" y="0"/>
                </a:cubicBezTo>
                <a:close/>
              </a:path>
            </a:pathLst>
          </a:custGeom>
          <a:solidFill>
            <a:srgbClr val="EAE7D6"/>
          </a:solidFill>
          <a:ln/>
        </p:spPr>
        <p:txBody>
          <a:bodyPr/>
          <a:lstStyle/>
          <a:p>
            <a:endParaRPr lang="en-US"/>
          </a:p>
        </p:txBody>
      </p:sp>
      <p:sp>
        <p:nvSpPr>
          <p:cNvPr id="2" name="Shape 0"/>
          <p:cNvSpPr/>
          <p:nvPr/>
        </p:nvSpPr>
        <p:spPr>
          <a:xfrm>
            <a:off x="317500" y="365125"/>
            <a:ext cx="381000" cy="381000"/>
          </a:xfrm>
          <a:custGeom>
            <a:avLst/>
            <a:gdLst/>
            <a:ahLst/>
            <a:cxnLst/>
            <a:rect l="l" t="t" r="r" b="b"/>
            <a:pathLst>
              <a:path w="381000" h="381000">
                <a:moveTo>
                  <a:pt x="63501" y="0"/>
                </a:moveTo>
                <a:lnTo>
                  <a:pt x="317499" y="0"/>
                </a:lnTo>
                <a:cubicBezTo>
                  <a:pt x="352546" y="0"/>
                  <a:pt x="381000" y="28454"/>
                  <a:pt x="381000" y="63501"/>
                </a:cubicBezTo>
                <a:lnTo>
                  <a:pt x="381000" y="317499"/>
                </a:lnTo>
                <a:cubicBezTo>
                  <a:pt x="381000" y="352546"/>
                  <a:pt x="352546" y="381000"/>
                  <a:pt x="317499" y="381000"/>
                </a:cubicBezTo>
                <a:lnTo>
                  <a:pt x="63501" y="381000"/>
                </a:lnTo>
                <a:cubicBezTo>
                  <a:pt x="28454" y="381000"/>
                  <a:pt x="0" y="352546"/>
                  <a:pt x="0" y="317499"/>
                </a:cubicBezTo>
                <a:lnTo>
                  <a:pt x="0" y="63501"/>
                </a:lnTo>
                <a:cubicBezTo>
                  <a:pt x="0" y="28454"/>
                  <a:pt x="28454" y="0"/>
                  <a:pt x="63501" y="0"/>
                </a:cubicBezTo>
                <a:close/>
              </a:path>
            </a:pathLst>
          </a:custGeom>
          <a:gradFill flip="none" rotWithShape="1">
            <a:gsLst>
              <a:gs pos="0">
                <a:srgbClr val="8D99AE"/>
              </a:gs>
              <a:gs pos="100000">
                <a:srgbClr val="8D99AE"/>
              </a:gs>
            </a:gsLst>
            <a:lin ang="2700000" scaled="1"/>
          </a:gradFill>
          <a:ln/>
        </p:spPr>
        <p:txBody>
          <a:bodyPr/>
          <a:lstStyle/>
          <a:p>
            <a:endParaRPr lang="en-US"/>
          </a:p>
        </p:txBody>
      </p:sp>
      <p:sp>
        <p:nvSpPr>
          <p:cNvPr id="3" name="Shape 1"/>
          <p:cNvSpPr/>
          <p:nvPr/>
        </p:nvSpPr>
        <p:spPr>
          <a:xfrm>
            <a:off x="418703" y="476250"/>
            <a:ext cx="178594" cy="158750"/>
          </a:xfrm>
          <a:custGeom>
            <a:avLst/>
            <a:gdLst/>
            <a:ahLst/>
            <a:cxnLst/>
            <a:rect l="l" t="t" r="r" b="b"/>
            <a:pathLst>
              <a:path w="178594" h="158750">
                <a:moveTo>
                  <a:pt x="97048" y="27037"/>
                </a:moveTo>
                <a:cubicBezTo>
                  <a:pt x="99901" y="24774"/>
                  <a:pt x="101699" y="21270"/>
                  <a:pt x="101699" y="17363"/>
                </a:cubicBezTo>
                <a:cubicBezTo>
                  <a:pt x="101699" y="10511"/>
                  <a:pt x="96149" y="4961"/>
                  <a:pt x="89297" y="4961"/>
                </a:cubicBezTo>
                <a:cubicBezTo>
                  <a:pt x="82445" y="4961"/>
                  <a:pt x="76895" y="10511"/>
                  <a:pt x="76895" y="17363"/>
                </a:cubicBezTo>
                <a:cubicBezTo>
                  <a:pt x="76895" y="21270"/>
                  <a:pt x="78724" y="24774"/>
                  <a:pt x="81545" y="27037"/>
                </a:cubicBezTo>
                <a:lnTo>
                  <a:pt x="60337" y="60399"/>
                </a:lnTo>
                <a:cubicBezTo>
                  <a:pt x="57237" y="65267"/>
                  <a:pt x="50633" y="66477"/>
                  <a:pt x="46013" y="63004"/>
                </a:cubicBezTo>
                <a:lnTo>
                  <a:pt x="27564" y="49206"/>
                </a:lnTo>
                <a:cubicBezTo>
                  <a:pt x="28959" y="47222"/>
                  <a:pt x="29766" y="44772"/>
                  <a:pt x="29766" y="42168"/>
                </a:cubicBezTo>
                <a:cubicBezTo>
                  <a:pt x="29766" y="35316"/>
                  <a:pt x="24216" y="29766"/>
                  <a:pt x="17363" y="29766"/>
                </a:cubicBezTo>
                <a:cubicBezTo>
                  <a:pt x="10511" y="29766"/>
                  <a:pt x="4961" y="35316"/>
                  <a:pt x="4961" y="42168"/>
                </a:cubicBezTo>
                <a:cubicBezTo>
                  <a:pt x="4961" y="48927"/>
                  <a:pt x="10387" y="54446"/>
                  <a:pt x="17115" y="54570"/>
                </a:cubicBezTo>
                <a:lnTo>
                  <a:pt x="27223" y="122008"/>
                </a:lnTo>
                <a:cubicBezTo>
                  <a:pt x="28680" y="131713"/>
                  <a:pt x="37021" y="138906"/>
                  <a:pt x="46850" y="138906"/>
                </a:cubicBezTo>
                <a:lnTo>
                  <a:pt x="131744" y="138906"/>
                </a:lnTo>
                <a:cubicBezTo>
                  <a:pt x="141573" y="138906"/>
                  <a:pt x="149913" y="131713"/>
                  <a:pt x="151371" y="122008"/>
                </a:cubicBezTo>
                <a:lnTo>
                  <a:pt x="161479" y="54570"/>
                </a:lnTo>
                <a:cubicBezTo>
                  <a:pt x="168207" y="54446"/>
                  <a:pt x="173633" y="48927"/>
                  <a:pt x="173633" y="42168"/>
                </a:cubicBezTo>
                <a:cubicBezTo>
                  <a:pt x="173633" y="35316"/>
                  <a:pt x="168083" y="29766"/>
                  <a:pt x="161230" y="29766"/>
                </a:cubicBezTo>
                <a:cubicBezTo>
                  <a:pt x="154378" y="29766"/>
                  <a:pt x="148828" y="35316"/>
                  <a:pt x="148828" y="42168"/>
                </a:cubicBezTo>
                <a:cubicBezTo>
                  <a:pt x="148828" y="44772"/>
                  <a:pt x="149634" y="47222"/>
                  <a:pt x="151030" y="49206"/>
                </a:cubicBezTo>
                <a:lnTo>
                  <a:pt x="132612" y="63035"/>
                </a:lnTo>
                <a:cubicBezTo>
                  <a:pt x="127992" y="66508"/>
                  <a:pt x="121388" y="65298"/>
                  <a:pt x="118287" y="60430"/>
                </a:cubicBezTo>
                <a:lnTo>
                  <a:pt x="97048" y="27037"/>
                </a:lnTo>
                <a:close/>
              </a:path>
            </a:pathLst>
          </a:custGeom>
          <a:solidFill>
            <a:srgbClr val="FFFFFF"/>
          </a:solidFill>
          <a:ln/>
        </p:spPr>
        <p:txBody>
          <a:bodyPr/>
          <a:lstStyle/>
          <a:p>
            <a:endParaRPr lang="en-US"/>
          </a:p>
        </p:txBody>
      </p:sp>
      <p:sp>
        <p:nvSpPr>
          <p:cNvPr id="4" name="Text 2"/>
          <p:cNvSpPr/>
          <p:nvPr/>
        </p:nvSpPr>
        <p:spPr>
          <a:xfrm>
            <a:off x="793750" y="317500"/>
            <a:ext cx="2817813" cy="158750"/>
          </a:xfrm>
          <a:prstGeom prst="rect">
            <a:avLst/>
          </a:prstGeom>
          <a:noFill/>
          <a:ln/>
        </p:spPr>
        <p:txBody>
          <a:bodyPr wrap="square" lIns="0" tIns="0" rIns="0" bIns="0" rtlCol="0" anchor="ctr"/>
          <a:lstStyle/>
          <a:p>
            <a:pPr>
              <a:lnSpc>
                <a:spcPct val="120000"/>
              </a:lnSpc>
            </a:pPr>
            <a:r>
              <a:rPr lang="en-US" sz="875" b="1" kern="0" spc="44" dirty="0">
                <a:solidFill>
                  <a:srgbClr val="8D99AE"/>
                </a:solidFill>
                <a:latin typeface="Quattrocento Sans" pitchFamily="34" charset="0"/>
                <a:ea typeface="Quattrocento Sans" pitchFamily="34" charset="-122"/>
                <a:cs typeface="Quattrocento Sans" pitchFamily="34" charset="-120"/>
              </a:rPr>
              <a:t>Expert Level</a:t>
            </a:r>
            <a:endParaRPr lang="en-US" sz="1600" dirty="0"/>
          </a:p>
        </p:txBody>
      </p:sp>
      <p:sp>
        <p:nvSpPr>
          <p:cNvPr id="5" name="Text 3"/>
          <p:cNvSpPr/>
          <p:nvPr/>
        </p:nvSpPr>
        <p:spPr>
          <a:xfrm>
            <a:off x="793750" y="476250"/>
            <a:ext cx="2905125" cy="317500"/>
          </a:xfrm>
          <a:prstGeom prst="rect">
            <a:avLst/>
          </a:prstGeom>
          <a:noFill/>
          <a:ln/>
        </p:spPr>
        <p:txBody>
          <a:bodyPr wrap="square" lIns="0" tIns="0" rIns="0" bIns="0" rtlCol="0" anchor="ctr"/>
          <a:lstStyle/>
          <a:p>
            <a:pPr>
              <a:lnSpc>
                <a:spcPct val="90000"/>
              </a:lnSpc>
            </a:pPr>
            <a:r>
              <a:rPr lang="en-US" sz="2250" b="1" dirty="0">
                <a:solidFill>
                  <a:srgbClr val="2D3142"/>
                </a:solidFill>
                <a:latin typeface="Liter" pitchFamily="34" charset="0"/>
                <a:ea typeface="Liter" pitchFamily="34" charset="-122"/>
                <a:cs typeface="Liter" pitchFamily="34" charset="-120"/>
              </a:rPr>
              <a:t>Senior Developer Tips</a:t>
            </a:r>
            <a:endParaRPr lang="en-US" sz="1600" dirty="0"/>
          </a:p>
        </p:txBody>
      </p:sp>
      <p:sp>
        <p:nvSpPr>
          <p:cNvPr id="6" name="Shape 4"/>
          <p:cNvSpPr/>
          <p:nvPr/>
        </p:nvSpPr>
        <p:spPr>
          <a:xfrm>
            <a:off x="317500" y="889000"/>
            <a:ext cx="1016000" cy="31750"/>
          </a:xfrm>
          <a:custGeom>
            <a:avLst/>
            <a:gdLst/>
            <a:ahLst/>
            <a:cxnLst/>
            <a:rect l="l" t="t" r="r" b="b"/>
            <a:pathLst>
              <a:path w="1016000" h="31750">
                <a:moveTo>
                  <a:pt x="0" y="0"/>
                </a:moveTo>
                <a:lnTo>
                  <a:pt x="1016000" y="0"/>
                </a:lnTo>
                <a:lnTo>
                  <a:pt x="1016000" y="31750"/>
                </a:lnTo>
                <a:lnTo>
                  <a:pt x="0" y="31750"/>
                </a:lnTo>
                <a:lnTo>
                  <a:pt x="0" y="0"/>
                </a:lnTo>
                <a:close/>
              </a:path>
            </a:pathLst>
          </a:custGeom>
          <a:gradFill flip="none" rotWithShape="1">
            <a:gsLst>
              <a:gs pos="0">
                <a:srgbClr val="8D99AE"/>
              </a:gs>
              <a:gs pos="100000">
                <a:srgbClr val="8D99AE"/>
              </a:gs>
            </a:gsLst>
            <a:lin ang="0" scaled="1"/>
          </a:gradFill>
          <a:ln/>
        </p:spPr>
        <p:txBody>
          <a:bodyPr/>
          <a:lstStyle/>
          <a:p>
            <a:endParaRPr lang="en-US"/>
          </a:p>
        </p:txBody>
      </p:sp>
      <p:sp>
        <p:nvSpPr>
          <p:cNvPr id="7" name="Shape 5"/>
          <p:cNvSpPr/>
          <p:nvPr/>
        </p:nvSpPr>
        <p:spPr>
          <a:xfrm>
            <a:off x="349250" y="1079500"/>
            <a:ext cx="5707063" cy="2087721"/>
          </a:xfrm>
          <a:custGeom>
            <a:avLst/>
            <a:gdLst/>
            <a:ahLst/>
            <a:cxnLst/>
            <a:rect l="l" t="t" r="r" b="b"/>
            <a:pathLst>
              <a:path w="5707063" h="5151438">
                <a:moveTo>
                  <a:pt x="95250" y="0"/>
                </a:moveTo>
                <a:lnTo>
                  <a:pt x="5611812" y="0"/>
                </a:lnTo>
                <a:cubicBezTo>
                  <a:pt x="5664418" y="0"/>
                  <a:pt x="5707063" y="42645"/>
                  <a:pt x="5707063" y="95250"/>
                </a:cubicBezTo>
                <a:lnTo>
                  <a:pt x="5707063" y="5056187"/>
                </a:lnTo>
                <a:cubicBezTo>
                  <a:pt x="5707063" y="5108793"/>
                  <a:pt x="5664418" y="5151438"/>
                  <a:pt x="5611812" y="5151438"/>
                </a:cubicBezTo>
                <a:lnTo>
                  <a:pt x="95250" y="5151438"/>
                </a:lnTo>
                <a:cubicBezTo>
                  <a:pt x="42645" y="5151438"/>
                  <a:pt x="0" y="5108793"/>
                  <a:pt x="0" y="5056187"/>
                </a:cubicBezTo>
                <a:lnTo>
                  <a:pt x="0" y="95250"/>
                </a:lnTo>
                <a:cubicBezTo>
                  <a:pt x="0" y="42645"/>
                  <a:pt x="42645" y="0"/>
                  <a:pt x="95250" y="0"/>
                </a:cubicBezTo>
                <a:close/>
              </a:path>
            </a:pathLst>
          </a:custGeom>
          <a:solidFill>
            <a:srgbClr val="EAE7D6"/>
          </a:solidFill>
          <a:ln/>
        </p:spPr>
        <p:txBody>
          <a:bodyPr/>
          <a:lstStyle/>
          <a:p>
            <a:endParaRPr lang="en-US"/>
          </a:p>
        </p:txBody>
      </p:sp>
      <p:sp>
        <p:nvSpPr>
          <p:cNvPr id="8" name="Shape 6"/>
          <p:cNvSpPr/>
          <p:nvPr/>
        </p:nvSpPr>
        <p:spPr>
          <a:xfrm>
            <a:off x="484187" y="124618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07A5F"/>
          </a:solidFill>
          <a:ln/>
        </p:spPr>
        <p:txBody>
          <a:bodyPr/>
          <a:lstStyle/>
          <a:p>
            <a:endParaRPr lang="en-US"/>
          </a:p>
        </p:txBody>
      </p:sp>
      <p:sp>
        <p:nvSpPr>
          <p:cNvPr id="9" name="Shape 7"/>
          <p:cNvSpPr/>
          <p:nvPr/>
        </p:nvSpPr>
        <p:spPr>
          <a:xfrm>
            <a:off x="585391" y="1357313"/>
            <a:ext cx="178594" cy="158750"/>
          </a:xfrm>
          <a:custGeom>
            <a:avLst/>
            <a:gdLst/>
            <a:ahLst/>
            <a:cxnLst/>
            <a:rect l="l" t="t" r="r" b="b"/>
            <a:pathLst>
              <a:path w="178594" h="158750">
                <a:moveTo>
                  <a:pt x="27254" y="3566"/>
                </a:moveTo>
                <a:cubicBezTo>
                  <a:pt x="23750" y="1426"/>
                  <a:pt x="19162" y="2573"/>
                  <a:pt x="17022" y="6077"/>
                </a:cubicBezTo>
                <a:cubicBezTo>
                  <a:pt x="9333" y="18790"/>
                  <a:pt x="4930" y="33703"/>
                  <a:pt x="4930" y="49609"/>
                </a:cubicBezTo>
                <a:cubicBezTo>
                  <a:pt x="4930" y="65515"/>
                  <a:pt x="9333" y="80429"/>
                  <a:pt x="17022" y="93142"/>
                </a:cubicBezTo>
                <a:cubicBezTo>
                  <a:pt x="19162" y="96645"/>
                  <a:pt x="23719" y="97792"/>
                  <a:pt x="27254" y="95653"/>
                </a:cubicBezTo>
                <a:cubicBezTo>
                  <a:pt x="30789" y="93514"/>
                  <a:pt x="31905" y="88956"/>
                  <a:pt x="29766" y="85421"/>
                </a:cubicBezTo>
                <a:cubicBezTo>
                  <a:pt x="23471" y="75003"/>
                  <a:pt x="19844" y="62725"/>
                  <a:pt x="19844" y="49609"/>
                </a:cubicBezTo>
                <a:cubicBezTo>
                  <a:pt x="19844" y="36494"/>
                  <a:pt x="23471" y="24216"/>
                  <a:pt x="29797" y="13767"/>
                </a:cubicBezTo>
                <a:cubicBezTo>
                  <a:pt x="31936" y="10263"/>
                  <a:pt x="30789" y="5674"/>
                  <a:pt x="27285" y="3535"/>
                </a:cubicBezTo>
                <a:close/>
                <a:moveTo>
                  <a:pt x="151309" y="3566"/>
                </a:moveTo>
                <a:cubicBezTo>
                  <a:pt x="147805" y="5705"/>
                  <a:pt x="146658" y="10263"/>
                  <a:pt x="148797" y="13798"/>
                </a:cubicBezTo>
                <a:cubicBezTo>
                  <a:pt x="155122" y="24247"/>
                  <a:pt x="158750" y="36525"/>
                  <a:pt x="158750" y="49640"/>
                </a:cubicBezTo>
                <a:cubicBezTo>
                  <a:pt x="158750" y="62756"/>
                  <a:pt x="155122" y="75034"/>
                  <a:pt x="148797" y="85483"/>
                </a:cubicBezTo>
                <a:cubicBezTo>
                  <a:pt x="146658" y="88987"/>
                  <a:pt x="147805" y="93576"/>
                  <a:pt x="151309" y="95715"/>
                </a:cubicBezTo>
                <a:cubicBezTo>
                  <a:pt x="154812" y="97854"/>
                  <a:pt x="159401" y="96707"/>
                  <a:pt x="161541" y="93204"/>
                </a:cubicBezTo>
                <a:cubicBezTo>
                  <a:pt x="169230" y="80491"/>
                  <a:pt x="173633" y="65577"/>
                  <a:pt x="173633" y="49671"/>
                </a:cubicBezTo>
                <a:cubicBezTo>
                  <a:pt x="173633" y="33765"/>
                  <a:pt x="169230" y="18790"/>
                  <a:pt x="161541" y="6077"/>
                </a:cubicBezTo>
                <a:cubicBezTo>
                  <a:pt x="159401" y="2573"/>
                  <a:pt x="154843" y="1426"/>
                  <a:pt x="151309" y="3566"/>
                </a:cubicBezTo>
                <a:close/>
                <a:moveTo>
                  <a:pt x="99219" y="66787"/>
                </a:moveTo>
                <a:cubicBezTo>
                  <a:pt x="105141" y="63345"/>
                  <a:pt x="109141" y="56958"/>
                  <a:pt x="109141" y="49609"/>
                </a:cubicBezTo>
                <a:cubicBezTo>
                  <a:pt x="109141" y="38664"/>
                  <a:pt x="100242" y="29766"/>
                  <a:pt x="89297" y="29766"/>
                </a:cubicBezTo>
                <a:cubicBezTo>
                  <a:pt x="78352" y="29766"/>
                  <a:pt x="69453" y="38664"/>
                  <a:pt x="69453" y="49609"/>
                </a:cubicBezTo>
                <a:cubicBezTo>
                  <a:pt x="69453" y="56958"/>
                  <a:pt x="73453" y="63376"/>
                  <a:pt x="79375" y="66787"/>
                </a:cubicBezTo>
                <a:lnTo>
                  <a:pt x="79375" y="148828"/>
                </a:lnTo>
                <a:cubicBezTo>
                  <a:pt x="79375" y="154316"/>
                  <a:pt x="83809" y="158750"/>
                  <a:pt x="89297" y="158750"/>
                </a:cubicBezTo>
                <a:cubicBezTo>
                  <a:pt x="94785" y="158750"/>
                  <a:pt x="99219" y="154316"/>
                  <a:pt x="99219" y="148828"/>
                </a:cubicBezTo>
                <a:lnTo>
                  <a:pt x="99219" y="66787"/>
                </a:lnTo>
                <a:close/>
                <a:moveTo>
                  <a:pt x="55873" y="28215"/>
                </a:moveTo>
                <a:cubicBezTo>
                  <a:pt x="58105" y="24743"/>
                  <a:pt x="57082" y="20154"/>
                  <a:pt x="53640" y="17921"/>
                </a:cubicBezTo>
                <a:cubicBezTo>
                  <a:pt x="50198" y="15689"/>
                  <a:pt x="45579" y="16712"/>
                  <a:pt x="43346" y="20154"/>
                </a:cubicBezTo>
                <a:cubicBezTo>
                  <a:pt x="37889" y="28649"/>
                  <a:pt x="34727" y="38757"/>
                  <a:pt x="34727" y="49609"/>
                </a:cubicBezTo>
                <a:cubicBezTo>
                  <a:pt x="34727" y="60461"/>
                  <a:pt x="37889" y="70569"/>
                  <a:pt x="43346" y="79065"/>
                </a:cubicBezTo>
                <a:cubicBezTo>
                  <a:pt x="45579" y="82538"/>
                  <a:pt x="50167" y="83530"/>
                  <a:pt x="53640" y="81297"/>
                </a:cubicBezTo>
                <a:cubicBezTo>
                  <a:pt x="57113" y="79065"/>
                  <a:pt x="58105" y="74476"/>
                  <a:pt x="55873" y="71003"/>
                </a:cubicBezTo>
                <a:cubicBezTo>
                  <a:pt x="51904" y="64833"/>
                  <a:pt x="49609" y="57485"/>
                  <a:pt x="49609" y="49609"/>
                </a:cubicBezTo>
                <a:cubicBezTo>
                  <a:pt x="49609" y="41734"/>
                  <a:pt x="51904" y="34385"/>
                  <a:pt x="55873" y="28215"/>
                </a:cubicBezTo>
                <a:close/>
                <a:moveTo>
                  <a:pt x="135248" y="20154"/>
                </a:moveTo>
                <a:cubicBezTo>
                  <a:pt x="133015" y="16681"/>
                  <a:pt x="128426" y="15689"/>
                  <a:pt x="124954" y="17921"/>
                </a:cubicBezTo>
                <a:cubicBezTo>
                  <a:pt x="121481" y="20154"/>
                  <a:pt x="120489" y="24743"/>
                  <a:pt x="122721" y="28215"/>
                </a:cubicBezTo>
                <a:cubicBezTo>
                  <a:pt x="126690" y="34385"/>
                  <a:pt x="128984" y="41734"/>
                  <a:pt x="128984" y="49609"/>
                </a:cubicBezTo>
                <a:cubicBezTo>
                  <a:pt x="128984" y="57485"/>
                  <a:pt x="126690" y="64833"/>
                  <a:pt x="122721" y="71003"/>
                </a:cubicBezTo>
                <a:cubicBezTo>
                  <a:pt x="120489" y="74476"/>
                  <a:pt x="121512" y="79065"/>
                  <a:pt x="124954" y="81297"/>
                </a:cubicBezTo>
                <a:cubicBezTo>
                  <a:pt x="128395" y="83530"/>
                  <a:pt x="133015" y="82507"/>
                  <a:pt x="135248" y="79065"/>
                </a:cubicBezTo>
                <a:cubicBezTo>
                  <a:pt x="140705" y="70569"/>
                  <a:pt x="143867" y="60461"/>
                  <a:pt x="143867" y="49609"/>
                </a:cubicBezTo>
                <a:cubicBezTo>
                  <a:pt x="143867" y="38757"/>
                  <a:pt x="140705" y="28649"/>
                  <a:pt x="135248" y="20154"/>
                </a:cubicBezTo>
                <a:close/>
              </a:path>
            </a:pathLst>
          </a:custGeom>
          <a:solidFill>
            <a:srgbClr val="FFFFFF"/>
          </a:solidFill>
          <a:ln/>
        </p:spPr>
        <p:txBody>
          <a:bodyPr/>
          <a:lstStyle/>
          <a:p>
            <a:endParaRPr lang="en-US"/>
          </a:p>
        </p:txBody>
      </p:sp>
      <p:sp>
        <p:nvSpPr>
          <p:cNvPr id="10" name="Text 8"/>
          <p:cNvSpPr/>
          <p:nvPr/>
        </p:nvSpPr>
        <p:spPr>
          <a:xfrm>
            <a:off x="960438" y="1325562"/>
            <a:ext cx="4411662" cy="234157"/>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Streams are </a:t>
            </a:r>
            <a:r>
              <a:rPr lang="en-US" sz="1250" b="1" dirty="0" err="1">
                <a:solidFill>
                  <a:srgbClr val="2D3142"/>
                </a:solidFill>
                <a:latin typeface="Quattrocento Sans" pitchFamily="34" charset="0"/>
                <a:ea typeface="Quattrocento Sans" pitchFamily="34" charset="-122"/>
                <a:cs typeface="Quattrocento Sans" pitchFamily="34" charset="-120"/>
              </a:rPr>
              <a:t>EventEmitters</a:t>
            </a:r>
            <a:r>
              <a:rPr lang="en-US" sz="1250" b="1">
                <a:solidFill>
                  <a:srgbClr val="2D3142"/>
                </a:solidFill>
                <a:latin typeface="Quattrocento Sans" pitchFamily="34" charset="0"/>
                <a:ea typeface="Quattrocento Sans" pitchFamily="34" charset="-122"/>
                <a:cs typeface="Quattrocento Sans" pitchFamily="34" charset="-120"/>
              </a:rPr>
              <a:t> (each </a:t>
            </a:r>
            <a:r>
              <a:rPr lang="en-US" sz="1250" b="1" dirty="0">
                <a:solidFill>
                  <a:srgbClr val="2D3142"/>
                </a:solidFill>
                <a:latin typeface="Quattrocento Sans" pitchFamily="34" charset="0"/>
                <a:ea typeface="Quattrocento Sans" pitchFamily="34" charset="-122"/>
                <a:cs typeface="Quattrocento Sans" pitchFamily="34" charset="-120"/>
              </a:rPr>
              <a:t>stream is </a:t>
            </a:r>
            <a:r>
              <a:rPr lang="en-US" sz="1250" b="1">
                <a:solidFill>
                  <a:srgbClr val="2D3142"/>
                </a:solidFill>
                <a:latin typeface="Quattrocento Sans" pitchFamily="34" charset="0"/>
                <a:ea typeface="Quattrocento Sans" pitchFamily="34" charset="-122"/>
                <a:cs typeface="Quattrocento Sans" pitchFamily="34" charset="-120"/>
              </a:rPr>
              <a:t>an Event) </a:t>
            </a:r>
            <a:endParaRPr lang="en-US" sz="1600" dirty="0"/>
          </a:p>
        </p:txBody>
      </p:sp>
      <p:sp>
        <p:nvSpPr>
          <p:cNvPr id="11" name="Shape 9"/>
          <p:cNvSpPr/>
          <p:nvPr/>
        </p:nvSpPr>
        <p:spPr>
          <a:xfrm>
            <a:off x="484187" y="1754188"/>
            <a:ext cx="5381625" cy="1317625"/>
          </a:xfrm>
          <a:custGeom>
            <a:avLst/>
            <a:gdLst/>
            <a:ahLst/>
            <a:cxnLst/>
            <a:rect l="l" t="t" r="r" b="b"/>
            <a:pathLst>
              <a:path w="5381625" h="4318000">
                <a:moveTo>
                  <a:pt x="63518" y="0"/>
                </a:moveTo>
                <a:lnTo>
                  <a:pt x="5318107" y="0"/>
                </a:lnTo>
                <a:cubicBezTo>
                  <a:pt x="5353187" y="0"/>
                  <a:pt x="5381625" y="28438"/>
                  <a:pt x="5381625" y="63518"/>
                </a:cubicBezTo>
                <a:lnTo>
                  <a:pt x="5381625" y="4254482"/>
                </a:lnTo>
                <a:cubicBezTo>
                  <a:pt x="5381625" y="4289562"/>
                  <a:pt x="5353187" y="4318000"/>
                  <a:pt x="5318107" y="4318000"/>
                </a:cubicBezTo>
                <a:lnTo>
                  <a:pt x="63518" y="4318000"/>
                </a:lnTo>
                <a:cubicBezTo>
                  <a:pt x="28438" y="4318000"/>
                  <a:pt x="0" y="4289562"/>
                  <a:pt x="0" y="4254482"/>
                </a:cubicBezTo>
                <a:lnTo>
                  <a:pt x="0" y="63518"/>
                </a:lnTo>
                <a:cubicBezTo>
                  <a:pt x="0" y="28461"/>
                  <a:pt x="28461" y="0"/>
                  <a:pt x="63518" y="0"/>
                </a:cubicBezTo>
                <a:close/>
              </a:path>
            </a:pathLst>
          </a:custGeom>
          <a:solidFill>
            <a:srgbClr val="EAE7D6"/>
          </a:solidFill>
          <a:ln/>
        </p:spPr>
        <p:txBody>
          <a:bodyPr/>
          <a:lstStyle/>
          <a:p>
            <a:endParaRPr lang="en-US"/>
          </a:p>
        </p:txBody>
      </p:sp>
      <p:sp>
        <p:nvSpPr>
          <p:cNvPr id="12" name="Text 10"/>
          <p:cNvSpPr/>
          <p:nvPr/>
        </p:nvSpPr>
        <p:spPr>
          <a:xfrm>
            <a:off x="611188" y="1881187"/>
            <a:ext cx="5191125" cy="420688"/>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All streams inherit from </a:t>
            </a:r>
            <a:r>
              <a:rPr lang="en-US" sz="1000" dirty="0">
                <a:solidFill>
                  <a:srgbClr val="E07A5F"/>
                </a:solidFill>
                <a:latin typeface="MiSans" pitchFamily="34" charset="0"/>
                <a:ea typeface="MiSans" pitchFamily="34" charset="-122"/>
                <a:cs typeface="MiSans" pitchFamily="34" charset="-120"/>
              </a:rPr>
              <a:t>EventEmitter</a:t>
            </a:r>
            <a:r>
              <a:rPr lang="en-US" sz="1000" dirty="0">
                <a:solidFill>
                  <a:srgbClr val="2D3142"/>
                </a:solidFill>
                <a:latin typeface="Quattrocento Sans" pitchFamily="34" charset="0"/>
                <a:ea typeface="Quattrocento Sans" pitchFamily="34" charset="-122"/>
                <a:cs typeface="Quattrocento Sans" pitchFamily="34" charset="-120"/>
              </a:rPr>
              <a:t>. This means they use the event-driven architecture and can emit multiple event types.</a:t>
            </a:r>
            <a:endParaRPr lang="en-US" sz="1600" dirty="0"/>
          </a:p>
        </p:txBody>
      </p:sp>
      <p:sp>
        <p:nvSpPr>
          <p:cNvPr id="13" name="Shape 11"/>
          <p:cNvSpPr/>
          <p:nvPr/>
        </p:nvSpPr>
        <p:spPr>
          <a:xfrm>
            <a:off x="581025" y="2268140"/>
            <a:ext cx="5127625" cy="666750"/>
          </a:xfrm>
          <a:custGeom>
            <a:avLst/>
            <a:gdLst/>
            <a:ahLst/>
            <a:cxnLst/>
            <a:rect l="l" t="t" r="r" b="b"/>
            <a:pathLst>
              <a:path w="5127625" h="666750">
                <a:moveTo>
                  <a:pt x="31751" y="0"/>
                </a:moveTo>
                <a:lnTo>
                  <a:pt x="5095874" y="0"/>
                </a:lnTo>
                <a:cubicBezTo>
                  <a:pt x="5113410" y="0"/>
                  <a:pt x="5127625" y="14215"/>
                  <a:pt x="5127625" y="31751"/>
                </a:cubicBezTo>
                <a:lnTo>
                  <a:pt x="5127625" y="634999"/>
                </a:lnTo>
                <a:cubicBezTo>
                  <a:pt x="5127625" y="652535"/>
                  <a:pt x="5113410" y="666750"/>
                  <a:pt x="5095874" y="666750"/>
                </a:cubicBezTo>
                <a:lnTo>
                  <a:pt x="31751" y="666750"/>
                </a:lnTo>
                <a:cubicBezTo>
                  <a:pt x="14215" y="666750"/>
                  <a:pt x="0" y="652535"/>
                  <a:pt x="0" y="634999"/>
                </a:cubicBezTo>
                <a:lnTo>
                  <a:pt x="0" y="31751"/>
                </a:lnTo>
                <a:cubicBezTo>
                  <a:pt x="0" y="14227"/>
                  <a:pt x="14227" y="0"/>
                  <a:pt x="31751" y="0"/>
                </a:cubicBezTo>
                <a:close/>
              </a:path>
            </a:pathLst>
          </a:custGeom>
          <a:solidFill>
            <a:srgbClr val="EAE7D6"/>
          </a:solidFill>
          <a:ln/>
        </p:spPr>
        <p:txBody>
          <a:bodyPr/>
          <a:lstStyle/>
          <a:p>
            <a:endParaRPr lang="en-US"/>
          </a:p>
        </p:txBody>
      </p:sp>
      <p:sp>
        <p:nvSpPr>
          <p:cNvPr id="14" name="Text 12"/>
          <p:cNvSpPr/>
          <p:nvPr/>
        </p:nvSpPr>
        <p:spPr>
          <a:xfrm>
            <a:off x="706438" y="2492375"/>
            <a:ext cx="49926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stream.on('data', handler)</a:t>
            </a:r>
            <a:endParaRPr lang="en-US" sz="1600" dirty="0"/>
          </a:p>
        </p:txBody>
      </p:sp>
      <p:sp>
        <p:nvSpPr>
          <p:cNvPr id="15" name="Text 13"/>
          <p:cNvSpPr/>
          <p:nvPr/>
        </p:nvSpPr>
        <p:spPr>
          <a:xfrm>
            <a:off x="706438" y="2651125"/>
            <a:ext cx="49926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stream.on('error', handler)</a:t>
            </a:r>
            <a:endParaRPr lang="en-US" sz="1600" dirty="0"/>
          </a:p>
        </p:txBody>
      </p:sp>
      <p:sp>
        <p:nvSpPr>
          <p:cNvPr id="16" name="Text 14"/>
          <p:cNvSpPr/>
          <p:nvPr/>
        </p:nvSpPr>
        <p:spPr>
          <a:xfrm>
            <a:off x="706438" y="2809875"/>
            <a:ext cx="4992688" cy="158750"/>
          </a:xfrm>
          <a:prstGeom prst="rect">
            <a:avLst/>
          </a:prstGeom>
          <a:noFill/>
          <a:ln/>
        </p:spPr>
        <p:txBody>
          <a:bodyPr wrap="square" lIns="0" tIns="0" rIns="0" bIns="0" rtlCol="0" anchor="ctr"/>
          <a:lstStyle/>
          <a:p>
            <a:pPr>
              <a:lnSpc>
                <a:spcPct val="120000"/>
              </a:lnSpc>
            </a:pPr>
            <a:r>
              <a:rPr lang="en-US" sz="875" dirty="0">
                <a:solidFill>
                  <a:srgbClr val="8D99AE"/>
                </a:solidFill>
                <a:latin typeface="MiSans" pitchFamily="34" charset="0"/>
                <a:ea typeface="MiSans" pitchFamily="34" charset="-122"/>
                <a:cs typeface="MiSans" pitchFamily="34" charset="-120"/>
              </a:rPr>
              <a:t>stream.on('end', handler)</a:t>
            </a:r>
            <a:endParaRPr lang="en-US" sz="1600" dirty="0"/>
          </a:p>
        </p:txBody>
      </p:sp>
      <p:sp>
        <p:nvSpPr>
          <p:cNvPr id="18" name="Shape 16"/>
          <p:cNvSpPr/>
          <p:nvPr/>
        </p:nvSpPr>
        <p:spPr>
          <a:xfrm>
            <a:off x="484187" y="65325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D99AE"/>
          </a:solidFill>
          <a:ln/>
        </p:spPr>
        <p:txBody>
          <a:bodyPr/>
          <a:lstStyle/>
          <a:p>
            <a:endParaRPr lang="en-US"/>
          </a:p>
        </p:txBody>
      </p:sp>
      <p:sp>
        <p:nvSpPr>
          <p:cNvPr id="19" name="Shape 17"/>
          <p:cNvSpPr/>
          <p:nvPr/>
        </p:nvSpPr>
        <p:spPr>
          <a:xfrm>
            <a:off x="595313" y="6643688"/>
            <a:ext cx="158750" cy="158750"/>
          </a:xfrm>
          <a:custGeom>
            <a:avLst/>
            <a:gdLst/>
            <a:ahLst/>
            <a:cxnLst/>
            <a:rect l="l" t="t" r="r" b="b"/>
            <a:pathLst>
              <a:path w="158750" h="158750">
                <a:moveTo>
                  <a:pt x="89297" y="9922"/>
                </a:moveTo>
                <a:cubicBezTo>
                  <a:pt x="89297" y="4434"/>
                  <a:pt x="84863" y="0"/>
                  <a:pt x="79375" y="0"/>
                </a:cubicBezTo>
                <a:cubicBezTo>
                  <a:pt x="73887" y="0"/>
                  <a:pt x="69453" y="4434"/>
                  <a:pt x="69453" y="9922"/>
                </a:cubicBezTo>
                <a:lnTo>
                  <a:pt x="69453" y="74414"/>
                </a:lnTo>
                <a:cubicBezTo>
                  <a:pt x="69453" y="77143"/>
                  <a:pt x="67221" y="79375"/>
                  <a:pt x="64492" y="79375"/>
                </a:cubicBezTo>
                <a:cubicBezTo>
                  <a:pt x="61764" y="79375"/>
                  <a:pt x="59531" y="77143"/>
                  <a:pt x="59531" y="74414"/>
                </a:cubicBezTo>
                <a:lnTo>
                  <a:pt x="59531" y="19844"/>
                </a:lnTo>
                <a:cubicBezTo>
                  <a:pt x="59531" y="14356"/>
                  <a:pt x="55097" y="9922"/>
                  <a:pt x="49609" y="9922"/>
                </a:cubicBezTo>
                <a:cubicBezTo>
                  <a:pt x="44121" y="9922"/>
                  <a:pt x="39688" y="14356"/>
                  <a:pt x="39688" y="19844"/>
                </a:cubicBezTo>
                <a:lnTo>
                  <a:pt x="39688" y="104180"/>
                </a:lnTo>
                <a:cubicBezTo>
                  <a:pt x="39688" y="104645"/>
                  <a:pt x="39688" y="105141"/>
                  <a:pt x="39719" y="105606"/>
                </a:cubicBezTo>
                <a:lnTo>
                  <a:pt x="20960" y="87747"/>
                </a:lnTo>
                <a:cubicBezTo>
                  <a:pt x="15999" y="83034"/>
                  <a:pt x="8155" y="83220"/>
                  <a:pt x="3411" y="88181"/>
                </a:cubicBezTo>
                <a:cubicBezTo>
                  <a:pt x="-1333" y="93142"/>
                  <a:pt x="-1116" y="100986"/>
                  <a:pt x="3845" y="105730"/>
                </a:cubicBezTo>
                <a:lnTo>
                  <a:pt x="38695" y="138906"/>
                </a:lnTo>
                <a:cubicBezTo>
                  <a:pt x="52059" y="151650"/>
                  <a:pt x="69825" y="158750"/>
                  <a:pt x="88305" y="158750"/>
                </a:cubicBezTo>
                <a:lnTo>
                  <a:pt x="94258" y="158750"/>
                </a:lnTo>
                <a:cubicBezTo>
                  <a:pt x="124396" y="158750"/>
                  <a:pt x="148828" y="134317"/>
                  <a:pt x="148828" y="104180"/>
                </a:cubicBezTo>
                <a:lnTo>
                  <a:pt x="148828" y="39688"/>
                </a:lnTo>
                <a:cubicBezTo>
                  <a:pt x="148828" y="34199"/>
                  <a:pt x="144394" y="29766"/>
                  <a:pt x="138906" y="29766"/>
                </a:cubicBezTo>
                <a:cubicBezTo>
                  <a:pt x="133418" y="29766"/>
                  <a:pt x="128984" y="34199"/>
                  <a:pt x="128984" y="39688"/>
                </a:cubicBezTo>
                <a:lnTo>
                  <a:pt x="128984" y="74414"/>
                </a:lnTo>
                <a:cubicBezTo>
                  <a:pt x="128984" y="77143"/>
                  <a:pt x="126752" y="79375"/>
                  <a:pt x="124023" y="79375"/>
                </a:cubicBezTo>
                <a:cubicBezTo>
                  <a:pt x="121295" y="79375"/>
                  <a:pt x="119062" y="77143"/>
                  <a:pt x="119062" y="74414"/>
                </a:cubicBezTo>
                <a:lnTo>
                  <a:pt x="119062" y="19844"/>
                </a:lnTo>
                <a:cubicBezTo>
                  <a:pt x="119062" y="14356"/>
                  <a:pt x="114629" y="9922"/>
                  <a:pt x="109141" y="9922"/>
                </a:cubicBezTo>
                <a:cubicBezTo>
                  <a:pt x="103653" y="9922"/>
                  <a:pt x="99219" y="14356"/>
                  <a:pt x="99219" y="19844"/>
                </a:cubicBezTo>
                <a:lnTo>
                  <a:pt x="99219" y="74414"/>
                </a:lnTo>
                <a:cubicBezTo>
                  <a:pt x="99219" y="77143"/>
                  <a:pt x="96986" y="79375"/>
                  <a:pt x="94258" y="79375"/>
                </a:cubicBezTo>
                <a:cubicBezTo>
                  <a:pt x="91529" y="79375"/>
                  <a:pt x="89297" y="77143"/>
                  <a:pt x="89297" y="74414"/>
                </a:cubicBezTo>
                <a:lnTo>
                  <a:pt x="89297" y="9922"/>
                </a:lnTo>
                <a:close/>
              </a:path>
            </a:pathLst>
          </a:custGeom>
          <a:solidFill>
            <a:srgbClr val="FFFFFF"/>
          </a:solidFill>
          <a:ln/>
        </p:spPr>
        <p:txBody>
          <a:bodyPr/>
          <a:lstStyle/>
          <a:p>
            <a:endParaRPr lang="en-US"/>
          </a:p>
        </p:txBody>
      </p:sp>
      <p:sp>
        <p:nvSpPr>
          <p:cNvPr id="20" name="Text 18"/>
          <p:cNvSpPr/>
          <p:nvPr/>
        </p:nvSpPr>
        <p:spPr>
          <a:xfrm>
            <a:off x="960438" y="6611938"/>
            <a:ext cx="2143125"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Handle Backpressure Properly</a:t>
            </a:r>
            <a:endParaRPr lang="en-US" sz="1600" dirty="0"/>
          </a:p>
        </p:txBody>
      </p:sp>
      <p:sp>
        <p:nvSpPr>
          <p:cNvPr id="22" name="Text 20"/>
          <p:cNvSpPr/>
          <p:nvPr/>
        </p:nvSpPr>
        <p:spPr>
          <a:xfrm>
            <a:off x="611188" y="7167563"/>
            <a:ext cx="5191125" cy="420688"/>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Always respect backpressure signals. When </a:t>
            </a:r>
            <a:r>
              <a:rPr lang="en-US" sz="1000" dirty="0">
                <a:solidFill>
                  <a:srgbClr val="8D99AE"/>
                </a:solidFill>
                <a:latin typeface="MiSans" pitchFamily="34" charset="0"/>
                <a:ea typeface="MiSans" pitchFamily="34" charset="-122"/>
                <a:cs typeface="MiSans" pitchFamily="34" charset="-120"/>
              </a:rPr>
              <a:t>write()</a:t>
            </a:r>
            <a:r>
              <a:rPr lang="en-US" sz="1000" dirty="0">
                <a:solidFill>
                  <a:srgbClr val="2D3142"/>
                </a:solidFill>
                <a:latin typeface="Quattrocento Sans" pitchFamily="34" charset="0"/>
                <a:ea typeface="Quattrocento Sans" pitchFamily="34" charset="-122"/>
                <a:cs typeface="Quattrocento Sans" pitchFamily="34" charset="-120"/>
              </a:rPr>
              <a:t> returns false, pause the source and wait for the 'drain' event.</a:t>
            </a:r>
            <a:endParaRPr lang="en-US" sz="1600" dirty="0"/>
          </a:p>
        </p:txBody>
      </p:sp>
      <p:sp>
        <p:nvSpPr>
          <p:cNvPr id="25" name="Text 23"/>
          <p:cNvSpPr/>
          <p:nvPr/>
        </p:nvSpPr>
        <p:spPr>
          <a:xfrm>
            <a:off x="706438" y="7937500"/>
            <a:ext cx="4992688"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readable.pause();</a:t>
            </a:r>
            <a:endParaRPr lang="en-US" sz="1600" dirty="0"/>
          </a:p>
        </p:txBody>
      </p:sp>
      <p:sp>
        <p:nvSpPr>
          <p:cNvPr id="30" name="Shape 28"/>
          <p:cNvSpPr/>
          <p:nvPr/>
        </p:nvSpPr>
        <p:spPr>
          <a:xfrm>
            <a:off x="6163469" y="1083470"/>
            <a:ext cx="5707063" cy="2083751"/>
          </a:xfrm>
          <a:custGeom>
            <a:avLst/>
            <a:gdLst/>
            <a:ahLst/>
            <a:cxnLst/>
            <a:rect l="l" t="t" r="r" b="b"/>
            <a:pathLst>
              <a:path w="5707063" h="5151438">
                <a:moveTo>
                  <a:pt x="95250" y="0"/>
                </a:moveTo>
                <a:lnTo>
                  <a:pt x="5611812" y="0"/>
                </a:lnTo>
                <a:cubicBezTo>
                  <a:pt x="5664418" y="0"/>
                  <a:pt x="5707063" y="42645"/>
                  <a:pt x="5707063" y="95250"/>
                </a:cubicBezTo>
                <a:lnTo>
                  <a:pt x="5707063" y="5056187"/>
                </a:lnTo>
                <a:cubicBezTo>
                  <a:pt x="5707063" y="5108793"/>
                  <a:pt x="5664418" y="5151438"/>
                  <a:pt x="5611812" y="5151438"/>
                </a:cubicBezTo>
                <a:lnTo>
                  <a:pt x="95250" y="5151438"/>
                </a:lnTo>
                <a:cubicBezTo>
                  <a:pt x="42645" y="5151438"/>
                  <a:pt x="0" y="5108793"/>
                  <a:pt x="0" y="5056187"/>
                </a:cubicBezTo>
                <a:lnTo>
                  <a:pt x="0" y="95250"/>
                </a:lnTo>
                <a:cubicBezTo>
                  <a:pt x="0" y="42645"/>
                  <a:pt x="42645" y="0"/>
                  <a:pt x="95250" y="0"/>
                </a:cubicBezTo>
                <a:close/>
              </a:path>
            </a:pathLst>
          </a:custGeom>
          <a:solidFill>
            <a:srgbClr val="EAE7D6"/>
          </a:solidFill>
          <a:ln/>
        </p:spPr>
        <p:txBody>
          <a:bodyPr/>
          <a:lstStyle/>
          <a:p>
            <a:endParaRPr lang="en-US"/>
          </a:p>
        </p:txBody>
      </p:sp>
      <p:sp>
        <p:nvSpPr>
          <p:cNvPr id="31" name="Shape 29"/>
          <p:cNvSpPr/>
          <p:nvPr/>
        </p:nvSpPr>
        <p:spPr>
          <a:xfrm>
            <a:off x="6326188" y="1246188"/>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D99AE"/>
          </a:solidFill>
          <a:ln/>
        </p:spPr>
        <p:txBody>
          <a:bodyPr/>
          <a:lstStyle/>
          <a:p>
            <a:endParaRPr lang="en-US"/>
          </a:p>
        </p:txBody>
      </p:sp>
      <p:sp>
        <p:nvSpPr>
          <p:cNvPr id="32" name="Shape 30"/>
          <p:cNvSpPr/>
          <p:nvPr/>
        </p:nvSpPr>
        <p:spPr>
          <a:xfrm>
            <a:off x="6427391" y="1357313"/>
            <a:ext cx="178594" cy="158750"/>
          </a:xfrm>
          <a:custGeom>
            <a:avLst/>
            <a:gdLst/>
            <a:ahLst/>
            <a:cxnLst/>
            <a:rect l="l" t="t" r="r" b="b"/>
            <a:pathLst>
              <a:path w="178594" h="158750">
                <a:moveTo>
                  <a:pt x="175679" y="16929"/>
                </a:moveTo>
                <a:cubicBezTo>
                  <a:pt x="179555" y="13053"/>
                  <a:pt x="179555" y="6759"/>
                  <a:pt x="175679" y="2884"/>
                </a:cubicBezTo>
                <a:cubicBezTo>
                  <a:pt x="171803" y="-992"/>
                  <a:pt x="165509" y="-992"/>
                  <a:pt x="161634" y="2884"/>
                </a:cubicBezTo>
                <a:lnTo>
                  <a:pt x="102102" y="62415"/>
                </a:lnTo>
                <a:lnTo>
                  <a:pt x="91343" y="51656"/>
                </a:lnTo>
                <a:cubicBezTo>
                  <a:pt x="90041" y="50354"/>
                  <a:pt x="88243" y="49609"/>
                  <a:pt x="86382" y="49609"/>
                </a:cubicBezTo>
                <a:cubicBezTo>
                  <a:pt x="82507" y="49609"/>
                  <a:pt x="79375" y="52741"/>
                  <a:pt x="79375" y="56617"/>
                </a:cubicBezTo>
                <a:lnTo>
                  <a:pt x="79375" y="65639"/>
                </a:lnTo>
                <a:lnTo>
                  <a:pt x="112954" y="99219"/>
                </a:lnTo>
                <a:lnTo>
                  <a:pt x="121977" y="99219"/>
                </a:lnTo>
                <a:cubicBezTo>
                  <a:pt x="125853" y="99219"/>
                  <a:pt x="128984" y="96087"/>
                  <a:pt x="128984" y="92211"/>
                </a:cubicBezTo>
                <a:cubicBezTo>
                  <a:pt x="128984" y="90351"/>
                  <a:pt x="128240" y="88553"/>
                  <a:pt x="126938" y="87250"/>
                </a:cubicBezTo>
                <a:lnTo>
                  <a:pt x="116179" y="76491"/>
                </a:lnTo>
                <a:lnTo>
                  <a:pt x="175710" y="16960"/>
                </a:lnTo>
                <a:close/>
                <a:moveTo>
                  <a:pt x="105761" y="109575"/>
                </a:moveTo>
                <a:lnTo>
                  <a:pt x="69019" y="72833"/>
                </a:lnTo>
                <a:cubicBezTo>
                  <a:pt x="55780" y="71686"/>
                  <a:pt x="42602" y="76460"/>
                  <a:pt x="33114" y="85948"/>
                </a:cubicBezTo>
                <a:lnTo>
                  <a:pt x="30634" y="88429"/>
                </a:lnTo>
                <a:cubicBezTo>
                  <a:pt x="23719" y="95343"/>
                  <a:pt x="19844" y="104707"/>
                  <a:pt x="19844" y="114474"/>
                </a:cubicBezTo>
                <a:cubicBezTo>
                  <a:pt x="19844" y="116582"/>
                  <a:pt x="22045" y="117946"/>
                  <a:pt x="23937" y="117016"/>
                </a:cubicBezTo>
                <a:lnTo>
                  <a:pt x="39781" y="109110"/>
                </a:lnTo>
                <a:cubicBezTo>
                  <a:pt x="41331" y="108334"/>
                  <a:pt x="42726" y="110381"/>
                  <a:pt x="41455" y="111559"/>
                </a:cubicBezTo>
                <a:lnTo>
                  <a:pt x="2263" y="146782"/>
                </a:lnTo>
                <a:cubicBezTo>
                  <a:pt x="837" y="148084"/>
                  <a:pt x="0" y="149944"/>
                  <a:pt x="0" y="151898"/>
                </a:cubicBezTo>
                <a:cubicBezTo>
                  <a:pt x="0" y="155680"/>
                  <a:pt x="3070" y="158750"/>
                  <a:pt x="6852" y="158750"/>
                </a:cubicBezTo>
                <a:lnTo>
                  <a:pt x="60585" y="158750"/>
                </a:lnTo>
                <a:cubicBezTo>
                  <a:pt x="72616" y="158750"/>
                  <a:pt x="84119" y="153975"/>
                  <a:pt x="92646" y="145479"/>
                </a:cubicBezTo>
                <a:cubicBezTo>
                  <a:pt x="102133" y="135992"/>
                  <a:pt x="106877" y="122814"/>
                  <a:pt x="105761" y="109575"/>
                </a:cubicBezTo>
                <a:close/>
              </a:path>
            </a:pathLst>
          </a:custGeom>
          <a:solidFill>
            <a:srgbClr val="FFFFFF"/>
          </a:solidFill>
          <a:ln/>
        </p:spPr>
        <p:txBody>
          <a:bodyPr/>
          <a:lstStyle/>
          <a:p>
            <a:endParaRPr lang="en-US"/>
          </a:p>
        </p:txBody>
      </p:sp>
      <p:sp>
        <p:nvSpPr>
          <p:cNvPr id="33" name="Text 31"/>
          <p:cNvSpPr/>
          <p:nvPr/>
        </p:nvSpPr>
        <p:spPr>
          <a:xfrm>
            <a:off x="6802438" y="1325563"/>
            <a:ext cx="1785938"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Always Cleanup Streams</a:t>
            </a:r>
            <a:endParaRPr lang="en-US" sz="1600" dirty="0"/>
          </a:p>
        </p:txBody>
      </p:sp>
      <p:sp>
        <p:nvSpPr>
          <p:cNvPr id="34" name="Shape 32"/>
          <p:cNvSpPr/>
          <p:nvPr/>
        </p:nvSpPr>
        <p:spPr>
          <a:xfrm>
            <a:off x="6326188" y="1754188"/>
            <a:ext cx="5381625" cy="1317625"/>
          </a:xfrm>
          <a:custGeom>
            <a:avLst/>
            <a:gdLst/>
            <a:ahLst/>
            <a:cxnLst/>
            <a:rect l="l" t="t" r="r" b="b"/>
            <a:pathLst>
              <a:path w="5381625" h="4318000">
                <a:moveTo>
                  <a:pt x="63518" y="0"/>
                </a:moveTo>
                <a:lnTo>
                  <a:pt x="5318107" y="0"/>
                </a:lnTo>
                <a:cubicBezTo>
                  <a:pt x="5353187" y="0"/>
                  <a:pt x="5381625" y="28438"/>
                  <a:pt x="5381625" y="63518"/>
                </a:cubicBezTo>
                <a:lnTo>
                  <a:pt x="5381625" y="4254482"/>
                </a:lnTo>
                <a:cubicBezTo>
                  <a:pt x="5381625" y="4289562"/>
                  <a:pt x="5353187" y="4318000"/>
                  <a:pt x="5318107" y="4318000"/>
                </a:cubicBezTo>
                <a:lnTo>
                  <a:pt x="63518" y="4318000"/>
                </a:lnTo>
                <a:cubicBezTo>
                  <a:pt x="28438" y="4318000"/>
                  <a:pt x="0" y="4289562"/>
                  <a:pt x="0" y="4254482"/>
                </a:cubicBezTo>
                <a:lnTo>
                  <a:pt x="0" y="63518"/>
                </a:lnTo>
                <a:cubicBezTo>
                  <a:pt x="0" y="28461"/>
                  <a:pt x="28461" y="0"/>
                  <a:pt x="63518" y="0"/>
                </a:cubicBezTo>
                <a:close/>
              </a:path>
            </a:pathLst>
          </a:custGeom>
          <a:solidFill>
            <a:srgbClr val="EAE7D6"/>
          </a:solidFill>
          <a:ln/>
        </p:spPr>
        <p:txBody>
          <a:bodyPr/>
          <a:lstStyle/>
          <a:p>
            <a:endParaRPr lang="en-US"/>
          </a:p>
        </p:txBody>
      </p:sp>
      <p:sp>
        <p:nvSpPr>
          <p:cNvPr id="35" name="Text 33"/>
          <p:cNvSpPr/>
          <p:nvPr/>
        </p:nvSpPr>
        <p:spPr>
          <a:xfrm>
            <a:off x="6453188" y="1881187"/>
            <a:ext cx="5191125" cy="428625"/>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Properly close and destroy streams to prevent memory leaks. Use </a:t>
            </a:r>
            <a:r>
              <a:rPr lang="en-US" sz="1000" dirty="0">
                <a:solidFill>
                  <a:srgbClr val="8D99AE"/>
                </a:solidFill>
                <a:latin typeface="MiSans" pitchFamily="34" charset="0"/>
                <a:ea typeface="MiSans" pitchFamily="34" charset="-122"/>
                <a:cs typeface="MiSans" pitchFamily="34" charset="-120"/>
              </a:rPr>
              <a:t>pipeline()</a:t>
            </a:r>
            <a:r>
              <a:rPr lang="en-US" sz="1000" dirty="0">
                <a:solidFill>
                  <a:srgbClr val="2D3142"/>
                </a:solidFill>
                <a:latin typeface="Quattrocento Sans" pitchFamily="34" charset="0"/>
                <a:ea typeface="Quattrocento Sans" pitchFamily="34" charset="-122"/>
                <a:cs typeface="Quattrocento Sans" pitchFamily="34" charset="-120"/>
              </a:rPr>
              <a:t> for automatic cleanup or manually call </a:t>
            </a:r>
            <a:r>
              <a:rPr lang="en-US" sz="1000" dirty="0">
                <a:solidFill>
                  <a:srgbClr val="8D99AE"/>
                </a:solidFill>
                <a:latin typeface="MiSans" pitchFamily="34" charset="0"/>
                <a:ea typeface="MiSans" pitchFamily="34" charset="-122"/>
                <a:cs typeface="MiSans" pitchFamily="34" charset="-120"/>
              </a:rPr>
              <a:t>destroy()</a:t>
            </a:r>
            <a:r>
              <a:rPr lang="en-US" sz="1000" dirty="0">
                <a:solidFill>
                  <a:srgbClr val="2D3142"/>
                </a:solidFill>
                <a:latin typeface="Quattrocento Sans" pitchFamily="34" charset="0"/>
                <a:ea typeface="Quattrocento Sans" pitchFamily="34" charset="-122"/>
                <a:cs typeface="Quattrocento Sans" pitchFamily="34" charset="-120"/>
              </a:rPr>
              <a:t>.</a:t>
            </a:r>
            <a:endParaRPr lang="en-US" sz="1600" dirty="0"/>
          </a:p>
        </p:txBody>
      </p:sp>
      <p:sp>
        <p:nvSpPr>
          <p:cNvPr id="36" name="Shape 34"/>
          <p:cNvSpPr/>
          <p:nvPr/>
        </p:nvSpPr>
        <p:spPr>
          <a:xfrm>
            <a:off x="6453188" y="2405063"/>
            <a:ext cx="5127625" cy="666750"/>
          </a:xfrm>
          <a:custGeom>
            <a:avLst/>
            <a:gdLst/>
            <a:ahLst/>
            <a:cxnLst/>
            <a:rect l="l" t="t" r="r" b="b"/>
            <a:pathLst>
              <a:path w="5127625" h="666750">
                <a:moveTo>
                  <a:pt x="31751" y="0"/>
                </a:moveTo>
                <a:lnTo>
                  <a:pt x="5095874" y="0"/>
                </a:lnTo>
                <a:cubicBezTo>
                  <a:pt x="5113410" y="0"/>
                  <a:pt x="5127625" y="14215"/>
                  <a:pt x="5127625" y="31751"/>
                </a:cubicBezTo>
                <a:lnTo>
                  <a:pt x="5127625" y="634999"/>
                </a:lnTo>
                <a:cubicBezTo>
                  <a:pt x="5127625" y="652535"/>
                  <a:pt x="5113410" y="666750"/>
                  <a:pt x="5095874" y="666750"/>
                </a:cubicBezTo>
                <a:lnTo>
                  <a:pt x="31751" y="666750"/>
                </a:lnTo>
                <a:cubicBezTo>
                  <a:pt x="14215" y="666750"/>
                  <a:pt x="0" y="652535"/>
                  <a:pt x="0" y="634999"/>
                </a:cubicBezTo>
                <a:lnTo>
                  <a:pt x="0" y="31751"/>
                </a:lnTo>
                <a:cubicBezTo>
                  <a:pt x="0" y="14227"/>
                  <a:pt x="14227" y="0"/>
                  <a:pt x="31751" y="0"/>
                </a:cubicBezTo>
                <a:close/>
              </a:path>
            </a:pathLst>
          </a:custGeom>
          <a:solidFill>
            <a:srgbClr val="EAE7D6"/>
          </a:solidFill>
          <a:ln/>
        </p:spPr>
        <p:txBody>
          <a:bodyPr/>
          <a:lstStyle/>
          <a:p>
            <a:endParaRPr lang="en-US"/>
          </a:p>
        </p:txBody>
      </p:sp>
      <p:sp>
        <p:nvSpPr>
          <p:cNvPr id="37" name="Text 35"/>
          <p:cNvSpPr/>
          <p:nvPr/>
        </p:nvSpPr>
        <p:spPr>
          <a:xfrm>
            <a:off x="6548438" y="2500313"/>
            <a:ext cx="4992688"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stream.on('close', () =&gt; {</a:t>
            </a:r>
            <a:endParaRPr lang="en-US" sz="1600" dirty="0"/>
          </a:p>
        </p:txBody>
      </p:sp>
      <p:sp>
        <p:nvSpPr>
          <p:cNvPr id="38" name="Text 36"/>
          <p:cNvSpPr/>
          <p:nvPr/>
        </p:nvSpPr>
        <p:spPr>
          <a:xfrm>
            <a:off x="6548438" y="2659063"/>
            <a:ext cx="4992688" cy="158750"/>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console.log('Cleaned up');</a:t>
            </a:r>
            <a:endParaRPr lang="en-US" sz="1600" dirty="0"/>
          </a:p>
        </p:txBody>
      </p:sp>
      <p:sp>
        <p:nvSpPr>
          <p:cNvPr id="39" name="Text 37"/>
          <p:cNvSpPr/>
          <p:nvPr/>
        </p:nvSpPr>
        <p:spPr>
          <a:xfrm>
            <a:off x="6548438" y="2817813"/>
            <a:ext cx="4992688" cy="158750"/>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41" name="Shape 39"/>
          <p:cNvSpPr/>
          <p:nvPr/>
        </p:nvSpPr>
        <p:spPr>
          <a:xfrm>
            <a:off x="6326188" y="653256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42" name="Shape 40"/>
          <p:cNvSpPr/>
          <p:nvPr/>
        </p:nvSpPr>
        <p:spPr>
          <a:xfrm>
            <a:off x="6437313" y="6643688"/>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FFFFFF"/>
          </a:solidFill>
          <a:ln/>
        </p:spPr>
        <p:txBody>
          <a:bodyPr/>
          <a:lstStyle/>
          <a:p>
            <a:endParaRPr lang="en-US"/>
          </a:p>
        </p:txBody>
      </p:sp>
      <p:sp>
        <p:nvSpPr>
          <p:cNvPr id="43" name="Text 41"/>
          <p:cNvSpPr/>
          <p:nvPr/>
        </p:nvSpPr>
        <p:spPr>
          <a:xfrm>
            <a:off x="6802438" y="6611938"/>
            <a:ext cx="1262063" cy="222250"/>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pipeline() &gt; pipe()</a:t>
            </a:r>
            <a:endParaRPr lang="en-US" sz="1600" dirty="0"/>
          </a:p>
        </p:txBody>
      </p:sp>
      <p:sp>
        <p:nvSpPr>
          <p:cNvPr id="45" name="Text 43"/>
          <p:cNvSpPr/>
          <p:nvPr/>
        </p:nvSpPr>
        <p:spPr>
          <a:xfrm>
            <a:off x="6453188" y="7167563"/>
            <a:ext cx="5191125" cy="420688"/>
          </a:xfrm>
          <a:prstGeom prst="rect">
            <a:avLst/>
          </a:prstGeom>
          <a:noFill/>
          <a:ln/>
        </p:spPr>
        <p:txBody>
          <a:bodyPr wrap="square" lIns="0" tIns="0" rIns="0" bIns="0" rtlCol="0" anchor="ctr"/>
          <a:lstStyle/>
          <a:p>
            <a:pPr>
              <a:lnSpc>
                <a:spcPct val="140000"/>
              </a:lnSpc>
            </a:pPr>
            <a:r>
              <a:rPr lang="en-US" sz="1000" dirty="0">
                <a:solidFill>
                  <a:srgbClr val="2D3142"/>
                </a:solidFill>
                <a:latin typeface="Quattrocento Sans" pitchFamily="34" charset="0"/>
                <a:ea typeface="Quattrocento Sans" pitchFamily="34" charset="-122"/>
                <a:cs typeface="Quattrocento Sans" pitchFamily="34" charset="-120"/>
              </a:rPr>
              <a:t>Always prefer </a:t>
            </a:r>
            <a:r>
              <a:rPr lang="en-US" sz="1000" dirty="0">
                <a:solidFill>
                  <a:srgbClr val="E07A5F"/>
                </a:solidFill>
                <a:latin typeface="MiSans" pitchFamily="34" charset="0"/>
                <a:ea typeface="MiSans" pitchFamily="34" charset="-122"/>
                <a:cs typeface="MiSans" pitchFamily="34" charset="-120"/>
              </a:rPr>
              <a:t>pipeline()</a:t>
            </a:r>
            <a:r>
              <a:rPr lang="en-US" sz="1000" dirty="0">
                <a:solidFill>
                  <a:srgbClr val="2D3142"/>
                </a:solidFill>
                <a:latin typeface="Quattrocento Sans" pitchFamily="34" charset="0"/>
                <a:ea typeface="Quattrocento Sans" pitchFamily="34" charset="-122"/>
                <a:cs typeface="Quattrocento Sans" pitchFamily="34" charset="-120"/>
              </a:rPr>
              <a:t> over </a:t>
            </a:r>
            <a:r>
              <a:rPr lang="en-US" sz="1000" dirty="0">
                <a:solidFill>
                  <a:srgbClr val="8D99AE"/>
                </a:solidFill>
                <a:latin typeface="MiSans" pitchFamily="34" charset="0"/>
                <a:ea typeface="MiSans" pitchFamily="34" charset="-122"/>
                <a:cs typeface="MiSans" pitchFamily="34" charset="-120"/>
              </a:rPr>
              <a:t>pipe()</a:t>
            </a:r>
            <a:r>
              <a:rPr lang="en-US" sz="1000" dirty="0">
                <a:solidFill>
                  <a:srgbClr val="2D3142"/>
                </a:solidFill>
                <a:latin typeface="Quattrocento Sans" pitchFamily="34" charset="0"/>
                <a:ea typeface="Quattrocento Sans" pitchFamily="34" charset="-122"/>
                <a:cs typeface="Quattrocento Sans" pitchFamily="34" charset="-120"/>
              </a:rPr>
              <a:t> in production. It handles errors, cleanup, and proper stream destruction automatically.</a:t>
            </a:r>
            <a:endParaRPr lang="en-US" sz="1600" dirty="0"/>
          </a:p>
        </p:txBody>
      </p:sp>
      <p:sp>
        <p:nvSpPr>
          <p:cNvPr id="46" name="Shape 44"/>
          <p:cNvSpPr/>
          <p:nvPr/>
        </p:nvSpPr>
        <p:spPr>
          <a:xfrm>
            <a:off x="6469063" y="7683500"/>
            <a:ext cx="5111750" cy="539750"/>
          </a:xfrm>
          <a:custGeom>
            <a:avLst/>
            <a:gdLst/>
            <a:ahLst/>
            <a:cxnLst/>
            <a:rect l="l" t="t" r="r" b="b"/>
            <a:pathLst>
              <a:path w="5111750" h="539750">
                <a:moveTo>
                  <a:pt x="31748" y="0"/>
                </a:moveTo>
                <a:lnTo>
                  <a:pt x="5080002" y="0"/>
                </a:lnTo>
                <a:cubicBezTo>
                  <a:pt x="5097536" y="0"/>
                  <a:pt x="5111750" y="14214"/>
                  <a:pt x="5111750" y="31748"/>
                </a:cubicBezTo>
                <a:lnTo>
                  <a:pt x="5111750" y="508002"/>
                </a:lnTo>
                <a:cubicBezTo>
                  <a:pt x="5111750" y="525536"/>
                  <a:pt x="5097536" y="539750"/>
                  <a:pt x="5080002" y="539750"/>
                </a:cubicBezTo>
                <a:lnTo>
                  <a:pt x="31748" y="539750"/>
                </a:lnTo>
                <a:cubicBezTo>
                  <a:pt x="14214" y="539750"/>
                  <a:pt x="0" y="525536"/>
                  <a:pt x="0" y="508002"/>
                </a:cubicBezTo>
                <a:lnTo>
                  <a:pt x="0" y="31748"/>
                </a:lnTo>
                <a:cubicBezTo>
                  <a:pt x="0" y="14226"/>
                  <a:pt x="14226" y="0"/>
                  <a:pt x="31748" y="0"/>
                </a:cubicBezTo>
                <a:close/>
              </a:path>
            </a:pathLst>
          </a:custGeom>
          <a:solidFill>
            <a:srgbClr val="EAE7D6"/>
          </a:solidFill>
          <a:ln/>
        </p:spPr>
        <p:txBody>
          <a:bodyPr/>
          <a:lstStyle/>
          <a:p>
            <a:endParaRPr lang="en-US"/>
          </a:p>
        </p:txBody>
      </p:sp>
      <p:sp>
        <p:nvSpPr>
          <p:cNvPr id="52" name="Shape 50"/>
          <p:cNvSpPr/>
          <p:nvPr/>
        </p:nvSpPr>
        <p:spPr>
          <a:xfrm>
            <a:off x="595313" y="6643688"/>
            <a:ext cx="158750" cy="158750"/>
          </a:xfrm>
          <a:custGeom>
            <a:avLst/>
            <a:gdLst/>
            <a:ahLst/>
            <a:cxnLst/>
            <a:rect l="l" t="t" r="r" b="b"/>
            <a:pathLst>
              <a:path w="158750" h="158750">
                <a:moveTo>
                  <a:pt x="37207" y="17363"/>
                </a:moveTo>
                <a:cubicBezTo>
                  <a:pt x="37207" y="7782"/>
                  <a:pt x="44990" y="0"/>
                  <a:pt x="54570" y="0"/>
                </a:cubicBezTo>
                <a:lnTo>
                  <a:pt x="62012" y="0"/>
                </a:lnTo>
                <a:cubicBezTo>
                  <a:pt x="67500" y="0"/>
                  <a:pt x="71934" y="4434"/>
                  <a:pt x="71934" y="9922"/>
                </a:cubicBezTo>
                <a:lnTo>
                  <a:pt x="71934" y="148828"/>
                </a:lnTo>
                <a:cubicBezTo>
                  <a:pt x="71934" y="154316"/>
                  <a:pt x="67500" y="158750"/>
                  <a:pt x="62012" y="158750"/>
                </a:cubicBezTo>
                <a:lnTo>
                  <a:pt x="52090" y="158750"/>
                </a:lnTo>
                <a:cubicBezTo>
                  <a:pt x="42850" y="158750"/>
                  <a:pt x="35068" y="152425"/>
                  <a:pt x="32866" y="143867"/>
                </a:cubicBezTo>
                <a:cubicBezTo>
                  <a:pt x="32649" y="143867"/>
                  <a:pt x="32463" y="143867"/>
                  <a:pt x="32246" y="143867"/>
                </a:cubicBezTo>
                <a:cubicBezTo>
                  <a:pt x="18542" y="143867"/>
                  <a:pt x="7441" y="132767"/>
                  <a:pt x="7441" y="119062"/>
                </a:cubicBezTo>
                <a:cubicBezTo>
                  <a:pt x="7441" y="113481"/>
                  <a:pt x="9302" y="108334"/>
                  <a:pt x="12402" y="104180"/>
                </a:cubicBezTo>
                <a:cubicBezTo>
                  <a:pt x="6387" y="99653"/>
                  <a:pt x="2480" y="92459"/>
                  <a:pt x="2480" y="84336"/>
                </a:cubicBezTo>
                <a:cubicBezTo>
                  <a:pt x="2480" y="74755"/>
                  <a:pt x="7938" y="66415"/>
                  <a:pt x="15875" y="62291"/>
                </a:cubicBezTo>
                <a:cubicBezTo>
                  <a:pt x="13674" y="58570"/>
                  <a:pt x="12402" y="54229"/>
                  <a:pt x="12402" y="49609"/>
                </a:cubicBezTo>
                <a:cubicBezTo>
                  <a:pt x="12402" y="35905"/>
                  <a:pt x="23502" y="24805"/>
                  <a:pt x="37207" y="24805"/>
                </a:cubicBezTo>
                <a:lnTo>
                  <a:pt x="37207" y="17363"/>
                </a:lnTo>
                <a:close/>
                <a:moveTo>
                  <a:pt x="121543" y="17363"/>
                </a:moveTo>
                <a:lnTo>
                  <a:pt x="121543" y="24805"/>
                </a:lnTo>
                <a:cubicBezTo>
                  <a:pt x="135248" y="24805"/>
                  <a:pt x="146348" y="35905"/>
                  <a:pt x="146348" y="49609"/>
                </a:cubicBezTo>
                <a:cubicBezTo>
                  <a:pt x="146348" y="54260"/>
                  <a:pt x="145076" y="58601"/>
                  <a:pt x="142875" y="62291"/>
                </a:cubicBezTo>
                <a:cubicBezTo>
                  <a:pt x="150844" y="66415"/>
                  <a:pt x="156270" y="74724"/>
                  <a:pt x="156270" y="84336"/>
                </a:cubicBezTo>
                <a:cubicBezTo>
                  <a:pt x="156270" y="92459"/>
                  <a:pt x="152363" y="99653"/>
                  <a:pt x="146348" y="104180"/>
                </a:cubicBezTo>
                <a:cubicBezTo>
                  <a:pt x="149448" y="108334"/>
                  <a:pt x="151309" y="113481"/>
                  <a:pt x="151309" y="119062"/>
                </a:cubicBezTo>
                <a:cubicBezTo>
                  <a:pt x="151309" y="132767"/>
                  <a:pt x="140208" y="143867"/>
                  <a:pt x="126504" y="143867"/>
                </a:cubicBezTo>
                <a:cubicBezTo>
                  <a:pt x="126287" y="143867"/>
                  <a:pt x="126101" y="143867"/>
                  <a:pt x="125884" y="143867"/>
                </a:cubicBezTo>
                <a:cubicBezTo>
                  <a:pt x="123682" y="152425"/>
                  <a:pt x="115900" y="158750"/>
                  <a:pt x="106660" y="158750"/>
                </a:cubicBezTo>
                <a:lnTo>
                  <a:pt x="96738" y="158750"/>
                </a:lnTo>
                <a:cubicBezTo>
                  <a:pt x="91250" y="158750"/>
                  <a:pt x="86816" y="154316"/>
                  <a:pt x="86816" y="148828"/>
                </a:cubicBezTo>
                <a:lnTo>
                  <a:pt x="86816" y="9922"/>
                </a:lnTo>
                <a:cubicBezTo>
                  <a:pt x="86816" y="4434"/>
                  <a:pt x="91250" y="0"/>
                  <a:pt x="96738" y="0"/>
                </a:cubicBezTo>
                <a:lnTo>
                  <a:pt x="104180" y="0"/>
                </a:lnTo>
                <a:cubicBezTo>
                  <a:pt x="113760" y="0"/>
                  <a:pt x="121543" y="7782"/>
                  <a:pt x="121543" y="17363"/>
                </a:cubicBezTo>
                <a:close/>
              </a:path>
            </a:pathLst>
          </a:custGeom>
          <a:solidFill>
            <a:srgbClr val="FFFFFF"/>
          </a:solidFill>
          <a:ln/>
        </p:spPr>
        <p:txBody>
          <a:bodyPr/>
          <a:lstStyle/>
          <a:p>
            <a:endParaRPr lang="en-US"/>
          </a:p>
        </p:txBody>
      </p:sp>
      <p:sp>
        <p:nvSpPr>
          <p:cNvPr id="57" name="Shape 55"/>
          <p:cNvSpPr/>
          <p:nvPr/>
        </p:nvSpPr>
        <p:spPr>
          <a:xfrm>
            <a:off x="4103191" y="3774719"/>
            <a:ext cx="3659187" cy="825500"/>
          </a:xfrm>
          <a:custGeom>
            <a:avLst/>
            <a:gdLst/>
            <a:ahLst/>
            <a:cxnLst/>
            <a:rect l="l" t="t" r="r" b="b"/>
            <a:pathLst>
              <a:path w="3659187" h="825500">
                <a:moveTo>
                  <a:pt x="63497" y="0"/>
                </a:moveTo>
                <a:lnTo>
                  <a:pt x="3595690" y="0"/>
                </a:lnTo>
                <a:cubicBezTo>
                  <a:pt x="3630759" y="0"/>
                  <a:pt x="3659187" y="28429"/>
                  <a:pt x="3659187" y="63497"/>
                </a:cubicBezTo>
                <a:lnTo>
                  <a:pt x="3659187" y="762003"/>
                </a:lnTo>
                <a:cubicBezTo>
                  <a:pt x="3659187" y="797071"/>
                  <a:pt x="3630759" y="825500"/>
                  <a:pt x="3595690" y="825500"/>
                </a:cubicBezTo>
                <a:lnTo>
                  <a:pt x="63497" y="825500"/>
                </a:lnTo>
                <a:cubicBezTo>
                  <a:pt x="28429" y="825500"/>
                  <a:pt x="0" y="797071"/>
                  <a:pt x="0" y="762003"/>
                </a:cubicBezTo>
                <a:lnTo>
                  <a:pt x="0" y="63497"/>
                </a:lnTo>
                <a:cubicBezTo>
                  <a:pt x="0" y="28452"/>
                  <a:pt x="28452" y="0"/>
                  <a:pt x="63497" y="0"/>
                </a:cubicBezTo>
                <a:close/>
              </a:path>
            </a:pathLst>
          </a:custGeom>
          <a:solidFill>
            <a:srgbClr val="EAE7D6"/>
          </a:solidFill>
          <a:ln/>
        </p:spPr>
        <p:txBody>
          <a:bodyPr/>
          <a:lstStyle/>
          <a:p>
            <a:endParaRPr lang="en-US"/>
          </a:p>
        </p:txBody>
      </p:sp>
      <p:sp>
        <p:nvSpPr>
          <p:cNvPr id="60" name="Shape 58"/>
          <p:cNvSpPr/>
          <p:nvPr/>
        </p:nvSpPr>
        <p:spPr>
          <a:xfrm>
            <a:off x="8051229" y="7040563"/>
            <a:ext cx="3659187" cy="825500"/>
          </a:xfrm>
          <a:custGeom>
            <a:avLst/>
            <a:gdLst/>
            <a:ahLst/>
            <a:cxnLst/>
            <a:rect l="l" t="t" r="r" b="b"/>
            <a:pathLst>
              <a:path w="3659187" h="825500">
                <a:moveTo>
                  <a:pt x="63497" y="0"/>
                </a:moveTo>
                <a:lnTo>
                  <a:pt x="3595690" y="0"/>
                </a:lnTo>
                <a:cubicBezTo>
                  <a:pt x="3630759" y="0"/>
                  <a:pt x="3659187" y="28429"/>
                  <a:pt x="3659187" y="63497"/>
                </a:cubicBezTo>
                <a:lnTo>
                  <a:pt x="3659187" y="762003"/>
                </a:lnTo>
                <a:cubicBezTo>
                  <a:pt x="3659187" y="797071"/>
                  <a:pt x="3630759" y="825500"/>
                  <a:pt x="3595690" y="825500"/>
                </a:cubicBezTo>
                <a:lnTo>
                  <a:pt x="63497" y="825500"/>
                </a:lnTo>
                <a:cubicBezTo>
                  <a:pt x="28429" y="825500"/>
                  <a:pt x="0" y="797071"/>
                  <a:pt x="0" y="762003"/>
                </a:cubicBezTo>
                <a:lnTo>
                  <a:pt x="0" y="63497"/>
                </a:lnTo>
                <a:cubicBezTo>
                  <a:pt x="0" y="28452"/>
                  <a:pt x="28452" y="0"/>
                  <a:pt x="63497" y="0"/>
                </a:cubicBezTo>
                <a:close/>
              </a:path>
            </a:pathLst>
          </a:custGeom>
          <a:solidFill>
            <a:srgbClr val="EAE7D6"/>
          </a:solidFill>
          <a:ln/>
        </p:spPr>
        <p:txBody>
          <a:bodyPr/>
          <a:lstStyle/>
          <a:p>
            <a:endParaRPr lang="en-US"/>
          </a:p>
        </p:txBody>
      </p:sp>
      <p:sp>
        <p:nvSpPr>
          <p:cNvPr id="17" name="Shape 15"/>
          <p:cNvSpPr/>
          <p:nvPr/>
        </p:nvSpPr>
        <p:spPr>
          <a:xfrm>
            <a:off x="349250" y="3270830"/>
            <a:ext cx="5707063" cy="2235927"/>
          </a:xfrm>
          <a:custGeom>
            <a:avLst/>
            <a:gdLst/>
            <a:ahLst/>
            <a:cxnLst/>
            <a:rect l="l" t="t" r="r" b="b"/>
            <a:pathLst>
              <a:path w="5707063" h="5151438">
                <a:moveTo>
                  <a:pt x="95250" y="0"/>
                </a:moveTo>
                <a:lnTo>
                  <a:pt x="5611812" y="0"/>
                </a:lnTo>
                <a:cubicBezTo>
                  <a:pt x="5664418" y="0"/>
                  <a:pt x="5707063" y="42645"/>
                  <a:pt x="5707063" y="95250"/>
                </a:cubicBezTo>
                <a:lnTo>
                  <a:pt x="5707063" y="5056187"/>
                </a:lnTo>
                <a:cubicBezTo>
                  <a:pt x="5707063" y="5108793"/>
                  <a:pt x="5664418" y="5151438"/>
                  <a:pt x="5611812" y="5151438"/>
                </a:cubicBezTo>
                <a:lnTo>
                  <a:pt x="95250" y="5151438"/>
                </a:lnTo>
                <a:cubicBezTo>
                  <a:pt x="42645" y="5151438"/>
                  <a:pt x="0" y="5108793"/>
                  <a:pt x="0" y="5056187"/>
                </a:cubicBezTo>
                <a:lnTo>
                  <a:pt x="0" y="95250"/>
                </a:lnTo>
                <a:cubicBezTo>
                  <a:pt x="0" y="42645"/>
                  <a:pt x="42645" y="0"/>
                  <a:pt x="95250" y="0"/>
                </a:cubicBezTo>
                <a:close/>
              </a:path>
            </a:pathLst>
          </a:custGeom>
          <a:solidFill>
            <a:srgbClr val="EAE7D6"/>
          </a:solidFill>
          <a:ln/>
        </p:spPr>
        <p:txBody>
          <a:bodyPr/>
          <a:lstStyle/>
          <a:p>
            <a:endParaRPr lang="en-US"/>
          </a:p>
        </p:txBody>
      </p:sp>
      <p:sp>
        <p:nvSpPr>
          <p:cNvPr id="21" name="Shape 19"/>
          <p:cNvSpPr/>
          <p:nvPr/>
        </p:nvSpPr>
        <p:spPr>
          <a:xfrm>
            <a:off x="511968" y="3942777"/>
            <a:ext cx="5381625" cy="1557910"/>
          </a:xfrm>
          <a:custGeom>
            <a:avLst/>
            <a:gdLst/>
            <a:ahLst/>
            <a:cxnLst/>
            <a:rect l="l" t="t" r="r" b="b"/>
            <a:pathLst>
              <a:path w="5381625" h="4318000">
                <a:moveTo>
                  <a:pt x="63518" y="0"/>
                </a:moveTo>
                <a:lnTo>
                  <a:pt x="5318107" y="0"/>
                </a:lnTo>
                <a:cubicBezTo>
                  <a:pt x="5353187" y="0"/>
                  <a:pt x="5381625" y="28438"/>
                  <a:pt x="5381625" y="63518"/>
                </a:cubicBezTo>
                <a:lnTo>
                  <a:pt x="5381625" y="4254482"/>
                </a:lnTo>
                <a:cubicBezTo>
                  <a:pt x="5381625" y="4289562"/>
                  <a:pt x="5353187" y="4318000"/>
                  <a:pt x="5318107" y="4318000"/>
                </a:cubicBezTo>
                <a:lnTo>
                  <a:pt x="63518" y="4318000"/>
                </a:lnTo>
                <a:cubicBezTo>
                  <a:pt x="28438" y="4318000"/>
                  <a:pt x="0" y="4289562"/>
                  <a:pt x="0" y="4254482"/>
                </a:cubicBezTo>
                <a:lnTo>
                  <a:pt x="0" y="63518"/>
                </a:lnTo>
                <a:cubicBezTo>
                  <a:pt x="0" y="28461"/>
                  <a:pt x="28461" y="0"/>
                  <a:pt x="63518" y="0"/>
                </a:cubicBezTo>
                <a:close/>
              </a:path>
            </a:pathLst>
          </a:custGeom>
          <a:solidFill>
            <a:srgbClr val="EAE7D6"/>
          </a:solidFill>
          <a:ln/>
        </p:spPr>
        <p:txBody>
          <a:bodyPr/>
          <a:lstStyle/>
          <a:p>
            <a:endParaRPr lang="en-US"/>
          </a:p>
        </p:txBody>
      </p:sp>
      <p:sp>
        <p:nvSpPr>
          <p:cNvPr id="23" name="Shape 21"/>
          <p:cNvSpPr/>
          <p:nvPr/>
        </p:nvSpPr>
        <p:spPr>
          <a:xfrm>
            <a:off x="623093" y="4518765"/>
            <a:ext cx="5127625" cy="913797"/>
          </a:xfrm>
          <a:custGeom>
            <a:avLst/>
            <a:gdLst/>
            <a:ahLst/>
            <a:cxnLst/>
            <a:rect l="l" t="t" r="r" b="b"/>
            <a:pathLst>
              <a:path w="5127625" h="1143000">
                <a:moveTo>
                  <a:pt x="31753" y="0"/>
                </a:moveTo>
                <a:lnTo>
                  <a:pt x="5095872" y="0"/>
                </a:lnTo>
                <a:cubicBezTo>
                  <a:pt x="5113409" y="0"/>
                  <a:pt x="5127625" y="14216"/>
                  <a:pt x="5127625" y="31753"/>
                </a:cubicBezTo>
                <a:lnTo>
                  <a:pt x="5127625" y="1111247"/>
                </a:lnTo>
                <a:cubicBezTo>
                  <a:pt x="5127625" y="1128784"/>
                  <a:pt x="5113409" y="1143000"/>
                  <a:pt x="5095872" y="1143000"/>
                </a:cubicBezTo>
                <a:lnTo>
                  <a:pt x="31753" y="1143000"/>
                </a:lnTo>
                <a:cubicBezTo>
                  <a:pt x="14216" y="1143000"/>
                  <a:pt x="0" y="1128784"/>
                  <a:pt x="0" y="1111247"/>
                </a:cubicBezTo>
                <a:lnTo>
                  <a:pt x="0" y="31753"/>
                </a:lnTo>
                <a:cubicBezTo>
                  <a:pt x="0" y="14228"/>
                  <a:pt x="14228" y="0"/>
                  <a:pt x="31753" y="0"/>
                </a:cubicBezTo>
                <a:close/>
              </a:path>
            </a:pathLst>
          </a:custGeom>
          <a:solidFill>
            <a:srgbClr val="EAE7D6"/>
          </a:solidFill>
          <a:ln/>
        </p:spPr>
        <p:txBody>
          <a:bodyPr/>
          <a:lstStyle/>
          <a:p>
            <a:endParaRPr lang="en-US"/>
          </a:p>
        </p:txBody>
      </p:sp>
      <p:sp>
        <p:nvSpPr>
          <p:cNvPr id="24" name="Text 22"/>
          <p:cNvSpPr/>
          <p:nvPr/>
        </p:nvSpPr>
        <p:spPr>
          <a:xfrm>
            <a:off x="734219" y="4614032"/>
            <a:ext cx="4992688" cy="159041"/>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if (!writable.write(chunk)) {</a:t>
            </a:r>
            <a:endParaRPr lang="en-US" sz="1600" dirty="0"/>
          </a:p>
        </p:txBody>
      </p:sp>
      <p:sp>
        <p:nvSpPr>
          <p:cNvPr id="26" name="Text 24"/>
          <p:cNvSpPr/>
          <p:nvPr/>
        </p:nvSpPr>
        <p:spPr>
          <a:xfrm>
            <a:off x="726282" y="4770584"/>
            <a:ext cx="4992688" cy="159041"/>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writable.once('drain', () =&gt;</a:t>
            </a:r>
            <a:endParaRPr lang="en-US" sz="1600" dirty="0"/>
          </a:p>
        </p:txBody>
      </p:sp>
      <p:sp>
        <p:nvSpPr>
          <p:cNvPr id="27" name="Text 25"/>
          <p:cNvSpPr/>
          <p:nvPr/>
        </p:nvSpPr>
        <p:spPr>
          <a:xfrm>
            <a:off x="734219" y="4984812"/>
            <a:ext cx="4992688" cy="159041"/>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readable.resume()</a:t>
            </a:r>
            <a:endParaRPr lang="en-US" sz="1600" dirty="0"/>
          </a:p>
        </p:txBody>
      </p:sp>
      <p:sp>
        <p:nvSpPr>
          <p:cNvPr id="28" name="Text 26"/>
          <p:cNvSpPr/>
          <p:nvPr/>
        </p:nvSpPr>
        <p:spPr>
          <a:xfrm>
            <a:off x="734219" y="5181029"/>
            <a:ext cx="4992688" cy="159041"/>
          </a:xfrm>
          <a:prstGeom prst="rect">
            <a:avLst/>
          </a:prstGeom>
          <a:noFill/>
          <a:ln/>
        </p:spPr>
        <p:txBody>
          <a:bodyPr wrap="square" lIns="0" tIns="0" rIns="0" bIns="0" rtlCol="0" anchor="ctr"/>
          <a:lstStyle/>
          <a:p>
            <a:pPr>
              <a:lnSpc>
                <a:spcPct val="120000"/>
              </a:lnSpc>
            </a:pPr>
            <a:r>
              <a:rPr lang="en-US" sz="875" dirty="0">
                <a:solidFill>
                  <a:srgbClr val="2D3142"/>
                </a:solidFill>
                <a:latin typeface="MiSans" pitchFamily="34" charset="0"/>
                <a:ea typeface="MiSans" pitchFamily="34" charset="-122"/>
                <a:cs typeface="MiSans" pitchFamily="34" charset="-120"/>
              </a:rPr>
              <a:t>);</a:t>
            </a:r>
            <a:endParaRPr lang="en-US" sz="1600" dirty="0"/>
          </a:p>
        </p:txBody>
      </p:sp>
      <p:sp>
        <p:nvSpPr>
          <p:cNvPr id="29" name="Text 27"/>
          <p:cNvSpPr/>
          <p:nvPr/>
        </p:nvSpPr>
        <p:spPr>
          <a:xfrm>
            <a:off x="734219" y="5347716"/>
            <a:ext cx="4992688" cy="159041"/>
          </a:xfrm>
          <a:prstGeom prst="rect">
            <a:avLst/>
          </a:prstGeom>
          <a:noFill/>
          <a:ln/>
        </p:spPr>
        <p:txBody>
          <a:bodyPr wrap="square" lIns="0" tIns="0" rIns="0" bIns="0" rtlCol="0" anchor="ctr"/>
          <a:lstStyle/>
          <a:p>
            <a:pPr>
              <a:lnSpc>
                <a:spcPct val="120000"/>
              </a:lnSpc>
            </a:pPr>
            <a:r>
              <a:rPr lang="en-US" sz="875" dirty="0">
                <a:solidFill>
                  <a:srgbClr val="E07A5F"/>
                </a:solidFill>
                <a:latin typeface="MiSans" pitchFamily="34" charset="0"/>
                <a:ea typeface="MiSans" pitchFamily="34" charset="-122"/>
                <a:cs typeface="MiSans" pitchFamily="34" charset="-120"/>
              </a:rPr>
              <a:t>}</a:t>
            </a:r>
            <a:endParaRPr lang="en-US" sz="1600" dirty="0"/>
          </a:p>
        </p:txBody>
      </p:sp>
      <p:sp>
        <p:nvSpPr>
          <p:cNvPr id="40" name="Shape 38"/>
          <p:cNvSpPr/>
          <p:nvPr/>
        </p:nvSpPr>
        <p:spPr>
          <a:xfrm>
            <a:off x="6191250" y="3270830"/>
            <a:ext cx="5707063" cy="2229857"/>
          </a:xfrm>
          <a:custGeom>
            <a:avLst/>
            <a:gdLst/>
            <a:ahLst/>
            <a:cxnLst/>
            <a:rect l="l" t="t" r="r" b="b"/>
            <a:pathLst>
              <a:path w="5707063" h="5151438">
                <a:moveTo>
                  <a:pt x="95250" y="0"/>
                </a:moveTo>
                <a:lnTo>
                  <a:pt x="5611812" y="0"/>
                </a:lnTo>
                <a:cubicBezTo>
                  <a:pt x="5664418" y="0"/>
                  <a:pt x="5707063" y="42645"/>
                  <a:pt x="5707063" y="95250"/>
                </a:cubicBezTo>
                <a:lnTo>
                  <a:pt x="5707063" y="5056187"/>
                </a:lnTo>
                <a:cubicBezTo>
                  <a:pt x="5707063" y="5108793"/>
                  <a:pt x="5664418" y="5151438"/>
                  <a:pt x="5611812" y="5151438"/>
                </a:cubicBezTo>
                <a:lnTo>
                  <a:pt x="95250" y="5151438"/>
                </a:lnTo>
                <a:cubicBezTo>
                  <a:pt x="42645" y="5151438"/>
                  <a:pt x="0" y="5108793"/>
                  <a:pt x="0" y="5056187"/>
                </a:cubicBezTo>
                <a:lnTo>
                  <a:pt x="0" y="95250"/>
                </a:lnTo>
                <a:cubicBezTo>
                  <a:pt x="0" y="42645"/>
                  <a:pt x="42645" y="0"/>
                  <a:pt x="95250" y="0"/>
                </a:cubicBezTo>
                <a:close/>
              </a:path>
            </a:pathLst>
          </a:custGeom>
          <a:solidFill>
            <a:srgbClr val="EAE7D6"/>
          </a:solidFill>
          <a:ln/>
        </p:spPr>
        <p:txBody>
          <a:bodyPr/>
          <a:lstStyle/>
          <a:p>
            <a:endParaRPr lang="en-US"/>
          </a:p>
        </p:txBody>
      </p:sp>
      <p:sp>
        <p:nvSpPr>
          <p:cNvPr id="44" name="Shape 42"/>
          <p:cNvSpPr/>
          <p:nvPr/>
        </p:nvSpPr>
        <p:spPr>
          <a:xfrm>
            <a:off x="6353969" y="3942776"/>
            <a:ext cx="5381625" cy="1243282"/>
          </a:xfrm>
          <a:custGeom>
            <a:avLst/>
            <a:gdLst/>
            <a:ahLst/>
            <a:cxnLst/>
            <a:rect l="l" t="t" r="r" b="b"/>
            <a:pathLst>
              <a:path w="5381625" h="4318000">
                <a:moveTo>
                  <a:pt x="63518" y="0"/>
                </a:moveTo>
                <a:lnTo>
                  <a:pt x="5318107" y="0"/>
                </a:lnTo>
                <a:cubicBezTo>
                  <a:pt x="5353187" y="0"/>
                  <a:pt x="5381625" y="28438"/>
                  <a:pt x="5381625" y="63518"/>
                </a:cubicBezTo>
                <a:lnTo>
                  <a:pt x="5381625" y="4254482"/>
                </a:lnTo>
                <a:cubicBezTo>
                  <a:pt x="5381625" y="4289562"/>
                  <a:pt x="5353187" y="4318000"/>
                  <a:pt x="5318107" y="4318000"/>
                </a:cubicBezTo>
                <a:lnTo>
                  <a:pt x="63518" y="4318000"/>
                </a:lnTo>
                <a:cubicBezTo>
                  <a:pt x="28438" y="4318000"/>
                  <a:pt x="0" y="4289562"/>
                  <a:pt x="0" y="4254482"/>
                </a:cubicBezTo>
                <a:lnTo>
                  <a:pt x="0" y="63518"/>
                </a:lnTo>
                <a:cubicBezTo>
                  <a:pt x="0" y="28461"/>
                  <a:pt x="28461" y="0"/>
                  <a:pt x="63518" y="0"/>
                </a:cubicBezTo>
                <a:close/>
              </a:path>
            </a:pathLst>
          </a:custGeom>
          <a:solidFill>
            <a:srgbClr val="EAE7D6"/>
          </a:solidFill>
          <a:ln/>
        </p:spPr>
        <p:txBody>
          <a:bodyPr/>
          <a:lstStyle/>
          <a:p>
            <a:endParaRPr lang="en-US"/>
          </a:p>
        </p:txBody>
      </p:sp>
      <p:sp>
        <p:nvSpPr>
          <p:cNvPr id="47" name="Shape 45"/>
          <p:cNvSpPr/>
          <p:nvPr/>
        </p:nvSpPr>
        <p:spPr>
          <a:xfrm>
            <a:off x="6496844" y="4586891"/>
            <a:ext cx="31750" cy="540738"/>
          </a:xfrm>
          <a:custGeom>
            <a:avLst/>
            <a:gdLst/>
            <a:ahLst/>
            <a:cxnLst/>
            <a:rect l="l" t="t" r="r" b="b"/>
            <a:pathLst>
              <a:path w="31750" h="539750">
                <a:moveTo>
                  <a:pt x="31750" y="0"/>
                </a:moveTo>
                <a:lnTo>
                  <a:pt x="31750" y="0"/>
                </a:lnTo>
                <a:lnTo>
                  <a:pt x="31750" y="539750"/>
                </a:lnTo>
                <a:lnTo>
                  <a:pt x="31750" y="539750"/>
                </a:lnTo>
                <a:cubicBezTo>
                  <a:pt x="14227" y="539750"/>
                  <a:pt x="0" y="525523"/>
                  <a:pt x="0" y="508000"/>
                </a:cubicBezTo>
                <a:lnTo>
                  <a:pt x="0" y="31750"/>
                </a:lnTo>
                <a:cubicBezTo>
                  <a:pt x="0" y="14227"/>
                  <a:pt x="14227" y="0"/>
                  <a:pt x="31750" y="0"/>
                </a:cubicBezTo>
                <a:close/>
              </a:path>
            </a:pathLst>
          </a:custGeom>
          <a:solidFill>
            <a:srgbClr val="E07A5F"/>
          </a:solidFill>
          <a:ln/>
        </p:spPr>
        <p:txBody>
          <a:bodyPr/>
          <a:lstStyle/>
          <a:p>
            <a:endParaRPr lang="en-US"/>
          </a:p>
        </p:txBody>
      </p:sp>
      <p:sp>
        <p:nvSpPr>
          <p:cNvPr id="48" name="Text 46"/>
          <p:cNvSpPr/>
          <p:nvPr/>
        </p:nvSpPr>
        <p:spPr>
          <a:xfrm>
            <a:off x="6607969" y="4682315"/>
            <a:ext cx="4968875" cy="190849"/>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Why?</a:t>
            </a:r>
            <a:endParaRPr lang="en-US" sz="1600" dirty="0"/>
          </a:p>
        </p:txBody>
      </p:sp>
      <p:sp>
        <p:nvSpPr>
          <p:cNvPr id="49" name="Text 47"/>
          <p:cNvSpPr/>
          <p:nvPr/>
        </p:nvSpPr>
        <p:spPr>
          <a:xfrm>
            <a:off x="6607969" y="4873164"/>
            <a:ext cx="4960938" cy="159041"/>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Error propagation, auto-cleanup, production-safe</a:t>
            </a:r>
            <a:endParaRPr lang="en-US" sz="1600" dirty="0"/>
          </a:p>
        </p:txBody>
      </p:sp>
      <p:sp>
        <p:nvSpPr>
          <p:cNvPr id="51" name="Shape 49"/>
          <p:cNvSpPr/>
          <p:nvPr/>
        </p:nvSpPr>
        <p:spPr>
          <a:xfrm>
            <a:off x="511968" y="3433846"/>
            <a:ext cx="381000" cy="381698"/>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53" name="Text 51"/>
          <p:cNvSpPr/>
          <p:nvPr/>
        </p:nvSpPr>
        <p:spPr>
          <a:xfrm>
            <a:off x="988219" y="3513366"/>
            <a:ext cx="1111250" cy="222657"/>
          </a:xfrm>
          <a:prstGeom prst="rect">
            <a:avLst/>
          </a:prstGeom>
          <a:noFill/>
          <a:ln/>
        </p:spPr>
        <p:txBody>
          <a:bodyPr wrap="square" lIns="0" tIns="0" rIns="0" bIns="0" rtlCol="0" anchor="ctr"/>
          <a:lstStyle/>
          <a:p>
            <a:pPr>
              <a:lnSpc>
                <a:spcPct val="120000"/>
              </a:lnSpc>
            </a:pPr>
            <a:r>
              <a:rPr lang="en-US" sz="1250" b="1" dirty="0">
                <a:solidFill>
                  <a:srgbClr val="2D3142"/>
                </a:solidFill>
                <a:latin typeface="Quattrocento Sans" pitchFamily="34" charset="0"/>
                <a:ea typeface="Quattrocento Sans" pitchFamily="34" charset="-122"/>
                <a:cs typeface="Quattrocento Sans" pitchFamily="34" charset="-120"/>
              </a:rPr>
              <a:t>Know Internals</a:t>
            </a:r>
            <a:endParaRPr lang="en-US" sz="1600" dirty="0"/>
          </a:p>
        </p:txBody>
      </p:sp>
      <p:sp>
        <p:nvSpPr>
          <p:cNvPr id="54" name="Shape 52"/>
          <p:cNvSpPr/>
          <p:nvPr/>
        </p:nvSpPr>
        <p:spPr>
          <a:xfrm>
            <a:off x="511968" y="4021115"/>
            <a:ext cx="3659187" cy="598111"/>
          </a:xfrm>
          <a:custGeom>
            <a:avLst/>
            <a:gdLst/>
            <a:ahLst/>
            <a:cxnLst/>
            <a:rect l="l" t="t" r="r" b="b"/>
            <a:pathLst>
              <a:path w="3659187" h="825500">
                <a:moveTo>
                  <a:pt x="63497" y="0"/>
                </a:moveTo>
                <a:lnTo>
                  <a:pt x="3595690" y="0"/>
                </a:lnTo>
                <a:cubicBezTo>
                  <a:pt x="3630759" y="0"/>
                  <a:pt x="3659187" y="28429"/>
                  <a:pt x="3659187" y="63497"/>
                </a:cubicBezTo>
                <a:lnTo>
                  <a:pt x="3659187" y="762003"/>
                </a:lnTo>
                <a:cubicBezTo>
                  <a:pt x="3659187" y="797071"/>
                  <a:pt x="3630759" y="825500"/>
                  <a:pt x="3595690" y="825500"/>
                </a:cubicBezTo>
                <a:lnTo>
                  <a:pt x="63497" y="825500"/>
                </a:lnTo>
                <a:cubicBezTo>
                  <a:pt x="28429" y="825500"/>
                  <a:pt x="0" y="797071"/>
                  <a:pt x="0" y="762003"/>
                </a:cubicBezTo>
                <a:lnTo>
                  <a:pt x="0" y="63497"/>
                </a:lnTo>
                <a:cubicBezTo>
                  <a:pt x="0" y="28452"/>
                  <a:pt x="28452" y="0"/>
                  <a:pt x="63497" y="0"/>
                </a:cubicBezTo>
                <a:close/>
              </a:path>
            </a:pathLst>
          </a:custGeom>
          <a:solidFill>
            <a:srgbClr val="EAE7D6"/>
          </a:solidFill>
          <a:ln/>
        </p:spPr>
        <p:txBody>
          <a:bodyPr/>
          <a:lstStyle/>
          <a:p>
            <a:endParaRPr lang="en-US"/>
          </a:p>
        </p:txBody>
      </p:sp>
      <p:sp>
        <p:nvSpPr>
          <p:cNvPr id="55" name="Text 53"/>
          <p:cNvSpPr/>
          <p:nvPr/>
        </p:nvSpPr>
        <p:spPr>
          <a:xfrm>
            <a:off x="638969" y="3950727"/>
            <a:ext cx="3468688" cy="190849"/>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Buffer Management</a:t>
            </a:r>
            <a:endParaRPr lang="en-US" sz="1600" dirty="0"/>
          </a:p>
        </p:txBody>
      </p:sp>
      <p:sp>
        <p:nvSpPr>
          <p:cNvPr id="56" name="Text 54"/>
          <p:cNvSpPr/>
          <p:nvPr/>
        </p:nvSpPr>
        <p:spPr>
          <a:xfrm>
            <a:off x="646907" y="4233026"/>
            <a:ext cx="3460750" cy="318081"/>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Understand how internal buffers work and how highWaterMark affects them</a:t>
            </a:r>
            <a:endParaRPr lang="en-US" sz="1600" dirty="0"/>
          </a:p>
        </p:txBody>
      </p:sp>
      <p:sp>
        <p:nvSpPr>
          <p:cNvPr id="58" name="Text 56"/>
          <p:cNvSpPr/>
          <p:nvPr/>
        </p:nvSpPr>
        <p:spPr>
          <a:xfrm>
            <a:off x="4438055" y="3947864"/>
            <a:ext cx="3468688" cy="190849"/>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Event Lifecycle</a:t>
            </a:r>
            <a:endParaRPr lang="en-US" sz="1600" dirty="0"/>
          </a:p>
        </p:txBody>
      </p:sp>
      <p:sp>
        <p:nvSpPr>
          <p:cNvPr id="59" name="Text 57"/>
          <p:cNvSpPr/>
          <p:nvPr/>
        </p:nvSpPr>
        <p:spPr>
          <a:xfrm>
            <a:off x="4422489" y="4256402"/>
            <a:ext cx="3460750" cy="159041"/>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Know the order of events: data → end → close, and error handling</a:t>
            </a:r>
            <a:endParaRPr lang="en-US" sz="1600" dirty="0"/>
          </a:p>
        </p:txBody>
      </p:sp>
      <p:sp>
        <p:nvSpPr>
          <p:cNvPr id="61" name="Text 59"/>
          <p:cNvSpPr/>
          <p:nvPr/>
        </p:nvSpPr>
        <p:spPr>
          <a:xfrm>
            <a:off x="8188524" y="3955181"/>
            <a:ext cx="3468688" cy="190849"/>
          </a:xfrm>
          <a:prstGeom prst="rect">
            <a:avLst/>
          </a:prstGeom>
          <a:noFill/>
          <a:ln/>
        </p:spPr>
        <p:txBody>
          <a:bodyPr wrap="square" lIns="0" tIns="0" rIns="0" bIns="0" rtlCol="0" anchor="ctr"/>
          <a:lstStyle/>
          <a:p>
            <a:pPr>
              <a:lnSpc>
                <a:spcPct val="130000"/>
              </a:lnSpc>
            </a:pPr>
            <a:r>
              <a:rPr lang="en-US" sz="1000" b="1" dirty="0">
                <a:solidFill>
                  <a:srgbClr val="2D3142"/>
                </a:solidFill>
                <a:latin typeface="Quattrocento Sans" pitchFamily="34" charset="0"/>
                <a:ea typeface="Quattrocento Sans" pitchFamily="34" charset="-122"/>
                <a:cs typeface="Quattrocento Sans" pitchFamily="34" charset="-120"/>
              </a:rPr>
              <a:t>Inheritance Chain</a:t>
            </a:r>
            <a:endParaRPr lang="en-US" sz="1600" dirty="0"/>
          </a:p>
        </p:txBody>
      </p:sp>
      <p:sp>
        <p:nvSpPr>
          <p:cNvPr id="62" name="Text 60"/>
          <p:cNvSpPr/>
          <p:nvPr/>
        </p:nvSpPr>
        <p:spPr>
          <a:xfrm>
            <a:off x="8167315" y="4255928"/>
            <a:ext cx="3460750" cy="159041"/>
          </a:xfrm>
          <a:prstGeom prst="rect">
            <a:avLst/>
          </a:prstGeom>
          <a:noFill/>
          <a:ln/>
        </p:spPr>
        <p:txBody>
          <a:bodyPr wrap="square" lIns="0" tIns="0" rIns="0" bIns="0" rtlCol="0" anchor="ctr"/>
          <a:lstStyle/>
          <a:p>
            <a:pPr>
              <a:lnSpc>
                <a:spcPct val="120000"/>
              </a:lnSpc>
            </a:pPr>
            <a:r>
              <a:rPr lang="en-US" sz="875" dirty="0">
                <a:solidFill>
                  <a:srgbClr val="8D99AE"/>
                </a:solidFill>
                <a:latin typeface="Quattrocento Sans" pitchFamily="34" charset="0"/>
                <a:ea typeface="Quattrocento Sans" pitchFamily="34" charset="-122"/>
                <a:cs typeface="Quattrocento Sans" pitchFamily="34" charset="-120"/>
              </a:rPr>
              <a:t>All streams extend EventEmitter → understand the class hierarchy</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D3142"/>
        </a:solidFill>
        <a:effectLst/>
      </p:bgPr>
    </p:bg>
    <p:spTree>
      <p:nvGrpSpPr>
        <p:cNvPr id="1" name=""/>
        <p:cNvGrpSpPr/>
        <p:nvPr/>
      </p:nvGrpSpPr>
      <p:grpSpPr>
        <a:xfrm>
          <a:off x="0" y="0"/>
          <a:ext cx="0" cy="0"/>
          <a:chOff x="0" y="0"/>
          <a:chExt cx="0" cy="0"/>
        </a:xfrm>
      </p:grpSpPr>
      <p:pic>
        <p:nvPicPr>
          <p:cNvPr id="2" name="Image 0" descr="https://kimi-web-img.moonshot.cn/img/img.freepik.com/3e4fc411b7c50a8ffd6949b3c8c7a17c22eebe79.jpg"/>
          <p:cNvPicPr>
            <a:picLocks noChangeAspect="1"/>
          </p:cNvPicPr>
          <p:nvPr/>
        </p:nvPicPr>
        <p:blipFill>
          <a:blip r:embed="rId3">
            <a:alphaModFix amt="20000"/>
          </a:blip>
          <a:srcRect l="169" r="169"/>
          <a:stretch/>
        </p:blipFill>
        <p:spPr>
          <a:xfrm>
            <a:off x="0" y="0"/>
            <a:ext cx="12192000" cy="6856840"/>
          </a:xfrm>
          <a:prstGeom prst="roundRect">
            <a:avLst>
              <a:gd name="adj" fmla="val 0"/>
            </a:avLst>
          </a:prstGeom>
        </p:spPr>
      </p:pic>
      <p:sp>
        <p:nvSpPr>
          <p:cNvPr id="3" name="Shape 0"/>
          <p:cNvSpPr/>
          <p:nvPr/>
        </p:nvSpPr>
        <p:spPr>
          <a:xfrm>
            <a:off x="0" y="0"/>
            <a:ext cx="12192000" cy="6856840"/>
          </a:xfrm>
          <a:custGeom>
            <a:avLst/>
            <a:gdLst/>
            <a:ahLst/>
            <a:cxnLst/>
            <a:rect l="l" t="t" r="r" b="b"/>
            <a:pathLst>
              <a:path w="12192000" h="6856840">
                <a:moveTo>
                  <a:pt x="0" y="0"/>
                </a:moveTo>
                <a:lnTo>
                  <a:pt x="12192000" y="0"/>
                </a:lnTo>
                <a:lnTo>
                  <a:pt x="12192000" y="6856840"/>
                </a:lnTo>
                <a:lnTo>
                  <a:pt x="0" y="6856840"/>
                </a:lnTo>
                <a:lnTo>
                  <a:pt x="0" y="0"/>
                </a:lnTo>
                <a:close/>
              </a:path>
            </a:pathLst>
          </a:custGeom>
          <a:gradFill flip="none" rotWithShape="1">
            <a:gsLst>
              <a:gs pos="0">
                <a:srgbClr val="2D3142">
                  <a:alpha val="95000"/>
                </a:srgbClr>
              </a:gs>
              <a:gs pos="50000">
                <a:srgbClr val="2D3142">
                  <a:alpha val="90000"/>
                </a:srgbClr>
              </a:gs>
              <a:gs pos="100000">
                <a:srgbClr val="E07A5F">
                  <a:alpha val="20000"/>
                </a:srgbClr>
              </a:gs>
            </a:gsLst>
            <a:lin ang="2700000" scaled="1"/>
          </a:gradFill>
          <a:ln/>
        </p:spPr>
        <p:txBody>
          <a:bodyPr/>
          <a:lstStyle/>
          <a:p>
            <a:endParaRPr lang="en-US"/>
          </a:p>
        </p:txBody>
      </p:sp>
      <p:sp>
        <p:nvSpPr>
          <p:cNvPr id="4" name="Shape 1"/>
          <p:cNvSpPr/>
          <p:nvPr/>
        </p:nvSpPr>
        <p:spPr>
          <a:xfrm>
            <a:off x="5053034" y="375781"/>
            <a:ext cx="2087671" cy="491763"/>
          </a:xfrm>
          <a:custGeom>
            <a:avLst/>
            <a:gdLst/>
            <a:ahLst/>
            <a:cxnLst/>
            <a:rect l="l" t="t" r="r" b="b"/>
            <a:pathLst>
              <a:path w="2087671" h="491763">
                <a:moveTo>
                  <a:pt x="245881" y="0"/>
                </a:moveTo>
                <a:lnTo>
                  <a:pt x="1841790" y="0"/>
                </a:lnTo>
                <a:cubicBezTo>
                  <a:pt x="1977586" y="0"/>
                  <a:pt x="2087671" y="110085"/>
                  <a:pt x="2087671" y="245881"/>
                </a:cubicBezTo>
                <a:lnTo>
                  <a:pt x="2087671" y="245881"/>
                </a:lnTo>
                <a:cubicBezTo>
                  <a:pt x="2087671" y="381678"/>
                  <a:pt x="1977586" y="491763"/>
                  <a:pt x="1841790" y="491763"/>
                </a:cubicBezTo>
                <a:lnTo>
                  <a:pt x="245881" y="491763"/>
                </a:lnTo>
                <a:cubicBezTo>
                  <a:pt x="110176" y="491763"/>
                  <a:pt x="0" y="381587"/>
                  <a:pt x="0" y="245881"/>
                </a:cubicBezTo>
                <a:lnTo>
                  <a:pt x="0" y="245881"/>
                </a:lnTo>
                <a:cubicBezTo>
                  <a:pt x="0" y="110176"/>
                  <a:pt x="110176" y="0"/>
                  <a:pt x="245881" y="0"/>
                </a:cubicBezTo>
                <a:close/>
              </a:path>
            </a:pathLst>
          </a:custGeom>
          <a:solidFill>
            <a:srgbClr val="8D99AE">
              <a:alpha val="20000"/>
            </a:srgbClr>
          </a:solidFill>
          <a:ln w="12700">
            <a:solidFill>
              <a:srgbClr val="8D99AE">
                <a:alpha val="40000"/>
              </a:srgbClr>
            </a:solidFill>
            <a:prstDash val="solid"/>
          </a:ln>
        </p:spPr>
        <p:txBody>
          <a:bodyPr/>
          <a:lstStyle/>
          <a:p>
            <a:endParaRPr lang="en-US"/>
          </a:p>
        </p:txBody>
      </p:sp>
      <p:sp>
        <p:nvSpPr>
          <p:cNvPr id="5" name="Shape 2"/>
          <p:cNvSpPr/>
          <p:nvPr/>
        </p:nvSpPr>
        <p:spPr>
          <a:xfrm>
            <a:off x="5308194" y="510320"/>
            <a:ext cx="222685" cy="222685"/>
          </a:xfrm>
          <a:custGeom>
            <a:avLst/>
            <a:gdLst/>
            <a:ahLst/>
            <a:cxnLst/>
            <a:rect l="l" t="t" r="r" b="b"/>
            <a:pathLst>
              <a:path w="222685" h="222685">
                <a:moveTo>
                  <a:pt x="62761" y="0"/>
                </a:moveTo>
                <a:lnTo>
                  <a:pt x="160185" y="0"/>
                </a:lnTo>
                <a:cubicBezTo>
                  <a:pt x="171711" y="0"/>
                  <a:pt x="181105" y="9482"/>
                  <a:pt x="180671" y="20964"/>
                </a:cubicBezTo>
                <a:cubicBezTo>
                  <a:pt x="180584" y="23269"/>
                  <a:pt x="180497" y="25574"/>
                  <a:pt x="180366" y="27836"/>
                </a:cubicBezTo>
                <a:lnTo>
                  <a:pt x="201939" y="27836"/>
                </a:lnTo>
                <a:cubicBezTo>
                  <a:pt x="213290" y="27836"/>
                  <a:pt x="223294" y="37230"/>
                  <a:pt x="222424" y="49495"/>
                </a:cubicBezTo>
                <a:cubicBezTo>
                  <a:pt x="219162" y="94598"/>
                  <a:pt x="196111" y="119389"/>
                  <a:pt x="171102" y="132350"/>
                </a:cubicBezTo>
                <a:cubicBezTo>
                  <a:pt x="164230" y="135916"/>
                  <a:pt x="157228" y="138569"/>
                  <a:pt x="150573" y="140526"/>
                </a:cubicBezTo>
                <a:cubicBezTo>
                  <a:pt x="141788" y="152965"/>
                  <a:pt x="132654" y="159533"/>
                  <a:pt x="125391" y="163056"/>
                </a:cubicBezTo>
                <a:lnTo>
                  <a:pt x="125391" y="194849"/>
                </a:lnTo>
                <a:lnTo>
                  <a:pt x="153226" y="194849"/>
                </a:lnTo>
                <a:cubicBezTo>
                  <a:pt x="160925" y="194849"/>
                  <a:pt x="167144" y="201069"/>
                  <a:pt x="167144" y="208767"/>
                </a:cubicBezTo>
                <a:cubicBezTo>
                  <a:pt x="167144" y="216465"/>
                  <a:pt x="160925" y="222685"/>
                  <a:pt x="153226" y="222685"/>
                </a:cubicBezTo>
                <a:lnTo>
                  <a:pt x="69720" y="222685"/>
                </a:lnTo>
                <a:cubicBezTo>
                  <a:pt x="62021" y="222685"/>
                  <a:pt x="55802" y="216465"/>
                  <a:pt x="55802" y="208767"/>
                </a:cubicBezTo>
                <a:cubicBezTo>
                  <a:pt x="55802" y="201069"/>
                  <a:pt x="62021" y="194849"/>
                  <a:pt x="69720" y="194849"/>
                </a:cubicBezTo>
                <a:lnTo>
                  <a:pt x="97555" y="194849"/>
                </a:lnTo>
                <a:lnTo>
                  <a:pt x="97555" y="163056"/>
                </a:lnTo>
                <a:cubicBezTo>
                  <a:pt x="90596" y="159707"/>
                  <a:pt x="81941" y="153487"/>
                  <a:pt x="73503" y="142049"/>
                </a:cubicBezTo>
                <a:cubicBezTo>
                  <a:pt x="65501" y="139961"/>
                  <a:pt x="56802" y="136786"/>
                  <a:pt x="48321" y="132002"/>
                </a:cubicBezTo>
                <a:cubicBezTo>
                  <a:pt x="24791" y="118823"/>
                  <a:pt x="3566" y="93989"/>
                  <a:pt x="522" y="49408"/>
                </a:cubicBezTo>
                <a:cubicBezTo>
                  <a:pt x="-304" y="37187"/>
                  <a:pt x="9655" y="27792"/>
                  <a:pt x="21007" y="27792"/>
                </a:cubicBezTo>
                <a:lnTo>
                  <a:pt x="42580" y="27792"/>
                </a:lnTo>
                <a:cubicBezTo>
                  <a:pt x="42449" y="25530"/>
                  <a:pt x="42362" y="23269"/>
                  <a:pt x="42275" y="20920"/>
                </a:cubicBezTo>
                <a:cubicBezTo>
                  <a:pt x="41840" y="9395"/>
                  <a:pt x="51235" y="-43"/>
                  <a:pt x="62761" y="-43"/>
                </a:cubicBezTo>
                <a:close/>
                <a:moveTo>
                  <a:pt x="44146" y="48712"/>
                </a:moveTo>
                <a:lnTo>
                  <a:pt x="21355" y="48712"/>
                </a:lnTo>
                <a:cubicBezTo>
                  <a:pt x="24052" y="85551"/>
                  <a:pt x="40971" y="103992"/>
                  <a:pt x="58411" y="113778"/>
                </a:cubicBezTo>
                <a:cubicBezTo>
                  <a:pt x="52148" y="97555"/>
                  <a:pt x="46973" y="76374"/>
                  <a:pt x="44146" y="48712"/>
                </a:cubicBezTo>
                <a:close/>
                <a:moveTo>
                  <a:pt x="165274" y="111690"/>
                </a:moveTo>
                <a:cubicBezTo>
                  <a:pt x="182889" y="101339"/>
                  <a:pt x="198807" y="82941"/>
                  <a:pt x="201504" y="48712"/>
                </a:cubicBezTo>
                <a:lnTo>
                  <a:pt x="178757" y="48712"/>
                </a:lnTo>
                <a:cubicBezTo>
                  <a:pt x="176060" y="75200"/>
                  <a:pt x="171189" y="95772"/>
                  <a:pt x="165274" y="111690"/>
                </a:cubicBezTo>
                <a:close/>
              </a:path>
            </a:pathLst>
          </a:custGeom>
          <a:solidFill>
            <a:srgbClr val="8D99AE"/>
          </a:solidFill>
          <a:ln/>
        </p:spPr>
        <p:txBody>
          <a:bodyPr/>
          <a:lstStyle/>
          <a:p>
            <a:endParaRPr lang="en-US"/>
          </a:p>
        </p:txBody>
      </p:sp>
      <p:sp>
        <p:nvSpPr>
          <p:cNvPr id="6" name="Text 3"/>
          <p:cNvSpPr/>
          <p:nvPr/>
        </p:nvSpPr>
        <p:spPr>
          <a:xfrm>
            <a:off x="5623664" y="491763"/>
            <a:ext cx="1336110" cy="259799"/>
          </a:xfrm>
          <a:prstGeom prst="rect">
            <a:avLst/>
          </a:prstGeom>
          <a:noFill/>
          <a:ln/>
        </p:spPr>
        <p:txBody>
          <a:bodyPr wrap="square" lIns="0" tIns="0" rIns="0" bIns="0" rtlCol="0" anchor="ctr"/>
          <a:lstStyle/>
          <a:p>
            <a:pPr algn="ctr">
              <a:lnSpc>
                <a:spcPct val="120000"/>
              </a:lnSpc>
            </a:pPr>
            <a:r>
              <a:rPr lang="en-US" sz="1461" b="1" dirty="0">
                <a:solidFill>
                  <a:srgbClr val="8D99AE"/>
                </a:solidFill>
                <a:latin typeface="Quattrocento Sans" pitchFamily="34" charset="0"/>
                <a:ea typeface="Quattrocento Sans" pitchFamily="34" charset="-122"/>
                <a:cs typeface="Quattrocento Sans" pitchFamily="34" charset="-120"/>
              </a:rPr>
              <a:t>Key Takeaways</a:t>
            </a:r>
            <a:endParaRPr lang="en-US" sz="1600" dirty="0"/>
          </a:p>
        </p:txBody>
      </p:sp>
      <p:sp>
        <p:nvSpPr>
          <p:cNvPr id="7" name="Text 4"/>
          <p:cNvSpPr/>
          <p:nvPr/>
        </p:nvSpPr>
        <p:spPr>
          <a:xfrm>
            <a:off x="231963" y="1094868"/>
            <a:ext cx="11728073" cy="556712"/>
          </a:xfrm>
          <a:prstGeom prst="rect">
            <a:avLst/>
          </a:prstGeom>
          <a:noFill/>
          <a:ln/>
        </p:spPr>
        <p:txBody>
          <a:bodyPr wrap="square" lIns="0" tIns="0" rIns="0" bIns="0" rtlCol="0" anchor="ctr"/>
          <a:lstStyle/>
          <a:p>
            <a:pPr algn="ctr">
              <a:lnSpc>
                <a:spcPct val="80000"/>
              </a:lnSpc>
            </a:pPr>
            <a:r>
              <a:rPr lang="en-US" sz="4384" b="1" dirty="0">
                <a:solidFill>
                  <a:srgbClr val="F4F1DE"/>
                </a:solidFill>
                <a:latin typeface="Liter" pitchFamily="34" charset="0"/>
                <a:ea typeface="Liter" pitchFamily="34" charset="-122"/>
                <a:cs typeface="Liter" pitchFamily="34" charset="-120"/>
              </a:rPr>
              <a:t>Streams Enable</a:t>
            </a:r>
            <a:endParaRPr lang="en-US" sz="1600" dirty="0"/>
          </a:p>
        </p:txBody>
      </p:sp>
      <p:sp>
        <p:nvSpPr>
          <p:cNvPr id="8" name="Shape 5"/>
          <p:cNvSpPr/>
          <p:nvPr/>
        </p:nvSpPr>
        <p:spPr>
          <a:xfrm>
            <a:off x="5204173" y="1800037"/>
            <a:ext cx="1781479" cy="37114"/>
          </a:xfrm>
          <a:custGeom>
            <a:avLst/>
            <a:gdLst/>
            <a:ahLst/>
            <a:cxnLst/>
            <a:rect l="l" t="t" r="r" b="b"/>
            <a:pathLst>
              <a:path w="1781479" h="37114">
                <a:moveTo>
                  <a:pt x="0" y="0"/>
                </a:moveTo>
                <a:lnTo>
                  <a:pt x="1781479" y="0"/>
                </a:lnTo>
                <a:lnTo>
                  <a:pt x="1781479" y="37114"/>
                </a:lnTo>
                <a:lnTo>
                  <a:pt x="0" y="37114"/>
                </a:lnTo>
                <a:lnTo>
                  <a:pt x="0" y="0"/>
                </a:lnTo>
                <a:close/>
              </a:path>
            </a:pathLst>
          </a:custGeom>
          <a:gradFill flip="none" rotWithShape="1">
            <a:gsLst>
              <a:gs pos="0">
                <a:srgbClr val="E07A5F"/>
              </a:gs>
              <a:gs pos="100000">
                <a:srgbClr val="8D99AE"/>
              </a:gs>
            </a:gsLst>
            <a:lin ang="0" scaled="1"/>
          </a:gradFill>
          <a:ln/>
        </p:spPr>
        <p:txBody>
          <a:bodyPr/>
          <a:lstStyle/>
          <a:p>
            <a:endParaRPr lang="en-US"/>
          </a:p>
        </p:txBody>
      </p:sp>
      <p:sp>
        <p:nvSpPr>
          <p:cNvPr id="9" name="Shape 6"/>
          <p:cNvSpPr/>
          <p:nvPr/>
        </p:nvSpPr>
        <p:spPr>
          <a:xfrm>
            <a:off x="375781" y="2212932"/>
            <a:ext cx="2709333" cy="2013443"/>
          </a:xfrm>
          <a:custGeom>
            <a:avLst/>
            <a:gdLst/>
            <a:ahLst/>
            <a:cxnLst/>
            <a:rect l="l" t="t" r="r" b="b"/>
            <a:pathLst>
              <a:path w="2709333" h="2013443">
                <a:moveTo>
                  <a:pt x="111343" y="0"/>
                </a:moveTo>
                <a:lnTo>
                  <a:pt x="2597990" y="0"/>
                </a:lnTo>
                <a:cubicBezTo>
                  <a:pt x="2659483" y="0"/>
                  <a:pt x="2709333" y="49850"/>
                  <a:pt x="2709333" y="111343"/>
                </a:cubicBezTo>
                <a:lnTo>
                  <a:pt x="2709333" y="1902100"/>
                </a:lnTo>
                <a:cubicBezTo>
                  <a:pt x="2709333" y="1963593"/>
                  <a:pt x="2659483" y="2013443"/>
                  <a:pt x="2597990" y="2013443"/>
                </a:cubicBezTo>
                <a:lnTo>
                  <a:pt x="111343" y="2013443"/>
                </a:lnTo>
                <a:cubicBezTo>
                  <a:pt x="49850" y="2013443"/>
                  <a:pt x="0" y="1963593"/>
                  <a:pt x="0" y="1902100"/>
                </a:cubicBezTo>
                <a:lnTo>
                  <a:pt x="0" y="111343"/>
                </a:lnTo>
                <a:cubicBezTo>
                  <a:pt x="0" y="49850"/>
                  <a:pt x="49850" y="0"/>
                  <a:pt x="111343" y="0"/>
                </a:cubicBezTo>
                <a:close/>
              </a:path>
            </a:pathLst>
          </a:custGeom>
          <a:gradFill flip="none" rotWithShape="1">
            <a:gsLst>
              <a:gs pos="0">
                <a:srgbClr val="E07A5F">
                  <a:alpha val="20000"/>
                </a:srgbClr>
              </a:gs>
              <a:gs pos="100000">
                <a:srgbClr val="E07A5F">
                  <a:alpha val="5000"/>
                </a:srgbClr>
              </a:gs>
            </a:gsLst>
            <a:lin ang="2700000" scaled="1"/>
          </a:gradFill>
          <a:ln w="12700">
            <a:solidFill>
              <a:srgbClr val="E07A5F">
                <a:alpha val="40000"/>
              </a:srgbClr>
            </a:solidFill>
            <a:prstDash val="solid"/>
          </a:ln>
        </p:spPr>
        <p:txBody>
          <a:bodyPr/>
          <a:lstStyle/>
          <a:p>
            <a:endParaRPr lang="en-US"/>
          </a:p>
        </p:txBody>
      </p:sp>
      <p:sp>
        <p:nvSpPr>
          <p:cNvPr id="10" name="Shape 7"/>
          <p:cNvSpPr/>
          <p:nvPr/>
        </p:nvSpPr>
        <p:spPr>
          <a:xfrm>
            <a:off x="1435564" y="2440256"/>
            <a:ext cx="593826" cy="593826"/>
          </a:xfrm>
          <a:custGeom>
            <a:avLst/>
            <a:gdLst/>
            <a:ahLst/>
            <a:cxnLst/>
            <a:rect l="l" t="t" r="r" b="b"/>
            <a:pathLst>
              <a:path w="593826" h="593826">
                <a:moveTo>
                  <a:pt x="296913" y="0"/>
                </a:moveTo>
                <a:lnTo>
                  <a:pt x="296913" y="0"/>
                </a:lnTo>
                <a:cubicBezTo>
                  <a:pt x="460784" y="0"/>
                  <a:pt x="593826" y="133042"/>
                  <a:pt x="593826" y="296913"/>
                </a:cubicBezTo>
                <a:lnTo>
                  <a:pt x="593826" y="296913"/>
                </a:lnTo>
                <a:cubicBezTo>
                  <a:pt x="593826" y="460784"/>
                  <a:pt x="460784" y="593826"/>
                  <a:pt x="296913" y="593826"/>
                </a:cubicBezTo>
                <a:lnTo>
                  <a:pt x="296913" y="593826"/>
                </a:lnTo>
                <a:cubicBezTo>
                  <a:pt x="133042" y="593826"/>
                  <a:pt x="0" y="460784"/>
                  <a:pt x="0" y="296913"/>
                </a:cubicBezTo>
                <a:lnTo>
                  <a:pt x="0" y="296913"/>
                </a:lnTo>
                <a:cubicBezTo>
                  <a:pt x="0" y="133042"/>
                  <a:pt x="133042" y="0"/>
                  <a:pt x="296913" y="0"/>
                </a:cubicBezTo>
                <a:close/>
              </a:path>
            </a:pathLst>
          </a:custGeom>
          <a:solidFill>
            <a:srgbClr val="E07A5F">
              <a:alpha val="30196"/>
            </a:srgbClr>
          </a:solidFill>
          <a:ln/>
        </p:spPr>
        <p:txBody>
          <a:bodyPr/>
          <a:lstStyle/>
          <a:p>
            <a:endParaRPr lang="en-US"/>
          </a:p>
        </p:txBody>
      </p:sp>
      <p:sp>
        <p:nvSpPr>
          <p:cNvPr id="11" name="Shape 8"/>
          <p:cNvSpPr/>
          <p:nvPr/>
        </p:nvSpPr>
        <p:spPr>
          <a:xfrm>
            <a:off x="1595619" y="2597991"/>
            <a:ext cx="278356" cy="278356"/>
          </a:xfrm>
          <a:custGeom>
            <a:avLst/>
            <a:gdLst/>
            <a:ahLst/>
            <a:cxnLst/>
            <a:rect l="l" t="t" r="r" b="b"/>
            <a:pathLst>
              <a:path w="278356" h="278356">
                <a:moveTo>
                  <a:pt x="34795" y="34795"/>
                </a:moveTo>
                <a:cubicBezTo>
                  <a:pt x="15603" y="34795"/>
                  <a:pt x="0" y="50398"/>
                  <a:pt x="0" y="69589"/>
                </a:cubicBezTo>
                <a:lnTo>
                  <a:pt x="0" y="73612"/>
                </a:lnTo>
                <a:cubicBezTo>
                  <a:pt x="0" y="77309"/>
                  <a:pt x="2392" y="80462"/>
                  <a:pt x="5491" y="82474"/>
                </a:cubicBezTo>
                <a:cubicBezTo>
                  <a:pt x="12667" y="87149"/>
                  <a:pt x="17397" y="95196"/>
                  <a:pt x="17397" y="104384"/>
                </a:cubicBezTo>
                <a:cubicBezTo>
                  <a:pt x="17397" y="113571"/>
                  <a:pt x="12667" y="121618"/>
                  <a:pt x="5491" y="126293"/>
                </a:cubicBezTo>
                <a:cubicBezTo>
                  <a:pt x="2392" y="128305"/>
                  <a:pt x="0" y="131458"/>
                  <a:pt x="0" y="135155"/>
                </a:cubicBezTo>
                <a:lnTo>
                  <a:pt x="0" y="165274"/>
                </a:lnTo>
                <a:lnTo>
                  <a:pt x="278356" y="165274"/>
                </a:lnTo>
                <a:lnTo>
                  <a:pt x="278356" y="135155"/>
                </a:lnTo>
                <a:cubicBezTo>
                  <a:pt x="278356" y="131458"/>
                  <a:pt x="275964" y="128305"/>
                  <a:pt x="272865" y="126293"/>
                </a:cubicBezTo>
                <a:cubicBezTo>
                  <a:pt x="265689" y="121618"/>
                  <a:pt x="260959" y="113571"/>
                  <a:pt x="260959" y="104384"/>
                </a:cubicBezTo>
                <a:cubicBezTo>
                  <a:pt x="260959" y="95196"/>
                  <a:pt x="265689" y="87149"/>
                  <a:pt x="272865" y="82474"/>
                </a:cubicBezTo>
                <a:cubicBezTo>
                  <a:pt x="275964" y="80462"/>
                  <a:pt x="278356" y="77309"/>
                  <a:pt x="278356" y="73612"/>
                </a:cubicBezTo>
                <a:lnTo>
                  <a:pt x="278356" y="69589"/>
                </a:lnTo>
                <a:cubicBezTo>
                  <a:pt x="278356" y="50398"/>
                  <a:pt x="262753" y="34795"/>
                  <a:pt x="243562" y="34795"/>
                </a:cubicBezTo>
                <a:lnTo>
                  <a:pt x="34795" y="34795"/>
                </a:lnTo>
                <a:close/>
                <a:moveTo>
                  <a:pt x="278356" y="226164"/>
                </a:moveTo>
                <a:lnTo>
                  <a:pt x="278356" y="191370"/>
                </a:lnTo>
                <a:lnTo>
                  <a:pt x="0" y="191370"/>
                </a:lnTo>
                <a:lnTo>
                  <a:pt x="0" y="226164"/>
                </a:lnTo>
                <a:cubicBezTo>
                  <a:pt x="0" y="235787"/>
                  <a:pt x="7774" y="243562"/>
                  <a:pt x="17397" y="243562"/>
                </a:cubicBezTo>
                <a:lnTo>
                  <a:pt x="52192" y="243562"/>
                </a:lnTo>
                <a:lnTo>
                  <a:pt x="52192" y="230514"/>
                </a:lnTo>
                <a:cubicBezTo>
                  <a:pt x="52192" y="223283"/>
                  <a:pt x="58009" y="217466"/>
                  <a:pt x="65240" y="217466"/>
                </a:cubicBezTo>
                <a:cubicBezTo>
                  <a:pt x="72470" y="217466"/>
                  <a:pt x="78288" y="223283"/>
                  <a:pt x="78288" y="230514"/>
                </a:cubicBezTo>
                <a:lnTo>
                  <a:pt x="78288" y="243562"/>
                </a:lnTo>
                <a:lnTo>
                  <a:pt x="126130" y="243562"/>
                </a:lnTo>
                <a:lnTo>
                  <a:pt x="126130" y="230514"/>
                </a:lnTo>
                <a:cubicBezTo>
                  <a:pt x="126130" y="223283"/>
                  <a:pt x="131947" y="217466"/>
                  <a:pt x="139178" y="217466"/>
                </a:cubicBezTo>
                <a:cubicBezTo>
                  <a:pt x="146409" y="217466"/>
                  <a:pt x="152226" y="223283"/>
                  <a:pt x="152226" y="230514"/>
                </a:cubicBezTo>
                <a:lnTo>
                  <a:pt x="152226" y="243562"/>
                </a:lnTo>
                <a:lnTo>
                  <a:pt x="200068" y="243562"/>
                </a:lnTo>
                <a:lnTo>
                  <a:pt x="200068" y="230514"/>
                </a:lnTo>
                <a:cubicBezTo>
                  <a:pt x="200068" y="223283"/>
                  <a:pt x="205886" y="217466"/>
                  <a:pt x="213116" y="217466"/>
                </a:cubicBezTo>
                <a:cubicBezTo>
                  <a:pt x="220347" y="217466"/>
                  <a:pt x="226164" y="223283"/>
                  <a:pt x="226164" y="230514"/>
                </a:cubicBezTo>
                <a:lnTo>
                  <a:pt x="226164" y="243562"/>
                </a:lnTo>
                <a:lnTo>
                  <a:pt x="260959" y="243562"/>
                </a:lnTo>
                <a:cubicBezTo>
                  <a:pt x="270582" y="243562"/>
                  <a:pt x="278356" y="235787"/>
                  <a:pt x="278356" y="226164"/>
                </a:cubicBezTo>
                <a:close/>
                <a:moveTo>
                  <a:pt x="86986" y="86986"/>
                </a:moveTo>
                <a:lnTo>
                  <a:pt x="86986" y="121781"/>
                </a:lnTo>
                <a:cubicBezTo>
                  <a:pt x="86986" y="131404"/>
                  <a:pt x="79212" y="139178"/>
                  <a:pt x="69589" y="139178"/>
                </a:cubicBezTo>
                <a:cubicBezTo>
                  <a:pt x="59966" y="139178"/>
                  <a:pt x="52192" y="131404"/>
                  <a:pt x="52192" y="121781"/>
                </a:cubicBezTo>
                <a:lnTo>
                  <a:pt x="52192" y="86986"/>
                </a:lnTo>
                <a:cubicBezTo>
                  <a:pt x="52192" y="77363"/>
                  <a:pt x="59966" y="69589"/>
                  <a:pt x="69589" y="69589"/>
                </a:cubicBezTo>
                <a:cubicBezTo>
                  <a:pt x="79212" y="69589"/>
                  <a:pt x="86986" y="77363"/>
                  <a:pt x="86986" y="86986"/>
                </a:cubicBezTo>
                <a:close/>
                <a:moveTo>
                  <a:pt x="156575" y="86986"/>
                </a:moveTo>
                <a:lnTo>
                  <a:pt x="156575" y="121781"/>
                </a:lnTo>
                <a:cubicBezTo>
                  <a:pt x="156575" y="131404"/>
                  <a:pt x="148801" y="139178"/>
                  <a:pt x="139178" y="139178"/>
                </a:cubicBezTo>
                <a:cubicBezTo>
                  <a:pt x="129555" y="139178"/>
                  <a:pt x="121781" y="131404"/>
                  <a:pt x="121781" y="121781"/>
                </a:cubicBezTo>
                <a:lnTo>
                  <a:pt x="121781" y="86986"/>
                </a:lnTo>
                <a:cubicBezTo>
                  <a:pt x="121781" y="77363"/>
                  <a:pt x="129555" y="69589"/>
                  <a:pt x="139178" y="69589"/>
                </a:cubicBezTo>
                <a:cubicBezTo>
                  <a:pt x="148801" y="69589"/>
                  <a:pt x="156575" y="77363"/>
                  <a:pt x="156575" y="86986"/>
                </a:cubicBezTo>
                <a:close/>
                <a:moveTo>
                  <a:pt x="226164" y="86986"/>
                </a:moveTo>
                <a:lnTo>
                  <a:pt x="226164" y="121781"/>
                </a:lnTo>
                <a:cubicBezTo>
                  <a:pt x="226164" y="131404"/>
                  <a:pt x="218390" y="139178"/>
                  <a:pt x="208767" y="139178"/>
                </a:cubicBezTo>
                <a:cubicBezTo>
                  <a:pt x="199144" y="139178"/>
                  <a:pt x="191370" y="131404"/>
                  <a:pt x="191370" y="121781"/>
                </a:cubicBezTo>
                <a:lnTo>
                  <a:pt x="191370" y="86986"/>
                </a:lnTo>
                <a:cubicBezTo>
                  <a:pt x="191370" y="77363"/>
                  <a:pt x="199144" y="69589"/>
                  <a:pt x="208767" y="69589"/>
                </a:cubicBezTo>
                <a:cubicBezTo>
                  <a:pt x="218390" y="69589"/>
                  <a:pt x="226164" y="77363"/>
                  <a:pt x="226164" y="86986"/>
                </a:cubicBezTo>
                <a:close/>
              </a:path>
            </a:pathLst>
          </a:custGeom>
          <a:solidFill>
            <a:srgbClr val="E07A5F"/>
          </a:solidFill>
          <a:ln/>
        </p:spPr>
        <p:txBody>
          <a:bodyPr/>
          <a:lstStyle/>
          <a:p>
            <a:endParaRPr lang="en-US"/>
          </a:p>
        </p:txBody>
      </p:sp>
      <p:sp>
        <p:nvSpPr>
          <p:cNvPr id="12" name="Text 9"/>
          <p:cNvSpPr/>
          <p:nvPr/>
        </p:nvSpPr>
        <p:spPr>
          <a:xfrm>
            <a:off x="547434" y="3182539"/>
            <a:ext cx="2366027" cy="296913"/>
          </a:xfrm>
          <a:prstGeom prst="rect">
            <a:avLst/>
          </a:prstGeom>
          <a:noFill/>
          <a:ln/>
        </p:spPr>
        <p:txBody>
          <a:bodyPr wrap="square" lIns="0" tIns="0" rIns="0" bIns="0" rtlCol="0" anchor="ctr"/>
          <a:lstStyle/>
          <a:p>
            <a:pPr algn="ctr">
              <a:lnSpc>
                <a:spcPct val="110000"/>
              </a:lnSpc>
            </a:pPr>
            <a:r>
              <a:rPr lang="en-US" sz="1753" b="1" dirty="0">
                <a:solidFill>
                  <a:srgbClr val="F4F1DE"/>
                </a:solidFill>
                <a:latin typeface="Quattrocento Sans" pitchFamily="34" charset="0"/>
                <a:ea typeface="Quattrocento Sans" pitchFamily="34" charset="-122"/>
                <a:cs typeface="Quattrocento Sans" pitchFamily="34" charset="-120"/>
              </a:rPr>
              <a:t>Memory Efficiency</a:t>
            </a:r>
            <a:endParaRPr lang="en-US" sz="1600" dirty="0"/>
          </a:p>
        </p:txBody>
      </p:sp>
      <p:sp>
        <p:nvSpPr>
          <p:cNvPr id="13" name="Text 10"/>
          <p:cNvSpPr/>
          <p:nvPr/>
        </p:nvSpPr>
        <p:spPr>
          <a:xfrm>
            <a:off x="565991" y="3553680"/>
            <a:ext cx="2328913" cy="445370"/>
          </a:xfrm>
          <a:prstGeom prst="rect">
            <a:avLst/>
          </a:prstGeom>
          <a:noFill/>
          <a:ln/>
        </p:spPr>
        <p:txBody>
          <a:bodyPr wrap="square" lIns="0" tIns="0" rIns="0" bIns="0" rtlCol="0" anchor="ctr"/>
          <a:lstStyle/>
          <a:p>
            <a:pPr algn="ctr">
              <a:lnSpc>
                <a:spcPct val="130000"/>
              </a:lnSpc>
            </a:pPr>
            <a:r>
              <a:rPr lang="en-US" sz="1169" dirty="0">
                <a:solidFill>
                  <a:srgbClr val="F4F1DE">
                    <a:alpha val="70000"/>
                  </a:srgbClr>
                </a:solidFill>
                <a:latin typeface="Quattrocento Sans" pitchFamily="34" charset="0"/>
                <a:ea typeface="Quattrocento Sans" pitchFamily="34" charset="-122"/>
                <a:cs typeface="Quattrocento Sans" pitchFamily="34" charset="-120"/>
              </a:rPr>
              <a:t>Process data in chunks without loading everything into RAM</a:t>
            </a:r>
            <a:endParaRPr lang="en-US" sz="1600" dirty="0"/>
          </a:p>
        </p:txBody>
      </p:sp>
      <p:sp>
        <p:nvSpPr>
          <p:cNvPr id="14" name="Shape 11"/>
          <p:cNvSpPr/>
          <p:nvPr/>
        </p:nvSpPr>
        <p:spPr>
          <a:xfrm>
            <a:off x="3284023" y="2212932"/>
            <a:ext cx="2709333" cy="2013443"/>
          </a:xfrm>
          <a:custGeom>
            <a:avLst/>
            <a:gdLst/>
            <a:ahLst/>
            <a:cxnLst/>
            <a:rect l="l" t="t" r="r" b="b"/>
            <a:pathLst>
              <a:path w="2709333" h="2013443">
                <a:moveTo>
                  <a:pt x="111343" y="0"/>
                </a:moveTo>
                <a:lnTo>
                  <a:pt x="2597990" y="0"/>
                </a:lnTo>
                <a:cubicBezTo>
                  <a:pt x="2659483" y="0"/>
                  <a:pt x="2709333" y="49850"/>
                  <a:pt x="2709333" y="111343"/>
                </a:cubicBezTo>
                <a:lnTo>
                  <a:pt x="2709333" y="1902100"/>
                </a:lnTo>
                <a:cubicBezTo>
                  <a:pt x="2709333" y="1963593"/>
                  <a:pt x="2659483" y="2013443"/>
                  <a:pt x="2597990" y="2013443"/>
                </a:cubicBezTo>
                <a:lnTo>
                  <a:pt x="111343" y="2013443"/>
                </a:lnTo>
                <a:cubicBezTo>
                  <a:pt x="49850" y="2013443"/>
                  <a:pt x="0" y="1963593"/>
                  <a:pt x="0" y="1902100"/>
                </a:cubicBezTo>
                <a:lnTo>
                  <a:pt x="0" y="111343"/>
                </a:lnTo>
                <a:cubicBezTo>
                  <a:pt x="0" y="49850"/>
                  <a:pt x="49850" y="0"/>
                  <a:pt x="111343" y="0"/>
                </a:cubicBezTo>
                <a:close/>
              </a:path>
            </a:pathLst>
          </a:custGeom>
          <a:gradFill flip="none" rotWithShape="1">
            <a:gsLst>
              <a:gs pos="0">
                <a:srgbClr val="8D99AE">
                  <a:alpha val="20000"/>
                </a:srgbClr>
              </a:gs>
              <a:gs pos="100000">
                <a:srgbClr val="8D99AE">
                  <a:alpha val="5000"/>
                </a:srgbClr>
              </a:gs>
            </a:gsLst>
            <a:lin ang="2700000" scaled="1"/>
          </a:gradFill>
          <a:ln w="12700">
            <a:solidFill>
              <a:srgbClr val="8D99AE">
                <a:alpha val="40000"/>
              </a:srgbClr>
            </a:solidFill>
            <a:prstDash val="solid"/>
          </a:ln>
        </p:spPr>
        <p:txBody>
          <a:bodyPr/>
          <a:lstStyle/>
          <a:p>
            <a:endParaRPr lang="en-US"/>
          </a:p>
        </p:txBody>
      </p:sp>
      <p:sp>
        <p:nvSpPr>
          <p:cNvPr id="15" name="Shape 12"/>
          <p:cNvSpPr/>
          <p:nvPr/>
        </p:nvSpPr>
        <p:spPr>
          <a:xfrm>
            <a:off x="4343806" y="2440256"/>
            <a:ext cx="593826" cy="593826"/>
          </a:xfrm>
          <a:custGeom>
            <a:avLst/>
            <a:gdLst/>
            <a:ahLst/>
            <a:cxnLst/>
            <a:rect l="l" t="t" r="r" b="b"/>
            <a:pathLst>
              <a:path w="593826" h="593826">
                <a:moveTo>
                  <a:pt x="296913" y="0"/>
                </a:moveTo>
                <a:lnTo>
                  <a:pt x="296913" y="0"/>
                </a:lnTo>
                <a:cubicBezTo>
                  <a:pt x="460784" y="0"/>
                  <a:pt x="593826" y="133042"/>
                  <a:pt x="593826" y="296913"/>
                </a:cubicBezTo>
                <a:lnTo>
                  <a:pt x="593826" y="296913"/>
                </a:lnTo>
                <a:cubicBezTo>
                  <a:pt x="593826" y="460784"/>
                  <a:pt x="460784" y="593826"/>
                  <a:pt x="296913" y="593826"/>
                </a:cubicBezTo>
                <a:lnTo>
                  <a:pt x="296913" y="593826"/>
                </a:lnTo>
                <a:cubicBezTo>
                  <a:pt x="133042" y="593826"/>
                  <a:pt x="0" y="460784"/>
                  <a:pt x="0" y="296913"/>
                </a:cubicBezTo>
                <a:lnTo>
                  <a:pt x="0" y="296913"/>
                </a:lnTo>
                <a:cubicBezTo>
                  <a:pt x="0" y="133042"/>
                  <a:pt x="133042" y="0"/>
                  <a:pt x="296913" y="0"/>
                </a:cubicBezTo>
                <a:close/>
              </a:path>
            </a:pathLst>
          </a:custGeom>
          <a:solidFill>
            <a:srgbClr val="8D99AE">
              <a:alpha val="30196"/>
            </a:srgbClr>
          </a:solidFill>
          <a:ln/>
        </p:spPr>
        <p:txBody>
          <a:bodyPr/>
          <a:lstStyle/>
          <a:p>
            <a:endParaRPr lang="en-US"/>
          </a:p>
        </p:txBody>
      </p:sp>
      <p:sp>
        <p:nvSpPr>
          <p:cNvPr id="16" name="Shape 13"/>
          <p:cNvSpPr/>
          <p:nvPr/>
        </p:nvSpPr>
        <p:spPr>
          <a:xfrm>
            <a:off x="4521258" y="2597991"/>
            <a:ext cx="243562" cy="278356"/>
          </a:xfrm>
          <a:custGeom>
            <a:avLst/>
            <a:gdLst/>
            <a:ahLst/>
            <a:cxnLst/>
            <a:rect l="l" t="t" r="r" b="b"/>
            <a:pathLst>
              <a:path w="243562" h="278356">
                <a:moveTo>
                  <a:pt x="91336" y="17397"/>
                </a:moveTo>
                <a:lnTo>
                  <a:pt x="13048" y="17397"/>
                </a:lnTo>
                <a:cubicBezTo>
                  <a:pt x="5817" y="17397"/>
                  <a:pt x="0" y="23214"/>
                  <a:pt x="0" y="30445"/>
                </a:cubicBezTo>
                <a:lnTo>
                  <a:pt x="0" y="108733"/>
                </a:lnTo>
                <a:cubicBezTo>
                  <a:pt x="0" y="114006"/>
                  <a:pt x="3153" y="118791"/>
                  <a:pt x="8046" y="120802"/>
                </a:cubicBezTo>
                <a:cubicBezTo>
                  <a:pt x="12939" y="122814"/>
                  <a:pt x="18539" y="121672"/>
                  <a:pt x="22290" y="117975"/>
                </a:cubicBezTo>
                <a:lnTo>
                  <a:pt x="44037" y="96229"/>
                </a:lnTo>
                <a:lnTo>
                  <a:pt x="86986" y="139178"/>
                </a:lnTo>
                <a:lnTo>
                  <a:pt x="44037" y="182128"/>
                </a:lnTo>
                <a:lnTo>
                  <a:pt x="22290" y="160381"/>
                </a:lnTo>
                <a:cubicBezTo>
                  <a:pt x="18539" y="156630"/>
                  <a:pt x="12939" y="155542"/>
                  <a:pt x="8046" y="157554"/>
                </a:cubicBezTo>
                <a:cubicBezTo>
                  <a:pt x="3153" y="159565"/>
                  <a:pt x="0" y="164350"/>
                  <a:pt x="0" y="169623"/>
                </a:cubicBezTo>
                <a:lnTo>
                  <a:pt x="0" y="247911"/>
                </a:lnTo>
                <a:cubicBezTo>
                  <a:pt x="0" y="255142"/>
                  <a:pt x="5817" y="260959"/>
                  <a:pt x="13048" y="260959"/>
                </a:cubicBezTo>
                <a:lnTo>
                  <a:pt x="91336" y="260959"/>
                </a:lnTo>
                <a:cubicBezTo>
                  <a:pt x="96609" y="260959"/>
                  <a:pt x="101393" y="257806"/>
                  <a:pt x="103405" y="252913"/>
                </a:cubicBezTo>
                <a:cubicBezTo>
                  <a:pt x="105417" y="248020"/>
                  <a:pt x="104329" y="242420"/>
                  <a:pt x="100578" y="238669"/>
                </a:cubicBezTo>
                <a:lnTo>
                  <a:pt x="78831" y="216922"/>
                </a:lnTo>
                <a:lnTo>
                  <a:pt x="121781" y="173973"/>
                </a:lnTo>
                <a:lnTo>
                  <a:pt x="164730" y="216922"/>
                </a:lnTo>
                <a:lnTo>
                  <a:pt x="142984" y="238669"/>
                </a:lnTo>
                <a:cubicBezTo>
                  <a:pt x="139232" y="242420"/>
                  <a:pt x="138145" y="248020"/>
                  <a:pt x="140157" y="252913"/>
                </a:cubicBezTo>
                <a:cubicBezTo>
                  <a:pt x="142168" y="257806"/>
                  <a:pt x="146952" y="260959"/>
                  <a:pt x="152226" y="260959"/>
                </a:cubicBezTo>
                <a:lnTo>
                  <a:pt x="230514" y="260959"/>
                </a:lnTo>
                <a:cubicBezTo>
                  <a:pt x="237744" y="260959"/>
                  <a:pt x="243562" y="255142"/>
                  <a:pt x="243562" y="247911"/>
                </a:cubicBezTo>
                <a:lnTo>
                  <a:pt x="243562" y="169623"/>
                </a:lnTo>
                <a:cubicBezTo>
                  <a:pt x="243562" y="164350"/>
                  <a:pt x="240408" y="159565"/>
                  <a:pt x="235515" y="157554"/>
                </a:cubicBezTo>
                <a:cubicBezTo>
                  <a:pt x="230622" y="155542"/>
                  <a:pt x="225023" y="156630"/>
                  <a:pt x="221271" y="160381"/>
                </a:cubicBezTo>
                <a:lnTo>
                  <a:pt x="199525" y="182128"/>
                </a:lnTo>
                <a:lnTo>
                  <a:pt x="156575" y="139178"/>
                </a:lnTo>
                <a:lnTo>
                  <a:pt x="199525" y="96229"/>
                </a:lnTo>
                <a:lnTo>
                  <a:pt x="221271" y="117975"/>
                </a:lnTo>
                <a:cubicBezTo>
                  <a:pt x="225023" y="121726"/>
                  <a:pt x="230622" y="122814"/>
                  <a:pt x="235515" y="120802"/>
                </a:cubicBezTo>
                <a:cubicBezTo>
                  <a:pt x="240408" y="118791"/>
                  <a:pt x="243562" y="114006"/>
                  <a:pt x="243562" y="108733"/>
                </a:cubicBezTo>
                <a:lnTo>
                  <a:pt x="243562" y="30445"/>
                </a:lnTo>
                <a:cubicBezTo>
                  <a:pt x="243562" y="23214"/>
                  <a:pt x="237744" y="17397"/>
                  <a:pt x="230514" y="17397"/>
                </a:cubicBezTo>
                <a:lnTo>
                  <a:pt x="152226" y="17397"/>
                </a:lnTo>
                <a:cubicBezTo>
                  <a:pt x="146952" y="17397"/>
                  <a:pt x="142168" y="20551"/>
                  <a:pt x="140157" y="25443"/>
                </a:cubicBezTo>
                <a:cubicBezTo>
                  <a:pt x="138145" y="30336"/>
                  <a:pt x="139287" y="35936"/>
                  <a:pt x="142984" y="39688"/>
                </a:cubicBezTo>
                <a:lnTo>
                  <a:pt x="164730" y="61434"/>
                </a:lnTo>
                <a:lnTo>
                  <a:pt x="121781" y="104384"/>
                </a:lnTo>
                <a:lnTo>
                  <a:pt x="78831" y="61434"/>
                </a:lnTo>
                <a:lnTo>
                  <a:pt x="100578" y="39688"/>
                </a:lnTo>
                <a:cubicBezTo>
                  <a:pt x="104329" y="35936"/>
                  <a:pt x="105417" y="30336"/>
                  <a:pt x="103405" y="25443"/>
                </a:cubicBezTo>
                <a:cubicBezTo>
                  <a:pt x="101393" y="20551"/>
                  <a:pt x="96609" y="17397"/>
                  <a:pt x="91336" y="17397"/>
                </a:cubicBezTo>
                <a:close/>
              </a:path>
            </a:pathLst>
          </a:custGeom>
          <a:solidFill>
            <a:srgbClr val="8D99AE"/>
          </a:solidFill>
          <a:ln/>
        </p:spPr>
        <p:txBody>
          <a:bodyPr/>
          <a:lstStyle/>
          <a:p>
            <a:endParaRPr lang="en-US"/>
          </a:p>
        </p:txBody>
      </p:sp>
      <p:sp>
        <p:nvSpPr>
          <p:cNvPr id="17" name="Text 14"/>
          <p:cNvSpPr/>
          <p:nvPr/>
        </p:nvSpPr>
        <p:spPr>
          <a:xfrm>
            <a:off x="3455676" y="3182539"/>
            <a:ext cx="2366027" cy="296913"/>
          </a:xfrm>
          <a:prstGeom prst="rect">
            <a:avLst/>
          </a:prstGeom>
          <a:noFill/>
          <a:ln/>
        </p:spPr>
        <p:txBody>
          <a:bodyPr wrap="square" lIns="0" tIns="0" rIns="0" bIns="0" rtlCol="0" anchor="ctr"/>
          <a:lstStyle/>
          <a:p>
            <a:pPr algn="ctr">
              <a:lnSpc>
                <a:spcPct val="110000"/>
              </a:lnSpc>
            </a:pPr>
            <a:r>
              <a:rPr lang="en-US" sz="1753" b="1" dirty="0">
                <a:solidFill>
                  <a:srgbClr val="F4F1DE"/>
                </a:solidFill>
                <a:latin typeface="Quattrocento Sans" pitchFamily="34" charset="0"/>
                <a:ea typeface="Quattrocento Sans" pitchFamily="34" charset="-122"/>
                <a:cs typeface="Quattrocento Sans" pitchFamily="34" charset="-120"/>
              </a:rPr>
              <a:t>Scalability</a:t>
            </a:r>
            <a:endParaRPr lang="en-US" sz="1600" dirty="0"/>
          </a:p>
        </p:txBody>
      </p:sp>
      <p:sp>
        <p:nvSpPr>
          <p:cNvPr id="18" name="Text 15"/>
          <p:cNvSpPr/>
          <p:nvPr/>
        </p:nvSpPr>
        <p:spPr>
          <a:xfrm>
            <a:off x="3474233" y="3553680"/>
            <a:ext cx="2328913" cy="445370"/>
          </a:xfrm>
          <a:prstGeom prst="rect">
            <a:avLst/>
          </a:prstGeom>
          <a:noFill/>
          <a:ln/>
        </p:spPr>
        <p:txBody>
          <a:bodyPr wrap="square" lIns="0" tIns="0" rIns="0" bIns="0" rtlCol="0" anchor="ctr"/>
          <a:lstStyle/>
          <a:p>
            <a:pPr algn="ctr">
              <a:lnSpc>
                <a:spcPct val="130000"/>
              </a:lnSpc>
            </a:pPr>
            <a:r>
              <a:rPr lang="en-US" sz="1169" dirty="0">
                <a:solidFill>
                  <a:srgbClr val="F4F1DE">
                    <a:alpha val="70000"/>
                  </a:srgbClr>
                </a:solidFill>
                <a:latin typeface="Quattrocento Sans" pitchFamily="34" charset="0"/>
                <a:ea typeface="Quattrocento Sans" pitchFamily="34" charset="-122"/>
                <a:cs typeface="Quattrocento Sans" pitchFamily="34" charset="-120"/>
              </a:rPr>
              <a:t>Handle large workloads and high concurrency with ease</a:t>
            </a:r>
            <a:endParaRPr lang="en-US" sz="1600" dirty="0"/>
          </a:p>
        </p:txBody>
      </p:sp>
      <p:sp>
        <p:nvSpPr>
          <p:cNvPr id="19" name="Shape 16"/>
          <p:cNvSpPr/>
          <p:nvPr/>
        </p:nvSpPr>
        <p:spPr>
          <a:xfrm>
            <a:off x="6192337" y="2212932"/>
            <a:ext cx="2709333" cy="2013443"/>
          </a:xfrm>
          <a:custGeom>
            <a:avLst/>
            <a:gdLst/>
            <a:ahLst/>
            <a:cxnLst/>
            <a:rect l="l" t="t" r="r" b="b"/>
            <a:pathLst>
              <a:path w="2709333" h="2013443">
                <a:moveTo>
                  <a:pt x="111343" y="0"/>
                </a:moveTo>
                <a:lnTo>
                  <a:pt x="2597990" y="0"/>
                </a:lnTo>
                <a:cubicBezTo>
                  <a:pt x="2659483" y="0"/>
                  <a:pt x="2709333" y="49850"/>
                  <a:pt x="2709333" y="111343"/>
                </a:cubicBezTo>
                <a:lnTo>
                  <a:pt x="2709333" y="1902100"/>
                </a:lnTo>
                <a:cubicBezTo>
                  <a:pt x="2709333" y="1963593"/>
                  <a:pt x="2659483" y="2013443"/>
                  <a:pt x="2597990" y="2013443"/>
                </a:cubicBezTo>
                <a:lnTo>
                  <a:pt x="111343" y="2013443"/>
                </a:lnTo>
                <a:cubicBezTo>
                  <a:pt x="49850" y="2013443"/>
                  <a:pt x="0" y="1963593"/>
                  <a:pt x="0" y="1902100"/>
                </a:cubicBezTo>
                <a:lnTo>
                  <a:pt x="0" y="111343"/>
                </a:lnTo>
                <a:cubicBezTo>
                  <a:pt x="0" y="49850"/>
                  <a:pt x="49850" y="0"/>
                  <a:pt x="111343" y="0"/>
                </a:cubicBezTo>
                <a:close/>
              </a:path>
            </a:pathLst>
          </a:custGeom>
          <a:gradFill flip="none" rotWithShape="1">
            <a:gsLst>
              <a:gs pos="0">
                <a:srgbClr val="8D99AE">
                  <a:alpha val="30000"/>
                </a:srgbClr>
              </a:gs>
              <a:gs pos="100000">
                <a:srgbClr val="8D99AE">
                  <a:alpha val="10000"/>
                </a:srgbClr>
              </a:gs>
            </a:gsLst>
            <a:lin ang="2700000" scaled="1"/>
          </a:gradFill>
          <a:ln w="12700">
            <a:solidFill>
              <a:srgbClr val="8D99AE">
                <a:alpha val="40000"/>
              </a:srgbClr>
            </a:solidFill>
            <a:prstDash val="solid"/>
          </a:ln>
        </p:spPr>
        <p:txBody>
          <a:bodyPr/>
          <a:lstStyle/>
          <a:p>
            <a:endParaRPr lang="en-US"/>
          </a:p>
        </p:txBody>
      </p:sp>
      <p:sp>
        <p:nvSpPr>
          <p:cNvPr id="20" name="Shape 17"/>
          <p:cNvSpPr/>
          <p:nvPr/>
        </p:nvSpPr>
        <p:spPr>
          <a:xfrm>
            <a:off x="7252120" y="2440256"/>
            <a:ext cx="593826" cy="593826"/>
          </a:xfrm>
          <a:custGeom>
            <a:avLst/>
            <a:gdLst/>
            <a:ahLst/>
            <a:cxnLst/>
            <a:rect l="l" t="t" r="r" b="b"/>
            <a:pathLst>
              <a:path w="593826" h="593826">
                <a:moveTo>
                  <a:pt x="296913" y="0"/>
                </a:moveTo>
                <a:lnTo>
                  <a:pt x="296913" y="0"/>
                </a:lnTo>
                <a:cubicBezTo>
                  <a:pt x="460784" y="0"/>
                  <a:pt x="593826" y="133042"/>
                  <a:pt x="593826" y="296913"/>
                </a:cubicBezTo>
                <a:lnTo>
                  <a:pt x="593826" y="296913"/>
                </a:lnTo>
                <a:cubicBezTo>
                  <a:pt x="593826" y="460784"/>
                  <a:pt x="460784" y="593826"/>
                  <a:pt x="296913" y="593826"/>
                </a:cubicBezTo>
                <a:lnTo>
                  <a:pt x="296913" y="593826"/>
                </a:lnTo>
                <a:cubicBezTo>
                  <a:pt x="133042" y="593826"/>
                  <a:pt x="0" y="460784"/>
                  <a:pt x="0" y="296913"/>
                </a:cubicBezTo>
                <a:lnTo>
                  <a:pt x="0" y="296913"/>
                </a:lnTo>
                <a:cubicBezTo>
                  <a:pt x="0" y="133042"/>
                  <a:pt x="133042" y="0"/>
                  <a:pt x="296913" y="0"/>
                </a:cubicBezTo>
                <a:close/>
              </a:path>
            </a:pathLst>
          </a:custGeom>
          <a:solidFill>
            <a:srgbClr val="8D99AE">
              <a:alpha val="50196"/>
            </a:srgbClr>
          </a:solidFill>
          <a:ln/>
        </p:spPr>
        <p:txBody>
          <a:bodyPr/>
          <a:lstStyle/>
          <a:p>
            <a:endParaRPr lang="en-US"/>
          </a:p>
        </p:txBody>
      </p:sp>
      <p:sp>
        <p:nvSpPr>
          <p:cNvPr id="21" name="Shape 18"/>
          <p:cNvSpPr/>
          <p:nvPr/>
        </p:nvSpPr>
        <p:spPr>
          <a:xfrm>
            <a:off x="7412175" y="2597991"/>
            <a:ext cx="278356" cy="278356"/>
          </a:xfrm>
          <a:custGeom>
            <a:avLst/>
            <a:gdLst/>
            <a:ahLst/>
            <a:cxnLst/>
            <a:rect l="l" t="t" r="r" b="b"/>
            <a:pathLst>
              <a:path w="278356" h="278356">
                <a:moveTo>
                  <a:pt x="139178" y="0"/>
                </a:moveTo>
                <a:cubicBezTo>
                  <a:pt x="215993" y="0"/>
                  <a:pt x="278356" y="62364"/>
                  <a:pt x="278356" y="139178"/>
                </a:cubicBezTo>
                <a:cubicBezTo>
                  <a:pt x="278356" y="215993"/>
                  <a:pt x="215993" y="278356"/>
                  <a:pt x="139178" y="278356"/>
                </a:cubicBezTo>
                <a:cubicBezTo>
                  <a:pt x="62364" y="278356"/>
                  <a:pt x="0" y="215993"/>
                  <a:pt x="0" y="139178"/>
                </a:cubicBezTo>
                <a:cubicBezTo>
                  <a:pt x="0" y="62364"/>
                  <a:pt x="62364" y="0"/>
                  <a:pt x="139178" y="0"/>
                </a:cubicBezTo>
                <a:close/>
                <a:moveTo>
                  <a:pt x="126130" y="65240"/>
                </a:moveTo>
                <a:lnTo>
                  <a:pt x="126130" y="139178"/>
                </a:lnTo>
                <a:cubicBezTo>
                  <a:pt x="126130" y="143527"/>
                  <a:pt x="128305" y="147605"/>
                  <a:pt x="131947" y="150051"/>
                </a:cubicBezTo>
                <a:lnTo>
                  <a:pt x="184139" y="184846"/>
                </a:lnTo>
                <a:cubicBezTo>
                  <a:pt x="190119" y="188869"/>
                  <a:pt x="198220" y="187238"/>
                  <a:pt x="202243" y="181203"/>
                </a:cubicBezTo>
                <a:cubicBezTo>
                  <a:pt x="206266" y="175169"/>
                  <a:pt x="204635" y="167122"/>
                  <a:pt x="198601" y="163099"/>
                </a:cubicBezTo>
                <a:lnTo>
                  <a:pt x="152226" y="132219"/>
                </a:lnTo>
                <a:lnTo>
                  <a:pt x="152226" y="65240"/>
                </a:lnTo>
                <a:cubicBezTo>
                  <a:pt x="152226" y="58009"/>
                  <a:pt x="146409" y="52192"/>
                  <a:pt x="139178" y="52192"/>
                </a:cubicBezTo>
                <a:cubicBezTo>
                  <a:pt x="131947" y="52192"/>
                  <a:pt x="126130" y="58009"/>
                  <a:pt x="126130" y="65240"/>
                </a:cubicBezTo>
                <a:close/>
              </a:path>
            </a:pathLst>
          </a:custGeom>
          <a:solidFill>
            <a:srgbClr val="F4F1DE"/>
          </a:solidFill>
          <a:ln/>
        </p:spPr>
        <p:txBody>
          <a:bodyPr/>
          <a:lstStyle/>
          <a:p>
            <a:endParaRPr lang="en-US"/>
          </a:p>
        </p:txBody>
      </p:sp>
      <p:sp>
        <p:nvSpPr>
          <p:cNvPr id="22" name="Text 19"/>
          <p:cNvSpPr/>
          <p:nvPr/>
        </p:nvSpPr>
        <p:spPr>
          <a:xfrm>
            <a:off x="6363990" y="3182539"/>
            <a:ext cx="2366027" cy="296913"/>
          </a:xfrm>
          <a:prstGeom prst="rect">
            <a:avLst/>
          </a:prstGeom>
          <a:noFill/>
          <a:ln/>
        </p:spPr>
        <p:txBody>
          <a:bodyPr wrap="square" lIns="0" tIns="0" rIns="0" bIns="0" rtlCol="0" anchor="ctr"/>
          <a:lstStyle/>
          <a:p>
            <a:pPr algn="ctr">
              <a:lnSpc>
                <a:spcPct val="110000"/>
              </a:lnSpc>
            </a:pPr>
            <a:r>
              <a:rPr lang="en-US" sz="1753" b="1" dirty="0">
                <a:solidFill>
                  <a:srgbClr val="F4F1DE"/>
                </a:solidFill>
                <a:latin typeface="Quattrocento Sans" pitchFamily="34" charset="0"/>
                <a:ea typeface="Quattrocento Sans" pitchFamily="34" charset="-122"/>
                <a:cs typeface="Quattrocento Sans" pitchFamily="34" charset="-120"/>
              </a:rPr>
              <a:t>Real-time Processing</a:t>
            </a:r>
            <a:endParaRPr lang="en-US" sz="1600" dirty="0"/>
          </a:p>
        </p:txBody>
      </p:sp>
      <p:sp>
        <p:nvSpPr>
          <p:cNvPr id="23" name="Text 20"/>
          <p:cNvSpPr/>
          <p:nvPr/>
        </p:nvSpPr>
        <p:spPr>
          <a:xfrm>
            <a:off x="6382547" y="3553680"/>
            <a:ext cx="2328913" cy="445370"/>
          </a:xfrm>
          <a:prstGeom prst="rect">
            <a:avLst/>
          </a:prstGeom>
          <a:noFill/>
          <a:ln/>
        </p:spPr>
        <p:txBody>
          <a:bodyPr wrap="square" lIns="0" tIns="0" rIns="0" bIns="0" rtlCol="0" anchor="ctr"/>
          <a:lstStyle/>
          <a:p>
            <a:pPr algn="ctr">
              <a:lnSpc>
                <a:spcPct val="130000"/>
              </a:lnSpc>
            </a:pPr>
            <a:r>
              <a:rPr lang="en-US" sz="1169" dirty="0">
                <a:solidFill>
                  <a:srgbClr val="F4F1DE">
                    <a:alpha val="70000"/>
                  </a:srgbClr>
                </a:solidFill>
                <a:latin typeface="Quattrocento Sans" pitchFamily="34" charset="0"/>
                <a:ea typeface="Quattrocento Sans" pitchFamily="34" charset="-122"/>
                <a:cs typeface="Quattrocento Sans" pitchFamily="34" charset="-120"/>
              </a:rPr>
              <a:t>Process data as it arrives, enabling live streaming</a:t>
            </a:r>
            <a:endParaRPr lang="en-US" sz="1600" dirty="0"/>
          </a:p>
        </p:txBody>
      </p:sp>
      <p:sp>
        <p:nvSpPr>
          <p:cNvPr id="24" name="Shape 21"/>
          <p:cNvSpPr/>
          <p:nvPr/>
        </p:nvSpPr>
        <p:spPr>
          <a:xfrm>
            <a:off x="9100652" y="2212932"/>
            <a:ext cx="2709333" cy="2013443"/>
          </a:xfrm>
          <a:custGeom>
            <a:avLst/>
            <a:gdLst/>
            <a:ahLst/>
            <a:cxnLst/>
            <a:rect l="l" t="t" r="r" b="b"/>
            <a:pathLst>
              <a:path w="2709333" h="2013443">
                <a:moveTo>
                  <a:pt x="111343" y="0"/>
                </a:moveTo>
                <a:lnTo>
                  <a:pt x="2597990" y="0"/>
                </a:lnTo>
                <a:cubicBezTo>
                  <a:pt x="2659483" y="0"/>
                  <a:pt x="2709333" y="49850"/>
                  <a:pt x="2709333" y="111343"/>
                </a:cubicBezTo>
                <a:lnTo>
                  <a:pt x="2709333" y="1902100"/>
                </a:lnTo>
                <a:cubicBezTo>
                  <a:pt x="2709333" y="1963593"/>
                  <a:pt x="2659483" y="2013443"/>
                  <a:pt x="2597990" y="2013443"/>
                </a:cubicBezTo>
                <a:lnTo>
                  <a:pt x="111343" y="2013443"/>
                </a:lnTo>
                <a:cubicBezTo>
                  <a:pt x="49850" y="2013443"/>
                  <a:pt x="0" y="1963593"/>
                  <a:pt x="0" y="1902100"/>
                </a:cubicBezTo>
                <a:lnTo>
                  <a:pt x="0" y="111343"/>
                </a:lnTo>
                <a:cubicBezTo>
                  <a:pt x="0" y="49850"/>
                  <a:pt x="49850" y="0"/>
                  <a:pt x="111343" y="0"/>
                </a:cubicBezTo>
                <a:close/>
              </a:path>
            </a:pathLst>
          </a:custGeom>
          <a:gradFill flip="none" rotWithShape="1">
            <a:gsLst>
              <a:gs pos="0">
                <a:srgbClr val="E07A5F">
                  <a:alpha val="20000"/>
                </a:srgbClr>
              </a:gs>
              <a:gs pos="100000">
                <a:srgbClr val="8D99AE">
                  <a:alpha val="10000"/>
                </a:srgbClr>
              </a:gs>
            </a:gsLst>
            <a:lin ang="2700000" scaled="1"/>
          </a:gradFill>
          <a:ln w="12700">
            <a:solidFill>
              <a:srgbClr val="E07A5F">
                <a:alpha val="40000"/>
              </a:srgbClr>
            </a:solidFill>
            <a:prstDash val="solid"/>
          </a:ln>
        </p:spPr>
        <p:txBody>
          <a:bodyPr/>
          <a:lstStyle/>
          <a:p>
            <a:endParaRPr lang="en-US"/>
          </a:p>
        </p:txBody>
      </p:sp>
      <p:sp>
        <p:nvSpPr>
          <p:cNvPr id="25" name="Shape 22"/>
          <p:cNvSpPr/>
          <p:nvPr/>
        </p:nvSpPr>
        <p:spPr>
          <a:xfrm>
            <a:off x="10160435" y="2440256"/>
            <a:ext cx="593826" cy="593826"/>
          </a:xfrm>
          <a:custGeom>
            <a:avLst/>
            <a:gdLst/>
            <a:ahLst/>
            <a:cxnLst/>
            <a:rect l="l" t="t" r="r" b="b"/>
            <a:pathLst>
              <a:path w="593826" h="593826">
                <a:moveTo>
                  <a:pt x="296913" y="0"/>
                </a:moveTo>
                <a:lnTo>
                  <a:pt x="296913" y="0"/>
                </a:lnTo>
                <a:cubicBezTo>
                  <a:pt x="460784" y="0"/>
                  <a:pt x="593826" y="133042"/>
                  <a:pt x="593826" y="296913"/>
                </a:cubicBezTo>
                <a:lnTo>
                  <a:pt x="593826" y="296913"/>
                </a:lnTo>
                <a:cubicBezTo>
                  <a:pt x="593826" y="460784"/>
                  <a:pt x="460784" y="593826"/>
                  <a:pt x="296913" y="593826"/>
                </a:cubicBezTo>
                <a:lnTo>
                  <a:pt x="296913" y="593826"/>
                </a:lnTo>
                <a:cubicBezTo>
                  <a:pt x="133042" y="593826"/>
                  <a:pt x="0" y="460784"/>
                  <a:pt x="0" y="296913"/>
                </a:cubicBezTo>
                <a:lnTo>
                  <a:pt x="0" y="296913"/>
                </a:lnTo>
                <a:cubicBezTo>
                  <a:pt x="0" y="133042"/>
                  <a:pt x="133042" y="0"/>
                  <a:pt x="296913" y="0"/>
                </a:cubicBezTo>
                <a:close/>
              </a:path>
            </a:pathLst>
          </a:custGeom>
          <a:gradFill flip="none" rotWithShape="1">
            <a:gsLst>
              <a:gs pos="0">
                <a:srgbClr val="E07A5F"/>
              </a:gs>
              <a:gs pos="100000">
                <a:srgbClr val="8D99AE"/>
              </a:gs>
            </a:gsLst>
            <a:lin ang="2700000" scaled="1"/>
          </a:gradFill>
          <a:ln/>
        </p:spPr>
        <p:txBody>
          <a:bodyPr/>
          <a:lstStyle/>
          <a:p>
            <a:endParaRPr lang="en-US"/>
          </a:p>
        </p:txBody>
      </p:sp>
      <p:sp>
        <p:nvSpPr>
          <p:cNvPr id="26" name="Shape 23"/>
          <p:cNvSpPr/>
          <p:nvPr/>
        </p:nvSpPr>
        <p:spPr>
          <a:xfrm>
            <a:off x="10337887" y="2597991"/>
            <a:ext cx="243562" cy="278356"/>
          </a:xfrm>
          <a:custGeom>
            <a:avLst/>
            <a:gdLst/>
            <a:ahLst/>
            <a:cxnLst/>
            <a:rect l="l" t="t" r="r" b="b"/>
            <a:pathLst>
              <a:path w="243562" h="278356">
                <a:moveTo>
                  <a:pt x="184193" y="-5382"/>
                </a:moveTo>
                <a:cubicBezTo>
                  <a:pt x="190663" y="-707"/>
                  <a:pt x="193055" y="7774"/>
                  <a:pt x="190119" y="15168"/>
                </a:cubicBezTo>
                <a:lnTo>
                  <a:pt x="147496" y="121781"/>
                </a:lnTo>
                <a:lnTo>
                  <a:pt x="226164" y="121781"/>
                </a:lnTo>
                <a:cubicBezTo>
                  <a:pt x="233504" y="121781"/>
                  <a:pt x="240028" y="126348"/>
                  <a:pt x="242529" y="133252"/>
                </a:cubicBezTo>
                <a:cubicBezTo>
                  <a:pt x="245030" y="140157"/>
                  <a:pt x="242909" y="147877"/>
                  <a:pt x="237310" y="152552"/>
                </a:cubicBezTo>
                <a:lnTo>
                  <a:pt x="80734" y="283032"/>
                </a:lnTo>
                <a:cubicBezTo>
                  <a:pt x="74591" y="288142"/>
                  <a:pt x="65838" y="288414"/>
                  <a:pt x="59368" y="283738"/>
                </a:cubicBezTo>
                <a:cubicBezTo>
                  <a:pt x="52899" y="279063"/>
                  <a:pt x="50506" y="270582"/>
                  <a:pt x="53442" y="263188"/>
                </a:cubicBezTo>
                <a:lnTo>
                  <a:pt x="96065" y="156575"/>
                </a:lnTo>
                <a:lnTo>
                  <a:pt x="17397" y="156575"/>
                </a:lnTo>
                <a:cubicBezTo>
                  <a:pt x="10058" y="156575"/>
                  <a:pt x="3534" y="152009"/>
                  <a:pt x="1033" y="145104"/>
                </a:cubicBezTo>
                <a:cubicBezTo>
                  <a:pt x="-1468" y="138199"/>
                  <a:pt x="652" y="130479"/>
                  <a:pt x="6252" y="125804"/>
                </a:cubicBezTo>
                <a:lnTo>
                  <a:pt x="162827" y="-4676"/>
                </a:lnTo>
                <a:cubicBezTo>
                  <a:pt x="168971" y="-9786"/>
                  <a:pt x="177724" y="-10058"/>
                  <a:pt x="184193" y="-5382"/>
                </a:cubicBezTo>
                <a:close/>
              </a:path>
            </a:pathLst>
          </a:custGeom>
          <a:solidFill>
            <a:srgbClr val="FFFFFF"/>
          </a:solidFill>
          <a:ln/>
        </p:spPr>
        <p:txBody>
          <a:bodyPr/>
          <a:lstStyle/>
          <a:p>
            <a:endParaRPr lang="en-US"/>
          </a:p>
        </p:txBody>
      </p:sp>
      <p:sp>
        <p:nvSpPr>
          <p:cNvPr id="27" name="Text 24"/>
          <p:cNvSpPr/>
          <p:nvPr/>
        </p:nvSpPr>
        <p:spPr>
          <a:xfrm>
            <a:off x="9272305" y="3182539"/>
            <a:ext cx="2366027" cy="296913"/>
          </a:xfrm>
          <a:prstGeom prst="rect">
            <a:avLst/>
          </a:prstGeom>
          <a:noFill/>
          <a:ln/>
        </p:spPr>
        <p:txBody>
          <a:bodyPr wrap="square" lIns="0" tIns="0" rIns="0" bIns="0" rtlCol="0" anchor="ctr"/>
          <a:lstStyle/>
          <a:p>
            <a:pPr algn="ctr">
              <a:lnSpc>
                <a:spcPct val="110000"/>
              </a:lnSpc>
            </a:pPr>
            <a:r>
              <a:rPr lang="en-US" sz="1753" b="1" dirty="0">
                <a:solidFill>
                  <a:srgbClr val="F4F1DE"/>
                </a:solidFill>
                <a:latin typeface="Quattrocento Sans" pitchFamily="34" charset="0"/>
                <a:ea typeface="Quattrocento Sans" pitchFamily="34" charset="-122"/>
                <a:cs typeface="Quattrocento Sans" pitchFamily="34" charset="-120"/>
              </a:rPr>
              <a:t>Non-blocking I/O</a:t>
            </a:r>
            <a:endParaRPr lang="en-US" sz="1600" dirty="0"/>
          </a:p>
        </p:txBody>
      </p:sp>
      <p:sp>
        <p:nvSpPr>
          <p:cNvPr id="28" name="Text 25"/>
          <p:cNvSpPr/>
          <p:nvPr/>
        </p:nvSpPr>
        <p:spPr>
          <a:xfrm>
            <a:off x="9290862" y="3553680"/>
            <a:ext cx="2328913" cy="445370"/>
          </a:xfrm>
          <a:prstGeom prst="rect">
            <a:avLst/>
          </a:prstGeom>
          <a:noFill/>
          <a:ln/>
        </p:spPr>
        <p:txBody>
          <a:bodyPr wrap="square" lIns="0" tIns="0" rIns="0" bIns="0" rtlCol="0" anchor="ctr"/>
          <a:lstStyle/>
          <a:p>
            <a:pPr algn="ctr">
              <a:lnSpc>
                <a:spcPct val="130000"/>
              </a:lnSpc>
            </a:pPr>
            <a:r>
              <a:rPr lang="en-US" sz="1169" dirty="0">
                <a:solidFill>
                  <a:srgbClr val="F4F1DE">
                    <a:alpha val="70000"/>
                  </a:srgbClr>
                </a:solidFill>
                <a:latin typeface="Quattrocento Sans" pitchFamily="34" charset="0"/>
                <a:ea typeface="Quattrocento Sans" pitchFamily="34" charset="-122"/>
                <a:cs typeface="Quattrocento Sans" pitchFamily="34" charset="-120"/>
              </a:rPr>
              <a:t>Core to Node.js efficiency and event-driven architecture</a:t>
            </a:r>
            <a:endParaRPr lang="en-US" sz="1600" dirty="0"/>
          </a:p>
        </p:txBody>
      </p:sp>
      <p:sp>
        <p:nvSpPr>
          <p:cNvPr id="29" name="Shape 26"/>
          <p:cNvSpPr/>
          <p:nvPr/>
        </p:nvSpPr>
        <p:spPr>
          <a:xfrm>
            <a:off x="375781" y="4606795"/>
            <a:ext cx="11440438" cy="1447452"/>
          </a:xfrm>
          <a:custGeom>
            <a:avLst/>
            <a:gdLst/>
            <a:ahLst/>
            <a:cxnLst/>
            <a:rect l="l" t="t" r="r" b="b"/>
            <a:pathLst>
              <a:path w="11440438" h="1447452">
                <a:moveTo>
                  <a:pt x="111338" y="0"/>
                </a:moveTo>
                <a:lnTo>
                  <a:pt x="11329100" y="0"/>
                </a:lnTo>
                <a:cubicBezTo>
                  <a:pt x="11390591" y="0"/>
                  <a:pt x="11440438" y="49848"/>
                  <a:pt x="11440438" y="111338"/>
                </a:cubicBezTo>
                <a:lnTo>
                  <a:pt x="11440438" y="1336114"/>
                </a:lnTo>
                <a:cubicBezTo>
                  <a:pt x="11440438" y="1397604"/>
                  <a:pt x="11390591" y="1447452"/>
                  <a:pt x="11329100" y="1447452"/>
                </a:cubicBezTo>
                <a:lnTo>
                  <a:pt x="111338" y="1447452"/>
                </a:lnTo>
                <a:cubicBezTo>
                  <a:pt x="49848" y="1447452"/>
                  <a:pt x="0" y="1397604"/>
                  <a:pt x="0" y="1336114"/>
                </a:cubicBezTo>
                <a:lnTo>
                  <a:pt x="0" y="111338"/>
                </a:lnTo>
                <a:cubicBezTo>
                  <a:pt x="0" y="49889"/>
                  <a:pt x="49889" y="0"/>
                  <a:pt x="111338" y="0"/>
                </a:cubicBezTo>
                <a:close/>
              </a:path>
            </a:pathLst>
          </a:custGeom>
          <a:gradFill flip="none" rotWithShape="1">
            <a:gsLst>
              <a:gs pos="0">
                <a:srgbClr val="8D99AE">
                  <a:alpha val="20000"/>
                </a:srgbClr>
              </a:gs>
              <a:gs pos="100000">
                <a:srgbClr val="E07A5F">
                  <a:alpha val="20000"/>
                </a:srgbClr>
              </a:gs>
            </a:gsLst>
            <a:lin ang="0" scaled="1"/>
          </a:gradFill>
          <a:ln w="12700">
            <a:solidFill>
              <a:srgbClr val="8D99AE">
                <a:alpha val="40000"/>
              </a:srgbClr>
            </a:solidFill>
            <a:prstDash val="solid"/>
          </a:ln>
        </p:spPr>
        <p:txBody>
          <a:bodyPr/>
          <a:lstStyle/>
          <a:p>
            <a:endParaRPr lang="en-US"/>
          </a:p>
        </p:txBody>
      </p:sp>
      <p:sp>
        <p:nvSpPr>
          <p:cNvPr id="30" name="Shape 27"/>
          <p:cNvSpPr/>
          <p:nvPr/>
        </p:nvSpPr>
        <p:spPr>
          <a:xfrm>
            <a:off x="603105" y="4957059"/>
            <a:ext cx="742283" cy="742283"/>
          </a:xfrm>
          <a:custGeom>
            <a:avLst/>
            <a:gdLst/>
            <a:ahLst/>
            <a:cxnLst/>
            <a:rect l="l" t="t" r="r" b="b"/>
            <a:pathLst>
              <a:path w="742283" h="742283">
                <a:moveTo>
                  <a:pt x="371142" y="0"/>
                </a:moveTo>
                <a:lnTo>
                  <a:pt x="371142" y="0"/>
                </a:lnTo>
                <a:cubicBezTo>
                  <a:pt x="575980" y="0"/>
                  <a:pt x="742283" y="166303"/>
                  <a:pt x="742283" y="371142"/>
                </a:cubicBezTo>
                <a:lnTo>
                  <a:pt x="742283" y="371142"/>
                </a:lnTo>
                <a:cubicBezTo>
                  <a:pt x="742283" y="575980"/>
                  <a:pt x="575980" y="742283"/>
                  <a:pt x="371142" y="742283"/>
                </a:cubicBezTo>
                <a:lnTo>
                  <a:pt x="371142" y="742283"/>
                </a:lnTo>
                <a:cubicBezTo>
                  <a:pt x="166303" y="742283"/>
                  <a:pt x="0" y="575980"/>
                  <a:pt x="0" y="371142"/>
                </a:cubicBezTo>
                <a:lnTo>
                  <a:pt x="0" y="371142"/>
                </a:lnTo>
                <a:cubicBezTo>
                  <a:pt x="0" y="166303"/>
                  <a:pt x="166303" y="0"/>
                  <a:pt x="371142" y="0"/>
                </a:cubicBezTo>
                <a:close/>
              </a:path>
            </a:pathLst>
          </a:custGeom>
          <a:gradFill flip="none" rotWithShape="1">
            <a:gsLst>
              <a:gs pos="0">
                <a:srgbClr val="8D99AE"/>
              </a:gs>
              <a:gs pos="100000">
                <a:srgbClr val="E07A5F"/>
              </a:gs>
            </a:gsLst>
            <a:lin ang="2700000" scaled="1"/>
          </a:gradFill>
          <a:ln/>
        </p:spPr>
        <p:txBody>
          <a:bodyPr/>
          <a:lstStyle/>
          <a:p>
            <a:endParaRPr lang="en-US"/>
          </a:p>
        </p:txBody>
      </p:sp>
      <p:sp>
        <p:nvSpPr>
          <p:cNvPr id="31" name="Shape 28"/>
          <p:cNvSpPr/>
          <p:nvPr/>
        </p:nvSpPr>
        <p:spPr>
          <a:xfrm>
            <a:off x="807233" y="5161187"/>
            <a:ext cx="334027" cy="334027"/>
          </a:xfrm>
          <a:custGeom>
            <a:avLst/>
            <a:gdLst/>
            <a:ahLst/>
            <a:cxnLst/>
            <a:rect l="l" t="t" r="r" b="b"/>
            <a:pathLst>
              <a:path w="334027" h="334027">
                <a:moveTo>
                  <a:pt x="167014" y="334027"/>
                </a:moveTo>
                <a:cubicBezTo>
                  <a:pt x="259191" y="334027"/>
                  <a:pt x="334027" y="259191"/>
                  <a:pt x="334027" y="167014"/>
                </a:cubicBezTo>
                <a:cubicBezTo>
                  <a:pt x="334027" y="74836"/>
                  <a:pt x="259191" y="0"/>
                  <a:pt x="167014" y="0"/>
                </a:cubicBezTo>
                <a:cubicBezTo>
                  <a:pt x="74836" y="0"/>
                  <a:pt x="0" y="74836"/>
                  <a:pt x="0" y="167014"/>
                </a:cubicBezTo>
                <a:cubicBezTo>
                  <a:pt x="0" y="259191"/>
                  <a:pt x="74836" y="334027"/>
                  <a:pt x="167014" y="334027"/>
                </a:cubicBezTo>
                <a:close/>
                <a:moveTo>
                  <a:pt x="222076" y="138765"/>
                </a:moveTo>
                <a:lnTo>
                  <a:pt x="169884" y="222272"/>
                </a:lnTo>
                <a:cubicBezTo>
                  <a:pt x="167144" y="226643"/>
                  <a:pt x="162447" y="229383"/>
                  <a:pt x="157293" y="229644"/>
                </a:cubicBezTo>
                <a:cubicBezTo>
                  <a:pt x="152139" y="229905"/>
                  <a:pt x="147181" y="227556"/>
                  <a:pt x="144115" y="223381"/>
                </a:cubicBezTo>
                <a:lnTo>
                  <a:pt x="112799" y="181627"/>
                </a:lnTo>
                <a:cubicBezTo>
                  <a:pt x="107580" y="174712"/>
                  <a:pt x="109016" y="164926"/>
                  <a:pt x="115931" y="159707"/>
                </a:cubicBezTo>
                <a:cubicBezTo>
                  <a:pt x="122846" y="154488"/>
                  <a:pt x="132632" y="155923"/>
                  <a:pt x="137852" y="162838"/>
                </a:cubicBezTo>
                <a:lnTo>
                  <a:pt x="155466" y="186325"/>
                </a:lnTo>
                <a:lnTo>
                  <a:pt x="195523" y="122194"/>
                </a:lnTo>
                <a:cubicBezTo>
                  <a:pt x="200090" y="114887"/>
                  <a:pt x="209746" y="112604"/>
                  <a:pt x="217118" y="117236"/>
                </a:cubicBezTo>
                <a:cubicBezTo>
                  <a:pt x="224490" y="121868"/>
                  <a:pt x="226708" y="131458"/>
                  <a:pt x="222076" y="138830"/>
                </a:cubicBezTo>
                <a:close/>
              </a:path>
            </a:pathLst>
          </a:custGeom>
          <a:solidFill>
            <a:srgbClr val="FFFFFF"/>
          </a:solidFill>
          <a:ln/>
        </p:spPr>
        <p:txBody>
          <a:bodyPr/>
          <a:lstStyle/>
          <a:p>
            <a:endParaRPr lang="en-US"/>
          </a:p>
        </p:txBody>
      </p:sp>
      <p:sp>
        <p:nvSpPr>
          <p:cNvPr id="32" name="Text 29"/>
          <p:cNvSpPr/>
          <p:nvPr/>
        </p:nvSpPr>
        <p:spPr>
          <a:xfrm>
            <a:off x="1568073" y="4834119"/>
            <a:ext cx="10160000" cy="334027"/>
          </a:xfrm>
          <a:prstGeom prst="rect">
            <a:avLst/>
          </a:prstGeom>
          <a:noFill/>
          <a:ln/>
        </p:spPr>
        <p:txBody>
          <a:bodyPr wrap="square" lIns="0" tIns="0" rIns="0" bIns="0" rtlCol="0" anchor="ctr"/>
          <a:lstStyle/>
          <a:p>
            <a:pPr>
              <a:lnSpc>
                <a:spcPct val="100000"/>
              </a:lnSpc>
            </a:pPr>
            <a:r>
              <a:rPr lang="en-US" sz="2192" b="1" dirty="0">
                <a:solidFill>
                  <a:srgbClr val="F4F1DE"/>
                </a:solidFill>
                <a:latin typeface="Quattrocento Sans" pitchFamily="34" charset="0"/>
                <a:ea typeface="Quattrocento Sans" pitchFamily="34" charset="-122"/>
                <a:cs typeface="Quattrocento Sans" pitchFamily="34" charset="-120"/>
              </a:rPr>
              <a:t>Essential for Senior Node.js Developers</a:t>
            </a:r>
            <a:endParaRPr lang="en-US" sz="1600" dirty="0"/>
          </a:p>
        </p:txBody>
      </p:sp>
      <p:sp>
        <p:nvSpPr>
          <p:cNvPr id="33" name="Text 30"/>
          <p:cNvSpPr/>
          <p:nvPr/>
        </p:nvSpPr>
        <p:spPr>
          <a:xfrm>
            <a:off x="1568073" y="5279489"/>
            <a:ext cx="10104329" cy="547434"/>
          </a:xfrm>
          <a:prstGeom prst="rect">
            <a:avLst/>
          </a:prstGeom>
          <a:noFill/>
          <a:ln/>
        </p:spPr>
        <p:txBody>
          <a:bodyPr wrap="square" lIns="0" tIns="0" rIns="0" bIns="0" rtlCol="0" anchor="ctr"/>
          <a:lstStyle/>
          <a:p>
            <a:pPr>
              <a:lnSpc>
                <a:spcPct val="140000"/>
              </a:lnSpc>
            </a:pPr>
            <a:r>
              <a:rPr lang="en-US" sz="1315" dirty="0">
                <a:solidFill>
                  <a:srgbClr val="F4F1DE">
                    <a:alpha val="90000"/>
                  </a:srgbClr>
                </a:solidFill>
                <a:latin typeface="Quattrocento Sans" pitchFamily="34" charset="0"/>
                <a:ea typeface="Quattrocento Sans" pitchFamily="34" charset="-122"/>
                <a:cs typeface="Quattrocento Sans" pitchFamily="34" charset="-120"/>
              </a:rPr>
              <a:t>Understanding streams is </a:t>
            </a:r>
            <a:r>
              <a:rPr lang="en-US" sz="1315" b="1" dirty="0">
                <a:solidFill>
                  <a:srgbClr val="F4F1DE">
                    <a:alpha val="90000"/>
                  </a:srgbClr>
                </a:solidFill>
                <a:latin typeface="Quattrocento Sans" pitchFamily="34" charset="0"/>
                <a:ea typeface="Quattrocento Sans" pitchFamily="34" charset="-122"/>
                <a:cs typeface="Quattrocento Sans" pitchFamily="34" charset="-120"/>
              </a:rPr>
              <a:t>fundamental</a:t>
            </a:r>
            <a:r>
              <a:rPr lang="en-US" sz="1315" dirty="0">
                <a:solidFill>
                  <a:srgbClr val="F4F1DE">
                    <a:alpha val="90000"/>
                  </a:srgbClr>
                </a:solidFill>
                <a:latin typeface="Quattrocento Sans" pitchFamily="34" charset="0"/>
                <a:ea typeface="Quattrocento Sans" pitchFamily="34" charset="-122"/>
                <a:cs typeface="Quattrocento Sans" pitchFamily="34" charset="-120"/>
              </a:rPr>
              <a:t> to writing efficient, scalable Node.js applications. Master the four stream types, backpressure handling, pipeline usage, and real-world applications to excel in senior-level interviews and production development.</a:t>
            </a:r>
            <a:endParaRPr lang="en-US" sz="1600" dirty="0"/>
          </a:p>
        </p:txBody>
      </p:sp>
      <p:sp>
        <p:nvSpPr>
          <p:cNvPr id="34" name="Shape 31"/>
          <p:cNvSpPr/>
          <p:nvPr/>
        </p:nvSpPr>
        <p:spPr>
          <a:xfrm>
            <a:off x="3689524" y="6058886"/>
            <a:ext cx="4806283" cy="788676"/>
          </a:xfrm>
          <a:custGeom>
            <a:avLst/>
            <a:gdLst/>
            <a:ahLst/>
            <a:cxnLst/>
            <a:rect l="l" t="t" r="r" b="b"/>
            <a:pathLst>
              <a:path w="4806283" h="788676">
                <a:moveTo>
                  <a:pt x="111345" y="0"/>
                </a:moveTo>
                <a:lnTo>
                  <a:pt x="4694938" y="0"/>
                </a:lnTo>
                <a:cubicBezTo>
                  <a:pt x="4756432" y="0"/>
                  <a:pt x="4806283" y="49851"/>
                  <a:pt x="4806283" y="111345"/>
                </a:cubicBezTo>
                <a:lnTo>
                  <a:pt x="4806283" y="677331"/>
                </a:lnTo>
                <a:cubicBezTo>
                  <a:pt x="4806283" y="738825"/>
                  <a:pt x="4756432" y="788676"/>
                  <a:pt x="4694938" y="788676"/>
                </a:cubicBezTo>
                <a:lnTo>
                  <a:pt x="111345" y="788676"/>
                </a:lnTo>
                <a:cubicBezTo>
                  <a:pt x="49892" y="788676"/>
                  <a:pt x="0" y="738784"/>
                  <a:pt x="0" y="677331"/>
                </a:cubicBezTo>
                <a:lnTo>
                  <a:pt x="0" y="111345"/>
                </a:lnTo>
                <a:cubicBezTo>
                  <a:pt x="0" y="49851"/>
                  <a:pt x="49851" y="0"/>
                  <a:pt x="111345" y="0"/>
                </a:cubicBezTo>
                <a:close/>
              </a:path>
            </a:pathLst>
          </a:custGeom>
          <a:solidFill>
            <a:srgbClr val="8D99AE">
              <a:alpha val="30196"/>
            </a:srgbClr>
          </a:solidFill>
          <a:ln w="12700">
            <a:solidFill>
              <a:srgbClr val="8D99AE">
                <a:alpha val="50196"/>
              </a:srgbClr>
            </a:solidFill>
            <a:prstDash val="solid"/>
          </a:ln>
        </p:spPr>
        <p:txBody>
          <a:bodyPr/>
          <a:lstStyle/>
          <a:p>
            <a:endParaRPr lang="en-US"/>
          </a:p>
        </p:txBody>
      </p:sp>
      <p:sp>
        <p:nvSpPr>
          <p:cNvPr id="35" name="Shape 32"/>
          <p:cNvSpPr/>
          <p:nvPr/>
        </p:nvSpPr>
        <p:spPr>
          <a:xfrm>
            <a:off x="4018912" y="6341881"/>
            <a:ext cx="222685" cy="222685"/>
          </a:xfrm>
          <a:custGeom>
            <a:avLst/>
            <a:gdLst/>
            <a:ahLst/>
            <a:cxnLst/>
            <a:rect l="l" t="t" r="r" b="b"/>
            <a:pathLst>
              <a:path w="222685" h="222685">
                <a:moveTo>
                  <a:pt x="55671" y="139178"/>
                </a:moveTo>
                <a:lnTo>
                  <a:pt x="10656" y="139178"/>
                </a:lnTo>
                <a:cubicBezTo>
                  <a:pt x="-174" y="139178"/>
                  <a:pt x="-6828" y="127391"/>
                  <a:pt x="-1261" y="118084"/>
                </a:cubicBezTo>
                <a:lnTo>
                  <a:pt x="21747" y="79723"/>
                </a:lnTo>
                <a:cubicBezTo>
                  <a:pt x="25530" y="73416"/>
                  <a:pt x="32315" y="69589"/>
                  <a:pt x="39666" y="69589"/>
                </a:cubicBezTo>
                <a:lnTo>
                  <a:pt x="80984" y="69589"/>
                </a:lnTo>
                <a:cubicBezTo>
                  <a:pt x="114083" y="13526"/>
                  <a:pt x="163447" y="10699"/>
                  <a:pt x="196459" y="15527"/>
                </a:cubicBezTo>
                <a:cubicBezTo>
                  <a:pt x="202026" y="16353"/>
                  <a:pt x="206375" y="20703"/>
                  <a:pt x="207158" y="26226"/>
                </a:cubicBezTo>
                <a:cubicBezTo>
                  <a:pt x="211986" y="59238"/>
                  <a:pt x="209159" y="108602"/>
                  <a:pt x="153096" y="141701"/>
                </a:cubicBezTo>
                <a:lnTo>
                  <a:pt x="153096" y="183019"/>
                </a:lnTo>
                <a:cubicBezTo>
                  <a:pt x="153096" y="190370"/>
                  <a:pt x="149268" y="197154"/>
                  <a:pt x="142962" y="200938"/>
                </a:cubicBezTo>
                <a:lnTo>
                  <a:pt x="104601" y="223946"/>
                </a:lnTo>
                <a:cubicBezTo>
                  <a:pt x="95337" y="229513"/>
                  <a:pt x="83507" y="222815"/>
                  <a:pt x="83507" y="212029"/>
                </a:cubicBezTo>
                <a:lnTo>
                  <a:pt x="83507" y="167014"/>
                </a:lnTo>
                <a:cubicBezTo>
                  <a:pt x="83507" y="151661"/>
                  <a:pt x="71024" y="139178"/>
                  <a:pt x="55671" y="139178"/>
                </a:cubicBezTo>
                <a:lnTo>
                  <a:pt x="55628" y="139178"/>
                </a:lnTo>
                <a:close/>
                <a:moveTo>
                  <a:pt x="173973" y="69589"/>
                </a:moveTo>
                <a:cubicBezTo>
                  <a:pt x="173973" y="58067"/>
                  <a:pt x="164618" y="48712"/>
                  <a:pt x="153096" y="48712"/>
                </a:cubicBezTo>
                <a:cubicBezTo>
                  <a:pt x="141574" y="48712"/>
                  <a:pt x="132219" y="58067"/>
                  <a:pt x="132219" y="69589"/>
                </a:cubicBezTo>
                <a:cubicBezTo>
                  <a:pt x="132219" y="81111"/>
                  <a:pt x="141574" y="90466"/>
                  <a:pt x="153096" y="90466"/>
                </a:cubicBezTo>
                <a:cubicBezTo>
                  <a:pt x="164618" y="90466"/>
                  <a:pt x="173973" y="81111"/>
                  <a:pt x="173973" y="69589"/>
                </a:cubicBezTo>
                <a:close/>
              </a:path>
            </a:pathLst>
          </a:custGeom>
          <a:solidFill>
            <a:srgbClr val="E07A5F"/>
          </a:solidFill>
          <a:ln/>
        </p:spPr>
        <p:txBody>
          <a:bodyPr/>
          <a:lstStyle/>
          <a:p>
            <a:endParaRPr lang="en-US"/>
          </a:p>
        </p:txBody>
      </p:sp>
      <p:sp>
        <p:nvSpPr>
          <p:cNvPr id="36" name="Text 33"/>
          <p:cNvSpPr/>
          <p:nvPr/>
        </p:nvSpPr>
        <p:spPr>
          <a:xfrm>
            <a:off x="4417889" y="6211982"/>
            <a:ext cx="3859872" cy="259799"/>
          </a:xfrm>
          <a:prstGeom prst="rect">
            <a:avLst/>
          </a:prstGeom>
          <a:noFill/>
          <a:ln/>
        </p:spPr>
        <p:txBody>
          <a:bodyPr wrap="square" lIns="0" tIns="0" rIns="0" bIns="0" rtlCol="0" anchor="ctr"/>
          <a:lstStyle/>
          <a:p>
            <a:pPr>
              <a:lnSpc>
                <a:spcPct val="130000"/>
              </a:lnSpc>
            </a:pPr>
            <a:r>
              <a:rPr lang="en-US" sz="1315" b="1" dirty="0">
                <a:solidFill>
                  <a:srgbClr val="F4F1DE"/>
                </a:solidFill>
                <a:latin typeface="Quattrocento Sans" pitchFamily="34" charset="0"/>
                <a:ea typeface="Quattrocento Sans" pitchFamily="34" charset="-122"/>
                <a:cs typeface="Quattrocento Sans" pitchFamily="34" charset="-120"/>
              </a:rPr>
              <a:t>Ready for Your Interview?</a:t>
            </a:r>
            <a:endParaRPr lang="en-US" sz="1600" dirty="0"/>
          </a:p>
        </p:txBody>
      </p:sp>
      <p:sp>
        <p:nvSpPr>
          <p:cNvPr id="37" name="Text 34"/>
          <p:cNvSpPr/>
          <p:nvPr/>
        </p:nvSpPr>
        <p:spPr>
          <a:xfrm>
            <a:off x="4417889" y="6471781"/>
            <a:ext cx="3850594" cy="222685"/>
          </a:xfrm>
          <a:prstGeom prst="rect">
            <a:avLst/>
          </a:prstGeom>
          <a:noFill/>
          <a:ln/>
        </p:spPr>
        <p:txBody>
          <a:bodyPr wrap="square" lIns="0" tIns="0" rIns="0" bIns="0" rtlCol="0" anchor="ctr"/>
          <a:lstStyle/>
          <a:p>
            <a:pPr>
              <a:lnSpc>
                <a:spcPct val="130000"/>
              </a:lnSpc>
            </a:pPr>
            <a:r>
              <a:rPr lang="en-US" sz="1169" dirty="0">
                <a:solidFill>
                  <a:srgbClr val="F4F1DE">
                    <a:alpha val="70000"/>
                  </a:srgbClr>
                </a:solidFill>
                <a:latin typeface="Quattrocento Sans" pitchFamily="34" charset="0"/>
                <a:ea typeface="Quattrocento Sans" pitchFamily="34" charset="-122"/>
                <a:cs typeface="Quattrocento Sans" pitchFamily="34" charset="-120"/>
              </a:rPr>
              <a:t>Practice explaining these concepts with concrete examples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E07A5F"/>
      </a:accent1>
      <a:accent2>
        <a:srgbClr val="8D99AE"/>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TotalTime>
  <Words>3469</Words>
  <Application>Microsoft Office PowerPoint</Application>
  <PresentationFormat>Widescreen</PresentationFormat>
  <Paragraphs>602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Quattrocento Sans</vt:lpstr>
      <vt:lpstr>Liter</vt:lpstr>
      <vt:lpstr>MiSans</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Node.js Streams Deep Dive</dc:title>
  <dc:subject>Node.js Streams Deep Dive</dc:subject>
  <dc:creator>Kimi</dc:creator>
  <cp:lastModifiedBy>Nabila Nuzhat Moin</cp:lastModifiedBy>
  <cp:revision>22</cp:revision>
  <dcterms:created xsi:type="dcterms:W3CDTF">2026-02-07T05:47:52Z</dcterms:created>
  <dcterms:modified xsi:type="dcterms:W3CDTF">2026-07-01T18:12:15Z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{"Label":"Node.js Streams Deep Dive","ContentProducer":"001191110108MACG2KBH8F10000","ProduceID":"19c36a0e-50c2-8264-8000-0000fe4c754d","ReservedCode1":"","ContentPropagator":"001191110108MACG2KBH8F20000","PropagateID":"19c36a0e-50c2-8264-8000-0000fe4c754d","ReservedCode2":""}</vt:lpwstr>
  </property>
</Properties>
</file>